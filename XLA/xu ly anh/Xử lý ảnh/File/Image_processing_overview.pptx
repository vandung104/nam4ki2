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96" r:id="rId1"/>
  </p:sldMasterIdLst>
  <p:notesMasterIdLst>
    <p:notesMasterId r:id="rId27"/>
  </p:notesMasterIdLst>
  <p:sldIdLst>
    <p:sldId id="256" r:id="rId2"/>
    <p:sldId id="324" r:id="rId3"/>
    <p:sldId id="325" r:id="rId4"/>
    <p:sldId id="342" r:id="rId5"/>
    <p:sldId id="353" r:id="rId6"/>
    <p:sldId id="344" r:id="rId7"/>
    <p:sldId id="355" r:id="rId8"/>
    <p:sldId id="351" r:id="rId9"/>
    <p:sldId id="352" r:id="rId10"/>
    <p:sldId id="354" r:id="rId11"/>
    <p:sldId id="357" r:id="rId12"/>
    <p:sldId id="361" r:id="rId13"/>
    <p:sldId id="356" r:id="rId14"/>
    <p:sldId id="358" r:id="rId15"/>
    <p:sldId id="360" r:id="rId16"/>
    <p:sldId id="347" r:id="rId17"/>
    <p:sldId id="398" r:id="rId18"/>
    <p:sldId id="375" r:id="rId19"/>
    <p:sldId id="377" r:id="rId20"/>
    <p:sldId id="399" r:id="rId21"/>
    <p:sldId id="400" r:id="rId22"/>
    <p:sldId id="379" r:id="rId23"/>
    <p:sldId id="380" r:id="rId24"/>
    <p:sldId id="382" r:id="rId25"/>
    <p:sldId id="401" r:id="rId2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4A"/>
    <a:srgbClr val="30DDE6"/>
    <a:srgbClr val="0033CC"/>
    <a:srgbClr val="F4F8BE"/>
    <a:srgbClr val="000066"/>
    <a:srgbClr val="FFFF99"/>
    <a:srgbClr val="51C564"/>
    <a:srgbClr val="FFFFCC"/>
    <a:srgbClr val="CCFF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1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62548" y="3576322"/>
            <a:ext cx="9387308" cy="3218177"/>
          </a:xfrm>
        </p:spPr>
        <p:txBody>
          <a:bodyPr anchor="b">
            <a:normAutofit/>
          </a:bodyPr>
          <a:lstStyle>
            <a:lvl1pPr>
              <a:defRPr sz="76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62548" y="6794497"/>
            <a:ext cx="9387308" cy="1601825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0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11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1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1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18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45111" y="6145648"/>
            <a:ext cx="1984673" cy="1111866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2075" y="6442015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54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6509" y="887623"/>
            <a:ext cx="9371305" cy="182171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2546" y="3034453"/>
            <a:ext cx="9375268" cy="537261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6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2950488"/>
            <a:ext cx="9375268" cy="2088960"/>
          </a:xfrm>
        </p:spPr>
        <p:txBody>
          <a:bodyPr anchor="b"/>
          <a:lstStyle>
            <a:lvl1pPr algn="l">
              <a:defRPr sz="568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546" y="5093547"/>
            <a:ext cx="9375268" cy="1223680"/>
          </a:xfrm>
        </p:spPr>
        <p:txBody>
          <a:bodyPr anchor="t"/>
          <a:lstStyle>
            <a:lvl1pPr marL="0" indent="0" algn="l">
              <a:buNone/>
              <a:defRPr sz="2844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83" y="4503506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7080" y="461388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11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62548" y="3038871"/>
            <a:ext cx="4547600" cy="535807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90837" y="3038871"/>
            <a:ext cx="4546977" cy="535807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7080" y="1120403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58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21834" y="3166757"/>
            <a:ext cx="4088314" cy="819573"/>
          </a:xfrm>
        </p:spPr>
        <p:txBody>
          <a:bodyPr anchor="b">
            <a:noAutofit/>
          </a:bodyPr>
          <a:lstStyle>
            <a:lvl1pPr marL="0" indent="0">
              <a:buNone/>
              <a:defRPr sz="3413" b="0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62546" y="3986330"/>
            <a:ext cx="4547601" cy="44170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4309" y="3162166"/>
            <a:ext cx="4086384" cy="819573"/>
          </a:xfrm>
        </p:spPr>
        <p:txBody>
          <a:bodyPr anchor="b">
            <a:noAutofit/>
          </a:bodyPr>
          <a:lstStyle>
            <a:lvl1pPr marL="0" indent="0">
              <a:buNone/>
              <a:defRPr sz="3413" b="0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85728" y="3981739"/>
            <a:ext cx="4544967" cy="44170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7080" y="1120403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4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6506" y="887623"/>
            <a:ext cx="9371307" cy="182171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323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09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634436"/>
            <a:ext cx="3739853" cy="1388533"/>
          </a:xfrm>
        </p:spPr>
        <p:txBody>
          <a:bodyPr anchor="b"/>
          <a:lstStyle>
            <a:lvl1pPr algn="l">
              <a:defRPr sz="2844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6302" y="634438"/>
            <a:ext cx="5391511" cy="7701281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2273583"/>
            <a:ext cx="3739853" cy="6062131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7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6827520"/>
            <a:ext cx="9375268" cy="806027"/>
          </a:xfrm>
        </p:spPr>
        <p:txBody>
          <a:bodyPr anchor="b">
            <a:normAutofit/>
          </a:bodyPr>
          <a:lstStyle>
            <a:lvl1pPr algn="l">
              <a:defRPr sz="3413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62546" y="903061"/>
            <a:ext cx="9375268" cy="5482624"/>
          </a:xfrm>
        </p:spPr>
        <p:txBody>
          <a:bodyPr anchor="t">
            <a:normAutofit/>
          </a:bodyPr>
          <a:lstStyle>
            <a:lvl1pPr marL="0" indent="0" algn="ctr">
              <a:buNone/>
              <a:defRPr sz="2276"/>
            </a:lvl1pPr>
            <a:lvl2pPr marL="650230" indent="0">
              <a:buNone/>
              <a:defRPr sz="2276"/>
            </a:lvl2pPr>
            <a:lvl3pPr marL="1300460" indent="0">
              <a:buNone/>
              <a:defRPr sz="2276"/>
            </a:lvl3pPr>
            <a:lvl4pPr marL="1950690" indent="0">
              <a:buNone/>
              <a:defRPr sz="2276"/>
            </a:lvl4pPr>
            <a:lvl5pPr marL="2600919" indent="0">
              <a:buNone/>
              <a:defRPr sz="2276"/>
            </a:lvl5pPr>
            <a:lvl6pPr marL="3251149" indent="0">
              <a:buNone/>
              <a:defRPr sz="2276"/>
            </a:lvl6pPr>
            <a:lvl7pPr marL="3901379" indent="0">
              <a:buNone/>
              <a:defRPr sz="2276"/>
            </a:lvl7pPr>
            <a:lvl8pPr marL="4551609" indent="0">
              <a:buNone/>
              <a:defRPr sz="2276"/>
            </a:lvl8pPr>
            <a:lvl9pPr marL="5201839" indent="0">
              <a:buNone/>
              <a:defRPr sz="2276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7633547"/>
            <a:ext cx="9375268" cy="702168"/>
          </a:xfrm>
        </p:spPr>
        <p:txBody>
          <a:bodyPr>
            <a:normAutofit/>
          </a:bodyPr>
          <a:lstStyle>
            <a:lvl1pPr marL="0" indent="0">
              <a:buNone/>
              <a:defRPr sz="1707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6984050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7080" y="708705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65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866986"/>
            <a:ext cx="9375268" cy="4433124"/>
          </a:xfrm>
        </p:spPr>
        <p:txBody>
          <a:bodyPr anchor="ctr">
            <a:normAutofit/>
          </a:bodyPr>
          <a:lstStyle>
            <a:lvl1pPr algn="l">
              <a:defRPr sz="6827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546" y="6192421"/>
            <a:ext cx="9375268" cy="2212784"/>
          </a:xfrm>
        </p:spPr>
        <p:txBody>
          <a:bodyPr anchor="ctr">
            <a:normAutofit/>
          </a:bodyPr>
          <a:lstStyle>
            <a:lvl1pPr marL="0" indent="0" algn="l">
              <a:buNone/>
              <a:defRPr sz="25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4503506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7080" y="461388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21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998" y="866987"/>
            <a:ext cx="8689190" cy="4118187"/>
          </a:xfrm>
        </p:spPr>
        <p:txBody>
          <a:bodyPr anchor="ctr">
            <a:normAutofit/>
          </a:bodyPr>
          <a:lstStyle>
            <a:lvl1pPr algn="l">
              <a:defRPr sz="6827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436049" y="4985173"/>
            <a:ext cx="8041085" cy="541867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276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546" y="6192421"/>
            <a:ext cx="9375268" cy="2212784"/>
          </a:xfrm>
        </p:spPr>
        <p:txBody>
          <a:bodyPr anchor="ctr">
            <a:normAutofit/>
          </a:bodyPr>
          <a:lstStyle>
            <a:lvl1pPr marL="0" indent="0" algn="l">
              <a:buNone/>
              <a:defRPr sz="25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83" y="4503506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7080" y="461388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571828" y="921607"/>
            <a:ext cx="650409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8892" y="4131991"/>
            <a:ext cx="650409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9934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3467949"/>
            <a:ext cx="9375268" cy="3875335"/>
          </a:xfrm>
        </p:spPr>
        <p:txBody>
          <a:bodyPr anchor="b">
            <a:normAutofit/>
          </a:bodyPr>
          <a:lstStyle>
            <a:lvl1pPr algn="l">
              <a:defRPr sz="6827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7369386"/>
            <a:ext cx="9375268" cy="10376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83" y="6984050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7080" y="708705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111998" y="866987"/>
            <a:ext cx="8689190" cy="4118187"/>
          </a:xfrm>
        </p:spPr>
        <p:txBody>
          <a:bodyPr anchor="ctr">
            <a:normAutofit/>
          </a:bodyPr>
          <a:lstStyle>
            <a:lvl1pPr algn="l">
              <a:defRPr sz="6827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762546" y="6177280"/>
            <a:ext cx="9512238" cy="119210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413">
                <a:solidFill>
                  <a:schemeClr val="accent1"/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7369386"/>
            <a:ext cx="9512238" cy="10376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83" y="6984050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7080" y="708705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571828" y="921607"/>
            <a:ext cx="650409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8892" y="4131991"/>
            <a:ext cx="650409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4353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7" y="892312"/>
            <a:ext cx="9375266" cy="4096028"/>
          </a:xfrm>
        </p:spPr>
        <p:txBody>
          <a:bodyPr anchor="ctr">
            <a:normAutofit/>
          </a:bodyPr>
          <a:lstStyle>
            <a:lvl1pPr algn="l">
              <a:defRPr sz="6827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762546" y="6177280"/>
            <a:ext cx="9375268" cy="119210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413">
                <a:solidFill>
                  <a:schemeClr val="accent1"/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7369386"/>
            <a:ext cx="9375268" cy="10376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6984050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7080" y="708705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71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97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82805" y="892311"/>
            <a:ext cx="2355388" cy="7514762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62547" y="892311"/>
            <a:ext cx="6707695" cy="75147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67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325120"/>
            <a:ext cx="2817707" cy="9441604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9043" y="406"/>
            <a:ext cx="2776565" cy="9746443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260096" cy="9753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66506" y="887623"/>
            <a:ext cx="9371307" cy="18217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546" y="3034453"/>
            <a:ext cx="9375268" cy="5527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54080" y="8725461"/>
            <a:ext cx="1089963" cy="5264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2546" y="8726485"/>
            <a:ext cx="813011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7080" y="1120403"/>
            <a:ext cx="83196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44">
                <a:solidFill>
                  <a:srgbClr val="FEFFFF"/>
                </a:solidFill>
              </a:defRPr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334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  <p:sldLayoutId id="2147484010" r:id="rId14"/>
    <p:sldLayoutId id="2147484011" r:id="rId15"/>
    <p:sldLayoutId id="2147484012" r:id="rId16"/>
  </p:sldLayoutIdLst>
  <p:txStyles>
    <p:titleStyle>
      <a:lvl1pPr algn="l" defTabSz="650230" rtl="0" eaLnBrk="1" latinLnBrk="0" hangingPunct="1">
        <a:spcBef>
          <a:spcPct val="0"/>
        </a:spcBef>
        <a:buNone/>
        <a:defRPr sz="512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87672" indent="-487672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25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056623" indent="-406394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227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625575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99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27580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92603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57626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22649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87672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52695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conda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MẠNG NEURON…"/>
          <p:cNvSpPr txBox="1">
            <a:spLocks noGrp="1"/>
          </p:cNvSpPr>
          <p:nvPr>
            <p:ph type="subTitle" idx="1"/>
          </p:nvPr>
        </p:nvSpPr>
        <p:spPr>
          <a:xfrm>
            <a:off x="-3388" y="3696960"/>
            <a:ext cx="13004801" cy="402119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8800" smtClean="0">
                <a:solidFill>
                  <a:srgbClr val="002060"/>
                </a:solidFill>
                <a:latin typeface="Constantia" panose="02030602050306030303" pitchFamily="18" charset="0"/>
              </a:rPr>
              <a:t>Kỹ thuật xử lý ảnh số</a:t>
            </a:r>
          </a:p>
          <a:p>
            <a:pPr algn="ctr"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smtClean="0">
                <a:solidFill>
                  <a:srgbClr val="002060"/>
                </a:solidFill>
                <a:latin typeface="Constantia" panose="02030602050306030303" pitchFamily="18" charset="0"/>
              </a:rPr>
              <a:t>Giảng viên: TS. Nguyễn Thúy Bình</a:t>
            </a:r>
          </a:p>
          <a:p>
            <a:pPr algn="ctr"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smtClean="0">
                <a:solidFill>
                  <a:srgbClr val="002060"/>
                </a:solidFill>
                <a:latin typeface="Constantia" panose="02030602050306030303" pitchFamily="18" charset="0"/>
              </a:rPr>
              <a:t>Email: thuybinh_ktdt@utc.edu.vn</a:t>
            </a:r>
          </a:p>
          <a:p>
            <a:pPr algn="ctr">
              <a:defRPr sz="4000" b="1">
                <a:latin typeface="Arial"/>
                <a:ea typeface="Arial"/>
                <a:cs typeface="Arial"/>
                <a:sym typeface="Arial"/>
              </a:defRPr>
            </a:pPr>
            <a:endParaRPr lang="en-US" sz="3200" smtClean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algn="ctr">
              <a:defRPr sz="4000" b="1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120" name="Số Trang chiếu"/>
          <p:cNvSpPr txBox="1">
            <a:spLocks noGrp="1"/>
          </p:cNvSpPr>
          <p:nvPr>
            <p:ph type="sldNum" sz="quarter" idx="12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Nội dung môn học"/>
          <p:cNvSpPr txBox="1">
            <a:spLocks noGrp="1"/>
          </p:cNvSpPr>
          <p:nvPr>
            <p:ph type="ctrTitle"/>
          </p:nvPr>
        </p:nvSpPr>
        <p:spPr>
          <a:xfrm>
            <a:off x="-673" y="-14652"/>
            <a:ext cx="12980746" cy="1340427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sz="7200" b="1" dirty="0" err="1">
                <a:solidFill>
                  <a:srgbClr val="002060"/>
                </a:solidFill>
                <a:latin typeface="Constantia" panose="02030602050306030303" pitchFamily="18" charset="0"/>
              </a:rPr>
              <a:t>Nội</a:t>
            </a:r>
            <a:r>
              <a:rPr sz="7200" b="1" dirty="0">
                <a:solidFill>
                  <a:srgbClr val="002060"/>
                </a:solidFill>
                <a:latin typeface="Constantia" panose="02030602050306030303" pitchFamily="18" charset="0"/>
              </a:rPr>
              <a:t> dung </a:t>
            </a:r>
            <a:r>
              <a:rPr sz="7200" b="1" dirty="0" err="1">
                <a:solidFill>
                  <a:srgbClr val="002060"/>
                </a:solidFill>
                <a:latin typeface="Constantia" panose="02030602050306030303" pitchFamily="18" charset="0"/>
              </a:rPr>
              <a:t>môn</a:t>
            </a:r>
            <a:r>
              <a:rPr sz="7200" b="1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sz="7200" b="1" dirty="0" err="1">
                <a:solidFill>
                  <a:srgbClr val="002060"/>
                </a:solidFill>
                <a:latin typeface="Constantia" panose="02030602050306030303" pitchFamily="18" charset="0"/>
              </a:rPr>
              <a:t>học</a:t>
            </a:r>
            <a:endParaRPr sz="7200" b="1" dirty="0">
              <a:solidFill>
                <a:srgbClr val="002060"/>
              </a:solidFill>
              <a:latin typeface="Constantia" panose="02030602050306030303" pitchFamily="18" charset="0"/>
            </a:endParaRPr>
          </a:p>
        </p:txBody>
      </p:sp>
      <p:sp>
        <p:nvSpPr>
          <p:cNvPr id="123" name="Tên môn học: Mạng neuron và ứng dụng trong xử lý tín hiệu…"/>
          <p:cNvSpPr txBox="1">
            <a:spLocks noGrp="1"/>
          </p:cNvSpPr>
          <p:nvPr>
            <p:ph type="subTitle" idx="1"/>
          </p:nvPr>
        </p:nvSpPr>
        <p:spPr>
          <a:xfrm>
            <a:off x="825751" y="1759727"/>
            <a:ext cx="11956152" cy="739850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742950" indent="-742950" algn="just">
              <a:buSzPct val="100000"/>
              <a:buFont typeface="+mj-lt"/>
              <a:buAutoNum type="arabicPeriod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dirty="0" err="1" smtClean="0">
                <a:solidFill>
                  <a:srgbClr val="002060"/>
                </a:solidFill>
                <a:latin typeface="Constantia" panose="02030602050306030303" pitchFamily="18" charset="0"/>
              </a:rPr>
              <a:t>Thời</a:t>
            </a:r>
            <a:r>
              <a:rPr dirty="0" smtClean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lượng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: </a:t>
            </a:r>
            <a:r>
              <a:rPr b="0" dirty="0">
                <a:solidFill>
                  <a:srgbClr val="002060"/>
                </a:solidFill>
                <a:latin typeface="Constantia" panose="02030602050306030303" pitchFamily="18" charset="0"/>
              </a:rPr>
              <a:t>2 </a:t>
            </a:r>
            <a:r>
              <a:rPr b="0" dirty="0" err="1">
                <a:solidFill>
                  <a:srgbClr val="002060"/>
                </a:solidFill>
                <a:latin typeface="Constantia" panose="02030602050306030303" pitchFamily="18" charset="0"/>
              </a:rPr>
              <a:t>tín</a:t>
            </a:r>
            <a:r>
              <a:rPr b="0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b="0" dirty="0" err="1">
                <a:solidFill>
                  <a:srgbClr val="002060"/>
                </a:solidFill>
                <a:latin typeface="Constantia" panose="02030602050306030303" pitchFamily="18" charset="0"/>
              </a:rPr>
              <a:t>chỉ</a:t>
            </a:r>
            <a:r>
              <a:rPr b="0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b="0" dirty="0" smtClean="0">
                <a:solidFill>
                  <a:srgbClr val="002060"/>
                </a:solidFill>
                <a:latin typeface="Constantia" panose="02030602050306030303" pitchFamily="18" charset="0"/>
              </a:rPr>
              <a:t>(</a:t>
            </a:r>
            <a:r>
              <a:rPr lang="en-US" b="0" dirty="0" smtClean="0">
                <a:solidFill>
                  <a:srgbClr val="002060"/>
                </a:solidFill>
                <a:latin typeface="Constantia" panose="02030602050306030303" pitchFamily="18" charset="0"/>
              </a:rPr>
              <a:t>9</a:t>
            </a:r>
            <a:r>
              <a:rPr b="0" dirty="0" smtClean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b="0" dirty="0" err="1">
                <a:solidFill>
                  <a:srgbClr val="002060"/>
                </a:solidFill>
                <a:latin typeface="Constantia" panose="02030602050306030303" pitchFamily="18" charset="0"/>
              </a:rPr>
              <a:t>buổi</a:t>
            </a:r>
            <a:r>
              <a:rPr b="0" dirty="0">
                <a:solidFill>
                  <a:srgbClr val="002060"/>
                </a:solidFill>
                <a:latin typeface="Constantia" panose="02030602050306030303" pitchFamily="18" charset="0"/>
              </a:rPr>
              <a:t> LT + 4 </a:t>
            </a:r>
            <a:r>
              <a:rPr b="0" dirty="0" err="1">
                <a:solidFill>
                  <a:srgbClr val="002060"/>
                </a:solidFill>
                <a:latin typeface="Constantia" panose="02030602050306030303" pitchFamily="18" charset="0"/>
              </a:rPr>
              <a:t>buổi</a:t>
            </a:r>
            <a:r>
              <a:rPr b="0" dirty="0">
                <a:solidFill>
                  <a:srgbClr val="002060"/>
                </a:solidFill>
                <a:latin typeface="Constantia" panose="02030602050306030303" pitchFamily="18" charset="0"/>
              </a:rPr>
              <a:t> BT)</a:t>
            </a:r>
          </a:p>
          <a:p>
            <a:pPr marL="742950" indent="-742950" algn="just">
              <a:buSzPct val="100000"/>
              <a:buFont typeface="+mj-lt"/>
              <a:buAutoNum type="arabicPeriod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dirty="0" err="1" smtClean="0">
                <a:solidFill>
                  <a:srgbClr val="002060"/>
                </a:solidFill>
                <a:latin typeface="Constantia" panose="02030602050306030303" pitchFamily="18" charset="0"/>
              </a:rPr>
              <a:t>Đánh</a:t>
            </a:r>
            <a:r>
              <a:rPr dirty="0" smtClean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giá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học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phần</a:t>
            </a:r>
            <a:r>
              <a:rPr dirty="0" smtClean="0">
                <a:solidFill>
                  <a:srgbClr val="002060"/>
                </a:solidFill>
                <a:latin typeface="Constantia" panose="02030602050306030303" pitchFamily="18" charset="0"/>
              </a:rPr>
              <a:t>:</a:t>
            </a:r>
            <a:endParaRPr lang="en-US" dirty="0" smtClean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dirty="0" err="1" smtClean="0">
                <a:solidFill>
                  <a:srgbClr val="002060"/>
                </a:solidFill>
                <a:latin typeface="Constantia" panose="02030602050306030303" pitchFamily="18" charset="0"/>
              </a:rPr>
              <a:t>Điểm</a:t>
            </a:r>
            <a:r>
              <a:rPr dirty="0" smtClean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danh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: </a:t>
            </a:r>
            <a:r>
              <a:rPr smtClean="0">
                <a:solidFill>
                  <a:srgbClr val="002060"/>
                </a:solidFill>
                <a:latin typeface="Constantia" panose="02030602050306030303" pitchFamily="18" charset="0"/>
              </a:rPr>
              <a:t>1</a:t>
            </a:r>
            <a:r>
              <a:rPr lang="en-US" smtClean="0">
                <a:solidFill>
                  <a:srgbClr val="002060"/>
                </a:solidFill>
                <a:latin typeface="Constantia" panose="02030602050306030303" pitchFamily="18" charset="0"/>
              </a:rPr>
              <a:t>0</a:t>
            </a:r>
            <a:r>
              <a:rPr smtClean="0">
                <a:solidFill>
                  <a:srgbClr val="002060"/>
                </a:solidFill>
                <a:latin typeface="Constantia" panose="02030602050306030303" pitchFamily="18" charset="0"/>
              </a:rPr>
              <a:t>%</a:t>
            </a:r>
            <a:endParaRPr lang="en-US" smtClean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lang="en-US" smtClean="0">
                <a:solidFill>
                  <a:srgbClr val="002060"/>
                </a:solidFill>
                <a:latin typeface="Constantia" panose="02030602050306030303" pitchFamily="18" charset="0"/>
              </a:rPr>
              <a:t>Điểm bài tập: 15%</a:t>
            </a:r>
            <a:endParaRPr lang="en-US" dirty="0" smtClean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dirty="0" err="1" smtClean="0">
                <a:solidFill>
                  <a:srgbClr val="002060"/>
                </a:solidFill>
                <a:latin typeface="Constantia" panose="02030602050306030303" pitchFamily="18" charset="0"/>
              </a:rPr>
              <a:t>Bài</a:t>
            </a:r>
            <a:r>
              <a:rPr dirty="0" smtClean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kiểm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tra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: </a:t>
            </a:r>
            <a:r>
              <a:rPr lang="en-US" dirty="0" smtClean="0">
                <a:solidFill>
                  <a:srgbClr val="002060"/>
                </a:solidFill>
                <a:latin typeface="Constantia" panose="02030602050306030303" pitchFamily="18" charset="0"/>
              </a:rPr>
              <a:t>15</a:t>
            </a:r>
            <a:r>
              <a:rPr dirty="0" smtClean="0">
                <a:solidFill>
                  <a:srgbClr val="002060"/>
                </a:solidFill>
                <a:latin typeface="Constantia" panose="02030602050306030303" pitchFamily="18" charset="0"/>
              </a:rPr>
              <a:t>%</a:t>
            </a:r>
            <a:endParaRPr lang="en-US" dirty="0" smtClean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dirty="0" err="1" smtClean="0">
                <a:solidFill>
                  <a:srgbClr val="002060"/>
                </a:solidFill>
                <a:latin typeface="Constantia" panose="02030602050306030303" pitchFamily="18" charset="0"/>
              </a:rPr>
              <a:t>Thi</a:t>
            </a:r>
            <a:r>
              <a:rPr dirty="0" smtClean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kết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thúc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học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phần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: </a:t>
            </a:r>
            <a:r>
              <a:rPr lang="en-US" smtClean="0">
                <a:solidFill>
                  <a:srgbClr val="002060"/>
                </a:solidFill>
                <a:latin typeface="Constantia" panose="02030602050306030303" pitchFamily="18" charset="0"/>
              </a:rPr>
              <a:t>6</a:t>
            </a:r>
            <a:r>
              <a:rPr smtClean="0">
                <a:solidFill>
                  <a:srgbClr val="002060"/>
                </a:solidFill>
                <a:latin typeface="Constantia" panose="02030602050306030303" pitchFamily="18" charset="0"/>
              </a:rPr>
              <a:t>0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%</a:t>
            </a:r>
          </a:p>
          <a:p>
            <a:pPr lvl="2" algn="just">
              <a:defRPr sz="4000">
                <a:latin typeface="Arial"/>
                <a:ea typeface="Arial"/>
                <a:cs typeface="Arial"/>
                <a:sym typeface="Arial"/>
              </a:defRPr>
            </a:pPr>
            <a:endParaRPr dirty="0">
              <a:solidFill>
                <a:srgbClr val="002060"/>
              </a:solidFill>
              <a:latin typeface="Constantia" panose="02030602050306030303" pitchFamily="18" charset="0"/>
            </a:endParaRPr>
          </a:p>
        </p:txBody>
      </p:sp>
      <p:sp>
        <p:nvSpPr>
          <p:cNvPr id="124" name="Số Trang chiếu"/>
          <p:cNvSpPr txBox="1">
            <a:spLocks noGrp="1"/>
          </p:cNvSpPr>
          <p:nvPr>
            <p:ph type="sldNum" sz="quarter" idx="12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6772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Nội dung môn học"/>
          <p:cNvSpPr txBox="1">
            <a:spLocks noGrp="1"/>
          </p:cNvSpPr>
          <p:nvPr>
            <p:ph type="ctrTitle"/>
          </p:nvPr>
        </p:nvSpPr>
        <p:spPr>
          <a:xfrm>
            <a:off x="-673" y="-14652"/>
            <a:ext cx="12980746" cy="1340427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sz="7200" b="1" dirty="0" err="1">
                <a:solidFill>
                  <a:srgbClr val="002060"/>
                </a:solidFill>
                <a:latin typeface="Constantia" panose="02030602050306030303" pitchFamily="18" charset="0"/>
              </a:rPr>
              <a:t>Nội</a:t>
            </a:r>
            <a:r>
              <a:rPr lang="en-US" sz="7200" b="1" dirty="0">
                <a:solidFill>
                  <a:srgbClr val="002060"/>
                </a:solidFill>
                <a:latin typeface="Constantia" panose="02030602050306030303" pitchFamily="18" charset="0"/>
              </a:rPr>
              <a:t> dung </a:t>
            </a:r>
            <a:r>
              <a:rPr lang="en-US" sz="7200" b="1" dirty="0" err="1">
                <a:solidFill>
                  <a:srgbClr val="002060"/>
                </a:solidFill>
                <a:latin typeface="Constantia" panose="02030602050306030303" pitchFamily="18" charset="0"/>
              </a:rPr>
              <a:t>môn</a:t>
            </a:r>
            <a:r>
              <a:rPr lang="en-US" sz="7200" b="1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sz="7200" b="1" dirty="0" err="1">
                <a:solidFill>
                  <a:srgbClr val="002060"/>
                </a:solidFill>
                <a:latin typeface="Constantia" panose="02030602050306030303" pitchFamily="18" charset="0"/>
              </a:rPr>
              <a:t>học</a:t>
            </a:r>
            <a:endParaRPr sz="7200" dirty="0">
              <a:solidFill>
                <a:srgbClr val="002060"/>
              </a:solidFill>
            </a:endParaRPr>
          </a:p>
        </p:txBody>
      </p:sp>
      <p:sp>
        <p:nvSpPr>
          <p:cNvPr id="127" name="Tổng quan về neuron và mạng neuron…"/>
          <p:cNvSpPr txBox="1">
            <a:spLocks noGrp="1"/>
          </p:cNvSpPr>
          <p:nvPr>
            <p:ph type="subTitle" idx="1"/>
          </p:nvPr>
        </p:nvSpPr>
        <p:spPr>
          <a:xfrm>
            <a:off x="1828800" y="1786206"/>
            <a:ext cx="10809514" cy="7398508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635000" indent="-635000" algn="just">
              <a:buSzPct val="100000"/>
              <a:buAutoNum type="arabicPeriod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b="1" dirty="0" err="1" smtClean="0">
                <a:solidFill>
                  <a:srgbClr val="002060"/>
                </a:solidFill>
                <a:latin typeface="Constantia" panose="02030602050306030303" pitchFamily="18" charset="0"/>
              </a:rPr>
              <a:t>Lý</a:t>
            </a:r>
            <a:r>
              <a:rPr lang="en-US" b="1" dirty="0" smtClean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Constantia" panose="02030602050306030303" pitchFamily="18" charset="0"/>
              </a:rPr>
              <a:t>thuyết</a:t>
            </a:r>
            <a:endParaRPr lang="en-US" b="1" dirty="0" smtClean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smtClean="0">
                <a:solidFill>
                  <a:srgbClr val="002060"/>
                </a:solidFill>
                <a:latin typeface="Constantia" panose="02030602050306030303" pitchFamily="18" charset="0"/>
              </a:rPr>
              <a:t>Tổng quan về xử lý ảnh</a:t>
            </a:r>
            <a:endParaRPr lang="en-US" sz="3200" dirty="0" smtClean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smtClean="0">
                <a:solidFill>
                  <a:srgbClr val="002060"/>
                </a:solidFill>
                <a:latin typeface="Constantia" panose="02030602050306030303" pitchFamily="18" charset="0"/>
              </a:rPr>
              <a:t>Cải thiện và nâng cao chất lượng ảnh</a:t>
            </a:r>
            <a:endParaRPr lang="en-US" sz="3200" dirty="0" smtClean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smtClean="0">
                <a:solidFill>
                  <a:srgbClr val="002060"/>
                </a:solidFill>
                <a:latin typeface="Constantia" panose="02030602050306030303" pitchFamily="18" charset="0"/>
              </a:rPr>
              <a:t>Phát hiện và tách biên ảnh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smtClean="0">
                <a:solidFill>
                  <a:srgbClr val="002060"/>
                </a:solidFill>
                <a:latin typeface="Constantia" panose="02030602050306030303" pitchFamily="18" charset="0"/>
              </a:rPr>
              <a:t>Phân vùng ảnh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smtClean="0">
                <a:solidFill>
                  <a:srgbClr val="002060"/>
                </a:solidFill>
                <a:latin typeface="Constantia" panose="02030602050306030303" pitchFamily="18" charset="0"/>
              </a:rPr>
              <a:t>Xử lý ảnh nhị phân</a:t>
            </a:r>
            <a:r>
              <a:rPr lang="en-US" dirty="0" smtClean="0">
                <a:solidFill>
                  <a:srgbClr val="002060"/>
                </a:solidFill>
                <a:latin typeface="Constantia" panose="02030602050306030303" pitchFamily="18" charset="0"/>
              </a:rPr>
              <a:t>	</a:t>
            </a:r>
          </a:p>
          <a:p>
            <a:pPr marL="635000" indent="-635000" algn="just">
              <a:buSzPct val="100000"/>
              <a:buAutoNum type="arabicPeriod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b="1" dirty="0" err="1" smtClean="0">
                <a:solidFill>
                  <a:srgbClr val="002060"/>
                </a:solidFill>
                <a:latin typeface="Constantia" panose="02030602050306030303" pitchFamily="18" charset="0"/>
              </a:rPr>
              <a:t>Bài</a:t>
            </a:r>
            <a:r>
              <a:rPr lang="en-US" b="1" dirty="0" smtClean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  <a:latin typeface="Constantia" panose="02030602050306030303" pitchFamily="18" charset="0"/>
              </a:rPr>
              <a:t>tập+Thực</a:t>
            </a:r>
            <a:r>
              <a:rPr lang="en-US" b="1" dirty="0" smtClean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b="1" err="1" smtClean="0">
                <a:solidFill>
                  <a:srgbClr val="002060"/>
                </a:solidFill>
                <a:latin typeface="Constantia" panose="02030602050306030303" pitchFamily="18" charset="0"/>
              </a:rPr>
              <a:t>hành</a:t>
            </a:r>
            <a:r>
              <a:rPr lang="en-US" b="1" smtClean="0">
                <a:solidFill>
                  <a:srgbClr val="002060"/>
                </a:solidFill>
                <a:latin typeface="Constantia" panose="02030602050306030303" pitchFamily="18" charset="0"/>
              </a:rPr>
              <a:t>: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smtClean="0">
                <a:solidFill>
                  <a:srgbClr val="002060"/>
                </a:solidFill>
                <a:latin typeface="Constantia" panose="02030602050306030303" pitchFamily="18" charset="0"/>
              </a:rPr>
              <a:t> Biểu diễn ảnh và biến đổi không gian màu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smtClean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sz="3200" smtClean="0">
                <a:solidFill>
                  <a:srgbClr val="002060"/>
                </a:solidFill>
                <a:latin typeface="Constantia" panose="02030602050306030303" pitchFamily="18" charset="0"/>
              </a:rPr>
              <a:t>Co giãn độ tương phản, cân bằng lược đồ mức xám</a:t>
            </a:r>
            <a:endParaRPr lang="en-US" sz="3200" smtClean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smtClean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sz="3200" smtClean="0">
                <a:solidFill>
                  <a:srgbClr val="002060"/>
                </a:solidFill>
                <a:latin typeface="Constantia" panose="02030602050306030303" pitchFamily="18" charset="0"/>
              </a:rPr>
              <a:t>Lọc nhiễu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smtClean="0">
                <a:solidFill>
                  <a:srgbClr val="002060"/>
                </a:solidFill>
                <a:latin typeface="Constantia" panose="02030602050306030303" pitchFamily="18" charset="0"/>
              </a:rPr>
              <a:t>Phát hiện biên ảnh</a:t>
            </a:r>
            <a:endParaRPr lang="en-US" sz="3200" smtClean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 smtClean="0">
                <a:solidFill>
                  <a:srgbClr val="002060"/>
                </a:solidFill>
                <a:latin typeface="Constantia" panose="02030602050306030303" pitchFamily="18" charset="0"/>
              </a:rPr>
              <a:t> Phân vùng ảnh</a:t>
            </a:r>
          </a:p>
        </p:txBody>
      </p:sp>
      <p:sp>
        <p:nvSpPr>
          <p:cNvPr id="128" name="Số Trang chiếu"/>
          <p:cNvSpPr txBox="1">
            <a:spLocks noGrp="1"/>
          </p:cNvSpPr>
          <p:nvPr>
            <p:ph type="sldNum" sz="quarter" idx="12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>
                <a:solidFill>
                  <a:srgbClr val="002060"/>
                </a:solidFill>
              </a:rPr>
              <a:t>3</a:t>
            </a:fld>
            <a:endParaRPr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06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3" y="856627"/>
            <a:ext cx="11021017" cy="1235644"/>
          </a:xfrm>
        </p:spPr>
        <p:txBody>
          <a:bodyPr>
            <a:normAutofit/>
          </a:bodyPr>
          <a:lstStyle/>
          <a:p>
            <a:pPr algn="ctr"/>
            <a:r>
              <a:rPr lang="en-US" sz="6600" b="1" smtClean="0">
                <a:latin typeface="Constantia" panose="02030602050306030303" pitchFamily="18" charset="0"/>
              </a:rPr>
              <a:t>Tổng quan về xử lý ảnh</a:t>
            </a:r>
            <a:endParaRPr lang="en-US" sz="6600" b="1">
              <a:latin typeface="Constantia" panose="0203060205030603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941" y="2150420"/>
            <a:ext cx="12305162" cy="7178930"/>
          </a:xfrm>
        </p:spPr>
        <p:txBody>
          <a:bodyPr>
            <a:normAutofit/>
          </a:bodyPr>
          <a:lstStyle/>
          <a:p>
            <a:r>
              <a:rPr lang="en-US" sz="3600" smtClean="0">
                <a:solidFill>
                  <a:srgbClr val="0033CC"/>
                </a:solidFill>
                <a:latin typeface="Constantia" panose="02030602050306030303" pitchFamily="18" charset="0"/>
              </a:rPr>
              <a:t>Ảnh: </a:t>
            </a:r>
            <a:r>
              <a:rPr lang="en-US" sz="3600" smtClean="0">
                <a:solidFill>
                  <a:srgbClr val="002060"/>
                </a:solidFill>
                <a:latin typeface="Constantia" panose="02030602050306030303" pitchFamily="18" charset="0"/>
              </a:rPr>
              <a:t>thông tin về vật thể/đối tượng mà con người quan sát và cảm nhận được bằng mắt và hệ thần kinh. </a:t>
            </a:r>
          </a:p>
          <a:p>
            <a:r>
              <a:rPr lang="en-US" sz="3600" smtClean="0">
                <a:solidFill>
                  <a:srgbClr val="0033CC"/>
                </a:solidFill>
                <a:latin typeface="Constantia" panose="02030602050306030303" pitchFamily="18" charset="0"/>
              </a:rPr>
              <a:t>Ảnh số:</a:t>
            </a:r>
            <a:r>
              <a:rPr lang="en-US" sz="3600" smtClean="0">
                <a:solidFill>
                  <a:srgbClr val="002060"/>
                </a:solidFill>
                <a:latin typeface="Constantia" panose="02030602050306030303" pitchFamily="18" charset="0"/>
              </a:rPr>
              <a:t> là tập hợp các điểm ảnh (pixel). Cường độ sáng tại mỗi điểm ảnh được coi là hàm theo tọa độ không gian F(x,y).</a:t>
            </a:r>
          </a:p>
          <a:p>
            <a:pPr marL="0" indent="0">
              <a:buNone/>
            </a:pPr>
            <a:endParaRPr lang="en-US" sz="3200" smtClean="0">
              <a:solidFill>
                <a:srgbClr val="002060"/>
              </a:solidFill>
              <a:latin typeface="Constantia" panose="02030602050306030303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04356" y="5708887"/>
            <a:ext cx="11586679" cy="3620463"/>
            <a:chOff x="766349" y="5957490"/>
            <a:chExt cx="11586679" cy="3620463"/>
          </a:xfrm>
        </p:grpSpPr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349" y="5957490"/>
              <a:ext cx="4456580" cy="2955249"/>
            </a:xfrm>
            <a:prstGeom prst="rect">
              <a:avLst/>
            </a:prstGeom>
          </p:spPr>
        </p:pic>
        <p:grpSp>
          <p:nvGrpSpPr>
            <p:cNvPr id="50" name="Group 49"/>
            <p:cNvGrpSpPr/>
            <p:nvPr/>
          </p:nvGrpSpPr>
          <p:grpSpPr>
            <a:xfrm>
              <a:off x="5842861" y="5957491"/>
              <a:ext cx="6510167" cy="2977538"/>
              <a:chOff x="3220776" y="6486919"/>
              <a:chExt cx="8083602" cy="2717644"/>
            </a:xfrm>
          </p:grpSpPr>
          <p:pic>
            <p:nvPicPr>
              <p:cNvPr id="53" name="Picture 52"/>
              <p:cNvPicPr>
                <a:picLocks noChangeAspect="1"/>
              </p:cNvPicPr>
              <p:nvPr/>
            </p:nvPicPr>
            <p:blipFill rotWithShape="1">
              <a:blip r:embed="rId3"/>
              <a:srcRect l="34012" t="14213" r="34954" b="46338"/>
              <a:stretch/>
            </p:blipFill>
            <p:spPr>
              <a:xfrm>
                <a:off x="8094971" y="6486919"/>
                <a:ext cx="3209407" cy="2717643"/>
              </a:xfrm>
              <a:prstGeom prst="rect">
                <a:avLst/>
              </a:prstGeom>
              <a:ln w="3175">
                <a:solidFill>
                  <a:schemeClr val="tx1"/>
                </a:solidFill>
              </a:ln>
            </p:spPr>
          </p:pic>
          <p:grpSp>
            <p:nvGrpSpPr>
              <p:cNvPr id="79" name="Group 78"/>
              <p:cNvGrpSpPr/>
              <p:nvPr/>
            </p:nvGrpSpPr>
            <p:grpSpPr>
              <a:xfrm>
                <a:off x="3220776" y="6490314"/>
                <a:ext cx="6667704" cy="2714249"/>
                <a:chOff x="622389" y="6781799"/>
                <a:chExt cx="6667704" cy="2714249"/>
              </a:xfrm>
            </p:grpSpPr>
            <p:pic>
              <p:nvPicPr>
                <p:cNvPr id="80" name="Picture 79"/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65879" t="14071" r="3301" b="46856"/>
                <a:stretch/>
              </p:blipFill>
              <p:spPr>
                <a:xfrm>
                  <a:off x="4076090" y="6781799"/>
                  <a:ext cx="3214003" cy="2714249"/>
                </a:xfrm>
                <a:prstGeom prst="rect">
                  <a:avLst/>
                </a:prstGeom>
                <a:ln w="3175">
                  <a:solidFill>
                    <a:schemeClr val="tx1"/>
                  </a:solidFill>
                </a:ln>
              </p:spPr>
            </p:pic>
            <p:pic>
              <p:nvPicPr>
                <p:cNvPr id="81" name="Picture 80"/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12127" r="64711" b="48424"/>
                <a:stretch/>
              </p:blipFill>
              <p:spPr>
                <a:xfrm>
                  <a:off x="1803169" y="6781799"/>
                  <a:ext cx="3644947" cy="2714249"/>
                </a:xfrm>
                <a:prstGeom prst="rect">
                  <a:avLst/>
                </a:prstGeom>
                <a:ln w="3175">
                  <a:solidFill>
                    <a:schemeClr val="tx1"/>
                  </a:solidFill>
                </a:ln>
              </p:spPr>
            </p:pic>
            <p:pic>
              <p:nvPicPr>
                <p:cNvPr id="82" name="Picture 81"/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34012" t="14213" r="34954" b="46338"/>
                <a:stretch/>
              </p:blipFill>
              <p:spPr>
                <a:xfrm>
                  <a:off x="622389" y="6794499"/>
                  <a:ext cx="3179223" cy="2692084"/>
                </a:xfrm>
                <a:prstGeom prst="rect">
                  <a:avLst/>
                </a:prstGeom>
                <a:ln w="3175">
                  <a:solidFill>
                    <a:schemeClr val="tx1"/>
                  </a:solidFill>
                </a:ln>
              </p:spPr>
            </p:pic>
          </p:grpSp>
        </p:grpSp>
        <p:sp>
          <p:nvSpPr>
            <p:cNvPr id="5" name="TextBox 4"/>
            <p:cNvSpPr txBox="1"/>
            <p:nvPr/>
          </p:nvSpPr>
          <p:spPr>
            <a:xfrm>
              <a:off x="1801269" y="8962181"/>
              <a:ext cx="23867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0">
                  <a:solidFill>
                    <a:srgbClr val="002060"/>
                  </a:solidFill>
                  <a:latin typeface="Constantia" panose="02030602050306030303" pitchFamily="18" charset="0"/>
                </a:rPr>
                <a:t>Ảnh tĩnh</a:t>
              </a:r>
              <a:endParaRPr lang="en-US" sz="3200" b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8106497" y="8993178"/>
              <a:ext cx="23867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0" smtClean="0">
                  <a:solidFill>
                    <a:srgbClr val="002060"/>
                  </a:solidFill>
                  <a:latin typeface="Constantia" panose="02030602050306030303" pitchFamily="18" charset="0"/>
                </a:rPr>
                <a:t>Chuỗi ảnh</a:t>
              </a:r>
              <a:endParaRPr lang="en-US" sz="3200" b="0"/>
            </a:p>
          </p:txBody>
        </p:sp>
      </p:grpSp>
    </p:spTree>
    <p:extLst>
      <p:ext uri="{BB962C8B-B14F-4D97-AF65-F5344CB8AC3E}">
        <p14:creationId xmlns:p14="http://schemas.microsoft.com/office/powerpoint/2010/main" val="3778551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11824" y="236695"/>
            <a:ext cx="11021017" cy="1235644"/>
          </a:xfrm>
        </p:spPr>
        <p:txBody>
          <a:bodyPr>
            <a:normAutofit/>
          </a:bodyPr>
          <a:lstStyle/>
          <a:p>
            <a:pPr algn="ctr"/>
            <a:r>
              <a:rPr lang="en-US" sz="6600" b="1" smtClean="0">
                <a:latin typeface="Constantia" panose="02030602050306030303" pitchFamily="18" charset="0"/>
              </a:rPr>
              <a:t>Tổng quan về xử lý ảnh</a:t>
            </a:r>
            <a:endParaRPr lang="en-US" sz="6600" b="1">
              <a:latin typeface="Constantia" panose="02030602050306030303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1411" y="1852048"/>
            <a:ext cx="6927742" cy="83690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 smtClean="0">
                <a:solidFill>
                  <a:srgbClr val="000066"/>
                </a:solidFill>
                <a:latin typeface="Constantia" panose="02030602050306030303" pitchFamily="18" charset="0"/>
              </a:rPr>
              <a:t>Các kỹ thuật xử lý ảnh số cơ bản</a:t>
            </a:r>
            <a:endParaRPr lang="en-US" sz="3600" b="0">
              <a:solidFill>
                <a:srgbClr val="000066"/>
              </a:solidFill>
              <a:latin typeface="Constantia" panose="02030602050306030303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41300" y="2844800"/>
            <a:ext cx="12763500" cy="6908800"/>
            <a:chOff x="241300" y="2844800"/>
            <a:chExt cx="12763500" cy="6908800"/>
          </a:xfrm>
        </p:grpSpPr>
        <p:sp>
          <p:nvSpPr>
            <p:cNvPr id="10" name="Rectangle 9"/>
            <p:cNvSpPr/>
            <p:nvPr/>
          </p:nvSpPr>
          <p:spPr>
            <a:xfrm>
              <a:off x="241300" y="2844800"/>
              <a:ext cx="12763500" cy="6908800"/>
            </a:xfrm>
            <a:prstGeom prst="rect">
              <a:avLst/>
            </a:prstGeom>
            <a:solidFill>
              <a:srgbClr val="F4F8B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732" y="3319523"/>
              <a:ext cx="12168109" cy="59593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3159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914470"/>
            <a:ext cx="12598400" cy="6861229"/>
          </a:xfrm>
        </p:spPr>
        <p:txBody>
          <a:bodyPr>
            <a:normAutofit/>
          </a:bodyPr>
          <a:lstStyle/>
          <a:p>
            <a:pPr marL="487672" lvl="1" indent="-487672">
              <a:spcBef>
                <a:spcPts val="0"/>
              </a:spcBef>
            </a:pPr>
            <a:r>
              <a:rPr lang="en-US" sz="3716" smtClean="0">
                <a:solidFill>
                  <a:srgbClr val="002060"/>
                </a:solidFill>
                <a:latin typeface="Constantia" panose="02030602050306030303" pitchFamily="18" charset="0"/>
              </a:rPr>
              <a:t>Ảnh </a:t>
            </a:r>
            <a:r>
              <a:rPr lang="en-US" sz="3716">
                <a:solidFill>
                  <a:srgbClr val="002060"/>
                </a:solidFill>
                <a:latin typeface="Constantia" panose="02030602050306030303" pitchFamily="18" charset="0"/>
              </a:rPr>
              <a:t>nhị phân: 1 bit/pixel (</a:t>
            </a:r>
            <a:r>
              <a:rPr lang="en-US" sz="3716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0/1</a:t>
            </a:r>
            <a:r>
              <a:rPr lang="en-US" sz="3716">
                <a:solidFill>
                  <a:srgbClr val="002060"/>
                </a:solidFill>
                <a:latin typeface="Constantia" panose="02030602050306030303" pitchFamily="18" charset="0"/>
              </a:rPr>
              <a:t>)</a:t>
            </a:r>
          </a:p>
          <a:p>
            <a:pPr marL="487672" lvl="1" indent="-487672">
              <a:spcBef>
                <a:spcPts val="0"/>
              </a:spcBef>
            </a:pPr>
            <a:r>
              <a:rPr lang="en-US" sz="4000" smtClean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sz="3716" smtClean="0">
                <a:solidFill>
                  <a:srgbClr val="002060"/>
                </a:solidFill>
                <a:latin typeface="Constantia" panose="02030602050306030303" pitchFamily="18" charset="0"/>
              </a:rPr>
              <a:t>Ảnh </a:t>
            </a:r>
            <a:r>
              <a:rPr lang="en-US" sz="3716">
                <a:solidFill>
                  <a:srgbClr val="002060"/>
                </a:solidFill>
                <a:latin typeface="Constantia" panose="02030602050306030303" pitchFamily="18" charset="0"/>
              </a:rPr>
              <a:t>mức xám: 8 bit/pixel</a:t>
            </a:r>
          </a:p>
          <a:p>
            <a:pPr marL="487672" lvl="1" indent="-487672">
              <a:spcBef>
                <a:spcPts val="0"/>
              </a:spcBef>
            </a:pPr>
            <a:r>
              <a:rPr lang="en-US" sz="4000" smtClean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sz="3716">
                <a:solidFill>
                  <a:srgbClr val="002060"/>
                </a:solidFill>
                <a:latin typeface="Constantia" panose="02030602050306030303" pitchFamily="18" charset="0"/>
              </a:rPr>
              <a:t>Ảnh màu: 16-24 bit/pixel (RGB, HSV, YCbCr, Lab) </a:t>
            </a:r>
            <a:endParaRPr lang="en-US" sz="4000" smtClean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650229" lvl="1" indent="0">
              <a:buNone/>
            </a:pPr>
            <a:r>
              <a:rPr lang="en-US" sz="4000"/>
              <a:t/>
            </a:r>
            <a:br>
              <a:rPr lang="en-US" sz="4000"/>
            </a:br>
            <a:endParaRPr lang="en-US" sz="3716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0" indent="0">
              <a:buNone/>
            </a:pPr>
            <a:endParaRPr lang="en-US" sz="400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0" indent="0">
              <a:buNone/>
            </a:pPr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49830" y="32145"/>
            <a:ext cx="11021017" cy="1235644"/>
          </a:xfrm>
        </p:spPr>
        <p:txBody>
          <a:bodyPr>
            <a:normAutofit/>
          </a:bodyPr>
          <a:lstStyle/>
          <a:p>
            <a:pPr algn="ctr"/>
            <a:r>
              <a:rPr lang="en-US" sz="6600" b="1" smtClean="0">
                <a:latin typeface="Constantia" panose="02030602050306030303" pitchFamily="18" charset="0"/>
              </a:rPr>
              <a:t>Tổng quan về xử lý ảnh</a:t>
            </a:r>
            <a:endParaRPr lang="en-US" sz="6600" b="1">
              <a:latin typeface="Constantia" panose="02030602050306030303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643" y="3966966"/>
            <a:ext cx="7684995" cy="32952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91025" y="1043115"/>
            <a:ext cx="3684076" cy="6575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 smtClean="0">
                <a:solidFill>
                  <a:srgbClr val="000066"/>
                </a:solidFill>
                <a:latin typeface="Constantia" panose="02030602050306030303" pitchFamily="18" charset="0"/>
              </a:rPr>
              <a:t>Phân loại ảnh số</a:t>
            </a:r>
            <a:endParaRPr lang="en-US" sz="3600" b="0">
              <a:solidFill>
                <a:srgbClr val="000066"/>
              </a:solidFill>
              <a:latin typeface="Constantia" panose="02030602050306030303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06400" y="4195565"/>
            <a:ext cx="4823827" cy="3767910"/>
            <a:chOff x="406400" y="4195565"/>
            <a:chExt cx="4823827" cy="3767910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6400" y="4195565"/>
              <a:ext cx="4823827" cy="2969323"/>
            </a:xfrm>
            <a:prstGeom prst="rect">
              <a:avLst/>
            </a:prstGeom>
          </p:spPr>
        </p:pic>
        <p:sp>
          <p:nvSpPr>
            <p:cNvPr id="2" name="TextBox 1"/>
            <p:cNvSpPr txBox="1"/>
            <p:nvPr/>
          </p:nvSpPr>
          <p:spPr>
            <a:xfrm>
              <a:off x="1257300" y="7378700"/>
              <a:ext cx="25273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0" smtClean="0">
                  <a:latin typeface="Constantia" panose="02030602050306030303" pitchFamily="18" charset="0"/>
                </a:rPr>
                <a:t>Ảnh xám</a:t>
              </a:r>
              <a:endParaRPr lang="en-US" sz="3200" b="0">
                <a:latin typeface="Constantia" panose="02030602050306030303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21600" y="7378700"/>
            <a:ext cx="2527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smtClean="0">
                <a:latin typeface="Constantia" panose="02030602050306030303" pitchFamily="18" charset="0"/>
              </a:rPr>
              <a:t>Ảnh màu</a:t>
            </a:r>
            <a:endParaRPr lang="en-US" sz="3200" b="0"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430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43" y="2074640"/>
            <a:ext cx="11183257" cy="6079012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678169" y="0"/>
            <a:ext cx="11021017" cy="1235644"/>
          </a:xfrm>
        </p:spPr>
        <p:txBody>
          <a:bodyPr>
            <a:normAutofit/>
          </a:bodyPr>
          <a:lstStyle/>
          <a:p>
            <a:pPr algn="ctr"/>
            <a:r>
              <a:rPr lang="en-US" sz="6600" b="1" smtClean="0">
                <a:latin typeface="Constantia" panose="02030602050306030303" pitchFamily="18" charset="0"/>
              </a:rPr>
              <a:t>Tổng quan về xử lý ảnh</a:t>
            </a:r>
            <a:endParaRPr lang="en-US" sz="6600" b="1">
              <a:latin typeface="Constantia" panose="0203060205030603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06600" y="1489865"/>
            <a:ext cx="2527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smtClean="0">
                <a:latin typeface="Constantia" panose="02030602050306030303" pitchFamily="18" charset="0"/>
              </a:rPr>
              <a:t>Ảnh xám</a:t>
            </a:r>
            <a:endParaRPr lang="en-US" sz="3200" b="0">
              <a:latin typeface="Constantia" panose="020306020503060303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39100" y="1489865"/>
            <a:ext cx="2527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smtClean="0">
                <a:latin typeface="Constantia" panose="02030602050306030303" pitchFamily="18" charset="0"/>
              </a:rPr>
              <a:t>Ảnh vệ tinh</a:t>
            </a:r>
            <a:endParaRPr lang="en-US" sz="3200" b="0">
              <a:latin typeface="Constantia" panose="0203060205030603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71650" y="8407873"/>
            <a:ext cx="299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smtClean="0">
                <a:latin typeface="Constantia" panose="02030602050306030303" pitchFamily="18" charset="0"/>
              </a:rPr>
              <a:t>Ảnh màu RGB</a:t>
            </a:r>
            <a:endParaRPr lang="en-US" sz="3200" b="0">
              <a:latin typeface="Constantia" panose="020306020503060303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22950" y="8407873"/>
            <a:ext cx="299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smtClean="0">
                <a:latin typeface="Constantia" panose="02030602050306030303" pitchFamily="18" charset="0"/>
              </a:rPr>
              <a:t>Ảnh y tế</a:t>
            </a:r>
            <a:endParaRPr lang="en-US" sz="3200" b="0">
              <a:latin typeface="Constantia" panose="02030602050306030303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94800" y="8407872"/>
            <a:ext cx="3619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smtClean="0">
                <a:latin typeface="Constantia" panose="02030602050306030303" pitchFamily="18" charset="0"/>
              </a:rPr>
              <a:t>Ảnh sinh trắc học</a:t>
            </a:r>
            <a:endParaRPr lang="en-US" sz="3200" b="0"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44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666367" y="-6520"/>
            <a:ext cx="11021017" cy="1235644"/>
          </a:xfrm>
        </p:spPr>
        <p:txBody>
          <a:bodyPr>
            <a:normAutofit/>
          </a:bodyPr>
          <a:lstStyle/>
          <a:p>
            <a:pPr algn="ctr"/>
            <a:r>
              <a:rPr lang="en-US" sz="6600" b="1" smtClean="0">
                <a:latin typeface="Constantia" panose="02030602050306030303" pitchFamily="18" charset="0"/>
              </a:rPr>
              <a:t>Tổng quan về xử lý ảnh</a:t>
            </a:r>
            <a:endParaRPr lang="en-US" sz="6600" b="1">
              <a:latin typeface="Constantia" panose="02030602050306030303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95217" y="1036050"/>
            <a:ext cx="5127544" cy="6575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 smtClean="0">
                <a:solidFill>
                  <a:srgbClr val="000066"/>
                </a:solidFill>
                <a:latin typeface="Constantia" panose="02030602050306030303" pitchFamily="18" charset="0"/>
              </a:rPr>
              <a:t>Một số không gian màu</a:t>
            </a:r>
            <a:endParaRPr lang="en-US" sz="3600" b="0">
              <a:solidFill>
                <a:srgbClr val="000066"/>
              </a:solidFill>
              <a:latin typeface="Constantia" panose="020306020503060303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167" y="1885231"/>
            <a:ext cx="10195433" cy="702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7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50" y="2934133"/>
            <a:ext cx="12778350" cy="3179303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86457" y="0"/>
            <a:ext cx="11021017" cy="1172144"/>
          </a:xfrm>
        </p:spPr>
        <p:txBody>
          <a:bodyPr>
            <a:normAutofit/>
          </a:bodyPr>
          <a:lstStyle/>
          <a:p>
            <a:pPr algn="ctr"/>
            <a:r>
              <a:rPr lang="en-US" sz="6600" b="1" smtClean="0">
                <a:latin typeface="Constantia" panose="02030602050306030303" pitchFamily="18" charset="0"/>
              </a:rPr>
              <a:t>Tổng quan về xử lý ảnh</a:t>
            </a:r>
            <a:endParaRPr lang="en-US" sz="6600" b="1">
              <a:latin typeface="Constantia" panose="02030602050306030303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26450" y="1066824"/>
            <a:ext cx="5880183" cy="6575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 smtClean="0">
                <a:solidFill>
                  <a:srgbClr val="000066"/>
                </a:solidFill>
                <a:latin typeface="Constantia" panose="02030602050306030303" pitchFamily="18" charset="0"/>
              </a:rPr>
              <a:t>Chuyển đổi không gian màu</a:t>
            </a:r>
            <a:endParaRPr lang="en-US" sz="3600" b="0">
              <a:solidFill>
                <a:srgbClr val="000066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52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846" y="1904152"/>
            <a:ext cx="12243628" cy="6731847"/>
          </a:xfrm>
        </p:spPr>
        <p:txBody>
          <a:bodyPr>
            <a:normAutofit/>
          </a:bodyPr>
          <a:lstStyle/>
          <a:p>
            <a:r>
              <a:rPr lang="en-US" sz="3200" smtClean="0">
                <a:latin typeface="Constantia" panose="02030602050306030303" pitchFamily="18" charset="0"/>
              </a:rPr>
              <a:t>Nâng cao độ tương phản</a:t>
            </a:r>
          </a:p>
          <a:p>
            <a:endParaRPr lang="en-US" sz="3200">
              <a:latin typeface="Constantia" panose="02030602050306030303" pitchFamily="18" charset="0"/>
            </a:endParaRPr>
          </a:p>
          <a:p>
            <a:pPr marL="0" indent="0">
              <a:buNone/>
            </a:pPr>
            <a:endParaRPr lang="en-US" sz="3200" smtClean="0">
              <a:latin typeface="Constantia" panose="02030602050306030303" pitchFamily="18" charset="0"/>
            </a:endParaRPr>
          </a:p>
          <a:p>
            <a:pPr marL="0" indent="0">
              <a:buNone/>
            </a:pPr>
            <a:endParaRPr lang="en-US" sz="3200">
              <a:latin typeface="Constantia" panose="02030602050306030303" pitchFamily="18" charset="0"/>
            </a:endParaRPr>
          </a:p>
          <a:p>
            <a:pPr marL="0" indent="0">
              <a:buNone/>
            </a:pPr>
            <a:endParaRPr lang="en-US" sz="3200" smtClean="0">
              <a:latin typeface="Constantia" panose="02030602050306030303" pitchFamily="18" charset="0"/>
            </a:endParaRPr>
          </a:p>
          <a:p>
            <a:pPr marL="0" indent="0">
              <a:buNone/>
            </a:pPr>
            <a:endParaRPr lang="en-US" sz="3200">
              <a:latin typeface="Constantia" panose="02030602050306030303" pitchFamily="18" charset="0"/>
            </a:endParaRPr>
          </a:p>
          <a:p>
            <a:r>
              <a:rPr lang="en-US" sz="3200" smtClean="0">
                <a:latin typeface="Constantia" panose="02030602050306030303" pitchFamily="18" charset="0"/>
              </a:rPr>
              <a:t>Làm mịn ảnh (loại bỏ nhiễu)</a:t>
            </a:r>
          </a:p>
          <a:p>
            <a:pPr marL="0" indent="0">
              <a:buNone/>
            </a:pPr>
            <a:endParaRPr lang="en-US" sz="3200">
              <a:latin typeface="Constantia" panose="02030602050306030303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86457" y="0"/>
            <a:ext cx="11021017" cy="1235644"/>
          </a:xfrm>
        </p:spPr>
        <p:txBody>
          <a:bodyPr>
            <a:normAutofit/>
          </a:bodyPr>
          <a:lstStyle/>
          <a:p>
            <a:pPr algn="ctr"/>
            <a:r>
              <a:rPr lang="en-US" sz="6600" b="1" smtClean="0">
                <a:latin typeface="Constantia" panose="02030602050306030303" pitchFamily="18" charset="0"/>
              </a:rPr>
              <a:t>Tổng quan về xử lý ảnh</a:t>
            </a:r>
            <a:endParaRPr lang="en-US" sz="6600" b="1">
              <a:latin typeface="Constantia" panose="02030602050306030303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66616" y="1035074"/>
            <a:ext cx="5880183" cy="6575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 smtClean="0">
                <a:solidFill>
                  <a:srgbClr val="000066"/>
                </a:solidFill>
                <a:latin typeface="Constantia" panose="02030602050306030303" pitchFamily="18" charset="0"/>
              </a:rPr>
              <a:t>Nâng cao chất lượng ảnh</a:t>
            </a:r>
            <a:endParaRPr lang="en-US" sz="3600" b="0">
              <a:solidFill>
                <a:srgbClr val="000066"/>
              </a:solidFill>
              <a:latin typeface="Constantia" panose="02030602050306030303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515443"/>
            <a:ext cx="2775062" cy="33860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799" y="2515442"/>
            <a:ext cx="2814652" cy="3443039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4855334" y="3846535"/>
            <a:ext cx="1291465" cy="7239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719" y="6414967"/>
            <a:ext cx="3338633" cy="333863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339" y="6414967"/>
            <a:ext cx="3203661" cy="3264566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>
            <a:off x="5089934" y="7722333"/>
            <a:ext cx="1291465" cy="7239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9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546" y="2081952"/>
            <a:ext cx="11880554" cy="6731847"/>
          </a:xfrm>
        </p:spPr>
        <p:txBody>
          <a:bodyPr>
            <a:normAutofit/>
          </a:bodyPr>
          <a:lstStyle/>
          <a:p>
            <a:r>
              <a:rPr lang="en-US" sz="3200" smtClean="0">
                <a:latin typeface="Constantia" panose="02030602050306030303" pitchFamily="18" charset="0"/>
              </a:rPr>
              <a:t>Cân bằng histogram</a:t>
            </a:r>
            <a:endParaRPr lang="en-US" sz="3200">
              <a:latin typeface="Constantia" panose="02030602050306030303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90083" y="-25400"/>
            <a:ext cx="11021017" cy="1235644"/>
          </a:xfrm>
        </p:spPr>
        <p:txBody>
          <a:bodyPr>
            <a:normAutofit/>
          </a:bodyPr>
          <a:lstStyle/>
          <a:p>
            <a:pPr algn="ctr"/>
            <a:r>
              <a:rPr lang="en-US" sz="6600" b="1" smtClean="0">
                <a:latin typeface="Constantia" panose="02030602050306030303" pitchFamily="18" charset="0"/>
              </a:rPr>
              <a:t>Tổng quan về xử lý ảnh</a:t>
            </a:r>
            <a:endParaRPr lang="en-US" sz="6600" b="1">
              <a:latin typeface="Constantia" panose="02030602050306030303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8216" y="1047774"/>
            <a:ext cx="5880183" cy="6575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 smtClean="0">
                <a:solidFill>
                  <a:srgbClr val="000066"/>
                </a:solidFill>
                <a:latin typeface="Constantia" panose="02030602050306030303" pitchFamily="18" charset="0"/>
              </a:rPr>
              <a:t>Nâng cao chất lượng ảnh</a:t>
            </a:r>
            <a:endParaRPr lang="en-US" sz="3600" b="0">
              <a:solidFill>
                <a:srgbClr val="000066"/>
              </a:solidFill>
              <a:latin typeface="Constantia" panose="020306020503060303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294" y="2778491"/>
            <a:ext cx="7621966" cy="682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2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90083" y="-25400"/>
            <a:ext cx="11021017" cy="1235644"/>
          </a:xfrm>
        </p:spPr>
        <p:txBody>
          <a:bodyPr>
            <a:normAutofit/>
          </a:bodyPr>
          <a:lstStyle/>
          <a:p>
            <a:pPr algn="ctr"/>
            <a:r>
              <a:rPr lang="en-US" sz="6600" b="1" smtClean="0">
                <a:latin typeface="Constantia" panose="02030602050306030303" pitchFamily="18" charset="0"/>
              </a:rPr>
              <a:t>Tổng quan về xử lý ảnh</a:t>
            </a:r>
            <a:endParaRPr lang="en-US" sz="6600" b="1">
              <a:latin typeface="Constantia" panose="02030602050306030303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8216" y="1047774"/>
            <a:ext cx="5880183" cy="6575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 smtClean="0">
                <a:solidFill>
                  <a:srgbClr val="000066"/>
                </a:solidFill>
                <a:latin typeface="Constantia" panose="02030602050306030303" pitchFamily="18" charset="0"/>
              </a:rPr>
              <a:t>Phát hiện biên</a:t>
            </a:r>
            <a:endParaRPr lang="en-US" sz="3600" b="0">
              <a:solidFill>
                <a:srgbClr val="000066"/>
              </a:solidFill>
              <a:latin typeface="Constantia" panose="02030602050306030303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648" y="2349331"/>
            <a:ext cx="5115685" cy="508825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8" y="2395473"/>
            <a:ext cx="5042112" cy="5042112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5809126" y="4722835"/>
            <a:ext cx="1291465" cy="7239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9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90083" y="-25400"/>
            <a:ext cx="11021017" cy="1235644"/>
          </a:xfrm>
        </p:spPr>
        <p:txBody>
          <a:bodyPr>
            <a:normAutofit/>
          </a:bodyPr>
          <a:lstStyle/>
          <a:p>
            <a:pPr algn="ctr"/>
            <a:r>
              <a:rPr lang="en-US" sz="6600" b="1" smtClean="0">
                <a:latin typeface="Constantia" panose="02030602050306030303" pitchFamily="18" charset="0"/>
              </a:rPr>
              <a:t>Tổng quan về xử lý ảnh</a:t>
            </a:r>
            <a:endParaRPr lang="en-US" sz="6600" b="1">
              <a:latin typeface="Constantia" panose="02030602050306030303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8216" y="1047774"/>
            <a:ext cx="5880183" cy="6575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 smtClean="0">
                <a:solidFill>
                  <a:srgbClr val="000066"/>
                </a:solidFill>
                <a:latin typeface="Constantia" panose="02030602050306030303" pitchFamily="18" charset="0"/>
              </a:rPr>
              <a:t>Phân vùng ảnh</a:t>
            </a:r>
            <a:endParaRPr lang="en-US" sz="3600" b="0">
              <a:solidFill>
                <a:srgbClr val="000066"/>
              </a:solidFill>
              <a:latin typeface="Constantia" panose="02030602050306030303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37" y="2418742"/>
            <a:ext cx="10901363" cy="551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28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90083" y="-25400"/>
            <a:ext cx="11021017" cy="1235644"/>
          </a:xfrm>
        </p:spPr>
        <p:txBody>
          <a:bodyPr>
            <a:normAutofit/>
          </a:bodyPr>
          <a:lstStyle/>
          <a:p>
            <a:pPr algn="ctr"/>
            <a:r>
              <a:rPr lang="en-US" sz="6600" b="1" smtClean="0">
                <a:latin typeface="Constantia" panose="02030602050306030303" pitchFamily="18" charset="0"/>
              </a:rPr>
              <a:t>Tổng quan về xử lý ảnh</a:t>
            </a:r>
            <a:endParaRPr lang="en-US" sz="6600" b="1">
              <a:latin typeface="Constantia" panose="02030602050306030303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8216" y="1047774"/>
            <a:ext cx="5880183" cy="6575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 smtClean="0">
                <a:solidFill>
                  <a:srgbClr val="000066"/>
                </a:solidFill>
                <a:latin typeface="Constantia" panose="02030602050306030303" pitchFamily="18" charset="0"/>
              </a:rPr>
              <a:t>Toán tử hình thái</a:t>
            </a:r>
            <a:endParaRPr lang="en-US" sz="3600" b="0">
              <a:solidFill>
                <a:srgbClr val="000066"/>
              </a:solidFill>
              <a:latin typeface="Constantia" panose="02030602050306030303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42501" y="2004664"/>
            <a:ext cx="11948721" cy="5113479"/>
            <a:chOff x="772177" y="2918418"/>
            <a:chExt cx="11948721" cy="5113479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2177" y="2918418"/>
              <a:ext cx="11948721" cy="4031858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6248399" y="7200900"/>
              <a:ext cx="262890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smtClean="0">
                  <a:latin typeface="Constantia" panose="02030602050306030303" pitchFamily="18" charset="0"/>
                </a:rPr>
                <a:t>Phép giãn nở (dilation)</a:t>
              </a:r>
              <a:endParaRPr lang="en-US" b="0">
                <a:latin typeface="Constantia" panose="02030602050306030303" pitchFamily="1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537699" y="7200899"/>
              <a:ext cx="295910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smtClean="0">
                  <a:latin typeface="Constantia" panose="02030602050306030303" pitchFamily="18" charset="0"/>
                </a:rPr>
                <a:t>Phép xói mòn (erosion)</a:t>
              </a:r>
              <a:endParaRPr lang="en-US" b="0">
                <a:latin typeface="Constantia" panose="020306020503060303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282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90083" y="-25400"/>
            <a:ext cx="11021017" cy="1235644"/>
          </a:xfrm>
        </p:spPr>
        <p:txBody>
          <a:bodyPr>
            <a:normAutofit/>
          </a:bodyPr>
          <a:lstStyle/>
          <a:p>
            <a:pPr algn="ctr"/>
            <a:r>
              <a:rPr lang="en-US" sz="6600" b="1" smtClean="0">
                <a:latin typeface="Constantia" panose="02030602050306030303" pitchFamily="18" charset="0"/>
              </a:rPr>
              <a:t>Tổng quan về xử lý ảnh</a:t>
            </a:r>
            <a:endParaRPr lang="en-US" sz="6600" b="1">
              <a:latin typeface="Constantia" panose="02030602050306030303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8216" y="1047774"/>
            <a:ext cx="7378784" cy="6575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 smtClean="0">
                <a:solidFill>
                  <a:srgbClr val="000066"/>
                </a:solidFill>
                <a:latin typeface="Constantia" panose="02030602050306030303" pitchFamily="18" charset="0"/>
              </a:rPr>
              <a:t>Phát hiện và nhận dạng đối tượng</a:t>
            </a:r>
            <a:endParaRPr lang="en-US" sz="3600" b="0">
              <a:solidFill>
                <a:srgbClr val="000066"/>
              </a:solidFill>
              <a:latin typeface="Constantia" panose="02030602050306030303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590083" y="2921000"/>
            <a:ext cx="10058400" cy="5657850"/>
            <a:chOff x="1590083" y="2057400"/>
            <a:chExt cx="10058400" cy="565785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0083" y="2057400"/>
              <a:ext cx="10058400" cy="5657850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5880100" y="5238750"/>
              <a:ext cx="762000" cy="1784350"/>
            </a:xfrm>
            <a:prstGeom prst="rect">
              <a:avLst/>
            </a:prstGeom>
            <a:noFill/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965950" y="5759450"/>
              <a:ext cx="850900" cy="1955800"/>
            </a:xfrm>
            <a:prstGeom prst="rect">
              <a:avLst/>
            </a:prstGeom>
            <a:noFill/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8058150" y="6311900"/>
              <a:ext cx="1168400" cy="1403350"/>
            </a:xfrm>
            <a:prstGeom prst="rect">
              <a:avLst/>
            </a:prstGeom>
            <a:noFill/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362949" y="4667250"/>
              <a:ext cx="342901" cy="685800"/>
            </a:xfrm>
            <a:prstGeom prst="rect">
              <a:avLst/>
            </a:prstGeom>
            <a:noFill/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182099" y="4899024"/>
              <a:ext cx="342901" cy="777875"/>
            </a:xfrm>
            <a:prstGeom prst="rect">
              <a:avLst/>
            </a:prstGeom>
            <a:noFill/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6490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292" y="2631112"/>
            <a:ext cx="5948555" cy="17933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28" y="2631112"/>
            <a:ext cx="4045058" cy="22753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997" y="5604627"/>
            <a:ext cx="5085166" cy="290468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026" name="Picture 2" descr="Python Spyder IDE | How to Install and use Python Spyder IDE | Python  Tutorial | Edureka - YouTub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59" b="8624"/>
          <a:stretch/>
        </p:blipFill>
        <p:spPr bwMode="auto">
          <a:xfrm>
            <a:off x="530327" y="5815719"/>
            <a:ext cx="5627965" cy="2482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90083" y="-25400"/>
            <a:ext cx="11021017" cy="1235644"/>
          </a:xfrm>
        </p:spPr>
        <p:txBody>
          <a:bodyPr>
            <a:normAutofit/>
          </a:bodyPr>
          <a:lstStyle/>
          <a:p>
            <a:pPr algn="ctr"/>
            <a:r>
              <a:rPr lang="en-US" sz="6600" b="1" smtClean="0">
                <a:latin typeface="Constantia" panose="02030602050306030303" pitchFamily="18" charset="0"/>
              </a:rPr>
              <a:t>Tổng quan về xử lý ảnh</a:t>
            </a:r>
            <a:endParaRPr lang="en-US" sz="6600" b="1">
              <a:latin typeface="Constantia" panose="02030602050306030303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93616" y="1054698"/>
            <a:ext cx="4775284" cy="6575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 smtClean="0">
                <a:solidFill>
                  <a:srgbClr val="000066"/>
                </a:solidFill>
                <a:latin typeface="Constantia" panose="02030602050306030303" pitchFamily="18" charset="0"/>
              </a:rPr>
              <a:t>OpenCV vàPython</a:t>
            </a:r>
            <a:endParaRPr lang="en-US" sz="3600" b="0">
              <a:solidFill>
                <a:srgbClr val="000066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3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6987" y="1974180"/>
            <a:ext cx="1038601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b="0" smtClean="0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 Là </a:t>
            </a:r>
            <a:r>
              <a:rPr lang="en-US" sz="2800" b="0" dirty="0" smtClean="0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thư viện chuyên về xử </a:t>
            </a:r>
            <a:r>
              <a:rPr lang="en-US" sz="2800" b="0" smtClean="0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lý ảnh</a:t>
            </a:r>
            <a:endParaRPr lang="en-US" sz="2800" b="0" dirty="0">
              <a:solidFill>
                <a:srgbClr val="002060"/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b="0" smtClean="0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 Chạy </a:t>
            </a:r>
            <a:r>
              <a:rPr lang="en-US" sz="2800" b="0" dirty="0" smtClean="0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trên nhiều nền tảng ngôn ngữ </a:t>
            </a:r>
            <a:r>
              <a:rPr lang="en-US" sz="2800" b="0" smtClean="0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khác nhau</a:t>
            </a:r>
          </a:p>
          <a:p>
            <a:pPr marL="342900" indent="-342900" algn="l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US" sz="2800" b="0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 </a:t>
            </a:r>
            <a:r>
              <a:rPr lang="en-US" sz="2800" smtClean="0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Cài đặt:</a:t>
            </a:r>
          </a:p>
          <a:p>
            <a:pPr algn="l"/>
            <a:endParaRPr lang="en-US" sz="2800" b="0" dirty="0">
              <a:latin typeface="Constantia" panose="02030602050306030303" pitchFamily="18" charset="0"/>
              <a:cs typeface="Arial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6987" y="3752667"/>
            <a:ext cx="10640541" cy="1371600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228600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b="0" smtClean="0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Cài </a:t>
            </a:r>
            <a:r>
              <a:rPr lang="en-US" b="0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đặt Anaconda Python </a:t>
            </a:r>
            <a:r>
              <a:rPr lang="en-US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(</a:t>
            </a:r>
            <a:r>
              <a:rPr lang="en-US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  <a:hlinkClick r:id="rId2"/>
              </a:rPr>
              <a:t>https://www.anaconda.com</a:t>
            </a:r>
            <a:r>
              <a:rPr lang="en-US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)</a:t>
            </a:r>
          </a:p>
          <a:p>
            <a:pPr marL="457200" indent="-342900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b="0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Trên cửa sổ lệnh của Anaconda gõ lệnh: </a:t>
            </a:r>
            <a:r>
              <a:rPr lang="en-US" b="0">
                <a:solidFill>
                  <a:srgbClr val="002060"/>
                </a:solidFill>
                <a:latin typeface="Constantia" panose="02030602050306030303" pitchFamily="18" charset="0"/>
                <a:cs typeface="Courier New" panose="02070309020205020404" pitchFamily="49" charset="0"/>
              </a:rPr>
              <a:t>pip install opencv-python</a:t>
            </a:r>
            <a:endParaRPr lang="en-US" b="0">
              <a:solidFill>
                <a:srgbClr val="002060"/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</p:txBody>
      </p:sp>
      <p:sp>
        <p:nvSpPr>
          <p:cNvPr id="6" name="Nội dung môn học"/>
          <p:cNvSpPr txBox="1">
            <a:spLocks/>
          </p:cNvSpPr>
          <p:nvPr/>
        </p:nvSpPr>
        <p:spPr>
          <a:xfrm>
            <a:off x="-673" y="-14652"/>
            <a:ext cx="12980746" cy="13404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512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7200" b="1" smtClean="0">
                <a:solidFill>
                  <a:srgbClr val="002060"/>
                </a:solidFill>
                <a:latin typeface="Constantia" panose="02030602050306030303" pitchFamily="18" charset="0"/>
              </a:rPr>
              <a:t>OpenCV và Python</a:t>
            </a:r>
            <a:endParaRPr lang="vi-VN" sz="7200" b="0" dirty="0"/>
          </a:p>
        </p:txBody>
      </p:sp>
      <p:sp>
        <p:nvSpPr>
          <p:cNvPr id="7" name="Rounded Rectangle 6"/>
          <p:cNvSpPr/>
          <p:nvPr/>
        </p:nvSpPr>
        <p:spPr>
          <a:xfrm>
            <a:off x="916987" y="5481842"/>
            <a:ext cx="10640541" cy="1371600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20700" indent="-406400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b="0" smtClean="0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Chạy trên Google Colab</a:t>
            </a:r>
            <a:endParaRPr lang="en-US" smtClean="0">
              <a:solidFill>
                <a:srgbClr val="002060"/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  <a:p>
            <a:pPr marL="520700" indent="-406400" algn="l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b="0" smtClean="0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Gõ </a:t>
            </a:r>
            <a:r>
              <a:rPr lang="en-US" b="0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lệnh: </a:t>
            </a:r>
            <a:r>
              <a:rPr lang="en-US" b="0" smtClean="0">
                <a:solidFill>
                  <a:srgbClr val="002060"/>
                </a:solidFill>
                <a:latin typeface="Constantia" panose="02030602050306030303" pitchFamily="18" charset="0"/>
                <a:cs typeface="Arial" panose="020B0604020202020204" pitchFamily="34" charset="0"/>
              </a:rPr>
              <a:t>!</a:t>
            </a:r>
            <a:r>
              <a:rPr lang="en-US" b="0" smtClean="0">
                <a:solidFill>
                  <a:srgbClr val="002060"/>
                </a:solidFill>
                <a:latin typeface="Constantia" panose="02030602050306030303" pitchFamily="18" charset="0"/>
                <a:cs typeface="Courier New" panose="02070309020205020404" pitchFamily="49" charset="0"/>
              </a:rPr>
              <a:t>pip </a:t>
            </a:r>
            <a:r>
              <a:rPr lang="en-US" b="0">
                <a:solidFill>
                  <a:srgbClr val="002060"/>
                </a:solidFill>
                <a:latin typeface="Constantia" panose="02030602050306030303" pitchFamily="18" charset="0"/>
                <a:cs typeface="Courier New" panose="02070309020205020404" pitchFamily="49" charset="0"/>
              </a:rPr>
              <a:t>install opencv-python</a:t>
            </a:r>
            <a:endParaRPr lang="en-US" b="0">
              <a:solidFill>
                <a:srgbClr val="002060"/>
              </a:solidFill>
              <a:latin typeface="Constantia" panose="0203060205030603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002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1" name="Nội dung môn học"/>
          <p:cNvSpPr txBox="1">
            <a:spLocks/>
          </p:cNvSpPr>
          <p:nvPr/>
        </p:nvSpPr>
        <p:spPr>
          <a:xfrm>
            <a:off x="107551" y="92296"/>
            <a:ext cx="12980746" cy="106361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768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7200" b="1" smtClean="0">
                <a:solidFill>
                  <a:srgbClr val="002060"/>
                </a:solidFill>
                <a:latin typeface="Constantia" panose="02030602050306030303" pitchFamily="18" charset="0"/>
              </a:rPr>
              <a:t>OpenCV và Python</a:t>
            </a:r>
            <a:endParaRPr lang="vi-VN" sz="7200" b="0" dirty="0"/>
          </a:p>
        </p:txBody>
      </p:sp>
      <p:sp>
        <p:nvSpPr>
          <p:cNvPr id="13" name="Rounded Rectangle 12"/>
          <p:cNvSpPr/>
          <p:nvPr/>
        </p:nvSpPr>
        <p:spPr>
          <a:xfrm>
            <a:off x="602075" y="1203118"/>
            <a:ext cx="4795425" cy="66040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smtClean="0">
                <a:latin typeface="Constantia" panose="02030602050306030303" pitchFamily="18" charset="0"/>
              </a:rPr>
              <a:t>Đọc và hiển thị ảnh</a:t>
            </a:r>
            <a:endParaRPr lang="en-US" sz="3600">
              <a:latin typeface="Constantia" panose="02030602050306030303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813" y="6442015"/>
            <a:ext cx="4520787" cy="2997826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>
            <a:off x="5696224" y="5746883"/>
            <a:ext cx="901700" cy="533400"/>
          </a:xfrm>
          <a:prstGeom prst="downArrow">
            <a:avLst/>
          </a:prstGeom>
          <a:solidFill>
            <a:srgbClr val="30DD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2113375" y="2012778"/>
            <a:ext cx="10662825" cy="4084838"/>
            <a:chOff x="2113375" y="2012778"/>
            <a:chExt cx="10662825" cy="4084838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13375" y="2012778"/>
              <a:ext cx="7725853" cy="3572374"/>
            </a:xfrm>
            <a:prstGeom prst="rect">
              <a:avLst/>
            </a:prstGeom>
          </p:spPr>
        </p:pic>
        <p:cxnSp>
          <p:nvCxnSpPr>
            <p:cNvPr id="14" name="Straight Arrow Connector 13"/>
            <p:cNvCxnSpPr/>
            <p:nvPr/>
          </p:nvCxnSpPr>
          <p:spPr>
            <a:xfrm flipH="1">
              <a:off x="7086600" y="3149600"/>
              <a:ext cx="3302000" cy="649365"/>
            </a:xfrm>
            <a:prstGeom prst="straightConnector1">
              <a:avLst/>
            </a:prstGeom>
            <a:ln w="28575">
              <a:solidFill>
                <a:srgbClr val="00A44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0248900" y="2918767"/>
              <a:ext cx="25273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smtClean="0">
                  <a:latin typeface="Constantia" panose="02030602050306030303" pitchFamily="18" charset="0"/>
                </a:rPr>
                <a:t>Đường dẫn ảnh</a:t>
              </a:r>
              <a:endParaRPr lang="en-US" b="0">
                <a:latin typeface="Constantia" panose="02030602050306030303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220200" y="5635951"/>
              <a:ext cx="25273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0" smtClean="0">
                  <a:latin typeface="Constantia" panose="02030602050306030303" pitchFamily="18" charset="0"/>
                </a:rPr>
                <a:t>Hiển thị RGB</a:t>
              </a:r>
              <a:endParaRPr lang="en-US" b="0">
                <a:latin typeface="Constantia" panose="02030602050306030303" pitchFamily="18" charset="0"/>
              </a:endParaRP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flipH="1" flipV="1">
              <a:off x="7226300" y="4517255"/>
              <a:ext cx="2908300" cy="1067897"/>
            </a:xfrm>
            <a:prstGeom prst="straightConnector1">
              <a:avLst/>
            </a:prstGeom>
            <a:ln w="28575">
              <a:solidFill>
                <a:srgbClr val="00A44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544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017378" y="1075107"/>
            <a:ext cx="5074825" cy="66040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smtClean="0">
                <a:latin typeface="Constantia" panose="02030602050306030303" pitchFamily="18" charset="0"/>
              </a:rPr>
              <a:t>Truy xuất kênh màu</a:t>
            </a:r>
            <a:endParaRPr lang="en-US" sz="3600">
              <a:latin typeface="Constantia" panose="02030602050306030303" pitchFamily="18" charset="0"/>
            </a:endParaRPr>
          </a:p>
        </p:txBody>
      </p:sp>
      <p:sp>
        <p:nvSpPr>
          <p:cNvPr id="17" name="Nội dung môn học"/>
          <p:cNvSpPr txBox="1">
            <a:spLocks/>
          </p:cNvSpPr>
          <p:nvPr/>
        </p:nvSpPr>
        <p:spPr>
          <a:xfrm>
            <a:off x="24054" y="-140571"/>
            <a:ext cx="12980746" cy="10924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768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7200" b="1" smtClean="0">
                <a:solidFill>
                  <a:srgbClr val="002060"/>
                </a:solidFill>
                <a:latin typeface="Constantia" panose="02030602050306030303" pitchFamily="18" charset="0"/>
              </a:rPr>
              <a:t>OpenCV và Python</a:t>
            </a:r>
            <a:endParaRPr lang="vi-VN" sz="7200" b="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203" y="2031400"/>
            <a:ext cx="5558950" cy="517931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30" y="2384513"/>
            <a:ext cx="6322388" cy="447308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3264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017378" y="1075107"/>
            <a:ext cx="5074825" cy="66040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smtClean="0">
                <a:latin typeface="Constantia" panose="02030602050306030303" pitchFamily="18" charset="0"/>
              </a:rPr>
              <a:t>Truy xuất kênh màu</a:t>
            </a:r>
            <a:endParaRPr lang="en-US" sz="3600">
              <a:latin typeface="Constantia" panose="02030602050306030303" pitchFamily="18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912963" y="3026517"/>
            <a:ext cx="2220809" cy="5313078"/>
            <a:chOff x="4912963" y="3026517"/>
            <a:chExt cx="2220809" cy="5313078"/>
          </a:xfrm>
        </p:grpSpPr>
        <p:cxnSp>
          <p:nvCxnSpPr>
            <p:cNvPr id="12" name="Straight Arrow Connector 11"/>
            <p:cNvCxnSpPr/>
            <p:nvPr/>
          </p:nvCxnSpPr>
          <p:spPr>
            <a:xfrm flipV="1">
              <a:off x="4912963" y="3053166"/>
              <a:ext cx="2220809" cy="216976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4934975" y="5668224"/>
              <a:ext cx="2171330" cy="1134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4925680" y="6220497"/>
              <a:ext cx="2087251" cy="21190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5154901" y="3026517"/>
              <a:ext cx="18580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smtClean="0"/>
                <a:t>R</a:t>
              </a:r>
              <a:endParaRPr lang="en-US" sz="60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154901" y="4706050"/>
              <a:ext cx="18580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smtClean="0"/>
                <a:t>G</a:t>
              </a:r>
              <a:endParaRPr lang="en-US" sz="60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234173" y="6264383"/>
              <a:ext cx="18580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smtClean="0"/>
                <a:t>B</a:t>
              </a:r>
              <a:endParaRPr lang="en-US" sz="6000"/>
            </a:p>
          </p:txBody>
        </p:sp>
      </p:grp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419100" y="2019104"/>
          <a:ext cx="5232400" cy="1444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7553">
                  <a:extLst>
                    <a:ext uri="{9D8B030D-6E8A-4147-A177-3AD203B41FA5}">
                      <a16:colId xmlns:a16="http://schemas.microsoft.com/office/drawing/2014/main" val="599783023"/>
                    </a:ext>
                  </a:extLst>
                </a:gridCol>
                <a:gridCol w="3614847">
                  <a:extLst>
                    <a:ext uri="{9D8B030D-6E8A-4147-A177-3AD203B41FA5}">
                      <a16:colId xmlns:a16="http://schemas.microsoft.com/office/drawing/2014/main" val="426036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img[:,:,0]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Kênh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Blue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382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img[:,:,1]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Kênh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Green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97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502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img[:,:,2]</a:t>
                      </a: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Kênh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72318"/>
                  </a:ext>
                </a:extLst>
              </a:tr>
            </a:tbl>
          </a:graphicData>
        </a:graphic>
      </p:graphicFrame>
      <p:sp>
        <p:nvSpPr>
          <p:cNvPr id="17" name="Nội dung môn học"/>
          <p:cNvSpPr txBox="1">
            <a:spLocks/>
          </p:cNvSpPr>
          <p:nvPr/>
        </p:nvSpPr>
        <p:spPr>
          <a:xfrm>
            <a:off x="24054" y="-140571"/>
            <a:ext cx="12980746" cy="10924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768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7200" b="1" smtClean="0">
                <a:solidFill>
                  <a:srgbClr val="002060"/>
                </a:solidFill>
                <a:latin typeface="Constantia" panose="02030602050306030303" pitchFamily="18" charset="0"/>
              </a:rPr>
              <a:t>OpenCV và Python</a:t>
            </a:r>
            <a:endParaRPr lang="vi-VN" sz="7200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62" y="4374474"/>
            <a:ext cx="4262648" cy="23977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428" y="754693"/>
            <a:ext cx="4771816" cy="30016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0429" y="3714072"/>
            <a:ext cx="4771816" cy="30063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1424" y="6696290"/>
            <a:ext cx="4785917" cy="305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3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7" name="Nội dung môn học"/>
          <p:cNvSpPr txBox="1">
            <a:spLocks/>
          </p:cNvSpPr>
          <p:nvPr/>
        </p:nvSpPr>
        <p:spPr>
          <a:xfrm>
            <a:off x="24054" y="-140571"/>
            <a:ext cx="12980746" cy="10924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768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7200" b="1" smtClean="0">
                <a:solidFill>
                  <a:srgbClr val="002060"/>
                </a:solidFill>
                <a:latin typeface="Constantia" panose="02030602050306030303" pitchFamily="18" charset="0"/>
              </a:rPr>
              <a:t>OpenCV và Python</a:t>
            </a:r>
            <a:endParaRPr lang="vi-VN" sz="7200" b="0" dirty="0"/>
          </a:p>
        </p:txBody>
      </p:sp>
      <p:sp>
        <p:nvSpPr>
          <p:cNvPr id="7" name="Rounded Rectangle 6"/>
          <p:cNvSpPr/>
          <p:nvPr/>
        </p:nvSpPr>
        <p:spPr>
          <a:xfrm>
            <a:off x="2067276" y="1094238"/>
            <a:ext cx="3551881" cy="66040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smtClean="0">
                <a:latin typeface="Constantia" panose="02030602050306030303" pitchFamily="18" charset="0"/>
              </a:rPr>
              <a:t>Lọc kênh màu</a:t>
            </a:r>
            <a:endParaRPr lang="en-US" sz="3600">
              <a:latin typeface="Constantia" panose="020306020503060303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049" y="2280315"/>
            <a:ext cx="9850225" cy="627785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161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22</a:t>
            </a:fld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4912963" y="2451225"/>
            <a:ext cx="3268311" cy="277170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841987" y="5699220"/>
            <a:ext cx="3435335" cy="2772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925680" y="6220497"/>
            <a:ext cx="3255594" cy="219214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2146884">
            <a:off x="5048313" y="6514291"/>
            <a:ext cx="33043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smtClean="0"/>
              <a:t>without R</a:t>
            </a:r>
            <a:endParaRPr lang="en-US" sz="5000"/>
          </a:p>
        </p:txBody>
      </p:sp>
      <p:sp>
        <p:nvSpPr>
          <p:cNvPr id="13" name="TextBox 12"/>
          <p:cNvSpPr txBox="1"/>
          <p:nvPr/>
        </p:nvSpPr>
        <p:spPr>
          <a:xfrm>
            <a:off x="4426229" y="4940496"/>
            <a:ext cx="43192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smtClean="0"/>
              <a:t>without G</a:t>
            </a:r>
            <a:endParaRPr lang="en-US" sz="4800"/>
          </a:p>
        </p:txBody>
      </p:sp>
      <p:sp>
        <p:nvSpPr>
          <p:cNvPr id="15" name="TextBox 14"/>
          <p:cNvSpPr txBox="1"/>
          <p:nvPr/>
        </p:nvSpPr>
        <p:spPr>
          <a:xfrm rot="19293977">
            <a:off x="4533921" y="3087025"/>
            <a:ext cx="33043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smtClean="0"/>
              <a:t>without B</a:t>
            </a:r>
            <a:endParaRPr lang="en-US" sz="5000"/>
          </a:p>
        </p:txBody>
      </p:sp>
      <p:sp>
        <p:nvSpPr>
          <p:cNvPr id="20" name="Rounded Rectangle 19"/>
          <p:cNvSpPr/>
          <p:nvPr/>
        </p:nvSpPr>
        <p:spPr>
          <a:xfrm>
            <a:off x="2067276" y="1094238"/>
            <a:ext cx="3551881" cy="66040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smtClean="0">
                <a:latin typeface="Constantia" panose="02030602050306030303" pitchFamily="18" charset="0"/>
              </a:rPr>
              <a:t>Lọc kênh màu</a:t>
            </a:r>
            <a:endParaRPr lang="en-US" sz="3600">
              <a:latin typeface="Constantia" panose="02030602050306030303" pitchFamily="18" charset="0"/>
            </a:endParaRPr>
          </a:p>
        </p:txBody>
      </p:sp>
      <p:sp>
        <p:nvSpPr>
          <p:cNvPr id="16" name="Nội dung môn học"/>
          <p:cNvSpPr txBox="1">
            <a:spLocks/>
          </p:cNvSpPr>
          <p:nvPr/>
        </p:nvSpPr>
        <p:spPr>
          <a:xfrm>
            <a:off x="24054" y="-140571"/>
            <a:ext cx="12980746" cy="10924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768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7200" b="1" smtClean="0">
                <a:solidFill>
                  <a:srgbClr val="002060"/>
                </a:solidFill>
                <a:latin typeface="Constantia" panose="02030602050306030303" pitchFamily="18" charset="0"/>
              </a:rPr>
              <a:t>OpenCV và Python</a:t>
            </a:r>
            <a:endParaRPr lang="vi-VN" sz="7200" b="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12" y="4430722"/>
            <a:ext cx="4262648" cy="23977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790" y="7080057"/>
            <a:ext cx="4712010" cy="266516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794" y="4333685"/>
            <a:ext cx="4753638" cy="272453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698" y="1209930"/>
            <a:ext cx="4753638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2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75504" y="1078976"/>
            <a:ext cx="4362553" cy="66040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smtClean="0">
                <a:latin typeface="Constantia" panose="02030602050306030303" pitchFamily="18" charset="0"/>
              </a:rPr>
              <a:t>Chèn chữ vào ảnh</a:t>
            </a:r>
            <a:endParaRPr lang="en-US" sz="3600">
              <a:latin typeface="Constantia" panose="02030602050306030303" pitchFamily="18" charset="0"/>
            </a:endParaRPr>
          </a:p>
        </p:txBody>
      </p:sp>
      <p:sp>
        <p:nvSpPr>
          <p:cNvPr id="10" name="Nội dung môn học"/>
          <p:cNvSpPr txBox="1">
            <a:spLocks/>
          </p:cNvSpPr>
          <p:nvPr/>
        </p:nvSpPr>
        <p:spPr>
          <a:xfrm>
            <a:off x="24054" y="-140571"/>
            <a:ext cx="12980746" cy="10924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768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7200" b="1" smtClean="0">
                <a:solidFill>
                  <a:srgbClr val="002060"/>
                </a:solidFill>
                <a:latin typeface="Constantia" panose="02030602050306030303" pitchFamily="18" charset="0"/>
              </a:rPr>
              <a:t>OpenCV và Python</a:t>
            </a:r>
            <a:endParaRPr lang="vi-VN" sz="7200" b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27" y="2040299"/>
            <a:ext cx="11288799" cy="6576758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>
            <a:off x="7067227" y="8617057"/>
            <a:ext cx="589589" cy="4649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299609" y="8922603"/>
            <a:ext cx="63322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 mờ của ảnh </a:t>
            </a:r>
            <a:r>
              <a:rPr lang="en-US" b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 0.5;</a:t>
            </a:r>
          </a:p>
          <a:p>
            <a:r>
              <a:rPr lang="en-US" b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Muốn </a:t>
            </a:r>
            <a:r>
              <a:rPr lang="en-US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giữ nguyên màu sắc thì để trọng số là 1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734352" y="6661511"/>
            <a:ext cx="34244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dirty="0" smtClean="0">
                <a:latin typeface="Constantia" panose="02030602050306030303" pitchFamily="18" charset="0"/>
                <a:cs typeface="Arial" panose="020B0604020202020204" pitchFamily="34" charset="0"/>
              </a:rPr>
              <a:t>Giá trị back ground</a:t>
            </a:r>
            <a:endParaRPr lang="en-US" sz="2800" b="0" dirty="0">
              <a:latin typeface="Constantia" panose="02030602050306030303" pitchFamily="18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1112285" y="7075894"/>
            <a:ext cx="526942" cy="125279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431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8" name="Plus 7"/>
          <p:cNvSpPr/>
          <p:nvPr/>
        </p:nvSpPr>
        <p:spPr>
          <a:xfrm>
            <a:off x="2878043" y="5429077"/>
            <a:ext cx="841828" cy="725715"/>
          </a:xfrm>
          <a:prstGeom prst="mathPlus">
            <a:avLst/>
          </a:prstGeom>
          <a:solidFill>
            <a:srgbClr val="00A4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qual 8"/>
          <p:cNvSpPr/>
          <p:nvPr/>
        </p:nvSpPr>
        <p:spPr>
          <a:xfrm>
            <a:off x="6429094" y="5299227"/>
            <a:ext cx="1277257" cy="868075"/>
          </a:xfrm>
          <a:prstGeom prst="mathEqual">
            <a:avLst/>
          </a:prstGeom>
          <a:solidFill>
            <a:srgbClr val="00A4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ight Brace 9"/>
          <p:cNvSpPr/>
          <p:nvPr/>
        </p:nvSpPr>
        <p:spPr>
          <a:xfrm>
            <a:off x="5761437" y="3606923"/>
            <a:ext cx="667657" cy="4252685"/>
          </a:xfrm>
          <a:prstGeom prst="rightBrace">
            <a:avLst/>
          </a:prstGeom>
          <a:noFill/>
          <a:ln w="28575">
            <a:solidFill>
              <a:srgbClr val="00A4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2003313" y="1029344"/>
            <a:ext cx="4362553" cy="66040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smtClean="0">
                <a:latin typeface="Constantia" panose="02030602050306030303" pitchFamily="18" charset="0"/>
              </a:rPr>
              <a:t>Cộng 2 ảnh</a:t>
            </a:r>
            <a:endParaRPr lang="en-US" sz="3600">
              <a:latin typeface="Constantia" panose="02030602050306030303" pitchFamily="18" charset="0"/>
            </a:endParaRPr>
          </a:p>
        </p:txBody>
      </p:sp>
      <p:sp>
        <p:nvSpPr>
          <p:cNvPr id="14" name="Nội dung môn học"/>
          <p:cNvSpPr txBox="1">
            <a:spLocks/>
          </p:cNvSpPr>
          <p:nvPr/>
        </p:nvSpPr>
        <p:spPr>
          <a:xfrm>
            <a:off x="24054" y="-140571"/>
            <a:ext cx="12980746" cy="10924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768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7200" b="1" smtClean="0">
                <a:solidFill>
                  <a:srgbClr val="002060"/>
                </a:solidFill>
                <a:latin typeface="Constantia" panose="02030602050306030303" pitchFamily="18" charset="0"/>
              </a:rPr>
              <a:t>OpenCV và Python</a:t>
            </a:r>
            <a:endParaRPr lang="vi-VN" sz="7200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770" y="2263181"/>
            <a:ext cx="4698365" cy="311124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56" y="6576182"/>
            <a:ext cx="4563290" cy="256685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6351" y="3721542"/>
            <a:ext cx="5067945" cy="330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4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ội dung môn học"/>
          <p:cNvSpPr txBox="1">
            <a:spLocks/>
          </p:cNvSpPr>
          <p:nvPr/>
        </p:nvSpPr>
        <p:spPr>
          <a:xfrm>
            <a:off x="24054" y="122900"/>
            <a:ext cx="12980746" cy="10924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650230" rtl="0" eaLnBrk="1" latinLnBrk="0" hangingPunct="1">
              <a:spcBef>
                <a:spcPct val="0"/>
              </a:spcBef>
              <a:buNone/>
              <a:defRPr sz="768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7200" b="1" smtClean="0">
                <a:solidFill>
                  <a:srgbClr val="002060"/>
                </a:solidFill>
                <a:latin typeface="Constantia" panose="02030602050306030303" pitchFamily="18" charset="0"/>
              </a:rPr>
              <a:t>OpenCV và Python</a:t>
            </a:r>
            <a:endParaRPr lang="vi-VN" sz="7200" b="0" dirty="0"/>
          </a:p>
        </p:txBody>
      </p:sp>
      <p:sp>
        <p:nvSpPr>
          <p:cNvPr id="6" name="Rounded Rectangle 5"/>
          <p:cNvSpPr/>
          <p:nvPr/>
        </p:nvSpPr>
        <p:spPr>
          <a:xfrm>
            <a:off x="887436" y="1819758"/>
            <a:ext cx="5328059" cy="66040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smtClean="0">
                <a:latin typeface="Constantia" panose="02030602050306030303" pitchFamily="18" charset="0"/>
              </a:rPr>
              <a:t>Trích vùng ảnh (Crop)</a:t>
            </a:r>
            <a:endParaRPr lang="en-US" sz="3600">
              <a:latin typeface="Constantia" panose="02030602050306030303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13" y="2691444"/>
            <a:ext cx="6192114" cy="598253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grpSp>
        <p:nvGrpSpPr>
          <p:cNvPr id="11" name="Group 10"/>
          <p:cNvGrpSpPr/>
          <p:nvPr/>
        </p:nvGrpSpPr>
        <p:grpSpPr>
          <a:xfrm>
            <a:off x="7006848" y="1953379"/>
            <a:ext cx="5439534" cy="7280831"/>
            <a:chOff x="7006848" y="1953379"/>
            <a:chExt cx="5439534" cy="728083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06848" y="1953379"/>
              <a:ext cx="5439534" cy="339137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96108" y="6336051"/>
              <a:ext cx="3279647" cy="2898159"/>
            </a:xfrm>
            <a:prstGeom prst="rect">
              <a:avLst/>
            </a:prstGeom>
          </p:spPr>
        </p:pic>
        <p:sp>
          <p:nvSpPr>
            <p:cNvPr id="9" name="Right Arrow 8"/>
            <p:cNvSpPr/>
            <p:nvPr/>
          </p:nvSpPr>
          <p:spPr>
            <a:xfrm rot="5400000">
              <a:off x="9307230" y="5632911"/>
              <a:ext cx="838769" cy="723900"/>
            </a:xfrm>
            <a:prstGeom prst="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9364664" y="2944678"/>
              <a:ext cx="2197072" cy="195278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27056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57E1A5D3B7924CA35C3F67B9BE6836" ma:contentTypeVersion="14" ma:contentTypeDescription="Create a new document." ma:contentTypeScope="" ma:versionID="cad63b9dfd7b06e8a58d6f1d8cd96428">
  <xsd:schema xmlns:xsd="http://www.w3.org/2001/XMLSchema" xmlns:xs="http://www.w3.org/2001/XMLSchema" xmlns:p="http://schemas.microsoft.com/office/2006/metadata/properties" xmlns:ns2="71dd2c63-3f01-4569-91c2-295b22e7c09d" xmlns:ns3="58282856-7444-4258-9459-a816c44d1ff7" targetNamespace="http://schemas.microsoft.com/office/2006/metadata/properties" ma:root="true" ma:fieldsID="a9aec6a5807f7e4e0228c53d7da7df2f" ns2:_="" ns3:_="">
    <xsd:import namespace="71dd2c63-3f01-4569-91c2-295b22e7c09d"/>
    <xsd:import namespace="58282856-7444-4258-9459-a816c44d1ff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dd2c63-3f01-4569-91c2-295b22e7c09d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158d9f12-b085-4db2-abbf-1ae4638ef8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282856-7444-4258-9459-a816c44d1ff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98c2c24-f2e5-4a58-acd9-dc01051e8075}" ma:internalName="TaxCatchAll" ma:showField="CatchAllData" ma:web="58282856-7444-4258-9459-a816c44d1f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93F4AA-2617-41A3-9F67-BCCED0F9A154}"/>
</file>

<file path=customXml/itemProps2.xml><?xml version="1.0" encoding="utf-8"?>
<ds:datastoreItem xmlns:ds="http://schemas.openxmlformats.org/officeDocument/2006/customXml" ds:itemID="{456A546F-87FC-4401-9C4D-CEEE77ABE8E5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5622</TotalTime>
  <Words>547</Words>
  <Application>Microsoft Office PowerPoint</Application>
  <PresentationFormat>Custom</PresentationFormat>
  <Paragraphs>123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Arial</vt:lpstr>
      <vt:lpstr>Century Gothic</vt:lpstr>
      <vt:lpstr>Constantia</vt:lpstr>
      <vt:lpstr>Courier New</vt:lpstr>
      <vt:lpstr>Helvetica Neue</vt:lpstr>
      <vt:lpstr>Helvetica Neue Thin</vt:lpstr>
      <vt:lpstr>Tahoma</vt:lpstr>
      <vt:lpstr>Times New Roman</vt:lpstr>
      <vt:lpstr>Wingdings</vt:lpstr>
      <vt:lpstr>Wingdings 3</vt:lpstr>
      <vt:lpstr>Wisp</vt:lpstr>
      <vt:lpstr>PowerPoint Presentation</vt:lpstr>
      <vt:lpstr>Nội dung môn học</vt:lpstr>
      <vt:lpstr>Nội dung môn học</vt:lpstr>
      <vt:lpstr>Tổng quan về xử lý ảnh</vt:lpstr>
      <vt:lpstr>Tổng quan về xử lý ảnh</vt:lpstr>
      <vt:lpstr>Tổng quan về xử lý ảnh</vt:lpstr>
      <vt:lpstr>Tổng quan về xử lý ảnh</vt:lpstr>
      <vt:lpstr>Tổng quan về xử lý ảnh</vt:lpstr>
      <vt:lpstr>Tổng quan về xử lý ảnh</vt:lpstr>
      <vt:lpstr>Tổng quan về xử lý ảnh</vt:lpstr>
      <vt:lpstr>Tổng quan về xử lý ảnh</vt:lpstr>
      <vt:lpstr>Tổng quan về xử lý ảnh</vt:lpstr>
      <vt:lpstr>Tổng quan về xử lý ảnh</vt:lpstr>
      <vt:lpstr>Tổng quan về xử lý ảnh</vt:lpstr>
      <vt:lpstr>Tổng quan về xử lý ảnh</vt:lpstr>
      <vt:lpstr>Tổng quan về xử lý ảnh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Nguyễn Thúy Bình</cp:lastModifiedBy>
  <cp:revision>267</cp:revision>
  <cp:lastPrinted>2022-08-13T11:14:32Z</cp:lastPrinted>
  <dcterms:modified xsi:type="dcterms:W3CDTF">2024-02-22T00:21:09Z</dcterms:modified>
</cp:coreProperties>
</file>