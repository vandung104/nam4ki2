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96" r:id="rId3"/>
  </p:sldMasterIdLst>
  <p:notesMasterIdLst>
    <p:notesMasterId r:id="rId29"/>
  </p:notesMasterIdLst>
  <p:sldIdLst>
    <p:sldId id="256" r:id="rId4"/>
    <p:sldId id="324" r:id="rId5"/>
    <p:sldId id="325" r:id="rId6"/>
    <p:sldId id="361" r:id="rId7"/>
    <p:sldId id="362" r:id="rId8"/>
    <p:sldId id="363" r:id="rId9"/>
    <p:sldId id="364" r:id="rId10"/>
    <p:sldId id="383" r:id="rId11"/>
    <p:sldId id="384" r:id="rId12"/>
    <p:sldId id="385" r:id="rId13"/>
    <p:sldId id="368" r:id="rId14"/>
    <p:sldId id="370" r:id="rId15"/>
    <p:sldId id="366" r:id="rId16"/>
    <p:sldId id="371" r:id="rId17"/>
    <p:sldId id="372" r:id="rId18"/>
    <p:sldId id="373" r:id="rId19"/>
    <p:sldId id="374" r:id="rId20"/>
    <p:sldId id="376" r:id="rId21"/>
    <p:sldId id="382" r:id="rId22"/>
    <p:sldId id="377" r:id="rId23"/>
    <p:sldId id="386" r:id="rId24"/>
    <p:sldId id="379" r:id="rId25"/>
    <p:sldId id="381" r:id="rId26"/>
    <p:sldId id="380" r:id="rId27"/>
    <p:sldId id="375" r:id="rId2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66"/>
    <a:srgbClr val="51C564"/>
    <a:srgbClr val="FFFF99"/>
    <a:srgbClr val="00A44A"/>
    <a:srgbClr val="30DDE6"/>
    <a:srgbClr val="F4F8BE"/>
    <a:srgbClr val="FFFFCC"/>
    <a:srgbClr val="CCFF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5" autoAdjust="0"/>
    <p:restoredTop sz="94660"/>
  </p:normalViewPr>
  <p:slideViewPr>
    <p:cSldViewPr snapToGrid="0">
      <p:cViewPr varScale="1">
        <p:scale>
          <a:sx n="61" d="100"/>
          <a:sy n="61" d="100"/>
        </p:scale>
        <p:origin x="11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62548" y="3576322"/>
            <a:ext cx="9387308" cy="3218177"/>
          </a:xfrm>
        </p:spPr>
        <p:txBody>
          <a:bodyPr anchor="b">
            <a:normAutofit/>
          </a:bodyPr>
          <a:lstStyle>
            <a:lvl1pPr>
              <a:defRPr sz="7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62548" y="6794497"/>
            <a:ext cx="9387308" cy="1601825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04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06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00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511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013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51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018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45111" y="6145648"/>
            <a:ext cx="1984673" cy="1111866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2075" y="6442015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54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6509" y="887623"/>
            <a:ext cx="9371305" cy="18217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2546" y="3034453"/>
            <a:ext cx="9375268" cy="537261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61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2950488"/>
            <a:ext cx="9375268" cy="2088960"/>
          </a:xfrm>
        </p:spPr>
        <p:txBody>
          <a:bodyPr anchor="b"/>
          <a:lstStyle>
            <a:lvl1pPr algn="l">
              <a:defRPr sz="568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5093547"/>
            <a:ext cx="9375268" cy="1223680"/>
          </a:xfrm>
        </p:spPr>
        <p:txBody>
          <a:bodyPr anchor="t"/>
          <a:lstStyle>
            <a:lvl1pPr marL="0" indent="0" algn="l">
              <a:buNone/>
              <a:defRPr sz="284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3" y="4503506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461388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311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62548" y="3038871"/>
            <a:ext cx="4547600" cy="535807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90837" y="3038871"/>
            <a:ext cx="4546977" cy="5358076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1120403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5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1834" y="3166757"/>
            <a:ext cx="4088314" cy="819573"/>
          </a:xfrm>
        </p:spPr>
        <p:txBody>
          <a:bodyPr anchor="b">
            <a:noAutofit/>
          </a:bodyPr>
          <a:lstStyle>
            <a:lvl1pPr marL="0" indent="0">
              <a:buNone/>
              <a:defRPr sz="3413" b="0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62546" y="3986330"/>
            <a:ext cx="4547601" cy="44170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4309" y="3162166"/>
            <a:ext cx="4086384" cy="819573"/>
          </a:xfrm>
        </p:spPr>
        <p:txBody>
          <a:bodyPr anchor="b">
            <a:noAutofit/>
          </a:bodyPr>
          <a:lstStyle>
            <a:lvl1pPr marL="0" indent="0">
              <a:buNone/>
              <a:defRPr sz="3413" b="0"/>
            </a:lvl1pPr>
            <a:lvl2pPr marL="650230" indent="0">
              <a:buNone/>
              <a:defRPr sz="2844" b="1"/>
            </a:lvl2pPr>
            <a:lvl3pPr marL="1300460" indent="0">
              <a:buNone/>
              <a:defRPr sz="2560" b="1"/>
            </a:lvl3pPr>
            <a:lvl4pPr marL="1950690" indent="0">
              <a:buNone/>
              <a:defRPr sz="2276" b="1"/>
            </a:lvl4pPr>
            <a:lvl5pPr marL="2600919" indent="0">
              <a:buNone/>
              <a:defRPr sz="2276" b="1"/>
            </a:lvl5pPr>
            <a:lvl6pPr marL="3251149" indent="0">
              <a:buNone/>
              <a:defRPr sz="2276" b="1"/>
            </a:lvl6pPr>
            <a:lvl7pPr marL="3901379" indent="0">
              <a:buNone/>
              <a:defRPr sz="2276" b="1"/>
            </a:lvl7pPr>
            <a:lvl8pPr marL="4551609" indent="0">
              <a:buNone/>
              <a:defRPr sz="2276" b="1"/>
            </a:lvl8pPr>
            <a:lvl9pPr marL="5201839" indent="0">
              <a:buNone/>
              <a:defRPr sz="227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85728" y="3981739"/>
            <a:ext cx="4544967" cy="44170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1120403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46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6506" y="887623"/>
            <a:ext cx="9371307" cy="18217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2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509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634436"/>
            <a:ext cx="3739853" cy="1388533"/>
          </a:xfrm>
        </p:spPr>
        <p:txBody>
          <a:bodyPr anchor="b"/>
          <a:lstStyle>
            <a:lvl1pPr algn="l">
              <a:defRPr sz="2844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6302" y="634438"/>
            <a:ext cx="5391511" cy="770128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2273583"/>
            <a:ext cx="3739853" cy="6062131"/>
          </a:xfrm>
        </p:spPr>
        <p:txBody>
          <a:bodyPr/>
          <a:lstStyle>
            <a:lvl1pPr marL="0" indent="0">
              <a:buNone/>
              <a:defRPr sz="1991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672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6827520"/>
            <a:ext cx="9375268" cy="806027"/>
          </a:xfrm>
        </p:spPr>
        <p:txBody>
          <a:bodyPr anchor="b">
            <a:normAutofit/>
          </a:bodyPr>
          <a:lstStyle>
            <a:lvl1pPr algn="l">
              <a:defRPr sz="341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62546" y="903061"/>
            <a:ext cx="9375268" cy="5482624"/>
          </a:xfrm>
        </p:spPr>
        <p:txBody>
          <a:bodyPr anchor="t">
            <a:normAutofit/>
          </a:bodyPr>
          <a:lstStyle>
            <a:lvl1pPr marL="0" indent="0" algn="ctr">
              <a:buNone/>
              <a:defRPr sz="2276"/>
            </a:lvl1pPr>
            <a:lvl2pPr marL="650230" indent="0">
              <a:buNone/>
              <a:defRPr sz="2276"/>
            </a:lvl2pPr>
            <a:lvl3pPr marL="1300460" indent="0">
              <a:buNone/>
              <a:defRPr sz="2276"/>
            </a:lvl3pPr>
            <a:lvl4pPr marL="1950690" indent="0">
              <a:buNone/>
              <a:defRPr sz="2276"/>
            </a:lvl4pPr>
            <a:lvl5pPr marL="2600919" indent="0">
              <a:buNone/>
              <a:defRPr sz="2276"/>
            </a:lvl5pPr>
            <a:lvl6pPr marL="3251149" indent="0">
              <a:buNone/>
              <a:defRPr sz="2276"/>
            </a:lvl6pPr>
            <a:lvl7pPr marL="3901379" indent="0">
              <a:buNone/>
              <a:defRPr sz="2276"/>
            </a:lvl7pPr>
            <a:lvl8pPr marL="4551609" indent="0">
              <a:buNone/>
              <a:defRPr sz="2276"/>
            </a:lvl8pPr>
            <a:lvl9pPr marL="5201839" indent="0">
              <a:buNone/>
              <a:defRPr sz="227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633547"/>
            <a:ext cx="9375268" cy="702168"/>
          </a:xfrm>
        </p:spPr>
        <p:txBody>
          <a:bodyPr>
            <a:normAutofit/>
          </a:bodyPr>
          <a:lstStyle>
            <a:lvl1pPr marL="0" indent="0">
              <a:buNone/>
              <a:defRPr sz="1707"/>
            </a:lvl1pPr>
            <a:lvl2pPr marL="650230" indent="0">
              <a:buNone/>
              <a:defRPr sz="1707"/>
            </a:lvl2pPr>
            <a:lvl3pPr marL="1300460" indent="0">
              <a:buNone/>
              <a:defRPr sz="1422"/>
            </a:lvl3pPr>
            <a:lvl4pPr marL="1950690" indent="0">
              <a:buNone/>
              <a:defRPr sz="1280"/>
            </a:lvl4pPr>
            <a:lvl5pPr marL="2600919" indent="0">
              <a:buNone/>
              <a:defRPr sz="1280"/>
            </a:lvl5pPr>
            <a:lvl6pPr marL="3251149" indent="0">
              <a:buNone/>
              <a:defRPr sz="1280"/>
            </a:lvl6pPr>
            <a:lvl7pPr marL="3901379" indent="0">
              <a:buNone/>
              <a:defRPr sz="1280"/>
            </a:lvl7pPr>
            <a:lvl8pPr marL="4551609" indent="0">
              <a:buNone/>
              <a:defRPr sz="1280"/>
            </a:lvl8pPr>
            <a:lvl9pPr marL="5201839" indent="0">
              <a:buNone/>
              <a:defRPr sz="128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6984050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80" y="708705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6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866986"/>
            <a:ext cx="9375268" cy="4433124"/>
          </a:xfrm>
        </p:spPr>
        <p:txBody>
          <a:bodyPr anchor="ctr">
            <a:normAutofit/>
          </a:bodyPr>
          <a:lstStyle>
            <a:lvl1pPr algn="l">
              <a:defRPr sz="682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6192421"/>
            <a:ext cx="9375268" cy="2212784"/>
          </a:xfrm>
        </p:spPr>
        <p:txBody>
          <a:bodyPr anchor="ctr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4503506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461388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21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998" y="866987"/>
            <a:ext cx="8689190" cy="4118187"/>
          </a:xfrm>
        </p:spPr>
        <p:txBody>
          <a:bodyPr anchor="ctr">
            <a:normAutofit/>
          </a:bodyPr>
          <a:lstStyle>
            <a:lvl1pPr algn="l">
              <a:defRPr sz="682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436049" y="4985173"/>
            <a:ext cx="8041085" cy="541867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27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6192421"/>
            <a:ext cx="9375268" cy="2212784"/>
          </a:xfrm>
        </p:spPr>
        <p:txBody>
          <a:bodyPr anchor="ctr">
            <a:normAutofit/>
          </a:bodyPr>
          <a:lstStyle>
            <a:lvl1pPr marL="0" indent="0" algn="l">
              <a:buNone/>
              <a:defRPr sz="25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50230" indent="0">
              <a:buNone/>
              <a:defRPr sz="2560">
                <a:solidFill>
                  <a:schemeClr val="tx1">
                    <a:tint val="75000"/>
                  </a:schemeClr>
                </a:solidFill>
              </a:defRPr>
            </a:lvl2pPr>
            <a:lvl3pPr marL="1300460" indent="0">
              <a:buNone/>
              <a:defRPr sz="2276">
                <a:solidFill>
                  <a:schemeClr val="tx1">
                    <a:tint val="75000"/>
                  </a:schemeClr>
                </a:solidFill>
              </a:defRPr>
            </a:lvl3pPr>
            <a:lvl4pPr marL="1950690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4pPr>
            <a:lvl5pPr marL="260091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5pPr>
            <a:lvl6pPr marL="325114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6pPr>
            <a:lvl7pPr marL="390137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7pPr>
            <a:lvl8pPr marL="455160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8pPr>
            <a:lvl9pPr marL="5201839" indent="0">
              <a:buNone/>
              <a:defRPr sz="199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83" y="4503506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7080" y="461388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571828" y="921607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18892" y="4131991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9934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6" y="3467949"/>
            <a:ext cx="9375268" cy="3875335"/>
          </a:xfrm>
        </p:spPr>
        <p:txBody>
          <a:bodyPr anchor="b">
            <a:normAutofit/>
          </a:bodyPr>
          <a:lstStyle>
            <a:lvl1pPr algn="l">
              <a:defRPr sz="682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369386"/>
            <a:ext cx="9375268" cy="1037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83" y="6984050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80" y="708705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111998" y="866987"/>
            <a:ext cx="8689190" cy="4118187"/>
          </a:xfrm>
        </p:spPr>
        <p:txBody>
          <a:bodyPr anchor="ctr">
            <a:normAutofit/>
          </a:bodyPr>
          <a:lstStyle>
            <a:lvl1pPr algn="l">
              <a:defRPr sz="6827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62546" y="6177280"/>
            <a:ext cx="9512238" cy="119210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413">
                <a:solidFill>
                  <a:schemeClr val="accent1"/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369386"/>
            <a:ext cx="9512238" cy="1037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83" y="6984050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80" y="708705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571828" y="921607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18892" y="4131991"/>
            <a:ext cx="650409" cy="831681"/>
          </a:xfrm>
          <a:prstGeom prst="rect">
            <a:avLst/>
          </a:prstGeom>
        </p:spPr>
        <p:txBody>
          <a:bodyPr vert="horz" lIns="130048" tIns="65024" rIns="130048" bIns="65024" rtlCol="0" anchor="ctr">
            <a:noAutofit/>
          </a:bodyPr>
          <a:lstStyle/>
          <a:p>
            <a:pPr lvl="0"/>
            <a:r>
              <a:rPr lang="en-US" sz="1137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4353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547" y="892312"/>
            <a:ext cx="9375266" cy="4096028"/>
          </a:xfrm>
        </p:spPr>
        <p:txBody>
          <a:bodyPr anchor="ctr">
            <a:normAutofit/>
          </a:bodyPr>
          <a:lstStyle>
            <a:lvl1pPr algn="l">
              <a:defRPr sz="6827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762546" y="6177280"/>
            <a:ext cx="9375268" cy="1192107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3413">
                <a:solidFill>
                  <a:schemeClr val="accent1"/>
                </a:solidFill>
              </a:defRPr>
            </a:lvl1pPr>
            <a:lvl2pPr marL="650230" indent="0">
              <a:buFontTx/>
              <a:buNone/>
              <a:defRPr/>
            </a:lvl2pPr>
            <a:lvl3pPr marL="1300460" indent="0">
              <a:buFontTx/>
              <a:buNone/>
              <a:defRPr/>
            </a:lvl3pPr>
            <a:lvl4pPr marL="1950690" indent="0">
              <a:buFontTx/>
              <a:buNone/>
              <a:defRPr/>
            </a:lvl4pPr>
            <a:lvl5pPr marL="2600919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62546" y="7369386"/>
            <a:ext cx="9375268" cy="103768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6984050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7080" y="7087059"/>
            <a:ext cx="831969" cy="519289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71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197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82805" y="892311"/>
            <a:ext cx="2355388" cy="751476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62547" y="892311"/>
            <a:ext cx="6707695" cy="75147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83" y="1011477"/>
            <a:ext cx="1931884" cy="72249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6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325120"/>
            <a:ext cx="2817707" cy="9441604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9043" y="406"/>
            <a:ext cx="2776565" cy="9746443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260096" cy="9753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66506" y="887623"/>
            <a:ext cx="9371307" cy="18217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62546" y="3034453"/>
            <a:ext cx="9375268" cy="5527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54080" y="8725461"/>
            <a:ext cx="1089963" cy="5264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2546" y="8726485"/>
            <a:ext cx="813011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7080" y="1120403"/>
            <a:ext cx="831969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44">
                <a:solidFill>
                  <a:srgbClr val="FEFFFF"/>
                </a:solidFill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334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</p:sldLayoutIdLst>
  <p:txStyles>
    <p:titleStyle>
      <a:lvl1pPr algn="l" defTabSz="650230" rtl="0" eaLnBrk="1" latinLnBrk="0" hangingPunct="1">
        <a:spcBef>
          <a:spcPct val="0"/>
        </a:spcBef>
        <a:buNone/>
        <a:defRPr sz="51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87672" indent="-487672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25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1056623" indent="-406394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2276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625575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99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227580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92603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57626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422649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87672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5526954" indent="-325115" algn="l" defTabSz="650230" rtl="0" eaLnBrk="1" latinLnBrk="0" hangingPunct="1">
        <a:spcBef>
          <a:spcPts val="142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07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23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46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690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91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114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37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60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839" algn="l" defTabSz="650230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90.png"/><Relationship Id="rId4" Type="http://schemas.openxmlformats.org/officeDocument/2006/relationships/image" Target="../media/image2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MẠNG NEURON…"/>
          <p:cNvSpPr txBox="1">
            <a:spLocks noGrp="1"/>
          </p:cNvSpPr>
          <p:nvPr>
            <p:ph type="subTitle" idx="1"/>
          </p:nvPr>
        </p:nvSpPr>
        <p:spPr>
          <a:xfrm>
            <a:off x="-3388" y="3696960"/>
            <a:ext cx="13004801" cy="402119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8800" dirty="0" err="1">
                <a:solidFill>
                  <a:srgbClr val="002060"/>
                </a:solidFill>
                <a:latin typeface="Constantia" panose="02030602050306030303" pitchFamily="18" charset="0"/>
              </a:rPr>
              <a:t>Kỹ</a:t>
            </a:r>
            <a:r>
              <a:rPr lang="en-US" sz="8800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8800" dirty="0" err="1">
                <a:solidFill>
                  <a:srgbClr val="002060"/>
                </a:solidFill>
                <a:latin typeface="Constantia" panose="02030602050306030303" pitchFamily="18" charset="0"/>
              </a:rPr>
              <a:t>thuật</a:t>
            </a:r>
            <a:r>
              <a:rPr lang="en-US" sz="8800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8800" dirty="0" err="1">
                <a:solidFill>
                  <a:srgbClr val="002060"/>
                </a:solidFill>
                <a:latin typeface="Constantia" panose="02030602050306030303" pitchFamily="18" charset="0"/>
              </a:rPr>
              <a:t>xử</a:t>
            </a:r>
            <a:r>
              <a:rPr lang="en-US" sz="8800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8800" dirty="0" err="1">
                <a:solidFill>
                  <a:srgbClr val="002060"/>
                </a:solidFill>
                <a:latin typeface="Constantia" panose="02030602050306030303" pitchFamily="18" charset="0"/>
              </a:rPr>
              <a:t>lý</a:t>
            </a:r>
            <a:r>
              <a:rPr lang="en-US" sz="8800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8800" dirty="0" err="1">
                <a:solidFill>
                  <a:srgbClr val="002060"/>
                </a:solidFill>
                <a:latin typeface="Constantia" panose="02030602050306030303" pitchFamily="18" charset="0"/>
              </a:rPr>
              <a:t>ảnh</a:t>
            </a:r>
            <a:r>
              <a:rPr lang="en-US" sz="8800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8800" dirty="0" err="1">
                <a:solidFill>
                  <a:srgbClr val="002060"/>
                </a:solidFill>
                <a:latin typeface="Constantia" panose="02030602050306030303" pitchFamily="18" charset="0"/>
              </a:rPr>
              <a:t>số</a:t>
            </a:r>
            <a:endParaRPr lang="en-US" sz="8800" dirty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4000" dirty="0" err="1">
                <a:solidFill>
                  <a:srgbClr val="002060"/>
                </a:solidFill>
                <a:latin typeface="Constantia" panose="02030602050306030303" pitchFamily="18" charset="0"/>
              </a:rPr>
              <a:t>Giảng</a:t>
            </a:r>
            <a:r>
              <a:rPr lang="en-US" sz="4000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4000" dirty="0" err="1">
                <a:solidFill>
                  <a:srgbClr val="002060"/>
                </a:solidFill>
                <a:latin typeface="Constantia" panose="02030602050306030303" pitchFamily="18" charset="0"/>
              </a:rPr>
              <a:t>viên</a:t>
            </a:r>
            <a:r>
              <a:rPr lang="en-US" sz="4000" dirty="0">
                <a:solidFill>
                  <a:srgbClr val="002060"/>
                </a:solidFill>
                <a:latin typeface="Constantia" panose="02030602050306030303" pitchFamily="18" charset="0"/>
              </a:rPr>
              <a:t>: TS. </a:t>
            </a:r>
            <a:r>
              <a:rPr lang="en-US" sz="4000" dirty="0" err="1">
                <a:solidFill>
                  <a:srgbClr val="002060"/>
                </a:solidFill>
                <a:latin typeface="Constantia" panose="02030602050306030303" pitchFamily="18" charset="0"/>
              </a:rPr>
              <a:t>Nguyễn</a:t>
            </a:r>
            <a:r>
              <a:rPr lang="en-US" sz="4000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4000" dirty="0" err="1">
                <a:solidFill>
                  <a:srgbClr val="002060"/>
                </a:solidFill>
                <a:latin typeface="Constantia" panose="02030602050306030303" pitchFamily="18" charset="0"/>
              </a:rPr>
              <a:t>Thúy</a:t>
            </a:r>
            <a:r>
              <a:rPr lang="en-US" sz="4000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4000" dirty="0" err="1">
                <a:solidFill>
                  <a:srgbClr val="002060"/>
                </a:solidFill>
                <a:latin typeface="Constantia" panose="02030602050306030303" pitchFamily="18" charset="0"/>
              </a:rPr>
              <a:t>Bình</a:t>
            </a:r>
            <a:endParaRPr lang="en-US" sz="3200" dirty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algn="ctr">
              <a:defRPr sz="4000" b="1">
                <a:latin typeface="Arial"/>
                <a:ea typeface="Arial"/>
                <a:cs typeface="Arial"/>
                <a:sym typeface="Arial"/>
              </a:defRPr>
            </a:pPr>
            <a:endParaRPr dirty="0"/>
          </a:p>
        </p:txBody>
      </p:sp>
      <p:sp>
        <p:nvSpPr>
          <p:cNvPr id="120" name="Số Trang chiếu"/>
          <p:cNvSpPr txBox="1">
            <a:spLocks noGrp="1"/>
          </p:cNvSpPr>
          <p:nvPr>
            <p:ph type="sldNum" sz="quarter" idx="12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Nội dung môn học"/>
          <p:cNvSpPr txBox="1">
            <a:spLocks noGrp="1"/>
          </p:cNvSpPr>
          <p:nvPr>
            <p:ph type="ctrTitle"/>
          </p:nvPr>
        </p:nvSpPr>
        <p:spPr>
          <a:xfrm>
            <a:off x="-673" y="-14652"/>
            <a:ext cx="12980746" cy="1340427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sz="7200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Nội</a:t>
            </a:r>
            <a:r>
              <a:rPr sz="7200" b="1" dirty="0">
                <a:solidFill>
                  <a:srgbClr val="002060"/>
                </a:solidFill>
                <a:latin typeface="Constantia" panose="02030602050306030303" pitchFamily="18" charset="0"/>
              </a:rPr>
              <a:t> dung </a:t>
            </a:r>
            <a:r>
              <a:rPr sz="7200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môn</a:t>
            </a:r>
            <a:r>
              <a:rPr sz="7200" b="1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sz="7200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học</a:t>
            </a:r>
            <a:endParaRPr sz="7200" b="1" dirty="0">
              <a:solidFill>
                <a:srgbClr val="002060"/>
              </a:solidFill>
              <a:latin typeface="Constantia" panose="02030602050306030303" pitchFamily="18" charset="0"/>
            </a:endParaRPr>
          </a:p>
        </p:txBody>
      </p:sp>
      <p:sp>
        <p:nvSpPr>
          <p:cNvPr id="123" name="Tên môn học: Mạng neuron và ứng dụng trong xử lý tín hiệu…"/>
          <p:cNvSpPr txBox="1">
            <a:spLocks noGrp="1"/>
          </p:cNvSpPr>
          <p:nvPr>
            <p:ph type="subTitle" idx="1"/>
          </p:nvPr>
        </p:nvSpPr>
        <p:spPr>
          <a:xfrm>
            <a:off x="825751" y="1759727"/>
            <a:ext cx="11956152" cy="739850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742950" indent="-742950" algn="just">
              <a:buSzPct val="100000"/>
              <a:buFont typeface="+mj-lt"/>
              <a:buAutoNum type="arabicPeriod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Thời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lượng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: </a:t>
            </a:r>
            <a:r>
              <a:rPr b="0" dirty="0">
                <a:solidFill>
                  <a:srgbClr val="002060"/>
                </a:solidFill>
                <a:latin typeface="Constantia" panose="02030602050306030303" pitchFamily="18" charset="0"/>
              </a:rPr>
              <a:t>2 </a:t>
            </a:r>
            <a:r>
              <a:rPr b="0" dirty="0" err="1">
                <a:solidFill>
                  <a:srgbClr val="002060"/>
                </a:solidFill>
                <a:latin typeface="Constantia" panose="02030602050306030303" pitchFamily="18" charset="0"/>
              </a:rPr>
              <a:t>tín</a:t>
            </a:r>
            <a:r>
              <a:rPr b="0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b="0" dirty="0" err="1">
                <a:solidFill>
                  <a:srgbClr val="002060"/>
                </a:solidFill>
                <a:latin typeface="Constantia" panose="02030602050306030303" pitchFamily="18" charset="0"/>
              </a:rPr>
              <a:t>chỉ</a:t>
            </a:r>
            <a:r>
              <a:rPr b="0" dirty="0">
                <a:solidFill>
                  <a:srgbClr val="002060"/>
                </a:solidFill>
                <a:latin typeface="Constantia" panose="02030602050306030303" pitchFamily="18" charset="0"/>
              </a:rPr>
              <a:t> (</a:t>
            </a:r>
            <a:r>
              <a:rPr lang="en-US" b="0" dirty="0">
                <a:solidFill>
                  <a:srgbClr val="002060"/>
                </a:solidFill>
                <a:latin typeface="Constantia" panose="02030602050306030303" pitchFamily="18" charset="0"/>
              </a:rPr>
              <a:t>9</a:t>
            </a:r>
            <a:r>
              <a:rPr b="0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b="0" dirty="0" err="1">
                <a:solidFill>
                  <a:srgbClr val="002060"/>
                </a:solidFill>
                <a:latin typeface="Constantia" panose="02030602050306030303" pitchFamily="18" charset="0"/>
              </a:rPr>
              <a:t>buổi</a:t>
            </a:r>
            <a:r>
              <a:rPr b="0" dirty="0">
                <a:solidFill>
                  <a:srgbClr val="002060"/>
                </a:solidFill>
                <a:latin typeface="Constantia" panose="02030602050306030303" pitchFamily="18" charset="0"/>
              </a:rPr>
              <a:t> LT + 4 </a:t>
            </a:r>
            <a:r>
              <a:rPr b="0" dirty="0" err="1">
                <a:solidFill>
                  <a:srgbClr val="002060"/>
                </a:solidFill>
                <a:latin typeface="Constantia" panose="02030602050306030303" pitchFamily="18" charset="0"/>
              </a:rPr>
              <a:t>buổi</a:t>
            </a:r>
            <a:r>
              <a:rPr b="0" dirty="0">
                <a:solidFill>
                  <a:srgbClr val="002060"/>
                </a:solidFill>
                <a:latin typeface="Constantia" panose="02030602050306030303" pitchFamily="18" charset="0"/>
              </a:rPr>
              <a:t> BT)</a:t>
            </a:r>
          </a:p>
          <a:p>
            <a:pPr marL="742950" indent="-742950" algn="just">
              <a:buSzPct val="100000"/>
              <a:buFont typeface="+mj-lt"/>
              <a:buAutoNum type="arabicPeriod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Đánh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giá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học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phần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:</a:t>
            </a:r>
            <a:endParaRPr lang="en-US" dirty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Điểm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danh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: 1</a:t>
            </a: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</a:rPr>
              <a:t>0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%</a:t>
            </a:r>
            <a:endParaRPr lang="en-US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</a:rPr>
              <a:t>Điểm bài tập: 15%</a:t>
            </a:r>
            <a:endParaRPr lang="en-US" dirty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Bài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kiểm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tra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onstantia" panose="02030602050306030303" pitchFamily="18" charset="0"/>
              </a:rPr>
              <a:t>15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%</a:t>
            </a:r>
            <a:endParaRPr lang="en-US" dirty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 b="1">
                <a:latin typeface="Arial"/>
                <a:ea typeface="Arial"/>
                <a:cs typeface="Arial"/>
                <a:sym typeface="Arial"/>
              </a:defRPr>
            </a:pP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Thi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kết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thúc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học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dirty="0" err="1">
                <a:solidFill>
                  <a:srgbClr val="002060"/>
                </a:solidFill>
                <a:latin typeface="Constantia" panose="02030602050306030303" pitchFamily="18" charset="0"/>
              </a:rPr>
              <a:t>phần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: </a:t>
            </a:r>
            <a:r>
              <a:rPr lang="en-US">
                <a:solidFill>
                  <a:srgbClr val="002060"/>
                </a:solidFill>
                <a:latin typeface="Constantia" panose="02030602050306030303" pitchFamily="18" charset="0"/>
              </a:rPr>
              <a:t>6</a:t>
            </a:r>
            <a:r>
              <a:rPr>
                <a:solidFill>
                  <a:srgbClr val="002060"/>
                </a:solidFill>
                <a:latin typeface="Constantia" panose="02030602050306030303" pitchFamily="18" charset="0"/>
              </a:rPr>
              <a:t>0</a:t>
            </a:r>
            <a:r>
              <a:rPr dirty="0">
                <a:solidFill>
                  <a:srgbClr val="002060"/>
                </a:solidFill>
                <a:latin typeface="Constantia" panose="02030602050306030303" pitchFamily="18" charset="0"/>
              </a:rPr>
              <a:t>%</a:t>
            </a:r>
          </a:p>
          <a:p>
            <a:pPr lvl="2" algn="just">
              <a:defRPr sz="4000">
                <a:latin typeface="Arial"/>
                <a:ea typeface="Arial"/>
                <a:cs typeface="Arial"/>
                <a:sym typeface="Arial"/>
              </a:defRPr>
            </a:pPr>
            <a:endParaRPr dirty="0">
              <a:solidFill>
                <a:srgbClr val="002060"/>
              </a:solidFill>
              <a:latin typeface="Constantia" panose="02030602050306030303" pitchFamily="18" charset="0"/>
            </a:endParaRPr>
          </a:p>
        </p:txBody>
      </p:sp>
      <p:sp>
        <p:nvSpPr>
          <p:cNvPr id="124" name="Số Trang chiếu"/>
          <p:cNvSpPr txBox="1">
            <a:spLocks noGrp="1"/>
          </p:cNvSpPr>
          <p:nvPr>
            <p:ph type="sldNum" sz="quarter" idx="12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6772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Nội dung môn học"/>
          <p:cNvSpPr txBox="1">
            <a:spLocks noGrp="1"/>
          </p:cNvSpPr>
          <p:nvPr>
            <p:ph type="ctrTitle"/>
          </p:nvPr>
        </p:nvSpPr>
        <p:spPr>
          <a:xfrm>
            <a:off x="-673" y="-14652"/>
            <a:ext cx="12980746" cy="1340427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r>
              <a:rPr lang="en-US" sz="7200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Nội</a:t>
            </a:r>
            <a:r>
              <a:rPr lang="en-US" sz="7200" b="1" dirty="0">
                <a:solidFill>
                  <a:srgbClr val="002060"/>
                </a:solidFill>
                <a:latin typeface="Constantia" panose="02030602050306030303" pitchFamily="18" charset="0"/>
              </a:rPr>
              <a:t> dung </a:t>
            </a:r>
            <a:r>
              <a:rPr lang="en-US" sz="7200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môn</a:t>
            </a:r>
            <a:r>
              <a:rPr lang="en-US" sz="7200" b="1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sz="7200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học</a:t>
            </a:r>
            <a:endParaRPr sz="7200" dirty="0">
              <a:solidFill>
                <a:srgbClr val="002060"/>
              </a:solidFill>
            </a:endParaRPr>
          </a:p>
        </p:txBody>
      </p:sp>
      <p:sp>
        <p:nvSpPr>
          <p:cNvPr id="127" name="Tổng quan về neuron và mạng neuron…"/>
          <p:cNvSpPr txBox="1">
            <a:spLocks noGrp="1"/>
          </p:cNvSpPr>
          <p:nvPr>
            <p:ph type="subTitle" idx="1"/>
          </p:nvPr>
        </p:nvSpPr>
        <p:spPr>
          <a:xfrm>
            <a:off x="1828800" y="1786206"/>
            <a:ext cx="10809514" cy="7398508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635000" indent="-635000" algn="just">
              <a:buSzPct val="100000"/>
              <a:buAutoNum type="arabicPeriod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Lý</a:t>
            </a:r>
            <a:r>
              <a:rPr lang="en-US" b="1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thuyết</a:t>
            </a:r>
            <a:endParaRPr lang="en-US" b="1" dirty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Tổng quan về xử lý ảnh</a:t>
            </a:r>
            <a:endParaRPr lang="en-US" sz="3200" dirty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Cải thiện và nâng cao chất lượng ảnh</a:t>
            </a:r>
            <a:endParaRPr lang="en-US" sz="3200" dirty="0">
              <a:solidFill>
                <a:srgbClr val="002060"/>
              </a:solidFill>
              <a:latin typeface="Constantia" panose="02030602050306030303" pitchFamily="18" charset="0"/>
            </a:endParaRP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Phát hiện và tách biên ảnh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Phân vùng ảnh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Xử lý ảnh nhị phân</a:t>
            </a:r>
            <a:r>
              <a:rPr lang="en-US" dirty="0">
                <a:solidFill>
                  <a:srgbClr val="002060"/>
                </a:solidFill>
                <a:latin typeface="Constantia" panose="02030602050306030303" pitchFamily="18" charset="0"/>
              </a:rPr>
              <a:t>	</a:t>
            </a:r>
          </a:p>
          <a:p>
            <a:pPr marL="635000" indent="-635000" algn="just">
              <a:buSzPct val="100000"/>
              <a:buAutoNum type="arabicPeriod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Bài</a:t>
            </a:r>
            <a:r>
              <a:rPr lang="en-US" b="1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b="1" dirty="0" err="1">
                <a:solidFill>
                  <a:srgbClr val="002060"/>
                </a:solidFill>
                <a:latin typeface="Constantia" panose="02030602050306030303" pitchFamily="18" charset="0"/>
              </a:rPr>
              <a:t>tập+Thực</a:t>
            </a:r>
            <a:r>
              <a:rPr lang="en-US" b="1" dirty="0">
                <a:solidFill>
                  <a:srgbClr val="002060"/>
                </a:solidFill>
                <a:latin typeface="Constantia" panose="02030602050306030303" pitchFamily="18" charset="0"/>
              </a:rPr>
              <a:t> </a:t>
            </a:r>
            <a:r>
              <a:rPr lang="en-US" b="1" err="1">
                <a:solidFill>
                  <a:srgbClr val="002060"/>
                </a:solidFill>
                <a:latin typeface="Constantia" panose="02030602050306030303" pitchFamily="18" charset="0"/>
              </a:rPr>
              <a:t>hành</a:t>
            </a:r>
            <a:r>
              <a:rPr lang="en-US" b="1">
                <a:solidFill>
                  <a:srgbClr val="002060"/>
                </a:solidFill>
                <a:latin typeface="Constantia" panose="02030602050306030303" pitchFamily="18" charset="0"/>
              </a:rPr>
              <a:t>: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 Biểu diễn ảnh và biến đổi không gian màu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 Co giãn độ tương phản, cân bằng lược đồ mức xám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 Lọc nhiễu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 Phát hiện biên ảnh</a:t>
            </a:r>
          </a:p>
          <a:p>
            <a:pPr marL="1221730" lvl="1" indent="-571500" algn="just">
              <a:buSzPct val="100000"/>
              <a:buFont typeface="Wingdings" panose="05000000000000000000" pitchFamily="2" charset="2"/>
              <a:buChar char="Ø"/>
              <a:defRPr sz="4000">
                <a:latin typeface="Arial"/>
                <a:ea typeface="Arial"/>
                <a:cs typeface="Arial"/>
                <a:sym typeface="Arial"/>
              </a:defRPr>
            </a:pPr>
            <a:r>
              <a:rPr lang="en-US" sz="3200">
                <a:solidFill>
                  <a:srgbClr val="002060"/>
                </a:solidFill>
                <a:latin typeface="Constantia" panose="02030602050306030303" pitchFamily="18" charset="0"/>
              </a:rPr>
              <a:t> Phân vùng ảnh</a:t>
            </a:r>
          </a:p>
        </p:txBody>
      </p:sp>
      <p:sp>
        <p:nvSpPr>
          <p:cNvPr id="128" name="Số Trang chiếu"/>
          <p:cNvSpPr txBox="1">
            <a:spLocks noGrp="1"/>
          </p:cNvSpPr>
          <p:nvPr>
            <p:ph type="sldNum" sz="quarter" idx="12"/>
          </p:nvPr>
        </p:nvSpPr>
        <p:spPr>
          <a:xfrm>
            <a:off x="6385373" y="9296400"/>
            <a:ext cx="227280" cy="324306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>
                <a:solidFill>
                  <a:srgbClr val="002060"/>
                </a:solidFill>
              </a:rPr>
              <a:t>3</a:t>
            </a:fld>
            <a:endParaRPr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063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90083" y="-25400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Phát hiện biên ảnh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718" y="1791802"/>
            <a:ext cx="5880183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>
                <a:solidFill>
                  <a:srgbClr val="000066"/>
                </a:solidFill>
                <a:latin typeface="Constantia" panose="02030602050306030303" pitchFamily="18" charset="0"/>
              </a:rPr>
              <a:t>Phát hiện biên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54" y="2984762"/>
            <a:ext cx="5115685" cy="508825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94" y="3030904"/>
            <a:ext cx="5042112" cy="5042112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>
          <a:xfrm>
            <a:off x="5762632" y="5358266"/>
            <a:ext cx="1291465" cy="723900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395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924" y="2092271"/>
            <a:ext cx="11918197" cy="725320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>
                <a:latin typeface="Constantia" panose="02030602050306030303" pitchFamily="18" charset="0"/>
              </a:rPr>
              <a:t>Biên ảnh: tập hợp các điểm ảnh mà tại đó cường độ sáng thay đổi đột ngột.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>
                <a:latin typeface="Constantia" panose="02030602050306030303" pitchFamily="18" charset="0"/>
              </a:rPr>
              <a:t>Biên ảnh là ranh giới giữa hai vùng khác nhau trong ảnh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>
                <a:latin typeface="Constantia" panose="02030602050306030303" pitchFamily="18" charset="0"/>
              </a:rPr>
              <a:t>Một số phương pháp phát hiện biên: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>
                <a:latin typeface="Constantia" panose="02030602050306030303" pitchFamily="18" charset="0"/>
              </a:rPr>
              <a:t>Toán tử Robert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>
                <a:latin typeface="Constantia" panose="02030602050306030303" pitchFamily="18" charset="0"/>
              </a:rPr>
              <a:t>Toán tử Sobel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>
                <a:latin typeface="Constantia" panose="02030602050306030303" pitchFamily="18" charset="0"/>
              </a:rPr>
              <a:t>Toán tử Prewitt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>
                <a:latin typeface="Constantia" panose="02030602050306030303" pitchFamily="18" charset="0"/>
              </a:rPr>
              <a:t>Bộ lọc Laplace of Gaussian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200">
                <a:latin typeface="Constantia" panose="02030602050306030303" pitchFamily="18" charset="0"/>
              </a:rPr>
              <a:t>Thuật toán phát hiện biên Canny</a:t>
            </a:r>
          </a:p>
          <a:p>
            <a:pPr marL="650229" lvl="1" indent="0">
              <a:buNone/>
            </a:pPr>
            <a:endParaRPr lang="en-US" sz="2916">
              <a:latin typeface="Constantia" panose="02030602050306030303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342110" y="331061"/>
            <a:ext cx="11021017" cy="123564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Phát hiện biên ảnh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7013127" y="4805555"/>
            <a:ext cx="5586994" cy="4539923"/>
            <a:chOff x="7013127" y="4805555"/>
            <a:chExt cx="5586994" cy="4539923"/>
          </a:xfrm>
        </p:grpSpPr>
        <p:grpSp>
          <p:nvGrpSpPr>
            <p:cNvPr id="8" name="Group 7"/>
            <p:cNvGrpSpPr/>
            <p:nvPr/>
          </p:nvGrpSpPr>
          <p:grpSpPr>
            <a:xfrm>
              <a:off x="7164163" y="7173890"/>
              <a:ext cx="5284921" cy="2171588"/>
              <a:chOff x="10434306" y="4397922"/>
              <a:chExt cx="5284921" cy="2171588"/>
            </a:xfrm>
          </p:grpSpPr>
          <p:sp>
            <p:nvSpPr>
              <p:cNvPr id="6" name="Right Arrow 5"/>
              <p:cNvSpPr/>
              <p:nvPr/>
            </p:nvSpPr>
            <p:spPr>
              <a:xfrm rot="5400000">
                <a:off x="12657700" y="4445025"/>
                <a:ext cx="838126" cy="743919"/>
              </a:xfrm>
              <a:prstGeom prst="rightArrow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ounded Rectangle 6"/>
              <p:cNvSpPr/>
              <p:nvPr/>
            </p:nvSpPr>
            <p:spPr>
              <a:xfrm>
                <a:off x="10434306" y="5412302"/>
                <a:ext cx="5284921" cy="1157208"/>
              </a:xfrm>
              <a:prstGeom prst="round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342900" indent="-342900" algn="l">
                  <a:buFont typeface="Wingdings" panose="05000000000000000000" pitchFamily="2" charset="2"/>
                  <a:buChar char="ü"/>
                </a:pPr>
                <a:r>
                  <a:rPr lang="en-US" sz="2800" b="0">
                    <a:solidFill>
                      <a:srgbClr val="002060"/>
                    </a:solidFill>
                    <a:latin typeface="Constantia" panose="02030602050306030303" pitchFamily="18" charset="0"/>
                  </a:rPr>
                  <a:t>Đạo hàm bậc nhất (Gradient)</a:t>
                </a:r>
              </a:p>
              <a:p>
                <a:pPr marL="342900" indent="-342900" algn="l">
                  <a:buFont typeface="Wingdings" panose="05000000000000000000" pitchFamily="2" charset="2"/>
                  <a:buChar char="ü"/>
                </a:pPr>
                <a:r>
                  <a:rPr lang="en-US" sz="2800" b="0">
                    <a:solidFill>
                      <a:srgbClr val="002060"/>
                    </a:solidFill>
                    <a:latin typeface="Constantia" panose="02030602050306030303" pitchFamily="18" charset="0"/>
                  </a:rPr>
                  <a:t>Đạo hàm bậc hai (Laplace)</a:t>
                </a:r>
                <a:endParaRPr lang="en-US">
                  <a:latin typeface="Constantia" panose="02030602050306030303" pitchFamily="18" charset="0"/>
                </a:endParaRPr>
              </a:p>
            </p:txBody>
          </p:sp>
        </p:grp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3127" y="4805555"/>
              <a:ext cx="5586994" cy="21920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6136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329" y="2058060"/>
            <a:ext cx="11731298" cy="7184096"/>
          </a:xfrm>
        </p:spPr>
        <p:txBody>
          <a:bodyPr>
            <a:normAutofit/>
          </a:bodyPr>
          <a:lstStyle/>
          <a:p>
            <a:r>
              <a:rPr lang="en-US" sz="3600">
                <a:latin typeface="Constantia" panose="02030602050306030303" pitchFamily="18" charset="0"/>
              </a:rPr>
              <a:t>Gradient theo hai hướng:</a:t>
            </a:r>
          </a:p>
          <a:p>
            <a:pPr marL="0" indent="0">
              <a:buNone/>
            </a:pPr>
            <a:endParaRPr lang="en-US" sz="3600">
              <a:latin typeface="Constantia" panose="02030602050306030303" pitchFamily="18" charset="0"/>
            </a:endParaRPr>
          </a:p>
          <a:p>
            <a:endParaRPr lang="en-US" sz="3600">
              <a:latin typeface="Constantia" panose="02030602050306030303" pitchFamily="18" charset="0"/>
            </a:endParaRPr>
          </a:p>
          <a:p>
            <a:r>
              <a:rPr lang="en-US" sz="3600">
                <a:latin typeface="Constantia" panose="02030602050306030303" pitchFamily="18" charset="0"/>
              </a:rPr>
              <a:t>Gradient rời rạc: </a:t>
            </a:r>
          </a:p>
          <a:p>
            <a:pPr marL="0" indent="0">
              <a:buNone/>
            </a:pPr>
            <a:endParaRPr lang="en-US" sz="3600">
              <a:latin typeface="Constantia" panose="02030602050306030303" pitchFamily="18" charset="0"/>
            </a:endParaRPr>
          </a:p>
          <a:p>
            <a:r>
              <a:rPr lang="en-US" sz="3600">
                <a:latin typeface="Constantia" panose="02030602050306030303" pitchFamily="18" charset="0"/>
              </a:rPr>
              <a:t>Biên độ của gradient:</a:t>
            </a:r>
          </a:p>
          <a:p>
            <a:pPr marL="0" indent="0">
              <a:buNone/>
            </a:pPr>
            <a:endParaRPr lang="en-US" sz="3600">
              <a:latin typeface="Constantia" panose="02030602050306030303" pitchFamily="18" charset="0"/>
            </a:endParaRPr>
          </a:p>
          <a:p>
            <a:pPr marL="0" indent="0">
              <a:buNone/>
            </a:pPr>
            <a:endParaRPr lang="en-US" sz="3600">
              <a:latin typeface="Constantia" panose="02030602050306030303" pitchFamily="18" charset="0"/>
            </a:endParaRPr>
          </a:p>
          <a:p>
            <a:pPr marL="0" indent="0">
              <a:buNone/>
            </a:pPr>
            <a:endParaRPr lang="en-US" sz="3600">
              <a:latin typeface="Constantia" panose="02030602050306030303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08309" y="129583"/>
            <a:ext cx="11888003" cy="1061946"/>
          </a:xfrm>
        </p:spPr>
        <p:txBody>
          <a:bodyPr>
            <a:no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Đạo hàm bậc nhất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612" y="2826763"/>
            <a:ext cx="5636933" cy="139783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437" y="6585407"/>
            <a:ext cx="9019383" cy="15222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499" y="4831640"/>
            <a:ext cx="9028929" cy="88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75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83" y="2045775"/>
            <a:ext cx="12754617" cy="6493789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08309" y="129582"/>
            <a:ext cx="11888003" cy="1249767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Đạo hàm bậc nhất</a:t>
            </a:r>
          </a:p>
        </p:txBody>
      </p:sp>
    </p:spTree>
    <p:extLst>
      <p:ext uri="{BB962C8B-B14F-4D97-AF65-F5344CB8AC3E}">
        <p14:creationId xmlns:p14="http://schemas.microsoft.com/office/powerpoint/2010/main" val="2288287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08309" y="129582"/>
            <a:ext cx="11888003" cy="1249767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Đạo hàm bậc nhất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25289" y="2929180"/>
            <a:ext cx="12571023" cy="5780868"/>
            <a:chOff x="175169" y="2200760"/>
            <a:chExt cx="12571023" cy="5780868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5169" y="2200760"/>
              <a:ext cx="12571023" cy="5780868"/>
            </a:xfrm>
            <a:prstGeom prst="rect">
              <a:avLst/>
            </a:prstGeom>
            <a:ln>
              <a:solidFill>
                <a:srgbClr val="00B050"/>
              </a:solidFill>
            </a:ln>
          </p:spPr>
        </p:pic>
        <p:grpSp>
          <p:nvGrpSpPr>
            <p:cNvPr id="17" name="Group 16"/>
            <p:cNvGrpSpPr/>
            <p:nvPr/>
          </p:nvGrpSpPr>
          <p:grpSpPr>
            <a:xfrm>
              <a:off x="2808406" y="2467541"/>
              <a:ext cx="2662495" cy="5443799"/>
              <a:chOff x="2808406" y="2467541"/>
              <a:chExt cx="2662495" cy="5443799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2882684" y="5672379"/>
                <a:ext cx="2588217" cy="2238961"/>
                <a:chOff x="2882684" y="5672379"/>
                <a:chExt cx="2588217" cy="2238961"/>
              </a:xfrm>
            </p:grpSpPr>
            <p:pic>
              <p:nvPicPr>
                <p:cNvPr id="10" name="Picture 9"/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55850" t="55496" r="21342"/>
                <a:stretch/>
              </p:blipFill>
              <p:spPr>
                <a:xfrm>
                  <a:off x="2882684" y="5672379"/>
                  <a:ext cx="2588217" cy="2238961"/>
                </a:xfrm>
                <a:prstGeom prst="rect">
                  <a:avLst/>
                </a:prstGeom>
                <a:ln>
                  <a:noFill/>
                </a:ln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" name="TextBox 5"/>
                    <p:cNvSpPr txBox="1"/>
                    <p:nvPr/>
                  </p:nvSpPr>
                  <p:spPr>
                    <a:xfrm>
                      <a:off x="2956960" y="5979585"/>
                      <a:ext cx="2439663" cy="162454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4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  <m:brk m:alnAt="7"/>
                                        </m:rPr>
                                        <a:rPr lang="en-US" sz="4000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4000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4000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−2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4000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oMath>
                        </m:oMathPara>
                      </a14:m>
                      <a:endParaRPr lang="en-US" sz="4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" name="TextBox 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56960" y="5979585"/>
                      <a:ext cx="2439663" cy="1624547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5750" r="-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" name="Group 12"/>
              <p:cNvGrpSpPr/>
              <p:nvPr/>
            </p:nvGrpSpPr>
            <p:grpSpPr>
              <a:xfrm>
                <a:off x="2808406" y="2467541"/>
                <a:ext cx="2588217" cy="2238961"/>
                <a:chOff x="2882684" y="5672379"/>
                <a:chExt cx="2588217" cy="2238961"/>
              </a:xfrm>
            </p:grpSpPr>
            <p:pic>
              <p:nvPicPr>
                <p:cNvPr id="14" name="Picture 13"/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55850" t="55496" r="21342"/>
                <a:stretch/>
              </p:blipFill>
              <p:spPr>
                <a:xfrm>
                  <a:off x="2882684" y="5672379"/>
                  <a:ext cx="2588217" cy="2238961"/>
                </a:xfrm>
                <a:prstGeom prst="rect">
                  <a:avLst/>
                </a:prstGeom>
                <a:ln>
                  <a:noFill/>
                </a:ln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TextBox 14"/>
                    <p:cNvSpPr txBox="1"/>
                    <p:nvPr/>
                  </p:nvSpPr>
                  <p:spPr>
                    <a:xfrm>
                      <a:off x="2956960" y="5979585"/>
                      <a:ext cx="2439663" cy="162454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400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sz="4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  <m:brk m:alnAt="7"/>
                                        </m:rPr>
                                        <a:rPr lang="en-US" sz="4000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4000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4000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4000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4000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e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4000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4000" b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e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sz="4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d>
                          </m:oMath>
                        </m:oMathPara>
                      </a14:m>
                      <a:endParaRPr lang="en-US" sz="4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TextBox 1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956960" y="5979585"/>
                      <a:ext cx="2439663" cy="162454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5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>
        <p:nvSpPr>
          <p:cNvPr id="19" name="Rounded Rectangle 18"/>
          <p:cNvSpPr/>
          <p:nvPr/>
        </p:nvSpPr>
        <p:spPr>
          <a:xfrm>
            <a:off x="430210" y="1776304"/>
            <a:ext cx="4281275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0">
                <a:solidFill>
                  <a:srgbClr val="FFFF99"/>
                </a:solidFill>
                <a:latin typeface="Constantia" panose="02030602050306030303" pitchFamily="18" charset="0"/>
              </a:rPr>
              <a:t>Bộ lọc Sobel</a:t>
            </a:r>
          </a:p>
        </p:txBody>
      </p:sp>
    </p:spTree>
    <p:extLst>
      <p:ext uri="{BB962C8B-B14F-4D97-AF65-F5344CB8AC3E}">
        <p14:creationId xmlns:p14="http://schemas.microsoft.com/office/powerpoint/2010/main" val="514307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190" y="2709333"/>
            <a:ext cx="9395310" cy="6100516"/>
          </a:xfrm>
          <a:prstGeom prst="rect">
            <a:avLst/>
          </a:prstGeom>
          <a:ln>
            <a:solidFill>
              <a:srgbClr val="0033CC"/>
            </a:solidFill>
          </a:ln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08309" y="129582"/>
            <a:ext cx="11888003" cy="1249767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Đạo hàm bậc nhất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210" y="1776304"/>
            <a:ext cx="4281275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0">
                <a:solidFill>
                  <a:srgbClr val="FFFF99"/>
                </a:solidFill>
                <a:latin typeface="Constantia" panose="02030602050306030303" pitchFamily="18" charset="0"/>
              </a:rPr>
              <a:t>Bộ lọc Sobel</a:t>
            </a:r>
          </a:p>
        </p:txBody>
      </p:sp>
    </p:spTree>
    <p:extLst>
      <p:ext uri="{BB962C8B-B14F-4D97-AF65-F5344CB8AC3E}">
        <p14:creationId xmlns:p14="http://schemas.microsoft.com/office/powerpoint/2010/main" val="1834970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570900"/>
            <a:ext cx="8775700" cy="5452636"/>
          </a:xfrm>
          <a:prstGeom prst="rect">
            <a:avLst/>
          </a:prstGeom>
          <a:ln>
            <a:noFill/>
          </a:ln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08309" y="129582"/>
            <a:ext cx="11888003" cy="1249767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Đạo hàm bậc nhất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0210" y="1776304"/>
            <a:ext cx="4281275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0">
                <a:solidFill>
                  <a:srgbClr val="FFFF99"/>
                </a:solidFill>
                <a:latin typeface="Constantia" panose="02030602050306030303" pitchFamily="18" charset="0"/>
              </a:rPr>
              <a:t>Bộ lọc Sobel</a:t>
            </a:r>
          </a:p>
        </p:txBody>
      </p:sp>
    </p:spTree>
    <p:extLst>
      <p:ext uri="{BB962C8B-B14F-4D97-AF65-F5344CB8AC3E}">
        <p14:creationId xmlns:p14="http://schemas.microsoft.com/office/powerpoint/2010/main" val="3610426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08309" y="129582"/>
            <a:ext cx="11888003" cy="1249767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Đạo hàm bậc nhất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177" y="1811281"/>
            <a:ext cx="11298265" cy="813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18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36349" y="2061274"/>
                <a:ext cx="11888003" cy="7408190"/>
              </a:xfrm>
            </p:spPr>
            <p:txBody>
              <a:bodyPr>
                <a:normAutofit/>
              </a:bodyPr>
              <a:lstStyle/>
              <a:p>
                <a:r>
                  <a:rPr lang="en-US" sz="3600" b="1">
                    <a:latin typeface="Constantia" panose="02030602050306030303" pitchFamily="18" charset="0"/>
                  </a:rPr>
                  <a:t>Toán tử Robert: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>
                    <a:latin typeface="Constantia" panose="02030602050306030303" pitchFamily="18" charset="0"/>
                  </a:rPr>
                  <a:t> Nhạy cảm với nhiễu và những biến thiên nhỏ ở biên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200">
                    <a:latin typeface="Constantia" panose="02030602050306030303" pitchFamily="18" charset="0"/>
                  </a:rPr>
                  <a:t> Phù hợp với biên tạo góc 45</a:t>
                </a:r>
                <a:r>
                  <a:rPr lang="en-US" sz="3200" baseline="30000">
                    <a:latin typeface="Constantia" panose="02030602050306030303" pitchFamily="18" charset="0"/>
                  </a:rPr>
                  <a:t>o</a:t>
                </a:r>
                <a:r>
                  <a:rPr lang="en-US" sz="3200">
                    <a:latin typeface="Constantia" panose="02030602050306030303" pitchFamily="18" charset="0"/>
                  </a:rPr>
                  <a:t>  </a:t>
                </a:r>
              </a:p>
              <a:p>
                <a:r>
                  <a:rPr lang="en-US" sz="3600" b="1">
                    <a:latin typeface="Constantia" panose="02030602050306030303" pitchFamily="18" charset="0"/>
                  </a:rPr>
                  <a:t> Toán tử Sobel và Prewitt: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316">
                    <a:latin typeface="Constantia" panose="02030602050306030303" pitchFamily="18" charset="0"/>
                  </a:rPr>
                  <a:t> Phù hợp với biên ngang hoặc biên thẳng đứng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en-US" sz="3316">
                    <a:latin typeface="Constantia" panose="02030602050306030303" pitchFamily="18" charset="0"/>
                  </a:rPr>
                  <a:t> Có thể loại bỏ nhiễu </a:t>
                </a:r>
                <a14:m>
                  <m:oMath xmlns:m="http://schemas.openxmlformats.org/officeDocument/2006/math">
                    <m:r>
                      <a:rPr lang="en-US" sz="3316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316">
                    <a:latin typeface="Constantia" panose="02030602050306030303" pitchFamily="18" charset="0"/>
                  </a:rPr>
                  <a:t> làm trơn ảnh</a:t>
                </a:r>
              </a:p>
              <a:p>
                <a:pPr marL="0" indent="0">
                  <a:buNone/>
                </a:pPr>
                <a:endParaRPr lang="en-US" sz="3200">
                  <a:latin typeface="Constantia" panose="02030602050306030303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6349" y="2061274"/>
                <a:ext cx="11888003" cy="7408190"/>
              </a:xfrm>
              <a:blipFill>
                <a:blip r:embed="rId2"/>
                <a:stretch>
                  <a:fillRect l="-1435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08309" y="129582"/>
            <a:ext cx="11888003" cy="1249767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Đạo hàm bậc nhất</a:t>
            </a:r>
          </a:p>
        </p:txBody>
      </p:sp>
    </p:spTree>
    <p:extLst>
      <p:ext uri="{BB962C8B-B14F-4D97-AF65-F5344CB8AC3E}">
        <p14:creationId xmlns:p14="http://schemas.microsoft.com/office/powerpoint/2010/main" val="3255464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08309" y="129583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Đạo hàm bậc hai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83" y="1781157"/>
            <a:ext cx="11935346" cy="576651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310035" y="8414428"/>
            <a:ext cx="6737815" cy="115720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3200" b="0">
                <a:solidFill>
                  <a:srgbClr val="002060"/>
                </a:solidFill>
                <a:latin typeface="Constantia" panose="02030602050306030303" pitchFamily="18" charset="0"/>
              </a:rPr>
              <a:t>Nhạy cảm với nhiễu 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3200" b="0">
                <a:solidFill>
                  <a:srgbClr val="002060"/>
                </a:solidFill>
                <a:latin typeface="Constantia" panose="02030602050306030303" pitchFamily="18" charset="0"/>
              </a:rPr>
              <a:t>Không hỗ trợ tìm hướng của biên</a:t>
            </a:r>
            <a:endParaRPr lang="en-US" sz="3200">
              <a:latin typeface="Constantia" panose="02030602050306030303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954" y="7628187"/>
            <a:ext cx="780356" cy="597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069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9351" y="2088194"/>
            <a:ext cx="1895740" cy="5761698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08309" y="129583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Đạo hàm bậc hai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38972" y="2529895"/>
            <a:ext cx="10029393" cy="4878296"/>
            <a:chOff x="338972" y="2529895"/>
            <a:chExt cx="10029393" cy="487829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8972" y="2529895"/>
              <a:ext cx="10029393" cy="4878296"/>
            </a:xfrm>
            <a:prstGeom prst="rect">
              <a:avLst/>
            </a:prstGeom>
          </p:spPr>
        </p:pic>
        <p:sp>
          <p:nvSpPr>
            <p:cNvPr id="7" name="Right Arrow 6"/>
            <p:cNvSpPr/>
            <p:nvPr/>
          </p:nvSpPr>
          <p:spPr>
            <a:xfrm>
              <a:off x="4757980" y="4680488"/>
              <a:ext cx="1131376" cy="883404"/>
            </a:xfrm>
            <a:prstGeom prst="rightArrow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41302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08309" y="129583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Laplace of Gaussian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199" y="2167408"/>
            <a:ext cx="12536113" cy="699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387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790" y="1996066"/>
            <a:ext cx="12348302" cy="7426903"/>
          </a:xfrm>
        </p:spPr>
        <p:txBody>
          <a:bodyPr>
            <a:normAutofit/>
          </a:bodyPr>
          <a:lstStyle/>
          <a:p>
            <a:r>
              <a:rPr lang="en-US" sz="3600" b="1">
                <a:latin typeface="Constantia" panose="02030602050306030303" pitchFamily="18" charset="0"/>
              </a:rPr>
              <a:t>Gồm 5 bước:</a:t>
            </a:r>
          </a:p>
          <a:p>
            <a:pPr marL="1164579" lvl="1" indent="-514350">
              <a:buFont typeface="+mj-lt"/>
              <a:buAutoNum type="arabicPeriod"/>
            </a:pPr>
            <a:r>
              <a:rPr lang="en-US" sz="3316">
                <a:latin typeface="Constantia" panose="02030602050306030303" pitchFamily="18" charset="0"/>
              </a:rPr>
              <a:t>Làm trơn ảnh (Smoothing)</a:t>
            </a:r>
          </a:p>
          <a:p>
            <a:pPr marL="1164579" lvl="1" indent="-514350">
              <a:buFont typeface="+mj-lt"/>
              <a:buAutoNum type="arabicPeriod"/>
            </a:pPr>
            <a:r>
              <a:rPr lang="en-US" sz="3316">
                <a:latin typeface="Constantia" panose="02030602050306030303" pitchFamily="18" charset="0"/>
              </a:rPr>
              <a:t>Tính biên độ và hướng của Gradient</a:t>
            </a:r>
          </a:p>
          <a:p>
            <a:pPr marL="1164579" lvl="1" indent="-514350">
              <a:buFont typeface="+mj-lt"/>
              <a:buAutoNum type="arabicPeriod"/>
            </a:pPr>
            <a:r>
              <a:rPr lang="en-US" sz="3316">
                <a:latin typeface="Constantia" panose="02030602050306030303" pitchFamily="18" charset="0"/>
              </a:rPr>
              <a:t>Loại bỏ các điểm cực đại giả (Non-maximum suppression)</a:t>
            </a:r>
          </a:p>
          <a:p>
            <a:pPr marL="1164579" lvl="1" indent="-514350">
              <a:buFont typeface="+mj-lt"/>
              <a:buAutoNum type="arabicPeriod"/>
            </a:pPr>
            <a:r>
              <a:rPr lang="en-US" sz="3316">
                <a:latin typeface="Constantia" panose="02030602050306030303" pitchFamily="18" charset="0"/>
              </a:rPr>
              <a:t>Phân loại điểm biên (strong, weak) dựa vào ngưỡng (Hysteresis Threshold)</a:t>
            </a:r>
          </a:p>
          <a:p>
            <a:pPr marL="1164579" lvl="1" indent="-514350">
              <a:buFont typeface="+mj-lt"/>
              <a:buAutoNum type="arabicPeriod"/>
            </a:pPr>
            <a:r>
              <a:rPr lang="en-US" sz="3316">
                <a:latin typeface="Constantia" panose="02030602050306030303" pitchFamily="18" charset="0"/>
              </a:rPr>
              <a:t>Kết nối các điểm biên (Edge tracking)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316">
              <a:latin typeface="Constantia" panose="02030602050306030303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53326" y="129583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Thuật toán Canny</a:t>
            </a:r>
          </a:p>
        </p:txBody>
      </p:sp>
    </p:spTree>
    <p:extLst>
      <p:ext uri="{BB962C8B-B14F-4D97-AF65-F5344CB8AC3E}">
        <p14:creationId xmlns:p14="http://schemas.microsoft.com/office/powerpoint/2010/main" val="1699513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53326" y="129583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Thuật toán Canny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0210" y="1776304"/>
            <a:ext cx="5880183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>
                <a:solidFill>
                  <a:srgbClr val="FFFF99"/>
                </a:solidFill>
                <a:latin typeface="Constantia" panose="02030602050306030303" pitchFamily="18" charset="0"/>
              </a:rPr>
              <a:t>Làm trơn ảnh (Smoothing)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210" y="5656880"/>
            <a:ext cx="4995222" cy="2865127"/>
          </a:xfrm>
          <a:prstGeom prst="rect">
            <a:avLst/>
          </a:prstGeom>
          <a:ln>
            <a:solidFill>
              <a:srgbClr val="00A44A"/>
            </a:solidFill>
          </a:ln>
        </p:spPr>
      </p:pic>
      <p:sp>
        <p:nvSpPr>
          <p:cNvPr id="9" name="Down Arrow 8"/>
          <p:cNvSpPr/>
          <p:nvPr/>
        </p:nvSpPr>
        <p:spPr>
          <a:xfrm>
            <a:off x="2266056" y="4276919"/>
            <a:ext cx="1084882" cy="991891"/>
          </a:xfrm>
          <a:prstGeom prst="downArrow">
            <a:avLst/>
          </a:prstGeom>
          <a:solidFill>
            <a:srgbClr val="FFFF9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756" y="2587947"/>
            <a:ext cx="8326044" cy="269763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664" y="3160429"/>
            <a:ext cx="3685290" cy="973970"/>
          </a:xfrm>
          <a:prstGeom prst="rect">
            <a:avLst/>
          </a:prstGeom>
          <a:ln>
            <a:solidFill>
              <a:srgbClr val="00A44A"/>
            </a:solidFill>
          </a:ln>
        </p:spPr>
      </p:pic>
    </p:spTree>
    <p:extLst>
      <p:ext uri="{BB962C8B-B14F-4D97-AF65-F5344CB8AC3E}">
        <p14:creationId xmlns:p14="http://schemas.microsoft.com/office/powerpoint/2010/main" val="3406431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53326" y="129583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Thuật toán Canny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6710" y="1847133"/>
            <a:ext cx="7545390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>
                <a:solidFill>
                  <a:srgbClr val="FFFF99"/>
                </a:solidFill>
                <a:latin typeface="Constantia" panose="02030602050306030303" pitchFamily="18" charset="0"/>
              </a:rPr>
              <a:t>Tính biên độ và hướng của Gradient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402122" y="2833293"/>
            <a:ext cx="3614900" cy="3717335"/>
            <a:chOff x="4537209" y="2630093"/>
            <a:chExt cx="3614900" cy="3717335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37209" y="2630093"/>
              <a:ext cx="3614900" cy="3009449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5936344" y="5639542"/>
              <a:ext cx="110308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sz="4000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8548499" y="5818083"/>
            <a:ext cx="11030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40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522491" y="7230720"/>
                <a:ext cx="3660617" cy="1219693"/>
              </a:xfrm>
              <a:prstGeom prst="rect">
                <a:avLst/>
              </a:prstGeom>
              <a:noFill/>
              <a:ln w="28575">
                <a:solidFill>
                  <a:srgbClr val="51C564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  <m:r>
                            <a:rPr lang="en-US" sz="3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3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  <m:sup>
                              <m:r>
                                <a:rPr lang="en-US" sz="36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2491" y="7230720"/>
                <a:ext cx="3660617" cy="121969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rgbClr val="51C56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7286783" y="7208022"/>
                <a:ext cx="3660617" cy="1242391"/>
              </a:xfrm>
              <a:prstGeom prst="rect">
                <a:avLst/>
              </a:prstGeom>
              <a:noFill/>
              <a:ln w="28575">
                <a:solidFill>
                  <a:srgbClr val="51C564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𝒂𝒓𝒄𝒕𝒈</m:t>
                      </m:r>
                      <m:f>
                        <m:f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6783" y="7208022"/>
                <a:ext cx="3660617" cy="124239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rgbClr val="51C56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5164" y="2833292"/>
            <a:ext cx="3642236" cy="300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2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377681" y="2877001"/>
            <a:ext cx="12376910" cy="3756067"/>
            <a:chOff x="377681" y="2877001"/>
            <a:chExt cx="12376910" cy="3756067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7681" y="2877001"/>
              <a:ext cx="4301711" cy="3756067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10402" y="2877001"/>
              <a:ext cx="4244189" cy="3715239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82604" y="3666962"/>
              <a:ext cx="2466297" cy="2176144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4555408" y="4370076"/>
              <a:ext cx="6974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/>
                <a:t>*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730939" y="4370076"/>
              <a:ext cx="69742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/>
                <a:t>=</a:t>
              </a:r>
            </a:p>
          </p:txBody>
        </p:sp>
      </p:grp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53326" y="129583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Thuật toán Canny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7681" y="1867901"/>
            <a:ext cx="7545390" cy="6575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>
                <a:solidFill>
                  <a:srgbClr val="FFFF99"/>
                </a:solidFill>
                <a:latin typeface="Constantia" panose="02030602050306030303" pitchFamily="18" charset="0"/>
              </a:rPr>
              <a:t>Tính biên độ và hướng của 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651000" y="7504353"/>
                <a:ext cx="9766300" cy="914400"/>
              </a:xfrm>
              <a:prstGeom prst="rect">
                <a:avLst/>
              </a:prstGeom>
              <a:noFill/>
              <a:ln w="9525">
                <a:solidFill>
                  <a:srgbClr val="0033CC"/>
                </a:solidFill>
              </a:ln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𝟎𝟐</m:t>
                              </m:r>
                            </m:sub>
                          </m:s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sub>
                          </m:sSub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sz="3200" b="1" i="1" smtClean="0">
                                  <a:latin typeface="Cambria Math" panose="02040503050406030204" pitchFamily="18" charset="0"/>
                                </a:rPr>
                                <m:t>𝟐𝟐</m:t>
                              </m:r>
                            </m:sub>
                          </m:sSub>
                        </m:e>
                      </m:d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−(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1000" y="7504353"/>
                <a:ext cx="9766300" cy="914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solidFill>
                  <a:srgbClr val="0033C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9032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53326" y="129583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Thuật toán Canny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10" y="1765301"/>
            <a:ext cx="6745290" cy="99337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>
                <a:solidFill>
                  <a:srgbClr val="FFFF99"/>
                </a:solidFill>
                <a:latin typeface="Constantia" panose="02030602050306030303" pitchFamily="18" charset="0"/>
              </a:rPr>
              <a:t>Loại bỏ các cực đại giả </a:t>
            </a:r>
          </a:p>
          <a:p>
            <a:pPr algn="ctr"/>
            <a:r>
              <a:rPr lang="en-US" sz="3600" b="0">
                <a:solidFill>
                  <a:srgbClr val="FFFF99"/>
                </a:solidFill>
                <a:latin typeface="Constantia" panose="02030602050306030303" pitchFamily="18" charset="0"/>
              </a:rPr>
              <a:t>(Non-maximum Supression)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6400461" y="3033367"/>
            <a:ext cx="5715339" cy="5048423"/>
            <a:chOff x="4254161" y="3087471"/>
            <a:chExt cx="5715339" cy="504842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46334" y="3087471"/>
              <a:ext cx="5623166" cy="504842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9021121" y="7502900"/>
                  <a:ext cx="296555" cy="6329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1121" y="7502900"/>
                  <a:ext cx="296555" cy="63299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7010400" y="7502900"/>
                  <a:ext cx="296555" cy="6329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0400" y="7502900"/>
                  <a:ext cx="296555" cy="63299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9021121" y="3756400"/>
                  <a:ext cx="577081" cy="6329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21121" y="3756400"/>
                  <a:ext cx="577081" cy="63299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6623419" y="3206621"/>
                  <a:ext cx="577081" cy="63299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3419" y="3206621"/>
                  <a:ext cx="577081" cy="63299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509056" y="7375900"/>
                  <a:ext cx="480901" cy="6914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9056" y="7375900"/>
                  <a:ext cx="480901" cy="691471"/>
                </a:xfrm>
                <a:prstGeom prst="rect">
                  <a:avLst/>
                </a:prstGeom>
                <a:blipFill>
                  <a:blip r:embed="rId7"/>
                  <a:stretch>
                    <a:fillRect l="-12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4254161" y="3651121"/>
                  <a:ext cx="761427" cy="69147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num>
                          <m:den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𝟒</m:t>
                            </m:r>
                          </m:den>
                        </m:f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4161" y="3651121"/>
                  <a:ext cx="761427" cy="69147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4336568" y="5674580"/>
                  <a:ext cx="296556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6568" y="5674580"/>
                  <a:ext cx="296556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24490"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132013" y="3152517"/>
                <a:ext cx="3660617" cy="1242391"/>
              </a:xfrm>
              <a:prstGeom prst="rect">
                <a:avLst/>
              </a:prstGeom>
              <a:noFill/>
              <a:ln w="28575">
                <a:solidFill>
                  <a:srgbClr val="51C564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1" i="1" smtClean="0">
                          <a:latin typeface="Cambria Math" panose="02040503050406030204" pitchFamily="18" charset="0"/>
                        </a:rPr>
                        <m:t>𝒂𝒓𝒄𝒕𝒈</m:t>
                      </m:r>
                      <m:f>
                        <m:fPr>
                          <m:ctrlPr>
                            <a:rPr lang="en-US" sz="3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3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60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013" y="3152517"/>
                <a:ext cx="3660617" cy="124239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rgbClr val="51C564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173765" y="4670036"/>
                <a:ext cx="3618865" cy="2651760"/>
              </a:xfrm>
              <a:prstGeom prst="rect">
                <a:avLst/>
              </a:prstGeom>
              <a:noFill/>
              <a:ln w="38100">
                <a:solidFill>
                  <a:srgbClr val="000066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342900" indent="-342900" algn="l">
                  <a:buFont typeface="Wingdings" panose="05000000000000000000" pitchFamily="2" charset="2"/>
                  <a:buChar char="§"/>
                </a:pPr>
                <a:r>
                  <a:rPr lang="en-US" sz="28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→0</m:t>
                    </m:r>
                  </m:oMath>
                </a14:m>
                <a:endParaRPr lang="en-US" sz="2800" b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§"/>
                </a:pPr>
                <a:r>
                  <a:rPr lang="en-US" sz="2800" b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800" b="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→</m:t>
                    </m:r>
                    <m:f>
                      <m:f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2800" b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800" b="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→</m:t>
                    </m:r>
                    <m:f>
                      <m:f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b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800" b="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→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2800" b="0"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pPr algn="l"/>
                <a:endParaRPr lang="en-US" sz="2800" b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l">
                  <a:buFont typeface="Wingdings" panose="05000000000000000000" pitchFamily="2" charset="2"/>
                  <a:buChar char="§"/>
                </a:pPr>
                <a:endParaRPr lang="en-US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765" y="4670036"/>
                <a:ext cx="3618865" cy="2651760"/>
              </a:xfrm>
              <a:prstGeom prst="rect">
                <a:avLst/>
              </a:prstGeom>
              <a:blipFill>
                <a:blip r:embed="rId11"/>
                <a:stretch>
                  <a:fillRect l="-2504"/>
                </a:stretch>
              </a:blipFill>
              <a:ln w="38100">
                <a:solidFill>
                  <a:srgbClr val="000066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16"/>
          <p:cNvSpPr/>
          <p:nvPr/>
        </p:nvSpPr>
        <p:spPr>
          <a:xfrm>
            <a:off x="5078051" y="5565686"/>
            <a:ext cx="939800" cy="596900"/>
          </a:xfrm>
          <a:prstGeom prst="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968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53326" y="129583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Thuật toán Canny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110" y="1765301"/>
            <a:ext cx="6745290" cy="99337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>
                <a:solidFill>
                  <a:srgbClr val="FFFF99"/>
                </a:solidFill>
                <a:latin typeface="Constantia" panose="02030602050306030303" pitchFamily="18" charset="0"/>
              </a:rPr>
              <a:t>Loại bỏ các cực đại giả </a:t>
            </a:r>
          </a:p>
          <a:p>
            <a:pPr algn="ctr"/>
            <a:r>
              <a:rPr lang="en-US" sz="3600" b="0">
                <a:solidFill>
                  <a:srgbClr val="FFFF99"/>
                </a:solidFill>
                <a:latin typeface="Constantia" panose="02030602050306030303" pitchFamily="18" charset="0"/>
              </a:rPr>
              <a:t>(Non-maximum Supression)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86" y="3033486"/>
            <a:ext cx="12372743" cy="619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832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812" y="0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Thuật toán Canny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9282" y="1387931"/>
            <a:ext cx="7227890" cy="99337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>
                <a:solidFill>
                  <a:srgbClr val="FFFF99"/>
                </a:solidFill>
                <a:latin typeface="Constantia" panose="02030602050306030303" pitchFamily="18" charset="0"/>
              </a:rPr>
              <a:t>Phân loại điểm biên theo ngưỡng</a:t>
            </a:r>
          </a:p>
          <a:p>
            <a:pPr algn="ctr"/>
            <a:r>
              <a:rPr lang="en-US" sz="3600" b="0">
                <a:solidFill>
                  <a:srgbClr val="FFFF99"/>
                </a:solidFill>
                <a:latin typeface="Constantia" panose="02030602050306030303" pitchFamily="18" charset="0"/>
              </a:rPr>
              <a:t>(Hysteresis Threshold)</a:t>
            </a:r>
          </a:p>
        </p:txBody>
      </p:sp>
      <p:grpSp>
        <p:nvGrpSpPr>
          <p:cNvPr id="45" name="Group 44"/>
          <p:cNvGrpSpPr/>
          <p:nvPr/>
        </p:nvGrpSpPr>
        <p:grpSpPr>
          <a:xfrm>
            <a:off x="2467428" y="2798581"/>
            <a:ext cx="9840686" cy="5314905"/>
            <a:chOff x="2467428" y="2798581"/>
            <a:chExt cx="9840686" cy="5314905"/>
          </a:xfrm>
        </p:grpSpPr>
        <p:cxnSp>
          <p:nvCxnSpPr>
            <p:cNvPr id="8" name="Straight Arrow Connector 7"/>
            <p:cNvCxnSpPr/>
            <p:nvPr/>
          </p:nvCxnSpPr>
          <p:spPr>
            <a:xfrm>
              <a:off x="2467428" y="7431315"/>
              <a:ext cx="7910286" cy="0"/>
            </a:xfrm>
            <a:prstGeom prst="straightConnector1">
              <a:avLst/>
            </a:prstGeom>
            <a:ln w="38100">
              <a:solidFill>
                <a:srgbClr val="51C56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flipV="1">
              <a:off x="2467428" y="3338286"/>
              <a:ext cx="0" cy="4775200"/>
            </a:xfrm>
            <a:prstGeom prst="straightConnector1">
              <a:avLst/>
            </a:prstGeom>
            <a:ln w="38100">
              <a:solidFill>
                <a:srgbClr val="51C56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2467428" y="6918231"/>
              <a:ext cx="7126515" cy="0"/>
            </a:xfrm>
            <a:prstGeom prst="line">
              <a:avLst/>
            </a:prstGeom>
            <a:ln w="5715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2467428" y="4927600"/>
              <a:ext cx="7126515" cy="0"/>
            </a:xfrm>
            <a:prstGeom prst="line">
              <a:avLst/>
            </a:prstGeom>
            <a:ln w="57150">
              <a:solidFill>
                <a:srgbClr val="0033C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9593943" y="6668317"/>
              <a:ext cx="27141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Low_threshold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593943" y="4677078"/>
              <a:ext cx="271417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High_threshold</a:t>
              </a:r>
            </a:p>
          </p:txBody>
        </p:sp>
        <p:sp>
          <p:nvSpPr>
            <p:cNvPr id="25" name="Freeform 24"/>
            <p:cNvSpPr/>
            <p:nvPr/>
          </p:nvSpPr>
          <p:spPr>
            <a:xfrm rot="19753255">
              <a:off x="4888008" y="5563530"/>
              <a:ext cx="1660240" cy="902916"/>
            </a:xfrm>
            <a:custGeom>
              <a:avLst/>
              <a:gdLst>
                <a:gd name="connsiteX0" fmla="*/ 0 w 2143125"/>
                <a:gd name="connsiteY0" fmla="*/ 0 h 417052"/>
                <a:gd name="connsiteX1" fmla="*/ 495300 w 2143125"/>
                <a:gd name="connsiteY1" fmla="*/ 361950 h 417052"/>
                <a:gd name="connsiteX2" fmla="*/ 2143125 w 2143125"/>
                <a:gd name="connsiteY2" fmla="*/ 409575 h 417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43125" h="417052">
                  <a:moveTo>
                    <a:pt x="0" y="0"/>
                  </a:moveTo>
                  <a:cubicBezTo>
                    <a:pt x="69056" y="146844"/>
                    <a:pt x="138113" y="293688"/>
                    <a:pt x="495300" y="361950"/>
                  </a:cubicBezTo>
                  <a:cubicBezTo>
                    <a:pt x="852487" y="430212"/>
                    <a:pt x="1497806" y="419893"/>
                    <a:pt x="2143125" y="409575"/>
                  </a:cubicBezTo>
                </a:path>
              </a:pathLst>
            </a:custGeom>
            <a:noFill/>
            <a:ln>
              <a:solidFill>
                <a:srgbClr val="0033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3651572" y="3746454"/>
              <a:ext cx="5121084" cy="2187784"/>
              <a:chOff x="3549972" y="2904625"/>
              <a:chExt cx="5121084" cy="2187784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 rotWithShape="1">
              <a:blip r:embed="rId2"/>
              <a:srcRect t="50722"/>
              <a:stretch/>
            </p:blipFill>
            <p:spPr>
              <a:xfrm>
                <a:off x="3571310" y="4025895"/>
                <a:ext cx="5078408" cy="1066514"/>
              </a:xfrm>
              <a:prstGeom prst="rect">
                <a:avLst/>
              </a:prstGeom>
            </p:spPr>
          </p:pic>
          <p:pic>
            <p:nvPicPr>
              <p:cNvPr id="9" name="Picture 8"/>
              <p:cNvPicPr>
                <a:picLocks noChangeAspect="1"/>
              </p:cNvPicPr>
              <p:nvPr/>
            </p:nvPicPr>
            <p:blipFill rotWithShape="1">
              <a:blip r:embed="rId3"/>
              <a:srcRect b="46809"/>
              <a:stretch/>
            </p:blipFill>
            <p:spPr>
              <a:xfrm>
                <a:off x="3549972" y="2904625"/>
                <a:ext cx="5121084" cy="1173890"/>
              </a:xfrm>
              <a:prstGeom prst="rect">
                <a:avLst/>
              </a:prstGeom>
            </p:spPr>
          </p:pic>
        </p:grpSp>
        <p:sp>
          <p:nvSpPr>
            <p:cNvPr id="22" name="TextBox 21"/>
            <p:cNvSpPr txBox="1"/>
            <p:nvPr/>
          </p:nvSpPr>
          <p:spPr>
            <a:xfrm>
              <a:off x="5007428" y="2798581"/>
              <a:ext cx="30915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0">
                  <a:latin typeface="Constantia" panose="02030602050306030303" pitchFamily="18" charset="0"/>
                </a:rPr>
                <a:t>Strong edges</a:t>
              </a: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>
              <a:off x="6937829" y="3525048"/>
              <a:ext cx="1262742" cy="659106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 flipH="1">
              <a:off x="4435343" y="3413273"/>
              <a:ext cx="1471971" cy="85079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7128101" y="6204123"/>
              <a:ext cx="309154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b="0">
                  <a:latin typeface="Constantia" panose="02030602050306030303" pitchFamily="18" charset="0"/>
                </a:rPr>
                <a:t>Weak edges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 flipV="1">
              <a:off x="7128102" y="5253526"/>
              <a:ext cx="1413996" cy="103196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 flipV="1">
              <a:off x="6493447" y="6075611"/>
              <a:ext cx="1075753" cy="44130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23651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812" y="0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Thuật toán Canny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9282" y="1387931"/>
            <a:ext cx="7227890" cy="993376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>
                <a:solidFill>
                  <a:srgbClr val="FFFF99"/>
                </a:solidFill>
                <a:latin typeface="Constantia" panose="02030602050306030303" pitchFamily="18" charset="0"/>
              </a:rPr>
              <a:t>Phân loại điểm biên theo ngưỡng</a:t>
            </a:r>
          </a:p>
          <a:p>
            <a:pPr algn="ctr"/>
            <a:r>
              <a:rPr lang="en-US" sz="3600" b="0">
                <a:solidFill>
                  <a:srgbClr val="FFFF99"/>
                </a:solidFill>
                <a:latin typeface="Constantia" panose="02030602050306030303" pitchFamily="18" charset="0"/>
              </a:rPr>
              <a:t>(Hysteresis Threshold)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924" y="2842722"/>
            <a:ext cx="10839817" cy="6329706"/>
          </a:xfrm>
          <a:prstGeom prst="rect">
            <a:avLst/>
          </a:prstGeom>
          <a:ln>
            <a:solidFill>
              <a:srgbClr val="51C564"/>
            </a:solidFill>
          </a:ln>
        </p:spPr>
      </p:pic>
    </p:spTree>
    <p:extLst>
      <p:ext uri="{BB962C8B-B14F-4D97-AF65-F5344CB8AC3E}">
        <p14:creationId xmlns:p14="http://schemas.microsoft.com/office/powerpoint/2010/main" val="1036161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53326" y="129583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Thuật toán Canny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9710" y="1816099"/>
            <a:ext cx="6008690" cy="81557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0">
                <a:solidFill>
                  <a:srgbClr val="FFFF99"/>
                </a:solidFill>
                <a:latin typeface="Constantia" panose="02030602050306030303" pitchFamily="18" charset="0"/>
              </a:rPr>
              <a:t>Kết nối biên (Edge tracking)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75" y="2631676"/>
            <a:ext cx="3052682" cy="2642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1714" y="2631676"/>
            <a:ext cx="5411390" cy="26351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10" y="5376883"/>
            <a:ext cx="12610700" cy="4227208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054254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29" y="2073697"/>
            <a:ext cx="11902698" cy="7332216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53326" y="129583"/>
            <a:ext cx="11888003" cy="1187774"/>
          </a:xfrm>
        </p:spPr>
        <p:txBody>
          <a:bodyPr>
            <a:normAutofit/>
          </a:bodyPr>
          <a:lstStyle/>
          <a:p>
            <a:pPr algn="ctr"/>
            <a:r>
              <a:rPr lang="en-US" sz="6600" b="1">
                <a:latin typeface="Constantia" panose="02030602050306030303" pitchFamily="18" charset="0"/>
              </a:rPr>
              <a:t>So sánh các phương pháp</a:t>
            </a:r>
          </a:p>
        </p:txBody>
      </p:sp>
    </p:spTree>
    <p:extLst>
      <p:ext uri="{BB962C8B-B14F-4D97-AF65-F5344CB8AC3E}">
        <p14:creationId xmlns:p14="http://schemas.microsoft.com/office/powerpoint/2010/main" val="69138905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57E1A5D3B7924CA35C3F67B9BE6836" ma:contentTypeVersion="14" ma:contentTypeDescription="Create a new document." ma:contentTypeScope="" ma:versionID="cad63b9dfd7b06e8a58d6f1d8cd96428">
  <xsd:schema xmlns:xsd="http://www.w3.org/2001/XMLSchema" xmlns:xs="http://www.w3.org/2001/XMLSchema" xmlns:p="http://schemas.microsoft.com/office/2006/metadata/properties" xmlns:ns2="71dd2c63-3f01-4569-91c2-295b22e7c09d" xmlns:ns3="58282856-7444-4258-9459-a816c44d1ff7" targetNamespace="http://schemas.microsoft.com/office/2006/metadata/properties" ma:root="true" ma:fieldsID="a9aec6a5807f7e4e0228c53d7da7df2f" ns2:_="" ns3:_="">
    <xsd:import namespace="71dd2c63-3f01-4569-91c2-295b22e7c09d"/>
    <xsd:import namespace="58282856-7444-4258-9459-a816c44d1ff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d2c63-3f01-4569-91c2-295b22e7c09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58d9f12-b085-4db2-abbf-1ae4638ef84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282856-7444-4258-9459-a816c44d1ff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d98c2c24-f2e5-4a58-acd9-dc01051e8075}" ma:internalName="TaxCatchAll" ma:showField="CatchAllData" ma:web="58282856-7444-4258-9459-a816c44d1f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1A18A9-D001-4725-AEA1-B79C0212C60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48A05E-06E6-4800-846F-35512E904E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dd2c63-3f01-4569-91c2-295b22e7c09d"/>
    <ds:schemaRef ds:uri="58282856-7444-4258-9459-a816c44d1f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6054</TotalTime>
  <Words>588</Words>
  <Application>Microsoft Office PowerPoint</Application>
  <PresentationFormat>Custom</PresentationFormat>
  <Paragraphs>119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Cambria Math</vt:lpstr>
      <vt:lpstr>Century Gothic</vt:lpstr>
      <vt:lpstr>Constantia</vt:lpstr>
      <vt:lpstr>Helvetica Neue</vt:lpstr>
      <vt:lpstr>Helvetica Neue Thin</vt:lpstr>
      <vt:lpstr>Times New Roman</vt:lpstr>
      <vt:lpstr>Wingdings</vt:lpstr>
      <vt:lpstr>Wingdings 3</vt:lpstr>
      <vt:lpstr>Wisp</vt:lpstr>
      <vt:lpstr>PowerPoint Presentation</vt:lpstr>
      <vt:lpstr>Nội dung môn học</vt:lpstr>
      <vt:lpstr>Nội dung môn học</vt:lpstr>
      <vt:lpstr>Phát hiện biên ảnh</vt:lpstr>
      <vt:lpstr>Phát hiện biên ảnh</vt:lpstr>
      <vt:lpstr>Đạo hàm bậc nhất </vt:lpstr>
      <vt:lpstr>Đạo hàm bậc nhất</vt:lpstr>
      <vt:lpstr>Đạo hàm bậc nhất</vt:lpstr>
      <vt:lpstr>Đạo hàm bậc nhất</vt:lpstr>
      <vt:lpstr>Đạo hàm bậc nhất</vt:lpstr>
      <vt:lpstr>Đạo hàm bậc nhất</vt:lpstr>
      <vt:lpstr>Đạo hàm bậc nhất</vt:lpstr>
      <vt:lpstr>Đạo hàm bậc hai</vt:lpstr>
      <vt:lpstr>Đạo hàm bậc hai</vt:lpstr>
      <vt:lpstr>Laplace of Gaussian</vt:lpstr>
      <vt:lpstr>Thuật toán Canny</vt:lpstr>
      <vt:lpstr>Thuật toán Canny</vt:lpstr>
      <vt:lpstr>Thuật toán Canny</vt:lpstr>
      <vt:lpstr>Thuật toán Canny</vt:lpstr>
      <vt:lpstr>Thuật toán Canny</vt:lpstr>
      <vt:lpstr>Thuật toán Canny</vt:lpstr>
      <vt:lpstr>Thuật toán Canny</vt:lpstr>
      <vt:lpstr>Thuật toán Canny</vt:lpstr>
      <vt:lpstr>Thuật toán Canny</vt:lpstr>
      <vt:lpstr>So sánh các phương pháp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Chu Dung</cp:lastModifiedBy>
  <cp:revision>304</cp:revision>
  <cp:lastPrinted>2022-08-13T11:14:32Z</cp:lastPrinted>
  <dcterms:modified xsi:type="dcterms:W3CDTF">2025-01-20T04:25:04Z</dcterms:modified>
</cp:coreProperties>
</file>