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media/image9.jp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996" r:id="rId3"/>
  </p:sldMasterIdLst>
  <p:notesMasterIdLst>
    <p:notesMasterId r:id="rId58"/>
  </p:notesMasterIdLst>
  <p:sldIdLst>
    <p:sldId id="256" r:id="rId4"/>
    <p:sldId id="324" r:id="rId5"/>
    <p:sldId id="361" r:id="rId6"/>
    <p:sldId id="400" r:id="rId7"/>
    <p:sldId id="401" r:id="rId8"/>
    <p:sldId id="362" r:id="rId9"/>
    <p:sldId id="436" r:id="rId10"/>
    <p:sldId id="437" r:id="rId11"/>
    <p:sldId id="391" r:id="rId12"/>
    <p:sldId id="418" r:id="rId13"/>
    <p:sldId id="419" r:id="rId14"/>
    <p:sldId id="420" r:id="rId15"/>
    <p:sldId id="363" r:id="rId16"/>
    <p:sldId id="364" r:id="rId17"/>
    <p:sldId id="438" r:id="rId18"/>
    <p:sldId id="383" r:id="rId19"/>
    <p:sldId id="384" r:id="rId20"/>
    <p:sldId id="387" r:id="rId21"/>
    <p:sldId id="388" r:id="rId22"/>
    <p:sldId id="389" r:id="rId23"/>
    <p:sldId id="390" r:id="rId24"/>
    <p:sldId id="396" r:id="rId25"/>
    <p:sldId id="397" r:id="rId26"/>
    <p:sldId id="398" r:id="rId27"/>
    <p:sldId id="392" r:id="rId28"/>
    <p:sldId id="394" r:id="rId29"/>
    <p:sldId id="421" r:id="rId30"/>
    <p:sldId id="422" r:id="rId31"/>
    <p:sldId id="423" r:id="rId32"/>
    <p:sldId id="424" r:id="rId33"/>
    <p:sldId id="395" r:id="rId34"/>
    <p:sldId id="425" r:id="rId35"/>
    <p:sldId id="426" r:id="rId36"/>
    <p:sldId id="410" r:id="rId37"/>
    <p:sldId id="411" r:id="rId38"/>
    <p:sldId id="427" r:id="rId39"/>
    <p:sldId id="413" r:id="rId40"/>
    <p:sldId id="416" r:id="rId41"/>
    <p:sldId id="428" r:id="rId42"/>
    <p:sldId id="415" r:id="rId43"/>
    <p:sldId id="429" r:id="rId44"/>
    <p:sldId id="430" r:id="rId45"/>
    <p:sldId id="431" r:id="rId46"/>
    <p:sldId id="432" r:id="rId47"/>
    <p:sldId id="433" r:id="rId48"/>
    <p:sldId id="434" r:id="rId49"/>
    <p:sldId id="435" r:id="rId50"/>
    <p:sldId id="372" r:id="rId51"/>
    <p:sldId id="402" r:id="rId52"/>
    <p:sldId id="403" r:id="rId53"/>
    <p:sldId id="404" r:id="rId54"/>
    <p:sldId id="373" r:id="rId55"/>
    <p:sldId id="405" r:id="rId56"/>
    <p:sldId id="407" r:id="rId57"/>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521415D9-36F7-43E2-AB2F-B90AF26B5E84}">
      <p14:sectionLst xmlns:p14="http://schemas.microsoft.com/office/powerpoint/2010/main">
        <p14:section name="Default Section" id="{D5A9294E-A4F9-4F4F-9893-5B6F532F758E}">
          <p14:sldIdLst>
            <p14:sldId id="256"/>
            <p14:sldId id="324"/>
            <p14:sldId id="361"/>
            <p14:sldId id="400"/>
            <p14:sldId id="401"/>
            <p14:sldId id="362"/>
            <p14:sldId id="436"/>
            <p14:sldId id="437"/>
            <p14:sldId id="391"/>
            <p14:sldId id="418"/>
            <p14:sldId id="419"/>
            <p14:sldId id="420"/>
            <p14:sldId id="363"/>
            <p14:sldId id="364"/>
            <p14:sldId id="438"/>
            <p14:sldId id="383"/>
            <p14:sldId id="384"/>
            <p14:sldId id="387"/>
            <p14:sldId id="388"/>
            <p14:sldId id="389"/>
            <p14:sldId id="390"/>
            <p14:sldId id="396"/>
            <p14:sldId id="397"/>
            <p14:sldId id="398"/>
            <p14:sldId id="392"/>
            <p14:sldId id="394"/>
            <p14:sldId id="421"/>
            <p14:sldId id="422"/>
            <p14:sldId id="423"/>
            <p14:sldId id="424"/>
            <p14:sldId id="395"/>
            <p14:sldId id="425"/>
            <p14:sldId id="426"/>
            <p14:sldId id="410"/>
            <p14:sldId id="411"/>
            <p14:sldId id="427"/>
            <p14:sldId id="413"/>
            <p14:sldId id="416"/>
            <p14:sldId id="428"/>
            <p14:sldId id="415"/>
            <p14:sldId id="429"/>
            <p14:sldId id="430"/>
            <p14:sldId id="431"/>
            <p14:sldId id="432"/>
            <p14:sldId id="433"/>
            <p14:sldId id="434"/>
            <p14:sldId id="435"/>
            <p14:sldId id="372"/>
            <p14:sldId id="402"/>
            <p14:sldId id="403"/>
            <p14:sldId id="404"/>
            <p14:sldId id="373"/>
            <p14:sldId id="405"/>
            <p14:sldId id="407"/>
          </p14:sldIdLst>
        </p14:section>
        <p14:section name="Untitled Section" id="{A4DFE58B-9ACB-4C5E-811B-6FA1C38CF87E}">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000066"/>
    <a:srgbClr val="51C564"/>
    <a:srgbClr val="FFFF99"/>
    <a:srgbClr val="00A44A"/>
    <a:srgbClr val="30DDE6"/>
    <a:srgbClr val="F4F8BE"/>
    <a:srgbClr val="FFFFCC"/>
    <a:srgbClr val="CCFF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5" autoAdjust="0"/>
    <p:restoredTop sz="94280" autoAdjust="0"/>
  </p:normalViewPr>
  <p:slideViewPr>
    <p:cSldViewPr snapToGrid="0">
      <p:cViewPr varScale="1">
        <p:scale>
          <a:sx n="51" d="100"/>
          <a:sy n="51" d="100"/>
        </p:scale>
        <p:origin x="116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notesMaster" Target="notesMasters/notesMaster1.xml"/><Relationship Id="rId5" Type="http://schemas.openxmlformats.org/officeDocument/2006/relationships/slide" Target="slides/slide2.xml"/><Relationship Id="rId61" Type="http://schemas.openxmlformats.org/officeDocument/2006/relationships/theme" Target="theme/theme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1143000" y="685800"/>
            <a:ext cx="4572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62548" y="3576322"/>
            <a:ext cx="9387308" cy="3218177"/>
          </a:xfrm>
        </p:spPr>
        <p:txBody>
          <a:bodyPr anchor="b">
            <a:normAutofit/>
          </a:bodyPr>
          <a:lstStyle>
            <a:lvl1pPr>
              <a:defRPr sz="7680"/>
            </a:lvl1pPr>
          </a:lstStyle>
          <a:p>
            <a:r>
              <a:rPr lang="en-US"/>
              <a:t>Click to edit Master title style</a:t>
            </a:r>
            <a:endParaRPr lang="en-US" dirty="0"/>
          </a:p>
        </p:txBody>
      </p:sp>
      <p:sp>
        <p:nvSpPr>
          <p:cNvPr id="3" name="Subtitle 2"/>
          <p:cNvSpPr>
            <a:spLocks noGrp="1"/>
          </p:cNvSpPr>
          <p:nvPr>
            <p:ph type="subTitle" idx="1"/>
          </p:nvPr>
        </p:nvSpPr>
        <p:spPr>
          <a:xfrm>
            <a:off x="2762548" y="6794497"/>
            <a:ext cx="9387308" cy="1601825"/>
          </a:xfrm>
        </p:spPr>
        <p:txBody>
          <a:bodyPr anchor="t"/>
          <a:lstStyle>
            <a:lvl1pPr marL="0" indent="0" algn="l">
              <a:buNone/>
              <a:defRPr>
                <a:solidFill>
                  <a:schemeClr val="tx1">
                    <a:lumMod val="65000"/>
                    <a:lumOff val="35000"/>
                  </a:schemeClr>
                </a:solidFill>
              </a:defRPr>
            </a:lvl1pPr>
            <a:lvl2pPr marL="650230" indent="0" algn="ctr">
              <a:buNone/>
              <a:defRPr>
                <a:solidFill>
                  <a:schemeClr val="tx1">
                    <a:tint val="75000"/>
                  </a:schemeClr>
                </a:solidFill>
              </a:defRPr>
            </a:lvl2pPr>
            <a:lvl3pPr marL="1300460" indent="0" algn="ctr">
              <a:buNone/>
              <a:defRPr>
                <a:solidFill>
                  <a:schemeClr val="tx1">
                    <a:tint val="75000"/>
                  </a:schemeClr>
                </a:solidFill>
              </a:defRPr>
            </a:lvl3pPr>
            <a:lvl4pPr marL="1950690" indent="0" algn="ctr">
              <a:buNone/>
              <a:defRPr>
                <a:solidFill>
                  <a:schemeClr val="tx1">
                    <a:tint val="75000"/>
                  </a:schemeClr>
                </a:solidFill>
              </a:defRPr>
            </a:lvl4pPr>
            <a:lvl5pPr marL="2600919" indent="0" algn="ctr">
              <a:buNone/>
              <a:defRPr>
                <a:solidFill>
                  <a:schemeClr val="tx1">
                    <a:tint val="75000"/>
                  </a:schemeClr>
                </a:solidFill>
              </a:defRPr>
            </a:lvl5pPr>
            <a:lvl6pPr marL="3251149" indent="0" algn="ctr">
              <a:buNone/>
              <a:defRPr>
                <a:solidFill>
                  <a:schemeClr val="tx1">
                    <a:tint val="75000"/>
                  </a:schemeClr>
                </a:solidFill>
              </a:defRPr>
            </a:lvl6pPr>
            <a:lvl7pPr marL="3901379" indent="0" algn="ctr">
              <a:buNone/>
              <a:defRPr>
                <a:solidFill>
                  <a:schemeClr val="tx1">
                    <a:tint val="75000"/>
                  </a:schemeClr>
                </a:solidFill>
              </a:defRPr>
            </a:lvl7pPr>
            <a:lvl8pPr marL="4551609" indent="0" algn="ctr">
              <a:buNone/>
              <a:defRPr>
                <a:solidFill>
                  <a:schemeClr val="tx1">
                    <a:tint val="75000"/>
                  </a:schemeClr>
                </a:solidFill>
              </a:defRPr>
            </a:lvl8pPr>
            <a:lvl9pPr marL="520183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2/18/2025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45111" y="6145648"/>
            <a:ext cx="1984673" cy="1111866"/>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602075" y="6442015"/>
            <a:ext cx="831969" cy="519289"/>
          </a:xfrm>
        </p:spPr>
        <p:txBody>
          <a:bodyPr/>
          <a:lstStyle/>
          <a:p>
            <a:fld id="{86CB4B4D-7CA3-9044-876B-883B54F8677D}" type="slidenum">
              <a:rPr lang="en-US" smtClean="0"/>
              <a:pPr/>
              <a:t>‹#›</a:t>
            </a:fld>
            <a:endParaRPr lang="en-US"/>
          </a:p>
        </p:txBody>
      </p:sp>
    </p:spTree>
    <p:extLst>
      <p:ext uri="{BB962C8B-B14F-4D97-AF65-F5344CB8AC3E}">
        <p14:creationId xmlns:p14="http://schemas.microsoft.com/office/powerpoint/2010/main" val="11585405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766509" y="887623"/>
            <a:ext cx="9371305" cy="1821710"/>
          </a:xfrm>
        </p:spPr>
        <p:txBody>
          <a:bodyPr/>
          <a:lstStyle/>
          <a:p>
            <a:r>
              <a:rPr lang="en-US"/>
              <a:t>Click to edit Master title style</a:t>
            </a:r>
            <a:endParaRPr lang="en-US" dirty="0"/>
          </a:p>
        </p:txBody>
      </p:sp>
      <p:sp>
        <p:nvSpPr>
          <p:cNvPr id="3" name="Content Placeholder 2"/>
          <p:cNvSpPr>
            <a:spLocks noGrp="1"/>
          </p:cNvSpPr>
          <p:nvPr>
            <p:ph idx="1"/>
          </p:nvPr>
        </p:nvSpPr>
        <p:spPr>
          <a:xfrm>
            <a:off x="2762546" y="3034453"/>
            <a:ext cx="9375268" cy="537261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2/18/2025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83" y="1011477"/>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6CB4B4D-7CA3-9044-876B-883B54F8677D}" type="slidenum">
              <a:rPr lang="en-US" smtClean="0"/>
              <a:pPr/>
              <a:t>‹#›</a:t>
            </a:fld>
            <a:endParaRPr lang="en-US"/>
          </a:p>
        </p:txBody>
      </p:sp>
    </p:spTree>
    <p:extLst>
      <p:ext uri="{BB962C8B-B14F-4D97-AF65-F5344CB8AC3E}">
        <p14:creationId xmlns:p14="http://schemas.microsoft.com/office/powerpoint/2010/main" val="488261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762546" y="2950488"/>
            <a:ext cx="9375268" cy="2088960"/>
          </a:xfrm>
        </p:spPr>
        <p:txBody>
          <a:bodyPr anchor="b"/>
          <a:lstStyle>
            <a:lvl1pPr algn="l">
              <a:defRPr sz="5689" b="0" cap="none"/>
            </a:lvl1pPr>
          </a:lstStyle>
          <a:p>
            <a:r>
              <a:rPr lang="en-US"/>
              <a:t>Click to edit Master title style</a:t>
            </a:r>
            <a:endParaRPr lang="en-US" dirty="0"/>
          </a:p>
        </p:txBody>
      </p:sp>
      <p:sp>
        <p:nvSpPr>
          <p:cNvPr id="3" name="Text Placeholder 2"/>
          <p:cNvSpPr>
            <a:spLocks noGrp="1"/>
          </p:cNvSpPr>
          <p:nvPr>
            <p:ph type="body" idx="1"/>
          </p:nvPr>
        </p:nvSpPr>
        <p:spPr>
          <a:xfrm>
            <a:off x="2762546" y="5093547"/>
            <a:ext cx="9375268" cy="1223680"/>
          </a:xfrm>
        </p:spPr>
        <p:txBody>
          <a:bodyPr anchor="t"/>
          <a:lstStyle>
            <a:lvl1pPr marL="0" indent="0" algn="l">
              <a:buNone/>
              <a:defRPr sz="2844">
                <a:solidFill>
                  <a:schemeClr val="tx1">
                    <a:lumMod val="65000"/>
                    <a:lumOff val="35000"/>
                  </a:schemeClr>
                </a:solidFill>
              </a:defRPr>
            </a:lvl1pPr>
            <a:lvl2pPr marL="650230" indent="0">
              <a:buNone/>
              <a:defRPr sz="2560">
                <a:solidFill>
                  <a:schemeClr val="tx1">
                    <a:tint val="75000"/>
                  </a:schemeClr>
                </a:solidFill>
              </a:defRPr>
            </a:lvl2pPr>
            <a:lvl3pPr marL="1300460" indent="0">
              <a:buNone/>
              <a:defRPr sz="2276">
                <a:solidFill>
                  <a:schemeClr val="tx1">
                    <a:tint val="75000"/>
                  </a:schemeClr>
                </a:solidFill>
              </a:defRPr>
            </a:lvl3pPr>
            <a:lvl4pPr marL="1950690" indent="0">
              <a:buNone/>
              <a:defRPr sz="1991">
                <a:solidFill>
                  <a:schemeClr val="tx1">
                    <a:tint val="75000"/>
                  </a:schemeClr>
                </a:solidFill>
              </a:defRPr>
            </a:lvl4pPr>
            <a:lvl5pPr marL="2600919" indent="0">
              <a:buNone/>
              <a:defRPr sz="1991">
                <a:solidFill>
                  <a:schemeClr val="tx1">
                    <a:tint val="75000"/>
                  </a:schemeClr>
                </a:solidFill>
              </a:defRPr>
            </a:lvl5pPr>
            <a:lvl6pPr marL="3251149" indent="0">
              <a:buNone/>
              <a:defRPr sz="1991">
                <a:solidFill>
                  <a:schemeClr val="tx1">
                    <a:tint val="75000"/>
                  </a:schemeClr>
                </a:solidFill>
              </a:defRPr>
            </a:lvl6pPr>
            <a:lvl7pPr marL="3901379" indent="0">
              <a:buNone/>
              <a:defRPr sz="1991">
                <a:solidFill>
                  <a:schemeClr val="tx1">
                    <a:tint val="75000"/>
                  </a:schemeClr>
                </a:solidFill>
              </a:defRPr>
            </a:lvl7pPr>
            <a:lvl8pPr marL="4551609" indent="0">
              <a:buNone/>
              <a:defRPr sz="1991">
                <a:solidFill>
                  <a:schemeClr val="tx1">
                    <a:tint val="75000"/>
                  </a:schemeClr>
                </a:solidFill>
              </a:defRPr>
            </a:lvl8pPr>
            <a:lvl9pPr marL="5201839" indent="0">
              <a:buNone/>
              <a:defRPr sz="1991">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2/18/2025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83" y="4503506"/>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727080" y="4613889"/>
            <a:ext cx="831969" cy="519289"/>
          </a:xfrm>
        </p:spPr>
        <p:txBody>
          <a:bodyPr/>
          <a:lstStyle/>
          <a:p>
            <a:fld id="{86CB4B4D-7CA3-9044-876B-883B54F8677D}" type="slidenum">
              <a:rPr lang="en-US" smtClean="0"/>
              <a:pPr/>
              <a:t>‹#›</a:t>
            </a:fld>
            <a:endParaRPr lang="en-US"/>
          </a:p>
        </p:txBody>
      </p:sp>
    </p:spTree>
    <p:extLst>
      <p:ext uri="{BB962C8B-B14F-4D97-AF65-F5344CB8AC3E}">
        <p14:creationId xmlns:p14="http://schemas.microsoft.com/office/powerpoint/2010/main" val="3859311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762548" y="3038871"/>
            <a:ext cx="4547600" cy="5358076"/>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590837" y="3038871"/>
            <a:ext cx="4546977" cy="5358076"/>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2/18/2025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83" y="1011477"/>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727080" y="1120403"/>
            <a:ext cx="831969" cy="519289"/>
          </a:xfrm>
        </p:spPr>
        <p:txBody>
          <a:bodyPr/>
          <a:lstStyle/>
          <a:p>
            <a:fld id="{86CB4B4D-7CA3-9044-876B-883B54F8677D}" type="slidenum">
              <a:rPr lang="en-US" smtClean="0"/>
              <a:pPr/>
              <a:t>‹#›</a:t>
            </a:fld>
            <a:endParaRPr lang="en-US"/>
          </a:p>
        </p:txBody>
      </p:sp>
    </p:spTree>
    <p:extLst>
      <p:ext uri="{BB962C8B-B14F-4D97-AF65-F5344CB8AC3E}">
        <p14:creationId xmlns:p14="http://schemas.microsoft.com/office/powerpoint/2010/main" val="3666858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221834" y="3166757"/>
            <a:ext cx="4088314" cy="819573"/>
          </a:xfrm>
        </p:spPr>
        <p:txBody>
          <a:bodyPr anchor="b">
            <a:noAutofit/>
          </a:bodyPr>
          <a:lstStyle>
            <a:lvl1pPr marL="0" indent="0">
              <a:buNone/>
              <a:defRPr sz="3413" b="0"/>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a:t>Edit Master text styles</a:t>
            </a:r>
          </a:p>
        </p:txBody>
      </p:sp>
      <p:sp>
        <p:nvSpPr>
          <p:cNvPr id="4" name="Content Placeholder 3"/>
          <p:cNvSpPr>
            <a:spLocks noGrp="1"/>
          </p:cNvSpPr>
          <p:nvPr>
            <p:ph sz="half" idx="2"/>
          </p:nvPr>
        </p:nvSpPr>
        <p:spPr>
          <a:xfrm>
            <a:off x="2762546" y="3986330"/>
            <a:ext cx="4547601" cy="44170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044309" y="3162166"/>
            <a:ext cx="4086384" cy="819573"/>
          </a:xfrm>
        </p:spPr>
        <p:txBody>
          <a:bodyPr anchor="b">
            <a:noAutofit/>
          </a:bodyPr>
          <a:lstStyle>
            <a:lvl1pPr marL="0" indent="0">
              <a:buNone/>
              <a:defRPr sz="3413" b="0"/>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a:t>Edit Master text styles</a:t>
            </a:r>
          </a:p>
        </p:txBody>
      </p:sp>
      <p:sp>
        <p:nvSpPr>
          <p:cNvPr id="6" name="Content Placeholder 5"/>
          <p:cNvSpPr>
            <a:spLocks noGrp="1"/>
          </p:cNvSpPr>
          <p:nvPr>
            <p:ph sz="quarter" idx="4"/>
          </p:nvPr>
        </p:nvSpPr>
        <p:spPr>
          <a:xfrm>
            <a:off x="7585728" y="3981739"/>
            <a:ext cx="4544967" cy="44170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2/18/2025</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83" y="1011477"/>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727080" y="1120403"/>
            <a:ext cx="831969" cy="519289"/>
          </a:xfrm>
        </p:spPr>
        <p:txBody>
          <a:bodyPr/>
          <a:lstStyle/>
          <a:p>
            <a:fld id="{86CB4B4D-7CA3-9044-876B-883B54F8677D}" type="slidenum">
              <a:rPr lang="en-US" smtClean="0"/>
              <a:pPr/>
              <a:t>‹#›</a:t>
            </a:fld>
            <a:endParaRPr lang="en-US"/>
          </a:p>
        </p:txBody>
      </p:sp>
    </p:spTree>
    <p:extLst>
      <p:ext uri="{BB962C8B-B14F-4D97-AF65-F5344CB8AC3E}">
        <p14:creationId xmlns:p14="http://schemas.microsoft.com/office/powerpoint/2010/main" val="4011246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766506" y="887623"/>
            <a:ext cx="9371307" cy="182171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2/18/2025</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83" y="1011477"/>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6CB4B4D-7CA3-9044-876B-883B54F8677D}" type="slidenum">
              <a:rPr lang="en-US" smtClean="0"/>
              <a:pPr/>
              <a:t>‹#›</a:t>
            </a:fld>
            <a:endParaRPr lang="en-US"/>
          </a:p>
        </p:txBody>
      </p:sp>
    </p:spTree>
    <p:extLst>
      <p:ext uri="{BB962C8B-B14F-4D97-AF65-F5344CB8AC3E}">
        <p14:creationId xmlns:p14="http://schemas.microsoft.com/office/powerpoint/2010/main" val="3674323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2/18/2025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83" y="1011477"/>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347509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762546" y="634436"/>
            <a:ext cx="3739853" cy="1388533"/>
          </a:xfrm>
        </p:spPr>
        <p:txBody>
          <a:bodyPr anchor="b"/>
          <a:lstStyle>
            <a:lvl1pPr algn="l">
              <a:defRPr sz="2844" b="0"/>
            </a:lvl1pPr>
          </a:lstStyle>
          <a:p>
            <a:r>
              <a:rPr lang="en-US"/>
              <a:t>Click to edit Master title style</a:t>
            </a:r>
            <a:endParaRPr lang="en-US" dirty="0"/>
          </a:p>
        </p:txBody>
      </p:sp>
      <p:sp>
        <p:nvSpPr>
          <p:cNvPr id="3" name="Content Placeholder 2"/>
          <p:cNvSpPr>
            <a:spLocks noGrp="1"/>
          </p:cNvSpPr>
          <p:nvPr>
            <p:ph idx="1"/>
          </p:nvPr>
        </p:nvSpPr>
        <p:spPr>
          <a:xfrm>
            <a:off x="6746302" y="634438"/>
            <a:ext cx="5391511" cy="7701281"/>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762546" y="2273583"/>
            <a:ext cx="3739853" cy="6062131"/>
          </a:xfrm>
        </p:spPr>
        <p:txBody>
          <a:bodyPr/>
          <a:lstStyle>
            <a:lvl1pPr marL="0" indent="0">
              <a:buNone/>
              <a:defRPr sz="1991"/>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2/18/2025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83" y="1011477"/>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6CB4B4D-7CA3-9044-876B-883B54F8677D}" type="slidenum">
              <a:rPr lang="en-US" smtClean="0"/>
              <a:pPr/>
              <a:t>‹#›</a:t>
            </a:fld>
            <a:endParaRPr lang="en-US"/>
          </a:p>
        </p:txBody>
      </p:sp>
    </p:spTree>
    <p:extLst>
      <p:ext uri="{BB962C8B-B14F-4D97-AF65-F5344CB8AC3E}">
        <p14:creationId xmlns:p14="http://schemas.microsoft.com/office/powerpoint/2010/main" val="4200672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762546" y="6827520"/>
            <a:ext cx="9375268" cy="806027"/>
          </a:xfrm>
        </p:spPr>
        <p:txBody>
          <a:bodyPr anchor="b">
            <a:normAutofit/>
          </a:bodyPr>
          <a:lstStyle>
            <a:lvl1pPr algn="l">
              <a:defRPr sz="3413"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762546" y="903061"/>
            <a:ext cx="9375268" cy="5482624"/>
          </a:xfrm>
        </p:spPr>
        <p:txBody>
          <a:bodyPr anchor="t">
            <a:normAutofit/>
          </a:bodyPr>
          <a:lstStyle>
            <a:lvl1pPr marL="0" indent="0" algn="ctr">
              <a:buNone/>
              <a:defRPr sz="2276"/>
            </a:lvl1pPr>
            <a:lvl2pPr marL="650230" indent="0">
              <a:buNone/>
              <a:defRPr sz="2276"/>
            </a:lvl2pPr>
            <a:lvl3pPr marL="1300460" indent="0">
              <a:buNone/>
              <a:defRPr sz="2276"/>
            </a:lvl3pPr>
            <a:lvl4pPr marL="1950690" indent="0">
              <a:buNone/>
              <a:defRPr sz="2276"/>
            </a:lvl4pPr>
            <a:lvl5pPr marL="2600919" indent="0">
              <a:buNone/>
              <a:defRPr sz="2276"/>
            </a:lvl5pPr>
            <a:lvl6pPr marL="3251149" indent="0">
              <a:buNone/>
              <a:defRPr sz="2276"/>
            </a:lvl6pPr>
            <a:lvl7pPr marL="3901379" indent="0">
              <a:buNone/>
              <a:defRPr sz="2276"/>
            </a:lvl7pPr>
            <a:lvl8pPr marL="4551609" indent="0">
              <a:buNone/>
              <a:defRPr sz="2276"/>
            </a:lvl8pPr>
            <a:lvl9pPr marL="5201839" indent="0">
              <a:buNone/>
              <a:defRPr sz="2276"/>
            </a:lvl9pPr>
          </a:lstStyle>
          <a:p>
            <a:r>
              <a:rPr lang="en-US"/>
              <a:t>Click icon to add picture</a:t>
            </a:r>
            <a:endParaRPr lang="en-US" dirty="0"/>
          </a:p>
        </p:txBody>
      </p:sp>
      <p:sp>
        <p:nvSpPr>
          <p:cNvPr id="4" name="Text Placeholder 3"/>
          <p:cNvSpPr>
            <a:spLocks noGrp="1"/>
          </p:cNvSpPr>
          <p:nvPr>
            <p:ph type="body" sz="half" idx="2"/>
          </p:nvPr>
        </p:nvSpPr>
        <p:spPr>
          <a:xfrm>
            <a:off x="2762546" y="7633547"/>
            <a:ext cx="9375268" cy="702168"/>
          </a:xfrm>
        </p:spPr>
        <p:txBody>
          <a:bodyPr>
            <a:normAutofit/>
          </a:bodyPr>
          <a:lstStyle>
            <a:lvl1pPr marL="0" indent="0">
              <a:buNone/>
              <a:defRPr sz="1707"/>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2/18/2025</a:t>
            </a:fld>
            <a:endParaRPr lang="en-US"/>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83" y="6984050"/>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727080" y="7087059"/>
            <a:ext cx="831969" cy="519289"/>
          </a:xfr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457565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762546" y="866986"/>
            <a:ext cx="9375268" cy="4433124"/>
          </a:xfrm>
        </p:spPr>
        <p:txBody>
          <a:bodyPr anchor="ctr">
            <a:normAutofit/>
          </a:bodyPr>
          <a:lstStyle>
            <a:lvl1pPr algn="l">
              <a:defRPr sz="6827" b="0" cap="none"/>
            </a:lvl1pPr>
          </a:lstStyle>
          <a:p>
            <a:r>
              <a:rPr lang="en-US"/>
              <a:t>Click to edit Master title style</a:t>
            </a:r>
            <a:endParaRPr lang="en-US" dirty="0"/>
          </a:p>
        </p:txBody>
      </p:sp>
      <p:sp>
        <p:nvSpPr>
          <p:cNvPr id="3" name="Text Placeholder 2"/>
          <p:cNvSpPr>
            <a:spLocks noGrp="1"/>
          </p:cNvSpPr>
          <p:nvPr>
            <p:ph type="body" idx="1"/>
          </p:nvPr>
        </p:nvSpPr>
        <p:spPr>
          <a:xfrm>
            <a:off x="2762546" y="6192421"/>
            <a:ext cx="9375268" cy="2212784"/>
          </a:xfrm>
        </p:spPr>
        <p:txBody>
          <a:bodyPr anchor="ctr">
            <a:normAutofit/>
          </a:bodyPr>
          <a:lstStyle>
            <a:lvl1pPr marL="0" indent="0" algn="l">
              <a:buNone/>
              <a:defRPr sz="2560">
                <a:solidFill>
                  <a:schemeClr val="tx1">
                    <a:lumMod val="65000"/>
                    <a:lumOff val="35000"/>
                  </a:schemeClr>
                </a:solidFill>
              </a:defRPr>
            </a:lvl1pPr>
            <a:lvl2pPr marL="650230" indent="0">
              <a:buNone/>
              <a:defRPr sz="2560">
                <a:solidFill>
                  <a:schemeClr val="tx1">
                    <a:tint val="75000"/>
                  </a:schemeClr>
                </a:solidFill>
              </a:defRPr>
            </a:lvl2pPr>
            <a:lvl3pPr marL="1300460" indent="0">
              <a:buNone/>
              <a:defRPr sz="2276">
                <a:solidFill>
                  <a:schemeClr val="tx1">
                    <a:tint val="75000"/>
                  </a:schemeClr>
                </a:solidFill>
              </a:defRPr>
            </a:lvl3pPr>
            <a:lvl4pPr marL="1950690" indent="0">
              <a:buNone/>
              <a:defRPr sz="1991">
                <a:solidFill>
                  <a:schemeClr val="tx1">
                    <a:tint val="75000"/>
                  </a:schemeClr>
                </a:solidFill>
              </a:defRPr>
            </a:lvl4pPr>
            <a:lvl5pPr marL="2600919" indent="0">
              <a:buNone/>
              <a:defRPr sz="1991">
                <a:solidFill>
                  <a:schemeClr val="tx1">
                    <a:tint val="75000"/>
                  </a:schemeClr>
                </a:solidFill>
              </a:defRPr>
            </a:lvl5pPr>
            <a:lvl6pPr marL="3251149" indent="0">
              <a:buNone/>
              <a:defRPr sz="1991">
                <a:solidFill>
                  <a:schemeClr val="tx1">
                    <a:tint val="75000"/>
                  </a:schemeClr>
                </a:solidFill>
              </a:defRPr>
            </a:lvl6pPr>
            <a:lvl7pPr marL="3901379" indent="0">
              <a:buNone/>
              <a:defRPr sz="1991">
                <a:solidFill>
                  <a:schemeClr val="tx1">
                    <a:tint val="75000"/>
                  </a:schemeClr>
                </a:solidFill>
              </a:defRPr>
            </a:lvl7pPr>
            <a:lvl8pPr marL="4551609" indent="0">
              <a:buNone/>
              <a:defRPr sz="1991">
                <a:solidFill>
                  <a:schemeClr val="tx1">
                    <a:tint val="75000"/>
                  </a:schemeClr>
                </a:solidFill>
              </a:defRPr>
            </a:lvl8pPr>
            <a:lvl9pPr marL="5201839" indent="0">
              <a:buNone/>
              <a:defRPr sz="1991">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2/18/2025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83" y="4503506"/>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727080" y="4613889"/>
            <a:ext cx="831969" cy="519289"/>
          </a:xfr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766121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11998" y="866987"/>
            <a:ext cx="8689190" cy="4118187"/>
          </a:xfrm>
        </p:spPr>
        <p:txBody>
          <a:bodyPr anchor="ctr">
            <a:normAutofit/>
          </a:bodyPr>
          <a:lstStyle>
            <a:lvl1pPr algn="l">
              <a:defRPr sz="6827"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436049" y="4985173"/>
            <a:ext cx="8041085" cy="541867"/>
          </a:xfrm>
        </p:spPr>
        <p:txBody>
          <a:bodyPr anchor="ctr">
            <a:noAutofit/>
          </a:bodyPr>
          <a:lstStyle>
            <a:lvl1pPr marL="0" indent="0">
              <a:buFontTx/>
              <a:buNone/>
              <a:defRPr sz="2276">
                <a:solidFill>
                  <a:schemeClr val="tx1">
                    <a:lumMod val="50000"/>
                    <a:lumOff val="50000"/>
                  </a:schemeClr>
                </a:solidFill>
              </a:defRPr>
            </a:lvl1pPr>
            <a:lvl2pPr marL="650230" indent="0">
              <a:buFontTx/>
              <a:buNone/>
              <a:defRPr/>
            </a:lvl2pPr>
            <a:lvl3pPr marL="1300460" indent="0">
              <a:buFontTx/>
              <a:buNone/>
              <a:defRPr/>
            </a:lvl3pPr>
            <a:lvl4pPr marL="1950690" indent="0">
              <a:buFontTx/>
              <a:buNone/>
              <a:defRPr/>
            </a:lvl4pPr>
            <a:lvl5pPr marL="2600919" indent="0">
              <a:buFontTx/>
              <a:buNone/>
              <a:defRPr/>
            </a:lvl5pPr>
          </a:lstStyle>
          <a:p>
            <a:pPr lvl="0"/>
            <a:r>
              <a:rPr lang="en-US"/>
              <a:t>Edit Master text styles</a:t>
            </a:r>
          </a:p>
        </p:txBody>
      </p:sp>
      <p:sp>
        <p:nvSpPr>
          <p:cNvPr id="3" name="Text Placeholder 2"/>
          <p:cNvSpPr>
            <a:spLocks noGrp="1"/>
          </p:cNvSpPr>
          <p:nvPr>
            <p:ph type="body" idx="1"/>
          </p:nvPr>
        </p:nvSpPr>
        <p:spPr>
          <a:xfrm>
            <a:off x="2762546" y="6192421"/>
            <a:ext cx="9375268" cy="2212784"/>
          </a:xfrm>
        </p:spPr>
        <p:txBody>
          <a:bodyPr anchor="ctr">
            <a:normAutofit/>
          </a:bodyPr>
          <a:lstStyle>
            <a:lvl1pPr marL="0" indent="0" algn="l">
              <a:buNone/>
              <a:defRPr sz="2560">
                <a:solidFill>
                  <a:schemeClr val="tx1">
                    <a:lumMod val="65000"/>
                    <a:lumOff val="35000"/>
                  </a:schemeClr>
                </a:solidFill>
              </a:defRPr>
            </a:lvl1pPr>
            <a:lvl2pPr marL="650230" indent="0">
              <a:buNone/>
              <a:defRPr sz="2560">
                <a:solidFill>
                  <a:schemeClr val="tx1">
                    <a:tint val="75000"/>
                  </a:schemeClr>
                </a:solidFill>
              </a:defRPr>
            </a:lvl2pPr>
            <a:lvl3pPr marL="1300460" indent="0">
              <a:buNone/>
              <a:defRPr sz="2276">
                <a:solidFill>
                  <a:schemeClr val="tx1">
                    <a:tint val="75000"/>
                  </a:schemeClr>
                </a:solidFill>
              </a:defRPr>
            </a:lvl3pPr>
            <a:lvl4pPr marL="1950690" indent="0">
              <a:buNone/>
              <a:defRPr sz="1991">
                <a:solidFill>
                  <a:schemeClr val="tx1">
                    <a:tint val="75000"/>
                  </a:schemeClr>
                </a:solidFill>
              </a:defRPr>
            </a:lvl4pPr>
            <a:lvl5pPr marL="2600919" indent="0">
              <a:buNone/>
              <a:defRPr sz="1991">
                <a:solidFill>
                  <a:schemeClr val="tx1">
                    <a:tint val="75000"/>
                  </a:schemeClr>
                </a:solidFill>
              </a:defRPr>
            </a:lvl5pPr>
            <a:lvl6pPr marL="3251149" indent="0">
              <a:buNone/>
              <a:defRPr sz="1991">
                <a:solidFill>
                  <a:schemeClr val="tx1">
                    <a:tint val="75000"/>
                  </a:schemeClr>
                </a:solidFill>
              </a:defRPr>
            </a:lvl6pPr>
            <a:lvl7pPr marL="3901379" indent="0">
              <a:buNone/>
              <a:defRPr sz="1991">
                <a:solidFill>
                  <a:schemeClr val="tx1">
                    <a:tint val="75000"/>
                  </a:schemeClr>
                </a:solidFill>
              </a:defRPr>
            </a:lvl7pPr>
            <a:lvl8pPr marL="4551609" indent="0">
              <a:buNone/>
              <a:defRPr sz="1991">
                <a:solidFill>
                  <a:schemeClr val="tx1">
                    <a:tint val="75000"/>
                  </a:schemeClr>
                </a:solidFill>
              </a:defRPr>
            </a:lvl8pPr>
            <a:lvl9pPr marL="5201839" indent="0">
              <a:buNone/>
              <a:defRPr sz="1991">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2/18/2025</a:t>
            </a:fld>
            <a:endParaRPr lang="en-US"/>
          </a:p>
        </p:txBody>
      </p:sp>
      <p:sp>
        <p:nvSpPr>
          <p:cNvPr id="5" name="Footer Placeholder 4"/>
          <p:cNvSpPr>
            <a:spLocks noGrp="1"/>
          </p:cNvSpPr>
          <p:nvPr>
            <p:ph type="ftr" sz="quarter" idx="11"/>
          </p:nvPr>
        </p:nvSpPr>
        <p:spPr/>
        <p:txBody>
          <a:bodyPr/>
          <a:lstStyle/>
          <a:p>
            <a:endParaRPr lang="en-US"/>
          </a:p>
        </p:txBody>
      </p:sp>
      <p:sp>
        <p:nvSpPr>
          <p:cNvPr id="19" name="Freeform 11"/>
          <p:cNvSpPr/>
          <p:nvPr/>
        </p:nvSpPr>
        <p:spPr bwMode="auto">
          <a:xfrm flipV="1">
            <a:off x="83" y="4503506"/>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727080" y="4613889"/>
            <a:ext cx="831969" cy="519289"/>
          </a:xfrm>
        </p:spPr>
        <p:txBody>
          <a:bodyPr/>
          <a:lstStyle/>
          <a:p>
            <a:fld id="{86CB4B4D-7CA3-9044-876B-883B54F8677D}" type="slidenum">
              <a:rPr lang="en-US" smtClean="0"/>
              <a:t>‹#›</a:t>
            </a:fld>
            <a:endParaRPr lang="en-US"/>
          </a:p>
        </p:txBody>
      </p:sp>
      <p:sp>
        <p:nvSpPr>
          <p:cNvPr id="14" name="TextBox 13"/>
          <p:cNvSpPr txBox="1"/>
          <p:nvPr/>
        </p:nvSpPr>
        <p:spPr>
          <a:xfrm>
            <a:off x="2571828" y="921607"/>
            <a:ext cx="650409" cy="831681"/>
          </a:xfrm>
          <a:prstGeom prst="rect">
            <a:avLst/>
          </a:prstGeom>
        </p:spPr>
        <p:txBody>
          <a:bodyPr vert="horz" lIns="130048" tIns="65024" rIns="130048" bIns="65024" rtlCol="0" anchor="ctr">
            <a:noAutofit/>
          </a:bodyPr>
          <a:lstStyle/>
          <a:p>
            <a:pPr lvl="0"/>
            <a:r>
              <a:rPr lang="en-US" sz="11378" baseline="0" dirty="0">
                <a:ln w="3175" cmpd="sng">
                  <a:noFill/>
                </a:ln>
                <a:solidFill>
                  <a:schemeClr val="accent1"/>
                </a:solidFill>
                <a:effectLst/>
                <a:latin typeface="Arial"/>
              </a:rPr>
              <a:t>“</a:t>
            </a:r>
          </a:p>
        </p:txBody>
      </p:sp>
      <p:sp>
        <p:nvSpPr>
          <p:cNvPr id="15" name="TextBox 14"/>
          <p:cNvSpPr txBox="1"/>
          <p:nvPr/>
        </p:nvSpPr>
        <p:spPr>
          <a:xfrm>
            <a:off x="11618892" y="4131991"/>
            <a:ext cx="650409" cy="831681"/>
          </a:xfrm>
          <a:prstGeom prst="rect">
            <a:avLst/>
          </a:prstGeom>
        </p:spPr>
        <p:txBody>
          <a:bodyPr vert="horz" lIns="130048" tIns="65024" rIns="130048" bIns="65024" rtlCol="0" anchor="ctr">
            <a:noAutofit/>
          </a:bodyPr>
          <a:lstStyle/>
          <a:p>
            <a:pPr lvl="0"/>
            <a:r>
              <a:rPr lang="en-US" sz="11378"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699348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762546" y="3467949"/>
            <a:ext cx="9375268" cy="3875335"/>
          </a:xfrm>
        </p:spPr>
        <p:txBody>
          <a:bodyPr anchor="b">
            <a:normAutofit/>
          </a:bodyPr>
          <a:lstStyle>
            <a:lvl1pPr algn="l">
              <a:defRPr sz="6827" b="0"/>
            </a:lvl1pPr>
          </a:lstStyle>
          <a:p>
            <a:r>
              <a:rPr lang="en-US"/>
              <a:t>Click to edit Master title style</a:t>
            </a:r>
            <a:endParaRPr lang="en-US" dirty="0"/>
          </a:p>
        </p:txBody>
      </p:sp>
      <p:sp>
        <p:nvSpPr>
          <p:cNvPr id="4" name="Text Placeholder 3"/>
          <p:cNvSpPr>
            <a:spLocks noGrp="1"/>
          </p:cNvSpPr>
          <p:nvPr>
            <p:ph type="body" sz="half" idx="2"/>
          </p:nvPr>
        </p:nvSpPr>
        <p:spPr>
          <a:xfrm>
            <a:off x="2762546" y="7369386"/>
            <a:ext cx="9375268" cy="1037685"/>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2/18/2025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83" y="6984050"/>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727080" y="7087059"/>
            <a:ext cx="831969" cy="519289"/>
          </a:xfr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34836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3111998" y="866987"/>
            <a:ext cx="8689190" cy="4118187"/>
          </a:xfrm>
        </p:spPr>
        <p:txBody>
          <a:bodyPr anchor="ctr">
            <a:normAutofit/>
          </a:bodyPr>
          <a:lstStyle>
            <a:lvl1pPr algn="l">
              <a:defRPr sz="6827"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762546" y="6177280"/>
            <a:ext cx="9512238" cy="1192107"/>
          </a:xfrm>
        </p:spPr>
        <p:txBody>
          <a:bodyPr anchor="b">
            <a:noAutofit/>
          </a:bodyPr>
          <a:lstStyle>
            <a:lvl1pPr marL="0" indent="0">
              <a:buFontTx/>
              <a:buNone/>
              <a:defRPr sz="3413">
                <a:solidFill>
                  <a:schemeClr val="accent1"/>
                </a:solidFill>
              </a:defRPr>
            </a:lvl1pPr>
            <a:lvl2pPr marL="650230" indent="0">
              <a:buFontTx/>
              <a:buNone/>
              <a:defRPr/>
            </a:lvl2pPr>
            <a:lvl3pPr marL="1300460" indent="0">
              <a:buFontTx/>
              <a:buNone/>
              <a:defRPr/>
            </a:lvl3pPr>
            <a:lvl4pPr marL="1950690" indent="0">
              <a:buFontTx/>
              <a:buNone/>
              <a:defRPr/>
            </a:lvl4pPr>
            <a:lvl5pPr marL="2600919" indent="0">
              <a:buFontTx/>
              <a:buNone/>
              <a:defRPr/>
            </a:lvl5pPr>
          </a:lstStyle>
          <a:p>
            <a:pPr lvl="0"/>
            <a:r>
              <a:rPr lang="en-US"/>
              <a:t>Edit Master text styles</a:t>
            </a:r>
          </a:p>
        </p:txBody>
      </p:sp>
      <p:sp>
        <p:nvSpPr>
          <p:cNvPr id="4" name="Text Placeholder 3"/>
          <p:cNvSpPr>
            <a:spLocks noGrp="1"/>
          </p:cNvSpPr>
          <p:nvPr>
            <p:ph type="body" sz="half" idx="2"/>
          </p:nvPr>
        </p:nvSpPr>
        <p:spPr>
          <a:xfrm>
            <a:off x="2762546" y="7369386"/>
            <a:ext cx="9512238" cy="1037685"/>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2/18/2025</a:t>
            </a:fld>
            <a:endParaRPr lang="en-US"/>
          </a:p>
        </p:txBody>
      </p:sp>
      <p:sp>
        <p:nvSpPr>
          <p:cNvPr id="6" name="Footer Placeholder 5"/>
          <p:cNvSpPr>
            <a:spLocks noGrp="1"/>
          </p:cNvSpPr>
          <p:nvPr>
            <p:ph type="ftr" sz="quarter" idx="11"/>
          </p:nvPr>
        </p:nvSpPr>
        <p:spPr/>
        <p:txBody>
          <a:bodyPr/>
          <a:lstStyle/>
          <a:p>
            <a:endParaRPr lang="en-US"/>
          </a:p>
        </p:txBody>
      </p:sp>
      <p:sp>
        <p:nvSpPr>
          <p:cNvPr id="20" name="Freeform 11"/>
          <p:cNvSpPr/>
          <p:nvPr/>
        </p:nvSpPr>
        <p:spPr bwMode="auto">
          <a:xfrm flipV="1">
            <a:off x="83" y="6984050"/>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727080" y="7087059"/>
            <a:ext cx="831969" cy="519289"/>
          </a:xfrm>
        </p:spPr>
        <p:txBody>
          <a:bodyPr/>
          <a:lstStyle/>
          <a:p>
            <a:fld id="{86CB4B4D-7CA3-9044-876B-883B54F8677D}" type="slidenum">
              <a:rPr lang="en-US" smtClean="0"/>
              <a:t>‹#›</a:t>
            </a:fld>
            <a:endParaRPr lang="en-US"/>
          </a:p>
        </p:txBody>
      </p:sp>
      <p:sp>
        <p:nvSpPr>
          <p:cNvPr id="11" name="TextBox 10"/>
          <p:cNvSpPr txBox="1"/>
          <p:nvPr/>
        </p:nvSpPr>
        <p:spPr>
          <a:xfrm>
            <a:off x="2571828" y="921607"/>
            <a:ext cx="650409" cy="831681"/>
          </a:xfrm>
          <a:prstGeom prst="rect">
            <a:avLst/>
          </a:prstGeom>
        </p:spPr>
        <p:txBody>
          <a:bodyPr vert="horz" lIns="130048" tIns="65024" rIns="130048" bIns="65024" rtlCol="0" anchor="ctr">
            <a:noAutofit/>
          </a:bodyPr>
          <a:lstStyle/>
          <a:p>
            <a:pPr lvl="0"/>
            <a:r>
              <a:rPr lang="en-US" sz="11378" baseline="0" dirty="0">
                <a:ln w="3175" cmpd="sng">
                  <a:noFill/>
                </a:ln>
                <a:solidFill>
                  <a:schemeClr val="accent1"/>
                </a:solidFill>
                <a:effectLst/>
                <a:latin typeface="Arial"/>
              </a:rPr>
              <a:t>“</a:t>
            </a:r>
          </a:p>
        </p:txBody>
      </p:sp>
      <p:sp>
        <p:nvSpPr>
          <p:cNvPr id="12" name="TextBox 11"/>
          <p:cNvSpPr txBox="1"/>
          <p:nvPr/>
        </p:nvSpPr>
        <p:spPr>
          <a:xfrm>
            <a:off x="11618892" y="4131991"/>
            <a:ext cx="650409" cy="831681"/>
          </a:xfrm>
          <a:prstGeom prst="rect">
            <a:avLst/>
          </a:prstGeom>
        </p:spPr>
        <p:txBody>
          <a:bodyPr vert="horz" lIns="130048" tIns="65024" rIns="130048" bIns="65024" rtlCol="0" anchor="ctr">
            <a:noAutofit/>
          </a:bodyPr>
          <a:lstStyle/>
          <a:p>
            <a:pPr lvl="0"/>
            <a:r>
              <a:rPr lang="en-US" sz="11378"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943537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762547" y="892312"/>
            <a:ext cx="9375266" cy="4096028"/>
          </a:xfrm>
        </p:spPr>
        <p:txBody>
          <a:bodyPr anchor="ctr">
            <a:normAutofit/>
          </a:bodyPr>
          <a:lstStyle>
            <a:lvl1pPr algn="l">
              <a:defRPr sz="6827" b="0"/>
            </a:lvl1pPr>
          </a:lstStyle>
          <a:p>
            <a:r>
              <a:rPr lang="en-US"/>
              <a:t>Click to edit Master title style</a:t>
            </a:r>
            <a:endParaRPr lang="en-US" dirty="0"/>
          </a:p>
        </p:txBody>
      </p:sp>
      <p:sp>
        <p:nvSpPr>
          <p:cNvPr id="21" name="Text Placeholder 9"/>
          <p:cNvSpPr>
            <a:spLocks noGrp="1"/>
          </p:cNvSpPr>
          <p:nvPr>
            <p:ph type="body" sz="quarter" idx="13"/>
          </p:nvPr>
        </p:nvSpPr>
        <p:spPr>
          <a:xfrm>
            <a:off x="2762546" y="6177280"/>
            <a:ext cx="9375268" cy="1192107"/>
          </a:xfrm>
        </p:spPr>
        <p:txBody>
          <a:bodyPr anchor="b">
            <a:noAutofit/>
          </a:bodyPr>
          <a:lstStyle>
            <a:lvl1pPr marL="0" indent="0">
              <a:buFontTx/>
              <a:buNone/>
              <a:defRPr sz="3413">
                <a:solidFill>
                  <a:schemeClr val="accent1"/>
                </a:solidFill>
              </a:defRPr>
            </a:lvl1pPr>
            <a:lvl2pPr marL="650230" indent="0">
              <a:buFontTx/>
              <a:buNone/>
              <a:defRPr/>
            </a:lvl2pPr>
            <a:lvl3pPr marL="1300460" indent="0">
              <a:buFontTx/>
              <a:buNone/>
              <a:defRPr/>
            </a:lvl3pPr>
            <a:lvl4pPr marL="1950690" indent="0">
              <a:buFontTx/>
              <a:buNone/>
              <a:defRPr/>
            </a:lvl4pPr>
            <a:lvl5pPr marL="2600919" indent="0">
              <a:buFontTx/>
              <a:buNone/>
              <a:defRPr/>
            </a:lvl5pPr>
          </a:lstStyle>
          <a:p>
            <a:pPr lvl="0"/>
            <a:r>
              <a:rPr lang="en-US"/>
              <a:t>Edit Master text styles</a:t>
            </a:r>
          </a:p>
        </p:txBody>
      </p:sp>
      <p:sp>
        <p:nvSpPr>
          <p:cNvPr id="4" name="Text Placeholder 3"/>
          <p:cNvSpPr>
            <a:spLocks noGrp="1"/>
          </p:cNvSpPr>
          <p:nvPr>
            <p:ph type="body" sz="half" idx="2"/>
          </p:nvPr>
        </p:nvSpPr>
        <p:spPr>
          <a:xfrm>
            <a:off x="2762546" y="7369386"/>
            <a:ext cx="9375268" cy="1037685"/>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2/18/2025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83" y="6984050"/>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727080" y="7087059"/>
            <a:ext cx="831969" cy="519289"/>
          </a:xfr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8964713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2/18/2025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83" y="1011477"/>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2741977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82805" y="892311"/>
            <a:ext cx="2355388" cy="7514762"/>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762547" y="892311"/>
            <a:ext cx="6707695" cy="75147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2/18/2025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83" y="1011477"/>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323667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325120"/>
            <a:ext cx="2817707" cy="9441604"/>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9043" y="406"/>
            <a:ext cx="2776565" cy="9746443"/>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260096" cy="97536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766506" y="887623"/>
            <a:ext cx="9371307" cy="182171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62546" y="3034453"/>
            <a:ext cx="9375268" cy="552704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054080" y="8725461"/>
            <a:ext cx="1089963" cy="526465"/>
          </a:xfrm>
          <a:prstGeom prst="rect">
            <a:avLst/>
          </a:prstGeom>
        </p:spPr>
        <p:txBody>
          <a:bodyPr vert="horz" lIns="91440" tIns="45720" rIns="91440" bIns="45720" rtlCol="0" anchor="ctr"/>
          <a:lstStyle>
            <a:lvl1pPr algn="r">
              <a:defRPr sz="1280">
                <a:solidFill>
                  <a:schemeClr val="tx1">
                    <a:tint val="75000"/>
                  </a:schemeClr>
                </a:solidFill>
              </a:defRPr>
            </a:lvl1pPr>
          </a:lstStyle>
          <a:p>
            <a:fld id="{B61BEF0D-F0BB-DE4B-95CE-6DB70DBA9567}" type="datetimeFigureOut">
              <a:rPr lang="en-US" smtClean="0"/>
              <a:pPr/>
              <a:t>2/18/2025</a:t>
            </a:fld>
            <a:endParaRPr lang="en-US"/>
          </a:p>
        </p:txBody>
      </p:sp>
      <p:sp>
        <p:nvSpPr>
          <p:cNvPr id="5" name="Footer Placeholder 4"/>
          <p:cNvSpPr>
            <a:spLocks noGrp="1"/>
          </p:cNvSpPr>
          <p:nvPr>
            <p:ph type="ftr" sz="quarter" idx="3"/>
          </p:nvPr>
        </p:nvSpPr>
        <p:spPr>
          <a:xfrm>
            <a:off x="2762546" y="8726485"/>
            <a:ext cx="8130116" cy="519289"/>
          </a:xfrm>
          <a:prstGeom prst="rect">
            <a:avLst/>
          </a:prstGeom>
        </p:spPr>
        <p:txBody>
          <a:bodyPr vert="horz" lIns="91440" tIns="45720" rIns="91440" bIns="45720" rtlCol="0" anchor="ctr"/>
          <a:lstStyle>
            <a:lvl1pPr algn="l">
              <a:defRPr sz="12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27080" y="1120403"/>
            <a:ext cx="831969" cy="519289"/>
          </a:xfrm>
          <a:prstGeom prst="rect">
            <a:avLst/>
          </a:prstGeom>
        </p:spPr>
        <p:txBody>
          <a:bodyPr vert="horz" lIns="91440" tIns="45720" rIns="91440" bIns="45720" rtlCol="0" anchor="ctr"/>
          <a:lstStyle>
            <a:lvl1pPr algn="r">
              <a:defRPr sz="2844">
                <a:solidFill>
                  <a:srgbClr val="FEFFFF"/>
                </a:solidFill>
              </a:defRPr>
            </a:lvl1pPr>
          </a:lstStyle>
          <a:p>
            <a:fld id="{86CB4B4D-7CA3-9044-876B-883B54F8677D}" type="slidenum">
              <a:rPr lang="en-US" smtClean="0"/>
              <a:t>‹#›</a:t>
            </a:fld>
            <a:endParaRPr lang="en-US"/>
          </a:p>
        </p:txBody>
      </p:sp>
    </p:spTree>
    <p:extLst>
      <p:ext uri="{BB962C8B-B14F-4D97-AF65-F5344CB8AC3E}">
        <p14:creationId xmlns:p14="http://schemas.microsoft.com/office/powerpoint/2010/main" val="4228334538"/>
      </p:ext>
    </p:extLst>
  </p:cSld>
  <p:clrMap bg1="lt1" tx1="dk1" bg2="lt2" tx2="dk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 id="2147484008" r:id="rId12"/>
    <p:sldLayoutId id="2147484009" r:id="rId13"/>
    <p:sldLayoutId id="2147484010" r:id="rId14"/>
    <p:sldLayoutId id="2147484011" r:id="rId15"/>
    <p:sldLayoutId id="2147484012" r:id="rId16"/>
  </p:sldLayoutIdLst>
  <p:txStyles>
    <p:titleStyle>
      <a:lvl1pPr algn="l" defTabSz="650230" rtl="0" eaLnBrk="1" latinLnBrk="0" hangingPunct="1">
        <a:spcBef>
          <a:spcPct val="0"/>
        </a:spcBef>
        <a:buNone/>
        <a:defRPr sz="512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87672" indent="-487672" algn="l" defTabSz="650230" rtl="0" eaLnBrk="1" latinLnBrk="0" hangingPunct="1">
        <a:spcBef>
          <a:spcPts val="1422"/>
        </a:spcBef>
        <a:spcAft>
          <a:spcPts val="0"/>
        </a:spcAft>
        <a:buClr>
          <a:schemeClr val="accent1"/>
        </a:buClr>
        <a:buFont typeface="Wingdings 3" charset="2"/>
        <a:buChar char=""/>
        <a:defRPr sz="2560" kern="1200">
          <a:solidFill>
            <a:schemeClr val="tx1">
              <a:lumMod val="75000"/>
              <a:lumOff val="25000"/>
            </a:schemeClr>
          </a:solidFill>
          <a:latin typeface="+mn-lt"/>
          <a:ea typeface="+mn-ea"/>
          <a:cs typeface="+mn-cs"/>
        </a:defRPr>
      </a:lvl1pPr>
      <a:lvl2pPr marL="1056623" indent="-406394" algn="l" defTabSz="650230" rtl="0" eaLnBrk="1" latinLnBrk="0" hangingPunct="1">
        <a:spcBef>
          <a:spcPts val="1422"/>
        </a:spcBef>
        <a:spcAft>
          <a:spcPts val="0"/>
        </a:spcAft>
        <a:buClr>
          <a:schemeClr val="accent1"/>
        </a:buClr>
        <a:buFont typeface="Wingdings 3" charset="2"/>
        <a:buChar char=""/>
        <a:defRPr sz="2276" kern="1200">
          <a:solidFill>
            <a:schemeClr val="tx1">
              <a:lumMod val="75000"/>
              <a:lumOff val="25000"/>
            </a:schemeClr>
          </a:solidFill>
          <a:latin typeface="+mn-lt"/>
          <a:ea typeface="+mn-ea"/>
          <a:cs typeface="+mn-cs"/>
        </a:defRPr>
      </a:lvl2pPr>
      <a:lvl3pPr marL="1625575" indent="-325115" algn="l" defTabSz="650230" rtl="0" eaLnBrk="1" latinLnBrk="0" hangingPunct="1">
        <a:spcBef>
          <a:spcPts val="1422"/>
        </a:spcBef>
        <a:spcAft>
          <a:spcPts val="0"/>
        </a:spcAft>
        <a:buClr>
          <a:schemeClr val="accent1"/>
        </a:buClr>
        <a:buFont typeface="Wingdings 3" charset="2"/>
        <a:buChar char=""/>
        <a:defRPr sz="1991" kern="1200">
          <a:solidFill>
            <a:schemeClr val="tx1">
              <a:lumMod val="75000"/>
              <a:lumOff val="25000"/>
            </a:schemeClr>
          </a:solidFill>
          <a:latin typeface="+mn-lt"/>
          <a:ea typeface="+mn-ea"/>
          <a:cs typeface="+mn-cs"/>
        </a:defRPr>
      </a:lvl3pPr>
      <a:lvl4pPr marL="2275804" indent="-325115" algn="l" defTabSz="650230" rtl="0" eaLnBrk="1" latinLnBrk="0" hangingPunct="1">
        <a:spcBef>
          <a:spcPts val="1422"/>
        </a:spcBef>
        <a:spcAft>
          <a:spcPts val="0"/>
        </a:spcAft>
        <a:buClr>
          <a:schemeClr val="accent1"/>
        </a:buClr>
        <a:buFont typeface="Wingdings 3" charset="2"/>
        <a:buChar char=""/>
        <a:defRPr sz="1707" kern="1200">
          <a:solidFill>
            <a:schemeClr val="tx1">
              <a:lumMod val="75000"/>
              <a:lumOff val="25000"/>
            </a:schemeClr>
          </a:solidFill>
          <a:latin typeface="+mn-lt"/>
          <a:ea typeface="+mn-ea"/>
          <a:cs typeface="+mn-cs"/>
        </a:defRPr>
      </a:lvl4pPr>
      <a:lvl5pPr marL="2926034" indent="-325115" algn="l" defTabSz="650230" rtl="0" eaLnBrk="1" latinLnBrk="0" hangingPunct="1">
        <a:spcBef>
          <a:spcPts val="1422"/>
        </a:spcBef>
        <a:spcAft>
          <a:spcPts val="0"/>
        </a:spcAft>
        <a:buClr>
          <a:schemeClr val="accent1"/>
        </a:buClr>
        <a:buFont typeface="Wingdings 3" charset="2"/>
        <a:buChar char=""/>
        <a:defRPr sz="1707" kern="1200">
          <a:solidFill>
            <a:schemeClr val="tx1">
              <a:lumMod val="75000"/>
              <a:lumOff val="25000"/>
            </a:schemeClr>
          </a:solidFill>
          <a:latin typeface="+mn-lt"/>
          <a:ea typeface="+mn-ea"/>
          <a:cs typeface="+mn-cs"/>
        </a:defRPr>
      </a:lvl5pPr>
      <a:lvl6pPr marL="3576264" indent="-325115" algn="l" defTabSz="650230" rtl="0" eaLnBrk="1" latinLnBrk="0" hangingPunct="1">
        <a:spcBef>
          <a:spcPts val="1422"/>
        </a:spcBef>
        <a:spcAft>
          <a:spcPts val="0"/>
        </a:spcAft>
        <a:buClr>
          <a:schemeClr val="accent1"/>
        </a:buClr>
        <a:buFont typeface="Wingdings 3" charset="2"/>
        <a:buChar char=""/>
        <a:defRPr sz="1707" kern="1200">
          <a:solidFill>
            <a:schemeClr val="tx1">
              <a:lumMod val="75000"/>
              <a:lumOff val="25000"/>
            </a:schemeClr>
          </a:solidFill>
          <a:latin typeface="+mn-lt"/>
          <a:ea typeface="+mn-ea"/>
          <a:cs typeface="+mn-cs"/>
        </a:defRPr>
      </a:lvl6pPr>
      <a:lvl7pPr marL="4226494" indent="-325115" algn="l" defTabSz="650230" rtl="0" eaLnBrk="1" latinLnBrk="0" hangingPunct="1">
        <a:spcBef>
          <a:spcPts val="1422"/>
        </a:spcBef>
        <a:spcAft>
          <a:spcPts val="0"/>
        </a:spcAft>
        <a:buClr>
          <a:schemeClr val="accent1"/>
        </a:buClr>
        <a:buFont typeface="Wingdings 3" charset="2"/>
        <a:buChar char=""/>
        <a:defRPr sz="1707" kern="1200">
          <a:solidFill>
            <a:schemeClr val="tx1">
              <a:lumMod val="75000"/>
              <a:lumOff val="25000"/>
            </a:schemeClr>
          </a:solidFill>
          <a:latin typeface="+mn-lt"/>
          <a:ea typeface="+mn-ea"/>
          <a:cs typeface="+mn-cs"/>
        </a:defRPr>
      </a:lvl7pPr>
      <a:lvl8pPr marL="4876724" indent="-325115" algn="l" defTabSz="650230" rtl="0" eaLnBrk="1" latinLnBrk="0" hangingPunct="1">
        <a:spcBef>
          <a:spcPts val="1422"/>
        </a:spcBef>
        <a:spcAft>
          <a:spcPts val="0"/>
        </a:spcAft>
        <a:buClr>
          <a:schemeClr val="accent1"/>
        </a:buClr>
        <a:buFont typeface="Wingdings 3" charset="2"/>
        <a:buChar char=""/>
        <a:defRPr sz="1707" kern="1200">
          <a:solidFill>
            <a:schemeClr val="tx1">
              <a:lumMod val="75000"/>
              <a:lumOff val="25000"/>
            </a:schemeClr>
          </a:solidFill>
          <a:latin typeface="+mn-lt"/>
          <a:ea typeface="+mn-ea"/>
          <a:cs typeface="+mn-cs"/>
        </a:defRPr>
      </a:lvl8pPr>
      <a:lvl9pPr marL="5526954" indent="-325115" algn="l" defTabSz="650230" rtl="0" eaLnBrk="1" latinLnBrk="0" hangingPunct="1">
        <a:spcBef>
          <a:spcPts val="1422"/>
        </a:spcBef>
        <a:spcAft>
          <a:spcPts val="0"/>
        </a:spcAft>
        <a:buClr>
          <a:schemeClr val="accent1"/>
        </a:buClr>
        <a:buFont typeface="Wingdings 3" charset="2"/>
        <a:buChar char=""/>
        <a:defRPr sz="1707" kern="1200">
          <a:solidFill>
            <a:schemeClr val="tx1">
              <a:lumMod val="75000"/>
              <a:lumOff val="25000"/>
            </a:schemeClr>
          </a:solidFill>
          <a:latin typeface="+mn-lt"/>
          <a:ea typeface="+mn-ea"/>
          <a:cs typeface="+mn-cs"/>
        </a:defRPr>
      </a:lvl9pPr>
    </p:bodyStyle>
    <p:otherStyle>
      <a:defPPr>
        <a:defRPr lang="en-US"/>
      </a:defPPr>
      <a:lvl1pPr marL="0" algn="l" defTabSz="650230" rtl="0" eaLnBrk="1" latinLnBrk="0" hangingPunct="1">
        <a:defRPr sz="2560" kern="1200">
          <a:solidFill>
            <a:schemeClr val="tx1"/>
          </a:solidFill>
          <a:latin typeface="+mn-lt"/>
          <a:ea typeface="+mn-ea"/>
          <a:cs typeface="+mn-cs"/>
        </a:defRPr>
      </a:lvl1pPr>
      <a:lvl2pPr marL="650230" algn="l" defTabSz="650230" rtl="0" eaLnBrk="1" latinLnBrk="0" hangingPunct="1">
        <a:defRPr sz="2560" kern="1200">
          <a:solidFill>
            <a:schemeClr val="tx1"/>
          </a:solidFill>
          <a:latin typeface="+mn-lt"/>
          <a:ea typeface="+mn-ea"/>
          <a:cs typeface="+mn-cs"/>
        </a:defRPr>
      </a:lvl2pPr>
      <a:lvl3pPr marL="1300460" algn="l" defTabSz="650230" rtl="0" eaLnBrk="1" latinLnBrk="0" hangingPunct="1">
        <a:defRPr sz="2560" kern="1200">
          <a:solidFill>
            <a:schemeClr val="tx1"/>
          </a:solidFill>
          <a:latin typeface="+mn-lt"/>
          <a:ea typeface="+mn-ea"/>
          <a:cs typeface="+mn-cs"/>
        </a:defRPr>
      </a:lvl3pPr>
      <a:lvl4pPr marL="1950690" algn="l" defTabSz="650230" rtl="0" eaLnBrk="1" latinLnBrk="0" hangingPunct="1">
        <a:defRPr sz="2560" kern="1200">
          <a:solidFill>
            <a:schemeClr val="tx1"/>
          </a:solidFill>
          <a:latin typeface="+mn-lt"/>
          <a:ea typeface="+mn-ea"/>
          <a:cs typeface="+mn-cs"/>
        </a:defRPr>
      </a:lvl4pPr>
      <a:lvl5pPr marL="2600919" algn="l" defTabSz="650230" rtl="0" eaLnBrk="1" latinLnBrk="0" hangingPunct="1">
        <a:defRPr sz="2560" kern="1200">
          <a:solidFill>
            <a:schemeClr val="tx1"/>
          </a:solidFill>
          <a:latin typeface="+mn-lt"/>
          <a:ea typeface="+mn-ea"/>
          <a:cs typeface="+mn-cs"/>
        </a:defRPr>
      </a:lvl5pPr>
      <a:lvl6pPr marL="3251149" algn="l" defTabSz="650230" rtl="0" eaLnBrk="1" latinLnBrk="0" hangingPunct="1">
        <a:defRPr sz="2560" kern="1200">
          <a:solidFill>
            <a:schemeClr val="tx1"/>
          </a:solidFill>
          <a:latin typeface="+mn-lt"/>
          <a:ea typeface="+mn-ea"/>
          <a:cs typeface="+mn-cs"/>
        </a:defRPr>
      </a:lvl6pPr>
      <a:lvl7pPr marL="3901379" algn="l" defTabSz="650230" rtl="0" eaLnBrk="1" latinLnBrk="0" hangingPunct="1">
        <a:defRPr sz="2560" kern="1200">
          <a:solidFill>
            <a:schemeClr val="tx1"/>
          </a:solidFill>
          <a:latin typeface="+mn-lt"/>
          <a:ea typeface="+mn-ea"/>
          <a:cs typeface="+mn-cs"/>
        </a:defRPr>
      </a:lvl7pPr>
      <a:lvl8pPr marL="4551609" algn="l" defTabSz="650230" rtl="0" eaLnBrk="1" latinLnBrk="0" hangingPunct="1">
        <a:defRPr sz="2560" kern="1200">
          <a:solidFill>
            <a:schemeClr val="tx1"/>
          </a:solidFill>
          <a:latin typeface="+mn-lt"/>
          <a:ea typeface="+mn-ea"/>
          <a:cs typeface="+mn-cs"/>
        </a:defRPr>
      </a:lvl8pPr>
      <a:lvl9pPr marL="5201839" algn="l" defTabSz="650230" rtl="0" eaLnBrk="1" latinLnBrk="0" hangingPunct="1">
        <a:defRPr sz="2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MẠNG NEURON…"/>
          <p:cNvSpPr txBox="1">
            <a:spLocks noGrp="1"/>
          </p:cNvSpPr>
          <p:nvPr>
            <p:ph type="subTitle" idx="1"/>
          </p:nvPr>
        </p:nvSpPr>
        <p:spPr>
          <a:xfrm>
            <a:off x="-3388" y="3696960"/>
            <a:ext cx="13004801" cy="4021195"/>
          </a:xfrm>
          <a:prstGeom prst="rect">
            <a:avLst/>
          </a:prstGeom>
        </p:spPr>
        <p:txBody>
          <a:bodyPr>
            <a:normAutofit/>
          </a:bodyPr>
          <a:lstStyle/>
          <a:p>
            <a:pPr algn="ctr">
              <a:defRPr sz="4000" b="1">
                <a:latin typeface="Arial"/>
                <a:ea typeface="Arial"/>
                <a:cs typeface="Arial"/>
                <a:sym typeface="Arial"/>
              </a:defRPr>
            </a:pPr>
            <a:r>
              <a:rPr lang="en-US" sz="8800" dirty="0" err="1">
                <a:solidFill>
                  <a:srgbClr val="002060"/>
                </a:solidFill>
                <a:latin typeface="Constantia" panose="02030602050306030303" pitchFamily="18" charset="0"/>
              </a:rPr>
              <a:t>Xử</a:t>
            </a:r>
            <a:r>
              <a:rPr lang="en-US" sz="8800" dirty="0">
                <a:solidFill>
                  <a:srgbClr val="002060"/>
                </a:solidFill>
                <a:latin typeface="Constantia" panose="02030602050306030303" pitchFamily="18" charset="0"/>
              </a:rPr>
              <a:t> </a:t>
            </a:r>
            <a:r>
              <a:rPr lang="en-US" sz="8800" dirty="0" err="1">
                <a:solidFill>
                  <a:srgbClr val="002060"/>
                </a:solidFill>
                <a:latin typeface="Constantia" panose="02030602050306030303" pitchFamily="18" charset="0"/>
              </a:rPr>
              <a:t>lý</a:t>
            </a:r>
            <a:r>
              <a:rPr lang="en-US" sz="8800" dirty="0">
                <a:solidFill>
                  <a:srgbClr val="002060"/>
                </a:solidFill>
                <a:latin typeface="Constantia" panose="02030602050306030303" pitchFamily="18" charset="0"/>
              </a:rPr>
              <a:t> </a:t>
            </a:r>
            <a:r>
              <a:rPr lang="en-US" sz="8800" dirty="0" err="1">
                <a:solidFill>
                  <a:srgbClr val="002060"/>
                </a:solidFill>
                <a:latin typeface="Constantia" panose="02030602050306030303" pitchFamily="18" charset="0"/>
              </a:rPr>
              <a:t>ảnh</a:t>
            </a:r>
            <a:r>
              <a:rPr lang="en-US" sz="8800" dirty="0">
                <a:solidFill>
                  <a:srgbClr val="002060"/>
                </a:solidFill>
                <a:latin typeface="Constantia" panose="02030602050306030303" pitchFamily="18" charset="0"/>
              </a:rPr>
              <a:t> </a:t>
            </a:r>
            <a:r>
              <a:rPr lang="en-US" sz="8800" dirty="0" err="1">
                <a:solidFill>
                  <a:srgbClr val="002060"/>
                </a:solidFill>
                <a:latin typeface="Constantia" panose="02030602050306030303" pitchFamily="18" charset="0"/>
              </a:rPr>
              <a:t>nâng</a:t>
            </a:r>
            <a:r>
              <a:rPr lang="en-US" sz="8800" dirty="0">
                <a:solidFill>
                  <a:srgbClr val="002060"/>
                </a:solidFill>
                <a:latin typeface="Constantia" panose="02030602050306030303" pitchFamily="18" charset="0"/>
              </a:rPr>
              <a:t> </a:t>
            </a:r>
            <a:r>
              <a:rPr lang="en-US" sz="8800" dirty="0" err="1">
                <a:solidFill>
                  <a:srgbClr val="002060"/>
                </a:solidFill>
                <a:latin typeface="Constantia" panose="02030602050306030303" pitchFamily="18" charset="0"/>
              </a:rPr>
              <a:t>cao</a:t>
            </a:r>
            <a:endParaRPr lang="en-US" sz="8800" dirty="0">
              <a:solidFill>
                <a:srgbClr val="002060"/>
              </a:solidFill>
              <a:latin typeface="Constantia" panose="02030602050306030303" pitchFamily="18" charset="0"/>
            </a:endParaRPr>
          </a:p>
          <a:p>
            <a:pPr algn="ctr">
              <a:defRPr sz="4000" b="1">
                <a:latin typeface="Arial"/>
                <a:ea typeface="Arial"/>
                <a:cs typeface="Arial"/>
                <a:sym typeface="Arial"/>
              </a:defRPr>
            </a:pPr>
            <a:r>
              <a:rPr lang="en-US" sz="4000" dirty="0" err="1">
                <a:solidFill>
                  <a:srgbClr val="002060"/>
                </a:solidFill>
                <a:latin typeface="Constantia" panose="02030602050306030303" pitchFamily="18" charset="0"/>
              </a:rPr>
              <a:t>Giảng</a:t>
            </a:r>
            <a:r>
              <a:rPr lang="en-US" sz="4000" dirty="0">
                <a:solidFill>
                  <a:srgbClr val="002060"/>
                </a:solidFill>
                <a:latin typeface="Constantia" panose="02030602050306030303" pitchFamily="18" charset="0"/>
              </a:rPr>
              <a:t> </a:t>
            </a:r>
            <a:r>
              <a:rPr lang="en-US" sz="4000" dirty="0" err="1">
                <a:solidFill>
                  <a:srgbClr val="002060"/>
                </a:solidFill>
                <a:latin typeface="Constantia" panose="02030602050306030303" pitchFamily="18" charset="0"/>
              </a:rPr>
              <a:t>viên</a:t>
            </a:r>
            <a:r>
              <a:rPr lang="en-US" sz="4000" dirty="0">
                <a:solidFill>
                  <a:srgbClr val="002060"/>
                </a:solidFill>
                <a:latin typeface="Constantia" panose="02030602050306030303" pitchFamily="18" charset="0"/>
              </a:rPr>
              <a:t>: TS. Cao </a:t>
            </a:r>
            <a:r>
              <a:rPr lang="en-US" sz="4000" dirty="0" err="1">
                <a:solidFill>
                  <a:srgbClr val="002060"/>
                </a:solidFill>
                <a:latin typeface="Constantia" panose="02030602050306030303" pitchFamily="18" charset="0"/>
              </a:rPr>
              <a:t>Thị</a:t>
            </a:r>
            <a:r>
              <a:rPr lang="en-US" sz="4000" dirty="0">
                <a:solidFill>
                  <a:srgbClr val="002060"/>
                </a:solidFill>
                <a:latin typeface="Constantia" panose="02030602050306030303" pitchFamily="18" charset="0"/>
              </a:rPr>
              <a:t> </a:t>
            </a:r>
            <a:r>
              <a:rPr lang="en-US" sz="4000" dirty="0" err="1">
                <a:solidFill>
                  <a:srgbClr val="002060"/>
                </a:solidFill>
                <a:latin typeface="Constantia" panose="02030602050306030303" pitchFamily="18" charset="0"/>
              </a:rPr>
              <a:t>Luyên</a:t>
            </a:r>
            <a:endParaRPr lang="en-US" sz="3200" dirty="0">
              <a:solidFill>
                <a:srgbClr val="002060"/>
              </a:solidFill>
              <a:latin typeface="Constantia" panose="02030602050306030303" pitchFamily="18" charset="0"/>
            </a:endParaRPr>
          </a:p>
          <a:p>
            <a:pPr algn="ctr">
              <a:defRPr sz="4000" b="1">
                <a:latin typeface="Arial"/>
                <a:ea typeface="Arial"/>
                <a:cs typeface="Arial"/>
                <a:sym typeface="Arial"/>
              </a:defRPr>
            </a:pPr>
            <a:endParaRPr dirty="0"/>
          </a:p>
        </p:txBody>
      </p:sp>
      <p:sp>
        <p:nvSpPr>
          <p:cNvPr id="120" name="Số Trang chiếu"/>
          <p:cNvSpPr txBox="1">
            <a:spLocks noGrp="1"/>
          </p:cNvSpPr>
          <p:nvPr>
            <p:ph type="sldNum" sz="quarter" idx="12"/>
          </p:nvPr>
        </p:nvSpPr>
        <p:spPr>
          <a:xfrm>
            <a:off x="6385373" y="9296400"/>
            <a:ext cx="227280" cy="32430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a:latin typeface="Helvetica Neue Thin"/>
                <a:ea typeface="Helvetica Neue Thin"/>
                <a:cs typeface="Helvetica Neue Thin"/>
                <a:sym typeface="Helvetica Neue Thin"/>
              </a:defRPr>
            </a:lvl1pPr>
          </a:lstStyle>
          <a:p>
            <a:fld id="{86CB4B4D-7CA3-9044-876B-883B54F8677D}" type="slidenum">
              <a:rPr/>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Nội dung môn học"/>
          <p:cNvSpPr txBox="1">
            <a:spLocks noGrp="1"/>
          </p:cNvSpPr>
          <p:nvPr>
            <p:ph type="ctrTitle"/>
          </p:nvPr>
        </p:nvSpPr>
        <p:spPr>
          <a:xfrm>
            <a:off x="-673" y="-14652"/>
            <a:ext cx="12980746" cy="1340427"/>
          </a:xfrm>
          <a:prstGeom prst="rect">
            <a:avLst/>
          </a:prstGeom>
        </p:spPr>
        <p:txBody>
          <a:bodyPr>
            <a:normAutofit/>
          </a:bodyPr>
          <a:lstStyle/>
          <a:p>
            <a:pPr algn="ctr"/>
            <a:r>
              <a:rPr lang="en-US" sz="7200" b="1" dirty="0">
                <a:solidFill>
                  <a:srgbClr val="002060"/>
                </a:solidFill>
                <a:latin typeface="Constantia" panose="02030602050306030303" pitchFamily="18" charset="0"/>
              </a:rPr>
              <a:t>Báo </a:t>
            </a:r>
            <a:r>
              <a:rPr lang="en-US" sz="7200" b="1" dirty="0" err="1">
                <a:solidFill>
                  <a:srgbClr val="002060"/>
                </a:solidFill>
                <a:latin typeface="Constantia" panose="02030602050306030303" pitchFamily="18" charset="0"/>
              </a:rPr>
              <a:t>cáo</a:t>
            </a:r>
            <a:r>
              <a:rPr lang="en-US" sz="7200" b="1" dirty="0">
                <a:solidFill>
                  <a:srgbClr val="002060"/>
                </a:solidFill>
                <a:latin typeface="Constantia" panose="02030602050306030303" pitchFamily="18" charset="0"/>
              </a:rPr>
              <a:t> </a:t>
            </a:r>
            <a:r>
              <a:rPr lang="en-US" sz="7200" b="1" dirty="0" err="1">
                <a:solidFill>
                  <a:srgbClr val="002060"/>
                </a:solidFill>
                <a:latin typeface="Constantia" panose="02030602050306030303" pitchFamily="18" charset="0"/>
              </a:rPr>
              <a:t>nhóm</a:t>
            </a:r>
            <a:r>
              <a:rPr lang="en-US" sz="7200" b="1" dirty="0">
                <a:solidFill>
                  <a:srgbClr val="002060"/>
                </a:solidFill>
                <a:latin typeface="Constantia" panose="02030602050306030303" pitchFamily="18" charset="0"/>
              </a:rPr>
              <a:t> 5:</a:t>
            </a:r>
            <a:endParaRPr sz="7200" b="1" dirty="0">
              <a:solidFill>
                <a:srgbClr val="002060"/>
              </a:solidFill>
              <a:latin typeface="Constantia" panose="02030602050306030303" pitchFamily="18" charset="0"/>
            </a:endParaRPr>
          </a:p>
        </p:txBody>
      </p:sp>
      <p:sp>
        <p:nvSpPr>
          <p:cNvPr id="123" name="Tên môn học: Mạng neuron và ứng dụng trong xử lý tín hiệu…"/>
          <p:cNvSpPr txBox="1">
            <a:spLocks noGrp="1"/>
          </p:cNvSpPr>
          <p:nvPr>
            <p:ph type="subTitle" idx="1"/>
          </p:nvPr>
        </p:nvSpPr>
        <p:spPr>
          <a:xfrm>
            <a:off x="825751" y="1759727"/>
            <a:ext cx="11956152" cy="7398508"/>
          </a:xfrm>
          <a:prstGeom prst="rect">
            <a:avLst/>
          </a:prstGeom>
        </p:spPr>
        <p:txBody>
          <a:bodyPr>
            <a:normAutofit/>
          </a:bodyPr>
          <a:lstStyle/>
          <a:p>
            <a:pPr lvl="2" algn="l">
              <a:defRPr sz="4000">
                <a:latin typeface="Arial"/>
                <a:ea typeface="Arial"/>
                <a:cs typeface="Arial"/>
                <a:sym typeface="Arial"/>
              </a:defRPr>
            </a:pPr>
            <a:r>
              <a:rPr lang="en-US" sz="8800" b="1" dirty="0">
                <a:solidFill>
                  <a:srgbClr val="002060"/>
                </a:solidFill>
                <a:latin typeface="Helvetica Neue"/>
              </a:rPr>
              <a:t>EDGE DETECTION</a:t>
            </a:r>
          </a:p>
          <a:p>
            <a:pPr lvl="2" algn="l">
              <a:defRPr sz="4000">
                <a:latin typeface="Arial"/>
                <a:ea typeface="Arial"/>
                <a:cs typeface="Arial"/>
                <a:sym typeface="Arial"/>
              </a:defRPr>
            </a:pPr>
            <a:r>
              <a:rPr lang="en-US" sz="6600" b="1" dirty="0">
                <a:solidFill>
                  <a:srgbClr val="002060"/>
                </a:solidFill>
                <a:latin typeface="Helvetica Neue"/>
              </a:rPr>
              <a:t>(PHÁT HIỆN BIÊN ẢNH)</a:t>
            </a:r>
          </a:p>
          <a:p>
            <a:pPr lvl="2" algn="l">
              <a:defRPr sz="4000">
                <a:latin typeface="Arial"/>
                <a:ea typeface="Arial"/>
                <a:cs typeface="Arial"/>
                <a:sym typeface="Arial"/>
              </a:defRPr>
            </a:pPr>
            <a:r>
              <a:rPr lang="en-US" sz="3600" b="1" dirty="0" err="1">
                <a:solidFill>
                  <a:srgbClr val="002060"/>
                </a:solidFill>
                <a:latin typeface="Helvetica Neue"/>
              </a:rPr>
              <a:t>Thành</a:t>
            </a:r>
            <a:r>
              <a:rPr lang="en-US" sz="3600" b="1" dirty="0">
                <a:solidFill>
                  <a:srgbClr val="002060"/>
                </a:solidFill>
                <a:latin typeface="Helvetica Neue"/>
              </a:rPr>
              <a:t> </a:t>
            </a:r>
            <a:r>
              <a:rPr lang="en-US" sz="3600" b="1" dirty="0" err="1">
                <a:solidFill>
                  <a:srgbClr val="002060"/>
                </a:solidFill>
                <a:latin typeface="Helvetica Neue"/>
              </a:rPr>
              <a:t>viên</a:t>
            </a:r>
            <a:r>
              <a:rPr lang="en-US" sz="3600" b="1" dirty="0">
                <a:solidFill>
                  <a:srgbClr val="002060"/>
                </a:solidFill>
                <a:latin typeface="Helvetica Neue"/>
              </a:rPr>
              <a:t> </a:t>
            </a:r>
            <a:r>
              <a:rPr lang="en-US" sz="3600" b="1" dirty="0" err="1">
                <a:solidFill>
                  <a:srgbClr val="002060"/>
                </a:solidFill>
                <a:latin typeface="Helvetica Neue"/>
              </a:rPr>
              <a:t>nhóm</a:t>
            </a:r>
            <a:r>
              <a:rPr lang="en-US" sz="3600" b="1" dirty="0">
                <a:solidFill>
                  <a:srgbClr val="002060"/>
                </a:solidFill>
                <a:latin typeface="Helvetica Neue"/>
              </a:rPr>
              <a:t>:</a:t>
            </a:r>
          </a:p>
          <a:p>
            <a:pPr lvl="2" algn="l">
              <a:defRPr sz="4000">
                <a:latin typeface="Arial"/>
                <a:ea typeface="Arial"/>
                <a:cs typeface="Arial"/>
                <a:sym typeface="Arial"/>
              </a:defRPr>
            </a:pPr>
            <a:r>
              <a:rPr lang="en-US" sz="3600" b="1" dirty="0">
                <a:solidFill>
                  <a:srgbClr val="002060"/>
                </a:solidFill>
                <a:latin typeface="Helvetica Neue"/>
              </a:rPr>
              <a:t>Chu </a:t>
            </a:r>
            <a:r>
              <a:rPr lang="en-US" sz="3600" b="1" dirty="0" err="1">
                <a:solidFill>
                  <a:srgbClr val="002060"/>
                </a:solidFill>
                <a:latin typeface="Helvetica Neue"/>
              </a:rPr>
              <a:t>Văn</a:t>
            </a:r>
            <a:r>
              <a:rPr lang="en-US" sz="3600" b="1" dirty="0">
                <a:solidFill>
                  <a:srgbClr val="002060"/>
                </a:solidFill>
                <a:latin typeface="Helvetica Neue"/>
              </a:rPr>
              <a:t> </a:t>
            </a:r>
            <a:r>
              <a:rPr lang="en-US" sz="3600" b="1" dirty="0" err="1">
                <a:solidFill>
                  <a:srgbClr val="002060"/>
                </a:solidFill>
                <a:latin typeface="Helvetica Neue"/>
              </a:rPr>
              <a:t>Dũng</a:t>
            </a:r>
            <a:r>
              <a:rPr lang="en-US" sz="3600" b="1" dirty="0">
                <a:solidFill>
                  <a:srgbClr val="002060"/>
                </a:solidFill>
                <a:latin typeface="Helvetica Neue"/>
              </a:rPr>
              <a:t> (211210740)</a:t>
            </a:r>
          </a:p>
          <a:p>
            <a:pPr lvl="2" algn="l">
              <a:defRPr sz="4000">
                <a:latin typeface="Arial"/>
                <a:ea typeface="Arial"/>
                <a:cs typeface="Arial"/>
                <a:sym typeface="Arial"/>
              </a:defRPr>
            </a:pPr>
            <a:r>
              <a:rPr lang="en-US" sz="3600" b="1" dirty="0" err="1">
                <a:solidFill>
                  <a:srgbClr val="002060"/>
                </a:solidFill>
                <a:latin typeface="Helvetica Neue"/>
              </a:rPr>
              <a:t>Phạm</a:t>
            </a:r>
            <a:r>
              <a:rPr lang="en-US" sz="3600" b="1" dirty="0">
                <a:solidFill>
                  <a:srgbClr val="002060"/>
                </a:solidFill>
                <a:latin typeface="Helvetica Neue"/>
              </a:rPr>
              <a:t> </a:t>
            </a:r>
            <a:r>
              <a:rPr lang="en-US" sz="3600" b="1" dirty="0" err="1">
                <a:solidFill>
                  <a:srgbClr val="002060"/>
                </a:solidFill>
                <a:latin typeface="Helvetica Neue"/>
              </a:rPr>
              <a:t>Hải</a:t>
            </a:r>
            <a:r>
              <a:rPr lang="en-US" sz="3600" b="1" dirty="0">
                <a:solidFill>
                  <a:srgbClr val="002060"/>
                </a:solidFill>
                <a:latin typeface="Helvetica Neue"/>
              </a:rPr>
              <a:t> </a:t>
            </a:r>
            <a:r>
              <a:rPr lang="en-US" sz="3600" b="1" dirty="0" err="1">
                <a:solidFill>
                  <a:srgbClr val="002060"/>
                </a:solidFill>
                <a:latin typeface="Helvetica Neue"/>
              </a:rPr>
              <a:t>Nhi</a:t>
            </a:r>
            <a:r>
              <a:rPr lang="en-US" sz="3600" b="1" dirty="0">
                <a:solidFill>
                  <a:srgbClr val="002060"/>
                </a:solidFill>
                <a:latin typeface="Helvetica Neue"/>
              </a:rPr>
              <a:t>  (211203484)</a:t>
            </a:r>
          </a:p>
          <a:p>
            <a:pPr lvl="2" algn="l">
              <a:defRPr sz="4000">
                <a:latin typeface="Arial"/>
                <a:ea typeface="Arial"/>
                <a:cs typeface="Arial"/>
                <a:sym typeface="Arial"/>
              </a:defRPr>
            </a:pPr>
            <a:r>
              <a:rPr lang="en-US" sz="3600" b="1" dirty="0">
                <a:solidFill>
                  <a:srgbClr val="002060"/>
                </a:solidFill>
                <a:latin typeface="Helvetica Neue"/>
              </a:rPr>
              <a:t>Hồ </a:t>
            </a:r>
            <a:r>
              <a:rPr lang="en-US" sz="3600" b="1" dirty="0" err="1">
                <a:solidFill>
                  <a:srgbClr val="002060"/>
                </a:solidFill>
                <a:latin typeface="Helvetica Neue"/>
              </a:rPr>
              <a:t>Anh</a:t>
            </a:r>
            <a:r>
              <a:rPr lang="en-US" sz="3600" b="1" dirty="0">
                <a:solidFill>
                  <a:srgbClr val="002060"/>
                </a:solidFill>
                <a:latin typeface="Helvetica Neue"/>
              </a:rPr>
              <a:t> Minh  (211211807)</a:t>
            </a:r>
          </a:p>
          <a:p>
            <a:pPr lvl="2" algn="l">
              <a:defRPr sz="4000">
                <a:latin typeface="Arial"/>
                <a:ea typeface="Arial"/>
                <a:cs typeface="Arial"/>
                <a:sym typeface="Arial"/>
              </a:defRPr>
            </a:pPr>
            <a:r>
              <a:rPr lang="en-US" sz="3600" b="1" dirty="0" err="1">
                <a:solidFill>
                  <a:srgbClr val="002060"/>
                </a:solidFill>
                <a:latin typeface="Helvetica Neue"/>
              </a:rPr>
              <a:t>Dương</a:t>
            </a:r>
            <a:r>
              <a:rPr lang="en-US" sz="3600" b="1" dirty="0">
                <a:solidFill>
                  <a:srgbClr val="002060"/>
                </a:solidFill>
                <a:latin typeface="Helvetica Neue"/>
              </a:rPr>
              <a:t> </a:t>
            </a:r>
            <a:r>
              <a:rPr lang="en-US" sz="3600" b="1" dirty="0" err="1">
                <a:solidFill>
                  <a:srgbClr val="002060"/>
                </a:solidFill>
                <a:latin typeface="Helvetica Neue"/>
              </a:rPr>
              <a:t>Xuân</a:t>
            </a:r>
            <a:r>
              <a:rPr lang="en-US" sz="3600" b="1" dirty="0">
                <a:solidFill>
                  <a:srgbClr val="002060"/>
                </a:solidFill>
                <a:latin typeface="Helvetica Neue"/>
              </a:rPr>
              <a:t> </a:t>
            </a:r>
            <a:r>
              <a:rPr lang="en-US" sz="3600" b="1" dirty="0" err="1">
                <a:solidFill>
                  <a:srgbClr val="002060"/>
                </a:solidFill>
                <a:latin typeface="Helvetica Neue"/>
              </a:rPr>
              <a:t>Bách</a:t>
            </a:r>
            <a:r>
              <a:rPr lang="en-US" sz="3600" b="1" dirty="0">
                <a:solidFill>
                  <a:srgbClr val="002060"/>
                </a:solidFill>
                <a:latin typeface="Helvetica Neue"/>
              </a:rPr>
              <a:t> (211210614)</a:t>
            </a:r>
          </a:p>
        </p:txBody>
      </p:sp>
      <p:sp>
        <p:nvSpPr>
          <p:cNvPr id="124" name="Số Trang chiếu"/>
          <p:cNvSpPr txBox="1">
            <a:spLocks noGrp="1"/>
          </p:cNvSpPr>
          <p:nvPr>
            <p:ph type="sldNum" sz="quarter" idx="12"/>
          </p:nvPr>
        </p:nvSpPr>
        <p:spPr>
          <a:xfrm>
            <a:off x="6385373" y="9296400"/>
            <a:ext cx="227280" cy="32430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a:latin typeface="Helvetica Neue Thin"/>
                <a:ea typeface="Helvetica Neue Thin"/>
                <a:cs typeface="Helvetica Neue Thin"/>
                <a:sym typeface="Helvetica Neue Thin"/>
              </a:defRPr>
            </a:lvl1pPr>
          </a:lstStyle>
          <a:p>
            <a:fld id="{86CB4B4D-7CA3-9044-876B-883B54F8677D}" type="slidenum">
              <a:t>2</a:t>
            </a:fld>
            <a:endParaRPr/>
          </a:p>
        </p:txBody>
      </p:sp>
    </p:spTree>
    <p:extLst>
      <p:ext uri="{BB962C8B-B14F-4D97-AF65-F5344CB8AC3E}">
        <p14:creationId xmlns:p14="http://schemas.microsoft.com/office/powerpoint/2010/main" val="556772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590083" y="434993"/>
            <a:ext cx="11021017" cy="1235644"/>
          </a:xfrm>
        </p:spPr>
        <p:txBody>
          <a:bodyPr>
            <a:normAutofit fontScale="90000"/>
          </a:bodyPr>
          <a:lstStyle/>
          <a:p>
            <a:r>
              <a:rPr lang="en-US" sz="6600" b="1" dirty="0">
                <a:latin typeface="Constantia" panose="02030602050306030303" pitchFamily="18" charset="0"/>
              </a:rPr>
              <a:t>Phát </a:t>
            </a:r>
            <a:r>
              <a:rPr lang="en-US" sz="6600" b="1" dirty="0" err="1">
                <a:latin typeface="Constantia" panose="02030602050306030303" pitchFamily="18" charset="0"/>
              </a:rPr>
              <a:t>hiện</a:t>
            </a:r>
            <a:r>
              <a:rPr lang="en-US" sz="6600" b="1" dirty="0">
                <a:latin typeface="Constantia" panose="02030602050306030303" pitchFamily="18" charset="0"/>
              </a:rPr>
              <a:t> </a:t>
            </a:r>
            <a:r>
              <a:rPr lang="en-US" sz="6600" b="1" dirty="0" err="1">
                <a:latin typeface="Constantia" panose="02030602050306030303" pitchFamily="18" charset="0"/>
              </a:rPr>
              <a:t>biên</a:t>
            </a:r>
            <a:r>
              <a:rPr lang="en-US" sz="6600" b="1" dirty="0">
                <a:latin typeface="Constantia" panose="02030602050306030303" pitchFamily="18" charset="0"/>
              </a:rPr>
              <a:t> trong </a:t>
            </a:r>
            <a:r>
              <a:rPr lang="en-US" sz="6600" b="1" dirty="0" err="1">
                <a:latin typeface="Constantia" panose="02030602050306030303" pitchFamily="18" charset="0"/>
              </a:rPr>
              <a:t>xử</a:t>
            </a:r>
            <a:r>
              <a:rPr lang="en-US" sz="6600" b="1" dirty="0">
                <a:latin typeface="Constantia" panose="02030602050306030303" pitchFamily="18" charset="0"/>
              </a:rPr>
              <a:t> </a:t>
            </a:r>
            <a:r>
              <a:rPr lang="en-US" sz="6600" b="1" dirty="0" err="1">
                <a:latin typeface="Constantia" panose="02030602050306030303" pitchFamily="18" charset="0"/>
              </a:rPr>
              <a:t>lý</a:t>
            </a:r>
            <a:r>
              <a:rPr lang="en-US" sz="6600" b="1" dirty="0">
                <a:latin typeface="Constantia" panose="02030602050306030303" pitchFamily="18" charset="0"/>
              </a:rPr>
              <a:t> </a:t>
            </a:r>
            <a:r>
              <a:rPr lang="en-US" sz="6600" b="1" dirty="0" err="1">
                <a:latin typeface="Constantia" panose="02030602050306030303" pitchFamily="18" charset="0"/>
              </a:rPr>
              <a:t>ảnh</a:t>
            </a:r>
            <a:r>
              <a:rPr lang="en-US" sz="6600" b="1" dirty="0">
                <a:latin typeface="Constantia" panose="02030602050306030303" pitchFamily="18" charset="0"/>
              </a:rPr>
              <a:t> </a:t>
            </a:r>
            <a:r>
              <a:rPr lang="en-US" sz="6600" b="1" dirty="0" err="1">
                <a:latin typeface="Constantia" panose="02030602050306030303" pitchFamily="18" charset="0"/>
              </a:rPr>
              <a:t>số</a:t>
            </a:r>
            <a:endParaRPr lang="en-US" sz="6600" b="1" dirty="0">
              <a:latin typeface="Constantia" panose="02030602050306030303" pitchFamily="18" charset="0"/>
            </a:endParaRPr>
          </a:p>
        </p:txBody>
      </p:sp>
      <p:pic>
        <p:nvPicPr>
          <p:cNvPr id="6" name="Picture 5"/>
          <p:cNvPicPr>
            <a:picLocks noChangeAspect="1"/>
          </p:cNvPicPr>
          <p:nvPr/>
        </p:nvPicPr>
        <p:blipFill>
          <a:blip r:embed="rId2"/>
          <a:stretch>
            <a:fillRect/>
          </a:stretch>
        </p:blipFill>
        <p:spPr>
          <a:xfrm>
            <a:off x="8058149" y="2533650"/>
            <a:ext cx="4228803" cy="2857500"/>
          </a:xfrm>
          <a:prstGeom prst="rect">
            <a:avLst/>
          </a:prstGeom>
        </p:spPr>
      </p:pic>
      <p:pic>
        <p:nvPicPr>
          <p:cNvPr id="2" name="Picture 1"/>
          <p:cNvPicPr>
            <a:picLocks noChangeAspect="1"/>
          </p:cNvPicPr>
          <p:nvPr/>
        </p:nvPicPr>
        <p:blipFill>
          <a:blip r:embed="rId3"/>
          <a:stretch>
            <a:fillRect/>
          </a:stretch>
        </p:blipFill>
        <p:spPr>
          <a:xfrm>
            <a:off x="647701" y="2533650"/>
            <a:ext cx="4267199" cy="2857500"/>
          </a:xfrm>
          <a:prstGeom prst="rect">
            <a:avLst/>
          </a:prstGeom>
        </p:spPr>
      </p:pic>
      <p:sp>
        <p:nvSpPr>
          <p:cNvPr id="9" name="TextBox 8"/>
          <p:cNvSpPr txBox="1"/>
          <p:nvPr/>
        </p:nvSpPr>
        <p:spPr>
          <a:xfrm>
            <a:off x="1809750" y="6425310"/>
            <a:ext cx="9505950" cy="1569660"/>
          </a:xfrm>
          <a:prstGeom prst="rect">
            <a:avLst/>
          </a:prstGeom>
          <a:noFill/>
        </p:spPr>
        <p:txBody>
          <a:bodyPr wrap="square" rtlCol="0">
            <a:spAutoFit/>
          </a:bodyPr>
          <a:lstStyle/>
          <a:p>
            <a:r>
              <a:rPr lang="vi-VN" b="0" dirty="0"/>
              <a:t>Phát hiện biên là một bước quan trọng trong xử lý ảnh số, giúp xác định ranh giới giữa các vùng trong ảnh. Biên có thể là biên sắc nét (có sự thay đổi mạnh về cường độ) hoặc biên mờ (chuyển đổi dần dần).</a:t>
            </a:r>
          </a:p>
        </p:txBody>
      </p:sp>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14962" y="3029234"/>
            <a:ext cx="2143125" cy="2143125"/>
          </a:xfrm>
          <a:prstGeom prst="rect">
            <a:avLst/>
          </a:prstGeom>
        </p:spPr>
      </p:pic>
    </p:spTree>
    <p:extLst>
      <p:ext uri="{BB962C8B-B14F-4D97-AF65-F5344CB8AC3E}">
        <p14:creationId xmlns:p14="http://schemas.microsoft.com/office/powerpoint/2010/main" val="1854395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800" b="1" dirty="0" err="1">
                <a:latin typeface="Helvetica Neue"/>
              </a:rPr>
              <a:t>Vai</a:t>
            </a:r>
            <a:r>
              <a:rPr lang="en-US" sz="4800" b="1" dirty="0">
                <a:latin typeface="Helvetica Neue"/>
              </a:rPr>
              <a:t> </a:t>
            </a:r>
            <a:r>
              <a:rPr lang="en-US" sz="4800" b="1" dirty="0" err="1">
                <a:latin typeface="Helvetica Neue"/>
              </a:rPr>
              <a:t>trò</a:t>
            </a:r>
            <a:r>
              <a:rPr lang="en-US" sz="4800" b="1" dirty="0">
                <a:latin typeface="Helvetica Neue"/>
              </a:rPr>
              <a:t> </a:t>
            </a:r>
            <a:r>
              <a:rPr lang="en-US" sz="4800" b="1" dirty="0" err="1">
                <a:latin typeface="Helvetica Neue"/>
              </a:rPr>
              <a:t>và</a:t>
            </a:r>
            <a:r>
              <a:rPr lang="en-US" sz="4800" b="1" dirty="0">
                <a:latin typeface="Helvetica Neue"/>
              </a:rPr>
              <a:t> </a:t>
            </a:r>
            <a:r>
              <a:rPr lang="en-US" sz="4800" b="1" dirty="0" err="1">
                <a:latin typeface="Helvetica Neue"/>
              </a:rPr>
              <a:t>vị</a:t>
            </a:r>
            <a:r>
              <a:rPr lang="en-US" sz="4800" b="1" dirty="0">
                <a:latin typeface="Helvetica Neue"/>
              </a:rPr>
              <a:t> </a:t>
            </a:r>
            <a:r>
              <a:rPr lang="en-US" sz="4800" b="1" dirty="0" err="1">
                <a:latin typeface="Helvetica Neue"/>
              </a:rPr>
              <a:t>trí</a:t>
            </a:r>
            <a:r>
              <a:rPr lang="en-US" sz="4800" b="1" dirty="0">
                <a:latin typeface="Helvetica Neue"/>
              </a:rPr>
              <a:t> </a:t>
            </a:r>
            <a:r>
              <a:rPr lang="en-US" sz="4800" b="1" dirty="0" err="1">
                <a:latin typeface="Helvetica Neue"/>
              </a:rPr>
              <a:t>của</a:t>
            </a:r>
            <a:r>
              <a:rPr lang="en-US" sz="4800" b="1" dirty="0">
                <a:latin typeface="Helvetica Neue"/>
              </a:rPr>
              <a:t> </a:t>
            </a:r>
            <a:r>
              <a:rPr lang="en-US" sz="4800" b="1" dirty="0" err="1">
                <a:latin typeface="Helvetica Neue"/>
              </a:rPr>
              <a:t>tách</a:t>
            </a:r>
            <a:r>
              <a:rPr lang="en-US" sz="4800" b="1" dirty="0">
                <a:latin typeface="Helvetica Neue"/>
              </a:rPr>
              <a:t> </a:t>
            </a:r>
            <a:r>
              <a:rPr lang="en-US" sz="4800" b="1" dirty="0" err="1">
                <a:latin typeface="Helvetica Neue"/>
              </a:rPr>
              <a:t>biên</a:t>
            </a:r>
            <a:r>
              <a:rPr lang="en-US" sz="4800" b="1" dirty="0">
                <a:latin typeface="Helvetica Neue"/>
              </a:rPr>
              <a:t> </a:t>
            </a:r>
            <a:r>
              <a:rPr lang="en-US" sz="4800" b="1" dirty="0" err="1">
                <a:latin typeface="Helvetica Neue"/>
              </a:rPr>
              <a:t>ảnh</a:t>
            </a:r>
            <a:r>
              <a:rPr lang="en-US" sz="4800" b="1" dirty="0">
                <a:latin typeface="Helvetica Neue"/>
              </a:rPr>
              <a:t> trong </a:t>
            </a:r>
            <a:r>
              <a:rPr lang="en-US" sz="4800" b="1" dirty="0" err="1">
                <a:latin typeface="Helvetica Neue"/>
              </a:rPr>
              <a:t>hệ</a:t>
            </a:r>
            <a:r>
              <a:rPr lang="en-US" sz="4800" b="1" dirty="0">
                <a:latin typeface="Helvetica Neue"/>
              </a:rPr>
              <a:t> </a:t>
            </a:r>
            <a:r>
              <a:rPr lang="en-US" sz="4800" b="1" dirty="0" err="1">
                <a:latin typeface="Helvetica Neue"/>
              </a:rPr>
              <a:t>thống</a:t>
            </a:r>
            <a:r>
              <a:rPr lang="en-US" sz="4800" b="1" dirty="0">
                <a:latin typeface="Helvetica Neue"/>
              </a:rPr>
              <a:t> </a:t>
            </a:r>
            <a:r>
              <a:rPr lang="en-US" sz="4800" b="1" dirty="0" err="1">
                <a:latin typeface="Helvetica Neue"/>
              </a:rPr>
              <a:t>xử</a:t>
            </a:r>
            <a:r>
              <a:rPr lang="en-US" sz="4800" b="1" dirty="0">
                <a:latin typeface="Helvetica Neue"/>
              </a:rPr>
              <a:t> </a:t>
            </a:r>
            <a:r>
              <a:rPr lang="en-US" sz="4800" b="1" dirty="0" err="1">
                <a:latin typeface="Helvetica Neue"/>
              </a:rPr>
              <a:t>lý</a:t>
            </a:r>
            <a:r>
              <a:rPr lang="en-US" sz="4800" b="1" dirty="0">
                <a:latin typeface="Helvetica Neue"/>
              </a:rPr>
              <a:t> </a:t>
            </a:r>
            <a:r>
              <a:rPr lang="en-US" sz="4800" b="1" dirty="0" err="1">
                <a:latin typeface="Helvetica Neue"/>
              </a:rPr>
              <a:t>ảnh</a:t>
            </a:r>
            <a:endParaRPr lang="en-US" sz="4800" b="1" dirty="0">
              <a:latin typeface="Helvetica Neue"/>
            </a:endParaRPr>
          </a:p>
        </p:txBody>
      </p:sp>
      <p:sp>
        <p:nvSpPr>
          <p:cNvPr id="3" name="Content Placeholder 2"/>
          <p:cNvSpPr>
            <a:spLocks noGrp="1"/>
          </p:cNvSpPr>
          <p:nvPr>
            <p:ph idx="1"/>
          </p:nvPr>
        </p:nvSpPr>
        <p:spPr>
          <a:xfrm>
            <a:off x="1028700" y="2709333"/>
            <a:ext cx="10972800" cy="6815667"/>
          </a:xfrm>
        </p:spPr>
        <p:txBody>
          <a:bodyPr>
            <a:noAutofit/>
          </a:bodyPr>
          <a:lstStyle/>
          <a:p>
            <a:pPr marL="0" indent="0">
              <a:buNone/>
            </a:pPr>
            <a:r>
              <a:rPr lang="en-US" sz="2000" b="1" dirty="0"/>
              <a:t>1.</a:t>
            </a:r>
            <a:r>
              <a:rPr lang="vi-VN" sz="2000" b="1" dirty="0"/>
              <a:t>Vai trò của tách biên ảnh</a:t>
            </a:r>
            <a:endParaRPr lang="en-US" sz="2000" b="1" dirty="0"/>
          </a:p>
          <a:p>
            <a:pPr marL="0" indent="0">
              <a:buNone/>
            </a:pPr>
            <a:r>
              <a:rPr lang="en-US" sz="2000" dirty="0"/>
              <a:t>-</a:t>
            </a:r>
            <a:r>
              <a:rPr lang="vi-VN" sz="2000" dirty="0"/>
              <a:t>Phát hiện ranh giới đối tượng: Xác định biên giữa các vùng có đặc điểm khác nhau về mức xám, màu sắc, kết cấu (ví dụ: ranh giới giữa tòa nhà và bầu trời, khối u và mô lành trong ảnh y tế).</a:t>
            </a:r>
          </a:p>
          <a:p>
            <a:pPr marL="0" indent="0">
              <a:buNone/>
            </a:pPr>
            <a:r>
              <a:rPr lang="en-US" sz="2000" dirty="0"/>
              <a:t>-</a:t>
            </a:r>
            <a:r>
              <a:rPr lang="vi-VN" sz="2000" dirty="0"/>
              <a:t>Giảm lượng dữ liệu cần xử lý: Tập trung vào các đặc trưng quan trọng, giúp tăng tốc độ xử lý.</a:t>
            </a:r>
            <a:endParaRPr lang="en-US" sz="2000" dirty="0"/>
          </a:p>
          <a:p>
            <a:pPr marL="0" indent="0">
              <a:buNone/>
            </a:pPr>
            <a:r>
              <a:rPr lang="vi-VN" sz="2000" dirty="0"/>
              <a:t>Tiền xử lý cho các bước sau: Hỗ trợ phân đoạn ảnh, nhận diện đối tượng, theo dõi chuyển động.</a:t>
            </a:r>
          </a:p>
          <a:p>
            <a:pPr marL="0" indent="0">
              <a:buNone/>
            </a:pPr>
            <a:r>
              <a:rPr lang="en-US" sz="2000" b="1" dirty="0"/>
              <a:t>2.</a:t>
            </a:r>
            <a:r>
              <a:rPr lang="vi-VN" sz="2000" b="1" dirty="0"/>
              <a:t>Ứng dụng thực tiễn</a:t>
            </a:r>
          </a:p>
          <a:p>
            <a:pPr marL="0" indent="0">
              <a:buNone/>
            </a:pPr>
            <a:r>
              <a:rPr lang="en-US" sz="2000" dirty="0"/>
              <a:t>-</a:t>
            </a:r>
            <a:r>
              <a:rPr lang="vi-VN" sz="2000" dirty="0"/>
              <a:t>Y tế: Phát hiện biên trong ảnh X-quang, MRI.</a:t>
            </a:r>
            <a:endParaRPr lang="en-US" sz="2000" dirty="0"/>
          </a:p>
          <a:p>
            <a:pPr marL="0" indent="0">
              <a:buNone/>
            </a:pPr>
            <a:r>
              <a:rPr lang="en-US" sz="2000" dirty="0"/>
              <a:t>-</a:t>
            </a:r>
            <a:r>
              <a:rPr lang="vi-VN" sz="2000" dirty="0"/>
              <a:t>An ninh: Nhận diện khuôn mặt, biển số xe.</a:t>
            </a:r>
          </a:p>
          <a:p>
            <a:pPr marL="0" indent="0">
              <a:buNone/>
            </a:pPr>
            <a:r>
              <a:rPr lang="en-US" sz="2000" dirty="0"/>
              <a:t>-</a:t>
            </a:r>
            <a:r>
              <a:rPr lang="vi-VN" sz="2000" dirty="0"/>
              <a:t>Công nghiệp: Giám sát sản phẩm, phát hiện lỗi bề mặt.</a:t>
            </a:r>
          </a:p>
          <a:p>
            <a:pPr marL="0" indent="0">
              <a:buNone/>
            </a:pPr>
            <a:r>
              <a:rPr lang="en-US" sz="2000" b="1" dirty="0"/>
              <a:t>3.</a:t>
            </a:r>
            <a:r>
              <a:rPr lang="vi-VN" sz="2000" b="1" dirty="0"/>
              <a:t>Vị trí của tách biên ảnh trong hệ thống xử lý ảnh</a:t>
            </a:r>
          </a:p>
          <a:p>
            <a:pPr marL="0" indent="0">
              <a:buNone/>
            </a:pPr>
            <a:r>
              <a:rPr lang="en-US" sz="2000" dirty="0"/>
              <a:t>-</a:t>
            </a:r>
            <a:r>
              <a:rPr lang="vi-VN" sz="2000" dirty="0"/>
              <a:t>Trước tách biên: Gồm tiền xử lý như khử nhiễu, tăng cường ảnh.</a:t>
            </a:r>
          </a:p>
          <a:p>
            <a:pPr marL="0" indent="0">
              <a:buNone/>
            </a:pPr>
            <a:r>
              <a:rPr lang="en-US" sz="2000" dirty="0"/>
              <a:t>-</a:t>
            </a:r>
            <a:r>
              <a:rPr lang="vi-VN" sz="2000" dirty="0"/>
              <a:t>Tách biên: Sử dụng các thuật toán để phát hiện biên.</a:t>
            </a:r>
          </a:p>
          <a:p>
            <a:pPr marL="0" indent="0">
              <a:buNone/>
            </a:pPr>
            <a:r>
              <a:rPr lang="en-US" sz="2000" dirty="0"/>
              <a:t>-</a:t>
            </a:r>
            <a:r>
              <a:rPr lang="vi-VN" sz="2000" dirty="0"/>
              <a:t>Sau tách biên: Dùng để phân đoạn ảnh và nhận dạng đối tượng.</a:t>
            </a:r>
          </a:p>
        </p:txBody>
      </p:sp>
    </p:spTree>
    <p:extLst>
      <p:ext uri="{BB962C8B-B14F-4D97-AF65-F5344CB8AC3E}">
        <p14:creationId xmlns:p14="http://schemas.microsoft.com/office/powerpoint/2010/main" val="1225242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66509" y="201823"/>
            <a:ext cx="9371305" cy="1821710"/>
          </a:xfrm>
        </p:spPr>
        <p:txBody>
          <a:bodyPr>
            <a:normAutofit/>
          </a:bodyPr>
          <a:lstStyle/>
          <a:p>
            <a:r>
              <a:rPr lang="en-US" sz="5400" b="1" dirty="0" err="1">
                <a:latin typeface="Helvetica Neue"/>
              </a:rPr>
              <a:t>Khái</a:t>
            </a:r>
            <a:r>
              <a:rPr lang="en-US" sz="5400" b="1" dirty="0">
                <a:latin typeface="Helvetica Neue"/>
              </a:rPr>
              <a:t> </a:t>
            </a:r>
            <a:r>
              <a:rPr lang="en-US" sz="5400" b="1" dirty="0" err="1">
                <a:latin typeface="Helvetica Neue"/>
              </a:rPr>
              <a:t>niệm</a:t>
            </a:r>
            <a:r>
              <a:rPr lang="en-US" sz="5400" b="1" dirty="0">
                <a:latin typeface="Helvetica Neue"/>
              </a:rPr>
              <a:t> </a:t>
            </a:r>
            <a:r>
              <a:rPr lang="en-US" sz="5400" b="1" dirty="0" err="1">
                <a:latin typeface="Helvetica Neue"/>
              </a:rPr>
              <a:t>biên</a:t>
            </a:r>
            <a:r>
              <a:rPr lang="en-US" sz="5400" b="1" dirty="0">
                <a:latin typeface="Helvetica Neue"/>
              </a:rPr>
              <a:t> </a:t>
            </a:r>
            <a:r>
              <a:rPr lang="en-US" sz="5400" b="1" dirty="0" err="1">
                <a:latin typeface="Helvetica Neue"/>
              </a:rPr>
              <a:t>ảnh</a:t>
            </a:r>
            <a:endParaRPr lang="en-US" sz="5400" b="1" dirty="0">
              <a:latin typeface="Helvetica Neue"/>
            </a:endParaRPr>
          </a:p>
        </p:txBody>
      </p:sp>
      <p:sp>
        <p:nvSpPr>
          <p:cNvPr id="3" name="Content Placeholder 2"/>
          <p:cNvSpPr>
            <a:spLocks noGrp="1"/>
          </p:cNvSpPr>
          <p:nvPr>
            <p:ph idx="1"/>
          </p:nvPr>
        </p:nvSpPr>
        <p:spPr>
          <a:xfrm>
            <a:off x="990600" y="1809750"/>
            <a:ext cx="11147214" cy="7581900"/>
          </a:xfrm>
        </p:spPr>
        <p:txBody>
          <a:bodyPr>
            <a:normAutofit fontScale="85000" lnSpcReduction="20000"/>
          </a:bodyPr>
          <a:lstStyle/>
          <a:p>
            <a:pPr marL="0" indent="0">
              <a:buNone/>
            </a:pPr>
            <a:r>
              <a:rPr lang="en-US" b="1" dirty="0">
                <a:latin typeface="Helvetica Neue"/>
              </a:rPr>
              <a:t>1.</a:t>
            </a:r>
            <a:r>
              <a:rPr lang="vi-VN" b="1" dirty="0">
                <a:latin typeface="Helvetica Neue"/>
              </a:rPr>
              <a:t>Khái niệm</a:t>
            </a:r>
          </a:p>
          <a:p>
            <a:pPr marL="0" indent="0">
              <a:buNone/>
            </a:pPr>
            <a:r>
              <a:rPr lang="en-US" dirty="0">
                <a:latin typeface="Helvetica Neue"/>
              </a:rPr>
              <a:t>	</a:t>
            </a:r>
            <a:r>
              <a:rPr lang="vi-VN" dirty="0">
                <a:latin typeface="Helvetica Neue"/>
              </a:rPr>
              <a:t>Biên ảnh là vùng có sự thay đổi lớn về:</a:t>
            </a:r>
          </a:p>
          <a:p>
            <a:pPr lvl="1"/>
            <a:r>
              <a:rPr lang="vi-VN" dirty="0">
                <a:latin typeface="Helvetica Neue"/>
              </a:rPr>
              <a:t>Cường độ sáng: Chuyển từ vùng tối sang vùng sáng.</a:t>
            </a:r>
          </a:p>
          <a:p>
            <a:pPr lvl="1"/>
            <a:r>
              <a:rPr lang="vi-VN" dirty="0">
                <a:latin typeface="Helvetica Neue"/>
              </a:rPr>
              <a:t>Màu sắc: Sự chuyển đổi rõ rệt giữa hai màu.</a:t>
            </a:r>
          </a:p>
          <a:p>
            <a:pPr lvl="1"/>
            <a:r>
              <a:rPr lang="vi-VN" dirty="0">
                <a:latin typeface="Helvetica Neue"/>
              </a:rPr>
              <a:t>Kết cấu: Ranh giới giữa các vùng có họa tiết khác nhau.</a:t>
            </a:r>
          </a:p>
          <a:p>
            <a:pPr marL="0" indent="0">
              <a:buNone/>
            </a:pPr>
            <a:r>
              <a:rPr lang="en-US" b="1" dirty="0">
                <a:latin typeface="Helvetica Neue"/>
              </a:rPr>
              <a:t>2.</a:t>
            </a:r>
            <a:r>
              <a:rPr lang="vi-VN" b="1" dirty="0">
                <a:latin typeface="Helvetica Neue"/>
              </a:rPr>
              <a:t>Đặc điểm của biên ảnh</a:t>
            </a:r>
          </a:p>
          <a:p>
            <a:r>
              <a:rPr lang="vi-VN" dirty="0">
                <a:latin typeface="Helvetica Neue"/>
              </a:rPr>
              <a:t>Vị trí cục bộ: Xảy ra tại điểm có gradient cường độ sáng cao.</a:t>
            </a:r>
          </a:p>
          <a:p>
            <a:r>
              <a:rPr lang="vi-VN" dirty="0">
                <a:latin typeface="Helvetica Neue"/>
              </a:rPr>
              <a:t>Kích thước: Thường rất mảnh, nhưng có thể dày hơn nếu ảnh bị nhiễu.</a:t>
            </a:r>
          </a:p>
          <a:p>
            <a:r>
              <a:rPr lang="vi-VN" dirty="0">
                <a:latin typeface="Helvetica Neue"/>
              </a:rPr>
              <a:t>Hình dạng: Có thể liên tục hoặc đứt đoạn tùy vào cấu trúc đối tượng.</a:t>
            </a:r>
          </a:p>
          <a:p>
            <a:pPr marL="0" indent="0">
              <a:buNone/>
            </a:pPr>
            <a:r>
              <a:rPr lang="en-US" b="1" dirty="0">
                <a:latin typeface="Helvetica Neue"/>
              </a:rPr>
              <a:t>3.</a:t>
            </a:r>
            <a:r>
              <a:rPr lang="vi-VN" b="1" dirty="0">
                <a:latin typeface="Helvetica Neue"/>
              </a:rPr>
              <a:t>Tách biên ảnh (Edge Detection)</a:t>
            </a:r>
          </a:p>
          <a:p>
            <a:pPr marL="0" indent="0">
              <a:buNone/>
            </a:pPr>
            <a:r>
              <a:rPr lang="en-US" dirty="0">
                <a:latin typeface="Helvetica Neue"/>
              </a:rPr>
              <a:t>	</a:t>
            </a:r>
            <a:r>
              <a:rPr lang="vi-VN" dirty="0">
                <a:latin typeface="Helvetica Neue"/>
              </a:rPr>
              <a:t>Phát hiện và đánh dấu biên bằng cách:</a:t>
            </a:r>
          </a:p>
          <a:p>
            <a:pPr lvl="1"/>
            <a:r>
              <a:rPr lang="vi-VN" dirty="0">
                <a:latin typeface="Helvetica Neue"/>
              </a:rPr>
              <a:t>Xác định vùng có sự thay đổi nhanh về mức xám hoặc màu sắc.</a:t>
            </a:r>
          </a:p>
          <a:p>
            <a:pPr lvl="1"/>
            <a:r>
              <a:rPr lang="vi-VN" dirty="0">
                <a:latin typeface="Helvetica Neue"/>
              </a:rPr>
              <a:t>Dùng toán tử/bộ lọc: Sobel, Prewitt, </a:t>
            </a:r>
            <a:r>
              <a:rPr lang="en-US" dirty="0" smtClean="0">
                <a:latin typeface="Helvetica Neue"/>
              </a:rPr>
              <a:t>Roberts</a:t>
            </a:r>
            <a:r>
              <a:rPr lang="vi-VN" dirty="0" smtClean="0">
                <a:latin typeface="Helvetica Neue"/>
              </a:rPr>
              <a:t>, </a:t>
            </a:r>
            <a:r>
              <a:rPr lang="vi-VN" dirty="0">
                <a:latin typeface="Helvetica Neue"/>
              </a:rPr>
              <a:t>Laplacian</a:t>
            </a:r>
            <a:r>
              <a:rPr lang="en-US" dirty="0">
                <a:latin typeface="Helvetica Neue"/>
              </a:rPr>
              <a:t>, Canny</a:t>
            </a:r>
            <a:endParaRPr lang="vi-VN" dirty="0">
              <a:latin typeface="Helvetica Neue"/>
            </a:endParaRPr>
          </a:p>
          <a:p>
            <a:pPr marL="0" indent="0">
              <a:buNone/>
            </a:pPr>
            <a:r>
              <a:rPr lang="en-US" b="1" dirty="0">
                <a:latin typeface="Helvetica Neue"/>
              </a:rPr>
              <a:t>4.</a:t>
            </a:r>
            <a:r>
              <a:rPr lang="vi-VN" b="1" dirty="0">
                <a:latin typeface="Helvetica Neue"/>
              </a:rPr>
              <a:t>Lợi ích của tách biên ảnh</a:t>
            </a:r>
          </a:p>
          <a:p>
            <a:r>
              <a:rPr lang="vi-VN" dirty="0">
                <a:latin typeface="Helvetica Neue"/>
              </a:rPr>
              <a:t>Phân tích hình dạng: Xác định hình dạng và kích thước đối tượng.</a:t>
            </a:r>
          </a:p>
          <a:p>
            <a:r>
              <a:rPr lang="vi-VN" dirty="0">
                <a:latin typeface="Helvetica Neue"/>
              </a:rPr>
              <a:t>Phân đoạn chính xác hơn: Tách vùng ảnh theo biên.</a:t>
            </a:r>
          </a:p>
          <a:p>
            <a:r>
              <a:rPr lang="vi-VN" dirty="0">
                <a:latin typeface="Helvetica Neue"/>
              </a:rPr>
              <a:t>Giảm phức tạp dữ liệu: Giúp biểu diễn ảnh đơn giản hơn nhưng vẫn giữ thông tin quan trọng.</a:t>
            </a:r>
          </a:p>
        </p:txBody>
      </p:sp>
    </p:spTree>
    <p:extLst>
      <p:ext uri="{BB962C8B-B14F-4D97-AF65-F5344CB8AC3E}">
        <p14:creationId xmlns:p14="http://schemas.microsoft.com/office/powerpoint/2010/main" val="1809701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342110" y="331061"/>
            <a:ext cx="11021017" cy="1235644"/>
          </a:xfrm>
        </p:spPr>
        <p:txBody>
          <a:bodyPr>
            <a:normAutofit/>
          </a:bodyPr>
          <a:lstStyle/>
          <a:p>
            <a:r>
              <a:rPr lang="en-US" sz="4800" b="1" dirty="0" err="1">
                <a:latin typeface="Constantia" panose="02030602050306030303" pitchFamily="18" charset="0"/>
              </a:rPr>
              <a:t>Các</a:t>
            </a:r>
            <a:r>
              <a:rPr lang="en-US" sz="4800" b="1" dirty="0">
                <a:latin typeface="Constantia" panose="02030602050306030303" pitchFamily="18" charset="0"/>
              </a:rPr>
              <a:t> </a:t>
            </a:r>
            <a:r>
              <a:rPr lang="en-US" sz="4800" b="1" dirty="0" err="1">
                <a:latin typeface="Constantia" panose="02030602050306030303" pitchFamily="18" charset="0"/>
              </a:rPr>
              <a:t>phương</a:t>
            </a:r>
            <a:r>
              <a:rPr lang="en-US" sz="4800" b="1" dirty="0">
                <a:latin typeface="Constantia" panose="02030602050306030303" pitchFamily="18" charset="0"/>
              </a:rPr>
              <a:t> </a:t>
            </a:r>
            <a:r>
              <a:rPr lang="en-US" sz="4800" b="1" dirty="0" err="1">
                <a:latin typeface="Constantia" panose="02030602050306030303" pitchFamily="18" charset="0"/>
              </a:rPr>
              <a:t>pháp</a:t>
            </a:r>
            <a:r>
              <a:rPr lang="en-US" sz="4800" b="1" dirty="0">
                <a:latin typeface="Constantia" panose="02030602050306030303" pitchFamily="18" charset="0"/>
              </a:rPr>
              <a:t> phát </a:t>
            </a:r>
            <a:r>
              <a:rPr lang="en-US" sz="4800" b="1" dirty="0" err="1">
                <a:latin typeface="Constantia" panose="02030602050306030303" pitchFamily="18" charset="0"/>
              </a:rPr>
              <a:t>hiện</a:t>
            </a:r>
            <a:r>
              <a:rPr lang="en-US" sz="4800" b="1" dirty="0">
                <a:latin typeface="Constantia" panose="02030602050306030303" pitchFamily="18" charset="0"/>
              </a:rPr>
              <a:t> </a:t>
            </a:r>
            <a:r>
              <a:rPr lang="en-US" sz="4800" b="1" dirty="0" err="1">
                <a:latin typeface="Constantia" panose="02030602050306030303" pitchFamily="18" charset="0"/>
              </a:rPr>
              <a:t>biên</a:t>
            </a:r>
            <a:r>
              <a:rPr lang="en-US" sz="4800" b="1" dirty="0">
                <a:latin typeface="Constantia" panose="02030602050306030303" pitchFamily="18" charset="0"/>
              </a:rPr>
              <a:t> </a:t>
            </a:r>
            <a:r>
              <a:rPr lang="en-US" sz="4800" b="1" dirty="0" err="1">
                <a:latin typeface="Constantia" panose="02030602050306030303" pitchFamily="18" charset="0"/>
              </a:rPr>
              <a:t>ảnh</a:t>
            </a:r>
            <a:endParaRPr lang="en-US" sz="4800" b="1" dirty="0">
              <a:latin typeface="Constantia" panose="02030602050306030303" pitchFamily="18" charset="0"/>
            </a:endParaRPr>
          </a:p>
        </p:txBody>
      </p:sp>
      <p:sp>
        <p:nvSpPr>
          <p:cNvPr id="2" name="TextBox 1"/>
          <p:cNvSpPr txBox="1"/>
          <p:nvPr/>
        </p:nvSpPr>
        <p:spPr>
          <a:xfrm>
            <a:off x="1342110" y="2209800"/>
            <a:ext cx="5401590" cy="7109639"/>
          </a:xfrm>
          <a:prstGeom prst="rect">
            <a:avLst/>
          </a:prstGeom>
          <a:noFill/>
        </p:spPr>
        <p:txBody>
          <a:bodyPr wrap="square" rtlCol="0">
            <a:spAutoFit/>
          </a:bodyPr>
          <a:lstStyle/>
          <a:p>
            <a:pPr algn="l"/>
            <a:r>
              <a:rPr lang="en-US" sz="3200" b="0" dirty="0"/>
              <a:t>1.Dựa trên </a:t>
            </a:r>
            <a:r>
              <a:rPr lang="en-US" sz="3200" b="0" dirty="0" err="1"/>
              <a:t>đạo</a:t>
            </a:r>
            <a:r>
              <a:rPr lang="en-US" sz="3200" b="0" dirty="0"/>
              <a:t> </a:t>
            </a:r>
            <a:r>
              <a:rPr lang="en-US" sz="3200" b="0" dirty="0" err="1"/>
              <a:t>hàm</a:t>
            </a:r>
            <a:r>
              <a:rPr lang="en-US" sz="3200" b="0" dirty="0"/>
              <a:t> </a:t>
            </a:r>
            <a:r>
              <a:rPr lang="en-US" sz="3200" b="0" dirty="0" err="1"/>
              <a:t>bậc</a:t>
            </a:r>
            <a:r>
              <a:rPr lang="en-US" sz="3200" b="0" dirty="0"/>
              <a:t> </a:t>
            </a:r>
            <a:r>
              <a:rPr lang="en-US" sz="3200" b="0" dirty="0" err="1"/>
              <a:t>nhất</a:t>
            </a:r>
            <a:r>
              <a:rPr lang="en-US" sz="3200" b="0" dirty="0"/>
              <a:t> (Gradient-based):</a:t>
            </a:r>
          </a:p>
          <a:p>
            <a:pPr algn="l"/>
            <a:endParaRPr lang="en-US" b="0" dirty="0"/>
          </a:p>
          <a:p>
            <a:pPr marL="342900" indent="-342900" algn="l">
              <a:buFontTx/>
              <a:buChar char="-"/>
            </a:pPr>
            <a:r>
              <a:rPr lang="en-US" b="0" dirty="0" err="1"/>
              <a:t>Toán</a:t>
            </a:r>
            <a:r>
              <a:rPr lang="en-US" b="0" dirty="0"/>
              <a:t> </a:t>
            </a:r>
            <a:r>
              <a:rPr lang="en-US" b="0" dirty="0" err="1"/>
              <a:t>tử</a:t>
            </a:r>
            <a:r>
              <a:rPr lang="en-US" b="0" dirty="0"/>
              <a:t> Roberts</a:t>
            </a:r>
          </a:p>
          <a:p>
            <a:pPr marL="342900" indent="-342900" algn="l">
              <a:buFontTx/>
              <a:buChar char="-"/>
            </a:pPr>
            <a:r>
              <a:rPr lang="en-US" b="0" dirty="0" err="1"/>
              <a:t>Toán</a:t>
            </a:r>
            <a:r>
              <a:rPr lang="en-US" b="0" dirty="0"/>
              <a:t> </a:t>
            </a:r>
            <a:r>
              <a:rPr lang="en-US" b="0" dirty="0" err="1"/>
              <a:t>tử</a:t>
            </a:r>
            <a:r>
              <a:rPr lang="en-US" b="0" dirty="0"/>
              <a:t> Prewitt</a:t>
            </a:r>
          </a:p>
          <a:p>
            <a:pPr marL="342900" indent="-342900" algn="l">
              <a:buFontTx/>
              <a:buChar char="-"/>
            </a:pPr>
            <a:r>
              <a:rPr lang="en-US" b="0" dirty="0" err="1"/>
              <a:t>Toán</a:t>
            </a:r>
            <a:r>
              <a:rPr lang="en-US" b="0" dirty="0"/>
              <a:t> </a:t>
            </a:r>
            <a:r>
              <a:rPr lang="en-US" b="0" dirty="0" err="1"/>
              <a:t>tử</a:t>
            </a:r>
            <a:r>
              <a:rPr lang="en-US" b="0" dirty="0"/>
              <a:t> Sobel</a:t>
            </a:r>
          </a:p>
          <a:p>
            <a:pPr algn="l"/>
            <a:endParaRPr lang="en-US" b="0" dirty="0"/>
          </a:p>
          <a:p>
            <a:pPr algn="l"/>
            <a:r>
              <a:rPr lang="en-US" sz="3200" b="0" dirty="0"/>
              <a:t>2. </a:t>
            </a:r>
            <a:r>
              <a:rPr lang="en-US" sz="3200" b="0" dirty="0" err="1"/>
              <a:t>Dựa</a:t>
            </a:r>
            <a:r>
              <a:rPr lang="en-US" sz="3200" b="0" dirty="0"/>
              <a:t> trên </a:t>
            </a:r>
            <a:r>
              <a:rPr lang="en-US" sz="3200" b="0" dirty="0" err="1"/>
              <a:t>đạo</a:t>
            </a:r>
            <a:r>
              <a:rPr lang="en-US" sz="3200" b="0" dirty="0"/>
              <a:t> </a:t>
            </a:r>
            <a:r>
              <a:rPr lang="en-US" sz="3200" b="0" dirty="0" err="1"/>
              <a:t>hàm</a:t>
            </a:r>
            <a:r>
              <a:rPr lang="en-US" sz="3200" b="0" dirty="0"/>
              <a:t> </a:t>
            </a:r>
            <a:r>
              <a:rPr lang="en-US" sz="3200" b="0" dirty="0" err="1"/>
              <a:t>bậc</a:t>
            </a:r>
            <a:r>
              <a:rPr lang="en-US" sz="3200" b="0" dirty="0"/>
              <a:t> </a:t>
            </a:r>
            <a:r>
              <a:rPr lang="en-US" sz="3200" b="0" dirty="0" err="1"/>
              <a:t>hai</a:t>
            </a:r>
            <a:r>
              <a:rPr lang="en-US" sz="3200" b="0" dirty="0"/>
              <a:t> (Laplacian-based)</a:t>
            </a:r>
          </a:p>
          <a:p>
            <a:pPr algn="l"/>
            <a:endParaRPr lang="en-US" b="0" dirty="0"/>
          </a:p>
          <a:p>
            <a:pPr marL="342900" indent="-342900" algn="l">
              <a:buFontTx/>
              <a:buChar char="-"/>
            </a:pPr>
            <a:r>
              <a:rPr lang="en-US" b="0" dirty="0"/>
              <a:t>Laplacian</a:t>
            </a:r>
          </a:p>
          <a:p>
            <a:pPr marL="342900" indent="-342900" algn="l">
              <a:buFontTx/>
              <a:buChar char="-"/>
            </a:pPr>
            <a:r>
              <a:rPr lang="en-US" b="0" dirty="0"/>
              <a:t>Laplacian of Gaussian (</a:t>
            </a:r>
            <a:r>
              <a:rPr lang="en-US" b="0" dirty="0" err="1"/>
              <a:t>LoG</a:t>
            </a:r>
            <a:r>
              <a:rPr lang="en-US" b="0" dirty="0"/>
              <a:t>)</a:t>
            </a:r>
          </a:p>
          <a:p>
            <a:pPr marL="342900" indent="-342900" algn="l">
              <a:buFontTx/>
              <a:buChar char="-"/>
            </a:pPr>
            <a:r>
              <a:rPr lang="en-US" b="0" dirty="0" err="1"/>
              <a:t>Diffrerent</a:t>
            </a:r>
            <a:r>
              <a:rPr lang="en-US" b="0" dirty="0"/>
              <a:t> of Gaussian (</a:t>
            </a:r>
            <a:r>
              <a:rPr lang="en-US" b="0"/>
              <a:t>DoG</a:t>
            </a:r>
            <a:r>
              <a:rPr lang="en-US" b="0" dirty="0"/>
              <a:t>)</a:t>
            </a:r>
          </a:p>
          <a:p>
            <a:pPr marL="342900" indent="-342900" algn="l">
              <a:buFontTx/>
              <a:buChar char="-"/>
            </a:pPr>
            <a:endParaRPr lang="en-US" b="0" dirty="0"/>
          </a:p>
          <a:p>
            <a:pPr algn="l"/>
            <a:r>
              <a:rPr lang="en-US" sz="3200" b="0" dirty="0"/>
              <a:t>3. </a:t>
            </a:r>
            <a:r>
              <a:rPr lang="vi-VN" sz="3200" b="0" dirty="0"/>
              <a:t>Phương pháp Canny (Tối ưu nhất)</a:t>
            </a:r>
            <a:endParaRPr lang="en-US" sz="3200" b="0" dirty="0"/>
          </a:p>
          <a:p>
            <a:pPr algn="l"/>
            <a:endParaRPr lang="en-US" b="0" dirty="0"/>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43901" y="6286500"/>
            <a:ext cx="3295648" cy="2857500"/>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43900" y="1752600"/>
            <a:ext cx="3295649" cy="2857500"/>
          </a:xfrm>
          <a:prstGeom prst="rect">
            <a:avLst/>
          </a:prstGeom>
        </p:spPr>
      </p:pic>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77336" y="4795995"/>
            <a:ext cx="1628775" cy="1264365"/>
          </a:xfrm>
          <a:prstGeom prst="rect">
            <a:avLst/>
          </a:prstGeom>
        </p:spPr>
      </p:pic>
    </p:spTree>
    <p:extLst>
      <p:ext uri="{BB962C8B-B14F-4D97-AF65-F5344CB8AC3E}">
        <p14:creationId xmlns:p14="http://schemas.microsoft.com/office/powerpoint/2010/main" val="86136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5B8FF-08A1-E6DA-5F10-58D7D03D86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0879C3-D098-BD86-34F1-0A8715C9E7D8}"/>
              </a:ext>
            </a:extLst>
          </p:cNvPr>
          <p:cNvSpPr>
            <a:spLocks noGrp="1"/>
          </p:cNvSpPr>
          <p:nvPr>
            <p:ph type="title"/>
          </p:nvPr>
        </p:nvSpPr>
        <p:spPr/>
        <p:txBody>
          <a:bodyPr/>
          <a:lstStyle/>
          <a:p>
            <a:r>
              <a:rPr lang="en-US" b="1" dirty="0" err="1">
                <a:latin typeface="Helvetica Neue"/>
              </a:rPr>
              <a:t>Phương</a:t>
            </a:r>
            <a:r>
              <a:rPr lang="en-US" b="1" dirty="0">
                <a:latin typeface="Helvetica Neue"/>
              </a:rPr>
              <a:t> </a:t>
            </a:r>
            <a:r>
              <a:rPr lang="en-US" b="1" dirty="0" err="1">
                <a:latin typeface="Helvetica Neue"/>
              </a:rPr>
              <a:t>pháp</a:t>
            </a:r>
            <a:r>
              <a:rPr lang="en-US" b="1" dirty="0">
                <a:latin typeface="Helvetica Neue"/>
              </a:rPr>
              <a:t> </a:t>
            </a:r>
            <a:r>
              <a:rPr lang="en-US" b="1" dirty="0" err="1">
                <a:latin typeface="Helvetica Neue"/>
              </a:rPr>
              <a:t>đạo</a:t>
            </a:r>
            <a:r>
              <a:rPr lang="en-US" b="1" dirty="0">
                <a:latin typeface="Helvetica Neue"/>
              </a:rPr>
              <a:t> </a:t>
            </a:r>
            <a:r>
              <a:rPr lang="en-US" b="1" dirty="0" err="1">
                <a:latin typeface="Helvetica Neue"/>
              </a:rPr>
              <a:t>hàm</a:t>
            </a:r>
            <a:r>
              <a:rPr lang="en-US" b="1" dirty="0">
                <a:latin typeface="Helvetica Neue"/>
              </a:rPr>
              <a:t> </a:t>
            </a:r>
            <a:r>
              <a:rPr lang="en-US" b="1" dirty="0" err="1">
                <a:latin typeface="Helvetica Neue"/>
              </a:rPr>
              <a:t>bậc</a:t>
            </a:r>
            <a:r>
              <a:rPr lang="en-US" b="1" dirty="0">
                <a:latin typeface="Helvetica Neue"/>
              </a:rPr>
              <a:t> </a:t>
            </a:r>
            <a:r>
              <a:rPr lang="en-US" b="1" dirty="0" err="1">
                <a:latin typeface="Helvetica Neue"/>
              </a:rPr>
              <a:t>nhất</a:t>
            </a:r>
            <a:endParaRPr lang="en-US" b="1" dirty="0">
              <a:latin typeface="Helvetica Neue"/>
            </a:endParaRPr>
          </a:p>
        </p:txBody>
      </p:sp>
      <p:pic>
        <p:nvPicPr>
          <p:cNvPr id="5" name="Picture 4">
            <a:extLst>
              <a:ext uri="{FF2B5EF4-FFF2-40B4-BE49-F238E27FC236}">
                <a16:creationId xmlns:a16="http://schemas.microsoft.com/office/drawing/2014/main" id="{0A0456C9-A4D7-2307-2A37-CA5A1B85E479}"/>
              </a:ext>
            </a:extLst>
          </p:cNvPr>
          <p:cNvPicPr>
            <a:picLocks noChangeAspect="1"/>
          </p:cNvPicPr>
          <p:nvPr/>
        </p:nvPicPr>
        <p:blipFill>
          <a:blip r:embed="rId2"/>
          <a:stretch>
            <a:fillRect/>
          </a:stretch>
        </p:blipFill>
        <p:spPr>
          <a:xfrm>
            <a:off x="2933001" y="3009900"/>
            <a:ext cx="6334125" cy="1866900"/>
          </a:xfrm>
          <a:prstGeom prst="rect">
            <a:avLst/>
          </a:prstGeom>
        </p:spPr>
      </p:pic>
      <p:sp>
        <p:nvSpPr>
          <p:cNvPr id="10" name="TextBox 9">
            <a:extLst>
              <a:ext uri="{FF2B5EF4-FFF2-40B4-BE49-F238E27FC236}">
                <a16:creationId xmlns:a16="http://schemas.microsoft.com/office/drawing/2014/main" id="{48AE9191-3462-DCEC-89B3-96FEB680D7C0}"/>
              </a:ext>
            </a:extLst>
          </p:cNvPr>
          <p:cNvSpPr txBox="1"/>
          <p:nvPr/>
        </p:nvSpPr>
        <p:spPr>
          <a:xfrm>
            <a:off x="1677891" y="5316582"/>
            <a:ext cx="6107572" cy="584775"/>
          </a:xfrm>
          <a:prstGeom prst="rect">
            <a:avLst/>
          </a:prstGeom>
          <a:noFill/>
        </p:spPr>
        <p:txBody>
          <a:bodyPr wrap="square" rtlCol="0">
            <a:spAutoFit/>
          </a:bodyPr>
          <a:lstStyle/>
          <a:p>
            <a:r>
              <a:rPr lang="en-US" sz="3200" dirty="0" err="1">
                <a:latin typeface="Arial" panose="020B0604020202020204" pitchFamily="34" charset="0"/>
                <a:cs typeface="Arial" panose="020B0604020202020204" pitchFamily="34" charset="0"/>
              </a:rPr>
              <a:t>Đạo</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hàm</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bậc</a:t>
            </a:r>
            <a:r>
              <a:rPr lang="en-US" sz="3200" dirty="0">
                <a:latin typeface="Arial" panose="020B0604020202020204" pitchFamily="34" charset="0"/>
                <a:cs typeface="Arial" panose="020B0604020202020204" pitchFamily="34" charset="0"/>
              </a:rPr>
              <a:t> 1 </a:t>
            </a:r>
            <a:r>
              <a:rPr lang="en-US" sz="3200" dirty="0" err="1">
                <a:latin typeface="Arial" panose="020B0604020202020204" pitchFamily="34" charset="0"/>
                <a:cs typeface="Arial" panose="020B0604020202020204" pitchFamily="34" charset="0"/>
              </a:rPr>
              <a:t>có</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đặc</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tính</a:t>
            </a:r>
            <a:endParaRPr lang="en-US" sz="32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70D1C08-A4A8-9CD3-6116-FB5FA4B14D7E}"/>
              </a:ext>
            </a:extLst>
          </p:cNvPr>
          <p:cNvSpPr txBox="1"/>
          <p:nvPr/>
        </p:nvSpPr>
        <p:spPr>
          <a:xfrm>
            <a:off x="2762055" y="6152606"/>
            <a:ext cx="8432814" cy="1384995"/>
          </a:xfrm>
          <a:prstGeom prst="rect">
            <a:avLst/>
          </a:prstGeom>
          <a:noFill/>
        </p:spPr>
        <p:txBody>
          <a:bodyPr wrap="square" rtlCol="0">
            <a:spAutoFit/>
          </a:bodyPr>
          <a:lstStyle/>
          <a:p>
            <a:pPr marL="342900" indent="-342900" algn="l">
              <a:buFontTx/>
              <a:buChar char="-"/>
            </a:pPr>
            <a:r>
              <a:rPr lang="en-US" sz="2800" dirty="0" err="1"/>
              <a:t>Bằng</a:t>
            </a:r>
            <a:r>
              <a:rPr lang="en-US" sz="2800" dirty="0"/>
              <a:t> 0 </a:t>
            </a:r>
            <a:r>
              <a:rPr lang="en-US" sz="2800" dirty="0" err="1"/>
              <a:t>khi</a:t>
            </a:r>
            <a:r>
              <a:rPr lang="en-US" sz="2800" dirty="0"/>
              <a:t> </a:t>
            </a:r>
            <a:r>
              <a:rPr lang="en-US" sz="2800" dirty="0" err="1"/>
              <a:t>hàm</a:t>
            </a:r>
            <a:r>
              <a:rPr lang="en-US" sz="2800" dirty="0"/>
              <a:t> </a:t>
            </a:r>
            <a:r>
              <a:rPr lang="en-US" sz="2800" dirty="0" err="1"/>
              <a:t>không</a:t>
            </a:r>
            <a:r>
              <a:rPr lang="en-US" sz="2800" dirty="0"/>
              <a:t> </a:t>
            </a:r>
            <a:r>
              <a:rPr lang="en-US" sz="2800" dirty="0" err="1"/>
              <a:t>đổi</a:t>
            </a:r>
            <a:endParaRPr lang="en-US" sz="2800" dirty="0"/>
          </a:p>
          <a:p>
            <a:pPr marL="342900" indent="-342900" algn="l">
              <a:buFontTx/>
              <a:buChar char="-"/>
            </a:pPr>
            <a:r>
              <a:rPr lang="en-US" sz="2800" dirty="0" err="1"/>
              <a:t>Khác</a:t>
            </a:r>
            <a:r>
              <a:rPr lang="en-US" sz="2800" dirty="0"/>
              <a:t> 0 </a:t>
            </a:r>
            <a:r>
              <a:rPr lang="en-US" sz="2800" dirty="0" err="1"/>
              <a:t>tại</a:t>
            </a:r>
            <a:r>
              <a:rPr lang="en-US" sz="2800" dirty="0"/>
              <a:t> </a:t>
            </a:r>
            <a:r>
              <a:rPr lang="en-US" sz="2800" dirty="0" err="1"/>
              <a:t>các</a:t>
            </a:r>
            <a:r>
              <a:rPr lang="en-US" sz="2800" dirty="0"/>
              <a:t> </a:t>
            </a:r>
            <a:r>
              <a:rPr lang="en-US" sz="2800" dirty="0" err="1"/>
              <a:t>điểm</a:t>
            </a:r>
            <a:r>
              <a:rPr lang="en-US" sz="2800" dirty="0"/>
              <a:t> </a:t>
            </a:r>
            <a:r>
              <a:rPr lang="en-US" sz="2800" dirty="0" err="1"/>
              <a:t>thay</a:t>
            </a:r>
            <a:r>
              <a:rPr lang="en-US" sz="2800" dirty="0"/>
              <a:t> </a:t>
            </a:r>
            <a:r>
              <a:rPr lang="en-US" sz="2800" dirty="0" err="1"/>
              <a:t>đổi</a:t>
            </a:r>
            <a:r>
              <a:rPr lang="en-US" sz="2800" dirty="0"/>
              <a:t> </a:t>
            </a:r>
            <a:r>
              <a:rPr lang="en-US" sz="2800" dirty="0" err="1"/>
              <a:t>của</a:t>
            </a:r>
            <a:r>
              <a:rPr lang="en-US" sz="2800" dirty="0"/>
              <a:t> </a:t>
            </a:r>
            <a:r>
              <a:rPr lang="en-US" sz="2800" dirty="0" err="1"/>
              <a:t>hàm</a:t>
            </a:r>
            <a:r>
              <a:rPr lang="en-US" sz="2800" dirty="0"/>
              <a:t> </a:t>
            </a:r>
            <a:r>
              <a:rPr lang="en-US" sz="2800" dirty="0" err="1"/>
              <a:t>số</a:t>
            </a:r>
            <a:endParaRPr lang="en-US" sz="2800" dirty="0"/>
          </a:p>
          <a:p>
            <a:pPr marL="342900" indent="-342900" algn="l">
              <a:buFontTx/>
              <a:buChar char="-"/>
            </a:pPr>
            <a:r>
              <a:rPr lang="en-US" sz="2800" dirty="0" err="1"/>
              <a:t>Khác</a:t>
            </a:r>
            <a:r>
              <a:rPr lang="en-US" sz="2800" dirty="0"/>
              <a:t> 0 </a:t>
            </a:r>
            <a:r>
              <a:rPr lang="en-US" sz="2800" dirty="0" err="1"/>
              <a:t>khi</a:t>
            </a:r>
            <a:r>
              <a:rPr lang="en-US" sz="2800" dirty="0"/>
              <a:t> </a:t>
            </a:r>
            <a:r>
              <a:rPr lang="en-US" sz="2800" dirty="0" err="1"/>
              <a:t>hàm</a:t>
            </a:r>
            <a:r>
              <a:rPr lang="en-US" sz="2800" dirty="0"/>
              <a:t> tang </a:t>
            </a:r>
            <a:r>
              <a:rPr lang="en-US" sz="2800" dirty="0" err="1"/>
              <a:t>hoặc</a:t>
            </a:r>
            <a:r>
              <a:rPr lang="en-US" sz="2800" dirty="0"/>
              <a:t> </a:t>
            </a:r>
            <a:r>
              <a:rPr lang="en-US" sz="2800" dirty="0" err="1"/>
              <a:t>giảm</a:t>
            </a:r>
            <a:r>
              <a:rPr lang="en-US" sz="2800" dirty="0"/>
              <a:t> </a:t>
            </a:r>
            <a:r>
              <a:rPr lang="en-US" sz="2800" dirty="0" err="1"/>
              <a:t>dần</a:t>
            </a:r>
            <a:r>
              <a:rPr lang="en-US" sz="2800" dirty="0"/>
              <a:t> </a:t>
            </a:r>
            <a:r>
              <a:rPr lang="en-US" sz="2800" dirty="0" err="1"/>
              <a:t>đều</a:t>
            </a:r>
            <a:endParaRPr lang="en-US" sz="2800" dirty="0"/>
          </a:p>
        </p:txBody>
      </p:sp>
    </p:spTree>
    <p:extLst>
      <p:ext uri="{BB962C8B-B14F-4D97-AF65-F5344CB8AC3E}">
        <p14:creationId xmlns:p14="http://schemas.microsoft.com/office/powerpoint/2010/main" val="155810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FAECC-AC61-8454-8DC8-8975152C27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5B1487-9589-9391-5710-9B9231DEE891}"/>
              </a:ext>
            </a:extLst>
          </p:cNvPr>
          <p:cNvSpPr>
            <a:spLocks noGrp="1"/>
          </p:cNvSpPr>
          <p:nvPr>
            <p:ph type="title"/>
          </p:nvPr>
        </p:nvSpPr>
        <p:spPr/>
        <p:txBody>
          <a:bodyPr/>
          <a:lstStyle/>
          <a:p>
            <a:r>
              <a:rPr lang="en-US" b="1" dirty="0" err="1">
                <a:latin typeface="Helvetica Neue"/>
              </a:rPr>
              <a:t>Phương</a:t>
            </a:r>
            <a:r>
              <a:rPr lang="en-US" b="1" dirty="0">
                <a:latin typeface="Helvetica Neue"/>
              </a:rPr>
              <a:t> </a:t>
            </a:r>
            <a:r>
              <a:rPr lang="en-US" b="1" dirty="0" err="1">
                <a:latin typeface="Helvetica Neue"/>
              </a:rPr>
              <a:t>pháp</a:t>
            </a:r>
            <a:r>
              <a:rPr lang="en-US" b="1" dirty="0">
                <a:latin typeface="Helvetica Neue"/>
              </a:rPr>
              <a:t> </a:t>
            </a:r>
            <a:r>
              <a:rPr lang="en-US" b="1" dirty="0" err="1">
                <a:latin typeface="Helvetica Neue"/>
              </a:rPr>
              <a:t>đạo</a:t>
            </a:r>
            <a:r>
              <a:rPr lang="en-US" b="1" dirty="0">
                <a:latin typeface="Helvetica Neue"/>
              </a:rPr>
              <a:t> </a:t>
            </a:r>
            <a:r>
              <a:rPr lang="en-US" b="1" dirty="0" err="1">
                <a:latin typeface="Helvetica Neue"/>
              </a:rPr>
              <a:t>hàm</a:t>
            </a:r>
            <a:r>
              <a:rPr lang="en-US" b="1" dirty="0">
                <a:latin typeface="Helvetica Neue"/>
              </a:rPr>
              <a:t> </a:t>
            </a:r>
            <a:r>
              <a:rPr lang="en-US" b="1" dirty="0" err="1">
                <a:latin typeface="Helvetica Neue"/>
              </a:rPr>
              <a:t>bậc</a:t>
            </a:r>
            <a:r>
              <a:rPr lang="en-US" b="1" dirty="0">
                <a:latin typeface="Helvetica Neue"/>
              </a:rPr>
              <a:t> </a:t>
            </a:r>
            <a:r>
              <a:rPr lang="en-US" b="1" dirty="0" err="1">
                <a:latin typeface="Helvetica Neue"/>
              </a:rPr>
              <a:t>nhất</a:t>
            </a:r>
            <a:endParaRPr lang="en-US" b="1" dirty="0">
              <a:latin typeface="Helvetica Neue"/>
            </a:endParaRPr>
          </a:p>
        </p:txBody>
      </p:sp>
      <p:pic>
        <p:nvPicPr>
          <p:cNvPr id="4" name="Picture 3">
            <a:extLst>
              <a:ext uri="{FF2B5EF4-FFF2-40B4-BE49-F238E27FC236}">
                <a16:creationId xmlns:a16="http://schemas.microsoft.com/office/drawing/2014/main" id="{15F2D75D-B915-5215-AAEA-E708D5D02BFB}"/>
              </a:ext>
            </a:extLst>
          </p:cNvPr>
          <p:cNvPicPr>
            <a:picLocks noChangeAspect="1"/>
          </p:cNvPicPr>
          <p:nvPr/>
        </p:nvPicPr>
        <p:blipFill>
          <a:blip r:embed="rId2"/>
          <a:stretch>
            <a:fillRect/>
          </a:stretch>
        </p:blipFill>
        <p:spPr>
          <a:xfrm>
            <a:off x="2392977" y="2709333"/>
            <a:ext cx="9504408" cy="6951796"/>
          </a:xfrm>
          <a:prstGeom prst="rect">
            <a:avLst/>
          </a:prstGeom>
        </p:spPr>
      </p:pic>
    </p:spTree>
    <p:extLst>
      <p:ext uri="{BB962C8B-B14F-4D97-AF65-F5344CB8AC3E}">
        <p14:creationId xmlns:p14="http://schemas.microsoft.com/office/powerpoint/2010/main" val="2127300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latin typeface="Helvetica Neue"/>
              </a:rPr>
              <a:t>Phương</a:t>
            </a:r>
            <a:r>
              <a:rPr lang="en-US" b="1" dirty="0">
                <a:latin typeface="Helvetica Neue"/>
              </a:rPr>
              <a:t> </a:t>
            </a:r>
            <a:r>
              <a:rPr lang="en-US" b="1" dirty="0" err="1">
                <a:latin typeface="Helvetica Neue"/>
              </a:rPr>
              <a:t>pháp</a:t>
            </a:r>
            <a:r>
              <a:rPr lang="en-US" b="1" dirty="0">
                <a:latin typeface="Helvetica Neue"/>
              </a:rPr>
              <a:t> </a:t>
            </a:r>
            <a:r>
              <a:rPr lang="en-US" b="1" dirty="0" err="1">
                <a:latin typeface="Helvetica Neue"/>
              </a:rPr>
              <a:t>đạo</a:t>
            </a:r>
            <a:r>
              <a:rPr lang="en-US" b="1" dirty="0">
                <a:latin typeface="Helvetica Neue"/>
              </a:rPr>
              <a:t> </a:t>
            </a:r>
            <a:r>
              <a:rPr lang="en-US" b="1" dirty="0" err="1">
                <a:latin typeface="Helvetica Neue"/>
              </a:rPr>
              <a:t>hàm</a:t>
            </a:r>
            <a:r>
              <a:rPr lang="en-US" b="1" dirty="0">
                <a:latin typeface="Helvetica Neue"/>
              </a:rPr>
              <a:t> </a:t>
            </a:r>
            <a:r>
              <a:rPr lang="en-US" b="1" dirty="0" err="1">
                <a:latin typeface="Helvetica Neue"/>
              </a:rPr>
              <a:t>bậc</a:t>
            </a:r>
            <a:r>
              <a:rPr lang="en-US" b="1" dirty="0">
                <a:latin typeface="Helvetica Neue"/>
              </a:rPr>
              <a:t> </a:t>
            </a:r>
            <a:r>
              <a:rPr lang="en-US" b="1" dirty="0" err="1">
                <a:latin typeface="Helvetica Neue"/>
              </a:rPr>
              <a:t>nhất</a:t>
            </a:r>
            <a:endParaRPr lang="en-US" b="1" dirty="0">
              <a:latin typeface="Helvetica Neue"/>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7724" y="3467100"/>
            <a:ext cx="7223125" cy="5076825"/>
          </a:xfrm>
          <a:prstGeom prst="rect">
            <a:avLst/>
          </a:prstGeom>
        </p:spPr>
      </p:pic>
    </p:spTree>
    <p:extLst>
      <p:ext uri="{BB962C8B-B14F-4D97-AF65-F5344CB8AC3E}">
        <p14:creationId xmlns:p14="http://schemas.microsoft.com/office/powerpoint/2010/main" val="1621752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429046" y="2101003"/>
            <a:ext cx="9375268" cy="5372618"/>
          </a:xfrm>
        </p:spPr>
        <p:txBody>
          <a:bodyPr/>
          <a:lstStyle/>
          <a:p>
            <a:pPr marL="0" indent="0">
              <a:buNone/>
            </a:pPr>
            <a:r>
              <a:rPr lang="vi-VN" sz="5400" b="1" dirty="0">
                <a:latin typeface="Helvetica Neue"/>
              </a:rPr>
              <a:t>Gradient là gì?</a:t>
            </a:r>
            <a:endParaRPr lang="en-US" sz="5400" b="1" dirty="0">
              <a:latin typeface="Helvetica Neue"/>
            </a:endParaRPr>
          </a:p>
          <a:p>
            <a:pPr marL="0" indent="0">
              <a:buNone/>
            </a:pPr>
            <a:endParaRPr lang="vi-VN" sz="5400" b="1" dirty="0">
              <a:latin typeface="Helvetica Neue"/>
            </a:endParaRPr>
          </a:p>
          <a:p>
            <a:pPr marL="0" indent="0">
              <a:buNone/>
            </a:pPr>
            <a:r>
              <a:rPr lang="vi-VN" sz="2400" dirty="0">
                <a:latin typeface="Helvetica Neue"/>
              </a:rPr>
              <a:t>Gradient là một khái niệm trong toán học và xử lý ảnh, dùng để biểu diễn sự thay đổi của một đại lượng trong không gian. Trong ngữ cảnh của hình ảnh, </a:t>
            </a:r>
            <a:r>
              <a:rPr lang="vi-VN" sz="2400" b="1" dirty="0">
                <a:latin typeface="Helvetica Neue"/>
              </a:rPr>
              <a:t>gradient</a:t>
            </a:r>
            <a:r>
              <a:rPr lang="vi-VN" sz="2400" dirty="0">
                <a:latin typeface="Helvetica Neue"/>
              </a:rPr>
              <a:t> mô tả </a:t>
            </a:r>
            <a:r>
              <a:rPr lang="vi-VN" sz="2400" b="1" dirty="0">
                <a:latin typeface="Helvetica Neue"/>
              </a:rPr>
              <a:t>mức độ thay đổi cường độ sáng</a:t>
            </a:r>
            <a:r>
              <a:rPr lang="vi-VN" sz="2400" dirty="0">
                <a:latin typeface="Helvetica Neue"/>
              </a:rPr>
              <a:t> (intensity) giữa các pixel lân cận. Nó là một công cụ quan trọng để phát hiện các cạnh (edges) trong hình ảnh.</a:t>
            </a:r>
          </a:p>
          <a:p>
            <a:pPr marL="0" indent="0">
              <a:buNone/>
            </a:pPr>
            <a:endParaRPr lang="en-US" dirty="0"/>
          </a:p>
        </p:txBody>
      </p:sp>
    </p:spTree>
    <p:extLst>
      <p:ext uri="{BB962C8B-B14F-4D97-AF65-F5344CB8AC3E}">
        <p14:creationId xmlns:p14="http://schemas.microsoft.com/office/powerpoint/2010/main" val="3020868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200150" y="2000250"/>
            <a:ext cx="9582150" cy="7109639"/>
          </a:xfrm>
          <a:prstGeom prst="rect">
            <a:avLst/>
          </a:prstGeom>
          <a:noFill/>
        </p:spPr>
        <p:txBody>
          <a:bodyPr wrap="square" rtlCol="0">
            <a:spAutoFit/>
          </a:bodyPr>
          <a:lstStyle/>
          <a:p>
            <a:pPr lvl="0" algn="l" defTabSz="914400" eaLnBrk="0" fontAlgn="base">
              <a:spcBef>
                <a:spcPct val="0"/>
              </a:spcBef>
              <a:spcAft>
                <a:spcPct val="0"/>
              </a:spcAft>
            </a:pPr>
            <a:r>
              <a:rPr lang="en-US" altLang="en-US" dirty="0">
                <a:solidFill>
                  <a:srgbClr val="1F1F1F"/>
                </a:solidFill>
              </a:rPr>
              <a:t>Ý </a:t>
            </a:r>
            <a:r>
              <a:rPr lang="en-US" altLang="en-US" dirty="0" err="1">
                <a:solidFill>
                  <a:srgbClr val="1F1F1F"/>
                </a:solidFill>
              </a:rPr>
              <a:t>nghĩa</a:t>
            </a:r>
            <a:r>
              <a:rPr lang="en-US" altLang="en-US" dirty="0">
                <a:solidFill>
                  <a:srgbClr val="1F1F1F"/>
                </a:solidFill>
              </a:rPr>
              <a:t> </a:t>
            </a:r>
            <a:r>
              <a:rPr lang="en-US" altLang="en-US" dirty="0" err="1">
                <a:solidFill>
                  <a:srgbClr val="1F1F1F"/>
                </a:solidFill>
              </a:rPr>
              <a:t>của</a:t>
            </a:r>
            <a:r>
              <a:rPr lang="en-US" altLang="en-US" dirty="0">
                <a:solidFill>
                  <a:srgbClr val="1F1F1F"/>
                </a:solidFill>
              </a:rPr>
              <a:t> Gradient trong </a:t>
            </a:r>
            <a:r>
              <a:rPr lang="en-US" altLang="en-US" dirty="0" err="1">
                <a:solidFill>
                  <a:srgbClr val="1F1F1F"/>
                </a:solidFill>
              </a:rPr>
              <a:t>hình</a:t>
            </a:r>
            <a:r>
              <a:rPr lang="en-US" altLang="en-US" dirty="0">
                <a:solidFill>
                  <a:srgbClr val="1F1F1F"/>
                </a:solidFill>
              </a:rPr>
              <a:t> </a:t>
            </a:r>
            <a:r>
              <a:rPr lang="en-US" altLang="en-US" dirty="0" err="1">
                <a:solidFill>
                  <a:srgbClr val="1F1F1F"/>
                </a:solidFill>
              </a:rPr>
              <a:t>ảnh</a:t>
            </a:r>
            <a:endParaRPr lang="en-US" altLang="en-US" dirty="0">
              <a:solidFill>
                <a:srgbClr val="1F1F1F"/>
              </a:solidFill>
            </a:endParaRPr>
          </a:p>
          <a:p>
            <a:pPr lvl="0" algn="l" defTabSz="914400" eaLnBrk="0" fontAlgn="base">
              <a:spcBef>
                <a:spcPct val="0"/>
              </a:spcBef>
              <a:spcAft>
                <a:spcPct val="0"/>
              </a:spcAft>
            </a:pPr>
            <a:endParaRPr lang="en-US" altLang="en-US" b="0" dirty="0">
              <a:solidFill>
                <a:srgbClr val="1F1F1F"/>
              </a:solidFill>
            </a:endParaRPr>
          </a:p>
          <a:p>
            <a:pPr lvl="0" algn="l" defTabSz="914400" eaLnBrk="0" fontAlgn="base">
              <a:spcBef>
                <a:spcPct val="0"/>
              </a:spcBef>
              <a:spcAft>
                <a:spcPct val="0"/>
              </a:spcAft>
              <a:buFontTx/>
              <a:buAutoNum type="arabicPeriod"/>
            </a:pPr>
            <a:r>
              <a:rPr lang="en-US" altLang="en-US" dirty="0" err="1">
                <a:solidFill>
                  <a:srgbClr val="1F1F1F"/>
                </a:solidFill>
              </a:rPr>
              <a:t>Cường</a:t>
            </a:r>
            <a:r>
              <a:rPr lang="en-US" altLang="en-US" dirty="0">
                <a:solidFill>
                  <a:srgbClr val="1F1F1F"/>
                </a:solidFill>
              </a:rPr>
              <a:t> </a:t>
            </a:r>
            <a:r>
              <a:rPr lang="en-US" altLang="en-US" dirty="0" err="1">
                <a:solidFill>
                  <a:srgbClr val="1F1F1F"/>
                </a:solidFill>
              </a:rPr>
              <a:t>độ</a:t>
            </a:r>
            <a:r>
              <a:rPr lang="en-US" altLang="en-US" dirty="0">
                <a:solidFill>
                  <a:srgbClr val="1F1F1F"/>
                </a:solidFill>
              </a:rPr>
              <a:t> Gradient (Gradient Magnitude):</a:t>
            </a:r>
          </a:p>
          <a:p>
            <a:pPr marL="457200" lvl="1" indent="0" algn="l" defTabSz="914400" eaLnBrk="0" fontAlgn="base">
              <a:spcBef>
                <a:spcPct val="0"/>
              </a:spcBef>
              <a:spcAft>
                <a:spcPct val="0"/>
              </a:spcAft>
              <a:buFontTx/>
              <a:buChar char="•"/>
            </a:pPr>
            <a:r>
              <a:rPr lang="en-US" altLang="en-US" b="0" dirty="0">
                <a:solidFill>
                  <a:srgbClr val="1F1F1F"/>
                </a:solidFill>
              </a:rPr>
              <a:t>Là </a:t>
            </a:r>
            <a:r>
              <a:rPr lang="en-US" altLang="en-US" b="0" dirty="0" err="1">
                <a:solidFill>
                  <a:srgbClr val="1F1F1F"/>
                </a:solidFill>
              </a:rPr>
              <a:t>độ</a:t>
            </a:r>
            <a:r>
              <a:rPr lang="en-US" altLang="en-US" b="0" dirty="0">
                <a:solidFill>
                  <a:srgbClr val="1F1F1F"/>
                </a:solidFill>
              </a:rPr>
              <a:t> </a:t>
            </a:r>
            <a:r>
              <a:rPr lang="en-US" altLang="en-US" b="0" dirty="0" err="1">
                <a:solidFill>
                  <a:srgbClr val="1F1F1F"/>
                </a:solidFill>
              </a:rPr>
              <a:t>lớn</a:t>
            </a:r>
            <a:r>
              <a:rPr lang="en-US" altLang="en-US" b="0" dirty="0">
                <a:solidFill>
                  <a:srgbClr val="1F1F1F"/>
                </a:solidFill>
              </a:rPr>
              <a:t> </a:t>
            </a:r>
            <a:r>
              <a:rPr lang="en-US" altLang="en-US" b="0" dirty="0" err="1">
                <a:solidFill>
                  <a:srgbClr val="1F1F1F"/>
                </a:solidFill>
              </a:rPr>
              <a:t>của</a:t>
            </a:r>
            <a:r>
              <a:rPr lang="en-US" altLang="en-US" b="0" dirty="0">
                <a:solidFill>
                  <a:srgbClr val="1F1F1F"/>
                </a:solidFill>
              </a:rPr>
              <a:t> </a:t>
            </a:r>
            <a:r>
              <a:rPr lang="en-US" altLang="en-US" b="0" dirty="0" err="1">
                <a:solidFill>
                  <a:srgbClr val="1F1F1F"/>
                </a:solidFill>
              </a:rPr>
              <a:t>sự</a:t>
            </a:r>
            <a:r>
              <a:rPr lang="en-US" altLang="en-US" b="0" dirty="0">
                <a:solidFill>
                  <a:srgbClr val="1F1F1F"/>
                </a:solidFill>
              </a:rPr>
              <a:t> </a:t>
            </a:r>
            <a:r>
              <a:rPr lang="en-US" altLang="en-US" b="0" dirty="0" err="1">
                <a:solidFill>
                  <a:srgbClr val="1F1F1F"/>
                </a:solidFill>
              </a:rPr>
              <a:t>thay</a:t>
            </a:r>
            <a:r>
              <a:rPr lang="en-US" altLang="en-US" b="0" dirty="0">
                <a:solidFill>
                  <a:srgbClr val="1F1F1F"/>
                </a:solidFill>
              </a:rPr>
              <a:t> </a:t>
            </a:r>
            <a:r>
              <a:rPr lang="en-US" altLang="en-US" b="0" dirty="0" err="1">
                <a:solidFill>
                  <a:srgbClr val="1F1F1F"/>
                </a:solidFill>
              </a:rPr>
              <a:t>đổi</a:t>
            </a:r>
            <a:r>
              <a:rPr lang="en-US" altLang="en-US" b="0" dirty="0">
                <a:solidFill>
                  <a:srgbClr val="1F1F1F"/>
                </a:solidFill>
              </a:rPr>
              <a:t> </a:t>
            </a:r>
            <a:r>
              <a:rPr lang="en-US" altLang="en-US" b="0" dirty="0" err="1">
                <a:solidFill>
                  <a:srgbClr val="1F1F1F"/>
                </a:solidFill>
              </a:rPr>
              <a:t>cường</a:t>
            </a:r>
            <a:r>
              <a:rPr lang="en-US" altLang="en-US" b="0" dirty="0">
                <a:solidFill>
                  <a:srgbClr val="1F1F1F"/>
                </a:solidFill>
              </a:rPr>
              <a:t> </a:t>
            </a:r>
            <a:r>
              <a:rPr lang="en-US" altLang="en-US" b="0" dirty="0" err="1">
                <a:solidFill>
                  <a:srgbClr val="1F1F1F"/>
                </a:solidFill>
              </a:rPr>
              <a:t>độ</a:t>
            </a:r>
            <a:r>
              <a:rPr lang="en-US" altLang="en-US" b="0" dirty="0">
                <a:solidFill>
                  <a:srgbClr val="1F1F1F"/>
                </a:solidFill>
              </a:rPr>
              <a:t> sáng </a:t>
            </a:r>
            <a:r>
              <a:rPr lang="en-US" altLang="en-US" b="0" dirty="0" err="1">
                <a:solidFill>
                  <a:srgbClr val="1F1F1F"/>
                </a:solidFill>
              </a:rPr>
              <a:t>tại</a:t>
            </a:r>
            <a:r>
              <a:rPr lang="en-US" altLang="en-US" b="0" dirty="0">
                <a:solidFill>
                  <a:srgbClr val="1F1F1F"/>
                </a:solidFill>
              </a:rPr>
              <a:t> </a:t>
            </a:r>
            <a:r>
              <a:rPr lang="en-US" altLang="en-US" b="0" dirty="0" err="1">
                <a:solidFill>
                  <a:srgbClr val="1F1F1F"/>
                </a:solidFill>
              </a:rPr>
              <a:t>một</a:t>
            </a:r>
            <a:r>
              <a:rPr lang="en-US" altLang="en-US" b="0" dirty="0">
                <a:solidFill>
                  <a:srgbClr val="1F1F1F"/>
                </a:solidFill>
              </a:rPr>
              <a:t> pixel.</a:t>
            </a:r>
          </a:p>
          <a:p>
            <a:pPr marL="457200" lvl="1" indent="0" algn="l" defTabSz="914400" eaLnBrk="0" fontAlgn="base">
              <a:spcBef>
                <a:spcPct val="0"/>
              </a:spcBef>
              <a:spcAft>
                <a:spcPct val="0"/>
              </a:spcAft>
              <a:buFontTx/>
              <a:buChar char="•"/>
            </a:pPr>
            <a:r>
              <a:rPr lang="en-US" altLang="en-US" b="0" dirty="0" err="1">
                <a:solidFill>
                  <a:srgbClr val="1F1F1F"/>
                </a:solidFill>
              </a:rPr>
              <a:t>Nếu</a:t>
            </a:r>
            <a:r>
              <a:rPr lang="en-US" altLang="en-US" b="0" dirty="0">
                <a:solidFill>
                  <a:srgbClr val="1F1F1F"/>
                </a:solidFill>
              </a:rPr>
              <a:t> </a:t>
            </a:r>
            <a:r>
              <a:rPr lang="en-US" altLang="en-US" b="0" dirty="0" err="1">
                <a:solidFill>
                  <a:srgbClr val="1F1F1F"/>
                </a:solidFill>
              </a:rPr>
              <a:t>cường</a:t>
            </a:r>
            <a:r>
              <a:rPr lang="en-US" altLang="en-US" b="0" dirty="0">
                <a:solidFill>
                  <a:srgbClr val="1F1F1F"/>
                </a:solidFill>
              </a:rPr>
              <a:t> </a:t>
            </a:r>
            <a:r>
              <a:rPr lang="en-US" altLang="en-US" b="0" dirty="0" err="1">
                <a:solidFill>
                  <a:srgbClr val="1F1F1F"/>
                </a:solidFill>
              </a:rPr>
              <a:t>độ</a:t>
            </a:r>
            <a:r>
              <a:rPr lang="en-US" altLang="en-US" b="0" dirty="0">
                <a:solidFill>
                  <a:srgbClr val="1F1F1F"/>
                </a:solidFill>
              </a:rPr>
              <a:t> gradient </a:t>
            </a:r>
            <a:r>
              <a:rPr lang="en-US" altLang="en-US" b="0" dirty="0" err="1">
                <a:solidFill>
                  <a:srgbClr val="1F1F1F"/>
                </a:solidFill>
              </a:rPr>
              <a:t>lớn</a:t>
            </a:r>
            <a:r>
              <a:rPr lang="en-US" altLang="en-US" b="0" dirty="0">
                <a:solidFill>
                  <a:srgbClr val="1F1F1F"/>
                </a:solidFill>
              </a:rPr>
              <a:t>, có </a:t>
            </a:r>
            <a:r>
              <a:rPr lang="en-US" altLang="en-US" b="0" dirty="0" err="1">
                <a:solidFill>
                  <a:srgbClr val="1F1F1F"/>
                </a:solidFill>
              </a:rPr>
              <a:t>nghĩa</a:t>
            </a:r>
            <a:r>
              <a:rPr lang="en-US" altLang="en-US" b="0" dirty="0">
                <a:solidFill>
                  <a:srgbClr val="1F1F1F"/>
                </a:solidFill>
              </a:rPr>
              <a:t> là </a:t>
            </a:r>
            <a:r>
              <a:rPr lang="en-US" altLang="en-US" b="0" dirty="0" err="1">
                <a:solidFill>
                  <a:srgbClr val="1F1F1F"/>
                </a:solidFill>
              </a:rPr>
              <a:t>tại</a:t>
            </a:r>
            <a:r>
              <a:rPr lang="en-US" altLang="en-US" b="0" dirty="0">
                <a:solidFill>
                  <a:srgbClr val="1F1F1F"/>
                </a:solidFill>
              </a:rPr>
              <a:t> </a:t>
            </a:r>
            <a:r>
              <a:rPr lang="en-US" altLang="en-US" b="0" dirty="0" err="1">
                <a:solidFill>
                  <a:srgbClr val="1F1F1F"/>
                </a:solidFill>
              </a:rPr>
              <a:t>đó</a:t>
            </a:r>
            <a:r>
              <a:rPr lang="en-US" altLang="en-US" b="0" dirty="0">
                <a:solidFill>
                  <a:srgbClr val="1F1F1F"/>
                </a:solidFill>
              </a:rPr>
              <a:t> có </a:t>
            </a:r>
            <a:r>
              <a:rPr lang="en-US" altLang="en-US" b="0" dirty="0" err="1">
                <a:solidFill>
                  <a:srgbClr val="1F1F1F"/>
                </a:solidFill>
              </a:rPr>
              <a:t>sự</a:t>
            </a:r>
            <a:r>
              <a:rPr lang="en-US" altLang="en-US" b="0" dirty="0">
                <a:solidFill>
                  <a:srgbClr val="1F1F1F"/>
                </a:solidFill>
              </a:rPr>
              <a:t> </a:t>
            </a:r>
            <a:r>
              <a:rPr lang="en-US" altLang="en-US" b="0" dirty="0" err="1">
                <a:solidFill>
                  <a:srgbClr val="1F1F1F"/>
                </a:solidFill>
              </a:rPr>
              <a:t>thay</a:t>
            </a:r>
            <a:r>
              <a:rPr lang="en-US" altLang="en-US" b="0" dirty="0">
                <a:solidFill>
                  <a:srgbClr val="1F1F1F"/>
                </a:solidFill>
              </a:rPr>
              <a:t> </a:t>
            </a:r>
            <a:r>
              <a:rPr lang="en-US" altLang="en-US" b="0" dirty="0" err="1">
                <a:solidFill>
                  <a:srgbClr val="1F1F1F"/>
                </a:solidFill>
              </a:rPr>
              <a:t>đổi</a:t>
            </a:r>
            <a:r>
              <a:rPr lang="en-US" altLang="en-US" b="0" dirty="0">
                <a:solidFill>
                  <a:srgbClr val="1F1F1F"/>
                </a:solidFill>
              </a:rPr>
              <a:t> mạnh </a:t>
            </a:r>
            <a:r>
              <a:rPr lang="en-US" altLang="en-US" b="0" dirty="0" err="1">
                <a:solidFill>
                  <a:srgbClr val="1F1F1F"/>
                </a:solidFill>
              </a:rPr>
              <a:t>về</a:t>
            </a:r>
            <a:r>
              <a:rPr lang="en-US" altLang="en-US" b="0" dirty="0">
                <a:solidFill>
                  <a:srgbClr val="1F1F1F"/>
                </a:solidFill>
              </a:rPr>
              <a:t> </a:t>
            </a:r>
            <a:r>
              <a:rPr lang="en-US" altLang="en-US" b="0" dirty="0" err="1">
                <a:solidFill>
                  <a:srgbClr val="1F1F1F"/>
                </a:solidFill>
              </a:rPr>
              <a:t>màu</a:t>
            </a:r>
            <a:r>
              <a:rPr lang="en-US" altLang="en-US" b="0" dirty="0">
                <a:solidFill>
                  <a:srgbClr val="1F1F1F"/>
                </a:solidFill>
              </a:rPr>
              <a:t> </a:t>
            </a:r>
            <a:r>
              <a:rPr lang="en-US" altLang="en-US" b="0" dirty="0" err="1">
                <a:solidFill>
                  <a:srgbClr val="1F1F1F"/>
                </a:solidFill>
              </a:rPr>
              <a:t>sắc</a:t>
            </a:r>
            <a:r>
              <a:rPr lang="en-US" altLang="en-US" b="0" dirty="0">
                <a:solidFill>
                  <a:srgbClr val="1F1F1F"/>
                </a:solidFill>
              </a:rPr>
              <a:t> </a:t>
            </a:r>
            <a:r>
              <a:rPr lang="en-US" altLang="en-US" b="0" dirty="0" err="1">
                <a:solidFill>
                  <a:srgbClr val="1F1F1F"/>
                </a:solidFill>
              </a:rPr>
              <a:t>hoặc</a:t>
            </a:r>
            <a:r>
              <a:rPr lang="en-US" altLang="en-US" b="0" dirty="0">
                <a:solidFill>
                  <a:srgbClr val="1F1F1F"/>
                </a:solidFill>
              </a:rPr>
              <a:t> sáng tối (thường là </a:t>
            </a:r>
            <a:r>
              <a:rPr lang="en-US" altLang="en-US" b="0" dirty="0" err="1">
                <a:solidFill>
                  <a:srgbClr val="1F1F1F"/>
                </a:solidFill>
              </a:rPr>
              <a:t>một</a:t>
            </a:r>
            <a:r>
              <a:rPr lang="en-US" altLang="en-US" b="0" dirty="0">
                <a:solidFill>
                  <a:srgbClr val="1F1F1F"/>
                </a:solidFill>
              </a:rPr>
              <a:t> </a:t>
            </a:r>
            <a:r>
              <a:rPr lang="en-US" altLang="en-US" b="0" dirty="0" err="1">
                <a:solidFill>
                  <a:srgbClr val="1F1F1F"/>
                </a:solidFill>
              </a:rPr>
              <a:t>cạnh</a:t>
            </a:r>
            <a:r>
              <a:rPr lang="en-US" altLang="en-US" b="0" dirty="0">
                <a:solidFill>
                  <a:srgbClr val="1F1F1F"/>
                </a:solidFill>
              </a:rPr>
              <a:t>).</a:t>
            </a:r>
          </a:p>
          <a:p>
            <a:pPr marL="457200" lvl="1" indent="0" algn="l" defTabSz="914400" eaLnBrk="0" fontAlgn="base">
              <a:spcBef>
                <a:spcPct val="0"/>
              </a:spcBef>
              <a:spcAft>
                <a:spcPct val="0"/>
              </a:spcAft>
              <a:buFontTx/>
              <a:buChar char="•"/>
            </a:pPr>
            <a:r>
              <a:rPr lang="en-US" altLang="en-US" b="0" dirty="0" err="1">
                <a:solidFill>
                  <a:srgbClr val="1F1F1F"/>
                </a:solidFill>
              </a:rPr>
              <a:t>Công</a:t>
            </a:r>
            <a:r>
              <a:rPr lang="en-US" altLang="en-US" b="0" dirty="0">
                <a:solidFill>
                  <a:srgbClr val="1F1F1F"/>
                </a:solidFill>
              </a:rPr>
              <a:t> </a:t>
            </a:r>
            <a:r>
              <a:rPr lang="en-US" altLang="en-US" b="0" dirty="0" err="1">
                <a:solidFill>
                  <a:srgbClr val="1F1F1F"/>
                </a:solidFill>
              </a:rPr>
              <a:t>thức</a:t>
            </a:r>
            <a:r>
              <a:rPr lang="en-US" altLang="en-US" b="0" dirty="0">
                <a:solidFill>
                  <a:srgbClr val="1F1F1F"/>
                </a:solidFill>
              </a:rPr>
              <a:t> tính:</a:t>
            </a:r>
          </a:p>
          <a:p>
            <a:pPr lvl="0" algn="l" defTabSz="914400" eaLnBrk="0" fontAlgn="base">
              <a:spcBef>
                <a:spcPct val="0"/>
              </a:spcBef>
              <a:spcAft>
                <a:spcPct val="0"/>
              </a:spcAft>
            </a:pPr>
            <a:endParaRPr lang="en-US" altLang="en-US" b="0" dirty="0">
              <a:solidFill>
                <a:srgbClr val="1F1F1F"/>
              </a:solidFill>
            </a:endParaRPr>
          </a:p>
          <a:p>
            <a:pPr lvl="0" algn="l" defTabSz="914400" eaLnBrk="0" fontAlgn="base">
              <a:spcBef>
                <a:spcPct val="0"/>
              </a:spcBef>
              <a:spcAft>
                <a:spcPct val="0"/>
              </a:spcAft>
            </a:pPr>
            <a:endParaRPr lang="en-US" altLang="en-US" b="0" dirty="0">
              <a:solidFill>
                <a:srgbClr val="1F1F1F"/>
              </a:solidFill>
            </a:endParaRPr>
          </a:p>
          <a:p>
            <a:pPr lvl="0" algn="l" defTabSz="914400" eaLnBrk="0" fontAlgn="base">
              <a:spcBef>
                <a:spcPct val="0"/>
              </a:spcBef>
              <a:spcAft>
                <a:spcPct val="0"/>
              </a:spcAft>
            </a:pPr>
            <a:r>
              <a:rPr lang="en-US" altLang="en-US" b="0" dirty="0">
                <a:solidFill>
                  <a:srgbClr val="1F1F1F"/>
                </a:solidFill>
              </a:rPr>
              <a:t>Trong </a:t>
            </a:r>
            <a:r>
              <a:rPr lang="en-US" altLang="en-US" b="0" dirty="0" err="1">
                <a:solidFill>
                  <a:srgbClr val="1F1F1F"/>
                </a:solidFill>
              </a:rPr>
              <a:t>đó</a:t>
            </a:r>
            <a:r>
              <a:rPr lang="en-US" altLang="en-US" b="0" dirty="0">
                <a:solidFill>
                  <a:srgbClr val="1F1F1F"/>
                </a:solidFill>
              </a:rPr>
              <a:t>:</a:t>
            </a:r>
          </a:p>
          <a:p>
            <a:pPr marL="914400" lvl="2" indent="0" algn="l" defTabSz="914400" eaLnBrk="0" fontAlgn="base">
              <a:spcBef>
                <a:spcPct val="0"/>
              </a:spcBef>
              <a:spcAft>
                <a:spcPct val="0"/>
              </a:spcAft>
              <a:buFontTx/>
              <a:buChar char="•"/>
            </a:pPr>
            <a:r>
              <a:rPr lang="en-US" altLang="en-US" b="0" dirty="0">
                <a:solidFill>
                  <a:srgbClr val="1F1F1F"/>
                </a:solidFill>
              </a:rPr>
              <a:t>( </a:t>
            </a:r>
            <a:r>
              <a:rPr lang="en-US" altLang="en-US" b="0" dirty="0" err="1">
                <a:solidFill>
                  <a:srgbClr val="1F1F1F"/>
                </a:solidFill>
              </a:rPr>
              <a:t>G_x</a:t>
            </a:r>
            <a:r>
              <a:rPr lang="en-US" altLang="en-US" b="0" dirty="0">
                <a:solidFill>
                  <a:srgbClr val="1F1F1F"/>
                </a:solidFill>
              </a:rPr>
              <a:t> ): </a:t>
            </a:r>
            <a:r>
              <a:rPr lang="en-US" altLang="en-US" b="0" dirty="0" err="1">
                <a:solidFill>
                  <a:srgbClr val="1F1F1F"/>
                </a:solidFill>
              </a:rPr>
              <a:t>Sự</a:t>
            </a:r>
            <a:r>
              <a:rPr lang="en-US" altLang="en-US" b="0" dirty="0">
                <a:solidFill>
                  <a:srgbClr val="1F1F1F"/>
                </a:solidFill>
              </a:rPr>
              <a:t> </a:t>
            </a:r>
            <a:r>
              <a:rPr lang="en-US" altLang="en-US" b="0" dirty="0" err="1">
                <a:solidFill>
                  <a:srgbClr val="1F1F1F"/>
                </a:solidFill>
              </a:rPr>
              <a:t>thay</a:t>
            </a:r>
            <a:r>
              <a:rPr lang="en-US" altLang="en-US" b="0" dirty="0">
                <a:solidFill>
                  <a:srgbClr val="1F1F1F"/>
                </a:solidFill>
              </a:rPr>
              <a:t> </a:t>
            </a:r>
            <a:r>
              <a:rPr lang="en-US" altLang="en-US" b="0" dirty="0" err="1">
                <a:solidFill>
                  <a:srgbClr val="1F1F1F"/>
                </a:solidFill>
              </a:rPr>
              <a:t>đổi</a:t>
            </a:r>
            <a:r>
              <a:rPr lang="en-US" altLang="en-US" b="0" dirty="0">
                <a:solidFill>
                  <a:srgbClr val="1F1F1F"/>
                </a:solidFill>
              </a:rPr>
              <a:t> </a:t>
            </a:r>
            <a:r>
              <a:rPr lang="en-US" altLang="en-US" b="0" dirty="0" err="1">
                <a:solidFill>
                  <a:srgbClr val="1F1F1F"/>
                </a:solidFill>
              </a:rPr>
              <a:t>theo</a:t>
            </a:r>
            <a:r>
              <a:rPr lang="en-US" altLang="en-US" b="0" dirty="0">
                <a:solidFill>
                  <a:srgbClr val="1F1F1F"/>
                </a:solidFill>
              </a:rPr>
              <a:t> chiều </a:t>
            </a:r>
            <a:r>
              <a:rPr lang="en-US" altLang="en-US" b="0" dirty="0" err="1">
                <a:solidFill>
                  <a:srgbClr val="1F1F1F"/>
                </a:solidFill>
              </a:rPr>
              <a:t>ngang</a:t>
            </a:r>
            <a:r>
              <a:rPr lang="en-US" altLang="en-US" b="0" dirty="0">
                <a:solidFill>
                  <a:srgbClr val="1F1F1F"/>
                </a:solidFill>
              </a:rPr>
              <a:t> (</a:t>
            </a:r>
            <a:r>
              <a:rPr lang="en-US" altLang="en-US" b="0" dirty="0" err="1">
                <a:solidFill>
                  <a:srgbClr val="1F1F1F"/>
                </a:solidFill>
              </a:rPr>
              <a:t>trục</a:t>
            </a:r>
            <a:r>
              <a:rPr lang="en-US" altLang="en-US" b="0" dirty="0">
                <a:solidFill>
                  <a:srgbClr val="1F1F1F"/>
                </a:solidFill>
              </a:rPr>
              <a:t> x).</a:t>
            </a:r>
          </a:p>
          <a:p>
            <a:pPr marL="914400" lvl="2" indent="0" algn="l" defTabSz="914400" eaLnBrk="0" fontAlgn="base">
              <a:spcBef>
                <a:spcPct val="0"/>
              </a:spcBef>
              <a:spcAft>
                <a:spcPct val="0"/>
              </a:spcAft>
              <a:buFontTx/>
              <a:buChar char="•"/>
            </a:pPr>
            <a:r>
              <a:rPr lang="en-US" altLang="en-US" b="0" dirty="0">
                <a:solidFill>
                  <a:srgbClr val="1F1F1F"/>
                </a:solidFill>
              </a:rPr>
              <a:t>( </a:t>
            </a:r>
            <a:r>
              <a:rPr lang="en-US" altLang="en-US" b="0" dirty="0" err="1">
                <a:solidFill>
                  <a:srgbClr val="1F1F1F"/>
                </a:solidFill>
              </a:rPr>
              <a:t>G_y</a:t>
            </a:r>
            <a:r>
              <a:rPr lang="en-US" altLang="en-US" b="0" dirty="0">
                <a:solidFill>
                  <a:srgbClr val="1F1F1F"/>
                </a:solidFill>
              </a:rPr>
              <a:t> ): </a:t>
            </a:r>
            <a:r>
              <a:rPr lang="en-US" altLang="en-US" b="0" dirty="0" err="1">
                <a:solidFill>
                  <a:srgbClr val="1F1F1F"/>
                </a:solidFill>
              </a:rPr>
              <a:t>Sự</a:t>
            </a:r>
            <a:r>
              <a:rPr lang="en-US" altLang="en-US" b="0" dirty="0">
                <a:solidFill>
                  <a:srgbClr val="1F1F1F"/>
                </a:solidFill>
              </a:rPr>
              <a:t> </a:t>
            </a:r>
            <a:r>
              <a:rPr lang="en-US" altLang="en-US" b="0" dirty="0" err="1">
                <a:solidFill>
                  <a:srgbClr val="1F1F1F"/>
                </a:solidFill>
              </a:rPr>
              <a:t>thay</a:t>
            </a:r>
            <a:r>
              <a:rPr lang="en-US" altLang="en-US" b="0" dirty="0">
                <a:solidFill>
                  <a:srgbClr val="1F1F1F"/>
                </a:solidFill>
              </a:rPr>
              <a:t> </a:t>
            </a:r>
            <a:r>
              <a:rPr lang="en-US" altLang="en-US" b="0" dirty="0" err="1">
                <a:solidFill>
                  <a:srgbClr val="1F1F1F"/>
                </a:solidFill>
              </a:rPr>
              <a:t>đổi</a:t>
            </a:r>
            <a:r>
              <a:rPr lang="en-US" altLang="en-US" b="0" dirty="0">
                <a:solidFill>
                  <a:srgbClr val="1F1F1F"/>
                </a:solidFill>
              </a:rPr>
              <a:t> </a:t>
            </a:r>
            <a:r>
              <a:rPr lang="en-US" altLang="en-US" b="0" dirty="0" err="1">
                <a:solidFill>
                  <a:srgbClr val="1F1F1F"/>
                </a:solidFill>
              </a:rPr>
              <a:t>theo</a:t>
            </a:r>
            <a:r>
              <a:rPr lang="en-US" altLang="en-US" b="0" dirty="0">
                <a:solidFill>
                  <a:srgbClr val="1F1F1F"/>
                </a:solidFill>
              </a:rPr>
              <a:t> chiều </a:t>
            </a:r>
            <a:r>
              <a:rPr lang="en-US" altLang="en-US" b="0" dirty="0" err="1">
                <a:solidFill>
                  <a:srgbClr val="1F1F1F"/>
                </a:solidFill>
              </a:rPr>
              <a:t>dọc</a:t>
            </a:r>
            <a:r>
              <a:rPr lang="en-US" altLang="en-US" b="0" dirty="0">
                <a:solidFill>
                  <a:srgbClr val="1F1F1F"/>
                </a:solidFill>
              </a:rPr>
              <a:t> (</a:t>
            </a:r>
            <a:r>
              <a:rPr lang="en-US" altLang="en-US" b="0" dirty="0" err="1">
                <a:solidFill>
                  <a:srgbClr val="1F1F1F"/>
                </a:solidFill>
              </a:rPr>
              <a:t>trục</a:t>
            </a:r>
            <a:r>
              <a:rPr lang="en-US" altLang="en-US" b="0" dirty="0">
                <a:solidFill>
                  <a:srgbClr val="1F1F1F"/>
                </a:solidFill>
              </a:rPr>
              <a:t> y).</a:t>
            </a:r>
          </a:p>
          <a:p>
            <a:pPr marL="914400" lvl="2" indent="0" algn="l" defTabSz="914400" eaLnBrk="0" fontAlgn="base">
              <a:spcBef>
                <a:spcPct val="0"/>
              </a:spcBef>
              <a:spcAft>
                <a:spcPct val="0"/>
              </a:spcAft>
              <a:buFontTx/>
              <a:buChar char="•"/>
            </a:pPr>
            <a:endParaRPr lang="en-US" altLang="en-US" b="0" dirty="0">
              <a:solidFill>
                <a:srgbClr val="1F1F1F"/>
              </a:solidFill>
            </a:endParaRPr>
          </a:p>
          <a:p>
            <a:pPr lvl="0" algn="l" defTabSz="914400" eaLnBrk="0" fontAlgn="base">
              <a:spcBef>
                <a:spcPct val="0"/>
              </a:spcBef>
              <a:spcAft>
                <a:spcPct val="0"/>
              </a:spcAft>
              <a:buFontTx/>
              <a:buAutoNum type="arabicPeriod" startAt="2"/>
            </a:pPr>
            <a:r>
              <a:rPr lang="en-US" altLang="en-US" dirty="0" err="1">
                <a:solidFill>
                  <a:srgbClr val="1F1F1F"/>
                </a:solidFill>
              </a:rPr>
              <a:t>Hướng</a:t>
            </a:r>
            <a:r>
              <a:rPr lang="en-US" altLang="en-US" dirty="0">
                <a:solidFill>
                  <a:srgbClr val="1F1F1F"/>
                </a:solidFill>
              </a:rPr>
              <a:t> Gradient (Gradient Direction):</a:t>
            </a:r>
          </a:p>
          <a:p>
            <a:pPr marL="457200" lvl="1" indent="0" algn="l" defTabSz="914400" eaLnBrk="0" fontAlgn="base">
              <a:spcBef>
                <a:spcPct val="0"/>
              </a:spcBef>
              <a:spcAft>
                <a:spcPct val="0"/>
              </a:spcAft>
              <a:buFontTx/>
              <a:buChar char="•"/>
            </a:pPr>
            <a:r>
              <a:rPr lang="en-US" altLang="en-US" b="0" dirty="0">
                <a:solidFill>
                  <a:srgbClr val="1F1F1F"/>
                </a:solidFill>
              </a:rPr>
              <a:t>Là </a:t>
            </a:r>
            <a:r>
              <a:rPr lang="en-US" altLang="en-US" b="0" dirty="0" err="1">
                <a:solidFill>
                  <a:srgbClr val="1F1F1F"/>
                </a:solidFill>
              </a:rPr>
              <a:t>hướng</a:t>
            </a:r>
            <a:r>
              <a:rPr lang="en-US" altLang="en-US" b="0" dirty="0">
                <a:solidFill>
                  <a:srgbClr val="1F1F1F"/>
                </a:solidFill>
              </a:rPr>
              <a:t> </a:t>
            </a:r>
            <a:r>
              <a:rPr lang="en-US" altLang="en-US" b="0" dirty="0" err="1">
                <a:solidFill>
                  <a:srgbClr val="1F1F1F"/>
                </a:solidFill>
              </a:rPr>
              <a:t>của</a:t>
            </a:r>
            <a:r>
              <a:rPr lang="en-US" altLang="en-US" b="0" dirty="0">
                <a:solidFill>
                  <a:srgbClr val="1F1F1F"/>
                </a:solidFill>
              </a:rPr>
              <a:t> </a:t>
            </a:r>
            <a:r>
              <a:rPr lang="en-US" altLang="en-US" b="0" dirty="0" err="1">
                <a:solidFill>
                  <a:srgbClr val="1F1F1F"/>
                </a:solidFill>
              </a:rPr>
              <a:t>sự</a:t>
            </a:r>
            <a:r>
              <a:rPr lang="en-US" altLang="en-US" b="0" dirty="0">
                <a:solidFill>
                  <a:srgbClr val="1F1F1F"/>
                </a:solidFill>
              </a:rPr>
              <a:t> </a:t>
            </a:r>
            <a:r>
              <a:rPr lang="en-US" altLang="en-US" b="0" dirty="0" err="1">
                <a:solidFill>
                  <a:srgbClr val="1F1F1F"/>
                </a:solidFill>
              </a:rPr>
              <a:t>thay</a:t>
            </a:r>
            <a:r>
              <a:rPr lang="en-US" altLang="en-US" b="0" dirty="0">
                <a:solidFill>
                  <a:srgbClr val="1F1F1F"/>
                </a:solidFill>
              </a:rPr>
              <a:t> </a:t>
            </a:r>
            <a:r>
              <a:rPr lang="en-US" altLang="en-US" b="0" dirty="0" err="1">
                <a:solidFill>
                  <a:srgbClr val="1F1F1F"/>
                </a:solidFill>
              </a:rPr>
              <a:t>đổi</a:t>
            </a:r>
            <a:r>
              <a:rPr lang="en-US" altLang="en-US" b="0" dirty="0">
                <a:solidFill>
                  <a:srgbClr val="1F1F1F"/>
                </a:solidFill>
              </a:rPr>
              <a:t> mạnh </a:t>
            </a:r>
            <a:r>
              <a:rPr lang="en-US" altLang="en-US" b="0" dirty="0" err="1">
                <a:solidFill>
                  <a:srgbClr val="1F1F1F"/>
                </a:solidFill>
              </a:rPr>
              <a:t>nhất</a:t>
            </a:r>
            <a:r>
              <a:rPr lang="en-US" altLang="en-US" b="0" dirty="0">
                <a:solidFill>
                  <a:srgbClr val="1F1F1F"/>
                </a:solidFill>
              </a:rPr>
              <a:t> trong </a:t>
            </a:r>
            <a:r>
              <a:rPr lang="en-US" altLang="en-US" b="0" dirty="0" err="1">
                <a:solidFill>
                  <a:srgbClr val="1F1F1F"/>
                </a:solidFill>
              </a:rPr>
              <a:t>cường</a:t>
            </a:r>
            <a:r>
              <a:rPr lang="en-US" altLang="en-US" b="0" dirty="0">
                <a:solidFill>
                  <a:srgbClr val="1F1F1F"/>
                </a:solidFill>
              </a:rPr>
              <a:t> </a:t>
            </a:r>
            <a:r>
              <a:rPr lang="en-US" altLang="en-US" b="0" dirty="0" err="1">
                <a:solidFill>
                  <a:srgbClr val="1F1F1F"/>
                </a:solidFill>
              </a:rPr>
              <a:t>độ</a:t>
            </a:r>
            <a:r>
              <a:rPr lang="en-US" altLang="en-US" b="0" dirty="0">
                <a:solidFill>
                  <a:srgbClr val="1F1F1F"/>
                </a:solidFill>
              </a:rPr>
              <a:t> sáng.</a:t>
            </a:r>
          </a:p>
          <a:p>
            <a:pPr marL="457200" lvl="1" indent="0" algn="l" defTabSz="914400" eaLnBrk="0" fontAlgn="base">
              <a:spcBef>
                <a:spcPct val="0"/>
              </a:spcBef>
              <a:spcAft>
                <a:spcPct val="0"/>
              </a:spcAft>
              <a:buFontTx/>
              <a:buChar char="•"/>
            </a:pPr>
            <a:r>
              <a:rPr lang="en-US" altLang="en-US" b="0" dirty="0" err="1">
                <a:solidFill>
                  <a:srgbClr val="1F1F1F"/>
                </a:solidFill>
              </a:rPr>
              <a:t>Công</a:t>
            </a:r>
            <a:r>
              <a:rPr lang="en-US" altLang="en-US" b="0" dirty="0">
                <a:solidFill>
                  <a:srgbClr val="1F1F1F"/>
                </a:solidFill>
              </a:rPr>
              <a:t> </a:t>
            </a:r>
            <a:r>
              <a:rPr lang="en-US" altLang="en-US" b="0" dirty="0" err="1">
                <a:solidFill>
                  <a:srgbClr val="1F1F1F"/>
                </a:solidFill>
              </a:rPr>
              <a:t>thức</a:t>
            </a:r>
            <a:r>
              <a:rPr lang="en-US" altLang="en-US" b="0" dirty="0">
                <a:solidFill>
                  <a:srgbClr val="1F1F1F"/>
                </a:solidFill>
              </a:rPr>
              <a:t> tính:</a:t>
            </a:r>
          </a:p>
          <a:p>
            <a:pPr lvl="0" algn="l" defTabSz="914400" eaLnBrk="0" fontAlgn="base">
              <a:spcBef>
                <a:spcPct val="0"/>
              </a:spcBef>
              <a:spcAft>
                <a:spcPct val="0"/>
              </a:spcAft>
            </a:pPr>
            <a:endParaRPr lang="en-US" altLang="en-US" b="0" dirty="0">
              <a:solidFill>
                <a:srgbClr val="1F1F1F"/>
              </a:solidFill>
            </a:endParaRPr>
          </a:p>
          <a:p>
            <a:pPr lvl="0" algn="l" defTabSz="914400" eaLnBrk="0" fontAlgn="base">
              <a:spcBef>
                <a:spcPct val="0"/>
              </a:spcBef>
              <a:spcAft>
                <a:spcPct val="0"/>
              </a:spcAft>
            </a:pPr>
            <a:endParaRPr lang="en-US" altLang="en-US" b="0" dirty="0">
              <a:solidFill>
                <a:srgbClr val="1F1F1F"/>
              </a:solidFill>
            </a:endParaRPr>
          </a:p>
          <a:p>
            <a:pPr marL="457200" lvl="1" indent="0" algn="l" defTabSz="914400" eaLnBrk="0" fontAlgn="base">
              <a:spcBef>
                <a:spcPct val="0"/>
              </a:spcBef>
              <a:spcAft>
                <a:spcPct val="0"/>
              </a:spcAft>
              <a:buFontTx/>
              <a:buChar char="•"/>
            </a:pPr>
            <a:r>
              <a:rPr lang="en-US" altLang="en-US" b="0" dirty="0" err="1">
                <a:solidFill>
                  <a:srgbClr val="1F1F1F"/>
                </a:solidFill>
              </a:rPr>
              <a:t>Hướng</a:t>
            </a:r>
            <a:r>
              <a:rPr lang="en-US" altLang="en-US" b="0" dirty="0">
                <a:solidFill>
                  <a:srgbClr val="1F1F1F"/>
                </a:solidFill>
              </a:rPr>
              <a:t> gradient luôn </a:t>
            </a:r>
            <a:r>
              <a:rPr lang="en-US" altLang="en-US" b="0" dirty="0" err="1">
                <a:solidFill>
                  <a:srgbClr val="1F1F1F"/>
                </a:solidFill>
              </a:rPr>
              <a:t>vuông</a:t>
            </a:r>
            <a:r>
              <a:rPr lang="en-US" altLang="en-US" b="0" dirty="0">
                <a:solidFill>
                  <a:srgbClr val="1F1F1F"/>
                </a:solidFill>
              </a:rPr>
              <a:t> </a:t>
            </a:r>
            <a:r>
              <a:rPr lang="en-US" altLang="en-US" b="0" dirty="0" err="1">
                <a:solidFill>
                  <a:srgbClr val="1F1F1F"/>
                </a:solidFill>
              </a:rPr>
              <a:t>góc</a:t>
            </a:r>
            <a:r>
              <a:rPr lang="en-US" altLang="en-US" b="0" dirty="0">
                <a:solidFill>
                  <a:srgbClr val="1F1F1F"/>
                </a:solidFill>
              </a:rPr>
              <a:t> </a:t>
            </a:r>
            <a:r>
              <a:rPr lang="en-US" altLang="en-US" b="0" dirty="0" err="1">
                <a:solidFill>
                  <a:srgbClr val="1F1F1F"/>
                </a:solidFill>
              </a:rPr>
              <a:t>với</a:t>
            </a:r>
            <a:r>
              <a:rPr lang="en-US" altLang="en-US" b="0" dirty="0">
                <a:solidFill>
                  <a:srgbClr val="1F1F1F"/>
                </a:solidFill>
              </a:rPr>
              <a:t> </a:t>
            </a:r>
            <a:r>
              <a:rPr lang="en-US" altLang="en-US" b="0" dirty="0" err="1">
                <a:solidFill>
                  <a:srgbClr val="1F1F1F"/>
                </a:solidFill>
              </a:rPr>
              <a:t>cạnh</a:t>
            </a:r>
            <a:r>
              <a:rPr lang="en-US" altLang="en-US" b="0" dirty="0">
                <a:solidFill>
                  <a:srgbClr val="1F1F1F"/>
                </a:solidFill>
              </a:rPr>
              <a:t> trong </a:t>
            </a:r>
            <a:r>
              <a:rPr lang="en-US" altLang="en-US" b="0" dirty="0" err="1">
                <a:solidFill>
                  <a:srgbClr val="1F1F1F"/>
                </a:solidFill>
              </a:rPr>
              <a:t>hình</a:t>
            </a:r>
            <a:r>
              <a:rPr lang="en-US" altLang="en-US" b="0" dirty="0">
                <a:solidFill>
                  <a:srgbClr val="1F1F1F"/>
                </a:solidFill>
              </a:rPr>
              <a:t> </a:t>
            </a:r>
            <a:r>
              <a:rPr lang="en-US" altLang="en-US" b="0" dirty="0" err="1">
                <a:solidFill>
                  <a:srgbClr val="1F1F1F"/>
                </a:solidFill>
              </a:rPr>
              <a:t>ảnh</a:t>
            </a:r>
            <a:r>
              <a:rPr lang="en-US" altLang="en-US" b="0" dirty="0">
                <a:solidFill>
                  <a:srgbClr val="1F1F1F"/>
                </a:solidFill>
              </a:rPr>
              <a:t>.</a:t>
            </a:r>
          </a:p>
        </p:txBody>
      </p:sp>
      <p:pic>
        <p:nvPicPr>
          <p:cNvPr id="8" name="Picture 7"/>
          <p:cNvPicPr>
            <a:picLocks noChangeAspect="1"/>
          </p:cNvPicPr>
          <p:nvPr/>
        </p:nvPicPr>
        <p:blipFill>
          <a:blip r:embed="rId2"/>
          <a:stretch>
            <a:fillRect/>
          </a:stretch>
        </p:blipFill>
        <p:spPr>
          <a:xfrm>
            <a:off x="4438452" y="4586260"/>
            <a:ext cx="1419423" cy="690590"/>
          </a:xfrm>
          <a:prstGeom prst="rect">
            <a:avLst/>
          </a:prstGeom>
        </p:spPr>
      </p:pic>
      <p:pic>
        <p:nvPicPr>
          <p:cNvPr id="9" name="Picture 8"/>
          <p:cNvPicPr>
            <a:picLocks noChangeAspect="1"/>
          </p:cNvPicPr>
          <p:nvPr/>
        </p:nvPicPr>
        <p:blipFill>
          <a:blip r:embed="rId3"/>
          <a:stretch>
            <a:fillRect/>
          </a:stretch>
        </p:blipFill>
        <p:spPr>
          <a:xfrm>
            <a:off x="4352715" y="7658100"/>
            <a:ext cx="1505160" cy="866811"/>
          </a:xfrm>
          <a:prstGeom prst="rect">
            <a:avLst/>
          </a:prstGeom>
        </p:spPr>
      </p:pic>
    </p:spTree>
    <p:extLst>
      <p:ext uri="{BB962C8B-B14F-4D97-AF65-F5344CB8AC3E}">
        <p14:creationId xmlns:p14="http://schemas.microsoft.com/office/powerpoint/2010/main" val="582825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5900" y="2114550"/>
            <a:ext cx="10651914" cy="6292521"/>
          </a:xfrm>
        </p:spPr>
        <p:txBody>
          <a:bodyPr>
            <a:normAutofit/>
          </a:bodyPr>
          <a:lstStyle/>
          <a:p>
            <a:pPr marL="0" indent="0">
              <a:buNone/>
            </a:pPr>
            <a:r>
              <a:rPr lang="vi-VN" sz="2400" b="1" dirty="0">
                <a:latin typeface="Helvetica Neue"/>
              </a:rPr>
              <a:t>Ứng dụng của Gradient</a:t>
            </a:r>
            <a:endParaRPr lang="vi-VN" sz="2400" dirty="0">
              <a:latin typeface="Helvetica Neue"/>
            </a:endParaRPr>
          </a:p>
          <a:p>
            <a:pPr lvl="1"/>
            <a:r>
              <a:rPr lang="vi-VN" sz="2400" b="1" dirty="0">
                <a:latin typeface="Helvetica Neue"/>
              </a:rPr>
              <a:t>Phát hiện cạnh (Edge Detection)</a:t>
            </a:r>
            <a:r>
              <a:rPr lang="vi-VN" sz="2400" dirty="0">
                <a:latin typeface="Helvetica Neue"/>
              </a:rPr>
              <a:t>:</a:t>
            </a:r>
          </a:p>
          <a:p>
            <a:pPr marL="650229" lvl="1" indent="0">
              <a:buNone/>
            </a:pPr>
            <a:r>
              <a:rPr lang="vi-VN" sz="2400" dirty="0">
                <a:latin typeface="Helvetica Neue"/>
              </a:rPr>
              <a:t>Gradient được sử dụng để xác định vị trí các cạnh trong hình ảnh (những nơi có sự thay đổi mạnh về cường độ sáng).</a:t>
            </a:r>
          </a:p>
          <a:p>
            <a:pPr marL="650229" lvl="1" indent="0">
              <a:buNone/>
            </a:pPr>
            <a:r>
              <a:rPr lang="vi-VN" sz="2400" dirty="0">
                <a:latin typeface="Helvetica Neue"/>
              </a:rPr>
              <a:t>Ví dụ: Thuật toán Canny, Sobel, Prewitt.</a:t>
            </a:r>
          </a:p>
          <a:p>
            <a:pPr lvl="1"/>
            <a:r>
              <a:rPr lang="vi-VN" sz="2116" b="1" dirty="0">
                <a:latin typeface="Helvetica Neue"/>
              </a:rPr>
              <a:t>Phân tích hình ảnh</a:t>
            </a:r>
            <a:r>
              <a:rPr lang="vi-VN" sz="2116" dirty="0">
                <a:latin typeface="Helvetica Neue"/>
              </a:rPr>
              <a:t>:</a:t>
            </a:r>
          </a:p>
          <a:p>
            <a:pPr marL="650229" lvl="1" indent="0">
              <a:buNone/>
            </a:pPr>
            <a:r>
              <a:rPr lang="vi-VN" sz="2400" dirty="0">
                <a:latin typeface="Helvetica Neue"/>
              </a:rPr>
              <a:t>Gradient giúp hiểu rõ hơn về cấu trúc của hình ảnh, như hình dạng, biên, và chi tiết.</a:t>
            </a:r>
          </a:p>
          <a:p>
            <a:pPr lvl="1"/>
            <a:r>
              <a:rPr lang="vi-VN" sz="2116" b="1" dirty="0">
                <a:latin typeface="Helvetica Neue"/>
              </a:rPr>
              <a:t>Làm nổi bật các đặc trưng (Feature Extraction)</a:t>
            </a:r>
            <a:r>
              <a:rPr lang="vi-VN" sz="2116" dirty="0">
                <a:latin typeface="Helvetica Neue"/>
              </a:rPr>
              <a:t>:</a:t>
            </a:r>
          </a:p>
          <a:p>
            <a:pPr marL="650229" lvl="1" indent="0">
              <a:buNone/>
            </a:pPr>
            <a:r>
              <a:rPr lang="vi-VN" sz="2400" dirty="0">
                <a:latin typeface="Helvetica Neue"/>
              </a:rPr>
              <a:t>Gradient được sử dụng trong các mô hình học máy hoặc học sâu để trích xuất đặc trưng từ hình ảnh.</a:t>
            </a:r>
          </a:p>
          <a:p>
            <a:pPr marL="0" indent="0">
              <a:buNone/>
            </a:pPr>
            <a:endParaRPr lang="en-US" sz="2400" dirty="0">
              <a:latin typeface="Helvetica Neue"/>
            </a:endParaRPr>
          </a:p>
        </p:txBody>
      </p:sp>
    </p:spTree>
    <p:extLst>
      <p:ext uri="{BB962C8B-B14F-4D97-AF65-F5344CB8AC3E}">
        <p14:creationId xmlns:p14="http://schemas.microsoft.com/office/powerpoint/2010/main" val="1340347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953250" y="1752600"/>
            <a:ext cx="5295900" cy="5632311"/>
          </a:xfrm>
          <a:prstGeom prst="rect">
            <a:avLst/>
          </a:prstGeom>
          <a:noFill/>
        </p:spPr>
        <p:txBody>
          <a:bodyPr wrap="square" rtlCol="0">
            <a:spAutoFit/>
          </a:bodyPr>
          <a:lstStyle/>
          <a:p>
            <a:pPr algn="l"/>
            <a:r>
              <a:rPr lang="en-US" sz="6000" dirty="0" err="1"/>
              <a:t>Toán</a:t>
            </a:r>
            <a:r>
              <a:rPr lang="en-US" sz="6000" dirty="0"/>
              <a:t> </a:t>
            </a:r>
            <a:r>
              <a:rPr lang="en-US" sz="6000" dirty="0" err="1"/>
              <a:t>tử</a:t>
            </a:r>
            <a:r>
              <a:rPr lang="en-US" sz="6000" dirty="0"/>
              <a:t> Sobel</a:t>
            </a:r>
          </a:p>
          <a:p>
            <a:pPr algn="l"/>
            <a:endParaRPr lang="en-US" b="0" dirty="0"/>
          </a:p>
          <a:p>
            <a:pPr algn="l"/>
            <a:r>
              <a:rPr lang="vi-VN" b="0" dirty="0"/>
              <a:t>Sobel là một thuật toán phát hiện biên trong xử lý ảnh, dựa trên việc tính đạo hàm bậc nhất của cường độ sáng trong ảnh. </a:t>
            </a:r>
            <a:endParaRPr lang="en-US" b="0" dirty="0"/>
          </a:p>
          <a:p>
            <a:pPr algn="l"/>
            <a:r>
              <a:rPr lang="vi-VN" b="0" dirty="0"/>
              <a:t>Nó phát hiện các biên bằng cách tìm những thay đổi nhanh chóng về cường độ sáng, thường xảy ra tại các đường biên của đối tượng trong ảnh.</a:t>
            </a:r>
            <a:endParaRPr lang="en-US" dirty="0"/>
          </a:p>
        </p:txBody>
      </p:sp>
      <p:pic>
        <p:nvPicPr>
          <p:cNvPr id="4" name="Picture 3" descr="A collage of images of a person and a camera&#10;&#10;AI-generated content may be incorrect."/>
          <p:cNvPicPr/>
          <p:nvPr/>
        </p:nvPicPr>
        <p:blipFill>
          <a:blip r:embed="rId2"/>
          <a:stretch>
            <a:fillRect/>
          </a:stretch>
        </p:blipFill>
        <p:spPr>
          <a:xfrm>
            <a:off x="436244" y="1977955"/>
            <a:ext cx="6364605" cy="6689795"/>
          </a:xfrm>
          <a:prstGeom prst="rect">
            <a:avLst/>
          </a:prstGeom>
        </p:spPr>
      </p:pic>
    </p:spTree>
    <p:extLst>
      <p:ext uri="{BB962C8B-B14F-4D97-AF65-F5344CB8AC3E}">
        <p14:creationId xmlns:p14="http://schemas.microsoft.com/office/powerpoint/2010/main" val="1442775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1008309" y="129582"/>
            <a:ext cx="11888003" cy="1249767"/>
          </a:xfrm>
        </p:spPr>
        <p:txBody>
          <a:bodyPr>
            <a:normAutofit fontScale="90000"/>
          </a:bodyPr>
          <a:lstStyle/>
          <a:p>
            <a:r>
              <a:rPr lang="en-US" sz="6600" b="1" dirty="0">
                <a:latin typeface="Constantia" panose="02030602050306030303" pitchFamily="18" charset="0"/>
              </a:rPr>
              <a:t>Nguyên </a:t>
            </a:r>
            <a:r>
              <a:rPr lang="en-US" sz="6600" b="1" dirty="0" err="1">
                <a:latin typeface="Constantia" panose="02030602050306030303" pitchFamily="18" charset="0"/>
              </a:rPr>
              <a:t>lý</a:t>
            </a:r>
            <a:r>
              <a:rPr lang="en-US" sz="6600" b="1" dirty="0">
                <a:latin typeface="Constantia" panose="02030602050306030303" pitchFamily="18" charset="0"/>
              </a:rPr>
              <a:t> </a:t>
            </a:r>
            <a:r>
              <a:rPr lang="en-US" sz="6600" b="1" dirty="0" err="1">
                <a:latin typeface="Constantia" panose="02030602050306030303" pitchFamily="18" charset="0"/>
              </a:rPr>
              <a:t>hoạt</a:t>
            </a:r>
            <a:r>
              <a:rPr lang="en-US" sz="6600" b="1" dirty="0">
                <a:latin typeface="Constantia" panose="02030602050306030303" pitchFamily="18" charset="0"/>
              </a:rPr>
              <a:t> </a:t>
            </a:r>
            <a:r>
              <a:rPr lang="en-US" sz="6600" b="1" dirty="0" err="1">
                <a:latin typeface="Constantia" panose="02030602050306030303" pitchFamily="18" charset="0"/>
              </a:rPr>
              <a:t>động</a:t>
            </a:r>
            <a:r>
              <a:rPr lang="en-US" sz="6600" b="1" dirty="0">
                <a:latin typeface="Constantia" panose="02030602050306030303" pitchFamily="18" charset="0"/>
              </a:rPr>
              <a:t/>
            </a:r>
            <a:br>
              <a:rPr lang="en-US" sz="6600" b="1" dirty="0">
                <a:latin typeface="Constantia" panose="02030602050306030303" pitchFamily="18" charset="0"/>
              </a:rPr>
            </a:br>
            <a:r>
              <a:rPr lang="en-US" sz="6600" b="1" dirty="0">
                <a:latin typeface="Constantia" panose="02030602050306030303" pitchFamily="18" charset="0"/>
              </a:rPr>
              <a:t/>
            </a:r>
            <a:br>
              <a:rPr lang="en-US" sz="6600" b="1" dirty="0">
                <a:latin typeface="Constantia" panose="02030602050306030303" pitchFamily="18" charset="0"/>
              </a:rPr>
            </a:br>
            <a:endParaRPr lang="en-US" sz="6600" b="1" dirty="0">
              <a:latin typeface="Constantia" panose="02030602050306030303" pitchFamily="18" charset="0"/>
            </a:endParaRPr>
          </a:p>
        </p:txBody>
      </p:sp>
      <p:sp>
        <p:nvSpPr>
          <p:cNvPr id="5" name="TextBox 4"/>
          <p:cNvSpPr txBox="1"/>
          <p:nvPr/>
        </p:nvSpPr>
        <p:spPr>
          <a:xfrm>
            <a:off x="1219200" y="1869355"/>
            <a:ext cx="10896600" cy="7848302"/>
          </a:xfrm>
          <a:prstGeom prst="rect">
            <a:avLst/>
          </a:prstGeom>
          <a:noFill/>
        </p:spPr>
        <p:txBody>
          <a:bodyPr wrap="square" rtlCol="0">
            <a:spAutoFit/>
          </a:bodyPr>
          <a:lstStyle/>
          <a:p>
            <a:pPr algn="l"/>
            <a:r>
              <a:rPr lang="vi-VN" b="0" dirty="0"/>
              <a:t>Sobel sử dụng </a:t>
            </a:r>
            <a:r>
              <a:rPr lang="vi-VN" dirty="0"/>
              <a:t>toán tử tích chập (convolution operator)</a:t>
            </a:r>
            <a:r>
              <a:rPr lang="vi-VN" b="0" dirty="0"/>
              <a:t> với hai ma trận nhân (kernel) để tính gần đúng đạo hàm bậc nhất theo hai hướng: </a:t>
            </a:r>
            <a:r>
              <a:rPr lang="vi-VN" dirty="0"/>
              <a:t>hướng ngang (x)</a:t>
            </a:r>
            <a:r>
              <a:rPr lang="vi-VN" b="0" dirty="0"/>
              <a:t> và </a:t>
            </a:r>
            <a:r>
              <a:rPr lang="vi-VN" dirty="0"/>
              <a:t>hướng dọc (y)</a:t>
            </a:r>
            <a:endParaRPr lang="en-US" dirty="0"/>
          </a:p>
          <a:p>
            <a:pPr marL="457200" indent="-457200" algn="l">
              <a:buAutoNum type="arabicPeriod"/>
            </a:pPr>
            <a:r>
              <a:rPr lang="en-US" dirty="0"/>
              <a:t>Kernel Sobel:</a:t>
            </a:r>
          </a:p>
          <a:p>
            <a:pPr algn="l"/>
            <a:r>
              <a:rPr lang="en-US" dirty="0"/>
              <a:t>- </a:t>
            </a:r>
            <a:r>
              <a:rPr lang="en-US" dirty="0" err="1"/>
              <a:t>Hướng</a:t>
            </a:r>
            <a:r>
              <a:rPr lang="en-US" dirty="0"/>
              <a:t> </a:t>
            </a:r>
            <a:r>
              <a:rPr lang="en-US" dirty="0" err="1"/>
              <a:t>ngang</a:t>
            </a:r>
            <a:r>
              <a:rPr lang="en-US" dirty="0"/>
              <a:t>(</a:t>
            </a:r>
            <a:r>
              <a:rPr lang="en-US" dirty="0" err="1"/>
              <a:t>Gx</a:t>
            </a:r>
            <a:r>
              <a:rPr lang="en-US" dirty="0"/>
              <a:t>): </a:t>
            </a:r>
            <a:r>
              <a:rPr lang="en-US" dirty="0" err="1"/>
              <a:t>K_x</a:t>
            </a:r>
            <a:r>
              <a:rPr lang="en-US" dirty="0"/>
              <a:t> =</a:t>
            </a:r>
          </a:p>
          <a:p>
            <a:pPr algn="l"/>
            <a:r>
              <a:rPr lang="en-US" dirty="0"/>
              <a:t>								</a:t>
            </a:r>
          </a:p>
          <a:p>
            <a:pPr algn="l"/>
            <a:endParaRPr lang="en-US" dirty="0"/>
          </a:p>
          <a:p>
            <a:pPr algn="l"/>
            <a:r>
              <a:rPr lang="en-US" dirty="0"/>
              <a:t>- </a:t>
            </a:r>
            <a:r>
              <a:rPr lang="en-US" dirty="0" err="1"/>
              <a:t>Hướng</a:t>
            </a:r>
            <a:r>
              <a:rPr lang="en-US" dirty="0"/>
              <a:t> </a:t>
            </a:r>
            <a:r>
              <a:rPr lang="en-US" dirty="0" err="1"/>
              <a:t>dọc</a:t>
            </a:r>
            <a:r>
              <a:rPr lang="en-US" dirty="0"/>
              <a:t>(</a:t>
            </a:r>
            <a:r>
              <a:rPr lang="en-US" dirty="0" err="1"/>
              <a:t>Gy</a:t>
            </a:r>
            <a:r>
              <a:rPr lang="en-US" dirty="0"/>
              <a:t>)    : </a:t>
            </a:r>
            <a:r>
              <a:rPr lang="en-US" dirty="0" err="1"/>
              <a:t>K_y</a:t>
            </a:r>
            <a:r>
              <a:rPr lang="en-US" dirty="0"/>
              <a:t> =  </a:t>
            </a:r>
          </a:p>
          <a:p>
            <a:pPr marL="342900" indent="-342900" algn="l">
              <a:buFontTx/>
              <a:buChar char="-"/>
            </a:pPr>
            <a:endParaRPr lang="en-US" dirty="0"/>
          </a:p>
          <a:p>
            <a:pPr marL="342900" indent="-342900" algn="l">
              <a:buFontTx/>
              <a:buChar char="-"/>
            </a:pPr>
            <a:endParaRPr lang="en-US" dirty="0"/>
          </a:p>
          <a:p>
            <a:pPr algn="l"/>
            <a:r>
              <a:rPr lang="en-US" dirty="0"/>
              <a:t>2. Tính </a:t>
            </a:r>
            <a:r>
              <a:rPr lang="en-US" dirty="0" err="1"/>
              <a:t>toán</a:t>
            </a:r>
            <a:r>
              <a:rPr lang="en-US" dirty="0"/>
              <a:t> </a:t>
            </a:r>
            <a:r>
              <a:rPr lang="en-US" dirty="0" err="1"/>
              <a:t>đạo</a:t>
            </a:r>
            <a:r>
              <a:rPr lang="en-US" dirty="0"/>
              <a:t> </a:t>
            </a:r>
            <a:r>
              <a:rPr lang="en-US" dirty="0" err="1"/>
              <a:t>hàm</a:t>
            </a:r>
            <a:r>
              <a:rPr lang="en-US" dirty="0"/>
              <a:t> x </a:t>
            </a:r>
            <a:r>
              <a:rPr lang="en-US" dirty="0" err="1"/>
              <a:t>và</a:t>
            </a:r>
            <a:r>
              <a:rPr lang="en-US" dirty="0"/>
              <a:t> y:</a:t>
            </a:r>
          </a:p>
          <a:p>
            <a:pPr marL="457200" lvl="1" indent="0" algn="l" defTabSz="914400" eaLnBrk="0" fontAlgn="base">
              <a:spcBef>
                <a:spcPct val="0"/>
              </a:spcBef>
              <a:spcAft>
                <a:spcPct val="0"/>
              </a:spcAft>
            </a:pPr>
            <a:r>
              <a:rPr lang="en-US" altLang="en-US" b="0" dirty="0">
                <a:solidFill>
                  <a:schemeClr val="tx1"/>
                </a:solidFill>
              </a:rPr>
              <a:t>-</a:t>
            </a:r>
            <a:r>
              <a:rPr lang="en-US" altLang="en-US" b="0" dirty="0" err="1">
                <a:solidFill>
                  <a:srgbClr val="1F1F1F"/>
                </a:solidFill>
              </a:rPr>
              <a:t>Đạo</a:t>
            </a:r>
            <a:r>
              <a:rPr lang="en-US" altLang="en-US" b="0" dirty="0">
                <a:solidFill>
                  <a:srgbClr val="1F1F1F"/>
                </a:solidFill>
              </a:rPr>
              <a:t> </a:t>
            </a:r>
            <a:r>
              <a:rPr lang="en-US" altLang="en-US" b="0" dirty="0" err="1">
                <a:solidFill>
                  <a:srgbClr val="1F1F1F"/>
                </a:solidFill>
              </a:rPr>
              <a:t>hàm</a:t>
            </a:r>
            <a:r>
              <a:rPr lang="en-US" altLang="en-US" b="0" dirty="0">
                <a:solidFill>
                  <a:srgbClr val="1F1F1F"/>
                </a:solidFill>
              </a:rPr>
              <a:t> </a:t>
            </a:r>
            <a:r>
              <a:rPr lang="en-US" altLang="en-US" b="0" dirty="0" err="1">
                <a:solidFill>
                  <a:srgbClr val="1F1F1F"/>
                </a:solidFill>
              </a:rPr>
              <a:t>theo</a:t>
            </a:r>
            <a:r>
              <a:rPr lang="en-US" altLang="en-US" b="0" dirty="0">
                <a:solidFill>
                  <a:srgbClr val="1F1F1F"/>
                </a:solidFill>
              </a:rPr>
              <a:t> </a:t>
            </a:r>
            <a:r>
              <a:rPr lang="en-US" altLang="en-US" b="0" dirty="0" err="1">
                <a:solidFill>
                  <a:srgbClr val="1F1F1F"/>
                </a:solidFill>
              </a:rPr>
              <a:t>hướng</a:t>
            </a:r>
            <a:r>
              <a:rPr lang="en-US" altLang="en-US" b="0" dirty="0">
                <a:solidFill>
                  <a:srgbClr val="1F1F1F"/>
                </a:solidFill>
              </a:rPr>
              <a:t> </a:t>
            </a:r>
            <a:r>
              <a:rPr lang="en-US" altLang="en-US" b="0" dirty="0" err="1">
                <a:solidFill>
                  <a:srgbClr val="1F1F1F"/>
                </a:solidFill>
              </a:rPr>
              <a:t>ngang</a:t>
            </a:r>
            <a:r>
              <a:rPr lang="en-US" altLang="en-US" b="0" dirty="0">
                <a:solidFill>
                  <a:srgbClr val="1F1F1F"/>
                </a:solidFill>
              </a:rPr>
              <a:t> (</a:t>
            </a:r>
            <a:r>
              <a:rPr lang="en-US" altLang="en-US" b="0" dirty="0" err="1">
                <a:solidFill>
                  <a:srgbClr val="1F1F1F"/>
                </a:solidFill>
              </a:rPr>
              <a:t>Gx</a:t>
            </a:r>
            <a:r>
              <a:rPr lang="en-US" altLang="en-US" b="0" dirty="0">
                <a:solidFill>
                  <a:srgbClr val="1F1F1F"/>
                </a:solidFill>
              </a:rPr>
              <a:t>): </a:t>
            </a:r>
            <a:r>
              <a:rPr lang="en-US" altLang="en-US" b="0" dirty="0" err="1">
                <a:solidFill>
                  <a:srgbClr val="1F1F1F"/>
                </a:solidFill>
              </a:rPr>
              <a:t>Tích</a:t>
            </a:r>
            <a:r>
              <a:rPr lang="en-US" altLang="en-US" b="0" dirty="0">
                <a:solidFill>
                  <a:srgbClr val="1F1F1F"/>
                </a:solidFill>
              </a:rPr>
              <a:t> </a:t>
            </a:r>
            <a:r>
              <a:rPr lang="en-US" altLang="en-US" b="0" dirty="0" err="1">
                <a:solidFill>
                  <a:srgbClr val="1F1F1F"/>
                </a:solidFill>
              </a:rPr>
              <a:t>chập</a:t>
            </a:r>
            <a:r>
              <a:rPr lang="en-US" altLang="en-US" b="0" dirty="0">
                <a:solidFill>
                  <a:srgbClr val="1F1F1F"/>
                </a:solidFill>
              </a:rPr>
              <a:t> </a:t>
            </a:r>
            <a:r>
              <a:rPr lang="en-US" altLang="en-US" b="0" dirty="0" err="1">
                <a:solidFill>
                  <a:srgbClr val="1F1F1F"/>
                </a:solidFill>
              </a:rPr>
              <a:t>ảnh</a:t>
            </a:r>
            <a:r>
              <a:rPr lang="en-US" altLang="en-US" b="0" dirty="0">
                <a:solidFill>
                  <a:srgbClr val="1F1F1F"/>
                </a:solidFill>
              </a:rPr>
              <a:t> đầu vào </a:t>
            </a:r>
            <a:r>
              <a:rPr lang="en-US" altLang="en-US" b="0" dirty="0" err="1">
                <a:solidFill>
                  <a:srgbClr val="1F1F1F"/>
                </a:solidFill>
              </a:rPr>
              <a:t>với</a:t>
            </a:r>
            <a:r>
              <a:rPr lang="en-US" altLang="en-US" b="0" dirty="0">
                <a:solidFill>
                  <a:srgbClr val="1F1F1F"/>
                </a:solidFill>
              </a:rPr>
              <a:t> </a:t>
            </a:r>
            <a:r>
              <a:rPr lang="en-US" altLang="en-US" b="0" dirty="0" err="1">
                <a:solidFill>
                  <a:srgbClr val="1F1F1F"/>
                </a:solidFill>
              </a:rPr>
              <a:t>Kx</a:t>
            </a:r>
            <a:r>
              <a:rPr lang="en-US" altLang="en-US" b="0" dirty="0">
                <a:solidFill>
                  <a:srgbClr val="1F1F1F"/>
                </a:solidFill>
              </a:rPr>
              <a:t>.</a:t>
            </a:r>
          </a:p>
          <a:p>
            <a:pPr marL="457200" lvl="1" indent="0" algn="l" defTabSz="914400" eaLnBrk="0" fontAlgn="base">
              <a:spcBef>
                <a:spcPct val="0"/>
              </a:spcBef>
              <a:spcAft>
                <a:spcPct val="0"/>
              </a:spcAft>
            </a:pPr>
            <a:r>
              <a:rPr lang="en-US" altLang="en-US" b="0" dirty="0">
                <a:solidFill>
                  <a:srgbClr val="1F1F1F"/>
                </a:solidFill>
              </a:rPr>
              <a:t>-</a:t>
            </a:r>
            <a:r>
              <a:rPr lang="en-US" altLang="en-US" b="0" dirty="0" err="1">
                <a:solidFill>
                  <a:srgbClr val="1F1F1F"/>
                </a:solidFill>
              </a:rPr>
              <a:t>Đạo</a:t>
            </a:r>
            <a:r>
              <a:rPr lang="en-US" altLang="en-US" b="0" dirty="0">
                <a:solidFill>
                  <a:srgbClr val="1F1F1F"/>
                </a:solidFill>
              </a:rPr>
              <a:t> </a:t>
            </a:r>
            <a:r>
              <a:rPr lang="en-US" altLang="en-US" b="0" dirty="0" err="1">
                <a:solidFill>
                  <a:srgbClr val="1F1F1F"/>
                </a:solidFill>
              </a:rPr>
              <a:t>hàm</a:t>
            </a:r>
            <a:r>
              <a:rPr lang="en-US" altLang="en-US" b="0" dirty="0">
                <a:solidFill>
                  <a:srgbClr val="1F1F1F"/>
                </a:solidFill>
              </a:rPr>
              <a:t> </a:t>
            </a:r>
            <a:r>
              <a:rPr lang="en-US" altLang="en-US" b="0" dirty="0" err="1">
                <a:solidFill>
                  <a:srgbClr val="1F1F1F"/>
                </a:solidFill>
              </a:rPr>
              <a:t>theo</a:t>
            </a:r>
            <a:r>
              <a:rPr lang="en-US" altLang="en-US" b="0" dirty="0">
                <a:solidFill>
                  <a:srgbClr val="1F1F1F"/>
                </a:solidFill>
              </a:rPr>
              <a:t> </a:t>
            </a:r>
            <a:r>
              <a:rPr lang="en-US" altLang="en-US" b="0" dirty="0" err="1">
                <a:solidFill>
                  <a:srgbClr val="1F1F1F"/>
                </a:solidFill>
              </a:rPr>
              <a:t>hướng</a:t>
            </a:r>
            <a:r>
              <a:rPr lang="en-US" altLang="en-US" b="0" dirty="0">
                <a:solidFill>
                  <a:srgbClr val="1F1F1F"/>
                </a:solidFill>
              </a:rPr>
              <a:t> </a:t>
            </a:r>
            <a:r>
              <a:rPr lang="en-US" altLang="en-US" b="0" dirty="0" err="1">
                <a:solidFill>
                  <a:srgbClr val="1F1F1F"/>
                </a:solidFill>
              </a:rPr>
              <a:t>dọc</a:t>
            </a:r>
            <a:r>
              <a:rPr lang="en-US" altLang="en-US" b="0" dirty="0">
                <a:solidFill>
                  <a:srgbClr val="1F1F1F"/>
                </a:solidFill>
              </a:rPr>
              <a:t> (</a:t>
            </a:r>
            <a:r>
              <a:rPr lang="en-US" altLang="en-US" b="0" dirty="0" err="1">
                <a:solidFill>
                  <a:srgbClr val="1F1F1F"/>
                </a:solidFill>
              </a:rPr>
              <a:t>Gy</a:t>
            </a:r>
            <a:r>
              <a:rPr lang="en-US" altLang="en-US" b="0" dirty="0">
                <a:solidFill>
                  <a:srgbClr val="1F1F1F"/>
                </a:solidFill>
              </a:rPr>
              <a:t>): </a:t>
            </a:r>
            <a:r>
              <a:rPr lang="en-US" altLang="en-US" b="0" dirty="0" err="1">
                <a:solidFill>
                  <a:srgbClr val="1F1F1F"/>
                </a:solidFill>
              </a:rPr>
              <a:t>Tích</a:t>
            </a:r>
            <a:r>
              <a:rPr lang="en-US" altLang="en-US" b="0" dirty="0">
                <a:solidFill>
                  <a:srgbClr val="1F1F1F"/>
                </a:solidFill>
              </a:rPr>
              <a:t> </a:t>
            </a:r>
            <a:r>
              <a:rPr lang="en-US" altLang="en-US" b="0" dirty="0" err="1">
                <a:solidFill>
                  <a:srgbClr val="1F1F1F"/>
                </a:solidFill>
              </a:rPr>
              <a:t>chập</a:t>
            </a:r>
            <a:r>
              <a:rPr lang="en-US" altLang="en-US" b="0" dirty="0">
                <a:solidFill>
                  <a:srgbClr val="1F1F1F"/>
                </a:solidFill>
              </a:rPr>
              <a:t> </a:t>
            </a:r>
            <a:r>
              <a:rPr lang="en-US" altLang="en-US" b="0" dirty="0" err="1">
                <a:solidFill>
                  <a:srgbClr val="1F1F1F"/>
                </a:solidFill>
              </a:rPr>
              <a:t>ảnh</a:t>
            </a:r>
            <a:r>
              <a:rPr lang="en-US" altLang="en-US" b="0" dirty="0">
                <a:solidFill>
                  <a:srgbClr val="1F1F1F"/>
                </a:solidFill>
              </a:rPr>
              <a:t> đầu vào </a:t>
            </a:r>
            <a:r>
              <a:rPr lang="en-US" altLang="en-US" b="0" dirty="0" err="1">
                <a:solidFill>
                  <a:srgbClr val="1F1F1F"/>
                </a:solidFill>
              </a:rPr>
              <a:t>với</a:t>
            </a:r>
            <a:r>
              <a:rPr lang="en-US" altLang="en-US" b="0" dirty="0">
                <a:solidFill>
                  <a:srgbClr val="1F1F1F"/>
                </a:solidFill>
              </a:rPr>
              <a:t> Ky.</a:t>
            </a:r>
          </a:p>
          <a:p>
            <a:pPr lvl="0" algn="l" defTabSz="914400" eaLnBrk="0" fontAlgn="base">
              <a:spcBef>
                <a:spcPct val="0"/>
              </a:spcBef>
              <a:spcAft>
                <a:spcPct val="0"/>
              </a:spcAft>
            </a:pPr>
            <a:r>
              <a:rPr lang="en-US" altLang="en-US" dirty="0">
                <a:solidFill>
                  <a:srgbClr val="1F1F1F"/>
                </a:solidFill>
              </a:rPr>
              <a:t>3.Độ </a:t>
            </a:r>
            <a:r>
              <a:rPr lang="en-US" altLang="en-US" dirty="0" err="1">
                <a:solidFill>
                  <a:srgbClr val="1F1F1F"/>
                </a:solidFill>
              </a:rPr>
              <a:t>lớn</a:t>
            </a:r>
            <a:r>
              <a:rPr lang="en-US" altLang="en-US" dirty="0">
                <a:solidFill>
                  <a:srgbClr val="1F1F1F"/>
                </a:solidFill>
              </a:rPr>
              <a:t> </a:t>
            </a:r>
            <a:r>
              <a:rPr lang="en-US" altLang="en-US" dirty="0" err="1">
                <a:solidFill>
                  <a:srgbClr val="1F1F1F"/>
                </a:solidFill>
              </a:rPr>
              <a:t>biên</a:t>
            </a:r>
            <a:r>
              <a:rPr lang="en-US" altLang="en-US" dirty="0">
                <a:solidFill>
                  <a:srgbClr val="1F1F1F"/>
                </a:solidFill>
              </a:rPr>
              <a:t> (</a:t>
            </a:r>
            <a:r>
              <a:rPr lang="en-US" altLang="en-US" b="0" dirty="0">
                <a:solidFill>
                  <a:srgbClr val="1F1F1F"/>
                </a:solidFill>
              </a:rPr>
              <a:t>G</a:t>
            </a:r>
            <a:r>
              <a:rPr lang="en-US" altLang="en-US" dirty="0">
                <a:solidFill>
                  <a:srgbClr val="1F1F1F"/>
                </a:solidFill>
              </a:rPr>
              <a:t>):</a:t>
            </a:r>
            <a:r>
              <a:rPr lang="en-US" altLang="en-US" b="0" dirty="0">
                <a:solidFill>
                  <a:srgbClr val="1F1F1F"/>
                </a:solidFill>
              </a:rPr>
              <a:t> </a:t>
            </a:r>
            <a:r>
              <a:rPr lang="en-US" altLang="en-US" b="0" dirty="0" err="1">
                <a:solidFill>
                  <a:srgbClr val="1F1F1F"/>
                </a:solidFill>
              </a:rPr>
              <a:t>Sau</a:t>
            </a:r>
            <a:r>
              <a:rPr lang="en-US" altLang="en-US" b="0" dirty="0">
                <a:solidFill>
                  <a:srgbClr val="1F1F1F"/>
                </a:solidFill>
              </a:rPr>
              <a:t> </a:t>
            </a:r>
            <a:r>
              <a:rPr lang="en-US" altLang="en-US" b="0" dirty="0" err="1">
                <a:solidFill>
                  <a:srgbClr val="1F1F1F"/>
                </a:solidFill>
              </a:rPr>
              <a:t>khi</a:t>
            </a:r>
            <a:r>
              <a:rPr lang="en-US" altLang="en-US" b="0" dirty="0">
                <a:solidFill>
                  <a:srgbClr val="1F1F1F"/>
                </a:solidFill>
              </a:rPr>
              <a:t> tính </a:t>
            </a:r>
            <a:r>
              <a:rPr lang="en-US" altLang="en-US" b="0" dirty="0" err="1">
                <a:solidFill>
                  <a:srgbClr val="1F1F1F"/>
                </a:solidFill>
              </a:rPr>
              <a:t>Gx</a:t>
            </a:r>
            <a:r>
              <a:rPr lang="en-US" altLang="en-US" b="0" dirty="0">
                <a:solidFill>
                  <a:srgbClr val="1F1F1F"/>
                </a:solidFill>
              </a:rPr>
              <a:t> </a:t>
            </a:r>
            <a:r>
              <a:rPr lang="en-US" altLang="en-US" b="0" dirty="0" err="1">
                <a:solidFill>
                  <a:srgbClr val="1F1F1F"/>
                </a:solidFill>
              </a:rPr>
              <a:t>và</a:t>
            </a:r>
            <a:r>
              <a:rPr lang="en-US" altLang="en-US" b="0" dirty="0">
                <a:solidFill>
                  <a:srgbClr val="1F1F1F"/>
                </a:solidFill>
              </a:rPr>
              <a:t> </a:t>
            </a:r>
            <a:r>
              <a:rPr lang="en-US" altLang="en-US" b="0" dirty="0" err="1">
                <a:solidFill>
                  <a:srgbClr val="1F1F1F"/>
                </a:solidFill>
              </a:rPr>
              <a:t>Gy</a:t>
            </a:r>
            <a:r>
              <a:rPr lang="en-US" altLang="en-US" b="0" dirty="0">
                <a:solidFill>
                  <a:srgbClr val="1F1F1F"/>
                </a:solidFill>
              </a:rPr>
              <a:t>, </a:t>
            </a:r>
            <a:r>
              <a:rPr lang="en-US" altLang="en-US" b="0" dirty="0" err="1">
                <a:solidFill>
                  <a:srgbClr val="1F1F1F"/>
                </a:solidFill>
              </a:rPr>
              <a:t>độ</a:t>
            </a:r>
            <a:r>
              <a:rPr lang="en-US" altLang="en-US" b="0" dirty="0">
                <a:solidFill>
                  <a:srgbClr val="1F1F1F"/>
                </a:solidFill>
              </a:rPr>
              <a:t> </a:t>
            </a:r>
            <a:r>
              <a:rPr lang="en-US" altLang="en-US" b="0" dirty="0" err="1">
                <a:solidFill>
                  <a:srgbClr val="1F1F1F"/>
                </a:solidFill>
              </a:rPr>
              <a:t>lớn</a:t>
            </a:r>
            <a:r>
              <a:rPr lang="en-US" altLang="en-US" b="0" dirty="0">
                <a:solidFill>
                  <a:srgbClr val="1F1F1F"/>
                </a:solidFill>
              </a:rPr>
              <a:t> </a:t>
            </a:r>
            <a:r>
              <a:rPr lang="en-US" altLang="en-US" b="0" dirty="0" err="1">
                <a:solidFill>
                  <a:srgbClr val="1F1F1F"/>
                </a:solidFill>
              </a:rPr>
              <a:t>của</a:t>
            </a:r>
            <a:r>
              <a:rPr lang="en-US" altLang="en-US" b="0" dirty="0">
                <a:solidFill>
                  <a:srgbClr val="1F1F1F"/>
                </a:solidFill>
              </a:rPr>
              <a:t> </a:t>
            </a:r>
            <a:r>
              <a:rPr lang="en-US" altLang="en-US" b="0" dirty="0" err="1">
                <a:solidFill>
                  <a:srgbClr val="1F1F1F"/>
                </a:solidFill>
              </a:rPr>
              <a:t>biên</a:t>
            </a:r>
            <a:r>
              <a:rPr lang="en-US" altLang="en-US" b="0" dirty="0">
                <a:solidFill>
                  <a:srgbClr val="1F1F1F"/>
                </a:solidFill>
              </a:rPr>
              <a:t> </a:t>
            </a:r>
            <a:r>
              <a:rPr lang="en-US" altLang="en-US" b="0" dirty="0" err="1">
                <a:solidFill>
                  <a:srgbClr val="1F1F1F"/>
                </a:solidFill>
              </a:rPr>
              <a:t>được</a:t>
            </a:r>
            <a:r>
              <a:rPr lang="en-US" altLang="en-US" b="0" dirty="0">
                <a:solidFill>
                  <a:srgbClr val="1F1F1F"/>
                </a:solidFill>
              </a:rPr>
              <a:t> tính </a:t>
            </a:r>
            <a:r>
              <a:rPr lang="en-US" altLang="en-US" b="0" dirty="0" err="1">
                <a:solidFill>
                  <a:srgbClr val="1F1F1F"/>
                </a:solidFill>
              </a:rPr>
              <a:t>bằng</a:t>
            </a:r>
            <a:r>
              <a:rPr lang="en-US" altLang="en-US" b="0" dirty="0">
                <a:solidFill>
                  <a:srgbClr val="1F1F1F"/>
                </a:solidFill>
              </a:rPr>
              <a:t>:</a:t>
            </a:r>
          </a:p>
          <a:p>
            <a:pPr lvl="0" algn="l" defTabSz="914400" eaLnBrk="0" fontAlgn="base">
              <a:spcBef>
                <a:spcPct val="0"/>
              </a:spcBef>
              <a:spcAft>
                <a:spcPct val="0"/>
              </a:spcAft>
            </a:pPr>
            <a:endParaRPr lang="en-US" altLang="en-US" b="0" dirty="0">
              <a:solidFill>
                <a:srgbClr val="1F1F1F"/>
              </a:solidFill>
            </a:endParaRPr>
          </a:p>
          <a:p>
            <a:pPr lvl="0" algn="l" defTabSz="914400" eaLnBrk="0" fontAlgn="base">
              <a:spcBef>
                <a:spcPct val="0"/>
              </a:spcBef>
              <a:spcAft>
                <a:spcPct val="0"/>
              </a:spcAft>
            </a:pPr>
            <a:endParaRPr lang="en-US" altLang="en-US" b="0" dirty="0">
              <a:solidFill>
                <a:srgbClr val="1F1F1F"/>
              </a:solidFill>
            </a:endParaRPr>
          </a:p>
          <a:p>
            <a:pPr lvl="0" algn="l" defTabSz="914400" eaLnBrk="0" fontAlgn="base">
              <a:spcBef>
                <a:spcPct val="0"/>
              </a:spcBef>
              <a:spcAft>
                <a:spcPct val="0"/>
              </a:spcAft>
            </a:pPr>
            <a:r>
              <a:rPr lang="en-US" altLang="en-US" b="0" dirty="0">
                <a:solidFill>
                  <a:srgbClr val="1F1F1F"/>
                </a:solidFill>
              </a:rPr>
              <a:t>(</a:t>
            </a:r>
            <a:r>
              <a:rPr lang="en-US" altLang="en-US" b="0" dirty="0" err="1">
                <a:solidFill>
                  <a:srgbClr val="1F1F1F"/>
                </a:solidFill>
              </a:rPr>
              <a:t>hoặc</a:t>
            </a:r>
            <a:r>
              <a:rPr lang="en-US" altLang="en-US" b="0" dirty="0">
                <a:solidFill>
                  <a:srgbClr val="1F1F1F"/>
                </a:solidFill>
              </a:rPr>
              <a:t> </a:t>
            </a:r>
            <a:r>
              <a:rPr lang="en-US" altLang="en-US" b="0" dirty="0" err="1">
                <a:solidFill>
                  <a:srgbClr val="1F1F1F"/>
                </a:solidFill>
              </a:rPr>
              <a:t>lấy</a:t>
            </a:r>
            <a:r>
              <a:rPr lang="en-US" altLang="en-US" b="0" dirty="0">
                <a:solidFill>
                  <a:srgbClr val="1F1F1F"/>
                </a:solidFill>
              </a:rPr>
              <a:t> </a:t>
            </a:r>
            <a:r>
              <a:rPr lang="en-US" altLang="en-US" b="0" dirty="0" err="1">
                <a:solidFill>
                  <a:srgbClr val="1F1F1F"/>
                </a:solidFill>
              </a:rPr>
              <a:t>gần</a:t>
            </a:r>
            <a:r>
              <a:rPr lang="en-US" altLang="en-US" b="0" dirty="0">
                <a:solidFill>
                  <a:srgbClr val="1F1F1F"/>
                </a:solidFill>
              </a:rPr>
              <a:t> </a:t>
            </a:r>
            <a:r>
              <a:rPr lang="en-US" altLang="en-US" b="0" dirty="0" err="1">
                <a:solidFill>
                  <a:srgbClr val="1F1F1F"/>
                </a:solidFill>
              </a:rPr>
              <a:t>đúng</a:t>
            </a:r>
            <a:r>
              <a:rPr lang="en-US" altLang="en-US" b="0" dirty="0">
                <a:solidFill>
                  <a:srgbClr val="1F1F1F"/>
                </a:solidFill>
              </a:rPr>
              <a:t> G=|</a:t>
            </a:r>
            <a:r>
              <a:rPr lang="en-US" altLang="en-US" b="0" dirty="0" err="1">
                <a:solidFill>
                  <a:srgbClr val="1F1F1F"/>
                </a:solidFill>
              </a:rPr>
              <a:t>Gx</a:t>
            </a:r>
            <a:r>
              <a:rPr lang="en-US" altLang="en-US" b="0" dirty="0">
                <a:solidFill>
                  <a:srgbClr val="1F1F1F"/>
                </a:solidFill>
              </a:rPr>
              <a:t>|+|</a:t>
            </a:r>
            <a:r>
              <a:rPr lang="en-US" altLang="en-US" b="0" dirty="0" err="1">
                <a:solidFill>
                  <a:srgbClr val="1F1F1F"/>
                </a:solidFill>
              </a:rPr>
              <a:t>Gy</a:t>
            </a:r>
            <a:r>
              <a:rPr lang="en-US" altLang="en-US" b="0" dirty="0">
                <a:solidFill>
                  <a:srgbClr val="1F1F1F"/>
                </a:solidFill>
              </a:rPr>
              <a:t>| để </a:t>
            </a:r>
            <a:r>
              <a:rPr lang="en-US" altLang="en-US" b="0" dirty="0" err="1">
                <a:solidFill>
                  <a:srgbClr val="1F1F1F"/>
                </a:solidFill>
              </a:rPr>
              <a:t>giảm</a:t>
            </a:r>
            <a:r>
              <a:rPr lang="en-US" altLang="en-US" b="0" dirty="0">
                <a:solidFill>
                  <a:srgbClr val="1F1F1F"/>
                </a:solidFill>
              </a:rPr>
              <a:t> chi </a:t>
            </a:r>
            <a:r>
              <a:rPr lang="en-US" altLang="en-US" b="0" dirty="0" err="1">
                <a:solidFill>
                  <a:srgbClr val="1F1F1F"/>
                </a:solidFill>
              </a:rPr>
              <a:t>phí</a:t>
            </a:r>
            <a:r>
              <a:rPr lang="en-US" altLang="en-US" b="0" dirty="0">
                <a:solidFill>
                  <a:srgbClr val="1F1F1F"/>
                </a:solidFill>
              </a:rPr>
              <a:t> tính </a:t>
            </a:r>
            <a:r>
              <a:rPr lang="en-US" altLang="en-US" b="0" dirty="0" err="1">
                <a:solidFill>
                  <a:srgbClr val="1F1F1F"/>
                </a:solidFill>
              </a:rPr>
              <a:t>toán</a:t>
            </a:r>
            <a:r>
              <a:rPr lang="en-US" altLang="en-US" b="0" dirty="0">
                <a:solidFill>
                  <a:srgbClr val="1F1F1F"/>
                </a:solidFill>
              </a:rPr>
              <a:t>).</a:t>
            </a:r>
          </a:p>
          <a:p>
            <a:pPr lvl="0" algn="l" defTabSz="914400" eaLnBrk="0" fontAlgn="base">
              <a:spcBef>
                <a:spcPct val="0"/>
              </a:spcBef>
              <a:spcAft>
                <a:spcPct val="0"/>
              </a:spcAft>
              <a:buFontTx/>
              <a:buAutoNum type="arabicPeriod" startAt="3"/>
            </a:pPr>
            <a:r>
              <a:rPr lang="en-US" altLang="en-US" dirty="0" err="1">
                <a:solidFill>
                  <a:srgbClr val="1F1F1F"/>
                </a:solidFill>
              </a:rPr>
              <a:t>Hướng</a:t>
            </a:r>
            <a:r>
              <a:rPr lang="en-US" altLang="en-US" dirty="0">
                <a:solidFill>
                  <a:srgbClr val="1F1F1F"/>
                </a:solidFill>
              </a:rPr>
              <a:t> </a:t>
            </a:r>
            <a:r>
              <a:rPr lang="en-US" altLang="en-US" dirty="0" err="1">
                <a:solidFill>
                  <a:srgbClr val="1F1F1F"/>
                </a:solidFill>
              </a:rPr>
              <a:t>của</a:t>
            </a:r>
            <a:r>
              <a:rPr lang="en-US" altLang="en-US" dirty="0">
                <a:solidFill>
                  <a:srgbClr val="1F1F1F"/>
                </a:solidFill>
              </a:rPr>
              <a:t> </a:t>
            </a:r>
            <a:r>
              <a:rPr lang="en-US" altLang="en-US" dirty="0" err="1">
                <a:solidFill>
                  <a:srgbClr val="1F1F1F"/>
                </a:solidFill>
              </a:rPr>
              <a:t>biên</a:t>
            </a:r>
            <a:r>
              <a:rPr lang="en-US" altLang="en-US" dirty="0">
                <a:solidFill>
                  <a:srgbClr val="1F1F1F"/>
                </a:solidFill>
              </a:rPr>
              <a:t> (</a:t>
            </a:r>
            <a:r>
              <a:rPr lang="en-US" altLang="en-US" b="0" dirty="0">
                <a:solidFill>
                  <a:srgbClr val="1F1F1F"/>
                </a:solidFill>
              </a:rPr>
              <a:t>θ</a:t>
            </a:r>
            <a:r>
              <a:rPr lang="en-US" altLang="en-US" dirty="0">
                <a:solidFill>
                  <a:srgbClr val="1F1F1F"/>
                </a:solidFill>
              </a:rPr>
              <a:t>):</a:t>
            </a:r>
            <a:r>
              <a:rPr lang="en-US" altLang="en-US" b="0" dirty="0">
                <a:solidFill>
                  <a:srgbClr val="1F1F1F"/>
                </a:solidFill>
              </a:rPr>
              <a:t> </a:t>
            </a:r>
            <a:r>
              <a:rPr lang="en-US" altLang="en-US" b="0" dirty="0" err="1">
                <a:solidFill>
                  <a:srgbClr val="1F1F1F"/>
                </a:solidFill>
              </a:rPr>
              <a:t>Hướng</a:t>
            </a:r>
            <a:r>
              <a:rPr lang="en-US" altLang="en-US" b="0" dirty="0">
                <a:solidFill>
                  <a:srgbClr val="1F1F1F"/>
                </a:solidFill>
              </a:rPr>
              <a:t> </a:t>
            </a:r>
            <a:r>
              <a:rPr lang="en-US" altLang="en-US" b="0" dirty="0" err="1">
                <a:solidFill>
                  <a:srgbClr val="1F1F1F"/>
                </a:solidFill>
              </a:rPr>
              <a:t>của</a:t>
            </a:r>
            <a:r>
              <a:rPr lang="en-US" altLang="en-US" b="0" dirty="0">
                <a:solidFill>
                  <a:srgbClr val="1F1F1F"/>
                </a:solidFill>
              </a:rPr>
              <a:t> </a:t>
            </a:r>
            <a:r>
              <a:rPr lang="en-US" altLang="en-US" b="0" dirty="0" err="1">
                <a:solidFill>
                  <a:srgbClr val="1F1F1F"/>
                </a:solidFill>
              </a:rPr>
              <a:t>biên</a:t>
            </a:r>
            <a:r>
              <a:rPr lang="en-US" altLang="en-US" b="0" dirty="0">
                <a:solidFill>
                  <a:srgbClr val="1F1F1F"/>
                </a:solidFill>
              </a:rPr>
              <a:t> </a:t>
            </a:r>
            <a:r>
              <a:rPr lang="en-US" altLang="en-US" b="0" dirty="0" err="1">
                <a:solidFill>
                  <a:srgbClr val="1F1F1F"/>
                </a:solidFill>
              </a:rPr>
              <a:t>được</a:t>
            </a:r>
            <a:r>
              <a:rPr lang="en-US" altLang="en-US" b="0" dirty="0">
                <a:solidFill>
                  <a:srgbClr val="1F1F1F"/>
                </a:solidFill>
              </a:rPr>
              <a:t> </a:t>
            </a:r>
            <a:r>
              <a:rPr lang="en-US" altLang="en-US" b="0" dirty="0" err="1">
                <a:solidFill>
                  <a:srgbClr val="1F1F1F"/>
                </a:solidFill>
              </a:rPr>
              <a:t>xác</a:t>
            </a:r>
            <a:r>
              <a:rPr lang="en-US" altLang="en-US" b="0" dirty="0">
                <a:solidFill>
                  <a:srgbClr val="1F1F1F"/>
                </a:solidFill>
              </a:rPr>
              <a:t> </a:t>
            </a:r>
            <a:r>
              <a:rPr lang="en-US" altLang="en-US" b="0" dirty="0" err="1">
                <a:solidFill>
                  <a:srgbClr val="1F1F1F"/>
                </a:solidFill>
              </a:rPr>
              <a:t>định</a:t>
            </a:r>
            <a:r>
              <a:rPr lang="en-US" altLang="en-US" b="0" dirty="0">
                <a:solidFill>
                  <a:srgbClr val="1F1F1F"/>
                </a:solidFill>
              </a:rPr>
              <a:t> </a:t>
            </a:r>
            <a:r>
              <a:rPr lang="en-US" altLang="en-US" b="0" dirty="0" err="1">
                <a:solidFill>
                  <a:srgbClr val="1F1F1F"/>
                </a:solidFill>
              </a:rPr>
              <a:t>bằng</a:t>
            </a:r>
            <a:r>
              <a:rPr lang="en-US" altLang="en-US" b="0" dirty="0">
                <a:solidFill>
                  <a:srgbClr val="1F1F1F"/>
                </a:solidFill>
              </a:rPr>
              <a:t>:</a:t>
            </a:r>
          </a:p>
          <a:p>
            <a:pPr lvl="0" algn="l" defTabSz="914400" eaLnBrk="0" fontAlgn="base">
              <a:spcBef>
                <a:spcPct val="0"/>
              </a:spcBef>
              <a:spcAft>
                <a:spcPct val="0"/>
              </a:spcAft>
            </a:pPr>
            <a:endParaRPr lang="en-US" altLang="en-US" b="0" dirty="0">
              <a:solidFill>
                <a:srgbClr val="1F1F1F"/>
              </a:solidFill>
            </a:endParaRPr>
          </a:p>
          <a:p>
            <a:pPr lvl="0" algn="l" defTabSz="914400" eaLnBrk="0" fontAlgn="base">
              <a:spcBef>
                <a:spcPct val="0"/>
              </a:spcBef>
              <a:spcAft>
                <a:spcPct val="0"/>
              </a:spcAft>
            </a:pPr>
            <a:r>
              <a:rPr lang="en-US" altLang="en-US" b="0" dirty="0">
                <a:solidFill>
                  <a:schemeClr val="tx1"/>
                </a:solidFill>
              </a:rPr>
              <a:t/>
            </a:r>
            <a:br>
              <a:rPr lang="en-US" altLang="en-US" b="0" dirty="0">
                <a:solidFill>
                  <a:schemeClr val="tx1"/>
                </a:solidFill>
              </a:rPr>
            </a:br>
            <a:endParaRPr lang="en-US" dirty="0"/>
          </a:p>
        </p:txBody>
      </p:sp>
      <p:sp>
        <p:nvSpPr>
          <p:cNvPr id="9" name="Rectangle 4"/>
          <p:cNvSpPr>
            <a:spLocks noChangeArrowheads="1"/>
          </p:cNvSpPr>
          <p:nvPr/>
        </p:nvSpPr>
        <p:spPr bwMode="auto">
          <a:xfrm>
            <a:off x="304800" y="304800"/>
            <a:ext cx="13004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E3E3E3"/>
                </a:solidFill>
                <a:effectLst/>
                <a:latin typeface="Roboto"/>
              </a:rPr>
              <a:t>Hướng ngang (</a:t>
            </a:r>
            <a:r>
              <a:rPr kumimoji="0" lang="en-US" altLang="en-US" sz="1400" b="0" i="0" u="none" strike="noStrike" cap="none" normalizeH="0" baseline="0">
                <a:ln>
                  <a:noFill/>
                </a:ln>
                <a:solidFill>
                  <a:srgbClr val="E3E3E3"/>
                </a:solidFill>
                <a:effectLst/>
                <a:latin typeface="MathJax_Math-italic"/>
              </a:rPr>
              <a:t>G</a:t>
            </a:r>
            <a:r>
              <a:rPr kumimoji="0" lang="en-US" altLang="en-US" sz="900" b="0" i="0" u="none" strike="noStrike" cap="none" normalizeH="0" baseline="0">
                <a:ln>
                  <a:noFill/>
                </a:ln>
                <a:solidFill>
                  <a:srgbClr val="E3E3E3"/>
                </a:solidFill>
                <a:effectLst/>
                <a:latin typeface="MathJax_Math-italic"/>
              </a:rPr>
              <a:t>x</a:t>
            </a:r>
            <a:r>
              <a:rPr kumimoji="0" lang="en-US" altLang="en-US" sz="1200" b="0" i="0" u="none" strike="noStrike" cap="none" normalizeH="0" baseline="0">
                <a:ln>
                  <a:noFill/>
                </a:ln>
                <a:solidFill>
                  <a:srgbClr val="E3E3E3"/>
                </a:solidFill>
                <a:effectLst/>
                <a:latin typeface="Roboto"/>
              </a:rPr>
              <a:t>): $$ K_x =</a:t>
            </a:r>
            <a:r>
              <a:rPr kumimoji="0" lang="en-US" altLang="en-US" sz="11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 name="Picture 9"/>
          <p:cNvPicPr>
            <a:picLocks noChangeAspect="1"/>
          </p:cNvPicPr>
          <p:nvPr/>
        </p:nvPicPr>
        <p:blipFill>
          <a:blip r:embed="rId2"/>
          <a:stretch>
            <a:fillRect/>
          </a:stretch>
        </p:blipFill>
        <p:spPr>
          <a:xfrm>
            <a:off x="5666255" y="2993988"/>
            <a:ext cx="1593487" cy="971686"/>
          </a:xfrm>
          <a:prstGeom prst="rect">
            <a:avLst/>
          </a:prstGeom>
        </p:spPr>
      </p:pic>
      <p:pic>
        <p:nvPicPr>
          <p:cNvPr id="11" name="Picture 10"/>
          <p:cNvPicPr>
            <a:picLocks noChangeAspect="1"/>
          </p:cNvPicPr>
          <p:nvPr/>
        </p:nvPicPr>
        <p:blipFill>
          <a:blip r:embed="rId3"/>
          <a:stretch>
            <a:fillRect/>
          </a:stretch>
        </p:blipFill>
        <p:spPr>
          <a:xfrm>
            <a:off x="5666255" y="4244879"/>
            <a:ext cx="1514686" cy="828791"/>
          </a:xfrm>
          <a:prstGeom prst="rect">
            <a:avLst/>
          </a:prstGeom>
        </p:spPr>
      </p:pic>
      <p:pic>
        <p:nvPicPr>
          <p:cNvPr id="17" name="Picture 16"/>
          <p:cNvPicPr>
            <a:picLocks noChangeAspect="1"/>
          </p:cNvPicPr>
          <p:nvPr/>
        </p:nvPicPr>
        <p:blipFill>
          <a:blip r:embed="rId4"/>
          <a:stretch>
            <a:fillRect/>
          </a:stretch>
        </p:blipFill>
        <p:spPr>
          <a:xfrm>
            <a:off x="5100733" y="7227246"/>
            <a:ext cx="1362265" cy="507053"/>
          </a:xfrm>
          <a:prstGeom prst="rect">
            <a:avLst/>
          </a:prstGeom>
        </p:spPr>
      </p:pic>
      <p:pic>
        <p:nvPicPr>
          <p:cNvPr id="18" name="Picture 17"/>
          <p:cNvPicPr>
            <a:picLocks noChangeAspect="1"/>
          </p:cNvPicPr>
          <p:nvPr/>
        </p:nvPicPr>
        <p:blipFill>
          <a:blip r:embed="rId5"/>
          <a:stretch>
            <a:fillRect/>
          </a:stretch>
        </p:blipFill>
        <p:spPr>
          <a:xfrm>
            <a:off x="5877115" y="8687716"/>
            <a:ext cx="1590897" cy="635849"/>
          </a:xfrm>
          <a:prstGeom prst="rect">
            <a:avLst/>
          </a:prstGeom>
        </p:spPr>
      </p:pic>
    </p:spTree>
    <p:extLst>
      <p:ext uri="{BB962C8B-B14F-4D97-AF65-F5344CB8AC3E}">
        <p14:creationId xmlns:p14="http://schemas.microsoft.com/office/powerpoint/2010/main" val="22882871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D824C-4C58-C710-CCAB-649FD33E6DA2}"/>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BC9A8B7C-D3A2-B901-5B2A-385A4329763B}"/>
              </a:ext>
            </a:extLst>
          </p:cNvPr>
          <p:cNvSpPr>
            <a:spLocks noGrp="1"/>
          </p:cNvSpPr>
          <p:nvPr>
            <p:ph type="title"/>
          </p:nvPr>
        </p:nvSpPr>
        <p:spPr>
          <a:xfrm>
            <a:off x="1008309" y="129582"/>
            <a:ext cx="11888003" cy="1249767"/>
          </a:xfrm>
        </p:spPr>
        <p:txBody>
          <a:bodyPr>
            <a:normAutofit fontScale="90000"/>
          </a:bodyPr>
          <a:lstStyle/>
          <a:p>
            <a:r>
              <a:rPr lang="en-US" sz="6600" b="1" dirty="0" err="1">
                <a:latin typeface="Constantia" panose="02030602050306030303" pitchFamily="18" charset="0"/>
              </a:rPr>
              <a:t>Ví</a:t>
            </a:r>
            <a:r>
              <a:rPr lang="en-US" sz="6600" b="1" dirty="0">
                <a:latin typeface="Constantia" panose="02030602050306030303" pitchFamily="18" charset="0"/>
              </a:rPr>
              <a:t> </a:t>
            </a:r>
            <a:r>
              <a:rPr lang="en-US" sz="6600" b="1" dirty="0" err="1">
                <a:latin typeface="Constantia" panose="02030602050306030303" pitchFamily="18" charset="0"/>
              </a:rPr>
              <a:t>dụ</a:t>
            </a:r>
            <a:r>
              <a:rPr lang="en-US" sz="6600" b="1" dirty="0">
                <a:latin typeface="Constantia" panose="02030602050306030303" pitchFamily="18" charset="0"/>
              </a:rPr>
              <a:t> Sobel</a:t>
            </a:r>
            <a:br>
              <a:rPr lang="en-US" sz="6600" b="1" dirty="0">
                <a:latin typeface="Constantia" panose="02030602050306030303" pitchFamily="18" charset="0"/>
              </a:rPr>
            </a:br>
            <a:r>
              <a:rPr lang="en-US" sz="6600" b="1" dirty="0">
                <a:latin typeface="Constantia" panose="02030602050306030303" pitchFamily="18" charset="0"/>
              </a:rPr>
              <a:t/>
            </a:r>
            <a:br>
              <a:rPr lang="en-US" sz="6600" b="1" dirty="0">
                <a:latin typeface="Constantia" panose="02030602050306030303" pitchFamily="18" charset="0"/>
              </a:rPr>
            </a:br>
            <a:endParaRPr lang="en-US" sz="6600" b="1" dirty="0">
              <a:latin typeface="Constantia" panose="02030602050306030303" pitchFamily="18" charset="0"/>
            </a:endParaRPr>
          </a:p>
        </p:txBody>
      </p:sp>
      <p:sp>
        <p:nvSpPr>
          <p:cNvPr id="9" name="Rectangle 4">
            <a:extLst>
              <a:ext uri="{FF2B5EF4-FFF2-40B4-BE49-F238E27FC236}">
                <a16:creationId xmlns:a16="http://schemas.microsoft.com/office/drawing/2014/main" id="{BC33FDA4-C140-89B7-7747-F9A6D8A458DB}"/>
              </a:ext>
            </a:extLst>
          </p:cNvPr>
          <p:cNvSpPr>
            <a:spLocks noChangeArrowheads="1"/>
          </p:cNvSpPr>
          <p:nvPr/>
        </p:nvSpPr>
        <p:spPr bwMode="auto">
          <a:xfrm>
            <a:off x="304800" y="304800"/>
            <a:ext cx="13004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E3E3E3"/>
                </a:solidFill>
                <a:effectLst/>
                <a:latin typeface="Roboto"/>
              </a:rPr>
              <a:t>Hướng ngang (</a:t>
            </a:r>
            <a:r>
              <a:rPr kumimoji="0" lang="en-US" altLang="en-US" sz="1400" b="0" i="0" u="none" strike="noStrike" cap="none" normalizeH="0" baseline="0">
                <a:ln>
                  <a:noFill/>
                </a:ln>
                <a:solidFill>
                  <a:srgbClr val="E3E3E3"/>
                </a:solidFill>
                <a:effectLst/>
                <a:latin typeface="MathJax_Math-italic"/>
              </a:rPr>
              <a:t>G</a:t>
            </a:r>
            <a:r>
              <a:rPr kumimoji="0" lang="en-US" altLang="en-US" sz="900" b="0" i="0" u="none" strike="noStrike" cap="none" normalizeH="0" baseline="0">
                <a:ln>
                  <a:noFill/>
                </a:ln>
                <a:solidFill>
                  <a:srgbClr val="E3E3E3"/>
                </a:solidFill>
                <a:effectLst/>
                <a:latin typeface="MathJax_Math-italic"/>
              </a:rPr>
              <a:t>x</a:t>
            </a:r>
            <a:r>
              <a:rPr kumimoji="0" lang="en-US" altLang="en-US" sz="1200" b="0" i="0" u="none" strike="noStrike" cap="none" normalizeH="0" baseline="0">
                <a:ln>
                  <a:noFill/>
                </a:ln>
                <a:solidFill>
                  <a:srgbClr val="E3E3E3"/>
                </a:solidFill>
                <a:effectLst/>
                <a:latin typeface="Roboto"/>
              </a:rPr>
              <a:t>): $$ K_x =</a:t>
            </a:r>
            <a:r>
              <a:rPr kumimoji="0" lang="en-US" altLang="en-US" sz="11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A543C916-BAE6-5435-B9D4-6B5D03E86F61}"/>
              </a:ext>
            </a:extLst>
          </p:cNvPr>
          <p:cNvPicPr>
            <a:picLocks noChangeAspect="1"/>
          </p:cNvPicPr>
          <p:nvPr/>
        </p:nvPicPr>
        <p:blipFill>
          <a:blip r:embed="rId2"/>
          <a:stretch>
            <a:fillRect/>
          </a:stretch>
        </p:blipFill>
        <p:spPr>
          <a:xfrm>
            <a:off x="3879509" y="1819940"/>
            <a:ext cx="4727664" cy="2882863"/>
          </a:xfrm>
          <a:prstGeom prst="rect">
            <a:avLst/>
          </a:prstGeom>
        </p:spPr>
      </p:pic>
      <p:sp>
        <p:nvSpPr>
          <p:cNvPr id="2" name="TextBox 1">
            <a:extLst>
              <a:ext uri="{FF2B5EF4-FFF2-40B4-BE49-F238E27FC236}">
                <a16:creationId xmlns:a16="http://schemas.microsoft.com/office/drawing/2014/main" id="{7C5D3BA3-3A4D-7B77-00FC-FC83BA8885D1}"/>
              </a:ext>
            </a:extLst>
          </p:cNvPr>
          <p:cNvSpPr txBox="1"/>
          <p:nvPr/>
        </p:nvSpPr>
        <p:spPr>
          <a:xfrm>
            <a:off x="593657" y="3476416"/>
            <a:ext cx="2941152" cy="2800767"/>
          </a:xfrm>
          <a:prstGeom prst="rect">
            <a:avLst/>
          </a:prstGeom>
          <a:noFill/>
        </p:spPr>
        <p:txBody>
          <a:bodyPr wrap="square" rtlCol="0">
            <a:spAutoFit/>
          </a:bodyPr>
          <a:lstStyle/>
          <a:p>
            <a:r>
              <a:rPr lang="en-US" sz="4400" dirty="0"/>
              <a:t>0 0 1 0 0</a:t>
            </a:r>
          </a:p>
          <a:p>
            <a:r>
              <a:rPr lang="en-US" sz="4400" dirty="0"/>
              <a:t>0 0 1 0 0</a:t>
            </a:r>
          </a:p>
          <a:p>
            <a:r>
              <a:rPr lang="en-US" sz="4400" dirty="0"/>
              <a:t>0 0 1 0 0</a:t>
            </a:r>
          </a:p>
          <a:p>
            <a:r>
              <a:rPr lang="en-US" sz="4400" dirty="0"/>
              <a:t>0 0 1 0 0</a:t>
            </a:r>
          </a:p>
        </p:txBody>
      </p:sp>
      <p:pic>
        <p:nvPicPr>
          <p:cNvPr id="3" name="Picture 2">
            <a:extLst>
              <a:ext uri="{FF2B5EF4-FFF2-40B4-BE49-F238E27FC236}">
                <a16:creationId xmlns:a16="http://schemas.microsoft.com/office/drawing/2014/main" id="{8DD637E0-18C9-0A57-B8F2-863EA138CAE6}"/>
              </a:ext>
            </a:extLst>
          </p:cNvPr>
          <p:cNvPicPr>
            <a:picLocks noChangeAspect="1"/>
          </p:cNvPicPr>
          <p:nvPr/>
        </p:nvPicPr>
        <p:blipFill>
          <a:blip r:embed="rId3"/>
          <a:stretch>
            <a:fillRect/>
          </a:stretch>
        </p:blipFill>
        <p:spPr>
          <a:xfrm>
            <a:off x="3771392" y="5511978"/>
            <a:ext cx="4727951" cy="2586994"/>
          </a:xfrm>
          <a:prstGeom prst="rect">
            <a:avLst/>
          </a:prstGeom>
        </p:spPr>
      </p:pic>
      <p:sp>
        <p:nvSpPr>
          <p:cNvPr id="4" name="TextBox 3">
            <a:extLst>
              <a:ext uri="{FF2B5EF4-FFF2-40B4-BE49-F238E27FC236}">
                <a16:creationId xmlns:a16="http://schemas.microsoft.com/office/drawing/2014/main" id="{F3FED2A6-FFAF-4A88-52E4-CA5DD4077A00}"/>
              </a:ext>
            </a:extLst>
          </p:cNvPr>
          <p:cNvSpPr txBox="1"/>
          <p:nvPr/>
        </p:nvSpPr>
        <p:spPr>
          <a:xfrm>
            <a:off x="9377119" y="1819090"/>
            <a:ext cx="1948377" cy="2062103"/>
          </a:xfrm>
          <a:prstGeom prst="rect">
            <a:avLst/>
          </a:prstGeom>
          <a:noFill/>
        </p:spPr>
        <p:txBody>
          <a:bodyPr wrap="square" rtlCol="0">
            <a:spAutoFit/>
          </a:bodyPr>
          <a:lstStyle/>
          <a:p>
            <a:r>
              <a:rPr lang="en-US" sz="3200" dirty="0"/>
              <a:t>0 3 0 3 0 </a:t>
            </a:r>
          </a:p>
          <a:p>
            <a:r>
              <a:rPr lang="en-US" sz="3200" dirty="0"/>
              <a:t>0 4 0 4 0</a:t>
            </a:r>
          </a:p>
          <a:p>
            <a:r>
              <a:rPr lang="en-US" sz="3200" dirty="0"/>
              <a:t>0 4 0 4 0</a:t>
            </a:r>
          </a:p>
          <a:p>
            <a:r>
              <a:rPr lang="en-US" sz="3200" dirty="0"/>
              <a:t>0 3 0 3 0</a:t>
            </a:r>
          </a:p>
        </p:txBody>
      </p:sp>
      <p:sp>
        <p:nvSpPr>
          <p:cNvPr id="6" name="TextBox 5">
            <a:extLst>
              <a:ext uri="{FF2B5EF4-FFF2-40B4-BE49-F238E27FC236}">
                <a16:creationId xmlns:a16="http://schemas.microsoft.com/office/drawing/2014/main" id="{A01E3D20-41CD-DF90-2AF2-7C02689BA3CB}"/>
              </a:ext>
            </a:extLst>
          </p:cNvPr>
          <p:cNvSpPr txBox="1"/>
          <p:nvPr/>
        </p:nvSpPr>
        <p:spPr>
          <a:xfrm>
            <a:off x="9462281" y="5774423"/>
            <a:ext cx="1778052" cy="2062103"/>
          </a:xfrm>
          <a:prstGeom prst="rect">
            <a:avLst/>
          </a:prstGeom>
          <a:noFill/>
        </p:spPr>
        <p:txBody>
          <a:bodyPr wrap="none" rtlCol="0">
            <a:spAutoFit/>
          </a:bodyPr>
          <a:lstStyle/>
          <a:p>
            <a:r>
              <a:rPr lang="en-US" sz="3200" dirty="0"/>
              <a:t>0 1 2 1 0</a:t>
            </a:r>
          </a:p>
          <a:p>
            <a:r>
              <a:rPr lang="en-US" sz="3200" dirty="0"/>
              <a:t>0 0 0 0 0</a:t>
            </a:r>
          </a:p>
          <a:p>
            <a:r>
              <a:rPr lang="en-US" sz="3200" dirty="0"/>
              <a:t>0 0 0 0 0</a:t>
            </a:r>
          </a:p>
          <a:p>
            <a:r>
              <a:rPr lang="en-US" sz="3200" dirty="0"/>
              <a:t>0 1 2 1 0</a:t>
            </a:r>
          </a:p>
        </p:txBody>
      </p:sp>
      <p:sp>
        <p:nvSpPr>
          <p:cNvPr id="8" name="TextBox 7">
            <a:extLst>
              <a:ext uri="{FF2B5EF4-FFF2-40B4-BE49-F238E27FC236}">
                <a16:creationId xmlns:a16="http://schemas.microsoft.com/office/drawing/2014/main" id="{647EB645-6E20-155A-4FC8-3D3D9B283EB2}"/>
              </a:ext>
            </a:extLst>
          </p:cNvPr>
          <p:cNvSpPr txBox="1"/>
          <p:nvPr/>
        </p:nvSpPr>
        <p:spPr>
          <a:xfrm>
            <a:off x="9756272" y="1410961"/>
            <a:ext cx="595035" cy="461665"/>
          </a:xfrm>
          <a:prstGeom prst="rect">
            <a:avLst/>
          </a:prstGeom>
          <a:noFill/>
        </p:spPr>
        <p:txBody>
          <a:bodyPr wrap="none" rtlCol="0">
            <a:spAutoFit/>
          </a:bodyPr>
          <a:lstStyle/>
          <a:p>
            <a:r>
              <a:rPr lang="en-US" dirty="0"/>
              <a:t>Gx</a:t>
            </a:r>
          </a:p>
        </p:txBody>
      </p:sp>
      <p:sp>
        <p:nvSpPr>
          <p:cNvPr id="12" name="TextBox 11">
            <a:extLst>
              <a:ext uri="{FF2B5EF4-FFF2-40B4-BE49-F238E27FC236}">
                <a16:creationId xmlns:a16="http://schemas.microsoft.com/office/drawing/2014/main" id="{6B2501CA-FAB2-DAA1-B41D-2D6C72C4ED02}"/>
              </a:ext>
            </a:extLst>
          </p:cNvPr>
          <p:cNvSpPr txBox="1"/>
          <p:nvPr/>
        </p:nvSpPr>
        <p:spPr>
          <a:xfrm>
            <a:off x="9904573" y="5050313"/>
            <a:ext cx="595035" cy="461665"/>
          </a:xfrm>
          <a:prstGeom prst="rect">
            <a:avLst/>
          </a:prstGeom>
          <a:noFill/>
        </p:spPr>
        <p:txBody>
          <a:bodyPr wrap="none" rtlCol="0">
            <a:spAutoFit/>
          </a:bodyPr>
          <a:lstStyle/>
          <a:p>
            <a:r>
              <a:rPr lang="en-US" dirty="0"/>
              <a:t>Gy</a:t>
            </a:r>
          </a:p>
        </p:txBody>
      </p:sp>
    </p:spTree>
    <p:extLst>
      <p:ext uri="{BB962C8B-B14F-4D97-AF65-F5344CB8AC3E}">
        <p14:creationId xmlns:p14="http://schemas.microsoft.com/office/powerpoint/2010/main" val="14157374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008309" y="129582"/>
            <a:ext cx="11888003" cy="1249767"/>
          </a:xfrm>
        </p:spPr>
        <p:txBody>
          <a:bodyPr>
            <a:normAutofit/>
          </a:bodyPr>
          <a:lstStyle/>
          <a:p>
            <a:r>
              <a:rPr lang="en-US" sz="6600" b="1" dirty="0" err="1">
                <a:latin typeface="Constantia" panose="02030602050306030303" pitchFamily="18" charset="0"/>
              </a:rPr>
              <a:t>Các</a:t>
            </a:r>
            <a:r>
              <a:rPr lang="en-US" sz="6600" b="1" dirty="0">
                <a:latin typeface="Constantia" panose="02030602050306030303" pitchFamily="18" charset="0"/>
              </a:rPr>
              <a:t> </a:t>
            </a:r>
            <a:r>
              <a:rPr lang="en-US" sz="6600" b="1" dirty="0" err="1">
                <a:latin typeface="Constantia" panose="02030602050306030303" pitchFamily="18" charset="0"/>
              </a:rPr>
              <a:t>bước</a:t>
            </a:r>
            <a:r>
              <a:rPr lang="en-US" sz="6600" b="1" dirty="0">
                <a:latin typeface="Constantia" panose="02030602050306030303" pitchFamily="18" charset="0"/>
              </a:rPr>
              <a:t> </a:t>
            </a:r>
            <a:r>
              <a:rPr lang="en-US" sz="6600" b="1" dirty="0" err="1">
                <a:latin typeface="Constantia" panose="02030602050306030303" pitchFamily="18" charset="0"/>
              </a:rPr>
              <a:t>thực</a:t>
            </a:r>
            <a:r>
              <a:rPr lang="en-US" sz="6600" b="1" dirty="0">
                <a:latin typeface="Constantia" panose="02030602050306030303" pitchFamily="18" charset="0"/>
              </a:rPr>
              <a:t> </a:t>
            </a:r>
            <a:r>
              <a:rPr lang="en-US" sz="6600" b="1" dirty="0" err="1">
                <a:latin typeface="Constantia" panose="02030602050306030303" pitchFamily="18" charset="0"/>
              </a:rPr>
              <a:t>hiện</a:t>
            </a:r>
            <a:endParaRPr lang="en-US" sz="6600" b="1" dirty="0">
              <a:latin typeface="Constantia" panose="02030602050306030303" pitchFamily="18" charset="0"/>
            </a:endParaRPr>
          </a:p>
        </p:txBody>
      </p:sp>
      <p:sp>
        <p:nvSpPr>
          <p:cNvPr id="2" name="TextBox 1"/>
          <p:cNvSpPr txBox="1"/>
          <p:nvPr/>
        </p:nvSpPr>
        <p:spPr>
          <a:xfrm>
            <a:off x="1008309" y="2819400"/>
            <a:ext cx="10953750" cy="4893647"/>
          </a:xfrm>
          <a:prstGeom prst="rect">
            <a:avLst/>
          </a:prstGeom>
          <a:noFill/>
        </p:spPr>
        <p:txBody>
          <a:bodyPr wrap="square" rtlCol="0">
            <a:spAutoFit/>
          </a:bodyPr>
          <a:lstStyle/>
          <a:p>
            <a:pPr lvl="0" algn="l" defTabSz="914400" eaLnBrk="0" fontAlgn="base">
              <a:spcBef>
                <a:spcPct val="0"/>
              </a:spcBef>
              <a:spcAft>
                <a:spcPct val="0"/>
              </a:spcAft>
              <a:buFontTx/>
              <a:buAutoNum type="arabicPeriod"/>
            </a:pPr>
            <a:r>
              <a:rPr lang="en-US" altLang="en-US" dirty="0">
                <a:solidFill>
                  <a:srgbClr val="1F1F1F"/>
                </a:solidFill>
              </a:rPr>
              <a:t>Tiền </a:t>
            </a:r>
            <a:r>
              <a:rPr lang="en-US" altLang="en-US" dirty="0" err="1">
                <a:solidFill>
                  <a:srgbClr val="1F1F1F"/>
                </a:solidFill>
              </a:rPr>
              <a:t>xử</a:t>
            </a:r>
            <a:r>
              <a:rPr lang="en-US" altLang="en-US" dirty="0">
                <a:solidFill>
                  <a:srgbClr val="1F1F1F"/>
                </a:solidFill>
              </a:rPr>
              <a:t> </a:t>
            </a:r>
            <a:r>
              <a:rPr lang="en-US" altLang="en-US" dirty="0" err="1">
                <a:solidFill>
                  <a:srgbClr val="1F1F1F"/>
                </a:solidFill>
              </a:rPr>
              <a:t>lý</a:t>
            </a:r>
            <a:r>
              <a:rPr lang="en-US" altLang="en-US" dirty="0">
                <a:solidFill>
                  <a:srgbClr val="1F1F1F"/>
                </a:solidFill>
              </a:rPr>
              <a:t>:</a:t>
            </a:r>
            <a:endParaRPr lang="en-US" altLang="en-US" b="0" dirty="0">
              <a:solidFill>
                <a:srgbClr val="1F1F1F"/>
              </a:solidFill>
            </a:endParaRPr>
          </a:p>
          <a:p>
            <a:pPr marL="457200" lvl="1" indent="0" algn="l" defTabSz="914400" eaLnBrk="0" fontAlgn="base">
              <a:spcBef>
                <a:spcPct val="0"/>
              </a:spcBef>
              <a:spcAft>
                <a:spcPct val="0"/>
              </a:spcAft>
              <a:buFontTx/>
              <a:buChar char="•"/>
            </a:pPr>
            <a:r>
              <a:rPr lang="en-US" altLang="en-US" b="0" dirty="0" err="1">
                <a:solidFill>
                  <a:srgbClr val="1F1F1F"/>
                </a:solidFill>
              </a:rPr>
              <a:t>Chuyển</a:t>
            </a:r>
            <a:r>
              <a:rPr lang="en-US" altLang="en-US" b="0" dirty="0">
                <a:solidFill>
                  <a:srgbClr val="1F1F1F"/>
                </a:solidFill>
              </a:rPr>
              <a:t> </a:t>
            </a:r>
            <a:r>
              <a:rPr lang="en-US" altLang="en-US" b="0" dirty="0" err="1">
                <a:solidFill>
                  <a:srgbClr val="1F1F1F"/>
                </a:solidFill>
              </a:rPr>
              <a:t>ảnh</a:t>
            </a:r>
            <a:r>
              <a:rPr lang="en-US" altLang="en-US" b="0" dirty="0">
                <a:solidFill>
                  <a:srgbClr val="1F1F1F"/>
                </a:solidFill>
              </a:rPr>
              <a:t> sang </a:t>
            </a:r>
            <a:r>
              <a:rPr lang="en-US" altLang="en-US" b="0" dirty="0" err="1">
                <a:solidFill>
                  <a:srgbClr val="1F1F1F"/>
                </a:solidFill>
              </a:rPr>
              <a:t>ảnh</a:t>
            </a:r>
            <a:r>
              <a:rPr lang="en-US" altLang="en-US" b="0" dirty="0">
                <a:solidFill>
                  <a:srgbClr val="1F1F1F"/>
                </a:solidFill>
              </a:rPr>
              <a:t> grayscale (</a:t>
            </a:r>
            <a:r>
              <a:rPr lang="en-US" altLang="en-US" b="0" dirty="0" err="1">
                <a:solidFill>
                  <a:srgbClr val="1F1F1F"/>
                </a:solidFill>
              </a:rPr>
              <a:t>nếu</a:t>
            </a:r>
            <a:r>
              <a:rPr lang="en-US" altLang="en-US" b="0" dirty="0">
                <a:solidFill>
                  <a:srgbClr val="1F1F1F"/>
                </a:solidFill>
              </a:rPr>
              <a:t> </a:t>
            </a:r>
            <a:r>
              <a:rPr lang="en-US" altLang="en-US" b="0" dirty="0" err="1">
                <a:solidFill>
                  <a:srgbClr val="1F1F1F"/>
                </a:solidFill>
              </a:rPr>
              <a:t>ảnh</a:t>
            </a:r>
            <a:r>
              <a:rPr lang="en-US" altLang="en-US" b="0" dirty="0">
                <a:solidFill>
                  <a:srgbClr val="1F1F1F"/>
                </a:solidFill>
              </a:rPr>
              <a:t> đầu vào là RGB).</a:t>
            </a:r>
          </a:p>
          <a:p>
            <a:pPr marL="457200" lvl="1" indent="0" algn="l" defTabSz="914400" eaLnBrk="0" fontAlgn="base">
              <a:spcBef>
                <a:spcPct val="0"/>
              </a:spcBef>
              <a:spcAft>
                <a:spcPct val="0"/>
              </a:spcAft>
              <a:buFontTx/>
              <a:buChar char="•"/>
            </a:pPr>
            <a:r>
              <a:rPr lang="en-US" altLang="en-US" b="0" dirty="0" err="1">
                <a:solidFill>
                  <a:srgbClr val="1F1F1F"/>
                </a:solidFill>
              </a:rPr>
              <a:t>Áp</a:t>
            </a:r>
            <a:r>
              <a:rPr lang="en-US" altLang="en-US" b="0" dirty="0">
                <a:solidFill>
                  <a:srgbClr val="1F1F1F"/>
                </a:solidFill>
              </a:rPr>
              <a:t> </a:t>
            </a:r>
            <a:r>
              <a:rPr lang="en-US" altLang="en-US" b="0" dirty="0" err="1">
                <a:solidFill>
                  <a:srgbClr val="1F1F1F"/>
                </a:solidFill>
              </a:rPr>
              <a:t>dụng</a:t>
            </a:r>
            <a:r>
              <a:rPr lang="en-US" altLang="en-US" b="0" dirty="0">
                <a:solidFill>
                  <a:srgbClr val="1F1F1F"/>
                </a:solidFill>
              </a:rPr>
              <a:t> </a:t>
            </a:r>
            <a:r>
              <a:rPr lang="en-US" altLang="en-US" b="0" dirty="0" err="1">
                <a:solidFill>
                  <a:srgbClr val="1F1F1F"/>
                </a:solidFill>
              </a:rPr>
              <a:t>bộ</a:t>
            </a:r>
            <a:r>
              <a:rPr lang="en-US" altLang="en-US" b="0" dirty="0">
                <a:solidFill>
                  <a:srgbClr val="1F1F1F"/>
                </a:solidFill>
              </a:rPr>
              <a:t> </a:t>
            </a:r>
            <a:r>
              <a:rPr lang="en-US" altLang="en-US" b="0" dirty="0" err="1">
                <a:solidFill>
                  <a:srgbClr val="1F1F1F"/>
                </a:solidFill>
              </a:rPr>
              <a:t>lọc</a:t>
            </a:r>
            <a:r>
              <a:rPr lang="en-US" altLang="en-US" b="0" dirty="0">
                <a:solidFill>
                  <a:srgbClr val="1F1F1F"/>
                </a:solidFill>
              </a:rPr>
              <a:t> Gaussian để </a:t>
            </a:r>
            <a:r>
              <a:rPr lang="en-US" altLang="en-US" b="0" dirty="0" err="1">
                <a:solidFill>
                  <a:srgbClr val="1F1F1F"/>
                </a:solidFill>
              </a:rPr>
              <a:t>giảm</a:t>
            </a:r>
            <a:r>
              <a:rPr lang="en-US" altLang="en-US" b="0" dirty="0">
                <a:solidFill>
                  <a:srgbClr val="1F1F1F"/>
                </a:solidFill>
              </a:rPr>
              <a:t> </a:t>
            </a:r>
            <a:r>
              <a:rPr lang="en-US" altLang="en-US" b="0" dirty="0" err="1">
                <a:solidFill>
                  <a:srgbClr val="1F1F1F"/>
                </a:solidFill>
              </a:rPr>
              <a:t>nhiễu</a:t>
            </a:r>
            <a:r>
              <a:rPr lang="en-US" altLang="en-US" b="0" dirty="0">
                <a:solidFill>
                  <a:srgbClr val="1F1F1F"/>
                </a:solidFill>
              </a:rPr>
              <a:t> (</a:t>
            </a:r>
            <a:r>
              <a:rPr lang="en-US" altLang="en-US" b="0" dirty="0" err="1">
                <a:solidFill>
                  <a:srgbClr val="1F1F1F"/>
                </a:solidFill>
              </a:rPr>
              <a:t>không</a:t>
            </a:r>
            <a:r>
              <a:rPr lang="en-US" altLang="en-US" b="0" dirty="0">
                <a:solidFill>
                  <a:srgbClr val="1F1F1F"/>
                </a:solidFill>
              </a:rPr>
              <a:t> </a:t>
            </a:r>
            <a:r>
              <a:rPr lang="en-US" altLang="en-US" b="0" dirty="0" err="1">
                <a:solidFill>
                  <a:srgbClr val="1F1F1F"/>
                </a:solidFill>
              </a:rPr>
              <a:t>bắt</a:t>
            </a:r>
            <a:r>
              <a:rPr lang="en-US" altLang="en-US" b="0" dirty="0">
                <a:solidFill>
                  <a:srgbClr val="1F1F1F"/>
                </a:solidFill>
              </a:rPr>
              <a:t> </a:t>
            </a:r>
            <a:r>
              <a:rPr lang="en-US" altLang="en-US" b="0" dirty="0" err="1">
                <a:solidFill>
                  <a:srgbClr val="1F1F1F"/>
                </a:solidFill>
              </a:rPr>
              <a:t>buộc</a:t>
            </a:r>
            <a:r>
              <a:rPr lang="en-US" altLang="en-US" b="0" dirty="0">
                <a:solidFill>
                  <a:srgbClr val="1F1F1F"/>
                </a:solidFill>
              </a:rPr>
              <a:t> </a:t>
            </a:r>
            <a:r>
              <a:rPr lang="en-US" altLang="en-US" b="0" dirty="0" err="1">
                <a:solidFill>
                  <a:srgbClr val="1F1F1F"/>
                </a:solidFill>
              </a:rPr>
              <a:t>nhưng</a:t>
            </a:r>
            <a:r>
              <a:rPr lang="en-US" altLang="en-US" b="0" dirty="0">
                <a:solidFill>
                  <a:srgbClr val="1F1F1F"/>
                </a:solidFill>
              </a:rPr>
              <a:t> </a:t>
            </a:r>
            <a:r>
              <a:rPr lang="en-US" altLang="en-US" b="0" dirty="0" err="1">
                <a:solidFill>
                  <a:srgbClr val="1F1F1F"/>
                </a:solidFill>
              </a:rPr>
              <a:t>khuyến</a:t>
            </a:r>
            <a:r>
              <a:rPr lang="en-US" altLang="en-US" b="0" dirty="0">
                <a:solidFill>
                  <a:srgbClr val="1F1F1F"/>
                </a:solidFill>
              </a:rPr>
              <a:t> </a:t>
            </a:r>
            <a:r>
              <a:rPr lang="en-US" altLang="en-US" b="0" dirty="0" err="1">
                <a:solidFill>
                  <a:srgbClr val="1F1F1F"/>
                </a:solidFill>
              </a:rPr>
              <a:t>khích</a:t>
            </a:r>
            <a:r>
              <a:rPr lang="en-US" altLang="en-US" b="0" dirty="0">
                <a:solidFill>
                  <a:srgbClr val="1F1F1F"/>
                </a:solidFill>
              </a:rPr>
              <a:t>).</a:t>
            </a:r>
          </a:p>
          <a:p>
            <a:pPr lvl="0" algn="l" defTabSz="914400" eaLnBrk="0" fontAlgn="base">
              <a:spcBef>
                <a:spcPct val="0"/>
              </a:spcBef>
              <a:spcAft>
                <a:spcPct val="0"/>
              </a:spcAft>
            </a:pPr>
            <a:endParaRPr lang="en-US" altLang="en-US" b="0" dirty="0">
              <a:solidFill>
                <a:schemeClr val="tx1"/>
              </a:solidFill>
            </a:endParaRPr>
          </a:p>
          <a:p>
            <a:pPr lvl="0" algn="l" defTabSz="914400" eaLnBrk="0" fontAlgn="base">
              <a:spcBef>
                <a:spcPct val="0"/>
              </a:spcBef>
              <a:spcAft>
                <a:spcPct val="0"/>
              </a:spcAft>
              <a:buFontTx/>
              <a:buAutoNum type="arabicPeriod" startAt="2"/>
            </a:pPr>
            <a:r>
              <a:rPr lang="en-US" altLang="en-US" dirty="0" err="1">
                <a:solidFill>
                  <a:srgbClr val="1F1F1F"/>
                </a:solidFill>
              </a:rPr>
              <a:t>Tích</a:t>
            </a:r>
            <a:r>
              <a:rPr lang="en-US" altLang="en-US" dirty="0">
                <a:solidFill>
                  <a:srgbClr val="1F1F1F"/>
                </a:solidFill>
              </a:rPr>
              <a:t> </a:t>
            </a:r>
            <a:r>
              <a:rPr lang="en-US" altLang="en-US" dirty="0" err="1">
                <a:solidFill>
                  <a:srgbClr val="1F1F1F"/>
                </a:solidFill>
              </a:rPr>
              <a:t>chập</a:t>
            </a:r>
            <a:r>
              <a:rPr lang="en-US" altLang="en-US" dirty="0">
                <a:solidFill>
                  <a:srgbClr val="1F1F1F"/>
                </a:solidFill>
              </a:rPr>
              <a:t> </a:t>
            </a:r>
            <a:r>
              <a:rPr lang="en-US" altLang="en-US" dirty="0" err="1">
                <a:solidFill>
                  <a:srgbClr val="1F1F1F"/>
                </a:solidFill>
              </a:rPr>
              <a:t>với</a:t>
            </a:r>
            <a:r>
              <a:rPr lang="en-US" altLang="en-US" dirty="0">
                <a:solidFill>
                  <a:srgbClr val="1F1F1F"/>
                </a:solidFill>
              </a:rPr>
              <a:t> kernel Sobel:</a:t>
            </a:r>
            <a:endParaRPr lang="en-US" altLang="en-US" b="0" dirty="0">
              <a:solidFill>
                <a:srgbClr val="1F1F1F"/>
              </a:solidFill>
            </a:endParaRPr>
          </a:p>
          <a:p>
            <a:pPr marL="457200" lvl="1" indent="0" algn="l" defTabSz="914400" eaLnBrk="0" fontAlgn="base">
              <a:spcBef>
                <a:spcPct val="0"/>
              </a:spcBef>
              <a:spcAft>
                <a:spcPct val="0"/>
              </a:spcAft>
              <a:buFontTx/>
              <a:buChar char="•"/>
            </a:pPr>
            <a:r>
              <a:rPr lang="en-US" altLang="en-US" b="0" dirty="0" err="1">
                <a:solidFill>
                  <a:srgbClr val="1F1F1F"/>
                </a:solidFill>
              </a:rPr>
              <a:t>Áp</a:t>
            </a:r>
            <a:r>
              <a:rPr lang="en-US" altLang="en-US" b="0" dirty="0">
                <a:solidFill>
                  <a:srgbClr val="1F1F1F"/>
                </a:solidFill>
              </a:rPr>
              <a:t> </a:t>
            </a:r>
            <a:r>
              <a:rPr lang="en-US" altLang="en-US" b="0" dirty="0" err="1">
                <a:solidFill>
                  <a:srgbClr val="1F1F1F"/>
                </a:solidFill>
              </a:rPr>
              <a:t>dụng</a:t>
            </a:r>
            <a:r>
              <a:rPr lang="en-US" altLang="en-US" b="0" dirty="0">
                <a:solidFill>
                  <a:srgbClr val="1F1F1F"/>
                </a:solidFill>
              </a:rPr>
              <a:t> </a:t>
            </a:r>
            <a:r>
              <a:rPr lang="en-US" altLang="en-US" b="0" dirty="0" err="1">
                <a:solidFill>
                  <a:srgbClr val="1F1F1F"/>
                </a:solidFill>
              </a:rPr>
              <a:t>Kx</a:t>
            </a:r>
            <a:r>
              <a:rPr lang="en-US" altLang="en-US" b="0" dirty="0">
                <a:solidFill>
                  <a:srgbClr val="1F1F1F"/>
                </a:solidFill>
              </a:rPr>
              <a:t> </a:t>
            </a:r>
            <a:r>
              <a:rPr lang="en-US" altLang="en-US" b="0" dirty="0" err="1">
                <a:solidFill>
                  <a:srgbClr val="1F1F1F"/>
                </a:solidFill>
              </a:rPr>
              <a:t>và</a:t>
            </a:r>
            <a:r>
              <a:rPr lang="en-US" altLang="en-US" b="0" dirty="0">
                <a:solidFill>
                  <a:srgbClr val="1F1F1F"/>
                </a:solidFill>
              </a:rPr>
              <a:t> </a:t>
            </a:r>
            <a:r>
              <a:rPr lang="en-US" altLang="en-US" b="0" dirty="0" err="1">
                <a:solidFill>
                  <a:srgbClr val="1F1F1F"/>
                </a:solidFill>
              </a:rPr>
              <a:t>Ky</a:t>
            </a:r>
            <a:r>
              <a:rPr lang="en-US" altLang="en-US" b="0" dirty="0">
                <a:solidFill>
                  <a:srgbClr val="1F1F1F"/>
                </a:solidFill>
              </a:rPr>
              <a:t> lên </a:t>
            </a:r>
            <a:r>
              <a:rPr lang="en-US" altLang="en-US" b="0" dirty="0" err="1">
                <a:solidFill>
                  <a:srgbClr val="1F1F1F"/>
                </a:solidFill>
              </a:rPr>
              <a:t>ảnh</a:t>
            </a:r>
            <a:r>
              <a:rPr lang="en-US" altLang="en-US" b="0" dirty="0">
                <a:solidFill>
                  <a:srgbClr val="1F1F1F"/>
                </a:solidFill>
              </a:rPr>
              <a:t> </a:t>
            </a:r>
            <a:r>
              <a:rPr lang="en-US" altLang="en-US" b="0" dirty="0" err="1">
                <a:solidFill>
                  <a:srgbClr val="1F1F1F"/>
                </a:solidFill>
              </a:rPr>
              <a:t>bằng</a:t>
            </a:r>
            <a:r>
              <a:rPr lang="en-US" altLang="en-US" b="0" dirty="0">
                <a:solidFill>
                  <a:srgbClr val="1F1F1F"/>
                </a:solidFill>
              </a:rPr>
              <a:t> </a:t>
            </a:r>
            <a:r>
              <a:rPr lang="en-US" altLang="en-US" b="0" dirty="0" err="1">
                <a:solidFill>
                  <a:srgbClr val="1F1F1F"/>
                </a:solidFill>
              </a:rPr>
              <a:t>tích</a:t>
            </a:r>
            <a:r>
              <a:rPr lang="en-US" altLang="en-US" b="0" dirty="0">
                <a:solidFill>
                  <a:srgbClr val="1F1F1F"/>
                </a:solidFill>
              </a:rPr>
              <a:t> </a:t>
            </a:r>
            <a:r>
              <a:rPr lang="en-US" altLang="en-US" b="0" dirty="0" err="1">
                <a:solidFill>
                  <a:srgbClr val="1F1F1F"/>
                </a:solidFill>
              </a:rPr>
              <a:t>chập</a:t>
            </a:r>
            <a:r>
              <a:rPr lang="en-US" altLang="en-US" b="0" dirty="0">
                <a:solidFill>
                  <a:srgbClr val="1F1F1F"/>
                </a:solidFill>
              </a:rPr>
              <a:t> để tính </a:t>
            </a:r>
            <a:r>
              <a:rPr lang="en-US" altLang="en-US" b="0" dirty="0" err="1">
                <a:solidFill>
                  <a:srgbClr val="1F1F1F"/>
                </a:solidFill>
              </a:rPr>
              <a:t>Gx</a:t>
            </a:r>
            <a:r>
              <a:rPr lang="en-US" altLang="en-US" b="0" dirty="0">
                <a:solidFill>
                  <a:srgbClr val="1F1F1F"/>
                </a:solidFill>
              </a:rPr>
              <a:t> </a:t>
            </a:r>
            <a:r>
              <a:rPr lang="en-US" altLang="en-US" b="0" dirty="0" err="1">
                <a:solidFill>
                  <a:srgbClr val="1F1F1F"/>
                </a:solidFill>
              </a:rPr>
              <a:t>và</a:t>
            </a:r>
            <a:r>
              <a:rPr lang="en-US" altLang="en-US" b="0" dirty="0">
                <a:solidFill>
                  <a:srgbClr val="1F1F1F"/>
                </a:solidFill>
              </a:rPr>
              <a:t> </a:t>
            </a:r>
            <a:r>
              <a:rPr lang="en-US" altLang="en-US" b="0" dirty="0" err="1">
                <a:solidFill>
                  <a:srgbClr val="1F1F1F"/>
                </a:solidFill>
              </a:rPr>
              <a:t>Gy</a:t>
            </a:r>
            <a:r>
              <a:rPr lang="en-US" altLang="en-US" b="0" dirty="0">
                <a:solidFill>
                  <a:srgbClr val="1F1F1F"/>
                </a:solidFill>
              </a:rPr>
              <a:t>.</a:t>
            </a:r>
          </a:p>
          <a:p>
            <a:pPr marL="457200" lvl="1" indent="0" algn="l" defTabSz="914400" eaLnBrk="0" fontAlgn="base">
              <a:spcBef>
                <a:spcPct val="0"/>
              </a:spcBef>
              <a:spcAft>
                <a:spcPct val="0"/>
              </a:spcAft>
              <a:buFontTx/>
              <a:buChar char="•"/>
            </a:pPr>
            <a:endParaRPr lang="en-US" altLang="en-US" b="0" dirty="0">
              <a:solidFill>
                <a:srgbClr val="1F1F1F"/>
              </a:solidFill>
            </a:endParaRPr>
          </a:p>
          <a:p>
            <a:pPr lvl="0" algn="l" defTabSz="914400" eaLnBrk="0" fontAlgn="base">
              <a:spcBef>
                <a:spcPct val="0"/>
              </a:spcBef>
              <a:spcAft>
                <a:spcPct val="0"/>
              </a:spcAft>
              <a:buFontTx/>
              <a:buAutoNum type="arabicPeriod" startAt="3"/>
            </a:pPr>
            <a:r>
              <a:rPr lang="en-US" altLang="en-US" dirty="0">
                <a:solidFill>
                  <a:srgbClr val="1F1F1F"/>
                </a:solidFill>
              </a:rPr>
              <a:t>Tính </a:t>
            </a:r>
            <a:r>
              <a:rPr lang="en-US" altLang="en-US" dirty="0" err="1">
                <a:solidFill>
                  <a:srgbClr val="1F1F1F"/>
                </a:solidFill>
              </a:rPr>
              <a:t>độ</a:t>
            </a:r>
            <a:r>
              <a:rPr lang="en-US" altLang="en-US" dirty="0">
                <a:solidFill>
                  <a:srgbClr val="1F1F1F"/>
                </a:solidFill>
              </a:rPr>
              <a:t> </a:t>
            </a:r>
            <a:r>
              <a:rPr lang="en-US" altLang="en-US" dirty="0" err="1">
                <a:solidFill>
                  <a:srgbClr val="1F1F1F"/>
                </a:solidFill>
              </a:rPr>
              <a:t>lớn</a:t>
            </a:r>
            <a:r>
              <a:rPr lang="en-US" altLang="en-US" dirty="0">
                <a:solidFill>
                  <a:srgbClr val="1F1F1F"/>
                </a:solidFill>
              </a:rPr>
              <a:t> </a:t>
            </a:r>
            <a:r>
              <a:rPr lang="en-US" altLang="en-US" dirty="0" err="1">
                <a:solidFill>
                  <a:srgbClr val="1F1F1F"/>
                </a:solidFill>
              </a:rPr>
              <a:t>biên</a:t>
            </a:r>
            <a:r>
              <a:rPr lang="en-US" altLang="en-US" dirty="0">
                <a:solidFill>
                  <a:srgbClr val="1F1F1F"/>
                </a:solidFill>
              </a:rPr>
              <a:t>:</a:t>
            </a:r>
            <a:endParaRPr lang="en-US" altLang="en-US" b="0" dirty="0">
              <a:solidFill>
                <a:srgbClr val="1F1F1F"/>
              </a:solidFill>
            </a:endParaRPr>
          </a:p>
          <a:p>
            <a:pPr marL="457200" lvl="1" indent="0" algn="l" defTabSz="914400" eaLnBrk="0" fontAlgn="base">
              <a:spcBef>
                <a:spcPct val="0"/>
              </a:spcBef>
              <a:spcAft>
                <a:spcPct val="0"/>
              </a:spcAft>
              <a:buFontTx/>
              <a:buChar char="•"/>
            </a:pPr>
            <a:r>
              <a:rPr lang="en-US" altLang="en-US" b="0" dirty="0" err="1">
                <a:solidFill>
                  <a:srgbClr val="1F1F1F"/>
                </a:solidFill>
              </a:rPr>
              <a:t>Kết</a:t>
            </a:r>
            <a:r>
              <a:rPr lang="en-US" altLang="en-US" b="0" dirty="0">
                <a:solidFill>
                  <a:srgbClr val="1F1F1F"/>
                </a:solidFill>
              </a:rPr>
              <a:t> </a:t>
            </a:r>
            <a:r>
              <a:rPr lang="en-US" altLang="en-US" b="0" dirty="0" err="1">
                <a:solidFill>
                  <a:srgbClr val="1F1F1F"/>
                </a:solidFill>
              </a:rPr>
              <a:t>hợp</a:t>
            </a:r>
            <a:r>
              <a:rPr lang="en-US" altLang="en-US" b="0" dirty="0">
                <a:solidFill>
                  <a:srgbClr val="1F1F1F"/>
                </a:solidFill>
              </a:rPr>
              <a:t> </a:t>
            </a:r>
            <a:r>
              <a:rPr lang="en-US" altLang="en-US" b="0" dirty="0" err="1">
                <a:solidFill>
                  <a:srgbClr val="1F1F1F"/>
                </a:solidFill>
              </a:rPr>
              <a:t>Gx</a:t>
            </a:r>
            <a:r>
              <a:rPr lang="en-US" altLang="en-US" b="0" dirty="0">
                <a:solidFill>
                  <a:srgbClr val="1F1F1F"/>
                </a:solidFill>
              </a:rPr>
              <a:t> </a:t>
            </a:r>
            <a:r>
              <a:rPr lang="en-US" altLang="en-US" b="0" dirty="0" err="1">
                <a:solidFill>
                  <a:srgbClr val="1F1F1F"/>
                </a:solidFill>
              </a:rPr>
              <a:t>và</a:t>
            </a:r>
            <a:r>
              <a:rPr lang="en-US" altLang="en-US" b="0" dirty="0">
                <a:solidFill>
                  <a:srgbClr val="1F1F1F"/>
                </a:solidFill>
              </a:rPr>
              <a:t> </a:t>
            </a:r>
            <a:r>
              <a:rPr lang="en-US" altLang="en-US" b="0" dirty="0" err="1">
                <a:solidFill>
                  <a:srgbClr val="1F1F1F"/>
                </a:solidFill>
              </a:rPr>
              <a:t>Gy</a:t>
            </a:r>
            <a:r>
              <a:rPr lang="en-US" altLang="en-US" b="0" dirty="0">
                <a:solidFill>
                  <a:srgbClr val="1F1F1F"/>
                </a:solidFill>
              </a:rPr>
              <a:t> để </a:t>
            </a:r>
            <a:r>
              <a:rPr lang="en-US" altLang="en-US" b="0" dirty="0" err="1">
                <a:solidFill>
                  <a:srgbClr val="1F1F1F"/>
                </a:solidFill>
              </a:rPr>
              <a:t>xác</a:t>
            </a:r>
            <a:r>
              <a:rPr lang="en-US" altLang="en-US" b="0" dirty="0">
                <a:solidFill>
                  <a:srgbClr val="1F1F1F"/>
                </a:solidFill>
              </a:rPr>
              <a:t> </a:t>
            </a:r>
            <a:r>
              <a:rPr lang="en-US" altLang="en-US" b="0" dirty="0" err="1">
                <a:solidFill>
                  <a:srgbClr val="1F1F1F"/>
                </a:solidFill>
              </a:rPr>
              <a:t>định</a:t>
            </a:r>
            <a:r>
              <a:rPr lang="en-US" altLang="en-US" b="0" dirty="0">
                <a:solidFill>
                  <a:srgbClr val="1F1F1F"/>
                </a:solidFill>
              </a:rPr>
              <a:t> </a:t>
            </a:r>
            <a:r>
              <a:rPr lang="en-US" altLang="en-US" b="0" dirty="0" err="1">
                <a:solidFill>
                  <a:srgbClr val="1F1F1F"/>
                </a:solidFill>
              </a:rPr>
              <a:t>biên</a:t>
            </a:r>
            <a:r>
              <a:rPr lang="en-US" altLang="en-US" b="0" dirty="0">
                <a:solidFill>
                  <a:srgbClr val="1F1F1F"/>
                </a:solidFill>
              </a:rPr>
              <a:t>.</a:t>
            </a:r>
          </a:p>
          <a:p>
            <a:pPr marL="457200" lvl="1" indent="0" algn="l" defTabSz="914400" eaLnBrk="0" fontAlgn="base">
              <a:spcBef>
                <a:spcPct val="0"/>
              </a:spcBef>
              <a:spcAft>
                <a:spcPct val="0"/>
              </a:spcAft>
              <a:buFontTx/>
              <a:buChar char="•"/>
            </a:pPr>
            <a:endParaRPr lang="en-US" altLang="en-US" b="0" dirty="0">
              <a:solidFill>
                <a:srgbClr val="1F1F1F"/>
              </a:solidFill>
            </a:endParaRPr>
          </a:p>
          <a:p>
            <a:pPr lvl="0" algn="l" defTabSz="914400" eaLnBrk="0" fontAlgn="base">
              <a:spcBef>
                <a:spcPct val="0"/>
              </a:spcBef>
              <a:spcAft>
                <a:spcPct val="0"/>
              </a:spcAft>
              <a:buFontTx/>
              <a:buAutoNum type="arabicPeriod" startAt="4"/>
            </a:pPr>
            <a:r>
              <a:rPr lang="en-US" altLang="en-US" dirty="0" err="1">
                <a:solidFill>
                  <a:srgbClr val="1F1F1F"/>
                </a:solidFill>
              </a:rPr>
              <a:t>Ngưỡng</a:t>
            </a:r>
            <a:r>
              <a:rPr lang="en-US" altLang="en-US" dirty="0">
                <a:solidFill>
                  <a:srgbClr val="1F1F1F"/>
                </a:solidFill>
              </a:rPr>
              <a:t> </a:t>
            </a:r>
            <a:r>
              <a:rPr lang="en-US" altLang="en-US" dirty="0" err="1">
                <a:solidFill>
                  <a:srgbClr val="1F1F1F"/>
                </a:solidFill>
              </a:rPr>
              <a:t>hóa</a:t>
            </a:r>
            <a:r>
              <a:rPr lang="en-US" altLang="en-US" dirty="0">
                <a:solidFill>
                  <a:srgbClr val="1F1F1F"/>
                </a:solidFill>
              </a:rPr>
              <a:t> (</a:t>
            </a:r>
            <a:r>
              <a:rPr lang="en-US" altLang="en-US" dirty="0" err="1">
                <a:solidFill>
                  <a:srgbClr val="1F1F1F"/>
                </a:solidFill>
              </a:rPr>
              <a:t>Thresholding</a:t>
            </a:r>
            <a:r>
              <a:rPr lang="en-US" altLang="en-US" dirty="0">
                <a:solidFill>
                  <a:srgbClr val="1F1F1F"/>
                </a:solidFill>
              </a:rPr>
              <a:t>):</a:t>
            </a:r>
            <a:endParaRPr lang="en-US" altLang="en-US" b="0" dirty="0">
              <a:solidFill>
                <a:srgbClr val="1F1F1F"/>
              </a:solidFill>
            </a:endParaRPr>
          </a:p>
          <a:p>
            <a:pPr marL="457200" lvl="1" indent="0" algn="l" defTabSz="914400" eaLnBrk="0" fontAlgn="base">
              <a:spcBef>
                <a:spcPct val="0"/>
              </a:spcBef>
              <a:spcAft>
                <a:spcPct val="0"/>
              </a:spcAft>
              <a:buFontTx/>
              <a:buChar char="•"/>
            </a:pPr>
            <a:r>
              <a:rPr lang="en-US" altLang="en-US" b="0" dirty="0" err="1">
                <a:solidFill>
                  <a:srgbClr val="1F1F1F"/>
                </a:solidFill>
              </a:rPr>
              <a:t>Loại</a:t>
            </a:r>
            <a:r>
              <a:rPr lang="en-US" altLang="en-US" b="0" dirty="0">
                <a:solidFill>
                  <a:srgbClr val="1F1F1F"/>
                </a:solidFill>
              </a:rPr>
              <a:t> bỏ </a:t>
            </a:r>
            <a:r>
              <a:rPr lang="en-US" altLang="en-US" b="0" dirty="0" err="1">
                <a:solidFill>
                  <a:srgbClr val="1F1F1F"/>
                </a:solidFill>
              </a:rPr>
              <a:t>các</a:t>
            </a:r>
            <a:r>
              <a:rPr lang="en-US" altLang="en-US" b="0" dirty="0">
                <a:solidFill>
                  <a:srgbClr val="1F1F1F"/>
                </a:solidFill>
              </a:rPr>
              <a:t> </a:t>
            </a:r>
            <a:r>
              <a:rPr lang="en-US" altLang="en-US" b="0" dirty="0" err="1">
                <a:solidFill>
                  <a:srgbClr val="1F1F1F"/>
                </a:solidFill>
              </a:rPr>
              <a:t>giá</a:t>
            </a:r>
            <a:r>
              <a:rPr lang="en-US" altLang="en-US" b="0" dirty="0">
                <a:solidFill>
                  <a:srgbClr val="1F1F1F"/>
                </a:solidFill>
              </a:rPr>
              <a:t> </a:t>
            </a:r>
            <a:r>
              <a:rPr lang="en-US" altLang="en-US" b="0" dirty="0" err="1">
                <a:solidFill>
                  <a:srgbClr val="1F1F1F"/>
                </a:solidFill>
              </a:rPr>
              <a:t>trị</a:t>
            </a:r>
            <a:r>
              <a:rPr lang="en-US" altLang="en-US" b="0" dirty="0">
                <a:solidFill>
                  <a:srgbClr val="1F1F1F"/>
                </a:solidFill>
              </a:rPr>
              <a:t> </a:t>
            </a:r>
            <a:r>
              <a:rPr lang="en-US" altLang="en-US" b="0" dirty="0" err="1">
                <a:solidFill>
                  <a:srgbClr val="1F1F1F"/>
                </a:solidFill>
              </a:rPr>
              <a:t>nhỏ</a:t>
            </a:r>
            <a:r>
              <a:rPr lang="en-US" altLang="en-US" b="0" dirty="0">
                <a:solidFill>
                  <a:srgbClr val="1F1F1F"/>
                </a:solidFill>
              </a:rPr>
              <a:t> (</a:t>
            </a:r>
            <a:r>
              <a:rPr lang="en-US" altLang="en-US" b="0" dirty="0" err="1">
                <a:solidFill>
                  <a:srgbClr val="1F1F1F"/>
                </a:solidFill>
              </a:rPr>
              <a:t>không</a:t>
            </a:r>
            <a:r>
              <a:rPr lang="en-US" altLang="en-US" b="0" dirty="0">
                <a:solidFill>
                  <a:srgbClr val="1F1F1F"/>
                </a:solidFill>
              </a:rPr>
              <a:t> phải </a:t>
            </a:r>
            <a:r>
              <a:rPr lang="en-US" altLang="en-US" b="0" dirty="0" err="1">
                <a:solidFill>
                  <a:srgbClr val="1F1F1F"/>
                </a:solidFill>
              </a:rPr>
              <a:t>biên</a:t>
            </a:r>
            <a:r>
              <a:rPr lang="en-US" altLang="en-US" b="0" dirty="0">
                <a:solidFill>
                  <a:srgbClr val="1F1F1F"/>
                </a:solidFill>
              </a:rPr>
              <a:t>) </a:t>
            </a:r>
            <a:r>
              <a:rPr lang="en-US" altLang="en-US" b="0" dirty="0" err="1">
                <a:solidFill>
                  <a:srgbClr val="1F1F1F"/>
                </a:solidFill>
              </a:rPr>
              <a:t>bằng</a:t>
            </a:r>
            <a:r>
              <a:rPr lang="en-US" altLang="en-US" b="0" dirty="0">
                <a:solidFill>
                  <a:srgbClr val="1F1F1F"/>
                </a:solidFill>
              </a:rPr>
              <a:t> </a:t>
            </a:r>
            <a:r>
              <a:rPr lang="en-US" altLang="en-US" b="0" dirty="0" err="1">
                <a:solidFill>
                  <a:srgbClr val="1F1F1F"/>
                </a:solidFill>
              </a:rPr>
              <a:t>cách</a:t>
            </a:r>
            <a:r>
              <a:rPr lang="en-US" altLang="en-US" b="0" dirty="0">
                <a:solidFill>
                  <a:srgbClr val="1F1F1F"/>
                </a:solidFill>
              </a:rPr>
              <a:t> </a:t>
            </a:r>
            <a:r>
              <a:rPr lang="en-US" altLang="en-US" b="0" dirty="0" err="1">
                <a:solidFill>
                  <a:srgbClr val="1F1F1F"/>
                </a:solidFill>
              </a:rPr>
              <a:t>áp</a:t>
            </a:r>
            <a:r>
              <a:rPr lang="en-US" altLang="en-US" b="0" dirty="0">
                <a:solidFill>
                  <a:srgbClr val="1F1F1F"/>
                </a:solidFill>
              </a:rPr>
              <a:t> </a:t>
            </a:r>
            <a:r>
              <a:rPr lang="en-US" altLang="en-US" b="0" dirty="0" err="1">
                <a:solidFill>
                  <a:srgbClr val="1F1F1F"/>
                </a:solidFill>
              </a:rPr>
              <a:t>dụng</a:t>
            </a:r>
            <a:r>
              <a:rPr lang="en-US" altLang="en-US" b="0" dirty="0">
                <a:solidFill>
                  <a:srgbClr val="1F1F1F"/>
                </a:solidFill>
              </a:rPr>
              <a:t> </a:t>
            </a:r>
            <a:r>
              <a:rPr lang="en-US" altLang="en-US" b="0" dirty="0" err="1">
                <a:solidFill>
                  <a:srgbClr val="1F1F1F"/>
                </a:solidFill>
              </a:rPr>
              <a:t>ngưỡng</a:t>
            </a:r>
            <a:r>
              <a:rPr lang="en-US" altLang="en-US" b="0" dirty="0">
                <a:solidFill>
                  <a:srgbClr val="1F1F1F"/>
                </a:solidFill>
              </a:rPr>
              <a:t>.</a:t>
            </a:r>
          </a:p>
        </p:txBody>
      </p:sp>
    </p:spTree>
    <p:extLst>
      <p:ext uri="{BB962C8B-B14F-4D97-AF65-F5344CB8AC3E}">
        <p14:creationId xmlns:p14="http://schemas.microsoft.com/office/powerpoint/2010/main" val="5143075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076450" y="190500"/>
            <a:ext cx="8172450" cy="9971961"/>
          </a:xfrm>
          <a:prstGeom prst="rect">
            <a:avLst/>
          </a:prstGeom>
        </p:spPr>
        <p:txBody>
          <a:bodyPr wrap="square">
            <a:spAutoFit/>
          </a:bodyPr>
          <a:lstStyle/>
          <a:p>
            <a:pPr algn="l"/>
            <a:r>
              <a:rPr lang="vi-VN" sz="5400" dirty="0">
                <a:solidFill>
                  <a:srgbClr val="1F1F1F"/>
                </a:solidFill>
              </a:rPr>
              <a:t>Ưu điểm</a:t>
            </a:r>
            <a:endParaRPr lang="en-US" b="0" dirty="0">
              <a:solidFill>
                <a:srgbClr val="1F1F1F"/>
              </a:solidFill>
            </a:endParaRPr>
          </a:p>
          <a:p>
            <a:pPr algn="l"/>
            <a:r>
              <a:rPr lang="en-US" b="0" dirty="0">
                <a:solidFill>
                  <a:srgbClr val="1F1F1F"/>
                </a:solidFill>
              </a:rPr>
              <a:t>-</a:t>
            </a:r>
            <a:r>
              <a:rPr lang="vi-VN" b="0" dirty="0">
                <a:solidFill>
                  <a:srgbClr val="1F1F1F"/>
                </a:solidFill>
              </a:rPr>
              <a:t>Đơn giản, dễ thực hiện và hiệu quả.</a:t>
            </a:r>
            <a:endParaRPr lang="en-US" b="0" dirty="0">
              <a:solidFill>
                <a:srgbClr val="1F1F1F"/>
              </a:solidFill>
            </a:endParaRPr>
          </a:p>
          <a:p>
            <a:pPr algn="l">
              <a:buFont typeface="Arial" panose="020B0604020202020204" pitchFamily="34" charset="0"/>
              <a:buChar char="•"/>
            </a:pPr>
            <a:endParaRPr lang="vi-VN" b="0" dirty="0">
              <a:solidFill>
                <a:srgbClr val="1F1F1F"/>
              </a:solidFill>
            </a:endParaRPr>
          </a:p>
          <a:p>
            <a:pPr algn="l"/>
            <a:r>
              <a:rPr lang="en-US" b="0" dirty="0">
                <a:solidFill>
                  <a:srgbClr val="1F1F1F"/>
                </a:solidFill>
              </a:rPr>
              <a:t>-</a:t>
            </a:r>
            <a:r>
              <a:rPr lang="vi-VN" b="0" dirty="0">
                <a:solidFill>
                  <a:srgbClr val="1F1F1F"/>
                </a:solidFill>
              </a:rPr>
              <a:t>Có khả năng làm mịn ảnh (nhờ các trọng số trong kernel).</a:t>
            </a:r>
            <a:endParaRPr lang="en-US" b="0" dirty="0">
              <a:solidFill>
                <a:srgbClr val="1F1F1F"/>
              </a:solidFill>
            </a:endParaRPr>
          </a:p>
          <a:p>
            <a:pPr algn="l">
              <a:buFont typeface="Arial" panose="020B0604020202020204" pitchFamily="34" charset="0"/>
              <a:buChar char="•"/>
            </a:pPr>
            <a:endParaRPr lang="vi-VN" b="0" dirty="0">
              <a:solidFill>
                <a:srgbClr val="1F1F1F"/>
              </a:solidFill>
            </a:endParaRPr>
          </a:p>
          <a:p>
            <a:pPr algn="l"/>
            <a:r>
              <a:rPr lang="en-US" b="0" dirty="0">
                <a:solidFill>
                  <a:srgbClr val="1F1F1F"/>
                </a:solidFill>
              </a:rPr>
              <a:t>-</a:t>
            </a:r>
            <a:r>
              <a:rPr lang="vi-VN" b="0" dirty="0">
                <a:solidFill>
                  <a:srgbClr val="1F1F1F"/>
                </a:solidFill>
              </a:rPr>
              <a:t>Phát hiện biên ở cả hai hướng ngang và dọc.</a:t>
            </a:r>
          </a:p>
          <a:p>
            <a:pPr algn="l"/>
            <a:r>
              <a:rPr lang="vi-VN" sz="5400" dirty="0">
                <a:solidFill>
                  <a:srgbClr val="1F1F1F"/>
                </a:solidFill>
              </a:rPr>
              <a:t>Nhược điểm</a:t>
            </a:r>
            <a:endParaRPr lang="en-US" b="0" dirty="0">
              <a:solidFill>
                <a:srgbClr val="1F1F1F"/>
              </a:solidFill>
            </a:endParaRPr>
          </a:p>
          <a:p>
            <a:pPr algn="l"/>
            <a:r>
              <a:rPr lang="en-US" b="0" dirty="0">
                <a:solidFill>
                  <a:srgbClr val="1F1F1F"/>
                </a:solidFill>
              </a:rPr>
              <a:t>-</a:t>
            </a:r>
            <a:r>
              <a:rPr lang="vi-VN" b="0" dirty="0">
                <a:solidFill>
                  <a:srgbClr val="1F1F1F"/>
                </a:solidFill>
              </a:rPr>
              <a:t>Không phát hiện tốt biên trong ảnh nhiễu (cần kết hợp với lọc trước).</a:t>
            </a:r>
            <a:endParaRPr lang="en-US" b="0" dirty="0">
              <a:solidFill>
                <a:srgbClr val="1F1F1F"/>
              </a:solidFill>
            </a:endParaRPr>
          </a:p>
          <a:p>
            <a:pPr algn="l">
              <a:buFont typeface="Arial" panose="020B0604020202020204" pitchFamily="34" charset="0"/>
              <a:buChar char="•"/>
            </a:pPr>
            <a:endParaRPr lang="vi-VN" b="0" dirty="0">
              <a:solidFill>
                <a:srgbClr val="1F1F1F"/>
              </a:solidFill>
            </a:endParaRPr>
          </a:p>
          <a:p>
            <a:pPr algn="l"/>
            <a:r>
              <a:rPr lang="en-US" b="0" dirty="0">
                <a:solidFill>
                  <a:srgbClr val="1F1F1F"/>
                </a:solidFill>
              </a:rPr>
              <a:t>-</a:t>
            </a:r>
            <a:r>
              <a:rPr lang="vi-VN" b="0" dirty="0">
                <a:solidFill>
                  <a:srgbClr val="1F1F1F"/>
                </a:solidFill>
              </a:rPr>
              <a:t>Khả năng phân biệt biên mờ hoặc biên mạnh có thể hạn chế.</a:t>
            </a:r>
            <a:endParaRPr lang="en-US" b="0" dirty="0">
              <a:solidFill>
                <a:srgbClr val="1F1F1F"/>
              </a:solidFill>
            </a:endParaRPr>
          </a:p>
          <a:p>
            <a:pPr algn="l">
              <a:buFont typeface="Arial" panose="020B0604020202020204" pitchFamily="34" charset="0"/>
              <a:buChar char="•"/>
            </a:pPr>
            <a:endParaRPr lang="vi-VN" b="0" dirty="0">
              <a:solidFill>
                <a:srgbClr val="1F1F1F"/>
              </a:solidFill>
            </a:endParaRPr>
          </a:p>
          <a:p>
            <a:pPr algn="l"/>
            <a:r>
              <a:rPr lang="en-US" b="0" dirty="0">
                <a:solidFill>
                  <a:srgbClr val="1F1F1F"/>
                </a:solidFill>
              </a:rPr>
              <a:t>-</a:t>
            </a:r>
            <a:r>
              <a:rPr lang="vi-VN" b="0" dirty="0">
                <a:solidFill>
                  <a:srgbClr val="1F1F1F"/>
                </a:solidFill>
              </a:rPr>
              <a:t>Không phát hiện tốt các biên cong phức tạp.</a:t>
            </a:r>
            <a:endParaRPr lang="en-US" b="0" dirty="0">
              <a:solidFill>
                <a:srgbClr val="1F1F1F"/>
              </a:solidFill>
            </a:endParaRPr>
          </a:p>
          <a:p>
            <a:pPr algn="l"/>
            <a:r>
              <a:rPr lang="vi-VN" sz="5400" dirty="0"/>
              <a:t>Ứng dụng</a:t>
            </a:r>
            <a:endParaRPr lang="en-US" sz="5400" b="0" dirty="0"/>
          </a:p>
          <a:p>
            <a:pPr algn="l"/>
            <a:r>
              <a:rPr lang="en-US" b="0" dirty="0"/>
              <a:t>-</a:t>
            </a:r>
            <a:r>
              <a:rPr lang="vi-VN" b="0" dirty="0"/>
              <a:t>Phát hiện biên (Edge detection).</a:t>
            </a:r>
            <a:endParaRPr lang="en-US" b="0" dirty="0"/>
          </a:p>
          <a:p>
            <a:pPr algn="l"/>
            <a:endParaRPr lang="vi-VN" b="0" dirty="0"/>
          </a:p>
          <a:p>
            <a:pPr algn="l"/>
            <a:r>
              <a:rPr lang="en-US" b="0" dirty="0"/>
              <a:t>-</a:t>
            </a:r>
            <a:r>
              <a:rPr lang="vi-VN" b="0" dirty="0"/>
              <a:t>Tiền xử lý trong các bài toán nhận diện đối tượng, phát hiện vật thể.</a:t>
            </a:r>
            <a:endParaRPr lang="en-US" b="0" dirty="0"/>
          </a:p>
          <a:p>
            <a:pPr algn="l"/>
            <a:endParaRPr lang="vi-VN" b="0" dirty="0"/>
          </a:p>
          <a:p>
            <a:pPr algn="l"/>
            <a:r>
              <a:rPr lang="en-US" b="0" dirty="0"/>
              <a:t>-</a:t>
            </a:r>
            <a:r>
              <a:rPr lang="vi-VN" b="0" dirty="0"/>
              <a:t>Tăng cường chi tiết trong ảnh.</a:t>
            </a:r>
          </a:p>
          <a:p>
            <a:pPr algn="l">
              <a:buFont typeface="Arial" panose="020B0604020202020204" pitchFamily="34" charset="0"/>
              <a:buChar char="•"/>
            </a:pPr>
            <a:endParaRPr lang="vi-VN" b="0" dirty="0">
              <a:solidFill>
                <a:srgbClr val="1F1F1F"/>
              </a:solidFill>
            </a:endParaRPr>
          </a:p>
        </p:txBody>
      </p:sp>
    </p:spTree>
    <p:extLst>
      <p:ext uri="{BB962C8B-B14F-4D97-AF65-F5344CB8AC3E}">
        <p14:creationId xmlns:p14="http://schemas.microsoft.com/office/powerpoint/2010/main" val="18349709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953250" y="1752600"/>
            <a:ext cx="5295900" cy="6001643"/>
          </a:xfrm>
          <a:prstGeom prst="rect">
            <a:avLst/>
          </a:prstGeom>
          <a:noFill/>
        </p:spPr>
        <p:txBody>
          <a:bodyPr wrap="square" rtlCol="0">
            <a:spAutoFit/>
          </a:bodyPr>
          <a:lstStyle/>
          <a:p>
            <a:pPr marL="0" marR="0" lvl="0" indent="0" algn="l" defTabSz="584200" rtl="0" eaLnBrk="1" fontAlgn="auto" latinLnBrk="0" hangingPunct="0">
              <a:lnSpc>
                <a:spcPct val="100000"/>
              </a:lnSpc>
              <a:spcBef>
                <a:spcPts val="0"/>
              </a:spcBef>
              <a:spcAft>
                <a:spcPts val="0"/>
              </a:spcAft>
              <a:buClrTx/>
              <a:buSzTx/>
              <a:buFontTx/>
              <a:buNone/>
              <a:tabLst/>
              <a:defRPr/>
            </a:pPr>
            <a:r>
              <a:rPr kumimoji="0" lang="en-US" sz="6000" b="1" i="0" u="none" strike="noStrike" kern="0" cap="none" spc="0" normalizeH="0" baseline="0" noProof="0" dirty="0" err="1">
                <a:ln>
                  <a:noFill/>
                </a:ln>
                <a:solidFill>
                  <a:srgbClr val="000000"/>
                </a:solidFill>
                <a:effectLst/>
                <a:uLnTx/>
                <a:uFillTx/>
                <a:latin typeface="Helvetica Neue"/>
                <a:sym typeface="Helvetica Neue"/>
              </a:rPr>
              <a:t>Toán</a:t>
            </a:r>
            <a:r>
              <a:rPr kumimoji="0" lang="en-US" sz="6000" b="1" i="0" u="none" strike="noStrike" kern="0" cap="none" spc="0" normalizeH="0" baseline="0" noProof="0" dirty="0">
                <a:ln>
                  <a:noFill/>
                </a:ln>
                <a:solidFill>
                  <a:srgbClr val="000000"/>
                </a:solidFill>
                <a:effectLst/>
                <a:uLnTx/>
                <a:uFillTx/>
                <a:latin typeface="Helvetica Neue"/>
                <a:sym typeface="Helvetica Neue"/>
              </a:rPr>
              <a:t> </a:t>
            </a:r>
            <a:r>
              <a:rPr kumimoji="0" lang="en-US" sz="6000" b="1" i="0" u="none" strike="noStrike" kern="0" cap="none" spc="0" normalizeH="0" baseline="0" noProof="0" dirty="0" err="1">
                <a:ln>
                  <a:noFill/>
                </a:ln>
                <a:solidFill>
                  <a:srgbClr val="000000"/>
                </a:solidFill>
                <a:effectLst/>
                <a:uLnTx/>
                <a:uFillTx/>
                <a:latin typeface="Helvetica Neue"/>
                <a:sym typeface="Helvetica Neue"/>
              </a:rPr>
              <a:t>tử</a:t>
            </a:r>
            <a:r>
              <a:rPr kumimoji="0" lang="en-US" sz="6000" b="1" i="0" u="none" strike="noStrike" kern="0" cap="none" spc="0" normalizeH="0" baseline="0" noProof="0" dirty="0">
                <a:ln>
                  <a:noFill/>
                </a:ln>
                <a:solidFill>
                  <a:srgbClr val="000000"/>
                </a:solidFill>
                <a:effectLst/>
                <a:uLnTx/>
                <a:uFillTx/>
                <a:latin typeface="Helvetica Neue"/>
                <a:sym typeface="Helvetica Neue"/>
              </a:rPr>
              <a:t> Roberts</a:t>
            </a:r>
          </a:p>
          <a:p>
            <a:pPr marL="0" marR="0" lvl="0" indent="0" algn="l" defTabSz="584200" rtl="0" eaLnBrk="1"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Helvetica Neue"/>
              <a:sym typeface="Helvetica Neue"/>
            </a:endParaRPr>
          </a:p>
          <a:p>
            <a:pPr lvl="0" algn="l"/>
            <a:r>
              <a:rPr lang="vi-VN" b="0" dirty="0"/>
              <a:t>Bộ lọc Roberts là một trong những toán tử phát hiện biên (edge detection) cơ bản trong xử lý ảnh. Nó được thiết kế để tính toán độ dốc (gradient) của cường độ sáng của ảnh. </a:t>
            </a:r>
            <a:endParaRPr lang="en-US" b="0" dirty="0"/>
          </a:p>
          <a:p>
            <a:pPr lvl="0" algn="l"/>
            <a:r>
              <a:rPr lang="vi-VN" b="0" dirty="0"/>
              <a:t>Bộ lọc này phát hiện biên tại các vị trí có sự thay đổi nhanh chóng về cường độ sáng, thường là đường viền của các đối tượng trong ảnh.</a:t>
            </a:r>
            <a:endParaRPr kumimoji="0" lang="en-US" sz="2400" b="1" i="0" u="none" strike="noStrike" kern="0" cap="none" spc="0" normalizeH="0" baseline="0" noProof="0" dirty="0">
              <a:ln>
                <a:noFill/>
              </a:ln>
              <a:solidFill>
                <a:srgbClr val="000000"/>
              </a:solidFill>
              <a:effectLst/>
              <a:uLnTx/>
              <a:uFillTx/>
              <a:latin typeface="Helvetica Neue"/>
              <a:sym typeface="Helvetica Neue"/>
            </a:endParaRPr>
          </a:p>
        </p:txBody>
      </p:sp>
      <p:pic>
        <p:nvPicPr>
          <p:cNvPr id="4" name="Picture 3" descr="A collage of images of a person on a tripod&#10;&#10;AI-generated content may be incorrect."/>
          <p:cNvPicPr/>
          <p:nvPr/>
        </p:nvPicPr>
        <p:blipFill>
          <a:blip r:embed="rId2"/>
          <a:stretch>
            <a:fillRect/>
          </a:stretch>
        </p:blipFill>
        <p:spPr>
          <a:xfrm>
            <a:off x="817245" y="1752600"/>
            <a:ext cx="5731510" cy="6934200"/>
          </a:xfrm>
          <a:prstGeom prst="rect">
            <a:avLst/>
          </a:prstGeom>
        </p:spPr>
      </p:pic>
    </p:spTree>
    <p:extLst>
      <p:ext uri="{BB962C8B-B14F-4D97-AF65-F5344CB8AC3E}">
        <p14:creationId xmlns:p14="http://schemas.microsoft.com/office/powerpoint/2010/main" val="22584012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1008309" y="129582"/>
            <a:ext cx="11888003" cy="1249767"/>
          </a:xfrm>
        </p:spPr>
        <p:txBody>
          <a:bodyPr>
            <a:normAutofit fontScale="90000"/>
          </a:bodyPr>
          <a:lstStyle/>
          <a:p>
            <a:r>
              <a:rPr lang="en-US" sz="6600" b="1" dirty="0">
                <a:latin typeface="Constantia" panose="02030602050306030303" pitchFamily="18" charset="0"/>
              </a:rPr>
              <a:t>Nguyên </a:t>
            </a:r>
            <a:r>
              <a:rPr lang="en-US" sz="6600" b="1" dirty="0" err="1">
                <a:latin typeface="Constantia" panose="02030602050306030303" pitchFamily="18" charset="0"/>
              </a:rPr>
              <a:t>lý</a:t>
            </a:r>
            <a:r>
              <a:rPr lang="en-US" sz="6600" b="1" dirty="0">
                <a:latin typeface="Constantia" panose="02030602050306030303" pitchFamily="18" charset="0"/>
              </a:rPr>
              <a:t> </a:t>
            </a:r>
            <a:r>
              <a:rPr lang="en-US" sz="6600" b="1" dirty="0" err="1">
                <a:latin typeface="Constantia" panose="02030602050306030303" pitchFamily="18" charset="0"/>
              </a:rPr>
              <a:t>hoạt</a:t>
            </a:r>
            <a:r>
              <a:rPr lang="en-US" sz="6600" b="1" dirty="0">
                <a:latin typeface="Constantia" panose="02030602050306030303" pitchFamily="18" charset="0"/>
              </a:rPr>
              <a:t> </a:t>
            </a:r>
            <a:r>
              <a:rPr lang="en-US" sz="6600" b="1" dirty="0" err="1">
                <a:latin typeface="Constantia" panose="02030602050306030303" pitchFamily="18" charset="0"/>
              </a:rPr>
              <a:t>động</a:t>
            </a:r>
            <a:r>
              <a:rPr lang="en-US" sz="6600" b="1" dirty="0">
                <a:latin typeface="Constantia" panose="02030602050306030303" pitchFamily="18" charset="0"/>
              </a:rPr>
              <a:t/>
            </a:r>
            <a:br>
              <a:rPr lang="en-US" sz="6600" b="1" dirty="0">
                <a:latin typeface="Constantia" panose="02030602050306030303" pitchFamily="18" charset="0"/>
              </a:rPr>
            </a:br>
            <a:r>
              <a:rPr lang="en-US" sz="6600" b="1" dirty="0">
                <a:latin typeface="Constantia" panose="02030602050306030303" pitchFamily="18" charset="0"/>
              </a:rPr>
              <a:t/>
            </a:r>
            <a:br>
              <a:rPr lang="en-US" sz="6600" b="1" dirty="0">
                <a:latin typeface="Constantia" panose="02030602050306030303" pitchFamily="18" charset="0"/>
              </a:rPr>
            </a:br>
            <a:endParaRPr lang="en-US" sz="6600" b="1" dirty="0">
              <a:latin typeface="Constantia" panose="02030602050306030303" pitchFamily="18" charset="0"/>
            </a:endParaRPr>
          </a:p>
        </p:txBody>
      </p:sp>
      <p:sp>
        <p:nvSpPr>
          <p:cNvPr id="5" name="TextBox 4"/>
          <p:cNvSpPr txBox="1"/>
          <p:nvPr/>
        </p:nvSpPr>
        <p:spPr>
          <a:xfrm>
            <a:off x="1219200" y="1869355"/>
            <a:ext cx="10896600" cy="7848302"/>
          </a:xfrm>
          <a:prstGeom prst="rect">
            <a:avLst/>
          </a:prstGeom>
          <a:noFill/>
        </p:spPr>
        <p:txBody>
          <a:bodyPr wrap="square" rtlCol="0">
            <a:spAutoFit/>
          </a:bodyPr>
          <a:lstStyle/>
          <a:p>
            <a:pPr algn="l"/>
            <a:r>
              <a:rPr lang="en-US" b="0" dirty="0" err="1"/>
              <a:t>Bộ</a:t>
            </a:r>
            <a:r>
              <a:rPr lang="en-US" b="0" dirty="0"/>
              <a:t> </a:t>
            </a:r>
            <a:r>
              <a:rPr lang="en-US" b="0" dirty="0" err="1"/>
              <a:t>lọc</a:t>
            </a:r>
            <a:r>
              <a:rPr lang="en-US" b="0" dirty="0"/>
              <a:t> Roberts</a:t>
            </a:r>
            <a:r>
              <a:rPr lang="vi-VN" b="0" dirty="0"/>
              <a:t> sử dụng </a:t>
            </a:r>
            <a:r>
              <a:rPr lang="vi-VN" dirty="0"/>
              <a:t>toán tử tích chập (convolution operator)</a:t>
            </a:r>
            <a:r>
              <a:rPr lang="vi-VN" b="0" dirty="0"/>
              <a:t> với hai kernel nhỏ, mỗi kernel có kích thước (2</a:t>
            </a:r>
            <a:r>
              <a:rPr lang="vi-VN" b="0" i="1" dirty="0"/>
              <a:t>2), để tính gradient theo hai hướng chéo: </a:t>
            </a:r>
            <a:r>
              <a:rPr lang="vi-VN" dirty="0"/>
              <a:t>dọc-chéo</a:t>
            </a:r>
            <a:r>
              <a:rPr lang="vi-VN" b="0" dirty="0"/>
              <a:t> (diagonal) và </a:t>
            </a:r>
            <a:r>
              <a:rPr lang="vi-VN" dirty="0"/>
              <a:t>ngang-chéo</a:t>
            </a:r>
            <a:r>
              <a:rPr lang="vi-VN" b="0" dirty="0"/>
              <a:t> (anti-diagonal).</a:t>
            </a:r>
            <a:endParaRPr lang="en-US" b="0" dirty="0"/>
          </a:p>
          <a:p>
            <a:pPr algn="l"/>
            <a:r>
              <a:rPr lang="en-US" b="0" dirty="0"/>
              <a:t>1.</a:t>
            </a:r>
            <a:r>
              <a:rPr lang="en-US" dirty="0"/>
              <a:t>Kernel Roberts:</a:t>
            </a:r>
          </a:p>
          <a:p>
            <a:pPr algn="l"/>
            <a:r>
              <a:rPr lang="en-US" dirty="0"/>
              <a:t>- </a:t>
            </a:r>
            <a:r>
              <a:rPr lang="en-US" dirty="0" err="1"/>
              <a:t>Hướng</a:t>
            </a:r>
            <a:r>
              <a:rPr lang="en-US" dirty="0"/>
              <a:t> </a:t>
            </a:r>
            <a:r>
              <a:rPr lang="en-US" dirty="0" err="1"/>
              <a:t>ngang</a:t>
            </a:r>
            <a:r>
              <a:rPr lang="en-US" dirty="0"/>
              <a:t>(</a:t>
            </a:r>
            <a:r>
              <a:rPr lang="en-US" dirty="0" err="1"/>
              <a:t>Gx</a:t>
            </a:r>
            <a:r>
              <a:rPr lang="en-US" dirty="0"/>
              <a:t>): </a:t>
            </a:r>
            <a:r>
              <a:rPr lang="en-US" dirty="0" err="1"/>
              <a:t>K_x</a:t>
            </a:r>
            <a:r>
              <a:rPr lang="en-US" dirty="0"/>
              <a:t> = </a:t>
            </a:r>
          </a:p>
          <a:p>
            <a:pPr algn="l"/>
            <a:r>
              <a:rPr lang="en-US" dirty="0"/>
              <a:t>								</a:t>
            </a:r>
          </a:p>
          <a:p>
            <a:pPr algn="l"/>
            <a:endParaRPr lang="en-US" dirty="0"/>
          </a:p>
          <a:p>
            <a:pPr algn="l"/>
            <a:r>
              <a:rPr lang="en-US" dirty="0"/>
              <a:t>- </a:t>
            </a:r>
            <a:r>
              <a:rPr lang="en-US" dirty="0" err="1"/>
              <a:t>Hướng</a:t>
            </a:r>
            <a:r>
              <a:rPr lang="en-US" dirty="0"/>
              <a:t> </a:t>
            </a:r>
            <a:r>
              <a:rPr lang="en-US" dirty="0" err="1"/>
              <a:t>dọc</a:t>
            </a:r>
            <a:r>
              <a:rPr lang="en-US" dirty="0"/>
              <a:t>(</a:t>
            </a:r>
            <a:r>
              <a:rPr lang="en-US" dirty="0" err="1"/>
              <a:t>Gy</a:t>
            </a:r>
            <a:r>
              <a:rPr lang="en-US" dirty="0"/>
              <a:t>)    : </a:t>
            </a:r>
            <a:r>
              <a:rPr lang="en-US" dirty="0" err="1"/>
              <a:t>K_y</a:t>
            </a:r>
            <a:r>
              <a:rPr lang="en-US" dirty="0"/>
              <a:t> =  </a:t>
            </a:r>
          </a:p>
          <a:p>
            <a:pPr marL="342900" indent="-342900" algn="l">
              <a:buFontTx/>
              <a:buChar char="-"/>
            </a:pPr>
            <a:endParaRPr lang="en-US" dirty="0"/>
          </a:p>
          <a:p>
            <a:pPr marL="342900" indent="-342900" algn="l">
              <a:buFontTx/>
              <a:buChar char="-"/>
            </a:pPr>
            <a:endParaRPr lang="en-US" dirty="0"/>
          </a:p>
          <a:p>
            <a:pPr algn="l"/>
            <a:r>
              <a:rPr lang="en-US" dirty="0"/>
              <a:t>2. Tính toàn Gradient:</a:t>
            </a:r>
          </a:p>
          <a:p>
            <a:pPr algn="l"/>
            <a:r>
              <a:rPr lang="en-US" b="0" dirty="0"/>
              <a:t>		</a:t>
            </a:r>
            <a:r>
              <a:rPr lang="vi-VN" b="0" dirty="0"/>
              <a:t>Gradient theo hướng (x): (G_x = I * K_x)</a:t>
            </a:r>
          </a:p>
          <a:p>
            <a:pPr algn="l"/>
            <a:r>
              <a:rPr lang="en-US" b="0" dirty="0"/>
              <a:t>		</a:t>
            </a:r>
            <a:r>
              <a:rPr lang="vi-VN" b="0" dirty="0"/>
              <a:t>Gradient theo hướng (y): (G_y = I * K_y)</a:t>
            </a:r>
          </a:p>
          <a:p>
            <a:pPr algn="l"/>
            <a:r>
              <a:rPr lang="en-US" b="0" dirty="0"/>
              <a:t>		(</a:t>
            </a:r>
            <a:r>
              <a:rPr lang="vi-VN" b="0" dirty="0"/>
              <a:t>Ở đây, (I) là ảnh đầu vào, và (*) là phép tích chập</a:t>
            </a:r>
            <a:r>
              <a:rPr lang="en-US" b="0" dirty="0"/>
              <a:t> )</a:t>
            </a:r>
            <a:endParaRPr lang="vi-VN" b="0" dirty="0"/>
          </a:p>
          <a:p>
            <a:pPr lvl="0" algn="l" defTabSz="914400" eaLnBrk="0" fontAlgn="base">
              <a:spcBef>
                <a:spcPct val="0"/>
              </a:spcBef>
              <a:spcAft>
                <a:spcPct val="0"/>
              </a:spcAft>
            </a:pPr>
            <a:r>
              <a:rPr lang="en-US" altLang="en-US" dirty="0">
                <a:solidFill>
                  <a:srgbClr val="1F1F1F"/>
                </a:solidFill>
              </a:rPr>
              <a:t>3.Độ </a:t>
            </a:r>
            <a:r>
              <a:rPr lang="en-US" altLang="en-US" dirty="0" err="1">
                <a:solidFill>
                  <a:srgbClr val="1F1F1F"/>
                </a:solidFill>
              </a:rPr>
              <a:t>lớn</a:t>
            </a:r>
            <a:r>
              <a:rPr lang="en-US" altLang="en-US" dirty="0">
                <a:solidFill>
                  <a:srgbClr val="1F1F1F"/>
                </a:solidFill>
              </a:rPr>
              <a:t> </a:t>
            </a:r>
            <a:r>
              <a:rPr lang="en-US" altLang="en-US" dirty="0" err="1">
                <a:solidFill>
                  <a:srgbClr val="1F1F1F"/>
                </a:solidFill>
              </a:rPr>
              <a:t>biên</a:t>
            </a:r>
            <a:r>
              <a:rPr lang="en-US" altLang="en-US" dirty="0">
                <a:solidFill>
                  <a:srgbClr val="1F1F1F"/>
                </a:solidFill>
              </a:rPr>
              <a:t> (</a:t>
            </a:r>
            <a:r>
              <a:rPr lang="en-US" altLang="en-US" b="0" dirty="0">
                <a:solidFill>
                  <a:srgbClr val="1F1F1F"/>
                </a:solidFill>
              </a:rPr>
              <a:t>G</a:t>
            </a:r>
            <a:r>
              <a:rPr lang="en-US" altLang="en-US" dirty="0">
                <a:solidFill>
                  <a:srgbClr val="1F1F1F"/>
                </a:solidFill>
              </a:rPr>
              <a:t>):</a:t>
            </a:r>
            <a:r>
              <a:rPr lang="en-US" altLang="en-US" b="0" dirty="0">
                <a:solidFill>
                  <a:srgbClr val="1F1F1F"/>
                </a:solidFill>
              </a:rPr>
              <a:t> </a:t>
            </a:r>
            <a:r>
              <a:rPr lang="en-US" altLang="en-US" b="0" dirty="0" err="1">
                <a:solidFill>
                  <a:srgbClr val="1F1F1F"/>
                </a:solidFill>
              </a:rPr>
              <a:t>Sau</a:t>
            </a:r>
            <a:r>
              <a:rPr lang="en-US" altLang="en-US" b="0" dirty="0">
                <a:solidFill>
                  <a:srgbClr val="1F1F1F"/>
                </a:solidFill>
              </a:rPr>
              <a:t> </a:t>
            </a:r>
            <a:r>
              <a:rPr lang="en-US" altLang="en-US" b="0" dirty="0" err="1">
                <a:solidFill>
                  <a:srgbClr val="1F1F1F"/>
                </a:solidFill>
              </a:rPr>
              <a:t>khi</a:t>
            </a:r>
            <a:r>
              <a:rPr lang="en-US" altLang="en-US" b="0" dirty="0">
                <a:solidFill>
                  <a:srgbClr val="1F1F1F"/>
                </a:solidFill>
              </a:rPr>
              <a:t> tính </a:t>
            </a:r>
            <a:r>
              <a:rPr lang="en-US" altLang="en-US" b="0" dirty="0" err="1">
                <a:solidFill>
                  <a:srgbClr val="1F1F1F"/>
                </a:solidFill>
              </a:rPr>
              <a:t>Gx</a:t>
            </a:r>
            <a:r>
              <a:rPr lang="en-US" altLang="en-US" b="0" dirty="0">
                <a:solidFill>
                  <a:srgbClr val="1F1F1F"/>
                </a:solidFill>
              </a:rPr>
              <a:t> </a:t>
            </a:r>
            <a:r>
              <a:rPr lang="en-US" altLang="en-US" b="0" dirty="0" err="1">
                <a:solidFill>
                  <a:srgbClr val="1F1F1F"/>
                </a:solidFill>
              </a:rPr>
              <a:t>và</a:t>
            </a:r>
            <a:r>
              <a:rPr lang="en-US" altLang="en-US" b="0" dirty="0">
                <a:solidFill>
                  <a:srgbClr val="1F1F1F"/>
                </a:solidFill>
              </a:rPr>
              <a:t> </a:t>
            </a:r>
            <a:r>
              <a:rPr lang="en-US" altLang="en-US" b="0" dirty="0" err="1">
                <a:solidFill>
                  <a:srgbClr val="1F1F1F"/>
                </a:solidFill>
              </a:rPr>
              <a:t>Gy</a:t>
            </a:r>
            <a:r>
              <a:rPr lang="en-US" altLang="en-US" b="0" dirty="0">
                <a:solidFill>
                  <a:srgbClr val="1F1F1F"/>
                </a:solidFill>
              </a:rPr>
              <a:t>, </a:t>
            </a:r>
            <a:r>
              <a:rPr lang="en-US" altLang="en-US" b="0" dirty="0" err="1">
                <a:solidFill>
                  <a:srgbClr val="1F1F1F"/>
                </a:solidFill>
              </a:rPr>
              <a:t>độ</a:t>
            </a:r>
            <a:r>
              <a:rPr lang="en-US" altLang="en-US" b="0" dirty="0">
                <a:solidFill>
                  <a:srgbClr val="1F1F1F"/>
                </a:solidFill>
              </a:rPr>
              <a:t> </a:t>
            </a:r>
            <a:r>
              <a:rPr lang="en-US" altLang="en-US" b="0" dirty="0" err="1">
                <a:solidFill>
                  <a:srgbClr val="1F1F1F"/>
                </a:solidFill>
              </a:rPr>
              <a:t>lớn</a:t>
            </a:r>
            <a:r>
              <a:rPr lang="en-US" altLang="en-US" b="0" dirty="0">
                <a:solidFill>
                  <a:srgbClr val="1F1F1F"/>
                </a:solidFill>
              </a:rPr>
              <a:t> </a:t>
            </a:r>
            <a:r>
              <a:rPr lang="en-US" altLang="en-US" b="0" dirty="0" err="1">
                <a:solidFill>
                  <a:srgbClr val="1F1F1F"/>
                </a:solidFill>
              </a:rPr>
              <a:t>của</a:t>
            </a:r>
            <a:r>
              <a:rPr lang="en-US" altLang="en-US" b="0" dirty="0">
                <a:solidFill>
                  <a:srgbClr val="1F1F1F"/>
                </a:solidFill>
              </a:rPr>
              <a:t> </a:t>
            </a:r>
            <a:r>
              <a:rPr lang="en-US" altLang="en-US" b="0" dirty="0" err="1">
                <a:solidFill>
                  <a:srgbClr val="1F1F1F"/>
                </a:solidFill>
              </a:rPr>
              <a:t>biên</a:t>
            </a:r>
            <a:r>
              <a:rPr lang="en-US" altLang="en-US" b="0" dirty="0">
                <a:solidFill>
                  <a:srgbClr val="1F1F1F"/>
                </a:solidFill>
              </a:rPr>
              <a:t> </a:t>
            </a:r>
            <a:r>
              <a:rPr lang="en-US" altLang="en-US" b="0" dirty="0" err="1">
                <a:solidFill>
                  <a:srgbClr val="1F1F1F"/>
                </a:solidFill>
              </a:rPr>
              <a:t>được</a:t>
            </a:r>
            <a:r>
              <a:rPr lang="en-US" altLang="en-US" b="0" dirty="0">
                <a:solidFill>
                  <a:srgbClr val="1F1F1F"/>
                </a:solidFill>
              </a:rPr>
              <a:t> tính </a:t>
            </a:r>
            <a:r>
              <a:rPr lang="en-US" altLang="en-US" b="0" dirty="0" err="1">
                <a:solidFill>
                  <a:srgbClr val="1F1F1F"/>
                </a:solidFill>
              </a:rPr>
              <a:t>bằng</a:t>
            </a:r>
            <a:r>
              <a:rPr lang="en-US" altLang="en-US" b="0" dirty="0">
                <a:solidFill>
                  <a:srgbClr val="1F1F1F"/>
                </a:solidFill>
              </a:rPr>
              <a:t>:</a:t>
            </a:r>
          </a:p>
          <a:p>
            <a:pPr lvl="0" algn="l" defTabSz="914400" eaLnBrk="0" fontAlgn="base">
              <a:spcBef>
                <a:spcPct val="0"/>
              </a:spcBef>
              <a:spcAft>
                <a:spcPct val="0"/>
              </a:spcAft>
            </a:pPr>
            <a:endParaRPr lang="en-US" altLang="en-US" b="0" dirty="0">
              <a:solidFill>
                <a:srgbClr val="1F1F1F"/>
              </a:solidFill>
            </a:endParaRPr>
          </a:p>
          <a:p>
            <a:pPr lvl="0" algn="l" defTabSz="914400" eaLnBrk="0" fontAlgn="base">
              <a:spcBef>
                <a:spcPct val="0"/>
              </a:spcBef>
              <a:spcAft>
                <a:spcPct val="0"/>
              </a:spcAft>
            </a:pPr>
            <a:endParaRPr lang="en-US" altLang="en-US" b="0" dirty="0">
              <a:solidFill>
                <a:srgbClr val="1F1F1F"/>
              </a:solidFill>
            </a:endParaRPr>
          </a:p>
          <a:p>
            <a:pPr lvl="0" algn="l" defTabSz="914400" eaLnBrk="0" fontAlgn="base">
              <a:spcBef>
                <a:spcPct val="0"/>
              </a:spcBef>
              <a:spcAft>
                <a:spcPct val="0"/>
              </a:spcAft>
            </a:pPr>
            <a:r>
              <a:rPr lang="en-US" altLang="en-US" b="0" dirty="0">
                <a:solidFill>
                  <a:srgbClr val="1F1F1F"/>
                </a:solidFill>
              </a:rPr>
              <a:t>(</a:t>
            </a:r>
            <a:r>
              <a:rPr lang="en-US" altLang="en-US" b="0" dirty="0" err="1">
                <a:solidFill>
                  <a:srgbClr val="1F1F1F"/>
                </a:solidFill>
              </a:rPr>
              <a:t>hoặc</a:t>
            </a:r>
            <a:r>
              <a:rPr lang="en-US" altLang="en-US" b="0" dirty="0">
                <a:solidFill>
                  <a:srgbClr val="1F1F1F"/>
                </a:solidFill>
              </a:rPr>
              <a:t> </a:t>
            </a:r>
            <a:r>
              <a:rPr lang="en-US" altLang="en-US" b="0" dirty="0" err="1">
                <a:solidFill>
                  <a:srgbClr val="1F1F1F"/>
                </a:solidFill>
              </a:rPr>
              <a:t>lấy</a:t>
            </a:r>
            <a:r>
              <a:rPr lang="en-US" altLang="en-US" b="0" dirty="0">
                <a:solidFill>
                  <a:srgbClr val="1F1F1F"/>
                </a:solidFill>
              </a:rPr>
              <a:t> </a:t>
            </a:r>
            <a:r>
              <a:rPr lang="en-US" altLang="en-US" b="0" dirty="0" err="1">
                <a:solidFill>
                  <a:srgbClr val="1F1F1F"/>
                </a:solidFill>
              </a:rPr>
              <a:t>gần</a:t>
            </a:r>
            <a:r>
              <a:rPr lang="en-US" altLang="en-US" b="0" dirty="0">
                <a:solidFill>
                  <a:srgbClr val="1F1F1F"/>
                </a:solidFill>
              </a:rPr>
              <a:t> </a:t>
            </a:r>
            <a:r>
              <a:rPr lang="en-US" altLang="en-US" b="0" dirty="0" err="1">
                <a:solidFill>
                  <a:srgbClr val="1F1F1F"/>
                </a:solidFill>
              </a:rPr>
              <a:t>đúng</a:t>
            </a:r>
            <a:r>
              <a:rPr lang="en-US" altLang="en-US" b="0" dirty="0">
                <a:solidFill>
                  <a:srgbClr val="1F1F1F"/>
                </a:solidFill>
              </a:rPr>
              <a:t> G=|</a:t>
            </a:r>
            <a:r>
              <a:rPr lang="en-US" altLang="en-US" b="0" dirty="0" err="1">
                <a:solidFill>
                  <a:srgbClr val="1F1F1F"/>
                </a:solidFill>
              </a:rPr>
              <a:t>Gx</a:t>
            </a:r>
            <a:r>
              <a:rPr lang="en-US" altLang="en-US" b="0" dirty="0">
                <a:solidFill>
                  <a:srgbClr val="1F1F1F"/>
                </a:solidFill>
              </a:rPr>
              <a:t>|+|</a:t>
            </a:r>
            <a:r>
              <a:rPr lang="en-US" altLang="en-US" b="0" dirty="0" err="1">
                <a:solidFill>
                  <a:srgbClr val="1F1F1F"/>
                </a:solidFill>
              </a:rPr>
              <a:t>Gy</a:t>
            </a:r>
            <a:r>
              <a:rPr lang="en-US" altLang="en-US" b="0" dirty="0">
                <a:solidFill>
                  <a:srgbClr val="1F1F1F"/>
                </a:solidFill>
              </a:rPr>
              <a:t>|).</a:t>
            </a:r>
          </a:p>
          <a:p>
            <a:pPr lvl="0" algn="l" defTabSz="914400" eaLnBrk="0" fontAlgn="base">
              <a:spcBef>
                <a:spcPct val="0"/>
              </a:spcBef>
              <a:spcAft>
                <a:spcPct val="0"/>
              </a:spcAft>
            </a:pPr>
            <a:endParaRPr lang="en-US" altLang="en-US" b="0" dirty="0">
              <a:solidFill>
                <a:srgbClr val="1F1F1F"/>
              </a:solidFill>
            </a:endParaRPr>
          </a:p>
          <a:p>
            <a:pPr lvl="0" algn="l" defTabSz="914400" eaLnBrk="0" fontAlgn="base">
              <a:spcBef>
                <a:spcPct val="0"/>
              </a:spcBef>
              <a:spcAft>
                <a:spcPct val="0"/>
              </a:spcAft>
            </a:pPr>
            <a:r>
              <a:rPr lang="en-US" altLang="en-US" b="0" dirty="0">
                <a:solidFill>
                  <a:schemeClr val="tx1"/>
                </a:solidFill>
              </a:rPr>
              <a:t/>
            </a:r>
            <a:br>
              <a:rPr lang="en-US" altLang="en-US" b="0" dirty="0">
                <a:solidFill>
                  <a:schemeClr val="tx1"/>
                </a:solidFill>
              </a:rPr>
            </a:br>
            <a:endParaRPr lang="en-US" dirty="0"/>
          </a:p>
        </p:txBody>
      </p:sp>
      <p:sp>
        <p:nvSpPr>
          <p:cNvPr id="9" name="Rectangle 4"/>
          <p:cNvSpPr>
            <a:spLocks noChangeArrowheads="1"/>
          </p:cNvSpPr>
          <p:nvPr/>
        </p:nvSpPr>
        <p:spPr bwMode="auto">
          <a:xfrm>
            <a:off x="304800" y="304800"/>
            <a:ext cx="13004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E3E3E3"/>
                </a:solidFill>
                <a:effectLst/>
                <a:latin typeface="Roboto"/>
              </a:rPr>
              <a:t>Hướng ngang (</a:t>
            </a:r>
            <a:r>
              <a:rPr kumimoji="0" lang="en-US" altLang="en-US" sz="1400" b="0" i="0" u="none" strike="noStrike" cap="none" normalizeH="0" baseline="0">
                <a:ln>
                  <a:noFill/>
                </a:ln>
                <a:solidFill>
                  <a:srgbClr val="E3E3E3"/>
                </a:solidFill>
                <a:effectLst/>
                <a:latin typeface="MathJax_Math-italic"/>
              </a:rPr>
              <a:t>G</a:t>
            </a:r>
            <a:r>
              <a:rPr kumimoji="0" lang="en-US" altLang="en-US" sz="900" b="0" i="0" u="none" strike="noStrike" cap="none" normalizeH="0" baseline="0">
                <a:ln>
                  <a:noFill/>
                </a:ln>
                <a:solidFill>
                  <a:srgbClr val="E3E3E3"/>
                </a:solidFill>
                <a:effectLst/>
                <a:latin typeface="MathJax_Math-italic"/>
              </a:rPr>
              <a:t>x</a:t>
            </a:r>
            <a:r>
              <a:rPr kumimoji="0" lang="en-US" altLang="en-US" sz="1200" b="0" i="0" u="none" strike="noStrike" cap="none" normalizeH="0" baseline="0">
                <a:ln>
                  <a:noFill/>
                </a:ln>
                <a:solidFill>
                  <a:srgbClr val="E3E3E3"/>
                </a:solidFill>
                <a:effectLst/>
                <a:latin typeface="Roboto"/>
              </a:rPr>
              <a:t>): $$ K_x =</a:t>
            </a:r>
            <a:r>
              <a:rPr kumimoji="0" lang="en-US" altLang="en-US" sz="11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7" name="Picture 16"/>
          <p:cNvPicPr>
            <a:picLocks noChangeAspect="1"/>
          </p:cNvPicPr>
          <p:nvPr/>
        </p:nvPicPr>
        <p:blipFill>
          <a:blip r:embed="rId2"/>
          <a:stretch>
            <a:fillRect/>
          </a:stretch>
        </p:blipFill>
        <p:spPr>
          <a:xfrm>
            <a:off x="5095968" y="7470168"/>
            <a:ext cx="1362265" cy="507053"/>
          </a:xfrm>
          <a:prstGeom prst="rect">
            <a:avLst/>
          </a:prstGeom>
        </p:spPr>
      </p:pic>
      <p:pic>
        <p:nvPicPr>
          <p:cNvPr id="2" name="Picture 1"/>
          <p:cNvPicPr>
            <a:picLocks noChangeAspect="1"/>
          </p:cNvPicPr>
          <p:nvPr/>
        </p:nvPicPr>
        <p:blipFill>
          <a:blip r:embed="rId3"/>
          <a:stretch>
            <a:fillRect/>
          </a:stretch>
        </p:blipFill>
        <p:spPr>
          <a:xfrm>
            <a:off x="5419864" y="3284592"/>
            <a:ext cx="724001" cy="533474"/>
          </a:xfrm>
          <a:prstGeom prst="rect">
            <a:avLst/>
          </a:prstGeom>
        </p:spPr>
      </p:pic>
      <p:pic>
        <p:nvPicPr>
          <p:cNvPr id="3" name="Picture 2"/>
          <p:cNvPicPr>
            <a:picLocks noChangeAspect="1"/>
          </p:cNvPicPr>
          <p:nvPr/>
        </p:nvPicPr>
        <p:blipFill>
          <a:blip r:embed="rId4"/>
          <a:stretch>
            <a:fillRect/>
          </a:stretch>
        </p:blipFill>
        <p:spPr>
          <a:xfrm>
            <a:off x="5419864" y="4549771"/>
            <a:ext cx="714475" cy="485843"/>
          </a:xfrm>
          <a:prstGeom prst="rect">
            <a:avLst/>
          </a:prstGeom>
        </p:spPr>
      </p:pic>
    </p:spTree>
    <p:extLst>
      <p:ext uri="{BB962C8B-B14F-4D97-AF65-F5344CB8AC3E}">
        <p14:creationId xmlns:p14="http://schemas.microsoft.com/office/powerpoint/2010/main" val="1227872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008309" y="129582"/>
            <a:ext cx="11888003" cy="1249767"/>
          </a:xfrm>
        </p:spPr>
        <p:txBody>
          <a:bodyPr>
            <a:normAutofit/>
          </a:bodyPr>
          <a:lstStyle/>
          <a:p>
            <a:r>
              <a:rPr lang="en-US" sz="6600" b="1" dirty="0" err="1">
                <a:latin typeface="Constantia" panose="02030602050306030303" pitchFamily="18" charset="0"/>
              </a:rPr>
              <a:t>Các</a:t>
            </a:r>
            <a:r>
              <a:rPr lang="en-US" sz="6600" b="1" dirty="0">
                <a:latin typeface="Constantia" panose="02030602050306030303" pitchFamily="18" charset="0"/>
              </a:rPr>
              <a:t> </a:t>
            </a:r>
            <a:r>
              <a:rPr lang="en-US" sz="6600" b="1" dirty="0" err="1">
                <a:latin typeface="Constantia" panose="02030602050306030303" pitchFamily="18" charset="0"/>
              </a:rPr>
              <a:t>bước</a:t>
            </a:r>
            <a:r>
              <a:rPr lang="en-US" sz="6600" b="1" dirty="0">
                <a:latin typeface="Constantia" panose="02030602050306030303" pitchFamily="18" charset="0"/>
              </a:rPr>
              <a:t> </a:t>
            </a:r>
            <a:r>
              <a:rPr lang="en-US" sz="6600" b="1" dirty="0" err="1">
                <a:latin typeface="Constantia" panose="02030602050306030303" pitchFamily="18" charset="0"/>
              </a:rPr>
              <a:t>thực</a:t>
            </a:r>
            <a:r>
              <a:rPr lang="en-US" sz="6600" b="1" dirty="0">
                <a:latin typeface="Constantia" panose="02030602050306030303" pitchFamily="18" charset="0"/>
              </a:rPr>
              <a:t> </a:t>
            </a:r>
            <a:r>
              <a:rPr lang="en-US" sz="6600" b="1" dirty="0" err="1">
                <a:latin typeface="Constantia" panose="02030602050306030303" pitchFamily="18" charset="0"/>
              </a:rPr>
              <a:t>hiện</a:t>
            </a:r>
            <a:endParaRPr lang="en-US" sz="6600" b="1" dirty="0">
              <a:latin typeface="Constantia" panose="02030602050306030303" pitchFamily="18" charset="0"/>
            </a:endParaRPr>
          </a:p>
        </p:txBody>
      </p:sp>
      <p:sp>
        <p:nvSpPr>
          <p:cNvPr id="2" name="TextBox 1"/>
          <p:cNvSpPr txBox="1"/>
          <p:nvPr/>
        </p:nvSpPr>
        <p:spPr>
          <a:xfrm>
            <a:off x="1008309" y="2819400"/>
            <a:ext cx="10953750" cy="4893647"/>
          </a:xfrm>
          <a:prstGeom prst="rect">
            <a:avLst/>
          </a:prstGeom>
          <a:noFill/>
        </p:spPr>
        <p:txBody>
          <a:bodyPr wrap="square" rtlCol="0">
            <a:spAutoFit/>
          </a:bodyPr>
          <a:lstStyle/>
          <a:p>
            <a:pPr lvl="0" algn="l" defTabSz="914400" eaLnBrk="0" fontAlgn="base">
              <a:spcBef>
                <a:spcPct val="0"/>
              </a:spcBef>
              <a:spcAft>
                <a:spcPct val="0"/>
              </a:spcAft>
              <a:buFontTx/>
              <a:buAutoNum type="arabicPeriod"/>
            </a:pPr>
            <a:r>
              <a:rPr lang="en-US" altLang="en-US" dirty="0">
                <a:solidFill>
                  <a:srgbClr val="1F1F1F"/>
                </a:solidFill>
              </a:rPr>
              <a:t>Tiền </a:t>
            </a:r>
            <a:r>
              <a:rPr lang="en-US" altLang="en-US" dirty="0" err="1">
                <a:solidFill>
                  <a:srgbClr val="1F1F1F"/>
                </a:solidFill>
              </a:rPr>
              <a:t>xử</a:t>
            </a:r>
            <a:r>
              <a:rPr lang="en-US" altLang="en-US" dirty="0">
                <a:solidFill>
                  <a:srgbClr val="1F1F1F"/>
                </a:solidFill>
              </a:rPr>
              <a:t> </a:t>
            </a:r>
            <a:r>
              <a:rPr lang="en-US" altLang="en-US" dirty="0" err="1">
                <a:solidFill>
                  <a:srgbClr val="1F1F1F"/>
                </a:solidFill>
              </a:rPr>
              <a:t>lý</a:t>
            </a:r>
            <a:r>
              <a:rPr lang="en-US" altLang="en-US" dirty="0">
                <a:solidFill>
                  <a:srgbClr val="1F1F1F"/>
                </a:solidFill>
              </a:rPr>
              <a:t>:</a:t>
            </a:r>
            <a:endParaRPr lang="en-US" altLang="en-US" b="0" dirty="0">
              <a:solidFill>
                <a:srgbClr val="1F1F1F"/>
              </a:solidFill>
            </a:endParaRPr>
          </a:p>
          <a:p>
            <a:pPr marL="457200" lvl="1" indent="0" algn="l" defTabSz="914400" eaLnBrk="0" fontAlgn="base">
              <a:spcBef>
                <a:spcPct val="0"/>
              </a:spcBef>
              <a:spcAft>
                <a:spcPct val="0"/>
              </a:spcAft>
              <a:buFontTx/>
              <a:buChar char="•"/>
            </a:pPr>
            <a:r>
              <a:rPr lang="en-US" altLang="en-US" b="0" dirty="0" err="1">
                <a:solidFill>
                  <a:srgbClr val="1F1F1F"/>
                </a:solidFill>
              </a:rPr>
              <a:t>Chuyển</a:t>
            </a:r>
            <a:r>
              <a:rPr lang="en-US" altLang="en-US" b="0" dirty="0">
                <a:solidFill>
                  <a:srgbClr val="1F1F1F"/>
                </a:solidFill>
              </a:rPr>
              <a:t> </a:t>
            </a:r>
            <a:r>
              <a:rPr lang="en-US" altLang="en-US" b="0" dirty="0" err="1">
                <a:solidFill>
                  <a:srgbClr val="1F1F1F"/>
                </a:solidFill>
              </a:rPr>
              <a:t>ảnh</a:t>
            </a:r>
            <a:r>
              <a:rPr lang="en-US" altLang="en-US" b="0" dirty="0">
                <a:solidFill>
                  <a:srgbClr val="1F1F1F"/>
                </a:solidFill>
              </a:rPr>
              <a:t> sang </a:t>
            </a:r>
            <a:r>
              <a:rPr lang="en-US" altLang="en-US" b="0" dirty="0" err="1">
                <a:solidFill>
                  <a:srgbClr val="1F1F1F"/>
                </a:solidFill>
              </a:rPr>
              <a:t>ảnh</a:t>
            </a:r>
            <a:r>
              <a:rPr lang="en-US" altLang="en-US" b="0" dirty="0">
                <a:solidFill>
                  <a:srgbClr val="1F1F1F"/>
                </a:solidFill>
              </a:rPr>
              <a:t> grayscale (</a:t>
            </a:r>
            <a:r>
              <a:rPr lang="en-US" altLang="en-US" b="0" dirty="0" err="1">
                <a:solidFill>
                  <a:srgbClr val="1F1F1F"/>
                </a:solidFill>
              </a:rPr>
              <a:t>nếu</a:t>
            </a:r>
            <a:r>
              <a:rPr lang="en-US" altLang="en-US" b="0" dirty="0">
                <a:solidFill>
                  <a:srgbClr val="1F1F1F"/>
                </a:solidFill>
              </a:rPr>
              <a:t> </a:t>
            </a:r>
            <a:r>
              <a:rPr lang="en-US" altLang="en-US" b="0" dirty="0" err="1">
                <a:solidFill>
                  <a:srgbClr val="1F1F1F"/>
                </a:solidFill>
              </a:rPr>
              <a:t>ảnh</a:t>
            </a:r>
            <a:r>
              <a:rPr lang="en-US" altLang="en-US" b="0" dirty="0">
                <a:solidFill>
                  <a:srgbClr val="1F1F1F"/>
                </a:solidFill>
              </a:rPr>
              <a:t> đầu vào là RGB).</a:t>
            </a:r>
          </a:p>
          <a:p>
            <a:pPr marL="457200" lvl="1" indent="0" algn="l" defTabSz="914400" eaLnBrk="0" fontAlgn="base">
              <a:spcBef>
                <a:spcPct val="0"/>
              </a:spcBef>
              <a:spcAft>
                <a:spcPct val="0"/>
              </a:spcAft>
              <a:buFontTx/>
              <a:buChar char="•"/>
            </a:pPr>
            <a:r>
              <a:rPr lang="en-US" altLang="en-US" b="0" dirty="0">
                <a:solidFill>
                  <a:srgbClr val="1F1F1F"/>
                </a:solidFill>
              </a:rPr>
              <a:t>Có </a:t>
            </a:r>
            <a:r>
              <a:rPr lang="en-US" altLang="en-US" b="0" dirty="0" err="1">
                <a:solidFill>
                  <a:srgbClr val="1F1F1F"/>
                </a:solidFill>
              </a:rPr>
              <a:t>thể</a:t>
            </a:r>
            <a:r>
              <a:rPr lang="en-US" altLang="en-US" b="0" dirty="0">
                <a:solidFill>
                  <a:srgbClr val="1F1F1F"/>
                </a:solidFill>
              </a:rPr>
              <a:t> </a:t>
            </a:r>
            <a:r>
              <a:rPr lang="vi-VN" b="0" dirty="0"/>
              <a:t>áp dụng lọc làm mịn (như Gaussian) để giảm nhiễu trước khi dùng bộ lọc.</a:t>
            </a:r>
            <a:endParaRPr lang="en-US" altLang="en-US" b="0" dirty="0">
              <a:solidFill>
                <a:schemeClr val="tx1"/>
              </a:solidFill>
            </a:endParaRPr>
          </a:p>
          <a:p>
            <a:pPr lvl="0" algn="l" defTabSz="914400" eaLnBrk="0" fontAlgn="base">
              <a:spcBef>
                <a:spcPct val="0"/>
              </a:spcBef>
              <a:spcAft>
                <a:spcPct val="0"/>
              </a:spcAft>
              <a:buFontTx/>
              <a:buAutoNum type="arabicPeriod" startAt="2"/>
            </a:pPr>
            <a:r>
              <a:rPr lang="en-US" altLang="en-US" dirty="0" err="1">
                <a:solidFill>
                  <a:srgbClr val="1F1F1F"/>
                </a:solidFill>
              </a:rPr>
              <a:t>Tích</a:t>
            </a:r>
            <a:r>
              <a:rPr lang="en-US" altLang="en-US" dirty="0">
                <a:solidFill>
                  <a:srgbClr val="1F1F1F"/>
                </a:solidFill>
              </a:rPr>
              <a:t> </a:t>
            </a:r>
            <a:r>
              <a:rPr lang="en-US" altLang="en-US" dirty="0" err="1">
                <a:solidFill>
                  <a:srgbClr val="1F1F1F"/>
                </a:solidFill>
              </a:rPr>
              <a:t>chập</a:t>
            </a:r>
            <a:r>
              <a:rPr lang="en-US" altLang="en-US" dirty="0">
                <a:solidFill>
                  <a:srgbClr val="1F1F1F"/>
                </a:solidFill>
              </a:rPr>
              <a:t>:</a:t>
            </a:r>
            <a:endParaRPr lang="en-US" altLang="en-US" b="0" dirty="0">
              <a:solidFill>
                <a:srgbClr val="1F1F1F"/>
              </a:solidFill>
            </a:endParaRPr>
          </a:p>
          <a:p>
            <a:pPr marL="457200" lvl="1" indent="0" algn="l" defTabSz="914400" eaLnBrk="0" fontAlgn="base">
              <a:spcBef>
                <a:spcPct val="0"/>
              </a:spcBef>
              <a:spcAft>
                <a:spcPct val="0"/>
              </a:spcAft>
              <a:buFontTx/>
              <a:buChar char="•"/>
            </a:pPr>
            <a:r>
              <a:rPr lang="en-US" altLang="en-US" b="0" dirty="0" err="1">
                <a:solidFill>
                  <a:srgbClr val="1F1F1F"/>
                </a:solidFill>
              </a:rPr>
              <a:t>Áp</a:t>
            </a:r>
            <a:r>
              <a:rPr lang="en-US" altLang="en-US" b="0" dirty="0">
                <a:solidFill>
                  <a:srgbClr val="1F1F1F"/>
                </a:solidFill>
              </a:rPr>
              <a:t> </a:t>
            </a:r>
            <a:r>
              <a:rPr lang="en-US" altLang="en-US" b="0" dirty="0" err="1">
                <a:solidFill>
                  <a:srgbClr val="1F1F1F"/>
                </a:solidFill>
              </a:rPr>
              <a:t>dụng</a:t>
            </a:r>
            <a:r>
              <a:rPr lang="en-US" altLang="en-US" b="0" dirty="0">
                <a:solidFill>
                  <a:srgbClr val="1F1F1F"/>
                </a:solidFill>
              </a:rPr>
              <a:t> </a:t>
            </a:r>
            <a:r>
              <a:rPr lang="en-US" altLang="en-US" b="0" dirty="0" err="1">
                <a:solidFill>
                  <a:srgbClr val="1F1F1F"/>
                </a:solidFill>
              </a:rPr>
              <a:t>Kx</a:t>
            </a:r>
            <a:r>
              <a:rPr lang="en-US" altLang="en-US" b="0" dirty="0">
                <a:solidFill>
                  <a:srgbClr val="1F1F1F"/>
                </a:solidFill>
              </a:rPr>
              <a:t> </a:t>
            </a:r>
            <a:r>
              <a:rPr lang="en-US" altLang="en-US" b="0" dirty="0" err="1">
                <a:solidFill>
                  <a:srgbClr val="1F1F1F"/>
                </a:solidFill>
              </a:rPr>
              <a:t>và</a:t>
            </a:r>
            <a:r>
              <a:rPr lang="en-US" altLang="en-US" b="0" dirty="0">
                <a:solidFill>
                  <a:srgbClr val="1F1F1F"/>
                </a:solidFill>
              </a:rPr>
              <a:t> </a:t>
            </a:r>
            <a:r>
              <a:rPr lang="en-US" altLang="en-US" b="0" dirty="0" err="1">
                <a:solidFill>
                  <a:srgbClr val="1F1F1F"/>
                </a:solidFill>
              </a:rPr>
              <a:t>Ky</a:t>
            </a:r>
            <a:r>
              <a:rPr lang="en-US" altLang="en-US" b="0" dirty="0">
                <a:solidFill>
                  <a:srgbClr val="1F1F1F"/>
                </a:solidFill>
              </a:rPr>
              <a:t> lên </a:t>
            </a:r>
            <a:r>
              <a:rPr lang="en-US" altLang="en-US" b="0" dirty="0" err="1">
                <a:solidFill>
                  <a:srgbClr val="1F1F1F"/>
                </a:solidFill>
              </a:rPr>
              <a:t>ảnh</a:t>
            </a:r>
            <a:r>
              <a:rPr lang="en-US" altLang="en-US" b="0" dirty="0">
                <a:solidFill>
                  <a:srgbClr val="1F1F1F"/>
                </a:solidFill>
              </a:rPr>
              <a:t> </a:t>
            </a:r>
            <a:r>
              <a:rPr lang="en-US" altLang="en-US" b="0" dirty="0" err="1">
                <a:solidFill>
                  <a:srgbClr val="1F1F1F"/>
                </a:solidFill>
              </a:rPr>
              <a:t>bằng</a:t>
            </a:r>
            <a:r>
              <a:rPr lang="en-US" altLang="en-US" b="0" dirty="0">
                <a:solidFill>
                  <a:srgbClr val="1F1F1F"/>
                </a:solidFill>
              </a:rPr>
              <a:t> </a:t>
            </a:r>
            <a:r>
              <a:rPr lang="en-US" altLang="en-US" b="0" dirty="0" err="1">
                <a:solidFill>
                  <a:srgbClr val="1F1F1F"/>
                </a:solidFill>
              </a:rPr>
              <a:t>tích</a:t>
            </a:r>
            <a:r>
              <a:rPr lang="en-US" altLang="en-US" b="0" dirty="0">
                <a:solidFill>
                  <a:srgbClr val="1F1F1F"/>
                </a:solidFill>
              </a:rPr>
              <a:t> </a:t>
            </a:r>
            <a:r>
              <a:rPr lang="en-US" altLang="en-US" b="0" dirty="0" err="1">
                <a:solidFill>
                  <a:srgbClr val="1F1F1F"/>
                </a:solidFill>
              </a:rPr>
              <a:t>chập</a:t>
            </a:r>
            <a:r>
              <a:rPr lang="en-US" altLang="en-US" b="0" dirty="0">
                <a:solidFill>
                  <a:srgbClr val="1F1F1F"/>
                </a:solidFill>
              </a:rPr>
              <a:t> để tính Gradient.</a:t>
            </a:r>
          </a:p>
          <a:p>
            <a:pPr marL="457200" lvl="1" indent="0" algn="l" defTabSz="914400" eaLnBrk="0" fontAlgn="base">
              <a:spcBef>
                <a:spcPct val="0"/>
              </a:spcBef>
              <a:spcAft>
                <a:spcPct val="0"/>
              </a:spcAft>
              <a:buFontTx/>
              <a:buChar char="•"/>
            </a:pPr>
            <a:endParaRPr lang="en-US" altLang="en-US" b="0" dirty="0">
              <a:solidFill>
                <a:srgbClr val="1F1F1F"/>
              </a:solidFill>
            </a:endParaRPr>
          </a:p>
          <a:p>
            <a:pPr lvl="0" algn="l" defTabSz="914400" eaLnBrk="0" fontAlgn="base">
              <a:spcBef>
                <a:spcPct val="0"/>
              </a:spcBef>
              <a:spcAft>
                <a:spcPct val="0"/>
              </a:spcAft>
              <a:buFontTx/>
              <a:buAutoNum type="arabicPeriod" startAt="3"/>
            </a:pPr>
            <a:r>
              <a:rPr lang="en-US" altLang="en-US" dirty="0">
                <a:solidFill>
                  <a:srgbClr val="1F1F1F"/>
                </a:solidFill>
              </a:rPr>
              <a:t>Tính </a:t>
            </a:r>
            <a:r>
              <a:rPr lang="en-US" altLang="en-US" dirty="0" err="1">
                <a:solidFill>
                  <a:srgbClr val="1F1F1F"/>
                </a:solidFill>
              </a:rPr>
              <a:t>độ</a:t>
            </a:r>
            <a:r>
              <a:rPr lang="en-US" altLang="en-US" dirty="0">
                <a:solidFill>
                  <a:srgbClr val="1F1F1F"/>
                </a:solidFill>
              </a:rPr>
              <a:t> </a:t>
            </a:r>
            <a:r>
              <a:rPr lang="en-US" altLang="en-US" dirty="0" err="1">
                <a:solidFill>
                  <a:srgbClr val="1F1F1F"/>
                </a:solidFill>
              </a:rPr>
              <a:t>lớn</a:t>
            </a:r>
            <a:r>
              <a:rPr lang="en-US" altLang="en-US" dirty="0">
                <a:solidFill>
                  <a:srgbClr val="1F1F1F"/>
                </a:solidFill>
              </a:rPr>
              <a:t> </a:t>
            </a:r>
            <a:r>
              <a:rPr lang="en-US" altLang="en-US" dirty="0" err="1">
                <a:solidFill>
                  <a:srgbClr val="1F1F1F"/>
                </a:solidFill>
              </a:rPr>
              <a:t>biên</a:t>
            </a:r>
            <a:r>
              <a:rPr lang="en-US" altLang="en-US" dirty="0">
                <a:solidFill>
                  <a:srgbClr val="1F1F1F"/>
                </a:solidFill>
              </a:rPr>
              <a:t>:</a:t>
            </a:r>
            <a:endParaRPr lang="en-US" altLang="en-US" b="0" dirty="0">
              <a:solidFill>
                <a:srgbClr val="1F1F1F"/>
              </a:solidFill>
            </a:endParaRPr>
          </a:p>
          <a:p>
            <a:pPr marL="457200" lvl="1" indent="0" algn="l" defTabSz="914400" eaLnBrk="0" fontAlgn="base">
              <a:spcBef>
                <a:spcPct val="0"/>
              </a:spcBef>
              <a:spcAft>
                <a:spcPct val="0"/>
              </a:spcAft>
              <a:buFontTx/>
              <a:buChar char="•"/>
            </a:pPr>
            <a:r>
              <a:rPr lang="en-US" altLang="en-US" b="0" dirty="0" err="1">
                <a:solidFill>
                  <a:srgbClr val="1F1F1F"/>
                </a:solidFill>
              </a:rPr>
              <a:t>Kết</a:t>
            </a:r>
            <a:r>
              <a:rPr lang="en-US" altLang="en-US" b="0" dirty="0">
                <a:solidFill>
                  <a:srgbClr val="1F1F1F"/>
                </a:solidFill>
              </a:rPr>
              <a:t> </a:t>
            </a:r>
            <a:r>
              <a:rPr lang="en-US" altLang="en-US" b="0" dirty="0" err="1">
                <a:solidFill>
                  <a:srgbClr val="1F1F1F"/>
                </a:solidFill>
              </a:rPr>
              <a:t>hợp</a:t>
            </a:r>
            <a:r>
              <a:rPr lang="en-US" altLang="en-US" b="0" dirty="0">
                <a:solidFill>
                  <a:srgbClr val="1F1F1F"/>
                </a:solidFill>
              </a:rPr>
              <a:t> </a:t>
            </a:r>
            <a:r>
              <a:rPr lang="en-US" altLang="en-US" b="0" dirty="0" err="1">
                <a:solidFill>
                  <a:srgbClr val="1F1F1F"/>
                </a:solidFill>
              </a:rPr>
              <a:t>Gx</a:t>
            </a:r>
            <a:r>
              <a:rPr lang="en-US" altLang="en-US" b="0" dirty="0">
                <a:solidFill>
                  <a:srgbClr val="1F1F1F"/>
                </a:solidFill>
              </a:rPr>
              <a:t> </a:t>
            </a:r>
            <a:r>
              <a:rPr lang="en-US" altLang="en-US" b="0" dirty="0" err="1">
                <a:solidFill>
                  <a:srgbClr val="1F1F1F"/>
                </a:solidFill>
              </a:rPr>
              <a:t>và</a:t>
            </a:r>
            <a:r>
              <a:rPr lang="en-US" altLang="en-US" b="0" dirty="0">
                <a:solidFill>
                  <a:srgbClr val="1F1F1F"/>
                </a:solidFill>
              </a:rPr>
              <a:t> </a:t>
            </a:r>
            <a:r>
              <a:rPr lang="en-US" altLang="en-US" b="0" dirty="0" err="1">
                <a:solidFill>
                  <a:srgbClr val="1F1F1F"/>
                </a:solidFill>
              </a:rPr>
              <a:t>Gy</a:t>
            </a:r>
            <a:r>
              <a:rPr lang="en-US" altLang="en-US" b="0" dirty="0">
                <a:solidFill>
                  <a:srgbClr val="1F1F1F"/>
                </a:solidFill>
              </a:rPr>
              <a:t> để </a:t>
            </a:r>
            <a:r>
              <a:rPr lang="en-US" altLang="en-US" b="0" dirty="0" err="1">
                <a:solidFill>
                  <a:srgbClr val="1F1F1F"/>
                </a:solidFill>
              </a:rPr>
              <a:t>xác</a:t>
            </a:r>
            <a:r>
              <a:rPr lang="en-US" altLang="en-US" b="0" dirty="0">
                <a:solidFill>
                  <a:srgbClr val="1F1F1F"/>
                </a:solidFill>
              </a:rPr>
              <a:t> </a:t>
            </a:r>
            <a:r>
              <a:rPr lang="en-US" altLang="en-US" b="0" dirty="0" err="1">
                <a:solidFill>
                  <a:srgbClr val="1F1F1F"/>
                </a:solidFill>
              </a:rPr>
              <a:t>định</a:t>
            </a:r>
            <a:r>
              <a:rPr lang="en-US" altLang="en-US" b="0" dirty="0">
                <a:solidFill>
                  <a:srgbClr val="1F1F1F"/>
                </a:solidFill>
              </a:rPr>
              <a:t> </a:t>
            </a:r>
            <a:r>
              <a:rPr lang="en-US" altLang="en-US" b="0" dirty="0" err="1">
                <a:solidFill>
                  <a:srgbClr val="1F1F1F"/>
                </a:solidFill>
              </a:rPr>
              <a:t>biên</a:t>
            </a:r>
            <a:r>
              <a:rPr lang="en-US" altLang="en-US" b="0" dirty="0">
                <a:solidFill>
                  <a:srgbClr val="1F1F1F"/>
                </a:solidFill>
              </a:rPr>
              <a:t>.</a:t>
            </a:r>
          </a:p>
          <a:p>
            <a:pPr marL="457200" lvl="1" indent="0" algn="l" defTabSz="914400" eaLnBrk="0" fontAlgn="base">
              <a:spcBef>
                <a:spcPct val="0"/>
              </a:spcBef>
              <a:spcAft>
                <a:spcPct val="0"/>
              </a:spcAft>
              <a:buFontTx/>
              <a:buChar char="•"/>
            </a:pPr>
            <a:endParaRPr lang="en-US" altLang="en-US" b="0" dirty="0">
              <a:solidFill>
                <a:srgbClr val="1F1F1F"/>
              </a:solidFill>
            </a:endParaRPr>
          </a:p>
          <a:p>
            <a:pPr lvl="0" algn="l" defTabSz="914400" eaLnBrk="0" fontAlgn="base">
              <a:spcBef>
                <a:spcPct val="0"/>
              </a:spcBef>
              <a:spcAft>
                <a:spcPct val="0"/>
              </a:spcAft>
              <a:buFontTx/>
              <a:buAutoNum type="arabicPeriod" startAt="4"/>
            </a:pPr>
            <a:r>
              <a:rPr lang="en-US" altLang="en-US" dirty="0" err="1">
                <a:solidFill>
                  <a:srgbClr val="1F1F1F"/>
                </a:solidFill>
              </a:rPr>
              <a:t>Ngưỡng</a:t>
            </a:r>
            <a:r>
              <a:rPr lang="en-US" altLang="en-US" dirty="0">
                <a:solidFill>
                  <a:srgbClr val="1F1F1F"/>
                </a:solidFill>
              </a:rPr>
              <a:t> </a:t>
            </a:r>
            <a:r>
              <a:rPr lang="en-US" altLang="en-US" dirty="0" err="1">
                <a:solidFill>
                  <a:srgbClr val="1F1F1F"/>
                </a:solidFill>
              </a:rPr>
              <a:t>hóa</a:t>
            </a:r>
            <a:r>
              <a:rPr lang="en-US" altLang="en-US" dirty="0">
                <a:solidFill>
                  <a:srgbClr val="1F1F1F"/>
                </a:solidFill>
              </a:rPr>
              <a:t> (</a:t>
            </a:r>
            <a:r>
              <a:rPr lang="en-US" altLang="en-US" dirty="0" err="1">
                <a:solidFill>
                  <a:srgbClr val="1F1F1F"/>
                </a:solidFill>
              </a:rPr>
              <a:t>Thresholding</a:t>
            </a:r>
            <a:r>
              <a:rPr lang="en-US" altLang="en-US" dirty="0">
                <a:solidFill>
                  <a:srgbClr val="1F1F1F"/>
                </a:solidFill>
              </a:rPr>
              <a:t>):</a:t>
            </a:r>
            <a:endParaRPr lang="en-US" altLang="en-US" b="0" dirty="0">
              <a:solidFill>
                <a:srgbClr val="1F1F1F"/>
              </a:solidFill>
            </a:endParaRPr>
          </a:p>
          <a:p>
            <a:pPr marL="457200" lvl="1" indent="0" algn="l" defTabSz="914400" eaLnBrk="0" fontAlgn="base">
              <a:spcBef>
                <a:spcPct val="0"/>
              </a:spcBef>
              <a:spcAft>
                <a:spcPct val="0"/>
              </a:spcAft>
              <a:buFontTx/>
              <a:buChar char="•"/>
            </a:pPr>
            <a:r>
              <a:rPr lang="en-US" altLang="en-US" b="0" dirty="0" err="1">
                <a:solidFill>
                  <a:srgbClr val="1F1F1F"/>
                </a:solidFill>
              </a:rPr>
              <a:t>Chỉ</a:t>
            </a:r>
            <a:r>
              <a:rPr lang="en-US" altLang="en-US" b="0" dirty="0">
                <a:solidFill>
                  <a:srgbClr val="1F1F1F"/>
                </a:solidFill>
              </a:rPr>
              <a:t> </a:t>
            </a:r>
            <a:r>
              <a:rPr lang="vi-VN" b="0" dirty="0"/>
              <a:t>giữ lại các điểm biên có độ lớn vượt qua một giá trị ngưỡng nhất định.</a:t>
            </a:r>
          </a:p>
          <a:p>
            <a:pPr marL="457200" lvl="1" indent="0" algn="l" defTabSz="914400" eaLnBrk="0" fontAlgn="base">
              <a:spcBef>
                <a:spcPct val="0"/>
              </a:spcBef>
              <a:spcAft>
                <a:spcPct val="0"/>
              </a:spcAft>
              <a:buFontTx/>
              <a:buChar char="•"/>
            </a:pPr>
            <a:endParaRPr lang="en-US" altLang="en-US" b="0" dirty="0">
              <a:solidFill>
                <a:srgbClr val="1F1F1F"/>
              </a:solidFill>
            </a:endParaRPr>
          </a:p>
        </p:txBody>
      </p:sp>
    </p:spTree>
    <p:extLst>
      <p:ext uri="{BB962C8B-B14F-4D97-AF65-F5344CB8AC3E}">
        <p14:creationId xmlns:p14="http://schemas.microsoft.com/office/powerpoint/2010/main" val="15074605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076450" y="190500"/>
            <a:ext cx="8172450" cy="9233297"/>
          </a:xfrm>
          <a:prstGeom prst="rect">
            <a:avLst/>
          </a:prstGeom>
        </p:spPr>
        <p:txBody>
          <a:bodyPr wrap="square">
            <a:spAutoFit/>
          </a:bodyPr>
          <a:lstStyle/>
          <a:p>
            <a:pPr algn="l"/>
            <a:r>
              <a:rPr lang="vi-VN" sz="5400" dirty="0">
                <a:solidFill>
                  <a:srgbClr val="1F1F1F"/>
                </a:solidFill>
              </a:rPr>
              <a:t>Ưu điểm</a:t>
            </a:r>
            <a:endParaRPr lang="en-US" b="0" dirty="0">
              <a:solidFill>
                <a:srgbClr val="1F1F1F"/>
              </a:solidFill>
            </a:endParaRPr>
          </a:p>
          <a:p>
            <a:pPr algn="l"/>
            <a:r>
              <a:rPr lang="en-US" b="0" dirty="0">
                <a:solidFill>
                  <a:srgbClr val="1F1F1F"/>
                </a:solidFill>
              </a:rPr>
              <a:t>-</a:t>
            </a:r>
            <a:r>
              <a:rPr lang="vi-VN" b="0" dirty="0">
                <a:solidFill>
                  <a:srgbClr val="1F1F1F"/>
                </a:solidFill>
              </a:rPr>
              <a:t>Đơn giản</a:t>
            </a:r>
            <a:r>
              <a:rPr lang="en-US" b="0" dirty="0">
                <a:solidFill>
                  <a:srgbClr val="1F1F1F"/>
                </a:solidFill>
              </a:rPr>
              <a:t> </a:t>
            </a:r>
            <a:r>
              <a:rPr lang="vi-VN" b="0" dirty="0">
                <a:solidFill>
                  <a:srgbClr val="1F1F1F"/>
                </a:solidFill>
              </a:rPr>
              <a:t>và hiệu quả.</a:t>
            </a:r>
            <a:endParaRPr lang="en-US" b="0" dirty="0">
              <a:solidFill>
                <a:srgbClr val="1F1F1F"/>
              </a:solidFill>
            </a:endParaRPr>
          </a:p>
          <a:p>
            <a:pPr algn="l">
              <a:buFont typeface="Arial" panose="020B0604020202020204" pitchFamily="34" charset="0"/>
              <a:buChar char="•"/>
            </a:pPr>
            <a:endParaRPr lang="vi-VN" b="0" dirty="0">
              <a:solidFill>
                <a:srgbClr val="1F1F1F"/>
              </a:solidFill>
            </a:endParaRPr>
          </a:p>
          <a:p>
            <a:pPr algn="l"/>
            <a:r>
              <a:rPr lang="en-US" b="0" dirty="0">
                <a:solidFill>
                  <a:srgbClr val="1F1F1F"/>
                </a:solidFill>
              </a:rPr>
              <a:t>-</a:t>
            </a:r>
            <a:r>
              <a:rPr lang="vi-VN" b="0" dirty="0"/>
              <a:t>Kernel nhỏ (2x2), tính toán nhanh hơn so với các phương pháp phức tạp hơn (Sobel hoặc Canny).</a:t>
            </a:r>
            <a:endParaRPr lang="en-US" b="0" dirty="0"/>
          </a:p>
          <a:p>
            <a:pPr algn="l"/>
            <a:endParaRPr lang="vi-VN" b="0" dirty="0"/>
          </a:p>
          <a:p>
            <a:pPr algn="l"/>
            <a:r>
              <a:rPr lang="vi-VN" sz="5400" dirty="0">
                <a:solidFill>
                  <a:srgbClr val="1F1F1F"/>
                </a:solidFill>
              </a:rPr>
              <a:t>Nhược điểm</a:t>
            </a:r>
            <a:endParaRPr lang="en-US" b="0" dirty="0">
              <a:solidFill>
                <a:srgbClr val="1F1F1F"/>
              </a:solidFill>
            </a:endParaRPr>
          </a:p>
          <a:p>
            <a:pPr algn="l"/>
            <a:r>
              <a:rPr lang="en-US" b="0" dirty="0">
                <a:solidFill>
                  <a:srgbClr val="1F1F1F"/>
                </a:solidFill>
              </a:rPr>
              <a:t>-</a:t>
            </a:r>
            <a:r>
              <a:rPr lang="vi-VN" b="0" dirty="0"/>
              <a:t>Không làm mịn ảnh trước khi phát hiện biên, dẫn đến nhạy cảm với nhiễu.</a:t>
            </a:r>
            <a:endParaRPr lang="en-US" b="0" dirty="0"/>
          </a:p>
          <a:p>
            <a:pPr algn="l"/>
            <a:endParaRPr lang="vi-VN" b="0" dirty="0"/>
          </a:p>
          <a:p>
            <a:pPr algn="l"/>
            <a:r>
              <a:rPr lang="en-US" b="0" dirty="0"/>
              <a:t>-</a:t>
            </a:r>
            <a:r>
              <a:rPr lang="vi-VN" b="0" dirty="0"/>
              <a:t>Không phát hiện tốt các biên mờ hoặc biên cong phức tạp.</a:t>
            </a:r>
            <a:endParaRPr lang="en-US" b="0" dirty="0"/>
          </a:p>
          <a:p>
            <a:pPr algn="l"/>
            <a:endParaRPr lang="vi-VN" b="0" dirty="0"/>
          </a:p>
          <a:p>
            <a:pPr algn="l"/>
            <a:r>
              <a:rPr lang="en-US" b="0" dirty="0"/>
              <a:t>-</a:t>
            </a:r>
            <a:r>
              <a:rPr lang="vi-VN" b="0" dirty="0"/>
              <a:t>Khó xử lý ảnh kích thước lớn vì kernel quá nhỏ.</a:t>
            </a:r>
            <a:endParaRPr lang="en-US" b="0" dirty="0"/>
          </a:p>
          <a:p>
            <a:pPr algn="l"/>
            <a:endParaRPr lang="vi-VN" b="0" dirty="0"/>
          </a:p>
          <a:p>
            <a:pPr algn="l"/>
            <a:r>
              <a:rPr lang="vi-VN" sz="5400" dirty="0"/>
              <a:t>Ứng dụng</a:t>
            </a:r>
            <a:endParaRPr lang="en-US" sz="5400" b="0" dirty="0"/>
          </a:p>
          <a:p>
            <a:pPr algn="l"/>
            <a:r>
              <a:rPr lang="en-US" b="0" dirty="0"/>
              <a:t>-</a:t>
            </a:r>
            <a:r>
              <a:rPr lang="vi-VN" b="0" dirty="0"/>
              <a:t>Phát hiện biên</a:t>
            </a:r>
            <a:r>
              <a:rPr lang="en-US" b="0" dirty="0"/>
              <a:t> trong </a:t>
            </a:r>
            <a:r>
              <a:rPr lang="en-US" b="0" dirty="0" err="1"/>
              <a:t>ảnh</a:t>
            </a:r>
            <a:r>
              <a:rPr lang="en-US" b="0" dirty="0"/>
              <a:t> </a:t>
            </a:r>
            <a:r>
              <a:rPr lang="en-US" b="0" dirty="0" err="1"/>
              <a:t>đơn</a:t>
            </a:r>
            <a:r>
              <a:rPr lang="en-US" b="0" dirty="0"/>
              <a:t> </a:t>
            </a:r>
            <a:r>
              <a:rPr lang="en-US" b="0" dirty="0" err="1"/>
              <a:t>giản</a:t>
            </a:r>
            <a:endParaRPr lang="en-US" b="0" dirty="0"/>
          </a:p>
          <a:p>
            <a:pPr algn="l"/>
            <a:endParaRPr lang="vi-VN" b="0" dirty="0"/>
          </a:p>
          <a:p>
            <a:pPr algn="l"/>
            <a:r>
              <a:rPr lang="en-US" b="0" dirty="0"/>
              <a:t>-</a:t>
            </a:r>
            <a:r>
              <a:rPr lang="vi-VN" b="0" dirty="0"/>
              <a:t>Tiền xử lý trong các bài to</a:t>
            </a:r>
            <a:r>
              <a:rPr lang="en-US" b="0" dirty="0" err="1"/>
              <a:t>án</a:t>
            </a:r>
            <a:r>
              <a:rPr lang="en-US" b="0" dirty="0"/>
              <a:t> </a:t>
            </a:r>
            <a:r>
              <a:rPr lang="en-US" b="0" dirty="0" err="1"/>
              <a:t>xử</a:t>
            </a:r>
            <a:r>
              <a:rPr lang="en-US" b="0" dirty="0"/>
              <a:t> </a:t>
            </a:r>
            <a:r>
              <a:rPr lang="en-US" b="0" dirty="0" err="1"/>
              <a:t>lý</a:t>
            </a:r>
            <a:r>
              <a:rPr lang="en-US" b="0" dirty="0"/>
              <a:t> </a:t>
            </a:r>
            <a:r>
              <a:rPr lang="en-US" b="0" dirty="0" err="1"/>
              <a:t>ảnh</a:t>
            </a:r>
            <a:r>
              <a:rPr lang="en-US" b="0" dirty="0"/>
              <a:t> </a:t>
            </a:r>
            <a:r>
              <a:rPr lang="en-US" b="0" dirty="0" err="1"/>
              <a:t>cơ</a:t>
            </a:r>
            <a:r>
              <a:rPr lang="en-US" b="0" dirty="0"/>
              <a:t> </a:t>
            </a:r>
            <a:r>
              <a:rPr lang="en-US" b="0" dirty="0" err="1"/>
              <a:t>bản</a:t>
            </a:r>
            <a:r>
              <a:rPr lang="en-US" b="0" dirty="0"/>
              <a:t> </a:t>
            </a:r>
            <a:r>
              <a:rPr lang="en-US" b="0" dirty="0" err="1"/>
              <a:t>hoặc</a:t>
            </a:r>
            <a:r>
              <a:rPr lang="en-US" b="0" dirty="0"/>
              <a:t> </a:t>
            </a:r>
            <a:r>
              <a:rPr lang="en-US" b="0" dirty="0" err="1"/>
              <a:t>thời</a:t>
            </a:r>
            <a:r>
              <a:rPr lang="en-US" b="0" dirty="0"/>
              <a:t> </a:t>
            </a:r>
            <a:r>
              <a:rPr lang="en-US" b="0" dirty="0" err="1"/>
              <a:t>gian</a:t>
            </a:r>
            <a:r>
              <a:rPr lang="en-US" b="0" dirty="0"/>
              <a:t> </a:t>
            </a:r>
            <a:r>
              <a:rPr lang="en-US" b="0" dirty="0" err="1"/>
              <a:t>thực</a:t>
            </a:r>
            <a:endParaRPr lang="vi-VN" b="0" dirty="0"/>
          </a:p>
          <a:p>
            <a:pPr algn="l">
              <a:buFont typeface="Arial" panose="020B0604020202020204" pitchFamily="34" charset="0"/>
              <a:buChar char="•"/>
            </a:pPr>
            <a:endParaRPr lang="vi-VN" b="0" dirty="0">
              <a:solidFill>
                <a:srgbClr val="1F1F1F"/>
              </a:solidFill>
            </a:endParaRPr>
          </a:p>
        </p:txBody>
      </p:sp>
    </p:spTree>
    <p:extLst>
      <p:ext uri="{BB962C8B-B14F-4D97-AF65-F5344CB8AC3E}">
        <p14:creationId xmlns:p14="http://schemas.microsoft.com/office/powerpoint/2010/main" val="25769513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953250" y="1752600"/>
            <a:ext cx="5295900" cy="5632311"/>
          </a:xfrm>
          <a:prstGeom prst="rect">
            <a:avLst/>
          </a:prstGeom>
          <a:noFill/>
        </p:spPr>
        <p:txBody>
          <a:bodyPr wrap="square" rtlCol="0">
            <a:spAutoFit/>
          </a:bodyPr>
          <a:lstStyle/>
          <a:p>
            <a:pPr marL="0" marR="0" lvl="0" indent="0" algn="l" defTabSz="584200" rtl="0" eaLnBrk="1" fontAlgn="auto" latinLnBrk="0" hangingPunct="0">
              <a:lnSpc>
                <a:spcPct val="100000"/>
              </a:lnSpc>
              <a:spcBef>
                <a:spcPts val="0"/>
              </a:spcBef>
              <a:spcAft>
                <a:spcPts val="0"/>
              </a:spcAft>
              <a:buClrTx/>
              <a:buSzTx/>
              <a:buFontTx/>
              <a:buNone/>
              <a:tabLst/>
              <a:defRPr/>
            </a:pPr>
            <a:r>
              <a:rPr kumimoji="0" lang="en-US" sz="6000" b="1" i="0" u="none" strike="noStrike" kern="0" cap="none" spc="0" normalizeH="0" baseline="0" noProof="0" dirty="0" err="1">
                <a:ln>
                  <a:noFill/>
                </a:ln>
                <a:solidFill>
                  <a:srgbClr val="000000"/>
                </a:solidFill>
                <a:effectLst/>
                <a:uLnTx/>
                <a:uFillTx/>
                <a:latin typeface="Helvetica Neue"/>
                <a:sym typeface="Helvetica Neue"/>
              </a:rPr>
              <a:t>Toán</a:t>
            </a:r>
            <a:r>
              <a:rPr kumimoji="0" lang="en-US" sz="6000" b="1" i="0" u="none" strike="noStrike" kern="0" cap="none" spc="0" normalizeH="0" baseline="0" noProof="0" dirty="0">
                <a:ln>
                  <a:noFill/>
                </a:ln>
                <a:solidFill>
                  <a:srgbClr val="000000"/>
                </a:solidFill>
                <a:effectLst/>
                <a:uLnTx/>
                <a:uFillTx/>
                <a:latin typeface="Helvetica Neue"/>
                <a:sym typeface="Helvetica Neue"/>
              </a:rPr>
              <a:t> </a:t>
            </a:r>
            <a:r>
              <a:rPr kumimoji="0" lang="en-US" sz="6000" b="1" i="0" u="none" strike="noStrike" kern="0" cap="none" spc="0" normalizeH="0" baseline="0" noProof="0" dirty="0" err="1">
                <a:ln>
                  <a:noFill/>
                </a:ln>
                <a:solidFill>
                  <a:srgbClr val="000000"/>
                </a:solidFill>
                <a:effectLst/>
                <a:uLnTx/>
                <a:uFillTx/>
                <a:latin typeface="Helvetica Neue"/>
                <a:sym typeface="Helvetica Neue"/>
              </a:rPr>
              <a:t>tử</a:t>
            </a:r>
            <a:r>
              <a:rPr kumimoji="0" lang="en-US" sz="6000" b="1" i="0" u="none" strike="noStrike" kern="0" cap="none" spc="0" normalizeH="0" baseline="0" noProof="0" dirty="0">
                <a:ln>
                  <a:noFill/>
                </a:ln>
                <a:solidFill>
                  <a:srgbClr val="000000"/>
                </a:solidFill>
                <a:effectLst/>
                <a:uLnTx/>
                <a:uFillTx/>
                <a:latin typeface="Helvetica Neue"/>
                <a:sym typeface="Helvetica Neue"/>
              </a:rPr>
              <a:t> Prewitt</a:t>
            </a:r>
          </a:p>
          <a:p>
            <a:pPr marL="0" marR="0" lvl="0" indent="0" algn="l" defTabSz="584200" rtl="0" eaLnBrk="1"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Helvetica Neue"/>
              <a:sym typeface="Helvetica Neue"/>
            </a:endParaRPr>
          </a:p>
          <a:p>
            <a:pPr lvl="0" algn="l"/>
            <a:r>
              <a:rPr lang="vi-VN" b="0" dirty="0"/>
              <a:t>Bộ lọc Prewitt là một loại bộ lọc đạo hàm được sử dụng trong xử lý ảnh, nhằm phát hiện biên (edges) trong hình ảnh. </a:t>
            </a:r>
            <a:endParaRPr lang="en-US" b="0" dirty="0"/>
          </a:p>
          <a:p>
            <a:pPr lvl="0" algn="l"/>
            <a:r>
              <a:rPr lang="vi-VN" b="0" dirty="0"/>
              <a:t>Bộ lọc này là một dạng của bộ lọc gradient, có nhiệm vụ làm nổi bật sự thay đổi cường độ sáng của pixel trong ảnh, giúp phát hiện các biên hoặc sự thay đổi trong hình ảnh.</a:t>
            </a:r>
            <a:endParaRPr kumimoji="0" lang="en-US" sz="2400" b="1" i="0" u="none" strike="noStrike" kern="0" cap="none" spc="0" normalizeH="0" baseline="0" noProof="0" dirty="0">
              <a:ln>
                <a:noFill/>
              </a:ln>
              <a:solidFill>
                <a:srgbClr val="000000"/>
              </a:solidFill>
              <a:effectLst/>
              <a:uLnTx/>
              <a:uFillTx/>
              <a:latin typeface="Helvetica Neue"/>
              <a:sym typeface="Helvetica Neue"/>
            </a:endParaRPr>
          </a:p>
        </p:txBody>
      </p:sp>
      <p:pic>
        <p:nvPicPr>
          <p:cNvPr id="4" name="Picture 3" descr="A collage of images of a person and a camera&#10;&#10;AI-generated content may be incorrect."/>
          <p:cNvPicPr/>
          <p:nvPr/>
        </p:nvPicPr>
        <p:blipFill>
          <a:blip r:embed="rId2"/>
          <a:stretch>
            <a:fillRect/>
          </a:stretch>
        </p:blipFill>
        <p:spPr>
          <a:xfrm>
            <a:off x="607695" y="1752600"/>
            <a:ext cx="5731510" cy="6877050"/>
          </a:xfrm>
          <a:prstGeom prst="rect">
            <a:avLst/>
          </a:prstGeom>
        </p:spPr>
      </p:pic>
    </p:spTree>
    <p:extLst>
      <p:ext uri="{BB962C8B-B14F-4D97-AF65-F5344CB8AC3E}">
        <p14:creationId xmlns:p14="http://schemas.microsoft.com/office/powerpoint/2010/main" val="11031458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1008309" y="129582"/>
            <a:ext cx="11888003" cy="1249767"/>
          </a:xfrm>
        </p:spPr>
        <p:txBody>
          <a:bodyPr>
            <a:normAutofit fontScale="90000"/>
          </a:bodyPr>
          <a:lstStyle/>
          <a:p>
            <a:r>
              <a:rPr lang="en-US" sz="6600" b="1" dirty="0">
                <a:latin typeface="Constantia" panose="02030602050306030303" pitchFamily="18" charset="0"/>
              </a:rPr>
              <a:t>Nguyên </a:t>
            </a:r>
            <a:r>
              <a:rPr lang="en-US" sz="6600" b="1" dirty="0" err="1">
                <a:latin typeface="Constantia" panose="02030602050306030303" pitchFamily="18" charset="0"/>
              </a:rPr>
              <a:t>lý</a:t>
            </a:r>
            <a:r>
              <a:rPr lang="en-US" sz="6600" b="1" dirty="0">
                <a:latin typeface="Constantia" panose="02030602050306030303" pitchFamily="18" charset="0"/>
              </a:rPr>
              <a:t> </a:t>
            </a:r>
            <a:r>
              <a:rPr lang="en-US" sz="6600" b="1" dirty="0" err="1">
                <a:latin typeface="Constantia" panose="02030602050306030303" pitchFamily="18" charset="0"/>
              </a:rPr>
              <a:t>hoạt</a:t>
            </a:r>
            <a:r>
              <a:rPr lang="en-US" sz="6600" b="1" dirty="0">
                <a:latin typeface="Constantia" panose="02030602050306030303" pitchFamily="18" charset="0"/>
              </a:rPr>
              <a:t> </a:t>
            </a:r>
            <a:r>
              <a:rPr lang="en-US" sz="6600" b="1" dirty="0" err="1">
                <a:latin typeface="Constantia" panose="02030602050306030303" pitchFamily="18" charset="0"/>
              </a:rPr>
              <a:t>động</a:t>
            </a:r>
            <a:r>
              <a:rPr lang="en-US" sz="6600" b="1" dirty="0">
                <a:latin typeface="Constantia" panose="02030602050306030303" pitchFamily="18" charset="0"/>
              </a:rPr>
              <a:t/>
            </a:r>
            <a:br>
              <a:rPr lang="en-US" sz="6600" b="1" dirty="0">
                <a:latin typeface="Constantia" panose="02030602050306030303" pitchFamily="18" charset="0"/>
              </a:rPr>
            </a:br>
            <a:r>
              <a:rPr lang="en-US" sz="6600" b="1" dirty="0">
                <a:latin typeface="Constantia" panose="02030602050306030303" pitchFamily="18" charset="0"/>
              </a:rPr>
              <a:t/>
            </a:r>
            <a:br>
              <a:rPr lang="en-US" sz="6600" b="1" dirty="0">
                <a:latin typeface="Constantia" panose="02030602050306030303" pitchFamily="18" charset="0"/>
              </a:rPr>
            </a:br>
            <a:endParaRPr lang="en-US" sz="6600" b="1" dirty="0">
              <a:latin typeface="Constantia" panose="02030602050306030303" pitchFamily="18" charset="0"/>
            </a:endParaRPr>
          </a:p>
        </p:txBody>
      </p:sp>
      <p:sp>
        <p:nvSpPr>
          <p:cNvPr id="5" name="TextBox 4"/>
          <p:cNvSpPr txBox="1"/>
          <p:nvPr/>
        </p:nvSpPr>
        <p:spPr>
          <a:xfrm>
            <a:off x="1219200" y="1869355"/>
            <a:ext cx="10896600" cy="8586966"/>
          </a:xfrm>
          <a:prstGeom prst="rect">
            <a:avLst/>
          </a:prstGeom>
          <a:noFill/>
        </p:spPr>
        <p:txBody>
          <a:bodyPr wrap="square" rtlCol="0">
            <a:spAutoFit/>
          </a:bodyPr>
          <a:lstStyle/>
          <a:p>
            <a:pPr algn="l"/>
            <a:r>
              <a:rPr lang="vi-VN" b="0" dirty="0"/>
              <a:t>Bộ lọc Prewitt sử dụng hai ma trận (kernel) để tính toán gradient theo phương ngang (Gx) và phương dọc (Gy). Các ma trận này được áp dụng lên mỗi pixel trong ảnh, với mục đích tính toán sự thay đổi cường độ sáng theo hướng ngang và dọc.</a:t>
            </a:r>
            <a:endParaRPr lang="en-US" b="0" dirty="0"/>
          </a:p>
          <a:p>
            <a:pPr algn="l"/>
            <a:r>
              <a:rPr lang="en-US" b="0" dirty="0"/>
              <a:t>1.</a:t>
            </a:r>
            <a:r>
              <a:rPr lang="en-US" dirty="0"/>
              <a:t>Kernel Prewitt:</a:t>
            </a:r>
          </a:p>
          <a:p>
            <a:pPr algn="l"/>
            <a:r>
              <a:rPr lang="en-US" dirty="0"/>
              <a:t>- </a:t>
            </a:r>
            <a:r>
              <a:rPr lang="en-US" dirty="0" err="1"/>
              <a:t>Hướng</a:t>
            </a:r>
            <a:r>
              <a:rPr lang="en-US" dirty="0"/>
              <a:t> </a:t>
            </a:r>
            <a:r>
              <a:rPr lang="en-US" dirty="0" err="1"/>
              <a:t>ngang</a:t>
            </a:r>
            <a:r>
              <a:rPr lang="en-US" dirty="0"/>
              <a:t>(</a:t>
            </a:r>
            <a:r>
              <a:rPr lang="en-US" dirty="0" err="1"/>
              <a:t>Gx</a:t>
            </a:r>
            <a:r>
              <a:rPr lang="en-US" dirty="0"/>
              <a:t>): </a:t>
            </a:r>
            <a:r>
              <a:rPr lang="en-US" dirty="0" err="1"/>
              <a:t>K_x</a:t>
            </a:r>
            <a:r>
              <a:rPr lang="en-US" dirty="0"/>
              <a:t> = </a:t>
            </a:r>
          </a:p>
          <a:p>
            <a:pPr algn="l"/>
            <a:r>
              <a:rPr lang="en-US" dirty="0"/>
              <a:t>								</a:t>
            </a:r>
          </a:p>
          <a:p>
            <a:pPr algn="l"/>
            <a:endParaRPr lang="en-US" dirty="0"/>
          </a:p>
          <a:p>
            <a:pPr algn="l"/>
            <a:r>
              <a:rPr lang="en-US" dirty="0"/>
              <a:t>- </a:t>
            </a:r>
            <a:r>
              <a:rPr lang="en-US" dirty="0" err="1"/>
              <a:t>Hướng</a:t>
            </a:r>
            <a:r>
              <a:rPr lang="en-US" dirty="0"/>
              <a:t> </a:t>
            </a:r>
            <a:r>
              <a:rPr lang="en-US" dirty="0" err="1"/>
              <a:t>dọc</a:t>
            </a:r>
            <a:r>
              <a:rPr lang="en-US" dirty="0"/>
              <a:t>(</a:t>
            </a:r>
            <a:r>
              <a:rPr lang="en-US" dirty="0" err="1"/>
              <a:t>Gy</a:t>
            </a:r>
            <a:r>
              <a:rPr lang="en-US" dirty="0"/>
              <a:t>)    : </a:t>
            </a:r>
            <a:r>
              <a:rPr lang="en-US" dirty="0" err="1"/>
              <a:t>K_y</a:t>
            </a:r>
            <a:r>
              <a:rPr lang="en-US" dirty="0"/>
              <a:t> =  </a:t>
            </a:r>
          </a:p>
          <a:p>
            <a:pPr marL="342900" indent="-342900" algn="l">
              <a:buFontTx/>
              <a:buChar char="-"/>
            </a:pPr>
            <a:endParaRPr lang="en-US" dirty="0"/>
          </a:p>
          <a:p>
            <a:pPr marL="342900" indent="-342900" algn="l">
              <a:buFontTx/>
              <a:buChar char="-"/>
            </a:pPr>
            <a:endParaRPr lang="en-US" dirty="0"/>
          </a:p>
          <a:p>
            <a:pPr algn="l"/>
            <a:r>
              <a:rPr lang="en-US" dirty="0"/>
              <a:t>2. Tính toàn Gradient:</a:t>
            </a:r>
          </a:p>
          <a:p>
            <a:pPr algn="l"/>
            <a:r>
              <a:rPr lang="en-US" b="0" dirty="0"/>
              <a:t>		</a:t>
            </a:r>
            <a:r>
              <a:rPr lang="vi-VN" b="0" dirty="0"/>
              <a:t>Gradient theo hướng (x): (G_x = I * K_x)</a:t>
            </a:r>
          </a:p>
          <a:p>
            <a:pPr algn="l"/>
            <a:r>
              <a:rPr lang="en-US" b="0" dirty="0"/>
              <a:t>		</a:t>
            </a:r>
            <a:r>
              <a:rPr lang="vi-VN" b="0" dirty="0"/>
              <a:t>Gradient theo hướng (y): (G_y = I * K_y)</a:t>
            </a:r>
          </a:p>
          <a:p>
            <a:pPr algn="l"/>
            <a:r>
              <a:rPr lang="en-US" b="0" dirty="0"/>
              <a:t>		(</a:t>
            </a:r>
            <a:r>
              <a:rPr lang="vi-VN" b="0" dirty="0"/>
              <a:t>Ở đây, (I) là ảnh đầu vào, và (*) là phép tích chập</a:t>
            </a:r>
            <a:r>
              <a:rPr lang="en-US" b="0" dirty="0"/>
              <a:t> )</a:t>
            </a:r>
          </a:p>
          <a:p>
            <a:pPr algn="l"/>
            <a:endParaRPr lang="vi-VN" b="0" dirty="0"/>
          </a:p>
          <a:p>
            <a:pPr lvl="0" algn="l" defTabSz="914400" eaLnBrk="0" fontAlgn="base">
              <a:spcBef>
                <a:spcPct val="0"/>
              </a:spcBef>
              <a:spcAft>
                <a:spcPct val="0"/>
              </a:spcAft>
            </a:pPr>
            <a:r>
              <a:rPr lang="en-US" altLang="en-US" dirty="0">
                <a:solidFill>
                  <a:srgbClr val="1F1F1F"/>
                </a:solidFill>
              </a:rPr>
              <a:t>3.Độ </a:t>
            </a:r>
            <a:r>
              <a:rPr lang="en-US" altLang="en-US" dirty="0" err="1">
                <a:solidFill>
                  <a:srgbClr val="1F1F1F"/>
                </a:solidFill>
              </a:rPr>
              <a:t>lớn</a:t>
            </a:r>
            <a:r>
              <a:rPr lang="en-US" altLang="en-US" dirty="0">
                <a:solidFill>
                  <a:srgbClr val="1F1F1F"/>
                </a:solidFill>
              </a:rPr>
              <a:t> </a:t>
            </a:r>
            <a:r>
              <a:rPr lang="en-US" altLang="en-US" dirty="0" err="1">
                <a:solidFill>
                  <a:srgbClr val="1F1F1F"/>
                </a:solidFill>
              </a:rPr>
              <a:t>biên</a:t>
            </a:r>
            <a:r>
              <a:rPr lang="en-US" altLang="en-US" dirty="0">
                <a:solidFill>
                  <a:srgbClr val="1F1F1F"/>
                </a:solidFill>
              </a:rPr>
              <a:t> (</a:t>
            </a:r>
            <a:r>
              <a:rPr lang="en-US" altLang="en-US" b="0" dirty="0">
                <a:solidFill>
                  <a:srgbClr val="1F1F1F"/>
                </a:solidFill>
              </a:rPr>
              <a:t>G</a:t>
            </a:r>
            <a:r>
              <a:rPr lang="en-US" altLang="en-US" dirty="0">
                <a:solidFill>
                  <a:srgbClr val="1F1F1F"/>
                </a:solidFill>
              </a:rPr>
              <a:t>):</a:t>
            </a:r>
            <a:r>
              <a:rPr lang="en-US" altLang="en-US" b="0" dirty="0">
                <a:solidFill>
                  <a:srgbClr val="1F1F1F"/>
                </a:solidFill>
              </a:rPr>
              <a:t> </a:t>
            </a:r>
            <a:r>
              <a:rPr lang="en-US" altLang="en-US" b="0" dirty="0" err="1">
                <a:solidFill>
                  <a:srgbClr val="1F1F1F"/>
                </a:solidFill>
              </a:rPr>
              <a:t>Sau</a:t>
            </a:r>
            <a:r>
              <a:rPr lang="en-US" altLang="en-US" b="0" dirty="0">
                <a:solidFill>
                  <a:srgbClr val="1F1F1F"/>
                </a:solidFill>
              </a:rPr>
              <a:t> </a:t>
            </a:r>
            <a:r>
              <a:rPr lang="en-US" altLang="en-US" b="0" dirty="0" err="1">
                <a:solidFill>
                  <a:srgbClr val="1F1F1F"/>
                </a:solidFill>
              </a:rPr>
              <a:t>khi</a:t>
            </a:r>
            <a:r>
              <a:rPr lang="en-US" altLang="en-US" b="0" dirty="0">
                <a:solidFill>
                  <a:srgbClr val="1F1F1F"/>
                </a:solidFill>
              </a:rPr>
              <a:t> tính </a:t>
            </a:r>
            <a:r>
              <a:rPr lang="en-US" altLang="en-US" b="0" dirty="0" err="1">
                <a:solidFill>
                  <a:srgbClr val="1F1F1F"/>
                </a:solidFill>
              </a:rPr>
              <a:t>Gx</a:t>
            </a:r>
            <a:r>
              <a:rPr lang="en-US" altLang="en-US" b="0" dirty="0">
                <a:solidFill>
                  <a:srgbClr val="1F1F1F"/>
                </a:solidFill>
              </a:rPr>
              <a:t> </a:t>
            </a:r>
            <a:r>
              <a:rPr lang="en-US" altLang="en-US" b="0" dirty="0" err="1">
                <a:solidFill>
                  <a:srgbClr val="1F1F1F"/>
                </a:solidFill>
              </a:rPr>
              <a:t>và</a:t>
            </a:r>
            <a:r>
              <a:rPr lang="en-US" altLang="en-US" b="0" dirty="0">
                <a:solidFill>
                  <a:srgbClr val="1F1F1F"/>
                </a:solidFill>
              </a:rPr>
              <a:t> </a:t>
            </a:r>
            <a:r>
              <a:rPr lang="en-US" altLang="en-US" b="0" dirty="0" err="1">
                <a:solidFill>
                  <a:srgbClr val="1F1F1F"/>
                </a:solidFill>
              </a:rPr>
              <a:t>Gy</a:t>
            </a:r>
            <a:r>
              <a:rPr lang="en-US" altLang="en-US" b="0" dirty="0">
                <a:solidFill>
                  <a:srgbClr val="1F1F1F"/>
                </a:solidFill>
              </a:rPr>
              <a:t>, </a:t>
            </a:r>
            <a:r>
              <a:rPr lang="en-US" altLang="en-US" b="0" dirty="0" err="1">
                <a:solidFill>
                  <a:srgbClr val="1F1F1F"/>
                </a:solidFill>
              </a:rPr>
              <a:t>độ</a:t>
            </a:r>
            <a:r>
              <a:rPr lang="en-US" altLang="en-US" b="0" dirty="0">
                <a:solidFill>
                  <a:srgbClr val="1F1F1F"/>
                </a:solidFill>
              </a:rPr>
              <a:t> </a:t>
            </a:r>
            <a:r>
              <a:rPr lang="en-US" altLang="en-US" b="0" dirty="0" err="1">
                <a:solidFill>
                  <a:srgbClr val="1F1F1F"/>
                </a:solidFill>
              </a:rPr>
              <a:t>lớn</a:t>
            </a:r>
            <a:r>
              <a:rPr lang="en-US" altLang="en-US" b="0" dirty="0">
                <a:solidFill>
                  <a:srgbClr val="1F1F1F"/>
                </a:solidFill>
              </a:rPr>
              <a:t> </a:t>
            </a:r>
            <a:r>
              <a:rPr lang="en-US" altLang="en-US" b="0" dirty="0" err="1">
                <a:solidFill>
                  <a:srgbClr val="1F1F1F"/>
                </a:solidFill>
              </a:rPr>
              <a:t>của</a:t>
            </a:r>
            <a:r>
              <a:rPr lang="en-US" altLang="en-US" b="0" dirty="0">
                <a:solidFill>
                  <a:srgbClr val="1F1F1F"/>
                </a:solidFill>
              </a:rPr>
              <a:t> </a:t>
            </a:r>
            <a:r>
              <a:rPr lang="en-US" altLang="en-US" b="0" dirty="0" err="1">
                <a:solidFill>
                  <a:srgbClr val="1F1F1F"/>
                </a:solidFill>
              </a:rPr>
              <a:t>biên</a:t>
            </a:r>
            <a:r>
              <a:rPr lang="en-US" altLang="en-US" b="0" dirty="0">
                <a:solidFill>
                  <a:srgbClr val="1F1F1F"/>
                </a:solidFill>
              </a:rPr>
              <a:t> </a:t>
            </a:r>
            <a:r>
              <a:rPr lang="en-US" altLang="en-US" b="0" dirty="0" err="1">
                <a:solidFill>
                  <a:srgbClr val="1F1F1F"/>
                </a:solidFill>
              </a:rPr>
              <a:t>được</a:t>
            </a:r>
            <a:r>
              <a:rPr lang="en-US" altLang="en-US" b="0" dirty="0">
                <a:solidFill>
                  <a:srgbClr val="1F1F1F"/>
                </a:solidFill>
              </a:rPr>
              <a:t> tính </a:t>
            </a:r>
            <a:r>
              <a:rPr lang="en-US" altLang="en-US" b="0" dirty="0" err="1">
                <a:solidFill>
                  <a:srgbClr val="1F1F1F"/>
                </a:solidFill>
              </a:rPr>
              <a:t>bằng</a:t>
            </a:r>
            <a:r>
              <a:rPr lang="en-US" altLang="en-US" b="0" dirty="0">
                <a:solidFill>
                  <a:srgbClr val="1F1F1F"/>
                </a:solidFill>
              </a:rPr>
              <a:t>:</a:t>
            </a:r>
          </a:p>
          <a:p>
            <a:pPr lvl="0" algn="l" defTabSz="914400" eaLnBrk="0" fontAlgn="base">
              <a:spcBef>
                <a:spcPct val="0"/>
              </a:spcBef>
              <a:spcAft>
                <a:spcPct val="0"/>
              </a:spcAft>
            </a:pPr>
            <a:endParaRPr lang="en-US" altLang="en-US" b="0" dirty="0">
              <a:solidFill>
                <a:srgbClr val="1F1F1F"/>
              </a:solidFill>
            </a:endParaRPr>
          </a:p>
          <a:p>
            <a:pPr lvl="0" algn="l" defTabSz="914400" eaLnBrk="0" fontAlgn="base">
              <a:spcBef>
                <a:spcPct val="0"/>
              </a:spcBef>
              <a:spcAft>
                <a:spcPct val="0"/>
              </a:spcAft>
            </a:pPr>
            <a:endParaRPr lang="en-US" altLang="en-US" b="0" dirty="0">
              <a:solidFill>
                <a:srgbClr val="1F1F1F"/>
              </a:solidFill>
            </a:endParaRPr>
          </a:p>
          <a:p>
            <a:pPr lvl="0" algn="l" defTabSz="914400" eaLnBrk="0" fontAlgn="base">
              <a:spcBef>
                <a:spcPct val="0"/>
              </a:spcBef>
              <a:spcAft>
                <a:spcPct val="0"/>
              </a:spcAft>
            </a:pPr>
            <a:r>
              <a:rPr lang="en-US" altLang="en-US" b="0" dirty="0">
                <a:solidFill>
                  <a:srgbClr val="1F1F1F"/>
                </a:solidFill>
              </a:rPr>
              <a:t>(</a:t>
            </a:r>
            <a:r>
              <a:rPr lang="en-US" altLang="en-US" b="0" dirty="0" err="1">
                <a:solidFill>
                  <a:srgbClr val="1F1F1F"/>
                </a:solidFill>
              </a:rPr>
              <a:t>hoặc</a:t>
            </a:r>
            <a:r>
              <a:rPr lang="en-US" altLang="en-US" b="0" dirty="0">
                <a:solidFill>
                  <a:srgbClr val="1F1F1F"/>
                </a:solidFill>
              </a:rPr>
              <a:t> </a:t>
            </a:r>
            <a:r>
              <a:rPr lang="en-US" altLang="en-US" b="0" dirty="0" err="1">
                <a:solidFill>
                  <a:srgbClr val="1F1F1F"/>
                </a:solidFill>
              </a:rPr>
              <a:t>lấy</a:t>
            </a:r>
            <a:r>
              <a:rPr lang="en-US" altLang="en-US" b="0" dirty="0">
                <a:solidFill>
                  <a:srgbClr val="1F1F1F"/>
                </a:solidFill>
              </a:rPr>
              <a:t> </a:t>
            </a:r>
            <a:r>
              <a:rPr lang="en-US" altLang="en-US" b="0" dirty="0" err="1">
                <a:solidFill>
                  <a:srgbClr val="1F1F1F"/>
                </a:solidFill>
              </a:rPr>
              <a:t>gần</a:t>
            </a:r>
            <a:r>
              <a:rPr lang="en-US" altLang="en-US" b="0" dirty="0">
                <a:solidFill>
                  <a:srgbClr val="1F1F1F"/>
                </a:solidFill>
              </a:rPr>
              <a:t> </a:t>
            </a:r>
            <a:r>
              <a:rPr lang="en-US" altLang="en-US" b="0" dirty="0" err="1">
                <a:solidFill>
                  <a:srgbClr val="1F1F1F"/>
                </a:solidFill>
              </a:rPr>
              <a:t>đúng</a:t>
            </a:r>
            <a:r>
              <a:rPr lang="en-US" altLang="en-US" b="0" dirty="0">
                <a:solidFill>
                  <a:srgbClr val="1F1F1F"/>
                </a:solidFill>
              </a:rPr>
              <a:t> G=|</a:t>
            </a:r>
            <a:r>
              <a:rPr lang="en-US" altLang="en-US" b="0" dirty="0" err="1">
                <a:solidFill>
                  <a:srgbClr val="1F1F1F"/>
                </a:solidFill>
              </a:rPr>
              <a:t>Gx</a:t>
            </a:r>
            <a:r>
              <a:rPr lang="en-US" altLang="en-US" b="0" dirty="0">
                <a:solidFill>
                  <a:srgbClr val="1F1F1F"/>
                </a:solidFill>
              </a:rPr>
              <a:t>|+|</a:t>
            </a:r>
            <a:r>
              <a:rPr lang="en-US" altLang="en-US" b="0" dirty="0" err="1">
                <a:solidFill>
                  <a:srgbClr val="1F1F1F"/>
                </a:solidFill>
              </a:rPr>
              <a:t>Gy</a:t>
            </a:r>
            <a:r>
              <a:rPr lang="en-US" altLang="en-US" b="0" dirty="0">
                <a:solidFill>
                  <a:srgbClr val="1F1F1F"/>
                </a:solidFill>
              </a:rPr>
              <a:t>|).</a:t>
            </a:r>
          </a:p>
          <a:p>
            <a:pPr lvl="0" algn="l" defTabSz="914400" eaLnBrk="0" fontAlgn="base">
              <a:spcBef>
                <a:spcPct val="0"/>
              </a:spcBef>
              <a:spcAft>
                <a:spcPct val="0"/>
              </a:spcAft>
            </a:pPr>
            <a:endParaRPr lang="en-US" altLang="en-US" b="0" dirty="0">
              <a:solidFill>
                <a:srgbClr val="1F1F1F"/>
              </a:solidFill>
            </a:endParaRPr>
          </a:p>
          <a:p>
            <a:pPr lvl="0" algn="l" defTabSz="914400" eaLnBrk="0" fontAlgn="base">
              <a:spcBef>
                <a:spcPct val="0"/>
              </a:spcBef>
              <a:spcAft>
                <a:spcPct val="0"/>
              </a:spcAft>
            </a:pPr>
            <a:r>
              <a:rPr lang="en-US" altLang="en-US" b="0" dirty="0">
                <a:solidFill>
                  <a:schemeClr val="tx1"/>
                </a:solidFill>
              </a:rPr>
              <a:t/>
            </a:r>
            <a:br>
              <a:rPr lang="en-US" altLang="en-US" b="0" dirty="0">
                <a:solidFill>
                  <a:schemeClr val="tx1"/>
                </a:solidFill>
              </a:rPr>
            </a:br>
            <a:endParaRPr lang="en-US" dirty="0"/>
          </a:p>
        </p:txBody>
      </p:sp>
      <p:sp>
        <p:nvSpPr>
          <p:cNvPr id="9" name="Rectangle 4"/>
          <p:cNvSpPr>
            <a:spLocks noChangeArrowheads="1"/>
          </p:cNvSpPr>
          <p:nvPr/>
        </p:nvSpPr>
        <p:spPr bwMode="auto">
          <a:xfrm>
            <a:off x="304800" y="304800"/>
            <a:ext cx="13004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E3E3E3"/>
                </a:solidFill>
                <a:effectLst/>
                <a:latin typeface="Roboto"/>
              </a:rPr>
              <a:t>Hướng ngang (</a:t>
            </a:r>
            <a:r>
              <a:rPr kumimoji="0" lang="en-US" altLang="en-US" sz="1400" b="0" i="0" u="none" strike="noStrike" cap="none" normalizeH="0" baseline="0">
                <a:ln>
                  <a:noFill/>
                </a:ln>
                <a:solidFill>
                  <a:srgbClr val="E3E3E3"/>
                </a:solidFill>
                <a:effectLst/>
                <a:latin typeface="MathJax_Math-italic"/>
              </a:rPr>
              <a:t>G</a:t>
            </a:r>
            <a:r>
              <a:rPr kumimoji="0" lang="en-US" altLang="en-US" sz="900" b="0" i="0" u="none" strike="noStrike" cap="none" normalizeH="0" baseline="0">
                <a:ln>
                  <a:noFill/>
                </a:ln>
                <a:solidFill>
                  <a:srgbClr val="E3E3E3"/>
                </a:solidFill>
                <a:effectLst/>
                <a:latin typeface="MathJax_Math-italic"/>
              </a:rPr>
              <a:t>x</a:t>
            </a:r>
            <a:r>
              <a:rPr kumimoji="0" lang="en-US" altLang="en-US" sz="1200" b="0" i="0" u="none" strike="noStrike" cap="none" normalizeH="0" baseline="0">
                <a:ln>
                  <a:noFill/>
                </a:ln>
                <a:solidFill>
                  <a:srgbClr val="E3E3E3"/>
                </a:solidFill>
                <a:effectLst/>
                <a:latin typeface="Roboto"/>
              </a:rPr>
              <a:t>): $$ K_x =</a:t>
            </a:r>
            <a:r>
              <a:rPr kumimoji="0" lang="en-US" altLang="en-US" sz="11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7" name="Picture 16"/>
          <p:cNvPicPr>
            <a:picLocks noChangeAspect="1"/>
          </p:cNvPicPr>
          <p:nvPr/>
        </p:nvPicPr>
        <p:blipFill>
          <a:blip r:embed="rId2"/>
          <a:stretch>
            <a:fillRect/>
          </a:stretch>
        </p:blipFill>
        <p:spPr>
          <a:xfrm>
            <a:off x="5164998" y="8344391"/>
            <a:ext cx="1362265" cy="507053"/>
          </a:xfrm>
          <a:prstGeom prst="rect">
            <a:avLst/>
          </a:prstGeom>
        </p:spPr>
      </p:pic>
      <p:pic>
        <p:nvPicPr>
          <p:cNvPr id="4" name="Picture 3"/>
          <p:cNvPicPr>
            <a:picLocks noChangeAspect="1"/>
          </p:cNvPicPr>
          <p:nvPr/>
        </p:nvPicPr>
        <p:blipFill>
          <a:blip r:embed="rId3"/>
          <a:stretch>
            <a:fillRect/>
          </a:stretch>
        </p:blipFill>
        <p:spPr>
          <a:xfrm>
            <a:off x="5294710" y="3850498"/>
            <a:ext cx="1890976" cy="819264"/>
          </a:xfrm>
          <a:prstGeom prst="rect">
            <a:avLst/>
          </a:prstGeom>
        </p:spPr>
      </p:pic>
      <p:pic>
        <p:nvPicPr>
          <p:cNvPr id="6" name="Picture 5"/>
          <p:cNvPicPr>
            <a:picLocks noChangeAspect="1"/>
          </p:cNvPicPr>
          <p:nvPr/>
        </p:nvPicPr>
        <p:blipFill>
          <a:blip r:embed="rId4"/>
          <a:stretch>
            <a:fillRect/>
          </a:stretch>
        </p:blipFill>
        <p:spPr>
          <a:xfrm>
            <a:off x="5194683" y="4936478"/>
            <a:ext cx="1991003" cy="847843"/>
          </a:xfrm>
          <a:prstGeom prst="rect">
            <a:avLst/>
          </a:prstGeom>
        </p:spPr>
      </p:pic>
    </p:spTree>
    <p:extLst>
      <p:ext uri="{BB962C8B-B14F-4D97-AF65-F5344CB8AC3E}">
        <p14:creationId xmlns:p14="http://schemas.microsoft.com/office/powerpoint/2010/main" val="399649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362200" y="1447800"/>
            <a:ext cx="8172450" cy="6647974"/>
          </a:xfrm>
          <a:prstGeom prst="rect">
            <a:avLst/>
          </a:prstGeom>
        </p:spPr>
        <p:txBody>
          <a:bodyPr wrap="square">
            <a:spAutoFit/>
          </a:bodyPr>
          <a:lstStyle/>
          <a:p>
            <a:pPr algn="l"/>
            <a:r>
              <a:rPr lang="vi-VN" sz="5400" dirty="0">
                <a:solidFill>
                  <a:srgbClr val="1F1F1F"/>
                </a:solidFill>
              </a:rPr>
              <a:t>Ưu điểm</a:t>
            </a:r>
            <a:endParaRPr lang="en-US" b="0" dirty="0">
              <a:solidFill>
                <a:srgbClr val="1F1F1F"/>
              </a:solidFill>
            </a:endParaRPr>
          </a:p>
          <a:p>
            <a:pPr algn="l"/>
            <a:r>
              <a:rPr lang="en-US" b="0" dirty="0">
                <a:solidFill>
                  <a:srgbClr val="1F1F1F"/>
                </a:solidFill>
              </a:rPr>
              <a:t>-</a:t>
            </a:r>
            <a:r>
              <a:rPr lang="vi-VN" b="0" dirty="0"/>
              <a:t>Tính toán đơn giản, nhanh hơn Sobel.</a:t>
            </a:r>
            <a:br>
              <a:rPr lang="vi-VN" b="0" dirty="0"/>
            </a:br>
            <a:r>
              <a:rPr lang="en-US" b="0" dirty="0"/>
              <a:t>-</a:t>
            </a:r>
            <a:r>
              <a:rPr lang="vi-VN" b="0" dirty="0"/>
              <a:t>Nhạy với biên ngang &amp; dọc, dễ triển khai.</a:t>
            </a:r>
            <a:br>
              <a:rPr lang="vi-VN" b="0" dirty="0"/>
            </a:br>
            <a:r>
              <a:rPr lang="en-US" b="0" dirty="0"/>
              <a:t>-</a:t>
            </a:r>
            <a:r>
              <a:rPr lang="vi-VN" b="0" dirty="0"/>
              <a:t>Hoạt động tốt với ảnh ít nhiễu.</a:t>
            </a:r>
          </a:p>
          <a:p>
            <a:pPr algn="l"/>
            <a:r>
              <a:rPr lang="vi-VN" sz="5400" dirty="0">
                <a:solidFill>
                  <a:srgbClr val="1F1F1F"/>
                </a:solidFill>
              </a:rPr>
              <a:t>Nhược điểm</a:t>
            </a:r>
            <a:endParaRPr lang="en-US" b="0" dirty="0">
              <a:solidFill>
                <a:srgbClr val="1F1F1F"/>
              </a:solidFill>
            </a:endParaRPr>
          </a:p>
          <a:p>
            <a:pPr algn="l"/>
            <a:r>
              <a:rPr lang="en-US" b="0" dirty="0"/>
              <a:t>-</a:t>
            </a:r>
            <a:r>
              <a:rPr lang="vi-VN" b="0" dirty="0"/>
              <a:t>Nhạy cảm với nhiễu, không có bộ lọc làm mịn như Sobel.</a:t>
            </a:r>
            <a:br>
              <a:rPr lang="vi-VN" b="0" dirty="0"/>
            </a:br>
            <a:r>
              <a:rPr lang="en-US" b="0" dirty="0"/>
              <a:t>-</a:t>
            </a:r>
            <a:r>
              <a:rPr lang="vi-VN" b="0" dirty="0"/>
              <a:t>Độ chính xác thấp hơn Sobel, khó phát hiện biên rõ ràng.</a:t>
            </a:r>
            <a:br>
              <a:rPr lang="vi-VN" b="0" dirty="0"/>
            </a:br>
            <a:r>
              <a:rPr lang="en-US" b="0" dirty="0"/>
              <a:t>-</a:t>
            </a:r>
            <a:r>
              <a:rPr lang="vi-VN" b="0" dirty="0"/>
              <a:t>Không tối ưu cho ảnh có độ biến thiên cường độ cao.</a:t>
            </a:r>
          </a:p>
          <a:p>
            <a:pPr algn="l"/>
            <a:r>
              <a:rPr lang="vi-VN" sz="5400" dirty="0"/>
              <a:t>Ứng dụng</a:t>
            </a:r>
            <a:endParaRPr lang="en-US" sz="5400" b="0" dirty="0"/>
          </a:p>
          <a:p>
            <a:pPr algn="l"/>
            <a:r>
              <a:rPr lang="en-US" b="0" dirty="0"/>
              <a:t>-</a:t>
            </a:r>
            <a:r>
              <a:rPr lang="vi-VN" b="0" dirty="0"/>
              <a:t>Phát hiện biên cạnh trong ảnh y khoa (X-ray, MRI).</a:t>
            </a:r>
            <a:br>
              <a:rPr lang="vi-VN" b="0" dirty="0"/>
            </a:br>
            <a:r>
              <a:rPr lang="en-US" b="0" dirty="0"/>
              <a:t>-</a:t>
            </a:r>
            <a:r>
              <a:rPr lang="vi-VN" b="0" dirty="0"/>
              <a:t>Nhận diện vật thể trong ảnh số (camera giám sát, xử lý ảnh vệ tinh).</a:t>
            </a:r>
            <a:br>
              <a:rPr lang="vi-VN" b="0" dirty="0"/>
            </a:br>
            <a:r>
              <a:rPr lang="en-US" b="0" dirty="0"/>
              <a:t>-</a:t>
            </a:r>
            <a:r>
              <a:rPr lang="vi-VN" b="0" dirty="0"/>
              <a:t>Tiền xử lý ảnh trước khi nhận diện ký tự, khuôn mặt.</a:t>
            </a:r>
            <a:endParaRPr lang="en-US" b="0" dirty="0"/>
          </a:p>
          <a:p>
            <a:pPr algn="l"/>
            <a:r>
              <a:rPr lang="en-US" b="0" dirty="0"/>
              <a:t>-</a:t>
            </a:r>
            <a:r>
              <a:rPr lang="vi-VN" b="0" dirty="0"/>
              <a:t>Xử lý ảnh công nghiệp (kiểm tra lỗi bề mặt sản phẩm).</a:t>
            </a:r>
            <a:endParaRPr lang="vi-VN" b="0" dirty="0">
              <a:solidFill>
                <a:srgbClr val="1F1F1F"/>
              </a:solidFill>
            </a:endParaRPr>
          </a:p>
        </p:txBody>
      </p:sp>
    </p:spTree>
    <p:extLst>
      <p:ext uri="{BB962C8B-B14F-4D97-AF65-F5344CB8AC3E}">
        <p14:creationId xmlns:p14="http://schemas.microsoft.com/office/powerpoint/2010/main" val="41035845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8800" y="1905000"/>
            <a:ext cx="6910891" cy="1821710"/>
          </a:xfrm>
        </p:spPr>
        <p:txBody>
          <a:bodyPr>
            <a:normAutofit fontScale="90000"/>
          </a:bodyPr>
          <a:lstStyle/>
          <a:p>
            <a:r>
              <a:rPr lang="en-US" sz="6000" b="1" dirty="0" err="1">
                <a:latin typeface="Helvetica Neue"/>
              </a:rPr>
              <a:t>Phương</a:t>
            </a:r>
            <a:r>
              <a:rPr lang="en-US" sz="6000" b="1" dirty="0">
                <a:latin typeface="Helvetica Neue"/>
              </a:rPr>
              <a:t> </a:t>
            </a:r>
            <a:r>
              <a:rPr lang="en-US" sz="6000" b="1" dirty="0" err="1">
                <a:latin typeface="Helvetica Neue"/>
              </a:rPr>
              <a:t>pháp</a:t>
            </a:r>
            <a:r>
              <a:rPr lang="en-US" sz="6000" b="1" dirty="0">
                <a:latin typeface="Helvetica Neue"/>
              </a:rPr>
              <a:t> Canny</a:t>
            </a:r>
            <a:br>
              <a:rPr lang="en-US" sz="6000" b="1" dirty="0">
                <a:latin typeface="Helvetica Neue"/>
              </a:rPr>
            </a:br>
            <a:r>
              <a:rPr lang="en-US" b="1" dirty="0">
                <a:latin typeface="Helvetica Neue"/>
              </a:rPr>
              <a:t/>
            </a:r>
            <a:br>
              <a:rPr lang="en-US" b="1" dirty="0">
                <a:latin typeface="Helvetica Neue"/>
              </a:rPr>
            </a:br>
            <a:r>
              <a:rPr lang="vi-VN" sz="2700" dirty="0"/>
              <a:t>Bộ dò cạnh Canny (Canny edge detector) là một toán tử phát hiện cạnh sử dụng thuật toán nhiều giai đoạn để phát hiện một loạt các cạnh trong hình ảnh. Nó được phát triển bởi John F. Canny vào năm 1986. Canny cũng đã đưa ra một lý thuyết tính toán về phát hiện cạnh, giải thích tại sao kỹ thuật này hoạt động hiệu quả.</a:t>
            </a:r>
            <a:r>
              <a:rPr lang="en-US" b="1" dirty="0">
                <a:latin typeface="Helvetica Neue"/>
              </a:rPr>
              <a:t/>
            </a:r>
            <a:br>
              <a:rPr lang="en-US" b="1" dirty="0">
                <a:latin typeface="Helvetica Neue"/>
              </a:rPr>
            </a:br>
            <a:endParaRPr lang="en-US" b="1" dirty="0">
              <a:latin typeface="Helvetica Neue"/>
            </a:endParaRPr>
          </a:p>
        </p:txBody>
      </p:sp>
      <p:pic>
        <p:nvPicPr>
          <p:cNvPr id="4" name="Picture 3" descr="A person using a camera&#10;&#10;AI-generated content may be incorrect."/>
          <p:cNvPicPr/>
          <p:nvPr/>
        </p:nvPicPr>
        <p:blipFill>
          <a:blip r:embed="rId2"/>
          <a:stretch>
            <a:fillRect/>
          </a:stretch>
        </p:blipFill>
        <p:spPr>
          <a:xfrm>
            <a:off x="1379220" y="1905000"/>
            <a:ext cx="4259580" cy="3143250"/>
          </a:xfrm>
          <a:prstGeom prst="rect">
            <a:avLst/>
          </a:prstGeom>
        </p:spPr>
      </p:pic>
      <p:pic>
        <p:nvPicPr>
          <p:cNvPr id="5" name="Picture 4" descr="A person on a ladder using a camera&#10;&#10;AI-generated content may be incorrect."/>
          <p:cNvPicPr/>
          <p:nvPr/>
        </p:nvPicPr>
        <p:blipFill>
          <a:blip r:embed="rId3"/>
          <a:stretch>
            <a:fillRect/>
          </a:stretch>
        </p:blipFill>
        <p:spPr>
          <a:xfrm>
            <a:off x="1379220" y="5048250"/>
            <a:ext cx="4259580" cy="3486150"/>
          </a:xfrm>
          <a:prstGeom prst="rect">
            <a:avLst/>
          </a:prstGeom>
        </p:spPr>
      </p:pic>
    </p:spTree>
    <p:extLst>
      <p:ext uri="{BB962C8B-B14F-4D97-AF65-F5344CB8AC3E}">
        <p14:creationId xmlns:p14="http://schemas.microsoft.com/office/powerpoint/2010/main" val="10936189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095500" y="129582"/>
            <a:ext cx="10800812" cy="1249767"/>
          </a:xfrm>
        </p:spPr>
        <p:txBody>
          <a:bodyPr>
            <a:normAutofit/>
          </a:bodyPr>
          <a:lstStyle/>
          <a:p>
            <a:r>
              <a:rPr lang="en-US" sz="5100" b="1" dirty="0">
                <a:latin typeface="Helvetica Neue"/>
              </a:rPr>
              <a:t>Nguyên </a:t>
            </a:r>
            <a:r>
              <a:rPr lang="en-US" sz="5100" b="1" dirty="0" err="1">
                <a:latin typeface="Helvetica Neue"/>
              </a:rPr>
              <a:t>lý</a:t>
            </a:r>
            <a:r>
              <a:rPr lang="en-US" sz="5100" b="1" dirty="0">
                <a:latin typeface="Helvetica Neue"/>
              </a:rPr>
              <a:t> </a:t>
            </a:r>
            <a:r>
              <a:rPr lang="en-US" sz="5100" b="1" dirty="0" err="1">
                <a:latin typeface="Helvetica Neue"/>
              </a:rPr>
              <a:t>hoạt</a:t>
            </a:r>
            <a:r>
              <a:rPr lang="en-US" sz="5100" b="1" dirty="0">
                <a:latin typeface="Helvetica Neue"/>
              </a:rPr>
              <a:t> </a:t>
            </a:r>
            <a:r>
              <a:rPr lang="en-US" sz="5100" b="1" dirty="0" err="1">
                <a:latin typeface="Helvetica Neue"/>
              </a:rPr>
              <a:t>động</a:t>
            </a:r>
            <a:endParaRPr lang="en-US" sz="5100" b="1" dirty="0">
              <a:latin typeface="Helvetica Neue"/>
            </a:endParaRPr>
          </a:p>
        </p:txBody>
      </p:sp>
      <p:sp>
        <p:nvSpPr>
          <p:cNvPr id="2" name="TextBox 1"/>
          <p:cNvSpPr txBox="1"/>
          <p:nvPr/>
        </p:nvSpPr>
        <p:spPr>
          <a:xfrm>
            <a:off x="1484559" y="2495550"/>
            <a:ext cx="9735891" cy="5632311"/>
          </a:xfrm>
          <a:prstGeom prst="rect">
            <a:avLst/>
          </a:prstGeom>
          <a:noFill/>
        </p:spPr>
        <p:txBody>
          <a:bodyPr wrap="square" rtlCol="0">
            <a:spAutoFit/>
          </a:bodyPr>
          <a:lstStyle/>
          <a:p>
            <a:pPr lvl="0" algn="l"/>
            <a:r>
              <a:rPr lang="en-US" dirty="0"/>
              <a:t>1.Giảm </a:t>
            </a:r>
            <a:r>
              <a:rPr lang="en-US" dirty="0" err="1"/>
              <a:t>nhiễu</a:t>
            </a:r>
            <a:r>
              <a:rPr lang="en-US" b="0" dirty="0"/>
              <a:t>: </a:t>
            </a:r>
            <a:r>
              <a:rPr lang="en-US" b="0" dirty="0" err="1"/>
              <a:t>Sử</a:t>
            </a:r>
            <a:r>
              <a:rPr lang="en-US" b="0" dirty="0"/>
              <a:t> </a:t>
            </a:r>
            <a:r>
              <a:rPr lang="en-US" b="0" dirty="0" err="1"/>
              <a:t>dụng</a:t>
            </a:r>
            <a:r>
              <a:rPr lang="en-US" b="0" dirty="0"/>
              <a:t> </a:t>
            </a:r>
            <a:r>
              <a:rPr lang="en-US" b="0" dirty="0" err="1"/>
              <a:t>bộ</a:t>
            </a:r>
            <a:r>
              <a:rPr lang="en-US" b="0" dirty="0"/>
              <a:t> </a:t>
            </a:r>
            <a:r>
              <a:rPr lang="en-US" b="0" dirty="0" err="1"/>
              <a:t>lọc</a:t>
            </a:r>
            <a:r>
              <a:rPr lang="en-US" b="0" dirty="0"/>
              <a:t> Gauss để làm </a:t>
            </a:r>
            <a:r>
              <a:rPr lang="en-US" b="0" dirty="0" err="1"/>
              <a:t>mờ</a:t>
            </a:r>
            <a:r>
              <a:rPr lang="en-US" b="0" dirty="0"/>
              <a:t> </a:t>
            </a:r>
            <a:r>
              <a:rPr lang="en-US" b="0" dirty="0" err="1"/>
              <a:t>ảnh</a:t>
            </a:r>
            <a:r>
              <a:rPr lang="en-US" b="0" dirty="0"/>
              <a:t>, </a:t>
            </a:r>
            <a:r>
              <a:rPr lang="en-US" b="0" dirty="0" err="1"/>
              <a:t>loại</a:t>
            </a:r>
            <a:r>
              <a:rPr lang="en-US" b="0" dirty="0"/>
              <a:t> bỏ </a:t>
            </a:r>
            <a:r>
              <a:rPr lang="en-US" b="0" dirty="0" err="1"/>
              <a:t>nhiễu</a:t>
            </a:r>
            <a:r>
              <a:rPr lang="en-US" b="0" dirty="0"/>
              <a:t> </a:t>
            </a:r>
            <a:r>
              <a:rPr lang="en-US" b="0" dirty="0" err="1"/>
              <a:t>trước</a:t>
            </a:r>
            <a:r>
              <a:rPr lang="en-US" b="0" dirty="0"/>
              <a:t> </a:t>
            </a:r>
            <a:r>
              <a:rPr lang="en-US" b="0" dirty="0" err="1"/>
              <a:t>khi</a:t>
            </a:r>
            <a:r>
              <a:rPr lang="en-US" b="0" dirty="0"/>
              <a:t> phát </a:t>
            </a:r>
            <a:r>
              <a:rPr lang="en-US" b="0" dirty="0" err="1"/>
              <a:t>hiện</a:t>
            </a:r>
            <a:r>
              <a:rPr lang="en-US" b="0" dirty="0"/>
              <a:t> </a:t>
            </a:r>
            <a:r>
              <a:rPr lang="en-US" b="0" dirty="0" err="1"/>
              <a:t>biên</a:t>
            </a:r>
            <a:r>
              <a:rPr lang="en-US" b="0" dirty="0"/>
              <a:t>.</a:t>
            </a:r>
          </a:p>
          <a:p>
            <a:pPr lvl="0" algn="l"/>
            <a:endParaRPr lang="en-US" b="0" dirty="0"/>
          </a:p>
          <a:p>
            <a:pPr lvl="0" algn="l"/>
            <a:r>
              <a:rPr lang="en-US" dirty="0"/>
              <a:t>2.Tính </a:t>
            </a:r>
            <a:r>
              <a:rPr lang="en-US" dirty="0" err="1"/>
              <a:t>đạo</a:t>
            </a:r>
            <a:r>
              <a:rPr lang="en-US" dirty="0"/>
              <a:t> </a:t>
            </a:r>
            <a:r>
              <a:rPr lang="en-US" dirty="0" err="1"/>
              <a:t>hàm</a:t>
            </a:r>
            <a:r>
              <a:rPr lang="en-US" b="0" dirty="0"/>
              <a:t>: </a:t>
            </a:r>
            <a:r>
              <a:rPr lang="en-US" b="0" dirty="0" err="1"/>
              <a:t>Xác</a:t>
            </a:r>
            <a:r>
              <a:rPr lang="en-US" b="0" dirty="0"/>
              <a:t> </a:t>
            </a:r>
            <a:r>
              <a:rPr lang="en-US" b="0" dirty="0" err="1"/>
              <a:t>định</a:t>
            </a:r>
            <a:r>
              <a:rPr lang="en-US" b="0" dirty="0"/>
              <a:t> </a:t>
            </a:r>
            <a:r>
              <a:rPr lang="en-US" b="0" dirty="0" err="1"/>
              <a:t>biên</a:t>
            </a:r>
            <a:r>
              <a:rPr lang="en-US" b="0" dirty="0"/>
              <a:t> </a:t>
            </a:r>
            <a:r>
              <a:rPr lang="en-US" b="0" dirty="0" err="1"/>
              <a:t>bằng</a:t>
            </a:r>
            <a:r>
              <a:rPr lang="en-US" b="0" dirty="0"/>
              <a:t> </a:t>
            </a:r>
            <a:r>
              <a:rPr lang="en-US" b="0" dirty="0" err="1"/>
              <a:t>cách</a:t>
            </a:r>
            <a:r>
              <a:rPr lang="en-US" b="0" dirty="0"/>
              <a:t> tính gradient </a:t>
            </a:r>
            <a:r>
              <a:rPr lang="en-US" b="0" dirty="0" err="1"/>
              <a:t>của</a:t>
            </a:r>
            <a:r>
              <a:rPr lang="en-US" b="0" dirty="0"/>
              <a:t> </a:t>
            </a:r>
            <a:r>
              <a:rPr lang="en-US" b="0" dirty="0" err="1"/>
              <a:t>ảnh</a:t>
            </a:r>
            <a:r>
              <a:rPr lang="en-US" b="0" dirty="0"/>
              <a:t>.</a:t>
            </a:r>
          </a:p>
          <a:p>
            <a:pPr lvl="0" algn="l"/>
            <a:endParaRPr lang="en-US" b="0" dirty="0"/>
          </a:p>
          <a:p>
            <a:pPr lvl="0" algn="l"/>
            <a:r>
              <a:rPr lang="en-US" dirty="0"/>
              <a:t>3.Tối </a:t>
            </a:r>
            <a:r>
              <a:rPr lang="en-US" dirty="0" err="1"/>
              <a:t>ưu</a:t>
            </a:r>
            <a:r>
              <a:rPr lang="en-US" dirty="0"/>
              <a:t> </a:t>
            </a:r>
            <a:r>
              <a:rPr lang="en-US" dirty="0" err="1"/>
              <a:t>hóa</a:t>
            </a:r>
            <a:r>
              <a:rPr lang="en-US" dirty="0"/>
              <a:t> </a:t>
            </a:r>
            <a:r>
              <a:rPr lang="en-US" dirty="0" err="1"/>
              <a:t>biên</a:t>
            </a:r>
            <a:r>
              <a:rPr lang="en-US" b="0" dirty="0"/>
              <a:t>: </a:t>
            </a:r>
            <a:r>
              <a:rPr lang="en-US" b="0" dirty="0" err="1"/>
              <a:t>Loại</a:t>
            </a:r>
            <a:r>
              <a:rPr lang="en-US" b="0" dirty="0"/>
              <a:t> bỏ </a:t>
            </a:r>
            <a:r>
              <a:rPr lang="en-US" b="0" dirty="0" err="1"/>
              <a:t>các</a:t>
            </a:r>
            <a:r>
              <a:rPr lang="en-US" b="0" dirty="0"/>
              <a:t> pixel </a:t>
            </a:r>
            <a:r>
              <a:rPr lang="en-US" b="0" dirty="0" err="1"/>
              <a:t>không</a:t>
            </a:r>
            <a:r>
              <a:rPr lang="en-US" b="0" dirty="0"/>
              <a:t> </a:t>
            </a:r>
            <a:r>
              <a:rPr lang="en-US" b="0" dirty="0" err="1"/>
              <a:t>thuộc</a:t>
            </a:r>
            <a:r>
              <a:rPr lang="en-US" b="0" dirty="0"/>
              <a:t> </a:t>
            </a:r>
            <a:r>
              <a:rPr lang="en-US" b="0" dirty="0" err="1"/>
              <a:t>cạnh</a:t>
            </a:r>
            <a:r>
              <a:rPr lang="en-US" b="0" dirty="0"/>
              <a:t> </a:t>
            </a:r>
            <a:r>
              <a:rPr lang="en-US" b="0" dirty="0" err="1"/>
              <a:t>biên</a:t>
            </a:r>
            <a:r>
              <a:rPr lang="en-US" b="0" dirty="0"/>
              <a:t> </a:t>
            </a:r>
            <a:r>
              <a:rPr lang="en-US" b="0" dirty="0" err="1"/>
              <a:t>thực</a:t>
            </a:r>
            <a:r>
              <a:rPr lang="en-US" b="0" dirty="0"/>
              <a:t> </a:t>
            </a:r>
            <a:r>
              <a:rPr lang="en-US" b="0" dirty="0" err="1"/>
              <a:t>sự</a:t>
            </a:r>
            <a:r>
              <a:rPr lang="en-US" b="0" dirty="0"/>
              <a:t> </a:t>
            </a:r>
            <a:r>
              <a:rPr lang="en-US" b="0" dirty="0" err="1"/>
              <a:t>bằng</a:t>
            </a:r>
            <a:r>
              <a:rPr lang="en-US" b="0" dirty="0"/>
              <a:t> </a:t>
            </a:r>
            <a:r>
              <a:rPr lang="en-US" b="0" dirty="0" err="1"/>
              <a:t>phương</a:t>
            </a:r>
            <a:r>
              <a:rPr lang="en-US" b="0" dirty="0"/>
              <a:t> </a:t>
            </a:r>
            <a:r>
              <a:rPr lang="en-US" b="0" dirty="0" err="1"/>
              <a:t>pháp</a:t>
            </a:r>
            <a:r>
              <a:rPr lang="en-US" b="0" dirty="0"/>
              <a:t> non-maximum suppression.</a:t>
            </a:r>
          </a:p>
          <a:p>
            <a:pPr lvl="0" algn="l"/>
            <a:endParaRPr lang="en-US" b="0" dirty="0"/>
          </a:p>
          <a:p>
            <a:pPr lvl="0" algn="l"/>
            <a:r>
              <a:rPr lang="en-US" dirty="0"/>
              <a:t>4.Ngưỡng </a:t>
            </a:r>
            <a:r>
              <a:rPr lang="en-US" dirty="0" err="1"/>
              <a:t>hóa</a:t>
            </a:r>
            <a:r>
              <a:rPr lang="en-US" dirty="0"/>
              <a:t> </a:t>
            </a:r>
            <a:r>
              <a:rPr lang="en-US" dirty="0" err="1"/>
              <a:t>kép</a:t>
            </a:r>
            <a:r>
              <a:rPr lang="en-US" b="0" dirty="0"/>
              <a:t>: </a:t>
            </a:r>
            <a:r>
              <a:rPr lang="en-US" b="0" dirty="0" err="1"/>
              <a:t>Phân</a:t>
            </a:r>
            <a:r>
              <a:rPr lang="en-US" b="0" dirty="0"/>
              <a:t> </a:t>
            </a:r>
            <a:r>
              <a:rPr lang="en-US" b="0" dirty="0" err="1"/>
              <a:t>loại</a:t>
            </a:r>
            <a:r>
              <a:rPr lang="en-US" b="0" dirty="0"/>
              <a:t> </a:t>
            </a:r>
            <a:r>
              <a:rPr lang="en-US" b="0" dirty="0" err="1"/>
              <a:t>biên</a:t>
            </a:r>
            <a:r>
              <a:rPr lang="en-US" b="0" dirty="0"/>
              <a:t> mạnh, </a:t>
            </a:r>
            <a:r>
              <a:rPr lang="en-US" b="0" dirty="0" err="1"/>
              <a:t>biên</a:t>
            </a:r>
            <a:r>
              <a:rPr lang="en-US" b="0" dirty="0"/>
              <a:t> </a:t>
            </a:r>
            <a:r>
              <a:rPr lang="en-US" b="0" dirty="0" err="1"/>
              <a:t>yếu</a:t>
            </a:r>
            <a:r>
              <a:rPr lang="en-US" b="0" dirty="0"/>
              <a:t> để </a:t>
            </a:r>
            <a:r>
              <a:rPr lang="en-US" b="0" dirty="0" err="1"/>
              <a:t>giảm</a:t>
            </a:r>
            <a:r>
              <a:rPr lang="en-US" b="0" dirty="0"/>
              <a:t> </a:t>
            </a:r>
            <a:r>
              <a:rPr lang="en-US" b="0" dirty="0" err="1"/>
              <a:t>nhiễu</a:t>
            </a:r>
            <a:r>
              <a:rPr lang="en-US" b="0" dirty="0"/>
              <a:t> </a:t>
            </a:r>
            <a:r>
              <a:rPr lang="en-US" b="0" dirty="0" err="1"/>
              <a:t>và</a:t>
            </a:r>
            <a:r>
              <a:rPr lang="en-US" b="0" dirty="0"/>
              <a:t> </a:t>
            </a:r>
            <a:r>
              <a:rPr lang="en-US" b="0" dirty="0" err="1"/>
              <a:t>giữ</a:t>
            </a:r>
            <a:r>
              <a:rPr lang="en-US" b="0" dirty="0"/>
              <a:t> lại </a:t>
            </a:r>
            <a:r>
              <a:rPr lang="en-US" b="0" dirty="0" err="1"/>
              <a:t>cạnh</a:t>
            </a:r>
            <a:r>
              <a:rPr lang="en-US" b="0" dirty="0"/>
              <a:t> </a:t>
            </a:r>
            <a:r>
              <a:rPr lang="en-US" b="0" dirty="0" err="1"/>
              <a:t>thực</a:t>
            </a:r>
            <a:r>
              <a:rPr lang="en-US" b="0" dirty="0"/>
              <a:t> </a:t>
            </a:r>
            <a:r>
              <a:rPr lang="en-US" b="0" dirty="0" err="1"/>
              <a:t>sự</a:t>
            </a:r>
            <a:r>
              <a:rPr lang="en-US" b="0" dirty="0"/>
              <a:t>.</a:t>
            </a:r>
          </a:p>
          <a:p>
            <a:pPr lvl="0" algn="l"/>
            <a:endParaRPr lang="en-US" b="0" dirty="0"/>
          </a:p>
          <a:p>
            <a:pPr lvl="0" algn="l"/>
            <a:r>
              <a:rPr lang="en-US" dirty="0"/>
              <a:t>5.Kết </a:t>
            </a:r>
            <a:r>
              <a:rPr lang="en-US" dirty="0" err="1"/>
              <a:t>nối</a:t>
            </a:r>
            <a:r>
              <a:rPr lang="en-US" dirty="0"/>
              <a:t> </a:t>
            </a:r>
            <a:r>
              <a:rPr lang="en-US" dirty="0" err="1"/>
              <a:t>cạnh</a:t>
            </a:r>
            <a:r>
              <a:rPr lang="en-US" dirty="0"/>
              <a:t> </a:t>
            </a:r>
            <a:r>
              <a:rPr lang="en-US" dirty="0" err="1"/>
              <a:t>biên</a:t>
            </a:r>
            <a:r>
              <a:rPr lang="en-US" b="0" dirty="0"/>
              <a:t>: </a:t>
            </a:r>
            <a:r>
              <a:rPr lang="en-US" b="0" dirty="0" err="1"/>
              <a:t>Liên</a:t>
            </a:r>
            <a:r>
              <a:rPr lang="en-US" b="0" dirty="0"/>
              <a:t> </a:t>
            </a:r>
            <a:r>
              <a:rPr lang="en-US" b="0" dirty="0" err="1"/>
              <a:t>kết</a:t>
            </a:r>
            <a:r>
              <a:rPr lang="en-US" b="0" dirty="0"/>
              <a:t> </a:t>
            </a:r>
            <a:r>
              <a:rPr lang="en-US" b="0" dirty="0" err="1"/>
              <a:t>các</a:t>
            </a:r>
            <a:r>
              <a:rPr lang="en-US" b="0" dirty="0"/>
              <a:t> </a:t>
            </a:r>
            <a:r>
              <a:rPr lang="en-US" b="0" dirty="0" err="1"/>
              <a:t>điểm</a:t>
            </a:r>
            <a:r>
              <a:rPr lang="en-US" b="0" dirty="0"/>
              <a:t> </a:t>
            </a:r>
            <a:r>
              <a:rPr lang="en-US" b="0" dirty="0" err="1"/>
              <a:t>biên</a:t>
            </a:r>
            <a:r>
              <a:rPr lang="en-US" b="0" dirty="0"/>
              <a:t> để </a:t>
            </a:r>
            <a:r>
              <a:rPr lang="en-US" b="0" dirty="0" err="1"/>
              <a:t>đảm</a:t>
            </a:r>
            <a:r>
              <a:rPr lang="en-US" b="0" dirty="0"/>
              <a:t> bảo tính </a:t>
            </a:r>
            <a:r>
              <a:rPr lang="en-US" b="0" dirty="0" err="1"/>
              <a:t>liên</a:t>
            </a:r>
            <a:r>
              <a:rPr lang="en-US" b="0" dirty="0"/>
              <a:t> </a:t>
            </a:r>
            <a:r>
              <a:rPr lang="en-US" b="0" dirty="0" err="1"/>
              <a:t>tục</a:t>
            </a:r>
            <a:r>
              <a:rPr lang="en-US" b="0" dirty="0"/>
              <a:t> </a:t>
            </a:r>
            <a:r>
              <a:rPr lang="en-US" b="0" dirty="0" err="1"/>
              <a:t>của</a:t>
            </a:r>
            <a:r>
              <a:rPr lang="en-US" b="0" dirty="0"/>
              <a:t> </a:t>
            </a:r>
            <a:r>
              <a:rPr lang="en-US" b="0" dirty="0" err="1"/>
              <a:t>cạnh</a:t>
            </a:r>
            <a:r>
              <a:rPr lang="en-US" b="0" dirty="0"/>
              <a:t>.</a:t>
            </a:r>
          </a:p>
          <a:p>
            <a:pPr lvl="0" algn="l" defTabSz="914400" eaLnBrk="0" fontAlgn="base">
              <a:spcBef>
                <a:spcPct val="0"/>
              </a:spcBef>
              <a:spcAft>
                <a:spcPct val="0"/>
              </a:spcAft>
            </a:pPr>
            <a:endParaRPr lang="vi-VN" b="0" dirty="0"/>
          </a:p>
          <a:p>
            <a:pPr marL="457200" lvl="1" indent="0" algn="l" defTabSz="914400" eaLnBrk="0" fontAlgn="base">
              <a:spcBef>
                <a:spcPct val="0"/>
              </a:spcBef>
              <a:spcAft>
                <a:spcPct val="0"/>
              </a:spcAft>
              <a:buFontTx/>
              <a:buChar char="•"/>
            </a:pPr>
            <a:endParaRPr lang="en-US" altLang="en-US" b="0" dirty="0">
              <a:solidFill>
                <a:srgbClr val="1F1F1F"/>
              </a:solidFill>
            </a:endParaRPr>
          </a:p>
        </p:txBody>
      </p:sp>
    </p:spTree>
    <p:extLst>
      <p:ext uri="{BB962C8B-B14F-4D97-AF65-F5344CB8AC3E}">
        <p14:creationId xmlns:p14="http://schemas.microsoft.com/office/powerpoint/2010/main" val="37609598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9809" y="278023"/>
            <a:ext cx="9371305" cy="941177"/>
          </a:xfrm>
        </p:spPr>
        <p:txBody>
          <a:bodyPr>
            <a:normAutofit/>
          </a:bodyPr>
          <a:lstStyle/>
          <a:p>
            <a:r>
              <a:rPr lang="en-US" sz="5400" dirty="0" err="1">
                <a:latin typeface="Helvetica Neue"/>
              </a:rPr>
              <a:t>Các</a:t>
            </a:r>
            <a:r>
              <a:rPr lang="en-US" sz="5400" dirty="0">
                <a:latin typeface="Helvetica Neue"/>
              </a:rPr>
              <a:t> </a:t>
            </a:r>
            <a:r>
              <a:rPr lang="en-US" sz="5400" dirty="0" err="1">
                <a:latin typeface="Helvetica Neue"/>
              </a:rPr>
              <a:t>bước</a:t>
            </a:r>
            <a:r>
              <a:rPr lang="en-US" sz="5400" dirty="0">
                <a:latin typeface="Helvetica Neue"/>
              </a:rPr>
              <a:t> </a:t>
            </a:r>
            <a:r>
              <a:rPr lang="en-US" sz="5400" dirty="0" err="1">
                <a:latin typeface="Helvetica Neue"/>
              </a:rPr>
              <a:t>thực</a:t>
            </a:r>
            <a:r>
              <a:rPr lang="en-US" sz="5400" dirty="0">
                <a:latin typeface="Helvetica Neue"/>
              </a:rPr>
              <a:t> </a:t>
            </a:r>
            <a:r>
              <a:rPr lang="en-US" sz="5400" dirty="0" err="1">
                <a:latin typeface="Helvetica Neue"/>
              </a:rPr>
              <a:t>hiện</a:t>
            </a:r>
            <a:endParaRPr lang="en-US" sz="5400" dirty="0">
              <a:latin typeface="Helvetica Neue"/>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76696" y="2228850"/>
                <a:ext cx="9375268" cy="7753350"/>
              </a:xfrm>
            </p:spPr>
            <p:txBody>
              <a:bodyPr>
                <a:noAutofit/>
              </a:bodyPr>
              <a:lstStyle/>
              <a:p>
                <a:pPr marL="0" indent="0">
                  <a:spcBef>
                    <a:spcPts val="800"/>
                  </a:spcBef>
                  <a:spcAft>
                    <a:spcPts val="400"/>
                  </a:spcAft>
                  <a:buNone/>
                </a:pPr>
                <a:r>
                  <a:rPr lang="en-US" sz="2400" b="1" dirty="0">
                    <a:solidFill>
                      <a:schemeClr val="tx1"/>
                    </a:solidFill>
                    <a:latin typeface="Helvetica Neue"/>
                    <a:ea typeface="Times New Roman" panose="02020603050405020304" pitchFamily="18" charset="0"/>
                    <a:cs typeface="Times New Roman" panose="02020603050405020304" pitchFamily="18" charset="0"/>
                  </a:rPr>
                  <a:t>1. Làm </a:t>
                </a:r>
                <a:r>
                  <a:rPr lang="en-US" sz="2400" b="1" dirty="0" err="1">
                    <a:solidFill>
                      <a:schemeClr val="tx1"/>
                    </a:solidFill>
                    <a:latin typeface="Helvetica Neue"/>
                    <a:ea typeface="Times New Roman" panose="02020603050405020304" pitchFamily="18" charset="0"/>
                    <a:cs typeface="Times New Roman" panose="02020603050405020304" pitchFamily="18" charset="0"/>
                  </a:rPr>
                  <a:t>mờ</a:t>
                </a:r>
                <a:r>
                  <a:rPr lang="en-US" sz="2400" b="1" dirty="0">
                    <a:solidFill>
                      <a:schemeClr val="tx1"/>
                    </a:solidFill>
                    <a:latin typeface="Helvetica Neue"/>
                    <a:ea typeface="Times New Roman" panose="02020603050405020304" pitchFamily="18" charset="0"/>
                    <a:cs typeface="Times New Roman" panose="02020603050405020304" pitchFamily="18" charset="0"/>
                  </a:rPr>
                  <a:t> </a:t>
                </a:r>
                <a:r>
                  <a:rPr lang="en-US" sz="2400" b="1" dirty="0" err="1">
                    <a:solidFill>
                      <a:schemeClr val="tx1"/>
                    </a:solidFill>
                    <a:latin typeface="Helvetica Neue"/>
                    <a:ea typeface="Times New Roman" panose="02020603050405020304" pitchFamily="18" charset="0"/>
                    <a:cs typeface="Times New Roman" panose="02020603050405020304" pitchFamily="18" charset="0"/>
                  </a:rPr>
                  <a:t>ảnh</a:t>
                </a:r>
                <a:r>
                  <a:rPr lang="en-US" sz="2400" b="1" dirty="0">
                    <a:solidFill>
                      <a:schemeClr val="tx1"/>
                    </a:solidFill>
                    <a:latin typeface="Helvetica Neue"/>
                    <a:ea typeface="Times New Roman" panose="02020603050405020304" pitchFamily="18" charset="0"/>
                    <a:cs typeface="Times New Roman" panose="02020603050405020304" pitchFamily="18" charset="0"/>
                  </a:rPr>
                  <a:t> </a:t>
                </a:r>
                <a:r>
                  <a:rPr lang="en-US" sz="2400" b="1" dirty="0" err="1">
                    <a:solidFill>
                      <a:schemeClr val="tx1"/>
                    </a:solidFill>
                    <a:latin typeface="Helvetica Neue"/>
                    <a:ea typeface="Times New Roman" panose="02020603050405020304" pitchFamily="18" charset="0"/>
                    <a:cs typeface="Times New Roman" panose="02020603050405020304" pitchFamily="18" charset="0"/>
                  </a:rPr>
                  <a:t>bằng</a:t>
                </a:r>
                <a:r>
                  <a:rPr lang="en-US" sz="2400" b="1" dirty="0">
                    <a:solidFill>
                      <a:schemeClr val="tx1"/>
                    </a:solidFill>
                    <a:latin typeface="Helvetica Neue"/>
                    <a:ea typeface="Times New Roman" panose="02020603050405020304" pitchFamily="18" charset="0"/>
                    <a:cs typeface="Times New Roman" panose="02020603050405020304" pitchFamily="18" charset="0"/>
                  </a:rPr>
                  <a:t> </a:t>
                </a:r>
                <a:r>
                  <a:rPr lang="en-US" sz="2400" b="1" dirty="0" err="1">
                    <a:solidFill>
                      <a:schemeClr val="tx1"/>
                    </a:solidFill>
                    <a:latin typeface="Helvetica Neue"/>
                    <a:ea typeface="Times New Roman" panose="02020603050405020304" pitchFamily="18" charset="0"/>
                    <a:cs typeface="Times New Roman" panose="02020603050405020304" pitchFamily="18" charset="0"/>
                  </a:rPr>
                  <a:t>bộ</a:t>
                </a:r>
                <a:r>
                  <a:rPr lang="en-US" sz="2400" b="1" dirty="0">
                    <a:solidFill>
                      <a:schemeClr val="tx1"/>
                    </a:solidFill>
                    <a:latin typeface="Helvetica Neue"/>
                    <a:ea typeface="Times New Roman" panose="02020603050405020304" pitchFamily="18" charset="0"/>
                    <a:cs typeface="Times New Roman" panose="02020603050405020304" pitchFamily="18" charset="0"/>
                  </a:rPr>
                  <a:t> </a:t>
                </a:r>
                <a:r>
                  <a:rPr lang="en-US" sz="2400" b="1" dirty="0" err="1">
                    <a:solidFill>
                      <a:schemeClr val="tx1"/>
                    </a:solidFill>
                    <a:latin typeface="Helvetica Neue"/>
                    <a:ea typeface="Times New Roman" panose="02020603050405020304" pitchFamily="18" charset="0"/>
                    <a:cs typeface="Times New Roman" panose="02020603050405020304" pitchFamily="18" charset="0"/>
                  </a:rPr>
                  <a:t>lọc</a:t>
                </a:r>
                <a:r>
                  <a:rPr lang="en-US" sz="2400" b="1" dirty="0">
                    <a:solidFill>
                      <a:schemeClr val="tx1"/>
                    </a:solidFill>
                    <a:latin typeface="Helvetica Neue"/>
                    <a:ea typeface="Times New Roman" panose="02020603050405020304" pitchFamily="18" charset="0"/>
                    <a:cs typeface="Times New Roman" panose="02020603050405020304" pitchFamily="18" charset="0"/>
                  </a:rPr>
                  <a:t> Gauss</a:t>
                </a:r>
              </a:p>
              <a:p>
                <a:pPr>
                  <a:spcBef>
                    <a:spcPts val="900"/>
                  </a:spcBef>
                  <a:spcAft>
                    <a:spcPts val="900"/>
                  </a:spcAft>
                </a:pPr>
                <a:r>
                  <a:rPr lang="en-US" sz="2400" dirty="0" err="1">
                    <a:effectLst/>
                    <a:latin typeface="Helvetica Neue"/>
                    <a:ea typeface="Aptos"/>
                    <a:cs typeface="Times New Roman" panose="02020603050405020304" pitchFamily="18" charset="0"/>
                  </a:rPr>
                  <a:t>Trước</a:t>
                </a:r>
                <a:r>
                  <a:rPr lang="en-US" sz="2400" dirty="0">
                    <a:effectLst/>
                    <a:latin typeface="Helvetica Neue"/>
                    <a:ea typeface="Aptos"/>
                    <a:cs typeface="Times New Roman" panose="02020603050405020304" pitchFamily="18" charset="0"/>
                  </a:rPr>
                  <a:t> </a:t>
                </a:r>
                <a:r>
                  <a:rPr lang="en-US" sz="2400" dirty="0" err="1">
                    <a:effectLst/>
                    <a:latin typeface="Helvetica Neue"/>
                    <a:ea typeface="Aptos"/>
                    <a:cs typeface="Times New Roman" panose="02020603050405020304" pitchFamily="18" charset="0"/>
                  </a:rPr>
                  <a:t>khi</a:t>
                </a:r>
                <a:r>
                  <a:rPr lang="en-US" sz="2400" dirty="0">
                    <a:effectLst/>
                    <a:latin typeface="Helvetica Neue"/>
                    <a:ea typeface="Aptos"/>
                    <a:cs typeface="Times New Roman" panose="02020603050405020304" pitchFamily="18" charset="0"/>
                  </a:rPr>
                  <a:t> tính </a:t>
                </a:r>
                <a:r>
                  <a:rPr lang="en-US" sz="2400" dirty="0" err="1">
                    <a:effectLst/>
                    <a:latin typeface="Helvetica Neue"/>
                    <a:ea typeface="Aptos"/>
                    <a:cs typeface="Times New Roman" panose="02020603050405020304" pitchFamily="18" charset="0"/>
                  </a:rPr>
                  <a:t>biên</a:t>
                </a:r>
                <a:r>
                  <a:rPr lang="en-US" sz="2400" dirty="0">
                    <a:effectLst/>
                    <a:latin typeface="Helvetica Neue"/>
                    <a:ea typeface="Aptos"/>
                    <a:cs typeface="Times New Roman" panose="02020603050405020304" pitchFamily="18" charset="0"/>
                  </a:rPr>
                  <a:t>, </a:t>
                </a:r>
                <a:r>
                  <a:rPr lang="en-US" sz="2400" dirty="0" err="1">
                    <a:effectLst/>
                    <a:latin typeface="Helvetica Neue"/>
                    <a:ea typeface="Aptos"/>
                    <a:cs typeface="Times New Roman" panose="02020603050405020304" pitchFamily="18" charset="0"/>
                  </a:rPr>
                  <a:t>ảnh</a:t>
                </a:r>
                <a:r>
                  <a:rPr lang="en-US" sz="2400" dirty="0">
                    <a:effectLst/>
                    <a:latin typeface="Helvetica Neue"/>
                    <a:ea typeface="Aptos"/>
                    <a:cs typeface="Times New Roman" panose="02020603050405020304" pitchFamily="18" charset="0"/>
                  </a:rPr>
                  <a:t> </a:t>
                </a:r>
                <a:r>
                  <a:rPr lang="en-US" sz="2400" dirty="0" err="1">
                    <a:effectLst/>
                    <a:latin typeface="Helvetica Neue"/>
                    <a:ea typeface="Aptos"/>
                    <a:cs typeface="Times New Roman" panose="02020603050405020304" pitchFamily="18" charset="0"/>
                  </a:rPr>
                  <a:t>cần</a:t>
                </a:r>
                <a:r>
                  <a:rPr lang="en-US" sz="2400" dirty="0">
                    <a:effectLst/>
                    <a:latin typeface="Helvetica Neue"/>
                    <a:ea typeface="Aptos"/>
                    <a:cs typeface="Times New Roman" panose="02020603050405020304" pitchFamily="18" charset="0"/>
                  </a:rPr>
                  <a:t> </a:t>
                </a:r>
                <a:r>
                  <a:rPr lang="en-US" sz="2400" dirty="0" err="1">
                    <a:effectLst/>
                    <a:latin typeface="Helvetica Neue"/>
                    <a:ea typeface="Aptos"/>
                    <a:cs typeface="Times New Roman" panose="02020603050405020304" pitchFamily="18" charset="0"/>
                  </a:rPr>
                  <a:t>được</a:t>
                </a:r>
                <a:r>
                  <a:rPr lang="en-US" sz="2400" dirty="0">
                    <a:effectLst/>
                    <a:latin typeface="Helvetica Neue"/>
                    <a:ea typeface="Aptos"/>
                    <a:cs typeface="Times New Roman" panose="02020603050405020304" pitchFamily="18" charset="0"/>
                  </a:rPr>
                  <a:t> làm </a:t>
                </a:r>
                <a:r>
                  <a:rPr lang="en-US" sz="2400" dirty="0" err="1">
                    <a:effectLst/>
                    <a:latin typeface="Helvetica Neue"/>
                    <a:ea typeface="Aptos"/>
                    <a:cs typeface="Times New Roman" panose="02020603050405020304" pitchFamily="18" charset="0"/>
                  </a:rPr>
                  <a:t>mờ</a:t>
                </a:r>
                <a:r>
                  <a:rPr lang="en-US" sz="2400" dirty="0">
                    <a:effectLst/>
                    <a:latin typeface="Helvetica Neue"/>
                    <a:ea typeface="Aptos"/>
                    <a:cs typeface="Times New Roman" panose="02020603050405020304" pitchFamily="18" charset="0"/>
                  </a:rPr>
                  <a:t> </a:t>
                </a:r>
                <a:r>
                  <a:rPr lang="en-US" sz="2400" dirty="0" err="1">
                    <a:effectLst/>
                    <a:latin typeface="Helvetica Neue"/>
                    <a:ea typeface="Aptos"/>
                    <a:cs typeface="Times New Roman" panose="02020603050405020304" pitchFamily="18" charset="0"/>
                  </a:rPr>
                  <a:t>bằng</a:t>
                </a:r>
                <a:r>
                  <a:rPr lang="en-US" sz="2400" dirty="0">
                    <a:effectLst/>
                    <a:latin typeface="Helvetica Neue"/>
                    <a:ea typeface="Aptos"/>
                    <a:cs typeface="Times New Roman" panose="02020603050405020304" pitchFamily="18" charset="0"/>
                  </a:rPr>
                  <a:t> </a:t>
                </a:r>
                <a:r>
                  <a:rPr lang="en-US" sz="2400" dirty="0" err="1">
                    <a:effectLst/>
                    <a:latin typeface="Helvetica Neue"/>
                    <a:ea typeface="Aptos"/>
                    <a:cs typeface="Times New Roman" panose="02020603050405020304" pitchFamily="18" charset="0"/>
                  </a:rPr>
                  <a:t>bộ</a:t>
                </a:r>
                <a:r>
                  <a:rPr lang="en-US" sz="2400" dirty="0">
                    <a:effectLst/>
                    <a:latin typeface="Helvetica Neue"/>
                    <a:ea typeface="Aptos"/>
                    <a:cs typeface="Times New Roman" panose="02020603050405020304" pitchFamily="18" charset="0"/>
                  </a:rPr>
                  <a:t> </a:t>
                </a:r>
                <a:r>
                  <a:rPr lang="en-US" sz="2400" dirty="0" err="1">
                    <a:effectLst/>
                    <a:latin typeface="Helvetica Neue"/>
                    <a:ea typeface="Aptos"/>
                    <a:cs typeface="Times New Roman" panose="02020603050405020304" pitchFamily="18" charset="0"/>
                  </a:rPr>
                  <a:t>lọc</a:t>
                </a:r>
                <a:r>
                  <a:rPr lang="en-US" sz="2400" dirty="0">
                    <a:effectLst/>
                    <a:latin typeface="Helvetica Neue"/>
                    <a:ea typeface="Aptos"/>
                    <a:cs typeface="Times New Roman" panose="02020603050405020304" pitchFamily="18" charset="0"/>
                  </a:rPr>
                  <a:t> Gauss để </a:t>
                </a:r>
                <a:r>
                  <a:rPr lang="en-US" sz="2400" dirty="0" err="1">
                    <a:effectLst/>
                    <a:latin typeface="Helvetica Neue"/>
                    <a:ea typeface="Aptos"/>
                    <a:cs typeface="Times New Roman" panose="02020603050405020304" pitchFamily="18" charset="0"/>
                  </a:rPr>
                  <a:t>giảm</a:t>
                </a:r>
                <a:r>
                  <a:rPr lang="en-US" sz="2400" dirty="0">
                    <a:effectLst/>
                    <a:latin typeface="Helvetica Neue"/>
                    <a:ea typeface="Aptos"/>
                    <a:cs typeface="Times New Roman" panose="02020603050405020304" pitchFamily="18" charset="0"/>
                  </a:rPr>
                  <a:t> </a:t>
                </a:r>
                <a:r>
                  <a:rPr lang="en-US" sz="2400" dirty="0" err="1">
                    <a:effectLst/>
                    <a:latin typeface="Helvetica Neue"/>
                    <a:ea typeface="Aptos"/>
                    <a:cs typeface="Times New Roman" panose="02020603050405020304" pitchFamily="18" charset="0"/>
                  </a:rPr>
                  <a:t>nhiễu</a:t>
                </a:r>
                <a:r>
                  <a:rPr lang="en-US" sz="2400" dirty="0">
                    <a:effectLst/>
                    <a:latin typeface="Helvetica Neue"/>
                    <a:ea typeface="Aptos"/>
                    <a:cs typeface="Times New Roman" panose="02020603050405020304" pitchFamily="18" charset="0"/>
                  </a:rPr>
                  <a:t>:</a:t>
                </a: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Aptos"/>
                          <a:cs typeface="Times New Roman" panose="02020603050405020304" pitchFamily="18" charset="0"/>
                        </a:rPr>
                        <m:t>𝐺</m:t>
                      </m:r>
                      <m:d>
                        <m:dPr>
                          <m:ctrlPr>
                            <a:rPr lang="en-US" sz="2400" i="1">
                              <a:effectLst/>
                              <a:latin typeface="Cambria Math" panose="02040503050406030204" pitchFamily="18" charset="0"/>
                              <a:ea typeface="Aptos"/>
                              <a:cs typeface="Times New Roman" panose="02020603050405020304" pitchFamily="18" charset="0"/>
                            </a:rPr>
                          </m:ctrlPr>
                        </m:dPr>
                        <m:e>
                          <m:r>
                            <a:rPr lang="en-US" sz="2400" i="1">
                              <a:effectLst/>
                              <a:latin typeface="Cambria Math" panose="02040503050406030204" pitchFamily="18" charset="0"/>
                              <a:ea typeface="Aptos"/>
                              <a:cs typeface="Times New Roman" panose="02020603050405020304" pitchFamily="18" charset="0"/>
                            </a:rPr>
                            <m:t>𝑥</m:t>
                          </m:r>
                          <m:r>
                            <a:rPr lang="en-US" sz="2400">
                              <a:effectLst/>
                              <a:latin typeface="Cambria Math" panose="02040503050406030204" pitchFamily="18" charset="0"/>
                              <a:ea typeface="Aptos"/>
                              <a:cs typeface="Times New Roman" panose="02020603050405020304" pitchFamily="18" charset="0"/>
                            </a:rPr>
                            <m:t>,</m:t>
                          </m:r>
                          <m:r>
                            <a:rPr lang="en-US" sz="2400" i="1">
                              <a:effectLst/>
                              <a:latin typeface="Cambria Math" panose="02040503050406030204" pitchFamily="18" charset="0"/>
                              <a:ea typeface="Aptos"/>
                              <a:cs typeface="Times New Roman" panose="02020603050405020304" pitchFamily="18" charset="0"/>
                            </a:rPr>
                            <m:t>𝑦</m:t>
                          </m:r>
                        </m:e>
                      </m:d>
                      <m:r>
                        <a:rPr lang="en-US" sz="2400">
                          <a:effectLst/>
                          <a:latin typeface="Cambria Math" panose="02040503050406030204" pitchFamily="18" charset="0"/>
                          <a:ea typeface="Aptos"/>
                          <a:cs typeface="Times New Roman" panose="02020603050405020304" pitchFamily="18" charset="0"/>
                        </a:rPr>
                        <m:t>=</m:t>
                      </m:r>
                      <m:f>
                        <m:fPr>
                          <m:ctrlPr>
                            <a:rPr lang="en-US" sz="2400" i="1">
                              <a:effectLst/>
                              <a:latin typeface="Cambria Math" panose="02040503050406030204" pitchFamily="18" charset="0"/>
                              <a:ea typeface="Aptos"/>
                              <a:cs typeface="Times New Roman" panose="02020603050405020304" pitchFamily="18" charset="0"/>
                            </a:rPr>
                          </m:ctrlPr>
                        </m:fPr>
                        <m:num>
                          <m:r>
                            <a:rPr lang="en-US" sz="2400" i="1">
                              <a:effectLst/>
                              <a:latin typeface="Cambria Math" panose="02040503050406030204" pitchFamily="18" charset="0"/>
                              <a:ea typeface="Aptos"/>
                              <a:cs typeface="Times New Roman" panose="02020603050405020304" pitchFamily="18" charset="0"/>
                            </a:rPr>
                            <m:t>1</m:t>
                          </m:r>
                        </m:num>
                        <m:den>
                          <m:r>
                            <a:rPr lang="en-US" sz="2400" i="1">
                              <a:effectLst/>
                              <a:latin typeface="Cambria Math" panose="02040503050406030204" pitchFamily="18" charset="0"/>
                              <a:ea typeface="Aptos"/>
                              <a:cs typeface="Times New Roman" panose="02020603050405020304" pitchFamily="18" charset="0"/>
                            </a:rPr>
                            <m:t>2</m:t>
                          </m:r>
                          <m:r>
                            <a:rPr lang="en-US" sz="2400" i="1">
                              <a:effectLst/>
                              <a:latin typeface="Cambria Math" panose="02040503050406030204" pitchFamily="18" charset="0"/>
                              <a:ea typeface="Aptos"/>
                              <a:cs typeface="Times New Roman" panose="02020603050405020304" pitchFamily="18" charset="0"/>
                            </a:rPr>
                            <m:t>𝜋</m:t>
                          </m:r>
                          <m:sSup>
                            <m:sSupPr>
                              <m:ctrlPr>
                                <a:rPr lang="en-US" sz="2400" i="1">
                                  <a:effectLst/>
                                  <a:latin typeface="Cambria Math" panose="02040503050406030204" pitchFamily="18" charset="0"/>
                                  <a:ea typeface="Aptos"/>
                                  <a:cs typeface="Times New Roman" panose="02020603050405020304" pitchFamily="18" charset="0"/>
                                </a:rPr>
                              </m:ctrlPr>
                            </m:sSupPr>
                            <m:e>
                              <m:r>
                                <a:rPr lang="en-US" sz="2400" i="1">
                                  <a:effectLst/>
                                  <a:latin typeface="Cambria Math" panose="02040503050406030204" pitchFamily="18" charset="0"/>
                                  <a:ea typeface="Aptos"/>
                                  <a:cs typeface="Times New Roman" panose="02020603050405020304" pitchFamily="18" charset="0"/>
                                </a:rPr>
                                <m:t>𝜎</m:t>
                              </m:r>
                            </m:e>
                            <m:sup>
                              <m:r>
                                <a:rPr lang="en-US" sz="2400" i="1">
                                  <a:effectLst/>
                                  <a:latin typeface="Cambria Math" panose="02040503050406030204" pitchFamily="18" charset="0"/>
                                  <a:ea typeface="Aptos"/>
                                  <a:cs typeface="Times New Roman" panose="02020603050405020304" pitchFamily="18" charset="0"/>
                                </a:rPr>
                                <m:t>2</m:t>
                              </m:r>
                            </m:sup>
                          </m:sSup>
                        </m:den>
                      </m:f>
                      <m:sSup>
                        <m:sSupPr>
                          <m:ctrlPr>
                            <a:rPr lang="en-US" sz="2400" i="1">
                              <a:effectLst/>
                              <a:latin typeface="Cambria Math" panose="02040503050406030204" pitchFamily="18" charset="0"/>
                              <a:ea typeface="Aptos"/>
                              <a:cs typeface="Times New Roman" panose="02020603050405020304" pitchFamily="18" charset="0"/>
                            </a:rPr>
                          </m:ctrlPr>
                        </m:sSupPr>
                        <m:e>
                          <m:r>
                            <a:rPr lang="en-US" sz="2400" i="1">
                              <a:effectLst/>
                              <a:latin typeface="Cambria Math" panose="02040503050406030204" pitchFamily="18" charset="0"/>
                              <a:ea typeface="Aptos"/>
                              <a:cs typeface="Times New Roman" panose="02020603050405020304" pitchFamily="18" charset="0"/>
                            </a:rPr>
                            <m:t>𝑒</m:t>
                          </m:r>
                        </m:e>
                        <m:sup>
                          <m:r>
                            <a:rPr lang="en-US" sz="2400" i="1">
                              <a:effectLst/>
                              <a:latin typeface="Cambria Math" panose="02040503050406030204" pitchFamily="18" charset="0"/>
                              <a:ea typeface="Aptos"/>
                              <a:cs typeface="Times New Roman" panose="02020603050405020304" pitchFamily="18" charset="0"/>
                            </a:rPr>
                            <m:t>−</m:t>
                          </m:r>
                          <m:r>
                            <a:rPr lang="en-US" sz="2400" b="0" i="1" smtClean="0">
                              <a:effectLst/>
                              <a:latin typeface="Cambria Math" panose="02040503050406030204" pitchFamily="18" charset="0"/>
                              <a:ea typeface="Aptos"/>
                              <a:cs typeface="Times New Roman" panose="02020603050405020304" pitchFamily="18" charset="0"/>
                            </a:rPr>
                            <m:t> </m:t>
                          </m:r>
                          <m:f>
                            <m:fPr>
                              <m:ctrlPr>
                                <a:rPr lang="en-US" sz="2400" i="1">
                                  <a:effectLst/>
                                  <a:latin typeface="Cambria Math" panose="02040503050406030204" pitchFamily="18" charset="0"/>
                                  <a:ea typeface="Aptos"/>
                                  <a:cs typeface="Times New Roman" panose="02020603050405020304" pitchFamily="18" charset="0"/>
                                </a:rPr>
                              </m:ctrlPr>
                            </m:fPr>
                            <m:num>
                              <m:sSup>
                                <m:sSupPr>
                                  <m:ctrlPr>
                                    <a:rPr lang="en-US" sz="2400" i="1">
                                      <a:effectLst/>
                                      <a:latin typeface="Cambria Math" panose="02040503050406030204" pitchFamily="18" charset="0"/>
                                      <a:ea typeface="Aptos"/>
                                      <a:cs typeface="Times New Roman" panose="02020603050405020304" pitchFamily="18" charset="0"/>
                                    </a:rPr>
                                  </m:ctrlPr>
                                </m:sSupPr>
                                <m:e>
                                  <m:r>
                                    <a:rPr lang="en-US" sz="2400" i="1">
                                      <a:effectLst/>
                                      <a:latin typeface="Cambria Math" panose="02040503050406030204" pitchFamily="18" charset="0"/>
                                      <a:ea typeface="Aptos"/>
                                      <a:cs typeface="Times New Roman" panose="02020603050405020304" pitchFamily="18" charset="0"/>
                                    </a:rPr>
                                    <m:t>𝑥</m:t>
                                  </m:r>
                                </m:e>
                                <m:sup>
                                  <m:r>
                                    <a:rPr lang="en-US" sz="2400" i="1">
                                      <a:effectLst/>
                                      <a:latin typeface="Cambria Math" panose="02040503050406030204" pitchFamily="18" charset="0"/>
                                      <a:ea typeface="Aptos"/>
                                      <a:cs typeface="Times New Roman" panose="02020603050405020304" pitchFamily="18" charset="0"/>
                                    </a:rPr>
                                    <m:t>2</m:t>
                                  </m:r>
                                </m:sup>
                              </m:sSup>
                              <m:r>
                                <a:rPr lang="en-US" sz="2400">
                                  <a:effectLst/>
                                  <a:latin typeface="Cambria Math" panose="02040503050406030204" pitchFamily="18" charset="0"/>
                                  <a:ea typeface="Aptos"/>
                                  <a:cs typeface="Times New Roman" panose="02020603050405020304" pitchFamily="18" charset="0"/>
                                </a:rPr>
                                <m:t>+</m:t>
                              </m:r>
                              <m:sSup>
                                <m:sSupPr>
                                  <m:ctrlPr>
                                    <a:rPr lang="en-US" sz="2400" i="1">
                                      <a:effectLst/>
                                      <a:latin typeface="Cambria Math" panose="02040503050406030204" pitchFamily="18" charset="0"/>
                                      <a:ea typeface="Aptos"/>
                                      <a:cs typeface="Times New Roman" panose="02020603050405020304" pitchFamily="18" charset="0"/>
                                    </a:rPr>
                                  </m:ctrlPr>
                                </m:sSupPr>
                                <m:e>
                                  <m:r>
                                    <a:rPr lang="en-US" sz="2400" i="1">
                                      <a:effectLst/>
                                      <a:latin typeface="Cambria Math" panose="02040503050406030204" pitchFamily="18" charset="0"/>
                                      <a:ea typeface="Aptos"/>
                                      <a:cs typeface="Times New Roman" panose="02020603050405020304" pitchFamily="18" charset="0"/>
                                    </a:rPr>
                                    <m:t>𝑦</m:t>
                                  </m:r>
                                </m:e>
                                <m:sup>
                                  <m:r>
                                    <a:rPr lang="en-US" sz="2400" i="1">
                                      <a:effectLst/>
                                      <a:latin typeface="Cambria Math" panose="02040503050406030204" pitchFamily="18" charset="0"/>
                                      <a:ea typeface="Aptos"/>
                                      <a:cs typeface="Times New Roman" panose="02020603050405020304" pitchFamily="18" charset="0"/>
                                    </a:rPr>
                                    <m:t>2</m:t>
                                  </m:r>
                                </m:sup>
                              </m:sSup>
                            </m:num>
                            <m:den>
                              <m:r>
                                <a:rPr lang="en-US" sz="2400" i="1">
                                  <a:effectLst/>
                                  <a:latin typeface="Cambria Math" panose="02040503050406030204" pitchFamily="18" charset="0"/>
                                  <a:ea typeface="Aptos"/>
                                  <a:cs typeface="Times New Roman" panose="02020603050405020304" pitchFamily="18" charset="0"/>
                                </a:rPr>
                                <m:t>2</m:t>
                              </m:r>
                              <m:sSup>
                                <m:sSupPr>
                                  <m:ctrlPr>
                                    <a:rPr lang="en-US" sz="2400" i="1">
                                      <a:effectLst/>
                                      <a:latin typeface="Cambria Math" panose="02040503050406030204" pitchFamily="18" charset="0"/>
                                      <a:ea typeface="Aptos"/>
                                      <a:cs typeface="Times New Roman" panose="02020603050405020304" pitchFamily="18" charset="0"/>
                                    </a:rPr>
                                  </m:ctrlPr>
                                </m:sSupPr>
                                <m:e>
                                  <m:r>
                                    <a:rPr lang="en-US" sz="2400" i="1">
                                      <a:effectLst/>
                                      <a:latin typeface="Cambria Math" panose="02040503050406030204" pitchFamily="18" charset="0"/>
                                      <a:ea typeface="Aptos"/>
                                      <a:cs typeface="Times New Roman" panose="02020603050405020304" pitchFamily="18" charset="0"/>
                                    </a:rPr>
                                    <m:t>𝜎</m:t>
                                  </m:r>
                                </m:e>
                                <m:sup>
                                  <m:r>
                                    <a:rPr lang="en-US" sz="2400" i="1">
                                      <a:effectLst/>
                                      <a:latin typeface="Cambria Math" panose="02040503050406030204" pitchFamily="18" charset="0"/>
                                      <a:ea typeface="Aptos"/>
                                      <a:cs typeface="Times New Roman" panose="02020603050405020304" pitchFamily="18" charset="0"/>
                                    </a:rPr>
                                    <m:t>2</m:t>
                                  </m:r>
                                </m:sup>
                              </m:sSup>
                            </m:den>
                          </m:f>
                        </m:sup>
                      </m:sSup>
                    </m:oMath>
                  </m:oMathPara>
                </a14:m>
                <a:endParaRPr lang="en-US" sz="2400" dirty="0">
                  <a:effectLst/>
                  <a:latin typeface="Helvetica Neue"/>
                  <a:ea typeface="Aptos"/>
                  <a:cs typeface="Times New Roman" panose="02020603050405020304" pitchFamily="18" charset="0"/>
                </a:endParaRPr>
              </a:p>
              <a:p>
                <a:pPr>
                  <a:spcBef>
                    <a:spcPts val="900"/>
                  </a:spcBef>
                  <a:spcAft>
                    <a:spcPts val="900"/>
                  </a:spcAft>
                </a:pPr>
                <a:r>
                  <a:rPr lang="en-US" sz="2400" dirty="0" err="1">
                    <a:effectLst/>
                    <a:latin typeface="Helvetica Neue"/>
                    <a:ea typeface="Aptos"/>
                    <a:cs typeface="Times New Roman" panose="02020603050405020304" pitchFamily="18" charset="0"/>
                  </a:rPr>
                  <a:t>Một</a:t>
                </a:r>
                <a:r>
                  <a:rPr lang="en-US" sz="2400" dirty="0">
                    <a:effectLst/>
                    <a:latin typeface="Helvetica Neue"/>
                    <a:ea typeface="Aptos"/>
                    <a:cs typeface="Times New Roman" panose="02020603050405020304" pitchFamily="18" charset="0"/>
                  </a:rPr>
                  <a:t> </a:t>
                </a:r>
                <a:r>
                  <a:rPr lang="en-US" sz="2400" dirty="0" err="1">
                    <a:effectLst/>
                    <a:latin typeface="Helvetica Neue"/>
                    <a:ea typeface="Aptos"/>
                    <a:cs typeface="Times New Roman" panose="02020603050405020304" pitchFamily="18" charset="0"/>
                  </a:rPr>
                  <a:t>ví</a:t>
                </a:r>
                <a:r>
                  <a:rPr lang="en-US" sz="2400" dirty="0">
                    <a:effectLst/>
                    <a:latin typeface="Helvetica Neue"/>
                    <a:ea typeface="Aptos"/>
                    <a:cs typeface="Times New Roman" panose="02020603050405020304" pitchFamily="18" charset="0"/>
                  </a:rPr>
                  <a:t> </a:t>
                </a:r>
                <a:r>
                  <a:rPr lang="en-US" sz="2400" dirty="0" err="1">
                    <a:effectLst/>
                    <a:latin typeface="Helvetica Neue"/>
                    <a:ea typeface="Aptos"/>
                    <a:cs typeface="Times New Roman" panose="02020603050405020304" pitchFamily="18" charset="0"/>
                  </a:rPr>
                  <a:t>dụ</a:t>
                </a:r>
                <a:r>
                  <a:rPr lang="en-US" sz="2400" dirty="0">
                    <a:effectLst/>
                    <a:latin typeface="Helvetica Neue"/>
                    <a:ea typeface="Aptos"/>
                    <a:cs typeface="Times New Roman" panose="02020603050405020304" pitchFamily="18" charset="0"/>
                  </a:rPr>
                  <a:t> </a:t>
                </a:r>
                <a:r>
                  <a:rPr lang="en-US" sz="2400" dirty="0" err="1">
                    <a:effectLst/>
                    <a:latin typeface="Helvetica Neue"/>
                    <a:ea typeface="Aptos"/>
                    <a:cs typeface="Times New Roman" panose="02020603050405020304" pitchFamily="18" charset="0"/>
                  </a:rPr>
                  <a:t>về</a:t>
                </a:r>
                <a:r>
                  <a:rPr lang="en-US" sz="2400" dirty="0">
                    <a:effectLst/>
                    <a:latin typeface="Helvetica Neue"/>
                    <a:ea typeface="Aptos"/>
                    <a:cs typeface="Times New Roman" panose="02020603050405020304" pitchFamily="18" charset="0"/>
                  </a:rPr>
                  <a:t> </a:t>
                </a:r>
                <a:r>
                  <a:rPr lang="en-US" sz="2400" dirty="0" err="1">
                    <a:effectLst/>
                    <a:latin typeface="Helvetica Neue"/>
                    <a:ea typeface="Aptos"/>
                    <a:cs typeface="Times New Roman" panose="02020603050405020304" pitchFamily="18" charset="0"/>
                  </a:rPr>
                  <a:t>mặt</a:t>
                </a:r>
                <a:r>
                  <a:rPr lang="en-US" sz="2400" dirty="0">
                    <a:effectLst/>
                    <a:latin typeface="Helvetica Neue"/>
                    <a:ea typeface="Aptos"/>
                    <a:cs typeface="Times New Roman" panose="02020603050405020304" pitchFamily="18" charset="0"/>
                  </a:rPr>
                  <a:t> </a:t>
                </a:r>
                <a:r>
                  <a:rPr lang="en-US" sz="2400" dirty="0" err="1">
                    <a:effectLst/>
                    <a:latin typeface="Helvetica Neue"/>
                    <a:ea typeface="Aptos"/>
                    <a:cs typeface="Times New Roman" panose="02020603050405020304" pitchFamily="18" charset="0"/>
                  </a:rPr>
                  <a:t>nạ</a:t>
                </a:r>
                <a:r>
                  <a:rPr lang="en-US" sz="2400" dirty="0">
                    <a:effectLst/>
                    <a:latin typeface="Helvetica Neue"/>
                    <a:ea typeface="Aptos"/>
                    <a:cs typeface="Times New Roman" panose="02020603050405020304" pitchFamily="18" charset="0"/>
                  </a:rPr>
                  <a:t> Gauss </a:t>
                </a:r>
                <a14:m>
                  <m:oMath xmlns:m="http://schemas.openxmlformats.org/officeDocument/2006/math">
                    <m:r>
                      <a:rPr lang="en-US" sz="2400" i="1">
                        <a:effectLst/>
                        <a:latin typeface="Cambria Math" panose="02040503050406030204" pitchFamily="18" charset="0"/>
                        <a:ea typeface="Aptos"/>
                        <a:cs typeface="Times New Roman" panose="02020603050405020304" pitchFamily="18" charset="0"/>
                      </a:rPr>
                      <m:t>5</m:t>
                    </m:r>
                    <m:r>
                      <a:rPr lang="en-US" sz="2400">
                        <a:effectLst/>
                        <a:latin typeface="Cambria Math" panose="02040503050406030204" pitchFamily="18" charset="0"/>
                        <a:ea typeface="Aptos"/>
                        <a:cs typeface="Times New Roman" panose="02020603050405020304" pitchFamily="18" charset="0"/>
                      </a:rPr>
                      <m:t>×</m:t>
                    </m:r>
                    <m:r>
                      <a:rPr lang="en-US" sz="2400" i="1">
                        <a:effectLst/>
                        <a:latin typeface="Cambria Math" panose="02040503050406030204" pitchFamily="18" charset="0"/>
                        <a:ea typeface="Aptos"/>
                        <a:cs typeface="Times New Roman" panose="02020603050405020304" pitchFamily="18" charset="0"/>
                      </a:rPr>
                      <m:t>5</m:t>
                    </m:r>
                  </m:oMath>
                </a14:m>
                <a:r>
                  <a:rPr lang="en-US" sz="2400" dirty="0">
                    <a:effectLst/>
                    <a:latin typeface="Helvetica Neue"/>
                    <a:ea typeface="Aptos"/>
                    <a:cs typeface="Times New Roman" panose="02020603050405020304" pitchFamily="18" charset="0"/>
                  </a:rPr>
                  <a:t> </a:t>
                </a:r>
                <a:r>
                  <a:rPr lang="en-US" sz="2400" dirty="0" err="1">
                    <a:effectLst/>
                    <a:latin typeface="Helvetica Neue"/>
                    <a:ea typeface="Aptos"/>
                    <a:cs typeface="Times New Roman" panose="02020603050405020304" pitchFamily="18" charset="0"/>
                  </a:rPr>
                  <a:t>với</a:t>
                </a:r>
                <a:r>
                  <a:rPr lang="en-US" sz="2400" dirty="0">
                    <a:effectLst/>
                    <a:latin typeface="Helvetica Neue"/>
                    <a:ea typeface="Aptos"/>
                    <a:cs typeface="Times New Roman" panose="02020603050405020304" pitchFamily="18" charset="0"/>
                  </a:rPr>
                  <a:t> </a:t>
                </a:r>
                <a14:m>
                  <m:oMath xmlns:m="http://schemas.openxmlformats.org/officeDocument/2006/math">
                    <m:r>
                      <a:rPr lang="en-US" sz="2400" i="1">
                        <a:effectLst/>
                        <a:latin typeface="Cambria Math" panose="02040503050406030204" pitchFamily="18" charset="0"/>
                        <a:ea typeface="Aptos"/>
                        <a:cs typeface="Times New Roman" panose="02020603050405020304" pitchFamily="18" charset="0"/>
                      </a:rPr>
                      <m:t>𝜎</m:t>
                    </m:r>
                    <m:r>
                      <a:rPr lang="en-US" sz="2400">
                        <a:effectLst/>
                        <a:latin typeface="Cambria Math" panose="02040503050406030204" pitchFamily="18" charset="0"/>
                        <a:ea typeface="Aptos"/>
                        <a:cs typeface="Times New Roman" panose="02020603050405020304" pitchFamily="18" charset="0"/>
                      </a:rPr>
                      <m:t>=</m:t>
                    </m:r>
                    <m:r>
                      <a:rPr lang="en-US" sz="2400" i="1">
                        <a:effectLst/>
                        <a:latin typeface="Cambria Math" panose="02040503050406030204" pitchFamily="18" charset="0"/>
                        <a:ea typeface="Aptos"/>
                        <a:cs typeface="Times New Roman" panose="02020603050405020304" pitchFamily="18" charset="0"/>
                      </a:rPr>
                      <m:t>1.4</m:t>
                    </m:r>
                  </m:oMath>
                </a14:m>
                <a:r>
                  <a:rPr lang="en-US" sz="2400" dirty="0">
                    <a:effectLst/>
                    <a:latin typeface="Helvetica Neue"/>
                    <a:ea typeface="Aptos"/>
                    <a:cs typeface="Times New Roman" panose="02020603050405020304" pitchFamily="18" charset="0"/>
                  </a:rPr>
                  <a:t>:</a:t>
                </a: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f>
                        <m:fPr>
                          <m:ctrlPr>
                            <a:rPr lang="en-US" sz="2400" i="1">
                              <a:effectLst/>
                              <a:latin typeface="Cambria Math" panose="02040503050406030204" pitchFamily="18" charset="0"/>
                              <a:ea typeface="Aptos"/>
                              <a:cs typeface="Times New Roman" panose="02020603050405020304" pitchFamily="18" charset="0"/>
                            </a:rPr>
                          </m:ctrlPr>
                        </m:fPr>
                        <m:num>
                          <m:r>
                            <a:rPr lang="en-US" sz="2400" i="1">
                              <a:effectLst/>
                              <a:latin typeface="Cambria Math" panose="02040503050406030204" pitchFamily="18" charset="0"/>
                              <a:ea typeface="Aptos"/>
                              <a:cs typeface="Times New Roman" panose="02020603050405020304" pitchFamily="18" charset="0"/>
                            </a:rPr>
                            <m:t>1</m:t>
                          </m:r>
                        </m:num>
                        <m:den>
                          <m:r>
                            <a:rPr lang="en-US" sz="2400" i="1">
                              <a:effectLst/>
                              <a:latin typeface="Cambria Math" panose="02040503050406030204" pitchFamily="18" charset="0"/>
                              <a:ea typeface="Aptos"/>
                              <a:cs typeface="Times New Roman" panose="02020603050405020304" pitchFamily="18" charset="0"/>
                            </a:rPr>
                            <m:t>159</m:t>
                          </m:r>
                        </m:den>
                      </m:f>
                      <m:d>
                        <m:dPr>
                          <m:begChr m:val="["/>
                          <m:endChr m:val="]"/>
                          <m:ctrlPr>
                            <a:rPr lang="en-US" sz="2400" i="1">
                              <a:effectLst/>
                              <a:latin typeface="Cambria Math" panose="02040503050406030204" pitchFamily="18" charset="0"/>
                              <a:ea typeface="Aptos"/>
                              <a:cs typeface="Times New Roman" panose="02020603050405020304" pitchFamily="18" charset="0"/>
                            </a:rPr>
                          </m:ctrlPr>
                        </m:dPr>
                        <m:e>
                          <m:m>
                            <m:mPr>
                              <m:plcHide m:val="on"/>
                              <m:mcs>
                                <m:mc>
                                  <m:mcPr>
                                    <m:count m:val="5"/>
                                    <m:mcJc m:val="center"/>
                                  </m:mcPr>
                                </m:mc>
                              </m:mcs>
                              <m:ctrlPr>
                                <a:rPr lang="en-US" sz="2400" i="1">
                                  <a:effectLst/>
                                  <a:latin typeface="Cambria Math" panose="02040503050406030204" pitchFamily="18" charset="0"/>
                                  <a:ea typeface="Aptos"/>
                                  <a:cs typeface="Times New Roman" panose="02020603050405020304" pitchFamily="18" charset="0"/>
                                </a:rPr>
                              </m:ctrlPr>
                            </m:mPr>
                            <m:mr>
                              <m:e>
                                <m:r>
                                  <a:rPr lang="en-US" sz="2400" i="1">
                                    <a:effectLst/>
                                    <a:latin typeface="Cambria Math" panose="02040503050406030204" pitchFamily="18" charset="0"/>
                                    <a:ea typeface="Aptos"/>
                                    <a:cs typeface="Times New Roman" panose="02020603050405020304" pitchFamily="18" charset="0"/>
                                  </a:rPr>
                                  <m:t>2</m:t>
                                </m:r>
                              </m:e>
                              <m:e>
                                <m:r>
                                  <a:rPr lang="en-US" sz="2400" i="1">
                                    <a:effectLst/>
                                    <a:latin typeface="Cambria Math" panose="02040503050406030204" pitchFamily="18" charset="0"/>
                                    <a:ea typeface="Aptos"/>
                                    <a:cs typeface="Times New Roman" panose="02020603050405020304" pitchFamily="18" charset="0"/>
                                  </a:rPr>
                                  <m:t>4</m:t>
                                </m:r>
                              </m:e>
                              <m:e>
                                <m:r>
                                  <a:rPr lang="en-US" sz="2400" i="1">
                                    <a:effectLst/>
                                    <a:latin typeface="Cambria Math" panose="02040503050406030204" pitchFamily="18" charset="0"/>
                                    <a:ea typeface="Aptos"/>
                                    <a:cs typeface="Times New Roman" panose="02020603050405020304" pitchFamily="18" charset="0"/>
                                  </a:rPr>
                                  <m:t>5</m:t>
                                </m:r>
                              </m:e>
                              <m:e>
                                <m:r>
                                  <a:rPr lang="en-US" sz="2400" i="1">
                                    <a:effectLst/>
                                    <a:latin typeface="Cambria Math" panose="02040503050406030204" pitchFamily="18" charset="0"/>
                                    <a:ea typeface="Aptos"/>
                                    <a:cs typeface="Times New Roman" panose="02020603050405020304" pitchFamily="18" charset="0"/>
                                  </a:rPr>
                                  <m:t>4</m:t>
                                </m:r>
                              </m:e>
                              <m:e>
                                <m:r>
                                  <a:rPr lang="en-US" sz="2400" i="1">
                                    <a:effectLst/>
                                    <a:latin typeface="Cambria Math" panose="02040503050406030204" pitchFamily="18" charset="0"/>
                                    <a:ea typeface="Aptos"/>
                                    <a:cs typeface="Times New Roman" panose="02020603050405020304" pitchFamily="18" charset="0"/>
                                  </a:rPr>
                                  <m:t>2</m:t>
                                </m:r>
                              </m:e>
                            </m:mr>
                            <m:mr>
                              <m:e>
                                <m:r>
                                  <a:rPr lang="en-US" sz="2400" i="1">
                                    <a:effectLst/>
                                    <a:latin typeface="Cambria Math" panose="02040503050406030204" pitchFamily="18" charset="0"/>
                                    <a:ea typeface="Aptos"/>
                                    <a:cs typeface="Times New Roman" panose="02020603050405020304" pitchFamily="18" charset="0"/>
                                  </a:rPr>
                                  <m:t>4</m:t>
                                </m:r>
                              </m:e>
                              <m:e>
                                <m:r>
                                  <a:rPr lang="en-US" sz="2400" i="1">
                                    <a:effectLst/>
                                    <a:latin typeface="Cambria Math" panose="02040503050406030204" pitchFamily="18" charset="0"/>
                                    <a:ea typeface="Aptos"/>
                                    <a:cs typeface="Times New Roman" panose="02020603050405020304" pitchFamily="18" charset="0"/>
                                  </a:rPr>
                                  <m:t>9</m:t>
                                </m:r>
                              </m:e>
                              <m:e>
                                <m:r>
                                  <a:rPr lang="en-US" sz="2400" i="1">
                                    <a:effectLst/>
                                    <a:latin typeface="Cambria Math" panose="02040503050406030204" pitchFamily="18" charset="0"/>
                                    <a:ea typeface="Aptos"/>
                                    <a:cs typeface="Times New Roman" panose="02020603050405020304" pitchFamily="18" charset="0"/>
                                  </a:rPr>
                                  <m:t>12</m:t>
                                </m:r>
                              </m:e>
                              <m:e>
                                <m:r>
                                  <a:rPr lang="en-US" sz="2400" i="1">
                                    <a:effectLst/>
                                    <a:latin typeface="Cambria Math" panose="02040503050406030204" pitchFamily="18" charset="0"/>
                                    <a:ea typeface="Aptos"/>
                                    <a:cs typeface="Times New Roman" panose="02020603050405020304" pitchFamily="18" charset="0"/>
                                  </a:rPr>
                                  <m:t>9</m:t>
                                </m:r>
                              </m:e>
                              <m:e>
                                <m:r>
                                  <a:rPr lang="en-US" sz="2400" i="1">
                                    <a:effectLst/>
                                    <a:latin typeface="Cambria Math" panose="02040503050406030204" pitchFamily="18" charset="0"/>
                                    <a:ea typeface="Aptos"/>
                                    <a:cs typeface="Times New Roman" panose="02020603050405020304" pitchFamily="18" charset="0"/>
                                  </a:rPr>
                                  <m:t>4</m:t>
                                </m:r>
                              </m:e>
                            </m:mr>
                            <m:mr>
                              <m:e>
                                <m:r>
                                  <a:rPr lang="en-US" sz="2400" i="1">
                                    <a:effectLst/>
                                    <a:latin typeface="Cambria Math" panose="02040503050406030204" pitchFamily="18" charset="0"/>
                                    <a:ea typeface="Aptos"/>
                                    <a:cs typeface="Times New Roman" panose="02020603050405020304" pitchFamily="18" charset="0"/>
                                  </a:rPr>
                                  <m:t>5</m:t>
                                </m:r>
                              </m:e>
                              <m:e>
                                <m:r>
                                  <a:rPr lang="en-US" sz="2400" i="1">
                                    <a:effectLst/>
                                    <a:latin typeface="Cambria Math" panose="02040503050406030204" pitchFamily="18" charset="0"/>
                                    <a:ea typeface="Aptos"/>
                                    <a:cs typeface="Times New Roman" panose="02020603050405020304" pitchFamily="18" charset="0"/>
                                  </a:rPr>
                                  <m:t>12</m:t>
                                </m:r>
                              </m:e>
                              <m:e>
                                <m:r>
                                  <a:rPr lang="en-US" sz="2400" i="1">
                                    <a:effectLst/>
                                    <a:latin typeface="Cambria Math" panose="02040503050406030204" pitchFamily="18" charset="0"/>
                                    <a:ea typeface="Aptos"/>
                                    <a:cs typeface="Times New Roman" panose="02020603050405020304" pitchFamily="18" charset="0"/>
                                  </a:rPr>
                                  <m:t>15</m:t>
                                </m:r>
                              </m:e>
                              <m:e>
                                <m:r>
                                  <a:rPr lang="en-US" sz="2400" i="1">
                                    <a:effectLst/>
                                    <a:latin typeface="Cambria Math" panose="02040503050406030204" pitchFamily="18" charset="0"/>
                                    <a:ea typeface="Aptos"/>
                                    <a:cs typeface="Times New Roman" panose="02020603050405020304" pitchFamily="18" charset="0"/>
                                  </a:rPr>
                                  <m:t>12</m:t>
                                </m:r>
                              </m:e>
                              <m:e>
                                <m:r>
                                  <a:rPr lang="en-US" sz="2400" i="1">
                                    <a:effectLst/>
                                    <a:latin typeface="Cambria Math" panose="02040503050406030204" pitchFamily="18" charset="0"/>
                                    <a:ea typeface="Aptos"/>
                                    <a:cs typeface="Times New Roman" panose="02020603050405020304" pitchFamily="18" charset="0"/>
                                  </a:rPr>
                                  <m:t>5</m:t>
                                </m:r>
                              </m:e>
                            </m:mr>
                            <m:mr>
                              <m:e>
                                <m:r>
                                  <a:rPr lang="en-US" sz="2400" i="1">
                                    <a:effectLst/>
                                    <a:latin typeface="Cambria Math" panose="02040503050406030204" pitchFamily="18" charset="0"/>
                                    <a:ea typeface="Aptos"/>
                                    <a:cs typeface="Times New Roman" panose="02020603050405020304" pitchFamily="18" charset="0"/>
                                  </a:rPr>
                                  <m:t>4</m:t>
                                </m:r>
                              </m:e>
                              <m:e>
                                <m:r>
                                  <a:rPr lang="en-US" sz="2400" i="1">
                                    <a:effectLst/>
                                    <a:latin typeface="Cambria Math" panose="02040503050406030204" pitchFamily="18" charset="0"/>
                                    <a:ea typeface="Aptos"/>
                                    <a:cs typeface="Times New Roman" panose="02020603050405020304" pitchFamily="18" charset="0"/>
                                  </a:rPr>
                                  <m:t>9</m:t>
                                </m:r>
                              </m:e>
                              <m:e>
                                <m:r>
                                  <a:rPr lang="en-US" sz="2400" i="1">
                                    <a:effectLst/>
                                    <a:latin typeface="Cambria Math" panose="02040503050406030204" pitchFamily="18" charset="0"/>
                                    <a:ea typeface="Aptos"/>
                                    <a:cs typeface="Times New Roman" panose="02020603050405020304" pitchFamily="18" charset="0"/>
                                  </a:rPr>
                                  <m:t>12</m:t>
                                </m:r>
                              </m:e>
                              <m:e>
                                <m:r>
                                  <a:rPr lang="en-US" sz="2400" i="1">
                                    <a:effectLst/>
                                    <a:latin typeface="Cambria Math" panose="02040503050406030204" pitchFamily="18" charset="0"/>
                                    <a:ea typeface="Aptos"/>
                                    <a:cs typeface="Times New Roman" panose="02020603050405020304" pitchFamily="18" charset="0"/>
                                  </a:rPr>
                                  <m:t>9</m:t>
                                </m:r>
                              </m:e>
                              <m:e>
                                <m:r>
                                  <a:rPr lang="en-US" sz="2400" i="1">
                                    <a:effectLst/>
                                    <a:latin typeface="Cambria Math" panose="02040503050406030204" pitchFamily="18" charset="0"/>
                                    <a:ea typeface="Aptos"/>
                                    <a:cs typeface="Times New Roman" panose="02020603050405020304" pitchFamily="18" charset="0"/>
                                  </a:rPr>
                                  <m:t>4</m:t>
                                </m:r>
                              </m:e>
                            </m:mr>
                            <m:mr>
                              <m:e>
                                <m:r>
                                  <a:rPr lang="en-US" sz="2400" i="1">
                                    <a:effectLst/>
                                    <a:latin typeface="Cambria Math" panose="02040503050406030204" pitchFamily="18" charset="0"/>
                                    <a:ea typeface="Aptos"/>
                                    <a:cs typeface="Times New Roman" panose="02020603050405020304" pitchFamily="18" charset="0"/>
                                  </a:rPr>
                                  <m:t>2</m:t>
                                </m:r>
                              </m:e>
                              <m:e>
                                <m:r>
                                  <a:rPr lang="en-US" sz="2400" i="1">
                                    <a:effectLst/>
                                    <a:latin typeface="Cambria Math" panose="02040503050406030204" pitchFamily="18" charset="0"/>
                                    <a:ea typeface="Aptos"/>
                                    <a:cs typeface="Times New Roman" panose="02020603050405020304" pitchFamily="18" charset="0"/>
                                  </a:rPr>
                                  <m:t>4</m:t>
                                </m:r>
                              </m:e>
                              <m:e>
                                <m:r>
                                  <a:rPr lang="en-US" sz="2400" i="1">
                                    <a:effectLst/>
                                    <a:latin typeface="Cambria Math" panose="02040503050406030204" pitchFamily="18" charset="0"/>
                                    <a:ea typeface="Aptos"/>
                                    <a:cs typeface="Times New Roman" panose="02020603050405020304" pitchFamily="18" charset="0"/>
                                  </a:rPr>
                                  <m:t>5</m:t>
                                </m:r>
                              </m:e>
                              <m:e>
                                <m:r>
                                  <a:rPr lang="en-US" sz="2400" i="1">
                                    <a:effectLst/>
                                    <a:latin typeface="Cambria Math" panose="02040503050406030204" pitchFamily="18" charset="0"/>
                                    <a:ea typeface="Aptos"/>
                                    <a:cs typeface="Times New Roman" panose="02020603050405020304" pitchFamily="18" charset="0"/>
                                  </a:rPr>
                                  <m:t>4</m:t>
                                </m:r>
                              </m:e>
                              <m:e>
                                <m:r>
                                  <a:rPr lang="en-US" sz="2400" i="1">
                                    <a:effectLst/>
                                    <a:latin typeface="Cambria Math" panose="02040503050406030204" pitchFamily="18" charset="0"/>
                                    <a:ea typeface="Aptos"/>
                                    <a:cs typeface="Times New Roman" panose="02020603050405020304" pitchFamily="18" charset="0"/>
                                  </a:rPr>
                                  <m:t>2</m:t>
                                </m:r>
                              </m:e>
                            </m:mr>
                          </m:m>
                        </m:e>
                      </m:d>
                    </m:oMath>
                  </m:oMathPara>
                </a14:m>
                <a:endParaRPr lang="en-US" sz="2400" dirty="0">
                  <a:effectLst/>
                  <a:latin typeface="Helvetica Neue"/>
                  <a:ea typeface="Aptos"/>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76696" y="2228850"/>
                <a:ext cx="9375268" cy="7753350"/>
              </a:xfrm>
              <a:blipFill>
                <a:blip r:embed="rId2"/>
                <a:stretch>
                  <a:fillRect l="-975" t="-550"/>
                </a:stretch>
              </a:blipFill>
            </p:spPr>
            <p:txBody>
              <a:bodyPr/>
              <a:lstStyle/>
              <a:p>
                <a:r>
                  <a:rPr lang="en-US">
                    <a:noFill/>
                  </a:rPr>
                  <a:t> </a:t>
                </a:r>
              </a:p>
            </p:txBody>
          </p:sp>
        </mc:Fallback>
      </mc:AlternateContent>
    </p:spTree>
    <p:extLst>
      <p:ext uri="{BB962C8B-B14F-4D97-AF65-F5344CB8AC3E}">
        <p14:creationId xmlns:p14="http://schemas.microsoft.com/office/powerpoint/2010/main" val="32002442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00496" y="2215303"/>
                <a:ext cx="9375268" cy="5372618"/>
              </a:xfrm>
            </p:spPr>
            <p:txBody>
              <a:bodyPr>
                <a:normAutofit/>
              </a:bodyPr>
              <a:lstStyle/>
              <a:p>
                <a:pPr marL="0" indent="0">
                  <a:buNone/>
                </a:pPr>
                <a:r>
                  <a:rPr lang="en-US" sz="2400" b="1" dirty="0">
                    <a:latin typeface="Helvetica Neue"/>
                  </a:rPr>
                  <a:t>2. Tính </a:t>
                </a:r>
                <a:r>
                  <a:rPr lang="en-US" sz="2400" b="1" dirty="0" err="1">
                    <a:latin typeface="Helvetica Neue"/>
                  </a:rPr>
                  <a:t>toán</a:t>
                </a:r>
                <a:r>
                  <a:rPr lang="en-US" sz="2400" b="1" dirty="0">
                    <a:latin typeface="Helvetica Neue"/>
                  </a:rPr>
                  <a:t> gradient </a:t>
                </a:r>
                <a:r>
                  <a:rPr lang="en-US" sz="2400" b="1" dirty="0" err="1">
                    <a:latin typeface="Helvetica Neue"/>
                  </a:rPr>
                  <a:t>của</a:t>
                </a:r>
                <a:r>
                  <a:rPr lang="en-US" sz="2400" b="1" dirty="0">
                    <a:latin typeface="Helvetica Neue"/>
                  </a:rPr>
                  <a:t> </a:t>
                </a:r>
                <a:r>
                  <a:rPr lang="en-US" sz="2400" b="1" dirty="0" err="1">
                    <a:latin typeface="Helvetica Neue"/>
                  </a:rPr>
                  <a:t>ảnh</a:t>
                </a:r>
                <a:endParaRPr lang="en-US" sz="2400" b="1" dirty="0">
                  <a:latin typeface="Helvetica Neue"/>
                </a:endParaRPr>
              </a:p>
              <a:p>
                <a:r>
                  <a:rPr lang="en-US" sz="2400" dirty="0">
                    <a:latin typeface="Helvetica Neue"/>
                  </a:rPr>
                  <a:t>Gradient </a:t>
                </a:r>
                <a:r>
                  <a:rPr lang="en-US" sz="2400" dirty="0" err="1">
                    <a:latin typeface="Helvetica Neue"/>
                  </a:rPr>
                  <a:t>của</a:t>
                </a:r>
                <a:r>
                  <a:rPr lang="en-US" sz="2400" dirty="0">
                    <a:latin typeface="Helvetica Neue"/>
                  </a:rPr>
                  <a:t> </a:t>
                </a:r>
                <a:r>
                  <a:rPr lang="en-US" sz="2400" dirty="0" err="1">
                    <a:latin typeface="Helvetica Neue"/>
                  </a:rPr>
                  <a:t>ảnh</a:t>
                </a:r>
                <a:r>
                  <a:rPr lang="en-US" sz="2400" dirty="0">
                    <a:latin typeface="Helvetica Neue"/>
                  </a:rPr>
                  <a:t> </a:t>
                </a:r>
                <a:r>
                  <a:rPr lang="en-US" sz="2400" dirty="0" err="1">
                    <a:latin typeface="Helvetica Neue"/>
                  </a:rPr>
                  <a:t>được</a:t>
                </a:r>
                <a:r>
                  <a:rPr lang="en-US" sz="2400" dirty="0">
                    <a:latin typeface="Helvetica Neue"/>
                  </a:rPr>
                  <a:t> tính </a:t>
                </a:r>
                <a:r>
                  <a:rPr lang="en-US" sz="2400" dirty="0" err="1">
                    <a:latin typeface="Helvetica Neue"/>
                  </a:rPr>
                  <a:t>theo</a:t>
                </a:r>
                <a:r>
                  <a:rPr lang="en-US" sz="2400" dirty="0">
                    <a:latin typeface="Helvetica Neue"/>
                  </a:rPr>
                  <a:t> </a:t>
                </a:r>
                <a:r>
                  <a:rPr lang="en-US" sz="2400" dirty="0" err="1">
                    <a:latin typeface="Helvetica Neue"/>
                  </a:rPr>
                  <a:t>hai</a:t>
                </a:r>
                <a:r>
                  <a:rPr lang="en-US" sz="2400" dirty="0">
                    <a:latin typeface="Helvetica Neue"/>
                  </a:rPr>
                  <a:t> </a:t>
                </a:r>
                <a:r>
                  <a:rPr lang="en-US" sz="2400" dirty="0" err="1">
                    <a:latin typeface="Helvetica Neue"/>
                  </a:rPr>
                  <a:t>hướng</a:t>
                </a:r>
                <a:r>
                  <a:rPr lang="en-US" sz="2400" dirty="0">
                    <a:latin typeface="Helvetica Neue"/>
                  </a:rPr>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𝐺</m:t>
                        </m:r>
                      </m:e>
                      <m:sub>
                        <m:r>
                          <a:rPr lang="en-US" sz="2400" i="1">
                            <a:latin typeface="Cambria Math" panose="02040503050406030204" pitchFamily="18" charset="0"/>
                          </a:rPr>
                          <m:t>𝑥</m:t>
                        </m:r>
                      </m:sub>
                    </m:sSub>
                  </m:oMath>
                </a14:m>
                <a:r>
                  <a:rPr lang="en-US" sz="2400" dirty="0">
                    <a:latin typeface="Helvetica Neue"/>
                  </a:rPr>
                  <a:t> </a:t>
                </a:r>
                <a:r>
                  <a:rPr lang="en-US" sz="2400" dirty="0" err="1">
                    <a:latin typeface="Helvetica Neue"/>
                  </a:rPr>
                  <a:t>và</a:t>
                </a:r>
                <a:r>
                  <a:rPr lang="en-US" sz="2400" dirty="0">
                    <a:latin typeface="Helvetica Neue"/>
                  </a:rPr>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𝐺</m:t>
                        </m:r>
                      </m:e>
                      <m:sub>
                        <m:r>
                          <a:rPr lang="en-US" sz="2400" i="1">
                            <a:latin typeface="Cambria Math" panose="02040503050406030204" pitchFamily="18" charset="0"/>
                          </a:rPr>
                          <m:t>𝑦</m:t>
                        </m:r>
                      </m:sub>
                    </m:sSub>
                  </m:oMath>
                </a14:m>
                <a:r>
                  <a:rPr lang="en-US" sz="2400" dirty="0">
                    <a:latin typeface="Helvetica Neue"/>
                  </a:rPr>
                  <a:t> </a:t>
                </a:r>
                <a:r>
                  <a:rPr lang="en-US" sz="2400" dirty="0" err="1">
                    <a:latin typeface="Helvetica Neue"/>
                  </a:rPr>
                  <a:t>bằng</a:t>
                </a:r>
                <a:r>
                  <a:rPr lang="en-US" sz="2400" dirty="0">
                    <a:latin typeface="Helvetica Neue"/>
                  </a:rPr>
                  <a:t> </a:t>
                </a:r>
                <a:r>
                  <a:rPr lang="en-US" sz="2400" dirty="0" err="1">
                    <a:latin typeface="Helvetica Neue"/>
                  </a:rPr>
                  <a:t>toán</a:t>
                </a:r>
                <a:r>
                  <a:rPr lang="en-US" sz="2400" dirty="0">
                    <a:latin typeface="Helvetica Neue"/>
                  </a:rPr>
                  <a:t> </a:t>
                </a:r>
                <a:r>
                  <a:rPr lang="en-US" sz="2400" dirty="0" err="1">
                    <a:latin typeface="Helvetica Neue"/>
                  </a:rPr>
                  <a:t>tử</a:t>
                </a:r>
                <a:r>
                  <a:rPr lang="en-US" sz="2400" dirty="0">
                    <a:latin typeface="Helvetica Neue"/>
                  </a:rPr>
                  <a:t> Sobel:</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sSub>
                        <m:sSubPr>
                          <m:ctrlPr>
                            <a:rPr lang="en-US" sz="2400" i="1" smtClean="0">
                              <a:latin typeface="Cambria Math" panose="02040503050406030204" pitchFamily="18" charset="0"/>
                            </a:rPr>
                          </m:ctrlPr>
                        </m:sSubPr>
                        <m:e>
                          <m:r>
                            <a:rPr lang="en-US" sz="2400" i="1">
                              <a:latin typeface="Cambria Math" panose="02040503050406030204" pitchFamily="18" charset="0"/>
                            </a:rPr>
                            <m:t>𝐺</m:t>
                          </m:r>
                        </m:e>
                        <m:sub>
                          <m:r>
                            <a:rPr lang="en-US" sz="2400" i="1">
                              <a:latin typeface="Cambria Math" panose="02040503050406030204" pitchFamily="18" charset="0"/>
                            </a:rPr>
                            <m:t>𝑥</m:t>
                          </m:r>
                        </m:sub>
                      </m:sSub>
                      <m:r>
                        <a:rPr lang="en-US" sz="2400">
                          <a:latin typeface="Cambria Math" panose="02040503050406030204" pitchFamily="18" charset="0"/>
                        </a:rPr>
                        <m:t>=</m:t>
                      </m:r>
                      <m:d>
                        <m:dPr>
                          <m:begChr m:val="["/>
                          <m:endChr m:val="]"/>
                          <m:ctrlPr>
                            <a:rPr lang="en-US" sz="2400" i="1">
                              <a:latin typeface="Cambria Math" panose="02040503050406030204" pitchFamily="18" charset="0"/>
                            </a:rPr>
                          </m:ctrlPr>
                        </m:dPr>
                        <m:e>
                          <m:m>
                            <m:mPr>
                              <m:plcHide m:val="on"/>
                              <m:mcs>
                                <m:mc>
                                  <m:mcPr>
                                    <m:count m:val="3"/>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−1</m:t>
                                </m:r>
                              </m:e>
                              <m:e>
                                <m:r>
                                  <a:rPr lang="en-US" sz="2400" i="1">
                                    <a:latin typeface="Cambria Math" panose="02040503050406030204" pitchFamily="18" charset="0"/>
                                  </a:rPr>
                                  <m:t>0</m:t>
                                </m:r>
                              </m:e>
                              <m:e>
                                <m:r>
                                  <a:rPr lang="en-US" sz="2400" i="1">
                                    <a:latin typeface="Cambria Math" panose="02040503050406030204" pitchFamily="18" charset="0"/>
                                  </a:rPr>
                                  <m:t>1</m:t>
                                </m:r>
                              </m:e>
                            </m:mr>
                            <m:mr>
                              <m:e>
                                <m:r>
                                  <a:rPr lang="en-US" sz="2400" i="1">
                                    <a:latin typeface="Cambria Math" panose="02040503050406030204" pitchFamily="18" charset="0"/>
                                  </a:rPr>
                                  <m:t>−2</m:t>
                                </m:r>
                              </m:e>
                              <m:e>
                                <m:r>
                                  <a:rPr lang="en-US" sz="2400" i="1">
                                    <a:latin typeface="Cambria Math" panose="02040503050406030204" pitchFamily="18" charset="0"/>
                                  </a:rPr>
                                  <m:t>0</m:t>
                                </m:r>
                              </m:e>
                              <m:e>
                                <m:r>
                                  <a:rPr lang="en-US" sz="2400" i="1">
                                    <a:latin typeface="Cambria Math" panose="02040503050406030204" pitchFamily="18" charset="0"/>
                                  </a:rPr>
                                  <m:t>2</m:t>
                                </m:r>
                              </m:e>
                            </m:mr>
                            <m:mr>
                              <m:e>
                                <m:r>
                                  <a:rPr lang="en-US" sz="2400" i="1">
                                    <a:latin typeface="Cambria Math" panose="02040503050406030204" pitchFamily="18" charset="0"/>
                                  </a:rPr>
                                  <m:t>−1</m:t>
                                </m:r>
                              </m:e>
                              <m:e>
                                <m:r>
                                  <a:rPr lang="en-US" sz="2400" i="1">
                                    <a:latin typeface="Cambria Math" panose="02040503050406030204" pitchFamily="18" charset="0"/>
                                  </a:rPr>
                                  <m:t>0</m:t>
                                </m:r>
                              </m:e>
                              <m:e>
                                <m:r>
                                  <a:rPr lang="en-US" sz="2400" i="1">
                                    <a:latin typeface="Cambria Math" panose="02040503050406030204" pitchFamily="18" charset="0"/>
                                  </a:rPr>
                                  <m:t>1</m:t>
                                </m:r>
                              </m:e>
                            </m:mr>
                          </m:m>
                        </m:e>
                      </m:d>
                      <m:r>
                        <a:rPr lang="en-US" sz="2400" i="1">
                          <a:latin typeface="Cambria Math" panose="02040503050406030204" pitchFamily="18" charset="0"/>
                        </a:rPr>
                        <m:t>∗</m:t>
                      </m:r>
                      <m:r>
                        <a:rPr lang="en-US" sz="2400" i="1">
                          <a:latin typeface="Cambria Math" panose="02040503050406030204" pitchFamily="18" charset="0"/>
                        </a:rPr>
                        <m:t>𝐼</m:t>
                      </m:r>
                      <m:r>
                        <a:rPr lang="en-US" sz="2400">
                          <a:latin typeface="Cambria Math" panose="02040503050406030204" pitchFamily="18" charset="0"/>
                        </a:rPr>
                        <m:t>,</m:t>
                      </m:r>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𝐺</m:t>
                          </m:r>
                        </m:e>
                        <m:sub>
                          <m:r>
                            <a:rPr lang="en-US" sz="2400" i="1">
                              <a:latin typeface="Cambria Math" panose="02040503050406030204" pitchFamily="18" charset="0"/>
                            </a:rPr>
                            <m:t>𝑦</m:t>
                          </m:r>
                        </m:sub>
                      </m:sSub>
                      <m:r>
                        <a:rPr lang="en-US" sz="2400">
                          <a:latin typeface="Cambria Math" panose="02040503050406030204" pitchFamily="18" charset="0"/>
                        </a:rPr>
                        <m:t>=</m:t>
                      </m:r>
                      <m:d>
                        <m:dPr>
                          <m:begChr m:val="["/>
                          <m:endChr m:val="]"/>
                          <m:ctrlPr>
                            <a:rPr lang="en-US" sz="2400" i="1">
                              <a:latin typeface="Cambria Math" panose="02040503050406030204" pitchFamily="18" charset="0"/>
                            </a:rPr>
                          </m:ctrlPr>
                        </m:dPr>
                        <m:e>
                          <m:m>
                            <m:mPr>
                              <m:plcHide m:val="on"/>
                              <m:mcs>
                                <m:mc>
                                  <m:mcPr>
                                    <m:count m:val="3"/>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−1</m:t>
                                </m:r>
                              </m:e>
                              <m:e>
                                <m:r>
                                  <a:rPr lang="en-US" sz="2400" i="1">
                                    <a:latin typeface="Cambria Math" panose="02040503050406030204" pitchFamily="18" charset="0"/>
                                  </a:rPr>
                                  <m:t>−2</m:t>
                                </m:r>
                              </m:e>
                              <m:e>
                                <m:r>
                                  <a:rPr lang="en-US" sz="2400" i="1">
                                    <a:latin typeface="Cambria Math" panose="02040503050406030204" pitchFamily="18" charset="0"/>
                                  </a:rPr>
                                  <m:t>−1</m:t>
                                </m:r>
                              </m:e>
                            </m:mr>
                            <m:mr>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0</m:t>
                                </m:r>
                              </m:e>
                            </m:mr>
                            <m:mr>
                              <m:e>
                                <m:r>
                                  <a:rPr lang="en-US" sz="2400" i="1">
                                    <a:latin typeface="Cambria Math" panose="02040503050406030204" pitchFamily="18" charset="0"/>
                                  </a:rPr>
                                  <m:t>1</m:t>
                                </m:r>
                              </m:e>
                              <m:e>
                                <m:r>
                                  <a:rPr lang="en-US" sz="2400" i="1">
                                    <a:latin typeface="Cambria Math" panose="02040503050406030204" pitchFamily="18" charset="0"/>
                                  </a:rPr>
                                  <m:t>2</m:t>
                                </m:r>
                              </m:e>
                              <m:e>
                                <m:r>
                                  <a:rPr lang="en-US" sz="2400" i="1">
                                    <a:latin typeface="Cambria Math" panose="02040503050406030204" pitchFamily="18" charset="0"/>
                                  </a:rPr>
                                  <m:t>1</m:t>
                                </m:r>
                              </m:e>
                            </m:mr>
                          </m:m>
                        </m:e>
                      </m:d>
                      <m:r>
                        <a:rPr lang="en-US" sz="2400" i="1">
                          <a:latin typeface="Cambria Math" panose="02040503050406030204" pitchFamily="18" charset="0"/>
                        </a:rPr>
                        <m:t>∗</m:t>
                      </m:r>
                      <m:r>
                        <a:rPr lang="en-US" sz="2400" i="1">
                          <a:latin typeface="Cambria Math" panose="02040503050406030204" pitchFamily="18" charset="0"/>
                        </a:rPr>
                        <m:t>𝐼</m:t>
                      </m:r>
                    </m:oMath>
                  </m:oMathPara>
                </a14:m>
                <a:endParaRPr lang="en-US" sz="2400" dirty="0">
                  <a:latin typeface="Helvetica Neue"/>
                </a:endParaRPr>
              </a:p>
              <a:p>
                <a:r>
                  <a:rPr lang="en-US" sz="2400" dirty="0" err="1">
                    <a:latin typeface="Helvetica Neue"/>
                  </a:rPr>
                  <a:t>Từ</a:t>
                </a:r>
                <a:r>
                  <a:rPr lang="en-US" sz="2400" dirty="0">
                    <a:latin typeface="Helvetica Neue"/>
                  </a:rPr>
                  <a:t> </a:t>
                </a:r>
                <a:r>
                  <a:rPr lang="en-US" sz="2400" dirty="0" err="1">
                    <a:latin typeface="Helvetica Neue"/>
                  </a:rPr>
                  <a:t>đó</a:t>
                </a:r>
                <a:r>
                  <a:rPr lang="en-US" sz="2400" dirty="0">
                    <a:latin typeface="Helvetica Neue"/>
                  </a:rPr>
                  <a:t>, tính </a:t>
                </a:r>
                <a:r>
                  <a:rPr lang="en-US" sz="2400" dirty="0" err="1">
                    <a:latin typeface="Helvetica Neue"/>
                  </a:rPr>
                  <a:t>biên</a:t>
                </a:r>
                <a:r>
                  <a:rPr lang="en-US" sz="2400" dirty="0">
                    <a:latin typeface="Helvetica Neue"/>
                  </a:rPr>
                  <a:t> </a:t>
                </a:r>
                <a:r>
                  <a:rPr lang="en-US" sz="2400" dirty="0" err="1">
                    <a:latin typeface="Helvetica Neue"/>
                  </a:rPr>
                  <a:t>độ</a:t>
                </a:r>
                <a:r>
                  <a:rPr lang="en-US" sz="2400" dirty="0">
                    <a:latin typeface="Helvetica Neue"/>
                  </a:rPr>
                  <a:t> gradient:</a:t>
                </a:r>
              </a:p>
              <a:p>
                <a:pPr marL="0" indent="0">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𝐺</m:t>
                      </m:r>
                      <m:r>
                        <a:rPr lang="en-US" sz="2400">
                          <a:latin typeface="Cambria Math" panose="02040503050406030204" pitchFamily="18" charset="0"/>
                        </a:rPr>
                        <m:t>=</m:t>
                      </m:r>
                      <m:rad>
                        <m:radPr>
                          <m:degHide m:val="on"/>
                          <m:ctrlPr>
                            <a:rPr lang="en-US" sz="2400" i="1">
                              <a:latin typeface="Cambria Math" panose="02040503050406030204" pitchFamily="18" charset="0"/>
                            </a:rPr>
                          </m:ctrlPr>
                        </m:radPr>
                        <m:deg/>
                        <m:e>
                          <m:sSubSup>
                            <m:sSubSupPr>
                              <m:ctrlPr>
                                <a:rPr lang="en-US" sz="2400" i="1">
                                  <a:latin typeface="Cambria Math" panose="02040503050406030204" pitchFamily="18" charset="0"/>
                                </a:rPr>
                              </m:ctrlPr>
                            </m:sSubSupPr>
                            <m:e>
                              <m:r>
                                <a:rPr lang="en-US" sz="2400" i="1">
                                  <a:latin typeface="Cambria Math" panose="02040503050406030204" pitchFamily="18" charset="0"/>
                                </a:rPr>
                                <m:t>𝐺</m:t>
                              </m:r>
                            </m:e>
                            <m:sub>
                              <m:r>
                                <a:rPr lang="en-US" sz="2400" i="1">
                                  <a:latin typeface="Cambria Math" panose="02040503050406030204" pitchFamily="18" charset="0"/>
                                </a:rPr>
                                <m:t>𝑥</m:t>
                              </m:r>
                            </m:sub>
                            <m:sup>
                              <m:r>
                                <a:rPr lang="en-US" sz="2400" i="1">
                                  <a:latin typeface="Cambria Math" panose="02040503050406030204" pitchFamily="18" charset="0"/>
                                </a:rPr>
                                <m:t>2</m:t>
                              </m:r>
                            </m:sup>
                          </m:sSubSup>
                          <m:r>
                            <a:rPr lang="en-US" sz="2400">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𝐺</m:t>
                              </m:r>
                            </m:e>
                            <m:sub>
                              <m:r>
                                <a:rPr lang="en-US" sz="2400" i="1">
                                  <a:latin typeface="Cambria Math" panose="02040503050406030204" pitchFamily="18" charset="0"/>
                                </a:rPr>
                                <m:t>𝑦</m:t>
                              </m:r>
                            </m:sub>
                            <m:sup>
                              <m:r>
                                <a:rPr lang="en-US" sz="2400" i="1">
                                  <a:latin typeface="Cambria Math" panose="02040503050406030204" pitchFamily="18" charset="0"/>
                                </a:rPr>
                                <m:t>2</m:t>
                              </m:r>
                            </m:sup>
                          </m:sSubSup>
                        </m:e>
                      </m:rad>
                    </m:oMath>
                  </m:oMathPara>
                </a14:m>
                <a:endParaRPr lang="en-US" sz="2400" dirty="0">
                  <a:latin typeface="Helvetica Neue"/>
                </a:endParaRPr>
              </a:p>
              <a:p>
                <a:r>
                  <a:rPr lang="en-US" sz="2400" dirty="0" err="1">
                    <a:latin typeface="Helvetica Neue"/>
                  </a:rPr>
                  <a:t>Và</a:t>
                </a:r>
                <a:r>
                  <a:rPr lang="en-US" sz="2400" dirty="0">
                    <a:latin typeface="Helvetica Neue"/>
                  </a:rPr>
                  <a:t> </a:t>
                </a:r>
                <a:r>
                  <a:rPr lang="en-US" sz="2400" dirty="0" err="1">
                    <a:latin typeface="Helvetica Neue"/>
                  </a:rPr>
                  <a:t>góc</a:t>
                </a:r>
                <a:r>
                  <a:rPr lang="en-US" sz="2400" dirty="0">
                    <a:latin typeface="Helvetica Neue"/>
                  </a:rPr>
                  <a:t> </a:t>
                </a:r>
                <a:r>
                  <a:rPr lang="en-US" sz="2400" dirty="0" err="1">
                    <a:latin typeface="Helvetica Neue"/>
                  </a:rPr>
                  <a:t>hướng</a:t>
                </a:r>
                <a:r>
                  <a:rPr lang="en-US" sz="2400" dirty="0">
                    <a:latin typeface="Helvetica Neue"/>
                  </a:rPr>
                  <a:t> </a:t>
                </a:r>
                <a:r>
                  <a:rPr lang="en-US" sz="2400" dirty="0" err="1">
                    <a:latin typeface="Helvetica Neue"/>
                  </a:rPr>
                  <a:t>cạnh</a:t>
                </a:r>
                <a:r>
                  <a:rPr lang="en-US" sz="2400" dirty="0">
                    <a:latin typeface="Helvetica Neue"/>
                  </a:rPr>
                  <a:t>:</a:t>
                </a:r>
              </a:p>
              <a:p>
                <a:pPr marL="0" indent="0">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𝜃</m:t>
                      </m:r>
                      <m:r>
                        <a:rPr lang="en-US" sz="2400">
                          <a:latin typeface="Cambria Math" panose="02040503050406030204" pitchFamily="18" charset="0"/>
                        </a:rPr>
                        <m:t>=</m:t>
                      </m:r>
                      <m:sSup>
                        <m:sSupPr>
                          <m:ctrlPr>
                            <a:rPr lang="en-US" sz="2400" i="1">
                              <a:latin typeface="Cambria Math" panose="02040503050406030204" pitchFamily="18" charset="0"/>
                            </a:rPr>
                          </m:ctrlPr>
                        </m:sSupPr>
                        <m:e>
                          <m:r>
                            <m:rPr>
                              <m:sty m:val="p"/>
                            </m:rPr>
                            <a:rPr lang="en-US" sz="2400">
                              <a:latin typeface="Cambria Math" panose="02040503050406030204" pitchFamily="18" charset="0"/>
                            </a:rPr>
                            <m:t>tan</m:t>
                          </m:r>
                        </m:e>
                        <m:sup>
                          <m:r>
                            <a:rPr lang="en-US" sz="2400" i="1">
                              <a:latin typeface="Cambria Math" panose="02040503050406030204" pitchFamily="18" charset="0"/>
                            </a:rPr>
                            <m:t>−1</m:t>
                          </m:r>
                        </m:sup>
                      </m:sSup>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𝐺</m:t>
                                  </m:r>
                                </m:e>
                                <m:sub>
                                  <m:r>
                                    <a:rPr lang="en-US" sz="2400" i="1">
                                      <a:latin typeface="Cambria Math" panose="02040503050406030204" pitchFamily="18" charset="0"/>
                                    </a:rPr>
                                    <m:t>𝑦</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𝐺</m:t>
                                  </m:r>
                                </m:e>
                                <m:sub>
                                  <m:r>
                                    <a:rPr lang="en-US" sz="2400" i="1">
                                      <a:latin typeface="Cambria Math" panose="02040503050406030204" pitchFamily="18" charset="0"/>
                                    </a:rPr>
                                    <m:t>𝑥</m:t>
                                  </m:r>
                                </m:sub>
                              </m:sSub>
                            </m:den>
                          </m:f>
                        </m:e>
                      </m:d>
                    </m:oMath>
                  </m:oMathPara>
                </a14:m>
                <a:endParaRPr lang="en-US" sz="2400" dirty="0">
                  <a:latin typeface="Helvetica Neue"/>
                </a:endParaRPr>
              </a:p>
              <a:p>
                <a:pPr marL="0" indent="0">
                  <a:buNone/>
                </a:pPr>
                <a:endParaRPr lang="en-US" sz="2400" dirty="0">
                  <a:latin typeface="Helvetica Neue"/>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00496" y="2215303"/>
                <a:ext cx="9375268" cy="5372618"/>
              </a:xfrm>
              <a:blipFill>
                <a:blip r:embed="rId2"/>
                <a:stretch>
                  <a:fillRect l="-1041" t="-794"/>
                </a:stretch>
              </a:blipFill>
            </p:spPr>
            <p:txBody>
              <a:bodyPr/>
              <a:lstStyle/>
              <a:p>
                <a:r>
                  <a:rPr lang="en-US">
                    <a:noFill/>
                  </a:rPr>
                  <a:t> </a:t>
                </a:r>
              </a:p>
            </p:txBody>
          </p:sp>
        </mc:Fallback>
      </mc:AlternateContent>
    </p:spTree>
    <p:extLst>
      <p:ext uri="{BB962C8B-B14F-4D97-AF65-F5344CB8AC3E}">
        <p14:creationId xmlns:p14="http://schemas.microsoft.com/office/powerpoint/2010/main" val="37579360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829096" y="2329603"/>
                <a:ext cx="9375268" cy="5372618"/>
              </a:xfrm>
            </p:spPr>
            <p:txBody>
              <a:bodyPr>
                <a:normAutofit fontScale="92500" lnSpcReduction="20000"/>
              </a:bodyPr>
              <a:lstStyle/>
              <a:p>
                <a:pPr marL="0" indent="0">
                  <a:buNone/>
                </a:pPr>
                <a:r>
                  <a:rPr lang="en-US" b="1" dirty="0">
                    <a:latin typeface="Helvetica Neue"/>
                  </a:rPr>
                  <a:t>3. Non-Maximum Suppression</a:t>
                </a:r>
              </a:p>
              <a:p>
                <a:r>
                  <a:rPr lang="en-US" dirty="0" err="1">
                    <a:latin typeface="Helvetica Neue"/>
                  </a:rPr>
                  <a:t>Mục</a:t>
                </a:r>
                <a:r>
                  <a:rPr lang="en-US" dirty="0">
                    <a:latin typeface="Helvetica Neue"/>
                  </a:rPr>
                  <a:t> </a:t>
                </a:r>
                <a:r>
                  <a:rPr lang="en-US" dirty="0" err="1">
                    <a:latin typeface="Helvetica Neue"/>
                  </a:rPr>
                  <a:t>đích</a:t>
                </a:r>
                <a:r>
                  <a:rPr lang="en-US" dirty="0">
                    <a:latin typeface="Helvetica Neue"/>
                  </a:rPr>
                  <a:t> là </a:t>
                </a:r>
                <a:r>
                  <a:rPr lang="en-US" dirty="0" err="1">
                    <a:latin typeface="Helvetica Neue"/>
                  </a:rPr>
                  <a:t>chỉ</a:t>
                </a:r>
                <a:r>
                  <a:rPr lang="en-US" dirty="0">
                    <a:latin typeface="Helvetica Neue"/>
                  </a:rPr>
                  <a:t> </a:t>
                </a:r>
                <a:r>
                  <a:rPr lang="en-US" dirty="0" err="1">
                    <a:latin typeface="Helvetica Neue"/>
                  </a:rPr>
                  <a:t>giữ</a:t>
                </a:r>
                <a:r>
                  <a:rPr lang="en-US" dirty="0">
                    <a:latin typeface="Helvetica Neue"/>
                  </a:rPr>
                  <a:t> lại </a:t>
                </a:r>
                <a:r>
                  <a:rPr lang="en-US" dirty="0" err="1">
                    <a:latin typeface="Helvetica Neue"/>
                  </a:rPr>
                  <a:t>điểm</a:t>
                </a:r>
                <a:r>
                  <a:rPr lang="en-US" dirty="0">
                    <a:latin typeface="Helvetica Neue"/>
                  </a:rPr>
                  <a:t> có </a:t>
                </a:r>
                <a:r>
                  <a:rPr lang="en-US" dirty="0" err="1">
                    <a:latin typeface="Helvetica Neue"/>
                  </a:rPr>
                  <a:t>biên</a:t>
                </a:r>
                <a:r>
                  <a:rPr lang="en-US" dirty="0">
                    <a:latin typeface="Helvetica Neue"/>
                  </a:rPr>
                  <a:t> </a:t>
                </a:r>
                <a:r>
                  <a:rPr lang="en-US" dirty="0" err="1">
                    <a:latin typeface="Helvetica Neue"/>
                  </a:rPr>
                  <a:t>độ</a:t>
                </a:r>
                <a:r>
                  <a:rPr lang="en-US" dirty="0">
                    <a:latin typeface="Helvetica Neue"/>
                  </a:rPr>
                  <a:t> </a:t>
                </a:r>
                <a:r>
                  <a:rPr lang="en-US" dirty="0" err="1">
                    <a:latin typeface="Helvetica Neue"/>
                  </a:rPr>
                  <a:t>lớn</a:t>
                </a:r>
                <a:r>
                  <a:rPr lang="en-US" dirty="0">
                    <a:latin typeface="Helvetica Neue"/>
                  </a:rPr>
                  <a:t> </a:t>
                </a:r>
                <a:r>
                  <a:rPr lang="en-US" dirty="0" err="1">
                    <a:latin typeface="Helvetica Neue"/>
                  </a:rPr>
                  <a:t>nhất</a:t>
                </a:r>
                <a:r>
                  <a:rPr lang="en-US" dirty="0">
                    <a:latin typeface="Helvetica Neue"/>
                  </a:rPr>
                  <a:t> </a:t>
                </a:r>
                <a:r>
                  <a:rPr lang="en-US" dirty="0" err="1">
                    <a:latin typeface="Helvetica Neue"/>
                  </a:rPr>
                  <a:t>theo</a:t>
                </a:r>
                <a:r>
                  <a:rPr lang="en-US" dirty="0">
                    <a:latin typeface="Helvetica Neue"/>
                  </a:rPr>
                  <a:t> </a:t>
                </a:r>
                <a:r>
                  <a:rPr lang="en-US" dirty="0" err="1">
                    <a:latin typeface="Helvetica Neue"/>
                  </a:rPr>
                  <a:t>hướng</a:t>
                </a:r>
                <a:r>
                  <a:rPr lang="en-US" dirty="0">
                    <a:latin typeface="Helvetica Neue"/>
                  </a:rPr>
                  <a:t> gradient </a:t>
                </a:r>
                <a:r>
                  <a:rPr lang="en-US" dirty="0" err="1">
                    <a:latin typeface="Helvetica Neue"/>
                  </a:rPr>
                  <a:t>và</a:t>
                </a:r>
                <a:r>
                  <a:rPr lang="en-US" dirty="0">
                    <a:latin typeface="Helvetica Neue"/>
                  </a:rPr>
                  <a:t> </a:t>
                </a:r>
                <a:r>
                  <a:rPr lang="en-US" dirty="0" err="1">
                    <a:latin typeface="Helvetica Neue"/>
                  </a:rPr>
                  <a:t>loại</a:t>
                </a:r>
                <a:r>
                  <a:rPr lang="en-US" dirty="0">
                    <a:latin typeface="Helvetica Neue"/>
                  </a:rPr>
                  <a:t> bỏ </a:t>
                </a:r>
                <a:r>
                  <a:rPr lang="en-US" dirty="0" err="1">
                    <a:latin typeface="Helvetica Neue"/>
                  </a:rPr>
                  <a:t>các</a:t>
                </a:r>
                <a:r>
                  <a:rPr lang="en-US" dirty="0">
                    <a:latin typeface="Helvetica Neue"/>
                  </a:rPr>
                  <a:t> </a:t>
                </a:r>
                <a:r>
                  <a:rPr lang="en-US" dirty="0" err="1">
                    <a:latin typeface="Helvetica Neue"/>
                  </a:rPr>
                  <a:t>điểm</a:t>
                </a:r>
                <a:r>
                  <a:rPr lang="en-US" dirty="0">
                    <a:latin typeface="Helvetica Neue"/>
                  </a:rPr>
                  <a:t> </a:t>
                </a:r>
                <a:r>
                  <a:rPr lang="en-US" dirty="0" err="1">
                    <a:latin typeface="Helvetica Neue"/>
                  </a:rPr>
                  <a:t>không</a:t>
                </a:r>
                <a:r>
                  <a:rPr lang="en-US" dirty="0">
                    <a:latin typeface="Helvetica Neue"/>
                  </a:rPr>
                  <a:t> phải là </a:t>
                </a:r>
                <a:r>
                  <a:rPr lang="en-US" dirty="0" err="1">
                    <a:latin typeface="Helvetica Neue"/>
                  </a:rPr>
                  <a:t>cực</a:t>
                </a:r>
                <a:r>
                  <a:rPr lang="en-US" dirty="0">
                    <a:latin typeface="Helvetica Neue"/>
                  </a:rPr>
                  <a:t> </a:t>
                </a:r>
                <a:r>
                  <a:rPr lang="en-US" dirty="0" err="1">
                    <a:latin typeface="Helvetica Neue"/>
                  </a:rPr>
                  <a:t>đại</a:t>
                </a:r>
                <a:r>
                  <a:rPr lang="en-US" dirty="0">
                    <a:latin typeface="Helvetica Neue"/>
                  </a:rPr>
                  <a:t> </a:t>
                </a:r>
                <a:r>
                  <a:rPr lang="en-US" dirty="0" err="1">
                    <a:latin typeface="Helvetica Neue"/>
                  </a:rPr>
                  <a:t>cục</a:t>
                </a:r>
                <a:r>
                  <a:rPr lang="en-US" dirty="0">
                    <a:latin typeface="Helvetica Neue"/>
                  </a:rPr>
                  <a:t> </a:t>
                </a:r>
                <a:r>
                  <a:rPr lang="en-US" dirty="0" err="1">
                    <a:latin typeface="Helvetica Neue"/>
                  </a:rPr>
                  <a:t>bộ</a:t>
                </a:r>
                <a:r>
                  <a:rPr lang="en-US" dirty="0">
                    <a:latin typeface="Helvetica Neue"/>
                  </a:rPr>
                  <a:t>.</a:t>
                </a:r>
              </a:p>
              <a:p>
                <a:pPr marL="0" indent="0">
                  <a:buNone/>
                </a:pPr>
                <a:r>
                  <a:rPr lang="en-US" b="1" dirty="0">
                    <a:latin typeface="Helvetica Neue"/>
                  </a:rPr>
                  <a:t>4. </a:t>
                </a:r>
                <a:r>
                  <a:rPr lang="en-US" b="1" dirty="0" err="1">
                    <a:latin typeface="Helvetica Neue"/>
                  </a:rPr>
                  <a:t>Ngưỡng</a:t>
                </a:r>
                <a:r>
                  <a:rPr lang="en-US" b="1" dirty="0">
                    <a:latin typeface="Helvetica Neue"/>
                  </a:rPr>
                  <a:t> </a:t>
                </a:r>
                <a:r>
                  <a:rPr lang="en-US" b="1" dirty="0" err="1">
                    <a:latin typeface="Helvetica Neue"/>
                  </a:rPr>
                  <a:t>hóa</a:t>
                </a:r>
                <a:r>
                  <a:rPr lang="en-US" b="1" dirty="0">
                    <a:latin typeface="Helvetica Neue"/>
                  </a:rPr>
                  <a:t> </a:t>
                </a:r>
                <a:r>
                  <a:rPr lang="en-US" b="1" dirty="0" err="1">
                    <a:latin typeface="Helvetica Neue"/>
                  </a:rPr>
                  <a:t>kép</a:t>
                </a:r>
                <a:endParaRPr lang="en-US" b="1" dirty="0">
                  <a:latin typeface="Helvetica Neue"/>
                </a:endParaRPr>
              </a:p>
              <a:p>
                <a:r>
                  <a:rPr lang="en-US" dirty="0" err="1">
                    <a:latin typeface="Helvetica Neue"/>
                  </a:rPr>
                  <a:t>Sử</a:t>
                </a:r>
                <a:r>
                  <a:rPr lang="en-US" dirty="0">
                    <a:latin typeface="Helvetica Neue"/>
                  </a:rPr>
                  <a:t> </a:t>
                </a:r>
                <a:r>
                  <a:rPr lang="en-US" dirty="0" err="1">
                    <a:latin typeface="Helvetica Neue"/>
                  </a:rPr>
                  <a:t>dụng</a:t>
                </a:r>
                <a:r>
                  <a:rPr lang="en-US" dirty="0">
                    <a:latin typeface="Helvetica Neue"/>
                  </a:rPr>
                  <a:t> </a:t>
                </a:r>
                <a:r>
                  <a:rPr lang="en-US" dirty="0" err="1">
                    <a:latin typeface="Helvetica Neue"/>
                  </a:rPr>
                  <a:t>hai</a:t>
                </a:r>
                <a:r>
                  <a:rPr lang="en-US" dirty="0">
                    <a:latin typeface="Helvetica Neue"/>
                  </a:rPr>
                  <a:t> </a:t>
                </a:r>
                <a:r>
                  <a:rPr lang="en-US" dirty="0" err="1">
                    <a:latin typeface="Helvetica Neue"/>
                  </a:rPr>
                  <a:t>ngưỡng</a:t>
                </a:r>
                <a:r>
                  <a:rPr lang="en-US" dirty="0">
                    <a:latin typeface="Helvetica Neue"/>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h𝑖𝑔h</m:t>
                        </m:r>
                      </m:sub>
                    </m:sSub>
                  </m:oMath>
                </a14:m>
                <a:r>
                  <a:rPr lang="en-US" dirty="0">
                    <a:latin typeface="Helvetica Neue"/>
                  </a:rPr>
                  <a:t> </a:t>
                </a:r>
                <a:r>
                  <a:rPr lang="en-US" dirty="0" err="1">
                    <a:latin typeface="Helvetica Neue"/>
                  </a:rPr>
                  <a:t>và</a:t>
                </a:r>
                <a:r>
                  <a:rPr lang="en-US" dirty="0">
                    <a:latin typeface="Helvetica Neue"/>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𝑙𝑜𝑤</m:t>
                        </m:r>
                      </m:sub>
                    </m:sSub>
                  </m:oMath>
                </a14:m>
                <a:r>
                  <a:rPr lang="en-US" dirty="0">
                    <a:latin typeface="Helvetica Neue"/>
                  </a:rPr>
                  <a:t>:</a:t>
                </a:r>
              </a:p>
              <a:p>
                <a:pPr marL="0" lvl="0" indent="0">
                  <a:buNone/>
                </a:pPr>
                <a:r>
                  <a:rPr lang="en-US" b="1" dirty="0">
                    <a:latin typeface="Helvetica Neue"/>
                  </a:rPr>
                  <a:t>	</a:t>
                </a:r>
                <a:r>
                  <a:rPr lang="en-US" dirty="0" err="1">
                    <a:latin typeface="Helvetica Neue"/>
                  </a:rPr>
                  <a:t>Biên</a:t>
                </a:r>
                <a:r>
                  <a:rPr lang="en-US" dirty="0">
                    <a:latin typeface="Helvetica Neue"/>
                  </a:rPr>
                  <a:t> mạnh: </a:t>
                </a:r>
                <a14:m>
                  <m:oMath xmlns:m="http://schemas.openxmlformats.org/officeDocument/2006/math">
                    <m:r>
                      <a:rPr lang="en-US" b="0" i="1">
                        <a:latin typeface="Cambria Math" panose="02040503050406030204" pitchFamily="18" charset="0"/>
                      </a:rPr>
                      <m:t>𝐺</m:t>
                    </m:r>
                    <m:r>
                      <a:rPr lang="en-US" b="0">
                        <a:latin typeface="Cambria Math" panose="02040503050406030204" pitchFamily="18" charset="0"/>
                      </a:rPr>
                      <m:t>&gt;</m:t>
                    </m:r>
                    <m:sSub>
                      <m:sSubPr>
                        <m:ctrlPr>
                          <a:rPr lang="en-US" i="1">
                            <a:latin typeface="Cambria Math" panose="02040503050406030204" pitchFamily="18" charset="0"/>
                          </a:rPr>
                        </m:ctrlPr>
                      </m:sSubPr>
                      <m:e>
                        <m:r>
                          <a:rPr lang="en-US" b="0" i="1">
                            <a:latin typeface="Cambria Math" panose="02040503050406030204" pitchFamily="18" charset="0"/>
                          </a:rPr>
                          <m:t>𝑇</m:t>
                        </m:r>
                      </m:e>
                      <m:sub>
                        <m:r>
                          <a:rPr lang="en-US" b="0" i="1">
                            <a:latin typeface="Cambria Math" panose="02040503050406030204" pitchFamily="18" charset="0"/>
                          </a:rPr>
                          <m:t>h𝑖𝑔h</m:t>
                        </m:r>
                      </m:sub>
                    </m:sSub>
                  </m:oMath>
                </a14:m>
                <a:r>
                  <a:rPr lang="en-US" dirty="0">
                    <a:latin typeface="Helvetica Neue"/>
                  </a:rPr>
                  <a:t>, </a:t>
                </a:r>
                <a:r>
                  <a:rPr lang="en-US" dirty="0" err="1">
                    <a:latin typeface="Helvetica Neue"/>
                  </a:rPr>
                  <a:t>được</a:t>
                </a:r>
                <a:r>
                  <a:rPr lang="en-US" dirty="0">
                    <a:latin typeface="Helvetica Neue"/>
                  </a:rPr>
                  <a:t> </a:t>
                </a:r>
                <a:r>
                  <a:rPr lang="en-US" dirty="0" err="1">
                    <a:latin typeface="Helvetica Neue"/>
                  </a:rPr>
                  <a:t>giữ</a:t>
                </a:r>
                <a:r>
                  <a:rPr lang="en-US" dirty="0">
                    <a:latin typeface="Helvetica Neue"/>
                  </a:rPr>
                  <a:t> lại.</a:t>
                </a:r>
              </a:p>
              <a:p>
                <a:pPr marL="0" lvl="0" indent="0">
                  <a:buNone/>
                </a:pPr>
                <a:r>
                  <a:rPr lang="en-US" dirty="0">
                    <a:latin typeface="Helvetica Neue"/>
                  </a:rPr>
                  <a:t>	</a:t>
                </a:r>
                <a:r>
                  <a:rPr lang="en-US" dirty="0" err="1">
                    <a:latin typeface="Helvetica Neue"/>
                  </a:rPr>
                  <a:t>Biên</a:t>
                </a:r>
                <a:r>
                  <a:rPr lang="en-US" dirty="0">
                    <a:latin typeface="Helvetica Neue"/>
                  </a:rPr>
                  <a:t> </a:t>
                </a:r>
                <a:r>
                  <a:rPr lang="en-US" dirty="0" err="1">
                    <a:latin typeface="Helvetica Neue"/>
                  </a:rPr>
                  <a:t>yếu</a:t>
                </a:r>
                <a:r>
                  <a:rPr lang="en-US" dirty="0">
                    <a:latin typeface="Helvetica Neue"/>
                  </a:rPr>
                  <a:t>: </a:t>
                </a:r>
                <a14:m>
                  <m:oMath xmlns:m="http://schemas.openxmlformats.org/officeDocument/2006/math">
                    <m:sSub>
                      <m:sSubPr>
                        <m:ctrlPr>
                          <a:rPr lang="en-US" i="1">
                            <a:latin typeface="Cambria Math" panose="02040503050406030204" pitchFamily="18" charset="0"/>
                          </a:rPr>
                        </m:ctrlPr>
                      </m:sSubPr>
                      <m:e>
                        <m:r>
                          <a:rPr lang="en-US" b="0" i="1">
                            <a:latin typeface="Cambria Math" panose="02040503050406030204" pitchFamily="18" charset="0"/>
                          </a:rPr>
                          <m:t>𝑇</m:t>
                        </m:r>
                      </m:e>
                      <m:sub>
                        <m:r>
                          <a:rPr lang="en-US" b="0" i="1">
                            <a:latin typeface="Cambria Math" panose="02040503050406030204" pitchFamily="18" charset="0"/>
                          </a:rPr>
                          <m:t>𝑙𝑜𝑤</m:t>
                        </m:r>
                      </m:sub>
                    </m:sSub>
                    <m:r>
                      <a:rPr lang="en-US" b="0">
                        <a:latin typeface="Cambria Math" panose="02040503050406030204" pitchFamily="18" charset="0"/>
                      </a:rPr>
                      <m:t>&lt;</m:t>
                    </m:r>
                    <m:r>
                      <a:rPr lang="en-US" b="0" i="1">
                        <a:latin typeface="Cambria Math" panose="02040503050406030204" pitchFamily="18" charset="0"/>
                      </a:rPr>
                      <m:t>𝐺</m:t>
                    </m:r>
                    <m:r>
                      <a:rPr lang="en-US" b="0">
                        <a:latin typeface="Cambria Math" panose="02040503050406030204" pitchFamily="18" charset="0"/>
                      </a:rPr>
                      <m:t>&lt;</m:t>
                    </m:r>
                    <m:sSub>
                      <m:sSubPr>
                        <m:ctrlPr>
                          <a:rPr lang="en-US" i="1">
                            <a:latin typeface="Cambria Math" panose="02040503050406030204" pitchFamily="18" charset="0"/>
                          </a:rPr>
                        </m:ctrlPr>
                      </m:sSubPr>
                      <m:e>
                        <m:r>
                          <a:rPr lang="en-US" b="0" i="1">
                            <a:latin typeface="Cambria Math" panose="02040503050406030204" pitchFamily="18" charset="0"/>
                          </a:rPr>
                          <m:t>𝑇</m:t>
                        </m:r>
                      </m:e>
                      <m:sub>
                        <m:r>
                          <a:rPr lang="en-US" b="0" i="1">
                            <a:latin typeface="Cambria Math" panose="02040503050406030204" pitchFamily="18" charset="0"/>
                          </a:rPr>
                          <m:t>h𝑖𝑔h</m:t>
                        </m:r>
                      </m:sub>
                    </m:sSub>
                  </m:oMath>
                </a14:m>
                <a:r>
                  <a:rPr lang="en-US" dirty="0">
                    <a:latin typeface="Helvetica Neue"/>
                  </a:rPr>
                  <a:t>, có </a:t>
                </a:r>
                <a:r>
                  <a:rPr lang="en-US" dirty="0" err="1">
                    <a:latin typeface="Helvetica Neue"/>
                  </a:rPr>
                  <a:t>thể</a:t>
                </a:r>
                <a:r>
                  <a:rPr lang="en-US" dirty="0">
                    <a:latin typeface="Helvetica Neue"/>
                  </a:rPr>
                  <a:t> </a:t>
                </a:r>
                <a:r>
                  <a:rPr lang="en-US" dirty="0" err="1">
                    <a:latin typeface="Helvetica Neue"/>
                  </a:rPr>
                  <a:t>được</a:t>
                </a:r>
                <a:r>
                  <a:rPr lang="en-US" dirty="0">
                    <a:latin typeface="Helvetica Neue"/>
                  </a:rPr>
                  <a:t> </a:t>
                </a:r>
                <a:r>
                  <a:rPr lang="en-US" dirty="0" err="1">
                    <a:latin typeface="Helvetica Neue"/>
                  </a:rPr>
                  <a:t>giữ</a:t>
                </a:r>
                <a:r>
                  <a:rPr lang="en-US" dirty="0">
                    <a:latin typeface="Helvetica Neue"/>
                  </a:rPr>
                  <a:t> lại </a:t>
                </a:r>
                <a:r>
                  <a:rPr lang="en-US" dirty="0" err="1">
                    <a:latin typeface="Helvetica Neue"/>
                  </a:rPr>
                  <a:t>nếu</a:t>
                </a:r>
                <a:r>
                  <a:rPr lang="en-US" dirty="0">
                    <a:latin typeface="Helvetica Neue"/>
                  </a:rPr>
                  <a:t> </a:t>
                </a:r>
                <a:r>
                  <a:rPr lang="en-US" dirty="0" err="1">
                    <a:latin typeface="Helvetica Neue"/>
                  </a:rPr>
                  <a:t>kết</a:t>
                </a:r>
                <a:r>
                  <a:rPr lang="en-US" dirty="0">
                    <a:latin typeface="Helvetica Neue"/>
                  </a:rPr>
                  <a:t> </a:t>
                </a:r>
                <a:r>
                  <a:rPr lang="en-US" dirty="0" err="1">
                    <a:latin typeface="Helvetica Neue"/>
                  </a:rPr>
                  <a:t>nối</a:t>
                </a:r>
                <a:r>
                  <a:rPr lang="en-US" dirty="0">
                    <a:latin typeface="Helvetica Neue"/>
                  </a:rPr>
                  <a:t> </a:t>
                </a:r>
                <a:r>
                  <a:rPr lang="en-US" dirty="0" err="1">
                    <a:latin typeface="Helvetica Neue"/>
                  </a:rPr>
                  <a:t>với</a:t>
                </a:r>
                <a:r>
                  <a:rPr lang="en-US" dirty="0">
                    <a:latin typeface="Helvetica Neue"/>
                  </a:rPr>
                  <a:t> </a:t>
                </a:r>
                <a:r>
                  <a:rPr lang="en-US" dirty="0" err="1">
                    <a:latin typeface="Helvetica Neue"/>
                  </a:rPr>
                  <a:t>biên</a:t>
                </a:r>
                <a:r>
                  <a:rPr lang="en-US" dirty="0">
                    <a:latin typeface="Helvetica Neue"/>
                  </a:rPr>
                  <a:t> mạnh.</a:t>
                </a:r>
              </a:p>
              <a:p>
                <a:pPr marL="0" lvl="0" indent="0">
                  <a:buNone/>
                </a:pPr>
                <a:r>
                  <a:rPr lang="en-US" dirty="0">
                    <a:latin typeface="Helvetica Neue"/>
                  </a:rPr>
                  <a:t>	</a:t>
                </a:r>
                <a:r>
                  <a:rPr lang="en-US" dirty="0" err="1">
                    <a:latin typeface="Helvetica Neue"/>
                  </a:rPr>
                  <a:t>Loại</a:t>
                </a:r>
                <a:r>
                  <a:rPr lang="en-US" dirty="0">
                    <a:latin typeface="Helvetica Neue"/>
                  </a:rPr>
                  <a:t> bỏ: </a:t>
                </a:r>
                <a14:m>
                  <m:oMath xmlns:m="http://schemas.openxmlformats.org/officeDocument/2006/math">
                    <m:r>
                      <a:rPr lang="en-US" b="0" i="1">
                        <a:latin typeface="Cambria Math" panose="02040503050406030204" pitchFamily="18" charset="0"/>
                      </a:rPr>
                      <m:t>𝐺</m:t>
                    </m:r>
                    <m:r>
                      <a:rPr lang="en-US" b="0">
                        <a:latin typeface="Cambria Math" panose="02040503050406030204" pitchFamily="18" charset="0"/>
                      </a:rPr>
                      <m:t>&lt;</m:t>
                    </m:r>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𝑙𝑜𝑤</m:t>
                        </m:r>
                      </m:sub>
                    </m:sSub>
                  </m:oMath>
                </a14:m>
                <a:r>
                  <a:rPr lang="en-US" dirty="0">
                    <a:latin typeface="Helvetica Neue"/>
                  </a:rPr>
                  <a:t>.</a:t>
                </a:r>
              </a:p>
              <a:p>
                <a:pPr marL="0" indent="0">
                  <a:buNone/>
                </a:pPr>
                <a:r>
                  <a:rPr lang="en-US" b="1" dirty="0">
                    <a:latin typeface="Helvetica Neue"/>
                  </a:rPr>
                  <a:t>5. </a:t>
                </a:r>
                <a:r>
                  <a:rPr lang="en-US" b="1" dirty="0" err="1">
                    <a:latin typeface="Helvetica Neue"/>
                  </a:rPr>
                  <a:t>Kết</a:t>
                </a:r>
                <a:r>
                  <a:rPr lang="en-US" b="1" dirty="0">
                    <a:latin typeface="Helvetica Neue"/>
                  </a:rPr>
                  <a:t> </a:t>
                </a:r>
                <a:r>
                  <a:rPr lang="en-US" b="1" dirty="0" err="1">
                    <a:latin typeface="Helvetica Neue"/>
                  </a:rPr>
                  <a:t>nối</a:t>
                </a:r>
                <a:r>
                  <a:rPr lang="en-US" b="1" dirty="0">
                    <a:latin typeface="Helvetica Neue"/>
                  </a:rPr>
                  <a:t> </a:t>
                </a:r>
                <a:r>
                  <a:rPr lang="en-US" b="1" dirty="0" err="1">
                    <a:latin typeface="Helvetica Neue"/>
                  </a:rPr>
                  <a:t>cạnh</a:t>
                </a:r>
                <a:r>
                  <a:rPr lang="en-US" b="1" dirty="0">
                    <a:latin typeface="Helvetica Neue"/>
                  </a:rPr>
                  <a:t> </a:t>
                </a:r>
                <a:r>
                  <a:rPr lang="en-US" b="1" dirty="0" err="1">
                    <a:latin typeface="Helvetica Neue"/>
                  </a:rPr>
                  <a:t>biên</a:t>
                </a:r>
                <a:r>
                  <a:rPr lang="en-US" b="1" dirty="0">
                    <a:latin typeface="Helvetica Neue"/>
                  </a:rPr>
                  <a:t> (Hysteresis </a:t>
                </a:r>
                <a:r>
                  <a:rPr lang="en-US" b="1" dirty="0" err="1">
                    <a:latin typeface="Helvetica Neue"/>
                  </a:rPr>
                  <a:t>Thresholding</a:t>
                </a:r>
                <a:r>
                  <a:rPr lang="en-US" b="1" dirty="0">
                    <a:latin typeface="Helvetica Neue"/>
                  </a:rPr>
                  <a:t>)</a:t>
                </a:r>
              </a:p>
              <a:p>
                <a:r>
                  <a:rPr lang="en-US" dirty="0" err="1">
                    <a:latin typeface="Helvetica Neue"/>
                  </a:rPr>
                  <a:t>Kết</a:t>
                </a:r>
                <a:r>
                  <a:rPr lang="en-US" dirty="0">
                    <a:latin typeface="Helvetica Neue"/>
                  </a:rPr>
                  <a:t> </a:t>
                </a:r>
                <a:r>
                  <a:rPr lang="en-US" dirty="0" err="1">
                    <a:latin typeface="Helvetica Neue"/>
                  </a:rPr>
                  <a:t>nối</a:t>
                </a:r>
                <a:r>
                  <a:rPr lang="en-US" dirty="0">
                    <a:latin typeface="Helvetica Neue"/>
                  </a:rPr>
                  <a:t> </a:t>
                </a:r>
                <a:r>
                  <a:rPr lang="en-US" dirty="0" err="1">
                    <a:latin typeface="Helvetica Neue"/>
                  </a:rPr>
                  <a:t>các</a:t>
                </a:r>
                <a:r>
                  <a:rPr lang="en-US" dirty="0">
                    <a:latin typeface="Helvetica Neue"/>
                  </a:rPr>
                  <a:t> </a:t>
                </a:r>
                <a:r>
                  <a:rPr lang="en-US" dirty="0" err="1">
                    <a:latin typeface="Helvetica Neue"/>
                  </a:rPr>
                  <a:t>điểm</a:t>
                </a:r>
                <a:r>
                  <a:rPr lang="en-US" dirty="0">
                    <a:latin typeface="Helvetica Neue"/>
                  </a:rPr>
                  <a:t> </a:t>
                </a:r>
                <a:r>
                  <a:rPr lang="en-US" dirty="0" err="1">
                    <a:latin typeface="Helvetica Neue"/>
                  </a:rPr>
                  <a:t>biên</a:t>
                </a:r>
                <a:r>
                  <a:rPr lang="en-US" dirty="0">
                    <a:latin typeface="Helvetica Neue"/>
                  </a:rPr>
                  <a:t> </a:t>
                </a:r>
                <a:r>
                  <a:rPr lang="en-US" dirty="0" err="1">
                    <a:latin typeface="Helvetica Neue"/>
                  </a:rPr>
                  <a:t>yếu</a:t>
                </a:r>
                <a:r>
                  <a:rPr lang="en-US" dirty="0">
                    <a:latin typeface="Helvetica Neue"/>
                  </a:rPr>
                  <a:t> </a:t>
                </a:r>
                <a:r>
                  <a:rPr lang="en-US" dirty="0" err="1">
                    <a:latin typeface="Helvetica Neue"/>
                  </a:rPr>
                  <a:t>với</a:t>
                </a:r>
                <a:r>
                  <a:rPr lang="en-US" dirty="0">
                    <a:latin typeface="Helvetica Neue"/>
                  </a:rPr>
                  <a:t> </a:t>
                </a:r>
                <a:r>
                  <a:rPr lang="en-US" dirty="0" err="1">
                    <a:latin typeface="Helvetica Neue"/>
                  </a:rPr>
                  <a:t>biên</a:t>
                </a:r>
                <a:r>
                  <a:rPr lang="en-US" dirty="0">
                    <a:latin typeface="Helvetica Neue"/>
                  </a:rPr>
                  <a:t> mạnh để </a:t>
                </a:r>
                <a:r>
                  <a:rPr lang="en-US" dirty="0" err="1">
                    <a:latin typeface="Helvetica Neue"/>
                  </a:rPr>
                  <a:t>đảm</a:t>
                </a:r>
                <a:r>
                  <a:rPr lang="en-US" dirty="0">
                    <a:latin typeface="Helvetica Neue"/>
                  </a:rPr>
                  <a:t> bảo tính </a:t>
                </a:r>
                <a:r>
                  <a:rPr lang="en-US" dirty="0" err="1">
                    <a:latin typeface="Helvetica Neue"/>
                  </a:rPr>
                  <a:t>liên</a:t>
                </a:r>
                <a:r>
                  <a:rPr lang="en-US" dirty="0">
                    <a:latin typeface="Helvetica Neue"/>
                  </a:rPr>
                  <a:t> </a:t>
                </a:r>
                <a:r>
                  <a:rPr lang="en-US" dirty="0" err="1">
                    <a:latin typeface="Helvetica Neue"/>
                  </a:rPr>
                  <a:t>tục</a:t>
                </a:r>
                <a:r>
                  <a:rPr lang="en-US" dirty="0">
                    <a:latin typeface="Helvetica Neue"/>
                  </a:rPr>
                  <a:t>.</a:t>
                </a:r>
              </a:p>
              <a:p>
                <a:pPr marL="0" lvl="0" indent="0">
                  <a:buNone/>
                </a:pP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829096" y="2329603"/>
                <a:ext cx="9375268" cy="5372618"/>
              </a:xfrm>
              <a:blipFill>
                <a:blip r:embed="rId2"/>
                <a:stretch>
                  <a:fillRect l="-975" t="-2157"/>
                </a:stretch>
              </a:blipFill>
            </p:spPr>
            <p:txBody>
              <a:bodyPr/>
              <a:lstStyle/>
              <a:p>
                <a:r>
                  <a:rPr lang="en-US">
                    <a:noFill/>
                  </a:rPr>
                  <a:t> </a:t>
                </a:r>
              </a:p>
            </p:txBody>
          </p:sp>
        </mc:Fallback>
      </mc:AlternateContent>
    </p:spTree>
    <p:extLst>
      <p:ext uri="{BB962C8B-B14F-4D97-AF65-F5344CB8AC3E}">
        <p14:creationId xmlns:p14="http://schemas.microsoft.com/office/powerpoint/2010/main" val="39831411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err="1">
                <a:latin typeface="Helvetica Neue"/>
              </a:rPr>
              <a:t>Ưu</a:t>
            </a:r>
            <a:r>
              <a:rPr lang="en-US" sz="5400" b="1" dirty="0">
                <a:latin typeface="Helvetica Neue"/>
              </a:rPr>
              <a:t> </a:t>
            </a:r>
            <a:r>
              <a:rPr lang="en-US" sz="5400" b="1" dirty="0" err="1">
                <a:latin typeface="Helvetica Neue"/>
              </a:rPr>
              <a:t>và</a:t>
            </a:r>
            <a:r>
              <a:rPr lang="en-US" sz="5400" b="1" dirty="0">
                <a:latin typeface="Helvetica Neue"/>
              </a:rPr>
              <a:t> </a:t>
            </a:r>
            <a:r>
              <a:rPr lang="en-US" sz="5400" b="1" dirty="0" err="1">
                <a:latin typeface="Helvetica Neue"/>
              </a:rPr>
              <a:t>nhược</a:t>
            </a:r>
            <a:r>
              <a:rPr lang="en-US" sz="5400" b="1" dirty="0">
                <a:latin typeface="Helvetica Neue"/>
              </a:rPr>
              <a:t> </a:t>
            </a:r>
            <a:r>
              <a:rPr lang="en-US" sz="5400" b="1" dirty="0" err="1">
                <a:latin typeface="Helvetica Neue"/>
              </a:rPr>
              <a:t>điểm</a:t>
            </a:r>
            <a:endParaRPr lang="en-US" sz="5400" b="1" dirty="0">
              <a:latin typeface="Helvetica Neue"/>
            </a:endParaRPr>
          </a:p>
        </p:txBody>
      </p:sp>
      <p:sp>
        <p:nvSpPr>
          <p:cNvPr id="3" name="Content Placeholder 2"/>
          <p:cNvSpPr>
            <a:spLocks noGrp="1"/>
          </p:cNvSpPr>
          <p:nvPr>
            <p:ph idx="1"/>
          </p:nvPr>
        </p:nvSpPr>
        <p:spPr>
          <a:xfrm>
            <a:off x="2000546" y="2709333"/>
            <a:ext cx="9375268" cy="5372618"/>
          </a:xfrm>
        </p:spPr>
        <p:txBody>
          <a:bodyPr>
            <a:normAutofit fontScale="92500"/>
          </a:bodyPr>
          <a:lstStyle/>
          <a:p>
            <a:pPr marL="0" indent="0">
              <a:buNone/>
            </a:pPr>
            <a:r>
              <a:rPr lang="en-US" b="1" dirty="0" err="1">
                <a:latin typeface="Helvetica Neue"/>
              </a:rPr>
              <a:t>Ưu</a:t>
            </a:r>
            <a:r>
              <a:rPr lang="en-US" b="1" dirty="0">
                <a:latin typeface="Helvetica Neue"/>
              </a:rPr>
              <a:t> </a:t>
            </a:r>
            <a:r>
              <a:rPr lang="en-US" b="1" dirty="0" err="1">
                <a:latin typeface="Helvetica Neue"/>
              </a:rPr>
              <a:t>điểm</a:t>
            </a:r>
            <a:endParaRPr lang="en-US" b="1" dirty="0">
              <a:latin typeface="Helvetica Neue"/>
            </a:endParaRPr>
          </a:p>
          <a:p>
            <a:pPr lvl="0"/>
            <a:r>
              <a:rPr lang="en-US" dirty="0" err="1">
                <a:latin typeface="Helvetica Neue"/>
              </a:rPr>
              <a:t>Xác</a:t>
            </a:r>
            <a:r>
              <a:rPr lang="en-US" dirty="0">
                <a:latin typeface="Helvetica Neue"/>
              </a:rPr>
              <a:t> </a:t>
            </a:r>
            <a:r>
              <a:rPr lang="en-US" dirty="0" err="1">
                <a:latin typeface="Helvetica Neue"/>
              </a:rPr>
              <a:t>định</a:t>
            </a:r>
            <a:r>
              <a:rPr lang="en-US" dirty="0">
                <a:latin typeface="Helvetica Neue"/>
              </a:rPr>
              <a:t> </a:t>
            </a:r>
            <a:r>
              <a:rPr lang="en-US" dirty="0" err="1">
                <a:latin typeface="Helvetica Neue"/>
              </a:rPr>
              <a:t>biên</a:t>
            </a:r>
            <a:r>
              <a:rPr lang="en-US" dirty="0">
                <a:latin typeface="Helvetica Neue"/>
              </a:rPr>
              <a:t> chính </a:t>
            </a:r>
            <a:r>
              <a:rPr lang="en-US" dirty="0" err="1">
                <a:latin typeface="Helvetica Neue"/>
              </a:rPr>
              <a:t>xác</a:t>
            </a:r>
            <a:r>
              <a:rPr lang="en-US" dirty="0">
                <a:latin typeface="Helvetica Neue"/>
              </a:rPr>
              <a:t>, </a:t>
            </a:r>
            <a:r>
              <a:rPr lang="en-US" dirty="0" err="1">
                <a:latin typeface="Helvetica Neue"/>
              </a:rPr>
              <a:t>mượt</a:t>
            </a:r>
            <a:r>
              <a:rPr lang="en-US" dirty="0">
                <a:latin typeface="Helvetica Neue"/>
              </a:rPr>
              <a:t> mà.</a:t>
            </a:r>
          </a:p>
          <a:p>
            <a:pPr lvl="0"/>
            <a:r>
              <a:rPr lang="en-US" dirty="0" err="1">
                <a:latin typeface="Helvetica Neue"/>
              </a:rPr>
              <a:t>Giảm</a:t>
            </a:r>
            <a:r>
              <a:rPr lang="en-US" dirty="0">
                <a:latin typeface="Helvetica Neue"/>
              </a:rPr>
              <a:t> </a:t>
            </a:r>
            <a:r>
              <a:rPr lang="en-US" dirty="0" err="1">
                <a:latin typeface="Helvetica Neue"/>
              </a:rPr>
              <a:t>nhiễu</a:t>
            </a:r>
            <a:r>
              <a:rPr lang="en-US" dirty="0">
                <a:latin typeface="Helvetica Neue"/>
              </a:rPr>
              <a:t> </a:t>
            </a:r>
            <a:r>
              <a:rPr lang="en-US" dirty="0" err="1">
                <a:latin typeface="Helvetica Neue"/>
              </a:rPr>
              <a:t>tốt</a:t>
            </a:r>
            <a:r>
              <a:rPr lang="en-US" dirty="0">
                <a:latin typeface="Helvetica Neue"/>
              </a:rPr>
              <a:t> </a:t>
            </a:r>
            <a:r>
              <a:rPr lang="en-US" dirty="0" err="1">
                <a:latin typeface="Helvetica Neue"/>
              </a:rPr>
              <a:t>nhờ</a:t>
            </a:r>
            <a:r>
              <a:rPr lang="en-US" dirty="0">
                <a:latin typeface="Helvetica Neue"/>
              </a:rPr>
              <a:t> </a:t>
            </a:r>
            <a:r>
              <a:rPr lang="en-US" dirty="0" err="1">
                <a:latin typeface="Helvetica Neue"/>
              </a:rPr>
              <a:t>bộ</a:t>
            </a:r>
            <a:r>
              <a:rPr lang="en-US" dirty="0">
                <a:latin typeface="Helvetica Neue"/>
              </a:rPr>
              <a:t> </a:t>
            </a:r>
            <a:r>
              <a:rPr lang="en-US" dirty="0" err="1">
                <a:latin typeface="Helvetica Neue"/>
              </a:rPr>
              <a:t>lọc</a:t>
            </a:r>
            <a:r>
              <a:rPr lang="en-US" dirty="0">
                <a:latin typeface="Helvetica Neue"/>
              </a:rPr>
              <a:t> Gauss.</a:t>
            </a:r>
          </a:p>
          <a:p>
            <a:pPr lvl="0"/>
            <a:r>
              <a:rPr lang="en-US" dirty="0" err="1">
                <a:latin typeface="Helvetica Neue"/>
              </a:rPr>
              <a:t>Loại</a:t>
            </a:r>
            <a:r>
              <a:rPr lang="en-US" dirty="0">
                <a:latin typeface="Helvetica Neue"/>
              </a:rPr>
              <a:t> bỏ </a:t>
            </a:r>
            <a:r>
              <a:rPr lang="en-US" dirty="0" err="1">
                <a:latin typeface="Helvetica Neue"/>
              </a:rPr>
              <a:t>cạnh</a:t>
            </a:r>
            <a:r>
              <a:rPr lang="en-US" dirty="0">
                <a:latin typeface="Helvetica Neue"/>
              </a:rPr>
              <a:t> </a:t>
            </a:r>
            <a:r>
              <a:rPr lang="en-US" dirty="0" err="1">
                <a:latin typeface="Helvetica Neue"/>
              </a:rPr>
              <a:t>giả</a:t>
            </a:r>
            <a:r>
              <a:rPr lang="en-US" dirty="0">
                <a:latin typeface="Helvetica Neue"/>
              </a:rPr>
              <a:t> </a:t>
            </a:r>
            <a:r>
              <a:rPr lang="en-US" dirty="0" err="1">
                <a:latin typeface="Helvetica Neue"/>
              </a:rPr>
              <a:t>bằng</a:t>
            </a:r>
            <a:r>
              <a:rPr lang="en-US" dirty="0">
                <a:latin typeface="Helvetica Neue"/>
              </a:rPr>
              <a:t> Non-Maximum Suppression.</a:t>
            </a:r>
          </a:p>
          <a:p>
            <a:pPr lvl="0"/>
            <a:r>
              <a:rPr lang="en-US" dirty="0" err="1">
                <a:latin typeface="Helvetica Neue"/>
              </a:rPr>
              <a:t>Cải</a:t>
            </a:r>
            <a:r>
              <a:rPr lang="en-US" dirty="0">
                <a:latin typeface="Helvetica Neue"/>
              </a:rPr>
              <a:t> </a:t>
            </a:r>
            <a:r>
              <a:rPr lang="en-US" dirty="0" err="1">
                <a:latin typeface="Helvetica Neue"/>
              </a:rPr>
              <a:t>thiện</a:t>
            </a:r>
            <a:r>
              <a:rPr lang="en-US" dirty="0">
                <a:latin typeface="Helvetica Neue"/>
              </a:rPr>
              <a:t> tính </a:t>
            </a:r>
            <a:r>
              <a:rPr lang="en-US" dirty="0" err="1">
                <a:latin typeface="Helvetica Neue"/>
              </a:rPr>
              <a:t>liên</a:t>
            </a:r>
            <a:r>
              <a:rPr lang="en-US" dirty="0">
                <a:latin typeface="Helvetica Neue"/>
              </a:rPr>
              <a:t> </a:t>
            </a:r>
            <a:r>
              <a:rPr lang="en-US" dirty="0" err="1">
                <a:latin typeface="Helvetica Neue"/>
              </a:rPr>
              <a:t>tục</a:t>
            </a:r>
            <a:r>
              <a:rPr lang="en-US" dirty="0">
                <a:latin typeface="Helvetica Neue"/>
              </a:rPr>
              <a:t> </a:t>
            </a:r>
            <a:r>
              <a:rPr lang="en-US" dirty="0" err="1">
                <a:latin typeface="Helvetica Neue"/>
              </a:rPr>
              <a:t>của</a:t>
            </a:r>
            <a:r>
              <a:rPr lang="en-US" dirty="0">
                <a:latin typeface="Helvetica Neue"/>
              </a:rPr>
              <a:t> </a:t>
            </a:r>
            <a:r>
              <a:rPr lang="en-US" dirty="0" err="1">
                <a:latin typeface="Helvetica Neue"/>
              </a:rPr>
              <a:t>cạnh</a:t>
            </a:r>
            <a:r>
              <a:rPr lang="en-US" dirty="0">
                <a:latin typeface="Helvetica Neue"/>
              </a:rPr>
              <a:t> </a:t>
            </a:r>
            <a:r>
              <a:rPr lang="en-US" dirty="0" err="1">
                <a:latin typeface="Helvetica Neue"/>
              </a:rPr>
              <a:t>bằng</a:t>
            </a:r>
            <a:r>
              <a:rPr lang="en-US" dirty="0">
                <a:latin typeface="Helvetica Neue"/>
              </a:rPr>
              <a:t> Hysteresis </a:t>
            </a:r>
            <a:r>
              <a:rPr lang="en-US" dirty="0" err="1">
                <a:latin typeface="Helvetica Neue"/>
              </a:rPr>
              <a:t>Thresholding</a:t>
            </a:r>
            <a:r>
              <a:rPr lang="en-US" dirty="0">
                <a:latin typeface="Helvetica Neue"/>
              </a:rPr>
              <a:t>.</a:t>
            </a:r>
          </a:p>
          <a:p>
            <a:pPr lvl="0"/>
            <a:endParaRPr lang="en-US" dirty="0">
              <a:latin typeface="Helvetica Neue"/>
            </a:endParaRPr>
          </a:p>
          <a:p>
            <a:pPr marL="0" indent="0">
              <a:buNone/>
            </a:pPr>
            <a:r>
              <a:rPr lang="en-US" b="1" dirty="0" err="1">
                <a:latin typeface="Helvetica Neue"/>
              </a:rPr>
              <a:t>Nhược</a:t>
            </a:r>
            <a:r>
              <a:rPr lang="en-US" b="1" dirty="0">
                <a:latin typeface="Helvetica Neue"/>
              </a:rPr>
              <a:t> </a:t>
            </a:r>
            <a:r>
              <a:rPr lang="en-US" b="1" dirty="0" err="1">
                <a:latin typeface="Helvetica Neue"/>
              </a:rPr>
              <a:t>điểm</a:t>
            </a:r>
            <a:endParaRPr lang="en-US" b="1" dirty="0">
              <a:latin typeface="Helvetica Neue"/>
            </a:endParaRPr>
          </a:p>
          <a:p>
            <a:pPr lvl="0"/>
            <a:r>
              <a:rPr lang="en-US" dirty="0" err="1">
                <a:latin typeface="Helvetica Neue"/>
              </a:rPr>
              <a:t>Chạy</a:t>
            </a:r>
            <a:r>
              <a:rPr lang="en-US" dirty="0">
                <a:latin typeface="Helvetica Neue"/>
              </a:rPr>
              <a:t> </a:t>
            </a:r>
            <a:r>
              <a:rPr lang="en-US" dirty="0" err="1">
                <a:latin typeface="Helvetica Neue"/>
              </a:rPr>
              <a:t>chậm</a:t>
            </a:r>
            <a:r>
              <a:rPr lang="en-US" dirty="0">
                <a:latin typeface="Helvetica Neue"/>
              </a:rPr>
              <a:t> </a:t>
            </a:r>
            <a:r>
              <a:rPr lang="en-US" dirty="0" err="1">
                <a:latin typeface="Helvetica Neue"/>
              </a:rPr>
              <a:t>hơn</a:t>
            </a:r>
            <a:r>
              <a:rPr lang="en-US" dirty="0">
                <a:latin typeface="Helvetica Neue"/>
              </a:rPr>
              <a:t> </a:t>
            </a:r>
            <a:r>
              <a:rPr lang="en-US" dirty="0" err="1">
                <a:latin typeface="Helvetica Neue"/>
              </a:rPr>
              <a:t>các</a:t>
            </a:r>
            <a:r>
              <a:rPr lang="en-US" dirty="0">
                <a:latin typeface="Helvetica Neue"/>
              </a:rPr>
              <a:t> </a:t>
            </a:r>
            <a:r>
              <a:rPr lang="en-US" dirty="0" err="1">
                <a:latin typeface="Helvetica Neue"/>
              </a:rPr>
              <a:t>phương</a:t>
            </a:r>
            <a:r>
              <a:rPr lang="en-US" dirty="0">
                <a:latin typeface="Helvetica Neue"/>
              </a:rPr>
              <a:t> </a:t>
            </a:r>
            <a:r>
              <a:rPr lang="en-US" dirty="0" err="1">
                <a:latin typeface="Helvetica Neue"/>
              </a:rPr>
              <a:t>pháp</a:t>
            </a:r>
            <a:r>
              <a:rPr lang="en-US" dirty="0">
                <a:latin typeface="Helvetica Neue"/>
              </a:rPr>
              <a:t> </a:t>
            </a:r>
            <a:r>
              <a:rPr lang="en-US" dirty="0" err="1">
                <a:latin typeface="Helvetica Neue"/>
              </a:rPr>
              <a:t>đơn</a:t>
            </a:r>
            <a:r>
              <a:rPr lang="en-US" dirty="0">
                <a:latin typeface="Helvetica Neue"/>
              </a:rPr>
              <a:t> </a:t>
            </a:r>
            <a:r>
              <a:rPr lang="en-US" dirty="0" err="1">
                <a:latin typeface="Helvetica Neue"/>
              </a:rPr>
              <a:t>giản</a:t>
            </a:r>
            <a:r>
              <a:rPr lang="en-US" dirty="0">
                <a:latin typeface="Helvetica Neue"/>
              </a:rPr>
              <a:t> </a:t>
            </a:r>
            <a:r>
              <a:rPr lang="en-US" dirty="0" err="1">
                <a:latin typeface="Helvetica Neue"/>
              </a:rPr>
              <a:t>như</a:t>
            </a:r>
            <a:r>
              <a:rPr lang="en-US" dirty="0">
                <a:latin typeface="Helvetica Neue"/>
              </a:rPr>
              <a:t> Sobel, Prewitt.</a:t>
            </a:r>
          </a:p>
          <a:p>
            <a:pPr lvl="0"/>
            <a:r>
              <a:rPr lang="en-US" dirty="0" err="1">
                <a:latin typeface="Helvetica Neue"/>
              </a:rPr>
              <a:t>Nhạy</a:t>
            </a:r>
            <a:r>
              <a:rPr lang="en-US" dirty="0">
                <a:latin typeface="Helvetica Neue"/>
              </a:rPr>
              <a:t> </a:t>
            </a:r>
            <a:r>
              <a:rPr lang="en-US" dirty="0" err="1">
                <a:latin typeface="Helvetica Neue"/>
              </a:rPr>
              <a:t>cảm</a:t>
            </a:r>
            <a:r>
              <a:rPr lang="en-US" dirty="0">
                <a:latin typeface="Helvetica Neue"/>
              </a:rPr>
              <a:t> </a:t>
            </a:r>
            <a:r>
              <a:rPr lang="en-US" dirty="0" err="1">
                <a:latin typeface="Helvetica Neue"/>
              </a:rPr>
              <a:t>với</a:t>
            </a:r>
            <a:r>
              <a:rPr lang="en-US" dirty="0">
                <a:latin typeface="Helvetica Neue"/>
              </a:rPr>
              <a:t> </a:t>
            </a:r>
            <a:r>
              <a:rPr lang="en-US" dirty="0" err="1">
                <a:latin typeface="Helvetica Neue"/>
              </a:rPr>
              <a:t>tham</a:t>
            </a:r>
            <a:r>
              <a:rPr lang="en-US" dirty="0">
                <a:latin typeface="Helvetica Neue"/>
              </a:rPr>
              <a:t> </a:t>
            </a:r>
            <a:r>
              <a:rPr lang="en-US" dirty="0" err="1">
                <a:latin typeface="Helvetica Neue"/>
              </a:rPr>
              <a:t>số</a:t>
            </a:r>
            <a:r>
              <a:rPr lang="en-US" dirty="0">
                <a:latin typeface="Helvetica Neue"/>
              </a:rPr>
              <a:t> </a:t>
            </a:r>
            <a:r>
              <a:rPr lang="en-US" dirty="0" err="1">
                <a:latin typeface="Helvetica Neue"/>
              </a:rPr>
              <a:t>ngưỡng</a:t>
            </a:r>
            <a:r>
              <a:rPr lang="en-US" dirty="0">
                <a:latin typeface="Helvetica Neue"/>
              </a:rPr>
              <a:t>.</a:t>
            </a:r>
          </a:p>
          <a:p>
            <a:pPr lvl="0"/>
            <a:r>
              <a:rPr lang="en-US" dirty="0" err="1">
                <a:latin typeface="Helvetica Neue"/>
              </a:rPr>
              <a:t>Không</a:t>
            </a:r>
            <a:r>
              <a:rPr lang="en-US" dirty="0">
                <a:latin typeface="Helvetica Neue"/>
              </a:rPr>
              <a:t> </a:t>
            </a:r>
            <a:r>
              <a:rPr lang="en-US" dirty="0" err="1">
                <a:latin typeface="Helvetica Neue"/>
              </a:rPr>
              <a:t>hoạt</a:t>
            </a:r>
            <a:r>
              <a:rPr lang="en-US" dirty="0">
                <a:latin typeface="Helvetica Neue"/>
              </a:rPr>
              <a:t> </a:t>
            </a:r>
            <a:r>
              <a:rPr lang="en-US" dirty="0" err="1">
                <a:latin typeface="Helvetica Neue"/>
              </a:rPr>
              <a:t>động</a:t>
            </a:r>
            <a:r>
              <a:rPr lang="en-US" dirty="0">
                <a:latin typeface="Helvetica Neue"/>
              </a:rPr>
              <a:t> </a:t>
            </a:r>
            <a:r>
              <a:rPr lang="en-US" dirty="0" err="1">
                <a:latin typeface="Helvetica Neue"/>
              </a:rPr>
              <a:t>tốt</a:t>
            </a:r>
            <a:r>
              <a:rPr lang="en-US" dirty="0">
                <a:latin typeface="Helvetica Neue"/>
              </a:rPr>
              <a:t> </a:t>
            </a:r>
            <a:r>
              <a:rPr lang="en-US" dirty="0" err="1">
                <a:latin typeface="Helvetica Neue"/>
              </a:rPr>
              <a:t>với</a:t>
            </a:r>
            <a:r>
              <a:rPr lang="en-US" dirty="0">
                <a:latin typeface="Helvetica Neue"/>
              </a:rPr>
              <a:t> </a:t>
            </a:r>
            <a:r>
              <a:rPr lang="en-US" dirty="0" err="1">
                <a:latin typeface="Helvetica Neue"/>
              </a:rPr>
              <a:t>ảnh</a:t>
            </a:r>
            <a:r>
              <a:rPr lang="en-US" dirty="0">
                <a:latin typeface="Helvetica Neue"/>
              </a:rPr>
              <a:t> có </a:t>
            </a:r>
            <a:r>
              <a:rPr lang="en-US" dirty="0" err="1">
                <a:latin typeface="Helvetica Neue"/>
              </a:rPr>
              <a:t>nhiễu</a:t>
            </a:r>
            <a:r>
              <a:rPr lang="en-US" dirty="0">
                <a:latin typeface="Helvetica Neue"/>
              </a:rPr>
              <a:t> </a:t>
            </a:r>
            <a:r>
              <a:rPr lang="en-US" dirty="0" err="1">
                <a:latin typeface="Helvetica Neue"/>
              </a:rPr>
              <a:t>cao</a:t>
            </a:r>
            <a:r>
              <a:rPr lang="en-US" dirty="0">
                <a:latin typeface="Helvetica Neue"/>
              </a:rPr>
              <a:t> </a:t>
            </a:r>
            <a:r>
              <a:rPr lang="en-US" dirty="0" err="1">
                <a:latin typeface="Helvetica Neue"/>
              </a:rPr>
              <a:t>hoặc</a:t>
            </a:r>
            <a:r>
              <a:rPr lang="en-US" dirty="0">
                <a:latin typeface="Helvetica Neue"/>
              </a:rPr>
              <a:t> </a:t>
            </a:r>
            <a:r>
              <a:rPr lang="en-US" dirty="0" err="1">
                <a:latin typeface="Helvetica Neue"/>
              </a:rPr>
              <a:t>biên</a:t>
            </a:r>
            <a:r>
              <a:rPr lang="en-US" dirty="0">
                <a:latin typeface="Helvetica Neue"/>
              </a:rPr>
              <a:t> bị </a:t>
            </a:r>
            <a:r>
              <a:rPr lang="en-US" dirty="0" err="1">
                <a:latin typeface="Helvetica Neue"/>
              </a:rPr>
              <a:t>mờ</a:t>
            </a:r>
            <a:r>
              <a:rPr lang="en-US" dirty="0">
                <a:latin typeface="Helvetica Neue"/>
              </a:rPr>
              <a:t>.</a:t>
            </a:r>
          </a:p>
          <a:p>
            <a:endParaRPr lang="en-US" dirty="0">
              <a:latin typeface="Helvetica Neue"/>
            </a:endParaRPr>
          </a:p>
        </p:txBody>
      </p:sp>
    </p:spTree>
    <p:extLst>
      <p:ext uri="{BB962C8B-B14F-4D97-AF65-F5344CB8AC3E}">
        <p14:creationId xmlns:p14="http://schemas.microsoft.com/office/powerpoint/2010/main" val="36686275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latin typeface="Helvetica Neue"/>
              </a:rPr>
              <a:t>Ứng</a:t>
            </a:r>
            <a:r>
              <a:rPr lang="en-US" b="1" dirty="0">
                <a:latin typeface="Helvetica Neue"/>
              </a:rPr>
              <a:t> </a:t>
            </a:r>
            <a:r>
              <a:rPr lang="en-US" b="1" dirty="0" err="1">
                <a:latin typeface="Helvetica Neue"/>
              </a:rPr>
              <a:t>dụng</a:t>
            </a:r>
            <a:r>
              <a:rPr lang="en-US" b="1" dirty="0">
                <a:latin typeface="Helvetica Neue"/>
              </a:rPr>
              <a:t>:</a:t>
            </a:r>
          </a:p>
        </p:txBody>
      </p:sp>
      <p:sp>
        <p:nvSpPr>
          <p:cNvPr id="3" name="Content Placeholder 2"/>
          <p:cNvSpPr>
            <a:spLocks noGrp="1"/>
          </p:cNvSpPr>
          <p:nvPr>
            <p:ph idx="1"/>
          </p:nvPr>
        </p:nvSpPr>
        <p:spPr>
          <a:xfrm>
            <a:off x="2000546" y="2709333"/>
            <a:ext cx="9375268" cy="5372618"/>
          </a:xfrm>
        </p:spPr>
        <p:txBody>
          <a:bodyPr>
            <a:normAutofit fontScale="92500" lnSpcReduction="20000"/>
          </a:bodyPr>
          <a:lstStyle/>
          <a:p>
            <a:pPr marL="0" indent="0">
              <a:buNone/>
            </a:pPr>
            <a:r>
              <a:rPr lang="vi-VN" b="1" dirty="0"/>
              <a:t>Thị giác máy tính &amp; AI</a:t>
            </a:r>
          </a:p>
          <a:p>
            <a:pPr marL="0" indent="0">
              <a:buNone/>
            </a:pPr>
            <a:r>
              <a:rPr lang="en-US" dirty="0"/>
              <a:t> -</a:t>
            </a:r>
            <a:r>
              <a:rPr lang="vi-VN" dirty="0"/>
              <a:t>Nhận diện đối tượng trong ảnh/video.</a:t>
            </a:r>
            <a:br>
              <a:rPr lang="vi-VN" dirty="0"/>
            </a:br>
            <a:r>
              <a:rPr lang="en-US" dirty="0"/>
              <a:t> -</a:t>
            </a:r>
            <a:r>
              <a:rPr lang="vi-VN" dirty="0"/>
              <a:t>Nhận diện khuôn mặt, vân tay, biển số xe.</a:t>
            </a:r>
            <a:br>
              <a:rPr lang="vi-VN" dirty="0"/>
            </a:br>
            <a:r>
              <a:rPr lang="en-US" dirty="0"/>
              <a:t> -</a:t>
            </a:r>
            <a:r>
              <a:rPr lang="vi-VN" dirty="0"/>
              <a:t>Phát hiện đường đi cho xe tự hành.</a:t>
            </a:r>
          </a:p>
          <a:p>
            <a:pPr marL="0" indent="0">
              <a:buNone/>
            </a:pPr>
            <a:r>
              <a:rPr lang="en-US" b="1" dirty="0"/>
              <a:t> </a:t>
            </a:r>
            <a:r>
              <a:rPr lang="vi-VN" b="1" dirty="0"/>
              <a:t>Xử lý ảnh y tế</a:t>
            </a:r>
          </a:p>
          <a:p>
            <a:pPr marL="0" indent="0">
              <a:buNone/>
            </a:pPr>
            <a:r>
              <a:rPr lang="en-US" dirty="0"/>
              <a:t> -</a:t>
            </a:r>
            <a:r>
              <a:rPr lang="vi-VN" dirty="0"/>
              <a:t>Xác định biên xương trong X-ray, CT scan.</a:t>
            </a:r>
            <a:br>
              <a:rPr lang="vi-VN" dirty="0"/>
            </a:br>
            <a:r>
              <a:rPr lang="en-US" dirty="0"/>
              <a:t> -</a:t>
            </a:r>
            <a:r>
              <a:rPr lang="vi-VN" dirty="0"/>
              <a:t>Nhận diện tế bào trong ảnh sinh học.</a:t>
            </a:r>
          </a:p>
          <a:p>
            <a:pPr marL="0" indent="0">
              <a:buNone/>
            </a:pPr>
            <a:r>
              <a:rPr lang="en-US" b="1" dirty="0"/>
              <a:t> </a:t>
            </a:r>
            <a:r>
              <a:rPr lang="vi-VN" b="1" dirty="0"/>
              <a:t>Robot &amp; Công nghiệp</a:t>
            </a:r>
          </a:p>
          <a:p>
            <a:pPr marL="0" indent="0">
              <a:buNone/>
            </a:pPr>
            <a:r>
              <a:rPr lang="en-US" dirty="0"/>
              <a:t>-</a:t>
            </a:r>
            <a:r>
              <a:rPr lang="vi-VN" dirty="0"/>
              <a:t>Hướng dẫn robot nhận diện biên vật thể.</a:t>
            </a:r>
            <a:br>
              <a:rPr lang="vi-VN" dirty="0"/>
            </a:br>
            <a:r>
              <a:rPr lang="en-US" dirty="0"/>
              <a:t>-</a:t>
            </a:r>
            <a:r>
              <a:rPr lang="vi-VN" dirty="0"/>
              <a:t>Kiểm tra chất lượng sản phẩm bằng hình ảnh.</a:t>
            </a:r>
          </a:p>
          <a:p>
            <a:pPr marL="0" indent="0">
              <a:buNone/>
            </a:pPr>
            <a:r>
              <a:rPr lang="vi-VN" b="1" dirty="0"/>
              <a:t>Ứng dụng nghệ thuật &amp; Hiệu ứng hình ảnh</a:t>
            </a:r>
          </a:p>
          <a:p>
            <a:pPr marL="0" indent="0">
              <a:buNone/>
            </a:pPr>
            <a:r>
              <a:rPr lang="en-US" dirty="0"/>
              <a:t>-</a:t>
            </a:r>
            <a:r>
              <a:rPr lang="vi-VN" dirty="0"/>
              <a:t>Chuyển ảnh sang phong cách tranh vẽ bằng đường viền.</a:t>
            </a:r>
            <a:br>
              <a:rPr lang="vi-VN" dirty="0"/>
            </a:br>
            <a:r>
              <a:rPr lang="en-US" dirty="0"/>
              <a:t>-</a:t>
            </a:r>
            <a:r>
              <a:rPr lang="vi-VN" dirty="0"/>
              <a:t>Tạo hiệu ứng hoạt hình từ ảnh thật.</a:t>
            </a:r>
          </a:p>
        </p:txBody>
      </p:sp>
    </p:spTree>
    <p:extLst>
      <p:ext uri="{BB962C8B-B14F-4D97-AF65-F5344CB8AC3E}">
        <p14:creationId xmlns:p14="http://schemas.microsoft.com/office/powerpoint/2010/main" val="6618805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66509" y="887623"/>
            <a:ext cx="9401008" cy="1821710"/>
          </a:xfrm>
        </p:spPr>
        <p:txBody>
          <a:bodyPr>
            <a:normAutofit/>
          </a:bodyPr>
          <a:lstStyle/>
          <a:p>
            <a:r>
              <a:rPr lang="en-US" sz="5400" dirty="0">
                <a:latin typeface="Helvetica Neue"/>
              </a:rPr>
              <a:t>So </a:t>
            </a:r>
            <a:r>
              <a:rPr lang="en-US" sz="5400" dirty="0" err="1">
                <a:latin typeface="Helvetica Neue"/>
              </a:rPr>
              <a:t>sánh</a:t>
            </a:r>
            <a:r>
              <a:rPr lang="en-US" sz="5400" dirty="0">
                <a:latin typeface="Helvetica Neue"/>
              </a:rPr>
              <a:t> Canny </a:t>
            </a:r>
            <a:r>
              <a:rPr lang="en-US" sz="5400" dirty="0" err="1">
                <a:latin typeface="Helvetica Neue"/>
              </a:rPr>
              <a:t>với</a:t>
            </a:r>
            <a:r>
              <a:rPr lang="en-US" sz="5400" dirty="0">
                <a:latin typeface="Helvetica Neue"/>
              </a:rPr>
              <a:t> </a:t>
            </a:r>
            <a:r>
              <a:rPr lang="en-US" sz="5400" dirty="0" err="1">
                <a:latin typeface="Helvetica Neue"/>
              </a:rPr>
              <a:t>đạo</a:t>
            </a:r>
            <a:r>
              <a:rPr lang="en-US" sz="5400" dirty="0">
                <a:latin typeface="Helvetica Neue"/>
              </a:rPr>
              <a:t> </a:t>
            </a:r>
            <a:r>
              <a:rPr lang="en-US" sz="5400" dirty="0" err="1">
                <a:latin typeface="Helvetica Neue"/>
              </a:rPr>
              <a:t>hàm</a:t>
            </a:r>
            <a:r>
              <a:rPr lang="en-US" sz="5400" dirty="0">
                <a:latin typeface="Helvetica Neue"/>
              </a:rPr>
              <a:t> </a:t>
            </a:r>
            <a:r>
              <a:rPr lang="en-US" sz="5400" dirty="0" err="1">
                <a:latin typeface="Helvetica Neue"/>
              </a:rPr>
              <a:t>bậc</a:t>
            </a:r>
            <a:r>
              <a:rPr lang="en-US" sz="5400" dirty="0">
                <a:latin typeface="Helvetica Neue"/>
              </a:rPr>
              <a:t> 1</a:t>
            </a:r>
          </a:p>
        </p:txBody>
      </p:sp>
      <mc:AlternateContent xmlns:mc="http://schemas.openxmlformats.org/markup-compatibility/2006" xmlns:a14="http://schemas.microsoft.com/office/drawing/2010/main">
        <mc:Choice Requires="a14">
          <p:graphicFrame>
            <p:nvGraphicFramePr>
              <p:cNvPr id="4" name="Content Placeholder 3"/>
              <p:cNvGraphicFramePr>
                <a:graphicFrameLocks noGrp="1"/>
              </p:cNvGraphicFramePr>
              <p:nvPr>
                <p:ph idx="1"/>
                <p:extLst>
                  <p:ext uri="{D42A27DB-BD31-4B8C-83A1-F6EECF244321}">
                    <p14:modId xmlns:p14="http://schemas.microsoft.com/office/powerpoint/2010/main" val="1893254466"/>
                  </p:ext>
                </p:extLst>
              </p:nvPr>
            </p:nvGraphicFramePr>
            <p:xfrm>
              <a:off x="647700" y="2537885"/>
              <a:ext cx="12134850" cy="6863950"/>
            </p:xfrm>
            <a:graphic>
              <a:graphicData uri="http://schemas.openxmlformats.org/drawingml/2006/table">
                <a:tbl>
                  <a:tblPr firstRow="1" bandRow="1" bandCol="1">
                    <a:tableStyleId>{5940675A-B579-460E-94D1-54222C63F5DA}</a:tableStyleId>
                  </a:tblPr>
                  <a:tblGrid>
                    <a:gridCol w="2426970">
                      <a:extLst>
                        <a:ext uri="{9D8B030D-6E8A-4147-A177-3AD203B41FA5}">
                          <a16:colId xmlns:a16="http://schemas.microsoft.com/office/drawing/2014/main" val="1677867315"/>
                        </a:ext>
                      </a:extLst>
                    </a:gridCol>
                    <a:gridCol w="2426970">
                      <a:extLst>
                        <a:ext uri="{9D8B030D-6E8A-4147-A177-3AD203B41FA5}">
                          <a16:colId xmlns:a16="http://schemas.microsoft.com/office/drawing/2014/main" val="1857873781"/>
                        </a:ext>
                      </a:extLst>
                    </a:gridCol>
                    <a:gridCol w="2426970">
                      <a:extLst>
                        <a:ext uri="{9D8B030D-6E8A-4147-A177-3AD203B41FA5}">
                          <a16:colId xmlns:a16="http://schemas.microsoft.com/office/drawing/2014/main" val="26405753"/>
                        </a:ext>
                      </a:extLst>
                    </a:gridCol>
                    <a:gridCol w="2426970">
                      <a:extLst>
                        <a:ext uri="{9D8B030D-6E8A-4147-A177-3AD203B41FA5}">
                          <a16:colId xmlns:a16="http://schemas.microsoft.com/office/drawing/2014/main" val="2415453367"/>
                        </a:ext>
                      </a:extLst>
                    </a:gridCol>
                    <a:gridCol w="2426970">
                      <a:extLst>
                        <a:ext uri="{9D8B030D-6E8A-4147-A177-3AD203B41FA5}">
                          <a16:colId xmlns:a16="http://schemas.microsoft.com/office/drawing/2014/main" val="2373737750"/>
                        </a:ext>
                      </a:extLst>
                    </a:gridCol>
                  </a:tblGrid>
                  <a:tr h="408259">
                    <a:tc>
                      <a:txBody>
                        <a:bodyPr/>
                        <a:lstStyle/>
                        <a:p>
                          <a:pPr>
                            <a:spcBef>
                              <a:spcPts val="180"/>
                            </a:spcBef>
                            <a:spcAft>
                              <a:spcPts val="180"/>
                            </a:spcAft>
                          </a:pPr>
                          <a:r>
                            <a:rPr lang="en-US" sz="2400">
                              <a:effectLst/>
                              <a:latin typeface="Helvetica Neue"/>
                            </a:rPr>
                            <a:t>Tiêu chí</a:t>
                          </a:r>
                          <a:endParaRPr lang="en-US" sz="2400">
                            <a:effectLst/>
                            <a:latin typeface="Helvetica Neue"/>
                            <a:ea typeface="Aptos"/>
                            <a:cs typeface="Times New Roman" panose="02020603050405020304" pitchFamily="18" charset="0"/>
                          </a:endParaRPr>
                        </a:p>
                      </a:txBody>
                      <a:tcPr marL="68580" marR="68580" marT="0" marB="0" anchor="b"/>
                    </a:tc>
                    <a:tc>
                      <a:txBody>
                        <a:bodyPr/>
                        <a:lstStyle/>
                        <a:p>
                          <a:pPr>
                            <a:spcBef>
                              <a:spcPts val="180"/>
                            </a:spcBef>
                            <a:spcAft>
                              <a:spcPts val="180"/>
                            </a:spcAft>
                          </a:pPr>
                          <a:r>
                            <a:rPr lang="en-US" sz="2400">
                              <a:effectLst/>
                              <a:latin typeface="Helvetica Neue"/>
                            </a:rPr>
                            <a:t>Canny</a:t>
                          </a:r>
                          <a:endParaRPr lang="en-US" sz="2400">
                            <a:effectLst/>
                            <a:latin typeface="Helvetica Neue"/>
                            <a:ea typeface="Aptos"/>
                            <a:cs typeface="Times New Roman" panose="02020603050405020304" pitchFamily="18" charset="0"/>
                          </a:endParaRPr>
                        </a:p>
                      </a:txBody>
                      <a:tcPr marL="68580" marR="68580" marT="0" marB="0" anchor="b"/>
                    </a:tc>
                    <a:tc>
                      <a:txBody>
                        <a:bodyPr/>
                        <a:lstStyle/>
                        <a:p>
                          <a:pPr>
                            <a:spcBef>
                              <a:spcPts val="180"/>
                            </a:spcBef>
                            <a:spcAft>
                              <a:spcPts val="180"/>
                            </a:spcAft>
                          </a:pPr>
                          <a:r>
                            <a:rPr lang="en-US" sz="2400">
                              <a:effectLst/>
                              <a:latin typeface="Helvetica Neue"/>
                            </a:rPr>
                            <a:t>Robert</a:t>
                          </a:r>
                          <a:endParaRPr lang="en-US" sz="2400">
                            <a:effectLst/>
                            <a:latin typeface="Helvetica Neue"/>
                            <a:ea typeface="Aptos"/>
                            <a:cs typeface="Times New Roman" panose="02020603050405020304" pitchFamily="18" charset="0"/>
                          </a:endParaRPr>
                        </a:p>
                      </a:txBody>
                      <a:tcPr marL="68580" marR="68580" marT="0" marB="0" anchor="b"/>
                    </a:tc>
                    <a:tc>
                      <a:txBody>
                        <a:bodyPr/>
                        <a:lstStyle/>
                        <a:p>
                          <a:pPr>
                            <a:spcBef>
                              <a:spcPts val="180"/>
                            </a:spcBef>
                            <a:spcAft>
                              <a:spcPts val="180"/>
                            </a:spcAft>
                          </a:pPr>
                          <a:r>
                            <a:rPr lang="en-US" sz="2400">
                              <a:effectLst/>
                              <a:latin typeface="Helvetica Neue"/>
                            </a:rPr>
                            <a:t>Prewitt</a:t>
                          </a:r>
                          <a:endParaRPr lang="en-US" sz="2400">
                            <a:effectLst/>
                            <a:latin typeface="Helvetica Neue"/>
                            <a:ea typeface="Aptos"/>
                            <a:cs typeface="Times New Roman" panose="02020603050405020304" pitchFamily="18" charset="0"/>
                          </a:endParaRPr>
                        </a:p>
                      </a:txBody>
                      <a:tcPr marL="68580" marR="68580" marT="0" marB="0" anchor="b"/>
                    </a:tc>
                    <a:tc>
                      <a:txBody>
                        <a:bodyPr/>
                        <a:lstStyle/>
                        <a:p>
                          <a:pPr>
                            <a:spcBef>
                              <a:spcPts val="180"/>
                            </a:spcBef>
                            <a:spcAft>
                              <a:spcPts val="180"/>
                            </a:spcAft>
                          </a:pPr>
                          <a:r>
                            <a:rPr lang="en-US" sz="2400">
                              <a:effectLst/>
                              <a:latin typeface="Helvetica Neue"/>
                            </a:rPr>
                            <a:t>Sobel</a:t>
                          </a:r>
                          <a:endParaRPr lang="en-US" sz="2400">
                            <a:effectLst/>
                            <a:latin typeface="Helvetica Neue"/>
                            <a:ea typeface="Aptos"/>
                            <a:cs typeface="Times New Roman" panose="02020603050405020304" pitchFamily="18" charset="0"/>
                          </a:endParaRPr>
                        </a:p>
                      </a:txBody>
                      <a:tcPr marL="68580" marR="68580" marT="0" marB="0" anchor="b"/>
                    </a:tc>
                    <a:extLst>
                      <a:ext uri="{0D108BD9-81ED-4DB2-BD59-A6C34878D82A}">
                        <a16:rowId xmlns:a16="http://schemas.microsoft.com/office/drawing/2014/main" val="327011695"/>
                      </a:ext>
                    </a:extLst>
                  </a:tr>
                  <a:tr h="683801">
                    <a:tc>
                      <a:txBody>
                        <a:bodyPr/>
                        <a:lstStyle/>
                        <a:p>
                          <a:pPr>
                            <a:spcBef>
                              <a:spcPts val="180"/>
                            </a:spcBef>
                            <a:spcAft>
                              <a:spcPts val="180"/>
                            </a:spcAft>
                          </a:pPr>
                          <a:r>
                            <a:rPr lang="en-US" sz="2400">
                              <a:effectLst/>
                              <a:latin typeface="Helvetica Neue"/>
                            </a:rPr>
                            <a:t>Độ chính xác</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Cao</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Thấp</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Trung bình</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Trung bình - Cao</a:t>
                          </a:r>
                          <a:endParaRPr lang="en-US" sz="2400">
                            <a:effectLst/>
                            <a:latin typeface="Helvetica Neue"/>
                            <a:ea typeface="Aptos"/>
                            <a:cs typeface="Times New Roman" panose="02020603050405020304" pitchFamily="18" charset="0"/>
                          </a:endParaRPr>
                        </a:p>
                      </a:txBody>
                      <a:tcPr marL="68580" marR="68580" marT="0" marB="0"/>
                    </a:tc>
                    <a:extLst>
                      <a:ext uri="{0D108BD9-81ED-4DB2-BD59-A6C34878D82A}">
                        <a16:rowId xmlns:a16="http://schemas.microsoft.com/office/drawing/2014/main" val="3678461560"/>
                      </a:ext>
                    </a:extLst>
                  </a:tr>
                  <a:tr h="683801">
                    <a:tc>
                      <a:txBody>
                        <a:bodyPr/>
                        <a:lstStyle/>
                        <a:p>
                          <a:pPr>
                            <a:spcBef>
                              <a:spcPts val="180"/>
                            </a:spcBef>
                            <a:spcAft>
                              <a:spcPts val="180"/>
                            </a:spcAft>
                          </a:pPr>
                          <a:r>
                            <a:rPr lang="en-US" sz="2400" dirty="0" err="1">
                              <a:effectLst/>
                              <a:latin typeface="Helvetica Neue"/>
                            </a:rPr>
                            <a:t>Chống</a:t>
                          </a:r>
                          <a:r>
                            <a:rPr lang="en-US" sz="2400" dirty="0">
                              <a:effectLst/>
                              <a:latin typeface="Helvetica Neue"/>
                            </a:rPr>
                            <a:t> </a:t>
                          </a:r>
                          <a:r>
                            <a:rPr lang="en-US" sz="2400" dirty="0" err="1">
                              <a:effectLst/>
                              <a:latin typeface="Helvetica Neue"/>
                            </a:rPr>
                            <a:t>nhiễu</a:t>
                          </a:r>
                          <a:endParaRPr lang="en-US" sz="2400" dirty="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Tốt (có lọc Gauss)</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Kém</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Kém</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Trung bình</a:t>
                          </a:r>
                          <a:endParaRPr lang="en-US" sz="2400">
                            <a:effectLst/>
                            <a:latin typeface="Helvetica Neue"/>
                            <a:ea typeface="Aptos"/>
                            <a:cs typeface="Times New Roman" panose="02020603050405020304" pitchFamily="18" charset="0"/>
                          </a:endParaRPr>
                        </a:p>
                      </a:txBody>
                      <a:tcPr marL="68580" marR="68580" marT="0" marB="0"/>
                    </a:tc>
                    <a:extLst>
                      <a:ext uri="{0D108BD9-81ED-4DB2-BD59-A6C34878D82A}">
                        <a16:rowId xmlns:a16="http://schemas.microsoft.com/office/drawing/2014/main" val="4042676454"/>
                      </a:ext>
                    </a:extLst>
                  </a:tr>
                  <a:tr h="926792">
                    <a:tc>
                      <a:txBody>
                        <a:bodyPr/>
                        <a:lstStyle/>
                        <a:p>
                          <a:pPr>
                            <a:spcBef>
                              <a:spcPts val="180"/>
                            </a:spcBef>
                            <a:spcAft>
                              <a:spcPts val="180"/>
                            </a:spcAft>
                          </a:pPr>
                          <a:r>
                            <a:rPr lang="en-US" sz="2400">
                              <a:effectLst/>
                              <a:latin typeface="Helvetica Neue"/>
                            </a:rPr>
                            <a:t>Tính toán gradient</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Đạo hàm bậc nhất &amp; Gaussian</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Đạo hàm bậc nhất</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Đạo hàm bậc nhất</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Đạo hàm bậc nhất</a:t>
                          </a:r>
                          <a:endParaRPr lang="en-US" sz="2400">
                            <a:effectLst/>
                            <a:latin typeface="Helvetica Neue"/>
                            <a:ea typeface="Aptos"/>
                            <a:cs typeface="Times New Roman" panose="02020603050405020304" pitchFamily="18" charset="0"/>
                          </a:endParaRPr>
                        </a:p>
                      </a:txBody>
                      <a:tcPr marL="68580" marR="68580" marT="0" marB="0"/>
                    </a:tc>
                    <a:extLst>
                      <a:ext uri="{0D108BD9-81ED-4DB2-BD59-A6C34878D82A}">
                        <a16:rowId xmlns:a16="http://schemas.microsoft.com/office/drawing/2014/main" val="3208473881"/>
                      </a:ext>
                    </a:extLst>
                  </a:tr>
                  <a:tr h="683801">
                    <a:tc>
                      <a:txBody>
                        <a:bodyPr/>
                        <a:lstStyle/>
                        <a:p>
                          <a:pPr>
                            <a:spcBef>
                              <a:spcPts val="180"/>
                            </a:spcBef>
                            <a:spcAft>
                              <a:spcPts val="180"/>
                            </a:spcAft>
                          </a:pPr>
                          <a:r>
                            <a:rPr lang="en-US" sz="2400">
                              <a:effectLst/>
                              <a:latin typeface="Helvetica Neue"/>
                            </a:rPr>
                            <a:t>Tốc độ thực thi</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Chậm (do nhiều bước)</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Nhanh</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Nhanh</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Trung bình</a:t>
                          </a:r>
                          <a:endParaRPr lang="en-US" sz="2400">
                            <a:effectLst/>
                            <a:latin typeface="Helvetica Neue"/>
                            <a:ea typeface="Aptos"/>
                            <a:cs typeface="Times New Roman" panose="02020603050405020304" pitchFamily="18" charset="0"/>
                          </a:endParaRPr>
                        </a:p>
                      </a:txBody>
                      <a:tcPr marL="68580" marR="68580" marT="0" marB="0"/>
                    </a:tc>
                    <a:extLst>
                      <a:ext uri="{0D108BD9-81ED-4DB2-BD59-A6C34878D82A}">
                        <a16:rowId xmlns:a16="http://schemas.microsoft.com/office/drawing/2014/main" val="1729687771"/>
                      </a:ext>
                    </a:extLst>
                  </a:tr>
                  <a:tr h="683801">
                    <a:tc>
                      <a:txBody>
                        <a:bodyPr/>
                        <a:lstStyle/>
                        <a:p>
                          <a:pPr>
                            <a:spcBef>
                              <a:spcPts val="180"/>
                            </a:spcBef>
                            <a:spcAft>
                              <a:spcPts val="180"/>
                            </a:spcAft>
                          </a:pPr>
                          <a:r>
                            <a:rPr lang="en-US" sz="2400">
                              <a:effectLst/>
                              <a:latin typeface="Helvetica Neue"/>
                            </a:rPr>
                            <a:t>Tính liên tục của cạnh</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dirty="0">
                              <a:effectLst/>
                              <a:latin typeface="Helvetica Neue"/>
                            </a:rPr>
                            <a:t>Cao (</a:t>
                          </a:r>
                          <a:r>
                            <a:rPr lang="en-US" sz="2400" dirty="0" err="1">
                              <a:effectLst/>
                              <a:latin typeface="Helvetica Neue"/>
                            </a:rPr>
                            <a:t>có</a:t>
                          </a:r>
                          <a:r>
                            <a:rPr lang="en-US" sz="2400" dirty="0">
                              <a:effectLst/>
                              <a:latin typeface="Helvetica Neue"/>
                            </a:rPr>
                            <a:t> Hysteresis)</a:t>
                          </a:r>
                          <a:endParaRPr lang="en-US" sz="2400" dirty="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Thấp</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Thấp</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Trung bình</a:t>
                          </a:r>
                          <a:endParaRPr lang="en-US" sz="2400">
                            <a:effectLst/>
                            <a:latin typeface="Helvetica Neue"/>
                            <a:ea typeface="Aptos"/>
                            <a:cs typeface="Times New Roman" panose="02020603050405020304" pitchFamily="18" charset="0"/>
                          </a:endParaRPr>
                        </a:p>
                      </a:txBody>
                      <a:tcPr marL="68580" marR="68580" marT="0" marB="0"/>
                    </a:tc>
                    <a:extLst>
                      <a:ext uri="{0D108BD9-81ED-4DB2-BD59-A6C34878D82A}">
                        <a16:rowId xmlns:a16="http://schemas.microsoft.com/office/drawing/2014/main" val="3095353648"/>
                      </a:ext>
                    </a:extLst>
                  </a:tr>
                  <a:tr h="408259">
                    <a:tc>
                      <a:txBody>
                        <a:bodyPr/>
                        <a:lstStyle/>
                        <a:p>
                          <a:pPr>
                            <a:spcBef>
                              <a:spcPts val="180"/>
                            </a:spcBef>
                            <a:spcAft>
                              <a:spcPts val="180"/>
                            </a:spcAft>
                          </a:pPr>
                          <a:r>
                            <a:rPr lang="en-US" sz="2400">
                              <a:effectLst/>
                              <a:latin typeface="Helvetica Neue"/>
                            </a:rPr>
                            <a:t>Tính phức tạp</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Cao</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Thấp</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Trung bình</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Trung bình</a:t>
                          </a:r>
                          <a:endParaRPr lang="en-US" sz="2400">
                            <a:effectLst/>
                            <a:latin typeface="Helvetica Neue"/>
                            <a:ea typeface="Aptos"/>
                            <a:cs typeface="Times New Roman" panose="02020603050405020304" pitchFamily="18" charset="0"/>
                          </a:endParaRPr>
                        </a:p>
                      </a:txBody>
                      <a:tcPr marL="68580" marR="68580" marT="0" marB="0"/>
                    </a:tc>
                    <a:extLst>
                      <a:ext uri="{0D108BD9-81ED-4DB2-BD59-A6C34878D82A}">
                        <a16:rowId xmlns:a16="http://schemas.microsoft.com/office/drawing/2014/main" val="2896916372"/>
                      </a:ext>
                    </a:extLst>
                  </a:tr>
                  <a:tr h="683801">
                    <a:tc>
                      <a:txBody>
                        <a:bodyPr/>
                        <a:lstStyle/>
                        <a:p>
                          <a:pPr>
                            <a:spcBef>
                              <a:spcPts val="180"/>
                            </a:spcBef>
                            <a:spcAft>
                              <a:spcPts val="180"/>
                            </a:spcAft>
                          </a:pPr>
                          <a:r>
                            <a:rPr lang="en-US" sz="2400">
                              <a:effectLst/>
                              <a:latin typeface="Helvetica Neue"/>
                            </a:rPr>
                            <a:t>Mặt nạ (Kernel)</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Gaussian + Sobel</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2×2</m:t>
                                </m:r>
                              </m:oMath>
                            </m:oMathPara>
                          </a14:m>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3×3</m:t>
                                </m:r>
                              </m:oMath>
                            </m:oMathPara>
                          </a14:m>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3×3</m:t>
                                </m:r>
                              </m:oMath>
                            </m:oMathPara>
                          </a14:m>
                          <a:endParaRPr lang="en-US" sz="2400">
                            <a:effectLst/>
                            <a:latin typeface="Helvetica Neue"/>
                            <a:ea typeface="Aptos"/>
                            <a:cs typeface="Times New Roman" panose="02020603050405020304" pitchFamily="18" charset="0"/>
                          </a:endParaRPr>
                        </a:p>
                      </a:txBody>
                      <a:tcPr marL="68580" marR="68580" marT="0" marB="0"/>
                    </a:tc>
                    <a:extLst>
                      <a:ext uri="{0D108BD9-81ED-4DB2-BD59-A6C34878D82A}">
                        <a16:rowId xmlns:a16="http://schemas.microsoft.com/office/drawing/2014/main" val="1048482910"/>
                      </a:ext>
                    </a:extLst>
                  </a:tr>
                  <a:tr h="1367602">
                    <a:tc>
                      <a:txBody>
                        <a:bodyPr/>
                        <a:lstStyle/>
                        <a:p>
                          <a:pPr>
                            <a:spcBef>
                              <a:spcPts val="180"/>
                            </a:spcBef>
                            <a:spcAft>
                              <a:spcPts val="180"/>
                            </a:spcAft>
                          </a:pPr>
                          <a:r>
                            <a:rPr lang="en-US" sz="2400">
                              <a:effectLst/>
                              <a:latin typeface="Helvetica Neue"/>
                            </a:rPr>
                            <a:t>Ứng dụng chính</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Xử lý ảnh y tế, thị giác máy, nhận dạng đối tượng</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Xử lý ảnh đơn giản</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Xử lý biên ảnh cơ bản</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dirty="0" err="1">
                              <a:effectLst/>
                              <a:latin typeface="Helvetica Neue"/>
                            </a:rPr>
                            <a:t>Xử</a:t>
                          </a:r>
                          <a:r>
                            <a:rPr lang="en-US" sz="2400" dirty="0">
                              <a:effectLst/>
                              <a:latin typeface="Helvetica Neue"/>
                            </a:rPr>
                            <a:t> </a:t>
                          </a:r>
                          <a:r>
                            <a:rPr lang="en-US" sz="2400" dirty="0" err="1">
                              <a:effectLst/>
                              <a:latin typeface="Helvetica Neue"/>
                            </a:rPr>
                            <a:t>lý</a:t>
                          </a:r>
                          <a:r>
                            <a:rPr lang="en-US" sz="2400" dirty="0">
                              <a:effectLst/>
                              <a:latin typeface="Helvetica Neue"/>
                            </a:rPr>
                            <a:t> </a:t>
                          </a:r>
                          <a:r>
                            <a:rPr lang="en-US" sz="2400" dirty="0" err="1">
                              <a:effectLst/>
                              <a:latin typeface="Helvetica Neue"/>
                            </a:rPr>
                            <a:t>ảnh</a:t>
                          </a:r>
                          <a:r>
                            <a:rPr lang="en-US" sz="2400" dirty="0">
                              <a:effectLst/>
                              <a:latin typeface="Helvetica Neue"/>
                            </a:rPr>
                            <a:t> </a:t>
                          </a:r>
                          <a:r>
                            <a:rPr lang="en-US" sz="2400" dirty="0" err="1">
                              <a:effectLst/>
                              <a:latin typeface="Helvetica Neue"/>
                            </a:rPr>
                            <a:t>biên</a:t>
                          </a:r>
                          <a:r>
                            <a:rPr lang="en-US" sz="2400" dirty="0">
                              <a:effectLst/>
                              <a:latin typeface="Helvetica Neue"/>
                            </a:rPr>
                            <a:t> </a:t>
                          </a:r>
                          <a:r>
                            <a:rPr lang="en-US" sz="2400" dirty="0" err="1">
                              <a:effectLst/>
                              <a:latin typeface="Helvetica Neue"/>
                            </a:rPr>
                            <a:t>nâng</a:t>
                          </a:r>
                          <a:r>
                            <a:rPr lang="en-US" sz="2400" dirty="0">
                              <a:effectLst/>
                              <a:latin typeface="Helvetica Neue"/>
                            </a:rPr>
                            <a:t> </a:t>
                          </a:r>
                          <a:r>
                            <a:rPr lang="en-US" sz="2400" dirty="0" err="1">
                              <a:effectLst/>
                              <a:latin typeface="Helvetica Neue"/>
                            </a:rPr>
                            <a:t>cao</a:t>
                          </a:r>
                          <a:endParaRPr lang="en-US" sz="2400" dirty="0">
                            <a:effectLst/>
                            <a:latin typeface="Helvetica Neue"/>
                            <a:ea typeface="Aptos"/>
                            <a:cs typeface="Times New Roman" panose="02020603050405020304" pitchFamily="18" charset="0"/>
                          </a:endParaRPr>
                        </a:p>
                      </a:txBody>
                      <a:tcPr marL="68580" marR="68580" marT="0" marB="0"/>
                    </a:tc>
                    <a:extLst>
                      <a:ext uri="{0D108BD9-81ED-4DB2-BD59-A6C34878D82A}">
                        <a16:rowId xmlns:a16="http://schemas.microsoft.com/office/drawing/2014/main" val="1206419739"/>
                      </a:ext>
                    </a:extLst>
                  </a:tr>
                </a:tbl>
              </a:graphicData>
            </a:graphic>
          </p:graphicFrame>
        </mc:Choice>
        <mc:Fallback xmlns="">
          <p:graphicFrame>
            <p:nvGraphicFramePr>
              <p:cNvPr id="4" name="Content Placeholder 3"/>
              <p:cNvGraphicFramePr>
                <a:graphicFrameLocks noGrp="1"/>
              </p:cNvGraphicFramePr>
              <p:nvPr>
                <p:ph idx="1"/>
                <p:extLst>
                  <p:ext uri="{D42A27DB-BD31-4B8C-83A1-F6EECF244321}">
                    <p14:modId xmlns:p14="http://schemas.microsoft.com/office/powerpoint/2010/main" val="1893254466"/>
                  </p:ext>
                </p:extLst>
              </p:nvPr>
            </p:nvGraphicFramePr>
            <p:xfrm>
              <a:off x="647700" y="2537885"/>
              <a:ext cx="12134850" cy="6863950"/>
            </p:xfrm>
            <a:graphic>
              <a:graphicData uri="http://schemas.openxmlformats.org/drawingml/2006/table">
                <a:tbl>
                  <a:tblPr firstRow="1" bandRow="1" bandCol="1">
                    <a:tableStyleId>{5940675A-B579-460E-94D1-54222C63F5DA}</a:tableStyleId>
                  </a:tblPr>
                  <a:tblGrid>
                    <a:gridCol w="2426970">
                      <a:extLst>
                        <a:ext uri="{9D8B030D-6E8A-4147-A177-3AD203B41FA5}">
                          <a16:colId xmlns:a16="http://schemas.microsoft.com/office/drawing/2014/main" val="1677867315"/>
                        </a:ext>
                      </a:extLst>
                    </a:gridCol>
                    <a:gridCol w="2426970">
                      <a:extLst>
                        <a:ext uri="{9D8B030D-6E8A-4147-A177-3AD203B41FA5}">
                          <a16:colId xmlns:a16="http://schemas.microsoft.com/office/drawing/2014/main" val="1857873781"/>
                        </a:ext>
                      </a:extLst>
                    </a:gridCol>
                    <a:gridCol w="2426970">
                      <a:extLst>
                        <a:ext uri="{9D8B030D-6E8A-4147-A177-3AD203B41FA5}">
                          <a16:colId xmlns:a16="http://schemas.microsoft.com/office/drawing/2014/main" val="26405753"/>
                        </a:ext>
                      </a:extLst>
                    </a:gridCol>
                    <a:gridCol w="2426970">
                      <a:extLst>
                        <a:ext uri="{9D8B030D-6E8A-4147-A177-3AD203B41FA5}">
                          <a16:colId xmlns:a16="http://schemas.microsoft.com/office/drawing/2014/main" val="2415453367"/>
                        </a:ext>
                      </a:extLst>
                    </a:gridCol>
                    <a:gridCol w="2426970">
                      <a:extLst>
                        <a:ext uri="{9D8B030D-6E8A-4147-A177-3AD203B41FA5}">
                          <a16:colId xmlns:a16="http://schemas.microsoft.com/office/drawing/2014/main" val="2373737750"/>
                        </a:ext>
                      </a:extLst>
                    </a:gridCol>
                  </a:tblGrid>
                  <a:tr h="408259">
                    <a:tc>
                      <a:txBody>
                        <a:bodyPr/>
                        <a:lstStyle/>
                        <a:p>
                          <a:pPr>
                            <a:spcBef>
                              <a:spcPts val="180"/>
                            </a:spcBef>
                            <a:spcAft>
                              <a:spcPts val="180"/>
                            </a:spcAft>
                          </a:pPr>
                          <a:r>
                            <a:rPr lang="en-US" sz="2400">
                              <a:effectLst/>
                              <a:latin typeface="Helvetica Neue"/>
                            </a:rPr>
                            <a:t>Tiêu chí</a:t>
                          </a:r>
                          <a:endParaRPr lang="en-US" sz="2400">
                            <a:effectLst/>
                            <a:latin typeface="Helvetica Neue"/>
                            <a:ea typeface="Aptos"/>
                            <a:cs typeface="Times New Roman" panose="02020603050405020304" pitchFamily="18" charset="0"/>
                          </a:endParaRPr>
                        </a:p>
                      </a:txBody>
                      <a:tcPr marL="68580" marR="68580" marT="0" marB="0" anchor="b"/>
                    </a:tc>
                    <a:tc>
                      <a:txBody>
                        <a:bodyPr/>
                        <a:lstStyle/>
                        <a:p>
                          <a:pPr>
                            <a:spcBef>
                              <a:spcPts val="180"/>
                            </a:spcBef>
                            <a:spcAft>
                              <a:spcPts val="180"/>
                            </a:spcAft>
                          </a:pPr>
                          <a:r>
                            <a:rPr lang="en-US" sz="2400">
                              <a:effectLst/>
                              <a:latin typeface="Helvetica Neue"/>
                            </a:rPr>
                            <a:t>Canny</a:t>
                          </a:r>
                          <a:endParaRPr lang="en-US" sz="2400">
                            <a:effectLst/>
                            <a:latin typeface="Helvetica Neue"/>
                            <a:ea typeface="Aptos"/>
                            <a:cs typeface="Times New Roman" panose="02020603050405020304" pitchFamily="18" charset="0"/>
                          </a:endParaRPr>
                        </a:p>
                      </a:txBody>
                      <a:tcPr marL="68580" marR="68580" marT="0" marB="0" anchor="b"/>
                    </a:tc>
                    <a:tc>
                      <a:txBody>
                        <a:bodyPr/>
                        <a:lstStyle/>
                        <a:p>
                          <a:pPr>
                            <a:spcBef>
                              <a:spcPts val="180"/>
                            </a:spcBef>
                            <a:spcAft>
                              <a:spcPts val="180"/>
                            </a:spcAft>
                          </a:pPr>
                          <a:r>
                            <a:rPr lang="en-US" sz="2400">
                              <a:effectLst/>
                              <a:latin typeface="Helvetica Neue"/>
                            </a:rPr>
                            <a:t>Robert</a:t>
                          </a:r>
                          <a:endParaRPr lang="en-US" sz="2400">
                            <a:effectLst/>
                            <a:latin typeface="Helvetica Neue"/>
                            <a:ea typeface="Aptos"/>
                            <a:cs typeface="Times New Roman" panose="02020603050405020304" pitchFamily="18" charset="0"/>
                          </a:endParaRPr>
                        </a:p>
                      </a:txBody>
                      <a:tcPr marL="68580" marR="68580" marT="0" marB="0" anchor="b"/>
                    </a:tc>
                    <a:tc>
                      <a:txBody>
                        <a:bodyPr/>
                        <a:lstStyle/>
                        <a:p>
                          <a:pPr>
                            <a:spcBef>
                              <a:spcPts val="180"/>
                            </a:spcBef>
                            <a:spcAft>
                              <a:spcPts val="180"/>
                            </a:spcAft>
                          </a:pPr>
                          <a:r>
                            <a:rPr lang="en-US" sz="2400">
                              <a:effectLst/>
                              <a:latin typeface="Helvetica Neue"/>
                            </a:rPr>
                            <a:t>Prewitt</a:t>
                          </a:r>
                          <a:endParaRPr lang="en-US" sz="2400">
                            <a:effectLst/>
                            <a:latin typeface="Helvetica Neue"/>
                            <a:ea typeface="Aptos"/>
                            <a:cs typeface="Times New Roman" panose="02020603050405020304" pitchFamily="18" charset="0"/>
                          </a:endParaRPr>
                        </a:p>
                      </a:txBody>
                      <a:tcPr marL="68580" marR="68580" marT="0" marB="0" anchor="b"/>
                    </a:tc>
                    <a:tc>
                      <a:txBody>
                        <a:bodyPr/>
                        <a:lstStyle/>
                        <a:p>
                          <a:pPr>
                            <a:spcBef>
                              <a:spcPts val="180"/>
                            </a:spcBef>
                            <a:spcAft>
                              <a:spcPts val="180"/>
                            </a:spcAft>
                          </a:pPr>
                          <a:r>
                            <a:rPr lang="en-US" sz="2400">
                              <a:effectLst/>
                              <a:latin typeface="Helvetica Neue"/>
                            </a:rPr>
                            <a:t>Sobel</a:t>
                          </a:r>
                          <a:endParaRPr lang="en-US" sz="2400">
                            <a:effectLst/>
                            <a:latin typeface="Helvetica Neue"/>
                            <a:ea typeface="Aptos"/>
                            <a:cs typeface="Times New Roman" panose="02020603050405020304" pitchFamily="18" charset="0"/>
                          </a:endParaRPr>
                        </a:p>
                      </a:txBody>
                      <a:tcPr marL="68580" marR="68580" marT="0" marB="0" anchor="b"/>
                    </a:tc>
                    <a:extLst>
                      <a:ext uri="{0D108BD9-81ED-4DB2-BD59-A6C34878D82A}">
                        <a16:rowId xmlns:a16="http://schemas.microsoft.com/office/drawing/2014/main" val="327011695"/>
                      </a:ext>
                    </a:extLst>
                  </a:tr>
                  <a:tr h="731520">
                    <a:tc>
                      <a:txBody>
                        <a:bodyPr/>
                        <a:lstStyle/>
                        <a:p>
                          <a:pPr>
                            <a:spcBef>
                              <a:spcPts val="180"/>
                            </a:spcBef>
                            <a:spcAft>
                              <a:spcPts val="180"/>
                            </a:spcAft>
                          </a:pPr>
                          <a:r>
                            <a:rPr lang="en-US" sz="2400">
                              <a:effectLst/>
                              <a:latin typeface="Helvetica Neue"/>
                            </a:rPr>
                            <a:t>Độ chính xác</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Cao</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Thấp</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Trung bình</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Trung bình - Cao</a:t>
                          </a:r>
                          <a:endParaRPr lang="en-US" sz="2400">
                            <a:effectLst/>
                            <a:latin typeface="Helvetica Neue"/>
                            <a:ea typeface="Aptos"/>
                            <a:cs typeface="Times New Roman" panose="02020603050405020304" pitchFamily="18" charset="0"/>
                          </a:endParaRPr>
                        </a:p>
                      </a:txBody>
                      <a:tcPr marL="68580" marR="68580" marT="0" marB="0"/>
                    </a:tc>
                    <a:extLst>
                      <a:ext uri="{0D108BD9-81ED-4DB2-BD59-A6C34878D82A}">
                        <a16:rowId xmlns:a16="http://schemas.microsoft.com/office/drawing/2014/main" val="3678461560"/>
                      </a:ext>
                    </a:extLst>
                  </a:tr>
                  <a:tr h="731520">
                    <a:tc>
                      <a:txBody>
                        <a:bodyPr/>
                        <a:lstStyle/>
                        <a:p>
                          <a:pPr>
                            <a:spcBef>
                              <a:spcPts val="180"/>
                            </a:spcBef>
                            <a:spcAft>
                              <a:spcPts val="180"/>
                            </a:spcAft>
                          </a:pPr>
                          <a:r>
                            <a:rPr lang="en-US" sz="2400" dirty="0" err="1">
                              <a:effectLst/>
                              <a:latin typeface="Helvetica Neue"/>
                            </a:rPr>
                            <a:t>Chống</a:t>
                          </a:r>
                          <a:r>
                            <a:rPr lang="en-US" sz="2400" dirty="0">
                              <a:effectLst/>
                              <a:latin typeface="Helvetica Neue"/>
                            </a:rPr>
                            <a:t> </a:t>
                          </a:r>
                          <a:r>
                            <a:rPr lang="en-US" sz="2400" dirty="0" err="1">
                              <a:effectLst/>
                              <a:latin typeface="Helvetica Neue"/>
                            </a:rPr>
                            <a:t>nhiễu</a:t>
                          </a:r>
                          <a:endParaRPr lang="en-US" sz="2400" dirty="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Tốt (có lọc Gauss)</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Kém</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Kém</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Trung bình</a:t>
                          </a:r>
                          <a:endParaRPr lang="en-US" sz="2400">
                            <a:effectLst/>
                            <a:latin typeface="Helvetica Neue"/>
                            <a:ea typeface="Aptos"/>
                            <a:cs typeface="Times New Roman" panose="02020603050405020304" pitchFamily="18" charset="0"/>
                          </a:endParaRPr>
                        </a:p>
                      </a:txBody>
                      <a:tcPr marL="68580" marR="68580" marT="0" marB="0"/>
                    </a:tc>
                    <a:extLst>
                      <a:ext uri="{0D108BD9-81ED-4DB2-BD59-A6C34878D82A}">
                        <a16:rowId xmlns:a16="http://schemas.microsoft.com/office/drawing/2014/main" val="4042676454"/>
                      </a:ext>
                    </a:extLst>
                  </a:tr>
                  <a:tr h="926792">
                    <a:tc>
                      <a:txBody>
                        <a:bodyPr/>
                        <a:lstStyle/>
                        <a:p>
                          <a:pPr>
                            <a:spcBef>
                              <a:spcPts val="180"/>
                            </a:spcBef>
                            <a:spcAft>
                              <a:spcPts val="180"/>
                            </a:spcAft>
                          </a:pPr>
                          <a:r>
                            <a:rPr lang="en-US" sz="2400">
                              <a:effectLst/>
                              <a:latin typeface="Helvetica Neue"/>
                            </a:rPr>
                            <a:t>Tính toán gradient</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Đạo hàm bậc nhất &amp; Gaussian</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Đạo hàm bậc nhất</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Đạo hàm bậc nhất</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Đạo hàm bậc nhất</a:t>
                          </a:r>
                          <a:endParaRPr lang="en-US" sz="2400">
                            <a:effectLst/>
                            <a:latin typeface="Helvetica Neue"/>
                            <a:ea typeface="Aptos"/>
                            <a:cs typeface="Times New Roman" panose="02020603050405020304" pitchFamily="18" charset="0"/>
                          </a:endParaRPr>
                        </a:p>
                      </a:txBody>
                      <a:tcPr marL="68580" marR="68580" marT="0" marB="0"/>
                    </a:tc>
                    <a:extLst>
                      <a:ext uri="{0D108BD9-81ED-4DB2-BD59-A6C34878D82A}">
                        <a16:rowId xmlns:a16="http://schemas.microsoft.com/office/drawing/2014/main" val="3208473881"/>
                      </a:ext>
                    </a:extLst>
                  </a:tr>
                  <a:tr h="731520">
                    <a:tc>
                      <a:txBody>
                        <a:bodyPr/>
                        <a:lstStyle/>
                        <a:p>
                          <a:pPr>
                            <a:spcBef>
                              <a:spcPts val="180"/>
                            </a:spcBef>
                            <a:spcAft>
                              <a:spcPts val="180"/>
                            </a:spcAft>
                          </a:pPr>
                          <a:r>
                            <a:rPr lang="en-US" sz="2400">
                              <a:effectLst/>
                              <a:latin typeface="Helvetica Neue"/>
                            </a:rPr>
                            <a:t>Tốc độ thực thi</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Chậm (do nhiều bước)</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Nhanh</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Nhanh</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Trung bình</a:t>
                          </a:r>
                          <a:endParaRPr lang="en-US" sz="2400">
                            <a:effectLst/>
                            <a:latin typeface="Helvetica Neue"/>
                            <a:ea typeface="Aptos"/>
                            <a:cs typeface="Times New Roman" panose="02020603050405020304" pitchFamily="18" charset="0"/>
                          </a:endParaRPr>
                        </a:p>
                      </a:txBody>
                      <a:tcPr marL="68580" marR="68580" marT="0" marB="0"/>
                    </a:tc>
                    <a:extLst>
                      <a:ext uri="{0D108BD9-81ED-4DB2-BD59-A6C34878D82A}">
                        <a16:rowId xmlns:a16="http://schemas.microsoft.com/office/drawing/2014/main" val="1729687771"/>
                      </a:ext>
                    </a:extLst>
                  </a:tr>
                  <a:tr h="731520">
                    <a:tc>
                      <a:txBody>
                        <a:bodyPr/>
                        <a:lstStyle/>
                        <a:p>
                          <a:pPr>
                            <a:spcBef>
                              <a:spcPts val="180"/>
                            </a:spcBef>
                            <a:spcAft>
                              <a:spcPts val="180"/>
                            </a:spcAft>
                          </a:pPr>
                          <a:r>
                            <a:rPr lang="en-US" sz="2400">
                              <a:effectLst/>
                              <a:latin typeface="Helvetica Neue"/>
                            </a:rPr>
                            <a:t>Tính liên tục của cạnh</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Cao (có Hysteresis)</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Thấp</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Thấp</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Trung bình</a:t>
                          </a:r>
                          <a:endParaRPr lang="en-US" sz="2400">
                            <a:effectLst/>
                            <a:latin typeface="Helvetica Neue"/>
                            <a:ea typeface="Aptos"/>
                            <a:cs typeface="Times New Roman" panose="02020603050405020304" pitchFamily="18" charset="0"/>
                          </a:endParaRPr>
                        </a:p>
                      </a:txBody>
                      <a:tcPr marL="68580" marR="68580" marT="0" marB="0"/>
                    </a:tc>
                    <a:extLst>
                      <a:ext uri="{0D108BD9-81ED-4DB2-BD59-A6C34878D82A}">
                        <a16:rowId xmlns:a16="http://schemas.microsoft.com/office/drawing/2014/main" val="3095353648"/>
                      </a:ext>
                    </a:extLst>
                  </a:tr>
                  <a:tr h="408259">
                    <a:tc>
                      <a:txBody>
                        <a:bodyPr/>
                        <a:lstStyle/>
                        <a:p>
                          <a:pPr>
                            <a:spcBef>
                              <a:spcPts val="180"/>
                            </a:spcBef>
                            <a:spcAft>
                              <a:spcPts val="180"/>
                            </a:spcAft>
                          </a:pPr>
                          <a:r>
                            <a:rPr lang="en-US" sz="2400">
                              <a:effectLst/>
                              <a:latin typeface="Helvetica Neue"/>
                            </a:rPr>
                            <a:t>Tính phức tạp</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Cao</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Thấp</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Trung bình</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Trung bình</a:t>
                          </a:r>
                          <a:endParaRPr lang="en-US" sz="2400">
                            <a:effectLst/>
                            <a:latin typeface="Helvetica Neue"/>
                            <a:ea typeface="Aptos"/>
                            <a:cs typeface="Times New Roman" panose="02020603050405020304" pitchFamily="18" charset="0"/>
                          </a:endParaRPr>
                        </a:p>
                      </a:txBody>
                      <a:tcPr marL="68580" marR="68580" marT="0" marB="0"/>
                    </a:tc>
                    <a:extLst>
                      <a:ext uri="{0D108BD9-81ED-4DB2-BD59-A6C34878D82A}">
                        <a16:rowId xmlns:a16="http://schemas.microsoft.com/office/drawing/2014/main" val="2896916372"/>
                      </a:ext>
                    </a:extLst>
                  </a:tr>
                  <a:tr h="731520">
                    <a:tc>
                      <a:txBody>
                        <a:bodyPr/>
                        <a:lstStyle/>
                        <a:p>
                          <a:pPr>
                            <a:spcBef>
                              <a:spcPts val="180"/>
                            </a:spcBef>
                            <a:spcAft>
                              <a:spcPts val="180"/>
                            </a:spcAft>
                          </a:pPr>
                          <a:r>
                            <a:rPr lang="en-US" sz="2400">
                              <a:effectLst/>
                              <a:latin typeface="Helvetica Neue"/>
                            </a:rPr>
                            <a:t>Mặt nạ (Kernel)</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Gaussian + Sobel</a:t>
                          </a:r>
                          <a:endParaRPr lang="en-US" sz="2400">
                            <a:effectLst/>
                            <a:latin typeface="Helvetica Neue"/>
                            <a:ea typeface="Aptos"/>
                            <a:cs typeface="Times New Roman" panose="02020603050405020304" pitchFamily="18" charset="0"/>
                          </a:endParaRPr>
                        </a:p>
                      </a:txBody>
                      <a:tcPr marL="68580" marR="68580" marT="0" marB="0"/>
                    </a:tc>
                    <a:tc>
                      <a:txBody>
                        <a:bodyPr/>
                        <a:lstStyle/>
                        <a:p>
                          <a:endParaRPr lang="en-US"/>
                        </a:p>
                      </a:txBody>
                      <a:tcPr marL="68580" marR="68580" marT="0" marB="0">
                        <a:blipFill>
                          <a:blip r:embed="rId2"/>
                          <a:stretch>
                            <a:fillRect l="-199749" t="-645000" r="-200000" b="-225833"/>
                          </a:stretch>
                        </a:blipFill>
                      </a:tcPr>
                    </a:tc>
                    <a:tc>
                      <a:txBody>
                        <a:bodyPr/>
                        <a:lstStyle/>
                        <a:p>
                          <a:endParaRPr lang="en-US"/>
                        </a:p>
                      </a:txBody>
                      <a:tcPr marL="68580" marR="68580" marT="0" marB="0">
                        <a:blipFill>
                          <a:blip r:embed="rId2"/>
                          <a:stretch>
                            <a:fillRect l="-300503" t="-645000" r="-100503" b="-225833"/>
                          </a:stretch>
                        </a:blipFill>
                      </a:tcPr>
                    </a:tc>
                    <a:tc>
                      <a:txBody>
                        <a:bodyPr/>
                        <a:lstStyle/>
                        <a:p>
                          <a:endParaRPr lang="en-US"/>
                        </a:p>
                      </a:txBody>
                      <a:tcPr marL="68580" marR="68580" marT="0" marB="0">
                        <a:blipFill>
                          <a:blip r:embed="rId2"/>
                          <a:stretch>
                            <a:fillRect l="-400503" t="-645000" r="-503" b="-225833"/>
                          </a:stretch>
                        </a:blipFill>
                      </a:tcPr>
                    </a:tc>
                    <a:extLst>
                      <a:ext uri="{0D108BD9-81ED-4DB2-BD59-A6C34878D82A}">
                        <a16:rowId xmlns:a16="http://schemas.microsoft.com/office/drawing/2014/main" val="1048482910"/>
                      </a:ext>
                    </a:extLst>
                  </a:tr>
                  <a:tr h="1463040">
                    <a:tc>
                      <a:txBody>
                        <a:bodyPr/>
                        <a:lstStyle/>
                        <a:p>
                          <a:pPr>
                            <a:spcBef>
                              <a:spcPts val="180"/>
                            </a:spcBef>
                            <a:spcAft>
                              <a:spcPts val="180"/>
                            </a:spcAft>
                          </a:pPr>
                          <a:r>
                            <a:rPr lang="en-US" sz="2400">
                              <a:effectLst/>
                              <a:latin typeface="Helvetica Neue"/>
                            </a:rPr>
                            <a:t>Ứng dụng chính</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Xử lý ảnh y tế, thị giác máy, nhận dạng đối tượng</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Xử lý ảnh đơn giản</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latin typeface="Helvetica Neue"/>
                            </a:rPr>
                            <a:t>Xử lý biên ảnh cơ bản</a:t>
                          </a:r>
                          <a:endParaRPr lang="en-US" sz="24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2400" dirty="0" err="1">
                              <a:effectLst/>
                              <a:latin typeface="Helvetica Neue"/>
                            </a:rPr>
                            <a:t>Xử</a:t>
                          </a:r>
                          <a:r>
                            <a:rPr lang="en-US" sz="2400" dirty="0">
                              <a:effectLst/>
                              <a:latin typeface="Helvetica Neue"/>
                            </a:rPr>
                            <a:t> </a:t>
                          </a:r>
                          <a:r>
                            <a:rPr lang="en-US" sz="2400" dirty="0" err="1">
                              <a:effectLst/>
                              <a:latin typeface="Helvetica Neue"/>
                            </a:rPr>
                            <a:t>lý</a:t>
                          </a:r>
                          <a:r>
                            <a:rPr lang="en-US" sz="2400" dirty="0">
                              <a:effectLst/>
                              <a:latin typeface="Helvetica Neue"/>
                            </a:rPr>
                            <a:t> </a:t>
                          </a:r>
                          <a:r>
                            <a:rPr lang="en-US" sz="2400" dirty="0" err="1">
                              <a:effectLst/>
                              <a:latin typeface="Helvetica Neue"/>
                            </a:rPr>
                            <a:t>ảnh</a:t>
                          </a:r>
                          <a:r>
                            <a:rPr lang="en-US" sz="2400" dirty="0">
                              <a:effectLst/>
                              <a:latin typeface="Helvetica Neue"/>
                            </a:rPr>
                            <a:t> </a:t>
                          </a:r>
                          <a:r>
                            <a:rPr lang="en-US" sz="2400" dirty="0" err="1">
                              <a:effectLst/>
                              <a:latin typeface="Helvetica Neue"/>
                            </a:rPr>
                            <a:t>biên</a:t>
                          </a:r>
                          <a:r>
                            <a:rPr lang="en-US" sz="2400" dirty="0">
                              <a:effectLst/>
                              <a:latin typeface="Helvetica Neue"/>
                            </a:rPr>
                            <a:t> </a:t>
                          </a:r>
                          <a:r>
                            <a:rPr lang="en-US" sz="2400" dirty="0" err="1">
                              <a:effectLst/>
                              <a:latin typeface="Helvetica Neue"/>
                            </a:rPr>
                            <a:t>nâng</a:t>
                          </a:r>
                          <a:r>
                            <a:rPr lang="en-US" sz="2400" dirty="0">
                              <a:effectLst/>
                              <a:latin typeface="Helvetica Neue"/>
                            </a:rPr>
                            <a:t> </a:t>
                          </a:r>
                          <a:r>
                            <a:rPr lang="en-US" sz="2400" dirty="0" err="1">
                              <a:effectLst/>
                              <a:latin typeface="Helvetica Neue"/>
                            </a:rPr>
                            <a:t>cao</a:t>
                          </a:r>
                          <a:endParaRPr lang="en-US" sz="2400" dirty="0">
                            <a:effectLst/>
                            <a:latin typeface="Helvetica Neue"/>
                            <a:ea typeface="Aptos"/>
                            <a:cs typeface="Times New Roman" panose="02020603050405020304" pitchFamily="18" charset="0"/>
                          </a:endParaRPr>
                        </a:p>
                      </a:txBody>
                      <a:tcPr marL="68580" marR="68580" marT="0" marB="0"/>
                    </a:tc>
                    <a:extLst>
                      <a:ext uri="{0D108BD9-81ED-4DB2-BD59-A6C34878D82A}">
                        <a16:rowId xmlns:a16="http://schemas.microsoft.com/office/drawing/2014/main" val="1206419739"/>
                      </a:ext>
                    </a:extLst>
                  </a:tr>
                </a:tbl>
              </a:graphicData>
            </a:graphic>
          </p:graphicFrame>
        </mc:Fallback>
      </mc:AlternateContent>
    </p:spTree>
    <p:extLst>
      <p:ext uri="{BB962C8B-B14F-4D97-AF65-F5344CB8AC3E}">
        <p14:creationId xmlns:p14="http://schemas.microsoft.com/office/powerpoint/2010/main" val="41772432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err="1">
                <a:latin typeface="Helvetica Neue"/>
              </a:rPr>
              <a:t>Nhận</a:t>
            </a:r>
            <a:r>
              <a:rPr lang="en-US" sz="5400" dirty="0">
                <a:latin typeface="Helvetica Neue"/>
              </a:rPr>
              <a:t> </a:t>
            </a:r>
            <a:r>
              <a:rPr lang="en-US" sz="5400" dirty="0" err="1">
                <a:latin typeface="Helvetica Neue"/>
              </a:rPr>
              <a:t>xét</a:t>
            </a:r>
            <a:endParaRPr lang="en-US" sz="5400" dirty="0">
              <a:latin typeface="Helvetica Neue"/>
            </a:endParaRPr>
          </a:p>
        </p:txBody>
      </p:sp>
      <p:sp>
        <p:nvSpPr>
          <p:cNvPr id="3" name="Content Placeholder 2"/>
          <p:cNvSpPr>
            <a:spLocks noGrp="1"/>
          </p:cNvSpPr>
          <p:nvPr>
            <p:ph idx="1"/>
          </p:nvPr>
        </p:nvSpPr>
        <p:spPr>
          <a:xfrm>
            <a:off x="1638596" y="2709333"/>
            <a:ext cx="9375268" cy="5372618"/>
          </a:xfrm>
        </p:spPr>
        <p:txBody>
          <a:bodyPr>
            <a:normAutofit/>
          </a:bodyPr>
          <a:lstStyle/>
          <a:p>
            <a:pPr lvl="0"/>
            <a:r>
              <a:rPr lang="en-US" sz="2400" b="1" dirty="0">
                <a:latin typeface="Helvetica Neue"/>
              </a:rPr>
              <a:t>Canny</a:t>
            </a:r>
            <a:r>
              <a:rPr lang="en-US" sz="2400" dirty="0">
                <a:latin typeface="Helvetica Neue"/>
              </a:rPr>
              <a:t> là </a:t>
            </a:r>
            <a:r>
              <a:rPr lang="en-US" sz="2400" dirty="0" err="1">
                <a:latin typeface="Helvetica Neue"/>
              </a:rPr>
              <a:t>thuật</a:t>
            </a:r>
            <a:r>
              <a:rPr lang="en-US" sz="2400" dirty="0">
                <a:latin typeface="Helvetica Neue"/>
              </a:rPr>
              <a:t> </a:t>
            </a:r>
            <a:r>
              <a:rPr lang="en-US" sz="2400" dirty="0" err="1">
                <a:latin typeface="Helvetica Neue"/>
              </a:rPr>
              <a:t>toán</a:t>
            </a:r>
            <a:r>
              <a:rPr lang="en-US" sz="2400" dirty="0">
                <a:latin typeface="Helvetica Neue"/>
              </a:rPr>
              <a:t> </a:t>
            </a:r>
            <a:r>
              <a:rPr lang="en-US" sz="2400" dirty="0" err="1">
                <a:latin typeface="Helvetica Neue"/>
              </a:rPr>
              <a:t>tốt</a:t>
            </a:r>
            <a:r>
              <a:rPr lang="en-US" sz="2400" dirty="0">
                <a:latin typeface="Helvetica Neue"/>
              </a:rPr>
              <a:t> </a:t>
            </a:r>
            <a:r>
              <a:rPr lang="en-US" sz="2400" dirty="0" err="1">
                <a:latin typeface="Helvetica Neue"/>
              </a:rPr>
              <a:t>nhất</a:t>
            </a:r>
            <a:r>
              <a:rPr lang="en-US" sz="2400" dirty="0">
                <a:latin typeface="Helvetica Neue"/>
              </a:rPr>
              <a:t> </a:t>
            </a:r>
            <a:r>
              <a:rPr lang="en-US" sz="2400" dirty="0" err="1">
                <a:latin typeface="Helvetica Neue"/>
              </a:rPr>
              <a:t>về</a:t>
            </a:r>
            <a:r>
              <a:rPr lang="en-US" sz="2400" dirty="0">
                <a:latin typeface="Helvetica Neue"/>
              </a:rPr>
              <a:t> </a:t>
            </a:r>
            <a:r>
              <a:rPr lang="en-US" sz="2400" dirty="0" err="1">
                <a:latin typeface="Helvetica Neue"/>
              </a:rPr>
              <a:t>độ</a:t>
            </a:r>
            <a:r>
              <a:rPr lang="en-US" sz="2400" dirty="0">
                <a:latin typeface="Helvetica Neue"/>
              </a:rPr>
              <a:t> chính </a:t>
            </a:r>
            <a:r>
              <a:rPr lang="en-US" sz="2400" dirty="0" err="1">
                <a:latin typeface="Helvetica Neue"/>
              </a:rPr>
              <a:t>xác</a:t>
            </a:r>
            <a:r>
              <a:rPr lang="en-US" sz="2400" dirty="0">
                <a:latin typeface="Helvetica Neue"/>
              </a:rPr>
              <a:t> </a:t>
            </a:r>
            <a:r>
              <a:rPr lang="en-US" sz="2400" dirty="0" err="1">
                <a:latin typeface="Helvetica Neue"/>
              </a:rPr>
              <a:t>và</a:t>
            </a:r>
            <a:r>
              <a:rPr lang="en-US" sz="2400" dirty="0">
                <a:latin typeface="Helvetica Neue"/>
              </a:rPr>
              <a:t> </a:t>
            </a:r>
            <a:r>
              <a:rPr lang="en-US" sz="2400" dirty="0" err="1">
                <a:latin typeface="Helvetica Neue"/>
              </a:rPr>
              <a:t>chống</a:t>
            </a:r>
            <a:r>
              <a:rPr lang="en-US" sz="2400" dirty="0">
                <a:latin typeface="Helvetica Neue"/>
              </a:rPr>
              <a:t> </a:t>
            </a:r>
            <a:r>
              <a:rPr lang="en-US" sz="2400" dirty="0" err="1">
                <a:latin typeface="Helvetica Neue"/>
              </a:rPr>
              <a:t>nhiễu</a:t>
            </a:r>
            <a:r>
              <a:rPr lang="en-US" sz="2400" dirty="0">
                <a:latin typeface="Helvetica Neue"/>
              </a:rPr>
              <a:t>, </a:t>
            </a:r>
            <a:r>
              <a:rPr lang="en-US" sz="2400" dirty="0" err="1">
                <a:latin typeface="Helvetica Neue"/>
              </a:rPr>
              <a:t>nhưng</a:t>
            </a:r>
            <a:r>
              <a:rPr lang="en-US" sz="2400" dirty="0">
                <a:latin typeface="Helvetica Neue"/>
              </a:rPr>
              <a:t> </a:t>
            </a:r>
            <a:r>
              <a:rPr lang="en-US" sz="2400" dirty="0" err="1">
                <a:latin typeface="Helvetica Neue"/>
              </a:rPr>
              <a:t>tốc</a:t>
            </a:r>
            <a:r>
              <a:rPr lang="en-US" sz="2400" dirty="0">
                <a:latin typeface="Helvetica Neue"/>
              </a:rPr>
              <a:t> </a:t>
            </a:r>
            <a:r>
              <a:rPr lang="en-US" sz="2400" dirty="0" err="1">
                <a:latin typeface="Helvetica Neue"/>
              </a:rPr>
              <a:t>độ</a:t>
            </a:r>
            <a:r>
              <a:rPr lang="en-US" sz="2400" dirty="0">
                <a:latin typeface="Helvetica Neue"/>
              </a:rPr>
              <a:t> </a:t>
            </a:r>
            <a:r>
              <a:rPr lang="en-US" sz="2400" dirty="0" err="1">
                <a:latin typeface="Helvetica Neue"/>
              </a:rPr>
              <a:t>chậm</a:t>
            </a:r>
            <a:r>
              <a:rPr lang="en-US" sz="2400" dirty="0">
                <a:latin typeface="Helvetica Neue"/>
              </a:rPr>
              <a:t> </a:t>
            </a:r>
            <a:r>
              <a:rPr lang="en-US" sz="2400" dirty="0" err="1">
                <a:latin typeface="Helvetica Neue"/>
              </a:rPr>
              <a:t>hơn</a:t>
            </a:r>
            <a:r>
              <a:rPr lang="en-US" sz="2400" dirty="0">
                <a:latin typeface="Helvetica Neue"/>
              </a:rPr>
              <a:t>.</a:t>
            </a:r>
          </a:p>
          <a:p>
            <a:pPr lvl="0"/>
            <a:endParaRPr lang="en-US" sz="2400" dirty="0">
              <a:latin typeface="Helvetica Neue"/>
            </a:endParaRPr>
          </a:p>
          <a:p>
            <a:pPr lvl="0"/>
            <a:r>
              <a:rPr lang="en-US" sz="2400" b="1" dirty="0">
                <a:latin typeface="Helvetica Neue"/>
              </a:rPr>
              <a:t>Robert</a:t>
            </a:r>
            <a:r>
              <a:rPr lang="en-US" sz="2400" dirty="0">
                <a:latin typeface="Helvetica Neue"/>
              </a:rPr>
              <a:t> </a:t>
            </a:r>
            <a:r>
              <a:rPr lang="en-US" sz="2400" dirty="0" err="1">
                <a:latin typeface="Helvetica Neue"/>
              </a:rPr>
              <a:t>nhanh</a:t>
            </a:r>
            <a:r>
              <a:rPr lang="en-US" sz="2400" dirty="0">
                <a:latin typeface="Helvetica Neue"/>
              </a:rPr>
              <a:t> </a:t>
            </a:r>
            <a:r>
              <a:rPr lang="en-US" sz="2400" dirty="0" err="1">
                <a:latin typeface="Helvetica Neue"/>
              </a:rPr>
              <a:t>nhất</a:t>
            </a:r>
            <a:r>
              <a:rPr lang="en-US" sz="2400" dirty="0">
                <a:latin typeface="Helvetica Neue"/>
              </a:rPr>
              <a:t> </a:t>
            </a:r>
            <a:r>
              <a:rPr lang="en-US" sz="2400" dirty="0" err="1">
                <a:latin typeface="Helvetica Neue"/>
              </a:rPr>
              <a:t>nhưng</a:t>
            </a:r>
            <a:r>
              <a:rPr lang="en-US" sz="2400" dirty="0">
                <a:latin typeface="Helvetica Neue"/>
              </a:rPr>
              <a:t> </a:t>
            </a:r>
            <a:r>
              <a:rPr lang="en-US" sz="2400" dirty="0" err="1">
                <a:latin typeface="Helvetica Neue"/>
              </a:rPr>
              <a:t>kém</a:t>
            </a:r>
            <a:r>
              <a:rPr lang="en-US" sz="2400" dirty="0">
                <a:latin typeface="Helvetica Neue"/>
              </a:rPr>
              <a:t> chính </a:t>
            </a:r>
            <a:r>
              <a:rPr lang="en-US" sz="2400" dirty="0" err="1">
                <a:latin typeface="Helvetica Neue"/>
              </a:rPr>
              <a:t>xác</a:t>
            </a:r>
            <a:r>
              <a:rPr lang="en-US" sz="2400" dirty="0">
                <a:latin typeface="Helvetica Neue"/>
              </a:rPr>
              <a:t>, </a:t>
            </a:r>
            <a:r>
              <a:rPr lang="en-US" sz="2400" dirty="0" err="1">
                <a:latin typeface="Helvetica Neue"/>
              </a:rPr>
              <a:t>ít</a:t>
            </a:r>
            <a:r>
              <a:rPr lang="en-US" sz="2400" dirty="0">
                <a:latin typeface="Helvetica Neue"/>
              </a:rPr>
              <a:t> </a:t>
            </a:r>
            <a:r>
              <a:rPr lang="en-US" sz="2400" dirty="0" err="1">
                <a:latin typeface="Helvetica Neue"/>
              </a:rPr>
              <a:t>dùng</a:t>
            </a:r>
            <a:r>
              <a:rPr lang="en-US" sz="2400" dirty="0">
                <a:latin typeface="Helvetica Neue"/>
              </a:rPr>
              <a:t> trong </a:t>
            </a:r>
            <a:r>
              <a:rPr lang="en-US" sz="2400" dirty="0" err="1">
                <a:latin typeface="Helvetica Neue"/>
              </a:rPr>
              <a:t>các</a:t>
            </a:r>
            <a:r>
              <a:rPr lang="en-US" sz="2400" dirty="0">
                <a:latin typeface="Helvetica Neue"/>
              </a:rPr>
              <a:t> bài </a:t>
            </a:r>
            <a:r>
              <a:rPr lang="en-US" sz="2400" dirty="0" err="1">
                <a:latin typeface="Helvetica Neue"/>
              </a:rPr>
              <a:t>toán</a:t>
            </a:r>
            <a:r>
              <a:rPr lang="en-US" sz="2400" dirty="0">
                <a:latin typeface="Helvetica Neue"/>
              </a:rPr>
              <a:t> </a:t>
            </a:r>
            <a:r>
              <a:rPr lang="en-US" sz="2400" dirty="0" err="1">
                <a:latin typeface="Helvetica Neue"/>
              </a:rPr>
              <a:t>phức</a:t>
            </a:r>
            <a:r>
              <a:rPr lang="en-US" sz="2400" dirty="0">
                <a:latin typeface="Helvetica Neue"/>
              </a:rPr>
              <a:t> </a:t>
            </a:r>
            <a:r>
              <a:rPr lang="en-US" sz="2400" dirty="0" err="1">
                <a:latin typeface="Helvetica Neue"/>
              </a:rPr>
              <a:t>tạp</a:t>
            </a:r>
            <a:r>
              <a:rPr lang="en-US" sz="2400" dirty="0">
                <a:latin typeface="Helvetica Neue"/>
              </a:rPr>
              <a:t>.</a:t>
            </a:r>
          </a:p>
          <a:p>
            <a:pPr lvl="0"/>
            <a:endParaRPr lang="en-US" sz="2400" dirty="0">
              <a:latin typeface="Helvetica Neue"/>
            </a:endParaRPr>
          </a:p>
          <a:p>
            <a:pPr lvl="0"/>
            <a:r>
              <a:rPr lang="en-US" sz="2400" b="1" dirty="0">
                <a:latin typeface="Helvetica Neue"/>
              </a:rPr>
              <a:t>Prewitt</a:t>
            </a:r>
            <a:r>
              <a:rPr lang="en-US" sz="2400" dirty="0">
                <a:latin typeface="Helvetica Neue"/>
              </a:rPr>
              <a:t> </a:t>
            </a:r>
            <a:r>
              <a:rPr lang="en-US" sz="2400" dirty="0" err="1">
                <a:latin typeface="Helvetica Neue"/>
              </a:rPr>
              <a:t>đơn</a:t>
            </a:r>
            <a:r>
              <a:rPr lang="en-US" sz="2400" dirty="0">
                <a:latin typeface="Helvetica Neue"/>
              </a:rPr>
              <a:t> </a:t>
            </a:r>
            <a:r>
              <a:rPr lang="en-US" sz="2400" dirty="0" err="1">
                <a:latin typeface="Helvetica Neue"/>
              </a:rPr>
              <a:t>giản</a:t>
            </a:r>
            <a:r>
              <a:rPr lang="en-US" sz="2400" dirty="0">
                <a:latin typeface="Helvetica Neue"/>
              </a:rPr>
              <a:t> </a:t>
            </a:r>
            <a:r>
              <a:rPr lang="en-US" sz="2400" dirty="0" err="1">
                <a:latin typeface="Helvetica Neue"/>
              </a:rPr>
              <a:t>hơn</a:t>
            </a:r>
            <a:r>
              <a:rPr lang="en-US" sz="2400" dirty="0">
                <a:latin typeface="Helvetica Neue"/>
              </a:rPr>
              <a:t> Sobel, </a:t>
            </a:r>
            <a:r>
              <a:rPr lang="en-US" sz="2400" dirty="0" err="1">
                <a:latin typeface="Helvetica Neue"/>
              </a:rPr>
              <a:t>nhưng</a:t>
            </a:r>
            <a:r>
              <a:rPr lang="en-US" sz="2400" dirty="0">
                <a:latin typeface="Helvetica Neue"/>
              </a:rPr>
              <a:t> </a:t>
            </a:r>
            <a:r>
              <a:rPr lang="en-US" sz="2400" dirty="0" err="1">
                <a:latin typeface="Helvetica Neue"/>
              </a:rPr>
              <a:t>độ</a:t>
            </a:r>
            <a:r>
              <a:rPr lang="en-US" sz="2400" dirty="0">
                <a:latin typeface="Helvetica Neue"/>
              </a:rPr>
              <a:t> chính </a:t>
            </a:r>
            <a:r>
              <a:rPr lang="en-US" sz="2400" dirty="0" err="1">
                <a:latin typeface="Helvetica Neue"/>
              </a:rPr>
              <a:t>xác</a:t>
            </a:r>
            <a:r>
              <a:rPr lang="en-US" sz="2400" dirty="0">
                <a:latin typeface="Helvetica Neue"/>
              </a:rPr>
              <a:t> </a:t>
            </a:r>
            <a:r>
              <a:rPr lang="en-US" sz="2400" dirty="0" err="1">
                <a:latin typeface="Helvetica Neue"/>
              </a:rPr>
              <a:t>kém</a:t>
            </a:r>
            <a:r>
              <a:rPr lang="en-US" sz="2400" dirty="0">
                <a:latin typeface="Helvetica Neue"/>
              </a:rPr>
              <a:t> </a:t>
            </a:r>
            <a:r>
              <a:rPr lang="en-US" sz="2400" dirty="0" err="1">
                <a:latin typeface="Helvetica Neue"/>
              </a:rPr>
              <a:t>hơn</a:t>
            </a:r>
            <a:r>
              <a:rPr lang="en-US" sz="2400" dirty="0">
                <a:latin typeface="Helvetica Neue"/>
              </a:rPr>
              <a:t>.</a:t>
            </a:r>
          </a:p>
          <a:p>
            <a:pPr lvl="0"/>
            <a:endParaRPr lang="en-US" sz="2400" dirty="0">
              <a:latin typeface="Helvetica Neue"/>
            </a:endParaRPr>
          </a:p>
          <a:p>
            <a:pPr lvl="0"/>
            <a:r>
              <a:rPr lang="en-US" sz="2400" b="1" dirty="0">
                <a:latin typeface="Helvetica Neue"/>
              </a:rPr>
              <a:t>Sobel</a:t>
            </a:r>
            <a:r>
              <a:rPr lang="en-US" sz="2400" dirty="0">
                <a:latin typeface="Helvetica Neue"/>
              </a:rPr>
              <a:t> </a:t>
            </a:r>
            <a:r>
              <a:rPr lang="en-US" sz="2400" dirty="0" err="1">
                <a:latin typeface="Helvetica Neue"/>
              </a:rPr>
              <a:t>cân</a:t>
            </a:r>
            <a:r>
              <a:rPr lang="en-US" sz="2400" dirty="0">
                <a:latin typeface="Helvetica Neue"/>
              </a:rPr>
              <a:t> </a:t>
            </a:r>
            <a:r>
              <a:rPr lang="en-US" sz="2400" dirty="0" err="1">
                <a:latin typeface="Helvetica Neue"/>
              </a:rPr>
              <a:t>bằng</a:t>
            </a:r>
            <a:r>
              <a:rPr lang="en-US" sz="2400" dirty="0">
                <a:latin typeface="Helvetica Neue"/>
              </a:rPr>
              <a:t> </a:t>
            </a:r>
            <a:r>
              <a:rPr lang="en-US" sz="2400" dirty="0" err="1">
                <a:latin typeface="Helvetica Neue"/>
              </a:rPr>
              <a:t>giữa</a:t>
            </a:r>
            <a:r>
              <a:rPr lang="en-US" sz="2400" dirty="0">
                <a:latin typeface="Helvetica Neue"/>
              </a:rPr>
              <a:t> </a:t>
            </a:r>
            <a:r>
              <a:rPr lang="en-US" sz="2400" dirty="0" err="1">
                <a:latin typeface="Helvetica Neue"/>
              </a:rPr>
              <a:t>độ</a:t>
            </a:r>
            <a:r>
              <a:rPr lang="en-US" sz="2400" dirty="0">
                <a:latin typeface="Helvetica Neue"/>
              </a:rPr>
              <a:t> chính </a:t>
            </a:r>
            <a:r>
              <a:rPr lang="en-US" sz="2400" dirty="0" err="1">
                <a:latin typeface="Helvetica Neue"/>
              </a:rPr>
              <a:t>xác</a:t>
            </a:r>
            <a:r>
              <a:rPr lang="en-US" sz="2400" dirty="0">
                <a:latin typeface="Helvetica Neue"/>
              </a:rPr>
              <a:t> </a:t>
            </a:r>
            <a:r>
              <a:rPr lang="en-US" sz="2400" dirty="0" err="1">
                <a:latin typeface="Helvetica Neue"/>
              </a:rPr>
              <a:t>và</a:t>
            </a:r>
            <a:r>
              <a:rPr lang="en-US" sz="2400" dirty="0">
                <a:latin typeface="Helvetica Neue"/>
              </a:rPr>
              <a:t> </a:t>
            </a:r>
            <a:r>
              <a:rPr lang="en-US" sz="2400" dirty="0" err="1">
                <a:latin typeface="Helvetica Neue"/>
              </a:rPr>
              <a:t>tốc</a:t>
            </a:r>
            <a:r>
              <a:rPr lang="en-US" sz="2400" dirty="0">
                <a:latin typeface="Helvetica Neue"/>
              </a:rPr>
              <a:t> </a:t>
            </a:r>
            <a:r>
              <a:rPr lang="en-US" sz="2400" dirty="0" err="1">
                <a:latin typeface="Helvetica Neue"/>
              </a:rPr>
              <a:t>độ</a:t>
            </a:r>
            <a:r>
              <a:rPr lang="en-US" sz="2400" dirty="0">
                <a:latin typeface="Helvetica Neue"/>
              </a:rPr>
              <a:t>, </a:t>
            </a:r>
            <a:r>
              <a:rPr lang="en-US" sz="2400" dirty="0" err="1">
                <a:latin typeface="Helvetica Neue"/>
              </a:rPr>
              <a:t>được</a:t>
            </a:r>
            <a:r>
              <a:rPr lang="en-US" sz="2400" dirty="0">
                <a:latin typeface="Helvetica Neue"/>
              </a:rPr>
              <a:t> </a:t>
            </a:r>
            <a:r>
              <a:rPr lang="en-US" sz="2400" dirty="0" err="1">
                <a:latin typeface="Helvetica Neue"/>
              </a:rPr>
              <a:t>sử</a:t>
            </a:r>
            <a:r>
              <a:rPr lang="en-US" sz="2400" dirty="0">
                <a:latin typeface="Helvetica Neue"/>
              </a:rPr>
              <a:t> </a:t>
            </a:r>
            <a:r>
              <a:rPr lang="en-US" sz="2400" dirty="0" err="1">
                <a:latin typeface="Helvetica Neue"/>
              </a:rPr>
              <a:t>dụng</a:t>
            </a:r>
            <a:r>
              <a:rPr lang="en-US" sz="2400" dirty="0">
                <a:latin typeface="Helvetica Neue"/>
              </a:rPr>
              <a:t> </a:t>
            </a:r>
            <a:r>
              <a:rPr lang="en-US" sz="2400" dirty="0" err="1">
                <a:latin typeface="Helvetica Neue"/>
              </a:rPr>
              <a:t>phổ</a:t>
            </a:r>
            <a:r>
              <a:rPr lang="en-US" sz="2400" dirty="0">
                <a:latin typeface="Helvetica Neue"/>
              </a:rPr>
              <a:t> </a:t>
            </a:r>
            <a:r>
              <a:rPr lang="en-US" sz="2400" dirty="0" err="1">
                <a:latin typeface="Helvetica Neue"/>
              </a:rPr>
              <a:t>biến</a:t>
            </a:r>
            <a:r>
              <a:rPr lang="en-US" sz="2400" dirty="0">
                <a:latin typeface="Helvetica Neue"/>
              </a:rPr>
              <a:t>.</a:t>
            </a:r>
          </a:p>
          <a:p>
            <a:pPr marL="0" indent="0">
              <a:buNone/>
            </a:pPr>
            <a:endParaRPr lang="en-US" sz="2400" dirty="0">
              <a:latin typeface="Helvetica Neue"/>
            </a:endParaRPr>
          </a:p>
        </p:txBody>
      </p:sp>
    </p:spTree>
    <p:extLst>
      <p:ext uri="{BB962C8B-B14F-4D97-AF65-F5344CB8AC3E}">
        <p14:creationId xmlns:p14="http://schemas.microsoft.com/office/powerpoint/2010/main" val="31220983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82773"/>
            <a:ext cx="11144249" cy="1821710"/>
          </a:xfrm>
        </p:spPr>
        <p:txBody>
          <a:bodyPr>
            <a:normAutofit/>
          </a:bodyPr>
          <a:lstStyle/>
          <a:p>
            <a:r>
              <a:rPr lang="en-US" sz="5400" b="1" dirty="0" err="1">
                <a:latin typeface="Helvetica Neue"/>
              </a:rPr>
              <a:t>Các</a:t>
            </a:r>
            <a:r>
              <a:rPr lang="en-US" sz="5400" b="1" dirty="0">
                <a:latin typeface="Helvetica Neue"/>
              </a:rPr>
              <a:t> </a:t>
            </a:r>
            <a:r>
              <a:rPr lang="en-US" sz="5400" b="1" dirty="0" err="1">
                <a:latin typeface="Helvetica Neue"/>
              </a:rPr>
              <a:t>phương</a:t>
            </a:r>
            <a:r>
              <a:rPr lang="en-US" sz="5400" b="1" dirty="0">
                <a:latin typeface="Helvetica Neue"/>
              </a:rPr>
              <a:t> </a:t>
            </a:r>
            <a:r>
              <a:rPr lang="en-US" sz="5400" b="1" dirty="0" err="1">
                <a:latin typeface="Helvetica Neue"/>
              </a:rPr>
              <a:t>pháp</a:t>
            </a:r>
            <a:r>
              <a:rPr lang="en-US" sz="5400" b="1" dirty="0">
                <a:latin typeface="Helvetica Neue"/>
              </a:rPr>
              <a:t> </a:t>
            </a:r>
            <a:r>
              <a:rPr lang="en-US" sz="5400" b="1" dirty="0" err="1">
                <a:latin typeface="Helvetica Neue"/>
              </a:rPr>
              <a:t>đạo</a:t>
            </a:r>
            <a:r>
              <a:rPr lang="en-US" sz="5400" b="1" dirty="0">
                <a:latin typeface="Helvetica Neue"/>
              </a:rPr>
              <a:t> </a:t>
            </a:r>
            <a:r>
              <a:rPr lang="en-US" sz="5400" b="1" dirty="0" err="1">
                <a:latin typeface="Helvetica Neue"/>
              </a:rPr>
              <a:t>hàm</a:t>
            </a:r>
            <a:r>
              <a:rPr lang="en-US" sz="5400" b="1" dirty="0">
                <a:latin typeface="Helvetica Neue"/>
              </a:rPr>
              <a:t> </a:t>
            </a:r>
            <a:r>
              <a:rPr lang="en-US" sz="5400" b="1" dirty="0" err="1">
                <a:latin typeface="Helvetica Neue"/>
              </a:rPr>
              <a:t>bậc</a:t>
            </a:r>
            <a:r>
              <a:rPr lang="en-US" sz="5400" b="1" dirty="0">
                <a:latin typeface="Helvetica Neue"/>
              </a:rPr>
              <a:t> 2</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2700" y="2743200"/>
            <a:ext cx="8686800" cy="6076949"/>
          </a:xfrm>
          <a:prstGeom prst="rect">
            <a:avLst/>
          </a:prstGeom>
        </p:spPr>
      </p:pic>
    </p:spTree>
    <p:extLst>
      <p:ext uri="{BB962C8B-B14F-4D97-AF65-F5344CB8AC3E}">
        <p14:creationId xmlns:p14="http://schemas.microsoft.com/office/powerpoint/2010/main" val="16486101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0" y="2101002"/>
            <a:ext cx="10382250" cy="6185747"/>
          </a:xfrm>
        </p:spPr>
        <p:txBody>
          <a:bodyPr>
            <a:noAutofit/>
          </a:bodyPr>
          <a:lstStyle/>
          <a:p>
            <a:pPr marL="0" indent="0">
              <a:buNone/>
            </a:pPr>
            <a:r>
              <a:rPr lang="vi-VN" sz="2400" b="1" dirty="0">
                <a:latin typeface="Helvetica Neue"/>
              </a:rPr>
              <a:t>1. Đạo hàm bậc 2 là gì?</a:t>
            </a:r>
          </a:p>
          <a:p>
            <a:r>
              <a:rPr lang="vi-VN" sz="2400" dirty="0">
                <a:latin typeface="Helvetica Neue"/>
              </a:rPr>
              <a:t>Trong toán học, đạo hàm bậc 2 cho biết mức độ thay đổi của đạo hàm bậc 1. Trong xử lý ảnh, nó giúp tìm những vùng có sự thay đổi mạnh về cường độ pixel, tức là các cạnh (biên) của đối tượng trong ảnh.</a:t>
            </a:r>
          </a:p>
          <a:p>
            <a:r>
              <a:rPr lang="vi-VN" sz="2400" dirty="0">
                <a:latin typeface="Helvetica Neue"/>
              </a:rPr>
              <a:t>Nếu ta coi ảnh là một hàm số, thì:</a:t>
            </a:r>
          </a:p>
          <a:p>
            <a:r>
              <a:rPr lang="vi-VN" sz="2400" dirty="0">
                <a:latin typeface="Helvetica Neue"/>
              </a:rPr>
              <a:t>Đạo hàm bậc 1 tìm được nơi cường độ thay đổi mạnh.</a:t>
            </a:r>
          </a:p>
          <a:p>
            <a:r>
              <a:rPr lang="vi-VN" sz="2400" dirty="0">
                <a:latin typeface="Helvetica Neue"/>
              </a:rPr>
              <a:t>Đạo hàm bậc 2 tìm được những điểm mà sự thay đổi đó đạt cực đại, tức là vị trí chính xác của biên.</a:t>
            </a:r>
          </a:p>
          <a:p>
            <a:pPr marL="0" indent="0">
              <a:buNone/>
            </a:pPr>
            <a:r>
              <a:rPr lang="vi-VN" sz="2400" b="1" dirty="0">
                <a:latin typeface="Helvetica Neue"/>
              </a:rPr>
              <a:t>2. Tại sao dùng đạo hàm bậc 2 để phát hiện biên?</a:t>
            </a:r>
          </a:p>
          <a:p>
            <a:r>
              <a:rPr lang="vi-VN" sz="2400" dirty="0">
                <a:latin typeface="Helvetica Neue"/>
              </a:rPr>
              <a:t>Đạo hàm bậc 1 (Sobel, Prewitt, Roberts) chỉ đo độ dốc của cường độ ảnh. Tuy nhiên, nó dễ bị ảnh hưởng bởi nhiễu.</a:t>
            </a:r>
          </a:p>
          <a:p>
            <a:r>
              <a:rPr lang="vi-VN" sz="2400" dirty="0">
                <a:latin typeface="Helvetica Neue"/>
              </a:rPr>
              <a:t>Đạo hàm bậc 2 giúp xác định biên chính xác hơn bằng cách tìm điểm "zero-crossing" (điểm mà giá trị chuyển từ âm sang dương hoặc ngược lại).</a:t>
            </a:r>
          </a:p>
          <a:p>
            <a:r>
              <a:rPr lang="vi-VN" sz="2400" dirty="0">
                <a:latin typeface="Helvetica Neue"/>
              </a:rPr>
              <a:t>Một số phương pháp còn lọc nhiễu trước khi tìm biên, giúp cải thiện độ chính xác.</a:t>
            </a:r>
          </a:p>
        </p:txBody>
      </p:sp>
      <p:sp>
        <p:nvSpPr>
          <p:cNvPr id="2" name="TextBox 1"/>
          <p:cNvSpPr txBox="1"/>
          <p:nvPr/>
        </p:nvSpPr>
        <p:spPr>
          <a:xfrm>
            <a:off x="2590800" y="533400"/>
            <a:ext cx="7772400" cy="923330"/>
          </a:xfrm>
          <a:prstGeom prst="rect">
            <a:avLst/>
          </a:prstGeom>
          <a:noFill/>
        </p:spPr>
        <p:txBody>
          <a:bodyPr wrap="square" rtlCol="0">
            <a:spAutoFit/>
          </a:bodyPr>
          <a:lstStyle/>
          <a:p>
            <a:r>
              <a:rPr lang="vi-VN" sz="5400" dirty="0"/>
              <a:t>Giới thiệu tổng quan</a:t>
            </a:r>
          </a:p>
        </p:txBody>
      </p:sp>
    </p:spTree>
    <p:extLst>
      <p:ext uri="{BB962C8B-B14F-4D97-AF65-F5344CB8AC3E}">
        <p14:creationId xmlns:p14="http://schemas.microsoft.com/office/powerpoint/2010/main" val="40299609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err="1">
                <a:latin typeface="Helvetica Neue"/>
              </a:rPr>
              <a:t>Các</a:t>
            </a:r>
            <a:r>
              <a:rPr lang="en-US" sz="5400" b="1" dirty="0">
                <a:latin typeface="Helvetica Neue"/>
              </a:rPr>
              <a:t> </a:t>
            </a:r>
            <a:r>
              <a:rPr lang="en-US" sz="5400" b="1" dirty="0" err="1">
                <a:latin typeface="Helvetica Neue"/>
              </a:rPr>
              <a:t>phương</a:t>
            </a:r>
            <a:r>
              <a:rPr lang="en-US" sz="5400" b="1" dirty="0">
                <a:latin typeface="Helvetica Neue"/>
              </a:rPr>
              <a:t> </a:t>
            </a:r>
            <a:r>
              <a:rPr lang="en-US" sz="5400" b="1" dirty="0" err="1">
                <a:latin typeface="Helvetica Neue"/>
              </a:rPr>
              <a:t>phước</a:t>
            </a:r>
            <a:r>
              <a:rPr lang="en-US" sz="5400" b="1" dirty="0">
                <a:latin typeface="Helvetica Neue"/>
              </a:rPr>
              <a:t> </a:t>
            </a:r>
            <a:r>
              <a:rPr lang="en-US" sz="5400" b="1" dirty="0" err="1">
                <a:latin typeface="Helvetica Neue"/>
              </a:rPr>
              <a:t>đạo</a:t>
            </a:r>
            <a:r>
              <a:rPr lang="en-US" sz="5400" b="1" dirty="0">
                <a:latin typeface="Helvetica Neue"/>
              </a:rPr>
              <a:t> </a:t>
            </a:r>
            <a:r>
              <a:rPr lang="en-US" sz="5400" b="1" dirty="0" err="1">
                <a:latin typeface="Helvetica Neue"/>
              </a:rPr>
              <a:t>hàm</a:t>
            </a:r>
            <a:r>
              <a:rPr lang="en-US" sz="5400" b="1" dirty="0">
                <a:latin typeface="Helvetica Neue"/>
              </a:rPr>
              <a:t> </a:t>
            </a:r>
            <a:r>
              <a:rPr lang="en-US" sz="5400" b="1" dirty="0" err="1">
                <a:latin typeface="Helvetica Neue"/>
              </a:rPr>
              <a:t>bậc</a:t>
            </a:r>
            <a:r>
              <a:rPr lang="en-US" sz="5400" b="1" dirty="0">
                <a:latin typeface="Helvetica Neue"/>
              </a:rPr>
              <a:t> 2 </a:t>
            </a:r>
            <a:r>
              <a:rPr lang="en-US" sz="5400" b="1" dirty="0" err="1">
                <a:latin typeface="Helvetica Neue"/>
              </a:rPr>
              <a:t>phổ</a:t>
            </a:r>
            <a:r>
              <a:rPr lang="en-US" sz="5400" b="1" dirty="0">
                <a:latin typeface="Helvetica Neue"/>
              </a:rPr>
              <a:t> </a:t>
            </a:r>
            <a:r>
              <a:rPr lang="en-US" sz="5400" b="1" dirty="0" err="1">
                <a:latin typeface="Helvetica Neue"/>
              </a:rPr>
              <a:t>biến</a:t>
            </a:r>
            <a:endParaRPr lang="en-US" sz="5400" b="1" dirty="0">
              <a:latin typeface="Helvetica Neue"/>
            </a:endParaRPr>
          </a:p>
        </p:txBody>
      </p:sp>
      <p:sp>
        <p:nvSpPr>
          <p:cNvPr id="4" name="Rectangle 1"/>
          <p:cNvSpPr>
            <a:spLocks noGrp="1" noChangeArrowheads="1"/>
          </p:cNvSpPr>
          <p:nvPr>
            <p:ph idx="1"/>
          </p:nvPr>
        </p:nvSpPr>
        <p:spPr bwMode="auto">
          <a:xfrm>
            <a:off x="1504950" y="4343401"/>
            <a:ext cx="10401300" cy="2678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Helvetica Neue"/>
              </a:rPr>
              <a:t>Laplacian</a:t>
            </a:r>
            <a:r>
              <a:rPr kumimoji="0" lang="en-US" altLang="en-US" sz="2400" b="0" i="0" u="none" strike="noStrike" cap="none" normalizeH="0" baseline="0" dirty="0">
                <a:ln>
                  <a:noFill/>
                </a:ln>
                <a:solidFill>
                  <a:schemeClr val="tx1"/>
                </a:solidFill>
                <a:effectLst/>
                <a:latin typeface="Helvetica Neue"/>
              </a:rPr>
              <a:t> – </a:t>
            </a:r>
            <a:r>
              <a:rPr kumimoji="0" lang="en-US" altLang="en-US" sz="2400" b="0" i="0" u="none" strike="noStrike" cap="none" normalizeH="0" baseline="0" dirty="0" err="1">
                <a:ln>
                  <a:noFill/>
                </a:ln>
                <a:solidFill>
                  <a:schemeClr val="tx1"/>
                </a:solidFill>
                <a:effectLst/>
                <a:latin typeface="Helvetica Neue"/>
              </a:rPr>
              <a:t>Dùng</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toán</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tử</a:t>
            </a:r>
            <a:r>
              <a:rPr kumimoji="0" lang="en-US" altLang="en-US" sz="2400" b="0" i="0" u="none" strike="noStrike" cap="none" normalizeH="0" baseline="0" dirty="0">
                <a:ln>
                  <a:noFill/>
                </a:ln>
                <a:solidFill>
                  <a:schemeClr val="tx1"/>
                </a:solidFill>
                <a:effectLst/>
                <a:latin typeface="Helvetica Neue"/>
              </a:rPr>
              <a:t> Laplace để </a:t>
            </a:r>
            <a:r>
              <a:rPr kumimoji="0" lang="en-US" altLang="en-US" sz="2400" b="0" i="0" u="none" strike="noStrike" cap="none" normalizeH="0" baseline="0" dirty="0" err="1">
                <a:ln>
                  <a:noFill/>
                </a:ln>
                <a:solidFill>
                  <a:schemeClr val="tx1"/>
                </a:solidFill>
                <a:effectLst/>
                <a:latin typeface="Helvetica Neue"/>
              </a:rPr>
              <a:t>xác</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định</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biên</a:t>
            </a:r>
            <a:r>
              <a:rPr kumimoji="0" lang="en-US" altLang="en-US" sz="2400" b="0" i="0" u="none" strike="noStrike" cap="none" normalizeH="0" baseline="0" dirty="0">
                <a:ln>
                  <a:noFill/>
                </a:ln>
                <a:solidFill>
                  <a:schemeClr val="tx1"/>
                </a:solidFill>
                <a:effectLst/>
                <a:latin typeface="Helvetica Neue"/>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Helvetica Neue"/>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Helvetica Neue"/>
              </a:rPr>
              <a:t>Laplacian of Gaussian (</a:t>
            </a:r>
            <a:r>
              <a:rPr kumimoji="0" lang="en-US" altLang="en-US" sz="2400" b="1" i="0" u="none" strike="noStrike" cap="none" normalizeH="0" baseline="0" dirty="0" err="1">
                <a:ln>
                  <a:noFill/>
                </a:ln>
                <a:solidFill>
                  <a:schemeClr val="tx1"/>
                </a:solidFill>
                <a:effectLst/>
                <a:latin typeface="Helvetica Neue"/>
              </a:rPr>
              <a:t>LoG</a:t>
            </a:r>
            <a:r>
              <a:rPr kumimoji="0" lang="en-US" altLang="en-US" sz="2400" b="1" i="0" u="none" strike="noStrike" cap="none" normalizeH="0" baseline="0" dirty="0">
                <a:ln>
                  <a:noFill/>
                </a:ln>
                <a:solidFill>
                  <a:schemeClr val="tx1"/>
                </a:solidFill>
                <a:effectLst/>
                <a:latin typeface="Helvetica Neue"/>
              </a:rPr>
              <a:t>)</a:t>
            </a:r>
            <a:r>
              <a:rPr kumimoji="0" lang="en-US" altLang="en-US" sz="2400" b="0" i="0" u="none" strike="noStrike" cap="none" normalizeH="0" baseline="0" dirty="0">
                <a:ln>
                  <a:noFill/>
                </a:ln>
                <a:solidFill>
                  <a:schemeClr val="tx1"/>
                </a:solidFill>
                <a:effectLst/>
                <a:latin typeface="Helvetica Neue"/>
              </a:rPr>
              <a:t> – Làm </a:t>
            </a:r>
            <a:r>
              <a:rPr kumimoji="0" lang="en-US" altLang="en-US" sz="2400" b="0" i="0" u="none" strike="noStrike" cap="none" normalizeH="0" baseline="0" dirty="0" err="1">
                <a:ln>
                  <a:noFill/>
                </a:ln>
                <a:solidFill>
                  <a:schemeClr val="tx1"/>
                </a:solidFill>
                <a:effectLst/>
                <a:latin typeface="Helvetica Neue"/>
              </a:rPr>
              <a:t>mờ</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ảnh</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trước</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khi</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áp</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dụng</a:t>
            </a:r>
            <a:r>
              <a:rPr kumimoji="0" lang="en-US" altLang="en-US" sz="2400" b="0" i="0" u="none" strike="noStrike" cap="none" normalizeH="0" baseline="0" dirty="0">
                <a:ln>
                  <a:noFill/>
                </a:ln>
                <a:solidFill>
                  <a:schemeClr val="tx1"/>
                </a:solidFill>
                <a:effectLst/>
                <a:latin typeface="Helvetica Neue"/>
              </a:rPr>
              <a:t> Laplacian để </a:t>
            </a:r>
            <a:r>
              <a:rPr kumimoji="0" lang="en-US" altLang="en-US" sz="2400" b="0" i="0" u="none" strike="noStrike" cap="none" normalizeH="0" baseline="0" dirty="0" err="1">
                <a:ln>
                  <a:noFill/>
                </a:ln>
                <a:solidFill>
                  <a:schemeClr val="tx1"/>
                </a:solidFill>
                <a:effectLst/>
                <a:latin typeface="Helvetica Neue"/>
              </a:rPr>
              <a:t>giảm</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nhiễu</a:t>
            </a:r>
            <a:r>
              <a:rPr kumimoji="0" lang="en-US" altLang="en-US" sz="2400" b="0" i="0" u="none" strike="noStrike" cap="none" normalizeH="0" baseline="0" dirty="0">
                <a:ln>
                  <a:noFill/>
                </a:ln>
                <a:solidFill>
                  <a:schemeClr val="tx1"/>
                </a:solidFill>
                <a:effectLst/>
                <a:latin typeface="Helvetica Neue"/>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Helvetica Neue"/>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Helvetica Neue"/>
              </a:rPr>
              <a:t>Difference of Gaussian (</a:t>
            </a:r>
            <a:r>
              <a:rPr kumimoji="0" lang="en-US" altLang="en-US" sz="2400" b="1" i="0" u="none" strike="noStrike" cap="none" normalizeH="0" baseline="0" dirty="0" err="1">
                <a:ln>
                  <a:noFill/>
                </a:ln>
                <a:solidFill>
                  <a:schemeClr val="tx1"/>
                </a:solidFill>
                <a:effectLst/>
                <a:latin typeface="Helvetica Neue"/>
              </a:rPr>
              <a:t>DoG</a:t>
            </a:r>
            <a:r>
              <a:rPr kumimoji="0" lang="en-US" altLang="en-US" sz="2400" b="1" i="0" u="none" strike="noStrike" cap="none" normalizeH="0" baseline="0" dirty="0">
                <a:ln>
                  <a:noFill/>
                </a:ln>
                <a:solidFill>
                  <a:schemeClr val="tx1"/>
                </a:solidFill>
                <a:effectLst/>
                <a:latin typeface="Helvetica Neue"/>
              </a:rPr>
              <a:t>)</a:t>
            </a:r>
            <a:r>
              <a:rPr kumimoji="0" lang="en-US" altLang="en-US" sz="2400" b="0" i="0" u="none" strike="noStrike" cap="none" normalizeH="0" baseline="0" dirty="0">
                <a:ln>
                  <a:noFill/>
                </a:ln>
                <a:solidFill>
                  <a:schemeClr val="tx1"/>
                </a:solidFill>
                <a:effectLst/>
                <a:latin typeface="Helvetica Neue"/>
              </a:rPr>
              <a:t> – </a:t>
            </a:r>
            <a:r>
              <a:rPr kumimoji="0" lang="en-US" altLang="en-US" sz="2400" b="0" i="0" u="none" strike="noStrike" cap="none" normalizeH="0" baseline="0" dirty="0" err="1">
                <a:ln>
                  <a:noFill/>
                </a:ln>
                <a:solidFill>
                  <a:schemeClr val="tx1"/>
                </a:solidFill>
                <a:effectLst/>
                <a:latin typeface="Helvetica Neue"/>
              </a:rPr>
              <a:t>Dùng</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hai</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bộ</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lọc</a:t>
            </a:r>
            <a:r>
              <a:rPr kumimoji="0" lang="en-US" altLang="en-US" sz="2400" b="0" i="0" u="none" strike="noStrike" cap="none" normalizeH="0" baseline="0" dirty="0">
                <a:ln>
                  <a:noFill/>
                </a:ln>
                <a:solidFill>
                  <a:schemeClr val="tx1"/>
                </a:solidFill>
                <a:effectLst/>
                <a:latin typeface="Helvetica Neue"/>
              </a:rPr>
              <a:t> Gaussian để làm </a:t>
            </a:r>
            <a:r>
              <a:rPr kumimoji="0" lang="en-US" altLang="en-US" sz="2400" b="0" i="0" u="none" strike="noStrike" cap="none" normalizeH="0" baseline="0" dirty="0" err="1">
                <a:ln>
                  <a:noFill/>
                </a:ln>
                <a:solidFill>
                  <a:schemeClr val="tx1"/>
                </a:solidFill>
                <a:effectLst/>
                <a:latin typeface="Helvetica Neue"/>
              </a:rPr>
              <a:t>mờ</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ảnh</a:t>
            </a:r>
            <a:r>
              <a:rPr kumimoji="0" lang="en-US" altLang="en-US" sz="2400" b="0" i="0" u="none" strike="noStrike" cap="none" normalizeH="0" baseline="0" dirty="0">
                <a:ln>
                  <a:noFill/>
                </a:ln>
                <a:solidFill>
                  <a:schemeClr val="tx1"/>
                </a:solidFill>
                <a:effectLst/>
                <a:latin typeface="Helvetica Neue"/>
              </a:rPr>
              <a:t> ở </a:t>
            </a:r>
            <a:r>
              <a:rPr kumimoji="0" lang="en-US" altLang="en-US" sz="2400" b="0" i="0" u="none" strike="noStrike" cap="none" normalizeH="0" baseline="0" dirty="0" err="1">
                <a:ln>
                  <a:noFill/>
                </a:ln>
                <a:solidFill>
                  <a:schemeClr val="tx1"/>
                </a:solidFill>
                <a:effectLst/>
                <a:latin typeface="Helvetica Neue"/>
              </a:rPr>
              <a:t>hai</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mức</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độ</a:t>
            </a:r>
            <a:r>
              <a:rPr kumimoji="0" lang="en-US" altLang="en-US" sz="2400" b="0" i="0" u="none" strike="noStrike" cap="none" normalizeH="0" baseline="0" dirty="0">
                <a:ln>
                  <a:noFill/>
                </a:ln>
                <a:solidFill>
                  <a:schemeClr val="tx1"/>
                </a:solidFill>
                <a:effectLst/>
                <a:latin typeface="Helvetica Neue"/>
              </a:rPr>
              <a:t> khác nhau rồi </a:t>
            </a:r>
            <a:r>
              <a:rPr kumimoji="0" lang="en-US" altLang="en-US" sz="2400" b="0" i="0" u="none" strike="noStrike" cap="none" normalizeH="0" baseline="0" dirty="0" err="1">
                <a:ln>
                  <a:noFill/>
                </a:ln>
                <a:solidFill>
                  <a:schemeClr val="tx1"/>
                </a:solidFill>
                <a:effectLst/>
                <a:latin typeface="Helvetica Neue"/>
              </a:rPr>
              <a:t>trừ</a:t>
            </a:r>
            <a:r>
              <a:rPr kumimoji="0" lang="en-US" altLang="en-US" sz="2400" b="0" i="0" u="none" strike="noStrike" cap="none" normalizeH="0" baseline="0" dirty="0">
                <a:ln>
                  <a:noFill/>
                </a:ln>
                <a:solidFill>
                  <a:schemeClr val="tx1"/>
                </a:solidFill>
                <a:effectLst/>
                <a:latin typeface="Helvetica Neue"/>
              </a:rPr>
              <a:t> nhau. </a:t>
            </a:r>
          </a:p>
        </p:txBody>
      </p:sp>
    </p:spTree>
    <p:extLst>
      <p:ext uri="{BB962C8B-B14F-4D97-AF65-F5344CB8AC3E}">
        <p14:creationId xmlns:p14="http://schemas.microsoft.com/office/powerpoint/2010/main" val="993100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181396" y="2081952"/>
                <a:ext cx="10401004" cy="6700097"/>
              </a:xfrm>
            </p:spPr>
            <p:txBody>
              <a:bodyPr>
                <a:normAutofit fontScale="92500"/>
              </a:bodyPr>
              <a:lstStyle/>
              <a:p>
                <a:pPr marL="0" indent="0">
                  <a:buNone/>
                </a:pPr>
                <a:r>
                  <a:rPr lang="en-US" sz="2400" b="1" dirty="0" err="1">
                    <a:latin typeface="Helvetica Neue"/>
                  </a:rPr>
                  <a:t>Giới</a:t>
                </a:r>
                <a:r>
                  <a:rPr lang="en-US" sz="2400" b="1" dirty="0">
                    <a:latin typeface="Helvetica Neue"/>
                  </a:rPr>
                  <a:t> </a:t>
                </a:r>
                <a:r>
                  <a:rPr lang="en-US" sz="2400" b="1" dirty="0" err="1">
                    <a:latin typeface="Helvetica Neue"/>
                  </a:rPr>
                  <a:t>thiệu</a:t>
                </a:r>
                <a:r>
                  <a:rPr lang="en-US" sz="2400" b="1" dirty="0">
                    <a:latin typeface="Helvetica Neue"/>
                  </a:rPr>
                  <a:t> </a:t>
                </a:r>
                <a:r>
                  <a:rPr lang="en-US" sz="2400" b="1" dirty="0" err="1">
                    <a:latin typeface="Helvetica Neue"/>
                  </a:rPr>
                  <a:t>chung</a:t>
                </a:r>
                <a:endParaRPr lang="en-US" sz="2400" b="1" dirty="0">
                  <a:latin typeface="Helvetica Neue"/>
                </a:endParaRPr>
              </a:p>
              <a:p>
                <a:r>
                  <a:rPr lang="en-US" sz="2400" dirty="0">
                    <a:latin typeface="Helvetica Neue"/>
                  </a:rPr>
                  <a:t>Laplacian là </a:t>
                </a:r>
                <a:r>
                  <a:rPr lang="en-US" sz="2400" dirty="0" err="1">
                    <a:latin typeface="Helvetica Neue"/>
                  </a:rPr>
                  <a:t>phương</a:t>
                </a:r>
                <a:r>
                  <a:rPr lang="en-US" sz="2400" dirty="0">
                    <a:latin typeface="Helvetica Neue"/>
                  </a:rPr>
                  <a:t> </a:t>
                </a:r>
                <a:r>
                  <a:rPr lang="en-US" sz="2400" dirty="0" err="1">
                    <a:latin typeface="Helvetica Neue"/>
                  </a:rPr>
                  <a:t>pháp</a:t>
                </a:r>
                <a:r>
                  <a:rPr lang="en-US" sz="2400" dirty="0">
                    <a:latin typeface="Helvetica Neue"/>
                  </a:rPr>
                  <a:t> </a:t>
                </a:r>
                <a:r>
                  <a:rPr lang="en-US" sz="2400" dirty="0" err="1">
                    <a:latin typeface="Helvetica Neue"/>
                  </a:rPr>
                  <a:t>đạo</a:t>
                </a:r>
                <a:r>
                  <a:rPr lang="en-US" sz="2400" dirty="0">
                    <a:latin typeface="Helvetica Neue"/>
                  </a:rPr>
                  <a:t> </a:t>
                </a:r>
                <a:r>
                  <a:rPr lang="en-US" sz="2400" dirty="0" err="1">
                    <a:latin typeface="Helvetica Neue"/>
                  </a:rPr>
                  <a:t>hàm</a:t>
                </a:r>
                <a:r>
                  <a:rPr lang="en-US" sz="2400" dirty="0">
                    <a:latin typeface="Helvetica Neue"/>
                  </a:rPr>
                  <a:t> </a:t>
                </a:r>
                <a:r>
                  <a:rPr lang="en-US" sz="2400" dirty="0" err="1">
                    <a:latin typeface="Helvetica Neue"/>
                  </a:rPr>
                  <a:t>bậc</a:t>
                </a:r>
                <a:r>
                  <a:rPr lang="en-US" sz="2400" dirty="0">
                    <a:latin typeface="Helvetica Neue"/>
                  </a:rPr>
                  <a:t> 2 </a:t>
                </a:r>
                <a:r>
                  <a:rPr lang="en-US" sz="2400" dirty="0" err="1">
                    <a:latin typeface="Helvetica Neue"/>
                  </a:rPr>
                  <a:t>đơn</a:t>
                </a:r>
                <a:r>
                  <a:rPr lang="en-US" sz="2400" dirty="0">
                    <a:latin typeface="Helvetica Neue"/>
                  </a:rPr>
                  <a:t> </a:t>
                </a:r>
                <a:r>
                  <a:rPr lang="en-US" sz="2400" dirty="0" err="1">
                    <a:latin typeface="Helvetica Neue"/>
                  </a:rPr>
                  <a:t>giản</a:t>
                </a:r>
                <a:r>
                  <a:rPr lang="en-US" sz="2400" dirty="0">
                    <a:latin typeface="Helvetica Neue"/>
                  </a:rPr>
                  <a:t> </a:t>
                </a:r>
                <a:r>
                  <a:rPr lang="en-US" sz="2400" dirty="0" err="1">
                    <a:latin typeface="Helvetica Neue"/>
                  </a:rPr>
                  <a:t>nhất</a:t>
                </a:r>
                <a:r>
                  <a:rPr lang="en-US" sz="2400" dirty="0">
                    <a:latin typeface="Helvetica Neue"/>
                  </a:rPr>
                  <a:t>, </a:t>
                </a:r>
                <a:r>
                  <a:rPr lang="en-US" sz="2400" dirty="0" err="1">
                    <a:latin typeface="Helvetica Neue"/>
                  </a:rPr>
                  <a:t>dùng</a:t>
                </a:r>
                <a:r>
                  <a:rPr lang="en-US" sz="2400" dirty="0">
                    <a:latin typeface="Helvetica Neue"/>
                  </a:rPr>
                  <a:t> </a:t>
                </a:r>
                <a:r>
                  <a:rPr lang="en-US" sz="2400" dirty="0" err="1">
                    <a:latin typeface="Helvetica Neue"/>
                  </a:rPr>
                  <a:t>toán</a:t>
                </a:r>
                <a:r>
                  <a:rPr lang="en-US" sz="2400" dirty="0">
                    <a:latin typeface="Helvetica Neue"/>
                  </a:rPr>
                  <a:t> </a:t>
                </a:r>
                <a:r>
                  <a:rPr lang="en-US" sz="2400" dirty="0" err="1">
                    <a:latin typeface="Helvetica Neue"/>
                  </a:rPr>
                  <a:t>tử</a:t>
                </a:r>
                <a:r>
                  <a:rPr lang="en-US" sz="2400" dirty="0">
                    <a:latin typeface="Helvetica Neue"/>
                  </a:rPr>
                  <a:t> Laplace để phát </a:t>
                </a:r>
                <a:r>
                  <a:rPr lang="en-US" sz="2400" dirty="0" err="1">
                    <a:latin typeface="Helvetica Neue"/>
                  </a:rPr>
                  <a:t>hiện</a:t>
                </a:r>
                <a:r>
                  <a:rPr lang="en-US" sz="2400" dirty="0">
                    <a:latin typeface="Helvetica Neue"/>
                  </a:rPr>
                  <a:t> </a:t>
                </a:r>
                <a:r>
                  <a:rPr lang="en-US" sz="2400" dirty="0" err="1">
                    <a:latin typeface="Helvetica Neue"/>
                  </a:rPr>
                  <a:t>biên</a:t>
                </a:r>
                <a:r>
                  <a:rPr lang="en-US" sz="2400" dirty="0">
                    <a:latin typeface="Helvetica Neue"/>
                  </a:rPr>
                  <a:t>. Nó </a:t>
                </a:r>
                <a:r>
                  <a:rPr lang="en-US" sz="2400" dirty="0" err="1">
                    <a:latin typeface="Helvetica Neue"/>
                  </a:rPr>
                  <a:t>không</a:t>
                </a:r>
                <a:r>
                  <a:rPr lang="en-US" sz="2400" dirty="0">
                    <a:latin typeface="Helvetica Neue"/>
                  </a:rPr>
                  <a:t> </a:t>
                </a:r>
                <a:r>
                  <a:rPr lang="en-US" sz="2400" dirty="0" err="1">
                    <a:latin typeface="Helvetica Neue"/>
                  </a:rPr>
                  <a:t>xét</a:t>
                </a:r>
                <a:r>
                  <a:rPr lang="en-US" sz="2400" dirty="0">
                    <a:latin typeface="Helvetica Neue"/>
                  </a:rPr>
                  <a:t> </a:t>
                </a:r>
                <a:r>
                  <a:rPr lang="en-US" sz="2400" dirty="0" err="1">
                    <a:latin typeface="Helvetica Neue"/>
                  </a:rPr>
                  <a:t>hướng</a:t>
                </a:r>
                <a:r>
                  <a:rPr lang="en-US" sz="2400" dirty="0">
                    <a:latin typeface="Helvetica Neue"/>
                  </a:rPr>
                  <a:t> </a:t>
                </a:r>
                <a:r>
                  <a:rPr lang="en-US" sz="2400" dirty="0" err="1">
                    <a:latin typeface="Helvetica Neue"/>
                  </a:rPr>
                  <a:t>biên</a:t>
                </a:r>
                <a:r>
                  <a:rPr lang="en-US" sz="2400" dirty="0">
                    <a:latin typeface="Helvetica Neue"/>
                  </a:rPr>
                  <a:t> mà </a:t>
                </a:r>
                <a:r>
                  <a:rPr lang="en-US" sz="2400" dirty="0" err="1">
                    <a:latin typeface="Helvetica Neue"/>
                  </a:rPr>
                  <a:t>chỉ</a:t>
                </a:r>
                <a:r>
                  <a:rPr lang="en-US" sz="2400" dirty="0">
                    <a:latin typeface="Helvetica Neue"/>
                  </a:rPr>
                  <a:t> </a:t>
                </a:r>
                <a:r>
                  <a:rPr lang="en-US" sz="2400" dirty="0" err="1">
                    <a:latin typeface="Helvetica Neue"/>
                  </a:rPr>
                  <a:t>tìm</a:t>
                </a:r>
                <a:r>
                  <a:rPr lang="en-US" sz="2400" dirty="0">
                    <a:latin typeface="Helvetica Neue"/>
                  </a:rPr>
                  <a:t> </a:t>
                </a:r>
                <a:r>
                  <a:rPr lang="en-US" sz="2400" dirty="0" err="1">
                    <a:latin typeface="Helvetica Neue"/>
                  </a:rPr>
                  <a:t>ra</a:t>
                </a:r>
                <a:r>
                  <a:rPr lang="en-US" sz="2400" dirty="0">
                    <a:latin typeface="Helvetica Neue"/>
                  </a:rPr>
                  <a:t> </a:t>
                </a:r>
                <a:r>
                  <a:rPr lang="en-US" sz="2400" dirty="0" err="1">
                    <a:latin typeface="Helvetica Neue"/>
                  </a:rPr>
                  <a:t>vị</a:t>
                </a:r>
                <a:r>
                  <a:rPr lang="en-US" sz="2400" dirty="0">
                    <a:latin typeface="Helvetica Neue"/>
                  </a:rPr>
                  <a:t> </a:t>
                </a:r>
                <a:r>
                  <a:rPr lang="en-US" sz="2400" dirty="0" err="1">
                    <a:latin typeface="Helvetica Neue"/>
                  </a:rPr>
                  <a:t>trí</a:t>
                </a:r>
                <a:r>
                  <a:rPr lang="en-US" sz="2400" dirty="0">
                    <a:latin typeface="Helvetica Neue"/>
                  </a:rPr>
                  <a:t> có </a:t>
                </a:r>
                <a:r>
                  <a:rPr lang="en-US" sz="2400" dirty="0" err="1">
                    <a:latin typeface="Helvetica Neue"/>
                  </a:rPr>
                  <a:t>sự</a:t>
                </a:r>
                <a:r>
                  <a:rPr lang="en-US" sz="2400" dirty="0">
                    <a:latin typeface="Helvetica Neue"/>
                  </a:rPr>
                  <a:t> </a:t>
                </a:r>
                <a:r>
                  <a:rPr lang="en-US" sz="2400" dirty="0" err="1">
                    <a:latin typeface="Helvetica Neue"/>
                  </a:rPr>
                  <a:t>thay</a:t>
                </a:r>
                <a:r>
                  <a:rPr lang="en-US" sz="2400" dirty="0">
                    <a:latin typeface="Helvetica Neue"/>
                  </a:rPr>
                  <a:t> </a:t>
                </a:r>
                <a:r>
                  <a:rPr lang="en-US" sz="2400" dirty="0" err="1">
                    <a:latin typeface="Helvetica Neue"/>
                  </a:rPr>
                  <a:t>đổi</a:t>
                </a:r>
                <a:r>
                  <a:rPr lang="en-US" sz="2400" dirty="0">
                    <a:latin typeface="Helvetica Neue"/>
                  </a:rPr>
                  <a:t> </a:t>
                </a:r>
                <a:r>
                  <a:rPr lang="en-US" sz="2400" dirty="0" err="1">
                    <a:latin typeface="Helvetica Neue"/>
                  </a:rPr>
                  <a:t>cường</a:t>
                </a:r>
                <a:r>
                  <a:rPr lang="en-US" sz="2400" dirty="0">
                    <a:latin typeface="Helvetica Neue"/>
                  </a:rPr>
                  <a:t> </a:t>
                </a:r>
                <a:r>
                  <a:rPr lang="en-US" sz="2400" dirty="0" err="1">
                    <a:latin typeface="Helvetica Neue"/>
                  </a:rPr>
                  <a:t>độ</a:t>
                </a:r>
                <a:r>
                  <a:rPr lang="en-US" sz="2400" dirty="0">
                    <a:latin typeface="Helvetica Neue"/>
                  </a:rPr>
                  <a:t> </a:t>
                </a:r>
                <a:r>
                  <a:rPr lang="en-US" sz="2400" dirty="0" err="1">
                    <a:latin typeface="Helvetica Neue"/>
                  </a:rPr>
                  <a:t>lớn</a:t>
                </a:r>
                <a:r>
                  <a:rPr lang="en-US" sz="2400" dirty="0">
                    <a:latin typeface="Helvetica Neue"/>
                  </a:rPr>
                  <a:t>.</a:t>
                </a:r>
              </a:p>
              <a:p>
                <a:endParaRPr lang="en-US" sz="2400" dirty="0">
                  <a:latin typeface="Helvetica Neue"/>
                </a:endParaRPr>
              </a:p>
              <a:p>
                <a:pPr marL="0" indent="0">
                  <a:buNone/>
                </a:pPr>
                <a:r>
                  <a:rPr lang="en-US" sz="2400" b="1" dirty="0">
                    <a:latin typeface="Helvetica Neue"/>
                  </a:rPr>
                  <a:t>Nguyên </a:t>
                </a:r>
                <a:r>
                  <a:rPr lang="en-US" sz="2400" b="1" dirty="0" err="1">
                    <a:latin typeface="Helvetica Neue"/>
                  </a:rPr>
                  <a:t>lý</a:t>
                </a:r>
                <a:r>
                  <a:rPr lang="en-US" sz="2400" b="1" dirty="0">
                    <a:latin typeface="Helvetica Neue"/>
                  </a:rPr>
                  <a:t> </a:t>
                </a:r>
                <a:r>
                  <a:rPr lang="en-US" sz="2400" b="1" dirty="0" err="1">
                    <a:latin typeface="Helvetica Neue"/>
                  </a:rPr>
                  <a:t>hoạt</a:t>
                </a:r>
                <a:r>
                  <a:rPr lang="en-US" sz="2400" b="1" dirty="0">
                    <a:latin typeface="Helvetica Neue"/>
                  </a:rPr>
                  <a:t> </a:t>
                </a:r>
                <a:r>
                  <a:rPr lang="en-US" sz="2400" b="1" dirty="0" err="1">
                    <a:latin typeface="Helvetica Neue"/>
                  </a:rPr>
                  <a:t>động</a:t>
                </a:r>
                <a:endParaRPr lang="en-US" sz="2400" b="1" dirty="0">
                  <a:latin typeface="Helvetica Neue"/>
                </a:endParaRPr>
              </a:p>
              <a:p>
                <a:r>
                  <a:rPr lang="en-US" sz="2400" dirty="0">
                    <a:latin typeface="Helvetica Neue"/>
                  </a:rPr>
                  <a:t>Laplacian tính </a:t>
                </a:r>
                <a:r>
                  <a:rPr lang="en-US" sz="2400" dirty="0" err="1">
                    <a:latin typeface="Helvetica Neue"/>
                  </a:rPr>
                  <a:t>tổng</a:t>
                </a:r>
                <a:r>
                  <a:rPr lang="en-US" sz="2400" dirty="0">
                    <a:latin typeface="Helvetica Neue"/>
                  </a:rPr>
                  <a:t> </a:t>
                </a:r>
                <a:r>
                  <a:rPr lang="en-US" sz="2400" dirty="0" err="1">
                    <a:latin typeface="Helvetica Neue"/>
                  </a:rPr>
                  <a:t>đạo</a:t>
                </a:r>
                <a:r>
                  <a:rPr lang="en-US" sz="2400" dirty="0">
                    <a:latin typeface="Helvetica Neue"/>
                  </a:rPr>
                  <a:t> </a:t>
                </a:r>
                <a:r>
                  <a:rPr lang="en-US" sz="2400" dirty="0" err="1">
                    <a:latin typeface="Helvetica Neue"/>
                  </a:rPr>
                  <a:t>hàm</a:t>
                </a:r>
                <a:r>
                  <a:rPr lang="en-US" sz="2400" dirty="0">
                    <a:latin typeface="Helvetica Neue"/>
                  </a:rPr>
                  <a:t> </a:t>
                </a:r>
                <a:r>
                  <a:rPr lang="en-US" sz="2400" dirty="0" err="1">
                    <a:latin typeface="Helvetica Neue"/>
                  </a:rPr>
                  <a:t>bậc</a:t>
                </a:r>
                <a:r>
                  <a:rPr lang="en-US" sz="2400" dirty="0">
                    <a:latin typeface="Helvetica Neue"/>
                  </a:rPr>
                  <a:t> 2 </a:t>
                </a:r>
                <a:r>
                  <a:rPr lang="en-US" sz="2400" dirty="0" err="1">
                    <a:latin typeface="Helvetica Neue"/>
                  </a:rPr>
                  <a:t>theo</a:t>
                </a:r>
                <a:r>
                  <a:rPr lang="en-US" sz="2400" dirty="0">
                    <a:latin typeface="Helvetica Neue"/>
                  </a:rPr>
                  <a:t> </a:t>
                </a:r>
                <a:r>
                  <a:rPr lang="en-US" sz="2400" dirty="0" err="1">
                    <a:latin typeface="Helvetica Neue"/>
                  </a:rPr>
                  <a:t>hai</a:t>
                </a:r>
                <a:r>
                  <a:rPr lang="en-US" sz="2400" dirty="0">
                    <a:latin typeface="Helvetica Neue"/>
                  </a:rPr>
                  <a:t> </a:t>
                </a:r>
                <a:r>
                  <a:rPr lang="en-US" sz="2400" dirty="0" err="1">
                    <a:latin typeface="Helvetica Neue"/>
                  </a:rPr>
                  <a:t>trục</a:t>
                </a:r>
                <a:r>
                  <a:rPr lang="en-US" sz="2400" dirty="0">
                    <a:latin typeface="Helvetica Neue"/>
                  </a:rPr>
                  <a:t> </a:t>
                </a:r>
                <a14:m>
                  <m:oMath xmlns:m="http://schemas.openxmlformats.org/officeDocument/2006/math">
                    <m:r>
                      <a:rPr lang="en-US" sz="2400" i="1">
                        <a:latin typeface="Cambria Math" panose="02040503050406030204" pitchFamily="18" charset="0"/>
                      </a:rPr>
                      <m:t>𝑥</m:t>
                    </m:r>
                  </m:oMath>
                </a14:m>
                <a:r>
                  <a:rPr lang="en-US" sz="2400" dirty="0">
                    <a:latin typeface="Helvetica Neue"/>
                  </a:rPr>
                  <a:t> </a:t>
                </a:r>
                <a:r>
                  <a:rPr lang="en-US" sz="2400" dirty="0" err="1">
                    <a:latin typeface="Helvetica Neue"/>
                  </a:rPr>
                  <a:t>và</a:t>
                </a:r>
                <a:r>
                  <a:rPr lang="en-US" sz="2400" dirty="0">
                    <a:latin typeface="Helvetica Neue"/>
                  </a:rPr>
                  <a:t> </a:t>
                </a:r>
                <a14:m>
                  <m:oMath xmlns:m="http://schemas.openxmlformats.org/officeDocument/2006/math">
                    <m:r>
                      <a:rPr lang="en-US" sz="2400" i="1">
                        <a:latin typeface="Cambria Math" panose="02040503050406030204" pitchFamily="18" charset="0"/>
                      </a:rPr>
                      <m:t>𝑦</m:t>
                    </m:r>
                  </m:oMath>
                </a14:m>
                <a:r>
                  <a:rPr lang="en-US" sz="2400" dirty="0">
                    <a:latin typeface="Helvetica Neue"/>
                  </a:rPr>
                  <a:t>:</a:t>
                </a:r>
              </a:p>
              <a:p>
                <a:pPr marL="0" indent="0">
                  <a:buNone/>
                </a:pPr>
                <a14:m>
                  <m:oMathPara xmlns:m="http://schemas.openxmlformats.org/officeDocument/2006/math">
                    <m:oMathParaPr>
                      <m:jc m:val="centerGroup"/>
                    </m:oMathParaPr>
                    <m:oMath xmlns:m="http://schemas.openxmlformats.org/officeDocument/2006/math">
                      <m:sSup>
                        <m:sSupPr>
                          <m:ctrlPr>
                            <a:rPr lang="en-US" sz="2400" i="1">
                              <a:latin typeface="Cambria Math" panose="02040503050406030204" pitchFamily="18" charset="0"/>
                            </a:rPr>
                          </m:ctrlPr>
                        </m:sSupPr>
                        <m:e>
                          <m:r>
                            <a:rPr lang="en-US" sz="2400">
                              <a:latin typeface="Cambria Math" panose="02040503050406030204" pitchFamily="18" charset="0"/>
                            </a:rPr>
                            <m:t>𝛻</m:t>
                          </m:r>
                        </m:e>
                        <m:sup>
                          <m:r>
                            <a:rPr lang="en-US" sz="2400" i="1">
                              <a:latin typeface="Cambria Math" panose="02040503050406030204" pitchFamily="18" charset="0"/>
                            </a:rPr>
                            <m:t>2</m:t>
                          </m:r>
                        </m:sup>
                      </m:sSup>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𝑥</m:t>
                          </m:r>
                          <m:r>
                            <a:rPr lang="en-US" sz="2400">
                              <a:latin typeface="Cambria Math" panose="02040503050406030204" pitchFamily="18" charset="0"/>
                            </a:rPr>
                            <m:t>,</m:t>
                          </m:r>
                          <m:r>
                            <a:rPr lang="en-US" sz="2400" i="1">
                              <a:latin typeface="Cambria Math" panose="02040503050406030204" pitchFamily="18" charset="0"/>
                            </a:rPr>
                            <m:t>𝑦</m:t>
                          </m:r>
                        </m:e>
                      </m:d>
                      <m:r>
                        <a:rPr lang="en-US" sz="2400">
                          <a:latin typeface="Cambria Math" panose="02040503050406030204" pitchFamily="18" charset="0"/>
                        </a:rPr>
                        <m:t>=</m:t>
                      </m:r>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a:latin typeface="Cambria Math" panose="02040503050406030204" pitchFamily="18" charset="0"/>
                                </a:rPr>
                                <m:t>𝜕</m:t>
                              </m:r>
                            </m:e>
                            <m:sup>
                              <m:r>
                                <a:rPr lang="en-US" sz="2400" i="1">
                                  <a:latin typeface="Cambria Math" panose="02040503050406030204" pitchFamily="18" charset="0"/>
                                </a:rPr>
                                <m:t>2</m:t>
                              </m:r>
                            </m:sup>
                          </m:sSup>
                          <m:r>
                            <a:rPr lang="en-US" sz="2400" i="1">
                              <a:latin typeface="Cambria Math" panose="02040503050406030204" pitchFamily="18" charset="0"/>
                            </a:rPr>
                            <m:t>𝑓</m:t>
                          </m:r>
                        </m:num>
                        <m:den>
                          <m:r>
                            <a:rPr lang="en-US" sz="2400">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2</m:t>
                              </m:r>
                            </m:sup>
                          </m:sSup>
                        </m:den>
                      </m:f>
                      <m:r>
                        <a:rPr lang="en-US" sz="2400">
                          <a:latin typeface="Cambria Math" panose="02040503050406030204" pitchFamily="18" charset="0"/>
                        </a:rPr>
                        <m:t>+</m:t>
                      </m:r>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a:latin typeface="Cambria Math" panose="02040503050406030204" pitchFamily="18" charset="0"/>
                                </a:rPr>
                                <m:t>𝜕</m:t>
                              </m:r>
                            </m:e>
                            <m:sup>
                              <m:r>
                                <a:rPr lang="en-US" sz="2400" i="1">
                                  <a:latin typeface="Cambria Math" panose="02040503050406030204" pitchFamily="18" charset="0"/>
                                </a:rPr>
                                <m:t>2</m:t>
                              </m:r>
                            </m:sup>
                          </m:sSup>
                          <m:r>
                            <a:rPr lang="en-US" sz="2400" i="1">
                              <a:latin typeface="Cambria Math" panose="02040503050406030204" pitchFamily="18" charset="0"/>
                            </a:rPr>
                            <m:t>𝑓</m:t>
                          </m:r>
                        </m:num>
                        <m:den>
                          <m:r>
                            <a:rPr lang="en-US" sz="2400">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𝑦</m:t>
                              </m:r>
                            </m:e>
                            <m:sup>
                              <m:r>
                                <a:rPr lang="en-US" sz="2400" i="1">
                                  <a:latin typeface="Cambria Math" panose="02040503050406030204" pitchFamily="18" charset="0"/>
                                </a:rPr>
                                <m:t>2</m:t>
                              </m:r>
                            </m:sup>
                          </m:sSup>
                        </m:den>
                      </m:f>
                    </m:oMath>
                  </m:oMathPara>
                </a14:m>
                <a:endParaRPr lang="vi-VN" sz="2400" b="1" dirty="0"/>
              </a:p>
              <a:p>
                <a:r>
                  <a:rPr lang="vi-VN" sz="2400" b="1" dirty="0"/>
                  <a:t>Nếu giá trị Laplacian lớn</a:t>
                </a:r>
                <a:r>
                  <a:rPr lang="vi-VN" sz="2400" dirty="0"/>
                  <a:t>, nghĩa là tại điểm đó có sự thay đổi cường độ mạnh -&gt; có thể là biên của ảnh.</a:t>
                </a:r>
              </a:p>
              <a:p>
                <a:r>
                  <a:rPr lang="vi-VN" sz="2400" b="1" dirty="0"/>
                  <a:t>Nếu giá trị gần 0</a:t>
                </a:r>
                <a:r>
                  <a:rPr lang="vi-VN" sz="2400" dirty="0"/>
                  <a:t>, nghĩa là vùng đó gần như phẳng, không có biên rõ ràng.</a:t>
                </a:r>
              </a:p>
              <a:p>
                <a:pPr marL="0" indent="0">
                  <a:buNone/>
                </a:pPr>
                <a:endParaRPr lang="en-US" sz="2400" dirty="0">
                  <a:latin typeface="Helvetica Neue"/>
                </a:endParaRPr>
              </a:p>
              <a:p>
                <a:r>
                  <a:rPr lang="en-US" sz="2400" dirty="0" err="1">
                    <a:latin typeface="Helvetica Neue"/>
                  </a:rPr>
                  <a:t>Biên</a:t>
                </a:r>
                <a:r>
                  <a:rPr lang="en-US" sz="2400" dirty="0">
                    <a:latin typeface="Helvetica Neue"/>
                  </a:rPr>
                  <a:t> </a:t>
                </a:r>
                <a:r>
                  <a:rPr lang="en-US" sz="2400" dirty="0" err="1">
                    <a:latin typeface="Helvetica Neue"/>
                  </a:rPr>
                  <a:t>được</a:t>
                </a:r>
                <a:r>
                  <a:rPr lang="en-US" sz="2400" dirty="0">
                    <a:latin typeface="Helvetica Neue"/>
                  </a:rPr>
                  <a:t> </a:t>
                </a:r>
                <a:r>
                  <a:rPr lang="en-US" sz="2400" dirty="0" err="1">
                    <a:latin typeface="Helvetica Neue"/>
                  </a:rPr>
                  <a:t>xác</a:t>
                </a:r>
                <a:r>
                  <a:rPr lang="en-US" sz="2400" dirty="0">
                    <a:latin typeface="Helvetica Neue"/>
                  </a:rPr>
                  <a:t> </a:t>
                </a:r>
                <a:r>
                  <a:rPr lang="en-US" sz="2400" dirty="0" err="1">
                    <a:latin typeface="Helvetica Neue"/>
                  </a:rPr>
                  <a:t>định</a:t>
                </a:r>
                <a:r>
                  <a:rPr lang="en-US" sz="2400" dirty="0">
                    <a:latin typeface="Helvetica Neue"/>
                  </a:rPr>
                  <a:t> </a:t>
                </a:r>
                <a:r>
                  <a:rPr lang="en-US" sz="2400" dirty="0" err="1">
                    <a:latin typeface="Helvetica Neue"/>
                  </a:rPr>
                  <a:t>bằng</a:t>
                </a:r>
                <a:r>
                  <a:rPr lang="en-US" sz="2400" dirty="0">
                    <a:latin typeface="Helvetica Neue"/>
                  </a:rPr>
                  <a:t> </a:t>
                </a:r>
                <a:r>
                  <a:rPr lang="en-US" sz="2400" dirty="0" err="1">
                    <a:latin typeface="Helvetica Neue"/>
                  </a:rPr>
                  <a:t>các</a:t>
                </a:r>
                <a:r>
                  <a:rPr lang="en-US" sz="2400" dirty="0">
                    <a:latin typeface="Helvetica Neue"/>
                  </a:rPr>
                  <a:t> </a:t>
                </a:r>
                <a:r>
                  <a:rPr lang="en-US" sz="2400" dirty="0" err="1">
                    <a:latin typeface="Helvetica Neue"/>
                  </a:rPr>
                  <a:t>điểm</a:t>
                </a:r>
                <a:r>
                  <a:rPr lang="en-US" sz="2400" dirty="0">
                    <a:latin typeface="Helvetica Neue"/>
                  </a:rPr>
                  <a:t> </a:t>
                </a:r>
                <a:r>
                  <a:rPr lang="en-US" sz="2400" b="1" dirty="0">
                    <a:latin typeface="Helvetica Neue"/>
                  </a:rPr>
                  <a:t>zero-crossing</a:t>
                </a:r>
                <a:r>
                  <a:rPr lang="en-US" sz="2400" dirty="0">
                    <a:latin typeface="Helvetica Neue"/>
                  </a:rPr>
                  <a:t> (</a:t>
                </a:r>
                <a:r>
                  <a:rPr lang="en-US" sz="2400" dirty="0" err="1">
                    <a:latin typeface="Helvetica Neue"/>
                  </a:rPr>
                  <a:t>nơi</a:t>
                </a:r>
                <a:r>
                  <a:rPr lang="en-US" sz="2400" dirty="0">
                    <a:latin typeface="Helvetica Neue"/>
                  </a:rPr>
                  <a:t> </a:t>
                </a:r>
                <a:r>
                  <a:rPr lang="en-US" sz="2400" dirty="0" err="1">
                    <a:latin typeface="Helvetica Neue"/>
                  </a:rPr>
                  <a:t>đạo</a:t>
                </a:r>
                <a:r>
                  <a:rPr lang="en-US" sz="2400" dirty="0">
                    <a:latin typeface="Helvetica Neue"/>
                  </a:rPr>
                  <a:t> </a:t>
                </a:r>
                <a:r>
                  <a:rPr lang="en-US" sz="2400" dirty="0" err="1">
                    <a:latin typeface="Helvetica Neue"/>
                  </a:rPr>
                  <a:t>hàm</a:t>
                </a:r>
                <a:r>
                  <a:rPr lang="en-US" sz="2400" dirty="0">
                    <a:latin typeface="Helvetica Neue"/>
                  </a:rPr>
                  <a:t> </a:t>
                </a:r>
                <a:r>
                  <a:rPr lang="en-US" sz="2400" dirty="0" err="1">
                    <a:latin typeface="Helvetica Neue"/>
                  </a:rPr>
                  <a:t>bậc</a:t>
                </a:r>
                <a:r>
                  <a:rPr lang="en-US" sz="2400" dirty="0">
                    <a:latin typeface="Helvetica Neue"/>
                  </a:rPr>
                  <a:t> 2 </a:t>
                </a:r>
                <a:r>
                  <a:rPr lang="en-US" sz="2400" dirty="0" err="1">
                    <a:latin typeface="Helvetica Neue"/>
                  </a:rPr>
                  <a:t>đổi</a:t>
                </a:r>
                <a:r>
                  <a:rPr lang="en-US" sz="2400" dirty="0">
                    <a:latin typeface="Helvetica Neue"/>
                  </a:rPr>
                  <a:t> </a:t>
                </a:r>
                <a:r>
                  <a:rPr lang="en-US" sz="2400" dirty="0" err="1">
                    <a:latin typeface="Helvetica Neue"/>
                  </a:rPr>
                  <a:t>dấu</a:t>
                </a:r>
                <a:r>
                  <a:rPr lang="en-US" sz="2400" dirty="0">
                    <a:latin typeface="Helvetica Neue"/>
                  </a:rPr>
                  <a:t>).</a:t>
                </a:r>
              </a:p>
              <a:p>
                <a:pPr marL="650229" lvl="1" indent="0">
                  <a:buNone/>
                </a:pPr>
                <a:endParaRPr lang="en-US" sz="2400" dirty="0">
                  <a:latin typeface="Helvetica Neue"/>
                </a:endParaRPr>
              </a:p>
              <a:p>
                <a:pPr marL="0" lvl="0" indent="0">
                  <a:buNone/>
                </a:pP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181396" y="2081952"/>
                <a:ext cx="10401004" cy="6700097"/>
              </a:xfrm>
              <a:blipFill>
                <a:blip r:embed="rId2"/>
                <a:stretch>
                  <a:fillRect l="-762" t="-546" b="-455"/>
                </a:stretch>
              </a:blipFill>
            </p:spPr>
            <p:txBody>
              <a:bodyPr/>
              <a:lstStyle/>
              <a:p>
                <a:r>
                  <a:rPr lang="en-US">
                    <a:noFill/>
                  </a:rPr>
                  <a:t> </a:t>
                </a:r>
              </a:p>
            </p:txBody>
          </p:sp>
        </mc:Fallback>
      </mc:AlternateContent>
      <p:sp>
        <p:nvSpPr>
          <p:cNvPr id="2" name="TextBox 1"/>
          <p:cNvSpPr txBox="1"/>
          <p:nvPr/>
        </p:nvSpPr>
        <p:spPr>
          <a:xfrm>
            <a:off x="2114550" y="590550"/>
            <a:ext cx="9029700" cy="923330"/>
          </a:xfrm>
          <a:prstGeom prst="rect">
            <a:avLst/>
          </a:prstGeom>
          <a:noFill/>
        </p:spPr>
        <p:txBody>
          <a:bodyPr wrap="square" rtlCol="0">
            <a:spAutoFit/>
          </a:bodyPr>
          <a:lstStyle/>
          <a:p>
            <a:r>
              <a:rPr lang="en-US" sz="5400" dirty="0" err="1"/>
              <a:t>Phương</a:t>
            </a:r>
            <a:r>
              <a:rPr lang="en-US" sz="5400" dirty="0"/>
              <a:t> </a:t>
            </a:r>
            <a:r>
              <a:rPr lang="en-US" sz="5400" dirty="0" err="1"/>
              <a:t>pháp</a:t>
            </a:r>
            <a:r>
              <a:rPr lang="en-US" sz="5400" dirty="0"/>
              <a:t> Laplacian</a:t>
            </a:r>
          </a:p>
        </p:txBody>
      </p:sp>
    </p:spTree>
    <p:extLst>
      <p:ext uri="{BB962C8B-B14F-4D97-AF65-F5344CB8AC3E}">
        <p14:creationId xmlns:p14="http://schemas.microsoft.com/office/powerpoint/2010/main" val="3267808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051346" y="895350"/>
                <a:ext cx="10953454" cy="8667749"/>
              </a:xfrm>
            </p:spPr>
            <p:txBody>
              <a:bodyPr>
                <a:noAutofit/>
              </a:bodyPr>
              <a:lstStyle/>
              <a:p>
                <a:pPr marL="0" indent="0">
                  <a:buNone/>
                </a:pPr>
                <a:r>
                  <a:rPr lang="en-US" sz="2400" b="1" dirty="0" err="1">
                    <a:latin typeface="Helvetica Neue"/>
                  </a:rPr>
                  <a:t>Mặt</a:t>
                </a:r>
                <a:r>
                  <a:rPr lang="en-US" sz="2400" b="1" dirty="0">
                    <a:latin typeface="Helvetica Neue"/>
                  </a:rPr>
                  <a:t> </a:t>
                </a:r>
                <a:r>
                  <a:rPr lang="en-US" sz="2400" b="1" dirty="0" err="1">
                    <a:latin typeface="Helvetica Neue"/>
                  </a:rPr>
                  <a:t>nạ</a:t>
                </a:r>
                <a:r>
                  <a:rPr lang="en-US" sz="2400" b="1" dirty="0">
                    <a:latin typeface="Helvetica Neue"/>
                  </a:rPr>
                  <a:t> Laplacian</a:t>
                </a:r>
              </a:p>
              <a:p>
                <a:pPr marL="0" indent="0">
                  <a:buNone/>
                </a:pPr>
                <a:r>
                  <a:rPr lang="en-US" sz="2400" dirty="0">
                    <a:latin typeface="Helvetica Neue"/>
                  </a:rPr>
                  <a:t>Có </a:t>
                </a:r>
                <a:r>
                  <a:rPr lang="en-US" sz="2400" dirty="0" err="1">
                    <a:latin typeface="Helvetica Neue"/>
                  </a:rPr>
                  <a:t>hai</a:t>
                </a:r>
                <a:r>
                  <a:rPr lang="en-US" sz="2400" dirty="0">
                    <a:latin typeface="Helvetica Neue"/>
                  </a:rPr>
                  <a:t> </a:t>
                </a:r>
                <a:r>
                  <a:rPr lang="en-US" sz="2400" dirty="0" err="1">
                    <a:latin typeface="Helvetica Neue"/>
                  </a:rPr>
                  <a:t>mặt</a:t>
                </a:r>
                <a:r>
                  <a:rPr lang="en-US" sz="2400" dirty="0">
                    <a:latin typeface="Helvetica Neue"/>
                  </a:rPr>
                  <a:t> </a:t>
                </a:r>
                <a:r>
                  <a:rPr lang="en-US" sz="2400" dirty="0" err="1">
                    <a:latin typeface="Helvetica Neue"/>
                  </a:rPr>
                  <a:t>nạ</a:t>
                </a:r>
                <a:r>
                  <a:rPr lang="en-US" sz="2400" dirty="0">
                    <a:latin typeface="Helvetica Neue"/>
                  </a:rPr>
                  <a:t> </a:t>
                </a:r>
                <a:r>
                  <a:rPr lang="en-US" sz="2400" dirty="0" err="1">
                    <a:latin typeface="Helvetica Neue"/>
                  </a:rPr>
                  <a:t>phổ</a:t>
                </a:r>
                <a:r>
                  <a:rPr lang="en-US" sz="2400" dirty="0">
                    <a:latin typeface="Helvetica Neue"/>
                  </a:rPr>
                  <a:t> </a:t>
                </a:r>
                <a:r>
                  <a:rPr lang="en-US" sz="2400" dirty="0" err="1">
                    <a:latin typeface="Helvetica Neue"/>
                  </a:rPr>
                  <a:t>biến</a:t>
                </a:r>
                <a:r>
                  <a:rPr lang="en-US" sz="2400" dirty="0">
                    <a:latin typeface="Helvetica Neue"/>
                  </a:rPr>
                  <a:t>:</a:t>
                </a:r>
              </a:p>
              <a:p>
                <a:r>
                  <a:rPr lang="en-US" sz="2400" b="1" dirty="0" err="1">
                    <a:latin typeface="Helvetica Neue"/>
                  </a:rPr>
                  <a:t>Mặt</a:t>
                </a:r>
                <a:r>
                  <a:rPr lang="en-US" sz="2400" b="1" dirty="0">
                    <a:latin typeface="Helvetica Neue"/>
                  </a:rPr>
                  <a:t> </a:t>
                </a:r>
                <a:r>
                  <a:rPr lang="en-US" sz="2400" b="1" dirty="0" err="1">
                    <a:latin typeface="Helvetica Neue"/>
                  </a:rPr>
                  <a:t>nạ</a:t>
                </a:r>
                <a:r>
                  <a:rPr lang="en-US" sz="2400" b="1" dirty="0">
                    <a:latin typeface="Helvetica Neue"/>
                  </a:rPr>
                  <a:t> 3×3 </a:t>
                </a:r>
                <a:r>
                  <a:rPr lang="en-US" sz="2400" b="1" dirty="0" err="1">
                    <a:latin typeface="Helvetica Neue"/>
                  </a:rPr>
                  <a:t>cơ</a:t>
                </a:r>
                <a:r>
                  <a:rPr lang="en-US" sz="2400" b="1" dirty="0">
                    <a:latin typeface="Helvetica Neue"/>
                  </a:rPr>
                  <a:t> </a:t>
                </a:r>
                <a:r>
                  <a:rPr lang="en-US" sz="2400" b="1" dirty="0" err="1">
                    <a:latin typeface="Helvetica Neue"/>
                  </a:rPr>
                  <a:t>bản</a:t>
                </a:r>
                <a:r>
                  <a:rPr lang="en-US" sz="2400" b="1" dirty="0">
                    <a:latin typeface="Helvetica Neue"/>
                  </a:rPr>
                  <a:t>: 		</a:t>
                </a:r>
                <a:r>
                  <a:rPr lang="en-US" sz="2400" b="1" dirty="0" err="1">
                    <a:latin typeface="Helvetica Neue"/>
                  </a:rPr>
                  <a:t>Mặt</a:t>
                </a:r>
                <a:r>
                  <a:rPr lang="en-US" sz="2400" b="1" dirty="0">
                    <a:latin typeface="Helvetica Neue"/>
                  </a:rPr>
                  <a:t> </a:t>
                </a:r>
                <a:r>
                  <a:rPr lang="en-US" sz="2400" b="1" dirty="0" err="1">
                    <a:latin typeface="Helvetica Neue"/>
                  </a:rPr>
                  <a:t>nạ</a:t>
                </a:r>
                <a:r>
                  <a:rPr lang="en-US" sz="2400" b="1" dirty="0">
                    <a:latin typeface="Helvetica Neue"/>
                  </a:rPr>
                  <a:t> 3×3 </a:t>
                </a:r>
                <a:r>
                  <a:rPr lang="en-US" sz="2400" b="1" dirty="0" err="1">
                    <a:latin typeface="Helvetica Neue"/>
                  </a:rPr>
                  <a:t>nâng</a:t>
                </a:r>
                <a:r>
                  <a:rPr lang="en-US" sz="2400" b="1" dirty="0">
                    <a:latin typeface="Helvetica Neue"/>
                  </a:rPr>
                  <a:t> </a:t>
                </a:r>
                <a:r>
                  <a:rPr lang="en-US" sz="2400" b="1" dirty="0" err="1">
                    <a:latin typeface="Helvetica Neue"/>
                  </a:rPr>
                  <a:t>cao</a:t>
                </a:r>
                <a:r>
                  <a:rPr lang="en-US" sz="2400" b="1" dirty="0">
                    <a:latin typeface="Helvetica Neue"/>
                  </a:rPr>
                  <a:t>: </a:t>
                </a:r>
                <a14:m>
                  <m:oMath xmlns:m="http://schemas.openxmlformats.org/officeDocument/2006/math">
                    <m:d>
                      <m:dPr>
                        <m:begChr m:val="["/>
                        <m:endChr m:val="]"/>
                        <m:ctrlPr>
                          <a:rPr lang="en-US" sz="2400" i="1">
                            <a:latin typeface="Cambria Math" panose="02040503050406030204" pitchFamily="18" charset="0"/>
                          </a:rPr>
                        </m:ctrlPr>
                      </m:dPr>
                      <m:e>
                        <m:m>
                          <m:mPr>
                            <m:plcHide m:val="on"/>
                            <m:mcs>
                              <m:mc>
                                <m:mcPr>
                                  <m:count m:val="3"/>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0</m:t>
                              </m:r>
                            </m:e>
                            <m:e>
                              <m:r>
                                <a:rPr lang="en-US" sz="2400" i="1">
                                  <a:latin typeface="Cambria Math" panose="02040503050406030204" pitchFamily="18" charset="0"/>
                                </a:rPr>
                                <m:t>−1</m:t>
                              </m:r>
                            </m:e>
                            <m:e>
                              <m:r>
                                <a:rPr lang="en-US" sz="2400" i="1">
                                  <a:latin typeface="Cambria Math" panose="02040503050406030204" pitchFamily="18" charset="0"/>
                                </a:rPr>
                                <m:t>0</m:t>
                              </m:r>
                            </m:e>
                          </m:mr>
                          <m:mr>
                            <m:e>
                              <m:r>
                                <a:rPr lang="en-US" sz="2400" i="1">
                                  <a:latin typeface="Cambria Math" panose="02040503050406030204" pitchFamily="18" charset="0"/>
                                </a:rPr>
                                <m:t>−1</m:t>
                              </m:r>
                            </m:e>
                            <m:e>
                              <m:r>
                                <a:rPr lang="en-US" sz="2400" i="1">
                                  <a:latin typeface="Cambria Math" panose="02040503050406030204" pitchFamily="18" charset="0"/>
                                </a:rPr>
                                <m:t>4</m:t>
                              </m:r>
                            </m:e>
                            <m:e>
                              <m:r>
                                <a:rPr lang="en-US" sz="2400" i="1">
                                  <a:latin typeface="Cambria Math" panose="02040503050406030204" pitchFamily="18" charset="0"/>
                                </a:rPr>
                                <m:t>−1</m:t>
                              </m:r>
                            </m:e>
                          </m:mr>
                          <m:mr>
                            <m:e>
                              <m:r>
                                <a:rPr lang="en-US" sz="2400" i="1">
                                  <a:latin typeface="Cambria Math" panose="02040503050406030204" pitchFamily="18" charset="0"/>
                                </a:rPr>
                                <m:t>0</m:t>
                              </m:r>
                            </m:e>
                            <m:e>
                              <m:r>
                                <a:rPr lang="en-US" sz="2400" i="1">
                                  <a:latin typeface="Cambria Math" panose="02040503050406030204" pitchFamily="18" charset="0"/>
                                </a:rPr>
                                <m:t>−1</m:t>
                              </m:r>
                            </m:e>
                            <m:e>
                              <m:r>
                                <a:rPr lang="en-US" sz="2400" i="1">
                                  <a:latin typeface="Cambria Math" panose="02040503050406030204" pitchFamily="18" charset="0"/>
                                </a:rPr>
                                <m:t>0</m:t>
                              </m:r>
                            </m:e>
                          </m:mr>
                        </m:m>
                      </m:e>
                    </m:d>
                    <m:r>
                      <a:rPr lang="en-US" sz="2400" b="0" i="1" smtClean="0">
                        <a:latin typeface="Cambria Math" panose="02040503050406030204" pitchFamily="18" charset="0"/>
                      </a:rPr>
                      <m:t>                                                </m:t>
                    </m:r>
                    <m:d>
                      <m:dPr>
                        <m:begChr m:val="["/>
                        <m:endChr m:val="]"/>
                        <m:ctrlPr>
                          <a:rPr lang="en-US" sz="2400" i="1">
                            <a:latin typeface="Cambria Math" panose="02040503050406030204" pitchFamily="18" charset="0"/>
                          </a:rPr>
                        </m:ctrlPr>
                      </m:dPr>
                      <m:e>
                        <m:m>
                          <m:mPr>
                            <m:plcHide m:val="on"/>
                            <m:mcs>
                              <m:mc>
                                <m:mcPr>
                                  <m:count m:val="3"/>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1</m:t>
                              </m:r>
                            </m:e>
                            <m:e>
                              <m:r>
                                <a:rPr lang="en-US" sz="2400" i="1">
                                  <a:latin typeface="Cambria Math" panose="02040503050406030204" pitchFamily="18" charset="0"/>
                                </a:rPr>
                                <m:t>1</m:t>
                              </m:r>
                            </m:e>
                            <m:e>
                              <m:r>
                                <a:rPr lang="en-US" sz="2400" i="1">
                                  <a:latin typeface="Cambria Math" panose="02040503050406030204" pitchFamily="18" charset="0"/>
                                </a:rPr>
                                <m:t>1</m:t>
                              </m:r>
                            </m:e>
                          </m:mr>
                          <m:mr>
                            <m:e>
                              <m:r>
                                <a:rPr lang="en-US" sz="2400" i="1">
                                  <a:latin typeface="Cambria Math" panose="02040503050406030204" pitchFamily="18" charset="0"/>
                                </a:rPr>
                                <m:t>1</m:t>
                              </m:r>
                            </m:e>
                            <m:e>
                              <m:r>
                                <a:rPr lang="en-US" sz="2400" i="1">
                                  <a:latin typeface="Cambria Math" panose="02040503050406030204" pitchFamily="18" charset="0"/>
                                </a:rPr>
                                <m:t>−8</m:t>
                              </m:r>
                            </m:e>
                            <m:e>
                              <m:r>
                                <a:rPr lang="en-US" sz="2400" i="1">
                                  <a:latin typeface="Cambria Math" panose="02040503050406030204" pitchFamily="18" charset="0"/>
                                </a:rPr>
                                <m:t>1</m:t>
                              </m:r>
                            </m:e>
                          </m:mr>
                          <m:mr>
                            <m:e>
                              <m:r>
                                <a:rPr lang="en-US" sz="2400" i="1">
                                  <a:latin typeface="Cambria Math" panose="02040503050406030204" pitchFamily="18" charset="0"/>
                                </a:rPr>
                                <m:t>1</m:t>
                              </m:r>
                            </m:e>
                            <m:e>
                              <m:r>
                                <a:rPr lang="en-US" sz="2400" i="1">
                                  <a:latin typeface="Cambria Math" panose="02040503050406030204" pitchFamily="18" charset="0"/>
                                </a:rPr>
                                <m:t>1</m:t>
                              </m:r>
                            </m:e>
                            <m:e>
                              <m:r>
                                <a:rPr lang="en-US" sz="2400" i="1">
                                  <a:latin typeface="Cambria Math" panose="02040503050406030204" pitchFamily="18" charset="0"/>
                                </a:rPr>
                                <m:t>1</m:t>
                              </m:r>
                            </m:e>
                          </m:mr>
                        </m:m>
                      </m:e>
                    </m:d>
                  </m:oMath>
                </a14:m>
                <a:endParaRPr lang="en-US" sz="2400" dirty="0">
                  <a:latin typeface="Helvetica Neue"/>
                </a:endParaRPr>
              </a:p>
              <a:p>
                <a:pPr marL="0" indent="0">
                  <a:buNone/>
                </a:pPr>
                <a:r>
                  <a:rPr lang="en-US" sz="2400" b="1" dirty="0" err="1">
                    <a:latin typeface="Helvetica Neue"/>
                  </a:rPr>
                  <a:t>Các</a:t>
                </a:r>
                <a:r>
                  <a:rPr lang="en-US" sz="2400" b="1" dirty="0">
                    <a:latin typeface="Helvetica Neue"/>
                  </a:rPr>
                  <a:t> </a:t>
                </a:r>
                <a:r>
                  <a:rPr lang="en-US" sz="2400" b="1" dirty="0" err="1">
                    <a:latin typeface="Helvetica Neue"/>
                  </a:rPr>
                  <a:t>bước</a:t>
                </a:r>
                <a:r>
                  <a:rPr lang="en-US" sz="2400" b="1" dirty="0">
                    <a:latin typeface="Helvetica Neue"/>
                  </a:rPr>
                  <a:t> </a:t>
                </a:r>
                <a:r>
                  <a:rPr lang="en-US" sz="2400" b="1" dirty="0" err="1">
                    <a:latin typeface="Helvetica Neue"/>
                  </a:rPr>
                  <a:t>thực</a:t>
                </a:r>
                <a:r>
                  <a:rPr lang="en-US" sz="2400" b="1" dirty="0">
                    <a:latin typeface="Helvetica Neue"/>
                  </a:rPr>
                  <a:t> </a:t>
                </a:r>
                <a:r>
                  <a:rPr lang="en-US" sz="2400" b="1" dirty="0" err="1">
                    <a:latin typeface="Helvetica Neue"/>
                  </a:rPr>
                  <a:t>hiện</a:t>
                </a:r>
                <a:r>
                  <a:rPr lang="en-US" sz="2400" b="1" dirty="0">
                    <a:latin typeface="Helvetica Neue"/>
                  </a:rPr>
                  <a:t> chi </a:t>
                </a:r>
                <a:r>
                  <a:rPr lang="en-US" sz="2400" b="1" dirty="0" err="1">
                    <a:latin typeface="Helvetica Neue"/>
                  </a:rPr>
                  <a:t>tiết</a:t>
                </a:r>
                <a:endParaRPr lang="en-US" sz="2400" b="1" dirty="0">
                  <a:latin typeface="Helvetica Neue"/>
                </a:endParaRPr>
              </a:p>
              <a:p>
                <a:pPr marL="0" indent="0">
                  <a:buNone/>
                </a:pPr>
                <a:r>
                  <a:rPr lang="en-US" sz="2400" b="1" i="1" dirty="0" err="1">
                    <a:latin typeface="Helvetica Neue"/>
                  </a:rPr>
                  <a:t>Bước</a:t>
                </a:r>
                <a:r>
                  <a:rPr lang="en-US" sz="2400" b="1" i="1" dirty="0">
                    <a:latin typeface="Helvetica Neue"/>
                  </a:rPr>
                  <a:t> 1: Tiền </a:t>
                </a:r>
                <a:r>
                  <a:rPr lang="en-US" sz="2400" b="1" i="1" dirty="0" err="1">
                    <a:latin typeface="Helvetica Neue"/>
                  </a:rPr>
                  <a:t>xử</a:t>
                </a:r>
                <a:r>
                  <a:rPr lang="en-US" sz="2400" b="1" i="1" dirty="0">
                    <a:latin typeface="Helvetica Neue"/>
                  </a:rPr>
                  <a:t> </a:t>
                </a:r>
                <a:r>
                  <a:rPr lang="en-US" sz="2400" b="1" i="1" dirty="0" err="1">
                    <a:latin typeface="Helvetica Neue"/>
                  </a:rPr>
                  <a:t>lý</a:t>
                </a:r>
                <a:r>
                  <a:rPr lang="en-US" sz="2400" b="1" i="1" dirty="0">
                    <a:latin typeface="Helvetica Neue"/>
                  </a:rPr>
                  <a:t> </a:t>
                </a:r>
                <a:r>
                  <a:rPr lang="en-US" sz="2400" b="1" i="1" dirty="0" err="1">
                    <a:latin typeface="Helvetica Neue"/>
                  </a:rPr>
                  <a:t>ảnh</a:t>
                </a:r>
                <a:endParaRPr lang="en-US" sz="2400" b="1" i="1" dirty="0">
                  <a:latin typeface="Helvetica Neue"/>
                </a:endParaRPr>
              </a:p>
              <a:p>
                <a:pPr lvl="1"/>
                <a:r>
                  <a:rPr lang="en-US" sz="2116" dirty="0" err="1">
                    <a:latin typeface="Helvetica Neue"/>
                  </a:rPr>
                  <a:t>Chuyển</a:t>
                </a:r>
                <a:r>
                  <a:rPr lang="en-US" sz="2116" dirty="0">
                    <a:latin typeface="Helvetica Neue"/>
                  </a:rPr>
                  <a:t> </a:t>
                </a:r>
                <a:r>
                  <a:rPr lang="en-US" sz="2116" dirty="0" err="1">
                    <a:latin typeface="Helvetica Neue"/>
                  </a:rPr>
                  <a:t>ảnh</a:t>
                </a:r>
                <a:r>
                  <a:rPr lang="en-US" sz="2116" dirty="0">
                    <a:latin typeface="Helvetica Neue"/>
                  </a:rPr>
                  <a:t> </a:t>
                </a:r>
                <a:r>
                  <a:rPr lang="en-US" sz="2116" dirty="0" err="1">
                    <a:latin typeface="Helvetica Neue"/>
                  </a:rPr>
                  <a:t>màu</a:t>
                </a:r>
                <a:r>
                  <a:rPr lang="en-US" sz="2116" dirty="0">
                    <a:latin typeface="Helvetica Neue"/>
                  </a:rPr>
                  <a:t> </a:t>
                </a:r>
                <a:r>
                  <a:rPr lang="en-US" sz="2116" dirty="0" err="1">
                    <a:latin typeface="Helvetica Neue"/>
                  </a:rPr>
                  <a:t>về</a:t>
                </a:r>
                <a:r>
                  <a:rPr lang="en-US" sz="2116" dirty="0">
                    <a:latin typeface="Helvetica Neue"/>
                  </a:rPr>
                  <a:t> </a:t>
                </a:r>
                <a:r>
                  <a:rPr lang="en-US" sz="2116" dirty="0" err="1">
                    <a:latin typeface="Helvetica Neue"/>
                  </a:rPr>
                  <a:t>ảnh</a:t>
                </a:r>
                <a:r>
                  <a:rPr lang="en-US" sz="2116" dirty="0">
                    <a:latin typeface="Helvetica Neue"/>
                  </a:rPr>
                  <a:t> </a:t>
                </a:r>
                <a:r>
                  <a:rPr lang="en-US" sz="2116" dirty="0" err="1">
                    <a:latin typeface="Helvetica Neue"/>
                  </a:rPr>
                  <a:t>xám</a:t>
                </a:r>
                <a:r>
                  <a:rPr lang="en-US" sz="2116" dirty="0">
                    <a:latin typeface="Helvetica Neue"/>
                  </a:rPr>
                  <a:t> </a:t>
                </a:r>
                <a:r>
                  <a:rPr lang="en-US" sz="2116" dirty="0" err="1">
                    <a:latin typeface="Helvetica Neue"/>
                  </a:rPr>
                  <a:t>nếu</a:t>
                </a:r>
                <a:r>
                  <a:rPr lang="en-US" sz="2116" dirty="0">
                    <a:latin typeface="Helvetica Neue"/>
                  </a:rPr>
                  <a:t> </a:t>
                </a:r>
                <a:r>
                  <a:rPr lang="en-US" sz="2116" dirty="0" err="1">
                    <a:latin typeface="Helvetica Neue"/>
                  </a:rPr>
                  <a:t>cần</a:t>
                </a:r>
                <a:r>
                  <a:rPr lang="en-US" sz="2116" dirty="0">
                    <a:latin typeface="Helvetica Neue"/>
                  </a:rPr>
                  <a:t>.</a:t>
                </a:r>
              </a:p>
              <a:p>
                <a:pPr lvl="1"/>
                <a:r>
                  <a:rPr lang="en-US" sz="2116" dirty="0" err="1">
                    <a:latin typeface="Helvetica Neue"/>
                  </a:rPr>
                  <a:t>Nếu</a:t>
                </a:r>
                <a:r>
                  <a:rPr lang="en-US" sz="2116" dirty="0">
                    <a:latin typeface="Helvetica Neue"/>
                  </a:rPr>
                  <a:t> </a:t>
                </a:r>
                <a:r>
                  <a:rPr lang="en-US" sz="2116" dirty="0" err="1">
                    <a:latin typeface="Helvetica Neue"/>
                  </a:rPr>
                  <a:t>ảnh</a:t>
                </a:r>
                <a:r>
                  <a:rPr lang="en-US" sz="2116" dirty="0">
                    <a:latin typeface="Helvetica Neue"/>
                  </a:rPr>
                  <a:t> có </a:t>
                </a:r>
                <a:r>
                  <a:rPr lang="en-US" sz="2116" dirty="0" err="1">
                    <a:latin typeface="Helvetica Neue"/>
                  </a:rPr>
                  <a:t>nhiễu</a:t>
                </a:r>
                <a:r>
                  <a:rPr lang="en-US" sz="2116" dirty="0">
                    <a:latin typeface="Helvetica Neue"/>
                  </a:rPr>
                  <a:t>, có </a:t>
                </a:r>
                <a:r>
                  <a:rPr lang="en-US" sz="2116" dirty="0" err="1">
                    <a:latin typeface="Helvetica Neue"/>
                  </a:rPr>
                  <a:t>thể</a:t>
                </a:r>
                <a:r>
                  <a:rPr lang="en-US" sz="2116" dirty="0">
                    <a:latin typeface="Helvetica Neue"/>
                  </a:rPr>
                  <a:t> làm </a:t>
                </a:r>
                <a:r>
                  <a:rPr lang="en-US" sz="2116" dirty="0" err="1">
                    <a:latin typeface="Helvetica Neue"/>
                  </a:rPr>
                  <a:t>mờ</a:t>
                </a:r>
                <a:r>
                  <a:rPr lang="en-US" sz="2116" dirty="0">
                    <a:latin typeface="Helvetica Neue"/>
                  </a:rPr>
                  <a:t> </a:t>
                </a:r>
                <a:r>
                  <a:rPr lang="en-US" sz="2116" dirty="0" err="1">
                    <a:latin typeface="Helvetica Neue"/>
                  </a:rPr>
                  <a:t>bằng</a:t>
                </a:r>
                <a:r>
                  <a:rPr lang="en-US" sz="2116" dirty="0">
                    <a:latin typeface="Helvetica Neue"/>
                  </a:rPr>
                  <a:t> </a:t>
                </a:r>
                <a:r>
                  <a:rPr lang="en-US" sz="2116" dirty="0" err="1">
                    <a:latin typeface="Helvetica Neue"/>
                  </a:rPr>
                  <a:t>bộ</a:t>
                </a:r>
                <a:r>
                  <a:rPr lang="en-US" sz="2116" dirty="0">
                    <a:latin typeface="Helvetica Neue"/>
                  </a:rPr>
                  <a:t> </a:t>
                </a:r>
                <a:r>
                  <a:rPr lang="en-US" sz="2116" dirty="0" err="1">
                    <a:latin typeface="Helvetica Neue"/>
                  </a:rPr>
                  <a:t>lọc</a:t>
                </a:r>
                <a:r>
                  <a:rPr lang="en-US" sz="2116" dirty="0">
                    <a:latin typeface="Helvetica Neue"/>
                  </a:rPr>
                  <a:t> Gaussian.</a:t>
                </a:r>
              </a:p>
              <a:p>
                <a:pPr marL="0" indent="0">
                  <a:buNone/>
                </a:pPr>
                <a:r>
                  <a:rPr lang="en-US" sz="2400" b="1" i="1" dirty="0" err="1">
                    <a:latin typeface="Helvetica Neue"/>
                  </a:rPr>
                  <a:t>Bước</a:t>
                </a:r>
                <a:r>
                  <a:rPr lang="en-US" sz="2400" b="1" i="1" dirty="0">
                    <a:latin typeface="Helvetica Neue"/>
                  </a:rPr>
                  <a:t> 2: </a:t>
                </a:r>
                <a:r>
                  <a:rPr lang="en-US" sz="2400" b="1" i="1" dirty="0" err="1">
                    <a:latin typeface="Helvetica Neue"/>
                  </a:rPr>
                  <a:t>Áp</a:t>
                </a:r>
                <a:r>
                  <a:rPr lang="en-US" sz="2400" b="1" i="1" dirty="0">
                    <a:latin typeface="Helvetica Neue"/>
                  </a:rPr>
                  <a:t> </a:t>
                </a:r>
                <a:r>
                  <a:rPr lang="en-US" sz="2400" b="1" i="1" dirty="0" err="1">
                    <a:latin typeface="Helvetica Neue"/>
                  </a:rPr>
                  <a:t>dụng</a:t>
                </a:r>
                <a:r>
                  <a:rPr lang="en-US" sz="2400" b="1" i="1" dirty="0">
                    <a:latin typeface="Helvetica Neue"/>
                  </a:rPr>
                  <a:t> </a:t>
                </a:r>
                <a:r>
                  <a:rPr lang="en-US" sz="2400" b="1" i="1" dirty="0" err="1">
                    <a:latin typeface="Helvetica Neue"/>
                  </a:rPr>
                  <a:t>toán</a:t>
                </a:r>
                <a:r>
                  <a:rPr lang="en-US" sz="2400" b="1" i="1" dirty="0">
                    <a:latin typeface="Helvetica Neue"/>
                  </a:rPr>
                  <a:t> </a:t>
                </a:r>
                <a:r>
                  <a:rPr lang="en-US" sz="2400" b="1" i="1" dirty="0" err="1">
                    <a:latin typeface="Helvetica Neue"/>
                  </a:rPr>
                  <a:t>tử</a:t>
                </a:r>
                <a:r>
                  <a:rPr lang="en-US" sz="2400" b="1" i="1" dirty="0">
                    <a:latin typeface="Helvetica Neue"/>
                  </a:rPr>
                  <a:t> Laplacian</a:t>
                </a:r>
              </a:p>
              <a:p>
                <a:pPr lvl="1"/>
                <a:r>
                  <a:rPr lang="en-US" sz="2116" dirty="0" err="1">
                    <a:latin typeface="Helvetica Neue"/>
                  </a:rPr>
                  <a:t>Chọn</a:t>
                </a:r>
                <a:r>
                  <a:rPr lang="en-US" sz="2116" dirty="0">
                    <a:latin typeface="Helvetica Neue"/>
                  </a:rPr>
                  <a:t> </a:t>
                </a:r>
                <a:r>
                  <a:rPr lang="en-US" sz="2116" dirty="0" err="1">
                    <a:latin typeface="Helvetica Neue"/>
                  </a:rPr>
                  <a:t>mặt</a:t>
                </a:r>
                <a:r>
                  <a:rPr lang="en-US" sz="2116" dirty="0">
                    <a:latin typeface="Helvetica Neue"/>
                  </a:rPr>
                  <a:t> </a:t>
                </a:r>
                <a:r>
                  <a:rPr lang="en-US" sz="2116" dirty="0" err="1">
                    <a:latin typeface="Helvetica Neue"/>
                  </a:rPr>
                  <a:t>nạ</a:t>
                </a:r>
                <a:r>
                  <a:rPr lang="en-US" sz="2116" dirty="0">
                    <a:latin typeface="Helvetica Neue"/>
                  </a:rPr>
                  <a:t> </a:t>
                </a:r>
                <a:r>
                  <a:rPr lang="en-US" sz="2116" dirty="0" err="1">
                    <a:latin typeface="Helvetica Neue"/>
                  </a:rPr>
                  <a:t>phù</a:t>
                </a:r>
                <a:r>
                  <a:rPr lang="en-US" sz="2116" dirty="0">
                    <a:latin typeface="Helvetica Neue"/>
                  </a:rPr>
                  <a:t> </a:t>
                </a:r>
                <a:r>
                  <a:rPr lang="en-US" sz="2116" dirty="0" err="1">
                    <a:latin typeface="Helvetica Neue"/>
                  </a:rPr>
                  <a:t>hợp</a:t>
                </a:r>
                <a:r>
                  <a:rPr lang="en-US" sz="2116" dirty="0">
                    <a:latin typeface="Helvetica Neue"/>
                  </a:rPr>
                  <a:t> </a:t>
                </a:r>
                <a:r>
                  <a:rPr lang="en-US" sz="2116" dirty="0" err="1">
                    <a:latin typeface="Helvetica Neue"/>
                  </a:rPr>
                  <a:t>và</a:t>
                </a:r>
                <a:r>
                  <a:rPr lang="en-US" sz="2116" dirty="0">
                    <a:latin typeface="Helvetica Neue"/>
                  </a:rPr>
                  <a:t> </a:t>
                </a:r>
                <a:r>
                  <a:rPr lang="en-US" sz="2116" dirty="0" err="1">
                    <a:latin typeface="Helvetica Neue"/>
                  </a:rPr>
                  <a:t>tích</a:t>
                </a:r>
                <a:r>
                  <a:rPr lang="en-US" sz="2116" dirty="0">
                    <a:latin typeface="Helvetica Neue"/>
                  </a:rPr>
                  <a:t> </a:t>
                </a:r>
                <a:r>
                  <a:rPr lang="en-US" sz="2116" dirty="0" err="1">
                    <a:latin typeface="Helvetica Neue"/>
                  </a:rPr>
                  <a:t>chập</a:t>
                </a:r>
                <a:r>
                  <a:rPr lang="en-US" sz="2116" dirty="0">
                    <a:latin typeface="Helvetica Neue"/>
                  </a:rPr>
                  <a:t> </a:t>
                </a:r>
                <a:r>
                  <a:rPr lang="en-US" sz="2116" dirty="0" err="1">
                    <a:latin typeface="Helvetica Neue"/>
                  </a:rPr>
                  <a:t>với</a:t>
                </a:r>
                <a:r>
                  <a:rPr lang="en-US" sz="2116" dirty="0">
                    <a:latin typeface="Helvetica Neue"/>
                  </a:rPr>
                  <a:t> </a:t>
                </a:r>
                <a:r>
                  <a:rPr lang="en-US" sz="2116" dirty="0" err="1">
                    <a:latin typeface="Helvetica Neue"/>
                  </a:rPr>
                  <a:t>ảnh</a:t>
                </a:r>
                <a:r>
                  <a:rPr lang="en-US" sz="2116" dirty="0">
                    <a:latin typeface="Helvetica Neue"/>
                  </a:rPr>
                  <a:t> </a:t>
                </a:r>
                <a:r>
                  <a:rPr lang="en-US" sz="2116" dirty="0" err="1">
                    <a:latin typeface="Helvetica Neue"/>
                  </a:rPr>
                  <a:t>gốc</a:t>
                </a:r>
                <a:r>
                  <a:rPr lang="en-US" sz="2116" dirty="0">
                    <a:latin typeface="Helvetica Neue"/>
                  </a:rPr>
                  <a:t>.</a:t>
                </a:r>
              </a:p>
              <a:p>
                <a:pPr marL="0" indent="0">
                  <a:buNone/>
                </a:pPr>
                <a:r>
                  <a:rPr lang="en-US" sz="2400" b="1" i="1" dirty="0" err="1">
                    <a:latin typeface="Helvetica Neue"/>
                  </a:rPr>
                  <a:t>Bước</a:t>
                </a:r>
                <a:r>
                  <a:rPr lang="en-US" sz="2400" b="1" i="1" dirty="0">
                    <a:latin typeface="Helvetica Neue"/>
                  </a:rPr>
                  <a:t> 3: </a:t>
                </a:r>
                <a:r>
                  <a:rPr lang="en-US" sz="2400" b="1" i="1" dirty="0" err="1">
                    <a:latin typeface="Helvetica Neue"/>
                  </a:rPr>
                  <a:t>Xác</a:t>
                </a:r>
                <a:r>
                  <a:rPr lang="en-US" sz="2400" b="1" i="1" dirty="0">
                    <a:latin typeface="Helvetica Neue"/>
                  </a:rPr>
                  <a:t> </a:t>
                </a:r>
                <a:r>
                  <a:rPr lang="en-US" sz="2400" b="1" i="1" dirty="0" err="1">
                    <a:latin typeface="Helvetica Neue"/>
                  </a:rPr>
                  <a:t>định</a:t>
                </a:r>
                <a:r>
                  <a:rPr lang="en-US" sz="2400" b="1" i="1" dirty="0">
                    <a:latin typeface="Helvetica Neue"/>
                  </a:rPr>
                  <a:t> </a:t>
                </a:r>
                <a:r>
                  <a:rPr lang="en-US" sz="2400" b="1" i="1" dirty="0" err="1">
                    <a:latin typeface="Helvetica Neue"/>
                  </a:rPr>
                  <a:t>điểm</a:t>
                </a:r>
                <a:r>
                  <a:rPr lang="en-US" sz="2400" b="1" i="1" dirty="0">
                    <a:latin typeface="Helvetica Neue"/>
                  </a:rPr>
                  <a:t> </a:t>
                </a:r>
                <a:r>
                  <a:rPr lang="en-US" sz="2400" b="1" i="1" dirty="0" err="1">
                    <a:latin typeface="Helvetica Neue"/>
                  </a:rPr>
                  <a:t>biên</a:t>
                </a:r>
                <a:endParaRPr lang="en-US" sz="2400" b="1" i="1" dirty="0">
                  <a:latin typeface="Helvetica Neue"/>
                </a:endParaRPr>
              </a:p>
              <a:p>
                <a:pPr lvl="1"/>
                <a:r>
                  <a:rPr lang="en-US" sz="2116" dirty="0" err="1">
                    <a:latin typeface="Helvetica Neue"/>
                  </a:rPr>
                  <a:t>Tìm</a:t>
                </a:r>
                <a:r>
                  <a:rPr lang="en-US" sz="2116" dirty="0">
                    <a:latin typeface="Helvetica Neue"/>
                  </a:rPr>
                  <a:t> </a:t>
                </a:r>
                <a:r>
                  <a:rPr lang="en-US" sz="2116" b="1" dirty="0">
                    <a:latin typeface="Helvetica Neue"/>
                  </a:rPr>
                  <a:t>zero-crossing</a:t>
                </a:r>
                <a:r>
                  <a:rPr lang="en-US" sz="2116" dirty="0">
                    <a:latin typeface="Helvetica Neue"/>
                  </a:rPr>
                  <a:t>, </a:t>
                </a:r>
                <a:r>
                  <a:rPr lang="en-US" sz="2116" dirty="0" err="1">
                    <a:latin typeface="Helvetica Neue"/>
                  </a:rPr>
                  <a:t>nơi</a:t>
                </a:r>
                <a:r>
                  <a:rPr lang="en-US" sz="2116" dirty="0">
                    <a:latin typeface="Helvetica Neue"/>
                  </a:rPr>
                  <a:t> </a:t>
                </a:r>
                <a:r>
                  <a:rPr lang="en-US" sz="2116" dirty="0" err="1">
                    <a:latin typeface="Helvetica Neue"/>
                  </a:rPr>
                  <a:t>giá</a:t>
                </a:r>
                <a:r>
                  <a:rPr lang="en-US" sz="2116" dirty="0">
                    <a:latin typeface="Helvetica Neue"/>
                  </a:rPr>
                  <a:t> </a:t>
                </a:r>
                <a:r>
                  <a:rPr lang="en-US" sz="2116" dirty="0" err="1">
                    <a:latin typeface="Helvetica Neue"/>
                  </a:rPr>
                  <a:t>trị</a:t>
                </a:r>
                <a:r>
                  <a:rPr lang="en-US" sz="2116" dirty="0">
                    <a:latin typeface="Helvetica Neue"/>
                  </a:rPr>
                  <a:t> </a:t>
                </a:r>
                <a:r>
                  <a:rPr lang="en-US" sz="2116" dirty="0" err="1">
                    <a:latin typeface="Helvetica Neue"/>
                  </a:rPr>
                  <a:t>đạo</a:t>
                </a:r>
                <a:r>
                  <a:rPr lang="en-US" sz="2116" dirty="0">
                    <a:latin typeface="Helvetica Neue"/>
                  </a:rPr>
                  <a:t> </a:t>
                </a:r>
                <a:r>
                  <a:rPr lang="en-US" sz="2116" dirty="0" err="1">
                    <a:latin typeface="Helvetica Neue"/>
                  </a:rPr>
                  <a:t>hàm</a:t>
                </a:r>
                <a:r>
                  <a:rPr lang="en-US" sz="2116" dirty="0">
                    <a:latin typeface="Helvetica Neue"/>
                  </a:rPr>
                  <a:t> </a:t>
                </a:r>
                <a:r>
                  <a:rPr lang="en-US" sz="2116" dirty="0" err="1">
                    <a:latin typeface="Helvetica Neue"/>
                  </a:rPr>
                  <a:t>bậc</a:t>
                </a:r>
                <a:r>
                  <a:rPr lang="en-US" sz="2116" dirty="0">
                    <a:latin typeface="Helvetica Neue"/>
                  </a:rPr>
                  <a:t> 2 </a:t>
                </a:r>
                <a:r>
                  <a:rPr lang="en-US" sz="2116" dirty="0" err="1">
                    <a:latin typeface="Helvetica Neue"/>
                  </a:rPr>
                  <a:t>đổi</a:t>
                </a:r>
                <a:r>
                  <a:rPr lang="en-US" sz="2116" dirty="0">
                    <a:latin typeface="Helvetica Neue"/>
                  </a:rPr>
                  <a:t> </a:t>
                </a:r>
                <a:r>
                  <a:rPr lang="en-US" sz="2116" dirty="0" err="1">
                    <a:latin typeface="Helvetica Neue"/>
                  </a:rPr>
                  <a:t>dấu</a:t>
                </a:r>
                <a:r>
                  <a:rPr lang="en-US" sz="2116" dirty="0">
                    <a:latin typeface="Helvetica Neue"/>
                  </a:rPr>
                  <a:t>.</a:t>
                </a:r>
              </a:p>
              <a:p>
                <a:pPr marL="0" indent="0">
                  <a:buNone/>
                </a:pPr>
                <a:r>
                  <a:rPr lang="en-US" sz="2400" b="1" i="1" dirty="0" err="1">
                    <a:latin typeface="Helvetica Neue"/>
                  </a:rPr>
                  <a:t>Bước</a:t>
                </a:r>
                <a:r>
                  <a:rPr lang="en-US" sz="2400" b="1" i="1" dirty="0">
                    <a:latin typeface="Helvetica Neue"/>
                  </a:rPr>
                  <a:t> 4: </a:t>
                </a:r>
                <a:r>
                  <a:rPr lang="en-US" sz="2400" b="1" i="1" dirty="0" err="1">
                    <a:latin typeface="Helvetica Neue"/>
                  </a:rPr>
                  <a:t>Hậu</a:t>
                </a:r>
                <a:r>
                  <a:rPr lang="en-US" sz="2400" b="1" i="1" dirty="0">
                    <a:latin typeface="Helvetica Neue"/>
                  </a:rPr>
                  <a:t> </a:t>
                </a:r>
                <a:r>
                  <a:rPr lang="en-US" sz="2400" b="1" i="1" dirty="0" err="1">
                    <a:latin typeface="Helvetica Neue"/>
                  </a:rPr>
                  <a:t>xử</a:t>
                </a:r>
                <a:r>
                  <a:rPr lang="en-US" sz="2400" b="1" i="1" dirty="0">
                    <a:latin typeface="Helvetica Neue"/>
                  </a:rPr>
                  <a:t> </a:t>
                </a:r>
                <a:r>
                  <a:rPr lang="en-US" sz="2400" b="1" i="1" dirty="0" err="1">
                    <a:latin typeface="Helvetica Neue"/>
                  </a:rPr>
                  <a:t>lý</a:t>
                </a:r>
                <a:r>
                  <a:rPr lang="en-US" sz="2400" b="1" i="1" dirty="0">
                    <a:latin typeface="Helvetica Neue"/>
                  </a:rPr>
                  <a:t> </a:t>
                </a:r>
                <a:r>
                  <a:rPr lang="en-US" sz="2400" b="1" i="1" dirty="0" err="1">
                    <a:latin typeface="Helvetica Neue"/>
                  </a:rPr>
                  <a:t>ảnh</a:t>
                </a:r>
                <a:endParaRPr lang="en-US" sz="2400" b="1" i="1" dirty="0">
                  <a:latin typeface="Helvetica Neue"/>
                </a:endParaRPr>
              </a:p>
              <a:p>
                <a:pPr lvl="1"/>
                <a:r>
                  <a:rPr lang="en-US" sz="2116" dirty="0" err="1">
                    <a:latin typeface="Helvetica Neue"/>
                  </a:rPr>
                  <a:t>Lọc</a:t>
                </a:r>
                <a:r>
                  <a:rPr lang="en-US" sz="2116" dirty="0">
                    <a:latin typeface="Helvetica Neue"/>
                  </a:rPr>
                  <a:t> </a:t>
                </a:r>
                <a:r>
                  <a:rPr lang="en-US" sz="2116" dirty="0" err="1">
                    <a:latin typeface="Helvetica Neue"/>
                  </a:rPr>
                  <a:t>nhiễu</a:t>
                </a:r>
                <a:r>
                  <a:rPr lang="en-US" sz="2116" dirty="0">
                    <a:latin typeface="Helvetica Neue"/>
                  </a:rPr>
                  <a:t> </a:t>
                </a:r>
                <a:r>
                  <a:rPr lang="en-US" sz="2116" dirty="0" err="1">
                    <a:latin typeface="Helvetica Neue"/>
                  </a:rPr>
                  <a:t>nếu</a:t>
                </a:r>
                <a:r>
                  <a:rPr lang="en-US" sz="2116" dirty="0">
                    <a:latin typeface="Helvetica Neue"/>
                  </a:rPr>
                  <a:t> </a:t>
                </a:r>
                <a:r>
                  <a:rPr lang="en-US" sz="2116" dirty="0" err="1">
                    <a:latin typeface="Helvetica Neue"/>
                  </a:rPr>
                  <a:t>cần</a:t>
                </a:r>
                <a:r>
                  <a:rPr lang="en-US" sz="2116" dirty="0">
                    <a:latin typeface="Helvetica Neue"/>
                  </a:rPr>
                  <a:t>.</a:t>
                </a:r>
              </a:p>
              <a:p>
                <a:pPr lvl="1"/>
                <a:r>
                  <a:rPr lang="en-US" sz="2116" dirty="0" err="1">
                    <a:latin typeface="Helvetica Neue"/>
                  </a:rPr>
                  <a:t>Ngưỡng</a:t>
                </a:r>
                <a:r>
                  <a:rPr lang="en-US" sz="2116" dirty="0">
                    <a:latin typeface="Helvetica Neue"/>
                  </a:rPr>
                  <a:t> </a:t>
                </a:r>
                <a:r>
                  <a:rPr lang="en-US" sz="2116" dirty="0" err="1">
                    <a:latin typeface="Helvetica Neue"/>
                  </a:rPr>
                  <a:t>hóa</a:t>
                </a:r>
                <a:r>
                  <a:rPr lang="en-US" sz="2116" dirty="0">
                    <a:latin typeface="Helvetica Neue"/>
                  </a:rPr>
                  <a:t> </a:t>
                </a:r>
                <a:r>
                  <a:rPr lang="en-US" sz="2116" dirty="0" err="1">
                    <a:latin typeface="Helvetica Neue"/>
                  </a:rPr>
                  <a:t>ảnh</a:t>
                </a:r>
                <a:r>
                  <a:rPr lang="en-US" sz="2116" dirty="0">
                    <a:latin typeface="Helvetica Neue"/>
                  </a:rPr>
                  <a:t> để </a:t>
                </a:r>
                <a:r>
                  <a:rPr lang="en-US" sz="2116" dirty="0" err="1">
                    <a:latin typeface="Helvetica Neue"/>
                  </a:rPr>
                  <a:t>giữ</a:t>
                </a:r>
                <a:r>
                  <a:rPr lang="en-US" sz="2116" dirty="0">
                    <a:latin typeface="Helvetica Neue"/>
                  </a:rPr>
                  <a:t> lại </a:t>
                </a:r>
                <a:r>
                  <a:rPr lang="en-US" sz="2116" dirty="0" err="1">
                    <a:latin typeface="Helvetica Neue"/>
                  </a:rPr>
                  <a:t>các</a:t>
                </a:r>
                <a:r>
                  <a:rPr lang="en-US" sz="2116" dirty="0">
                    <a:latin typeface="Helvetica Neue"/>
                  </a:rPr>
                  <a:t> </a:t>
                </a:r>
                <a:r>
                  <a:rPr lang="en-US" sz="2116" dirty="0" err="1">
                    <a:latin typeface="Helvetica Neue"/>
                  </a:rPr>
                  <a:t>biên</a:t>
                </a:r>
                <a:r>
                  <a:rPr lang="en-US" sz="2116" dirty="0">
                    <a:latin typeface="Helvetica Neue"/>
                  </a:rPr>
                  <a:t> </a:t>
                </a:r>
                <a:r>
                  <a:rPr lang="en-US" sz="2116" dirty="0" err="1">
                    <a:latin typeface="Helvetica Neue"/>
                  </a:rPr>
                  <a:t>rõ</a:t>
                </a:r>
                <a:r>
                  <a:rPr lang="en-US" sz="2116" dirty="0">
                    <a:latin typeface="Helvetica Neue"/>
                  </a:rPr>
                  <a:t> </a:t>
                </a:r>
                <a:r>
                  <a:rPr lang="en-US" sz="2116" dirty="0" err="1">
                    <a:latin typeface="Helvetica Neue"/>
                  </a:rPr>
                  <a:t>ràng</a:t>
                </a:r>
                <a:r>
                  <a:rPr lang="en-US" sz="2116" dirty="0">
                    <a:latin typeface="Helvetica Neue"/>
                  </a:rPr>
                  <a:t>.</a:t>
                </a:r>
              </a:p>
              <a:p>
                <a:pPr marL="0" indent="0">
                  <a:buNone/>
                </a:pPr>
                <a:endParaRPr lang="en-US" sz="2400" dirty="0">
                  <a:latin typeface="Helvetica Neue"/>
                </a:endParaRPr>
              </a:p>
              <a:p>
                <a:endParaRPr lang="en-US" sz="2400" dirty="0">
                  <a:latin typeface="Helvetica Neue"/>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051346" y="895350"/>
                <a:ext cx="10953454" cy="8667749"/>
              </a:xfrm>
              <a:blipFill>
                <a:blip r:embed="rId2"/>
                <a:stretch>
                  <a:fillRect l="-891" t="-492"/>
                </a:stretch>
              </a:blipFill>
            </p:spPr>
            <p:txBody>
              <a:bodyPr/>
              <a:lstStyle/>
              <a:p>
                <a:r>
                  <a:rPr lang="en-US">
                    <a:noFill/>
                  </a:rPr>
                  <a:t> </a:t>
                </a:r>
              </a:p>
            </p:txBody>
          </p:sp>
        </mc:Fallback>
      </mc:AlternateContent>
    </p:spTree>
    <p:extLst>
      <p:ext uri="{BB962C8B-B14F-4D97-AF65-F5344CB8AC3E}">
        <p14:creationId xmlns:p14="http://schemas.microsoft.com/office/powerpoint/2010/main" val="8166728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0996" y="1929553"/>
            <a:ext cx="9375268" cy="5372618"/>
          </a:xfrm>
        </p:spPr>
        <p:txBody>
          <a:bodyPr>
            <a:normAutofit/>
          </a:bodyPr>
          <a:lstStyle/>
          <a:p>
            <a:pPr marL="0" indent="0">
              <a:buNone/>
            </a:pPr>
            <a:r>
              <a:rPr lang="en-US" sz="2400" b="1" dirty="0" err="1">
                <a:latin typeface="Helvetica Neue"/>
              </a:rPr>
              <a:t>Ưu</a:t>
            </a:r>
            <a:r>
              <a:rPr lang="en-US" sz="2400" b="1" dirty="0">
                <a:latin typeface="Helvetica Neue"/>
              </a:rPr>
              <a:t>, </a:t>
            </a:r>
            <a:r>
              <a:rPr lang="en-US" sz="2400" b="1" dirty="0" err="1">
                <a:latin typeface="Helvetica Neue"/>
              </a:rPr>
              <a:t>nhược</a:t>
            </a:r>
            <a:r>
              <a:rPr lang="en-US" sz="2400" b="1" dirty="0">
                <a:latin typeface="Helvetica Neue"/>
              </a:rPr>
              <a:t> </a:t>
            </a:r>
            <a:r>
              <a:rPr lang="en-US" sz="2400" b="1" dirty="0" err="1">
                <a:latin typeface="Helvetica Neue"/>
              </a:rPr>
              <a:t>điểm</a:t>
            </a:r>
            <a:endParaRPr lang="en-US" sz="2400" b="1" dirty="0">
              <a:latin typeface="Helvetica Neue"/>
            </a:endParaRPr>
          </a:p>
          <a:p>
            <a:pPr marL="0" indent="0">
              <a:buNone/>
            </a:pPr>
            <a:endParaRPr lang="en-US" sz="2400" b="1" dirty="0">
              <a:latin typeface="Helvetica Neue"/>
            </a:endParaRPr>
          </a:p>
          <a:p>
            <a:pPr marL="0" indent="0">
              <a:buNone/>
            </a:pPr>
            <a:r>
              <a:rPr lang="en-US" sz="2400" dirty="0">
                <a:latin typeface="Helvetica Neue"/>
              </a:rPr>
              <a:t>	✅ </a:t>
            </a:r>
            <a:r>
              <a:rPr lang="en-US" sz="2400" dirty="0" err="1">
                <a:latin typeface="Helvetica Neue"/>
              </a:rPr>
              <a:t>Đơn</a:t>
            </a:r>
            <a:r>
              <a:rPr lang="en-US" sz="2400" dirty="0">
                <a:latin typeface="Helvetica Neue"/>
              </a:rPr>
              <a:t> </a:t>
            </a:r>
            <a:r>
              <a:rPr lang="en-US" sz="2400" dirty="0" err="1">
                <a:latin typeface="Helvetica Neue"/>
              </a:rPr>
              <a:t>giản</a:t>
            </a:r>
            <a:r>
              <a:rPr lang="en-US" sz="2400" dirty="0">
                <a:latin typeface="Helvetica Neue"/>
              </a:rPr>
              <a:t>, </a:t>
            </a:r>
            <a:r>
              <a:rPr lang="en-US" sz="2400" dirty="0" err="1">
                <a:latin typeface="Helvetica Neue"/>
              </a:rPr>
              <a:t>nhanh</a:t>
            </a:r>
            <a:r>
              <a:rPr lang="en-US" sz="2400" dirty="0">
                <a:latin typeface="Helvetica Neue"/>
              </a:rPr>
              <a:t>.</a:t>
            </a:r>
            <a:br>
              <a:rPr lang="en-US" sz="2400" dirty="0">
                <a:latin typeface="Helvetica Neue"/>
              </a:rPr>
            </a:br>
            <a:r>
              <a:rPr lang="en-US" sz="2400" dirty="0">
                <a:latin typeface="Helvetica Neue"/>
              </a:rPr>
              <a:t>	✅ </a:t>
            </a:r>
            <a:r>
              <a:rPr lang="en-US" sz="2400" dirty="0" err="1">
                <a:latin typeface="Helvetica Neue"/>
              </a:rPr>
              <a:t>Tìm</a:t>
            </a:r>
            <a:r>
              <a:rPr lang="en-US" sz="2400" dirty="0">
                <a:latin typeface="Helvetica Neue"/>
              </a:rPr>
              <a:t> </a:t>
            </a:r>
            <a:r>
              <a:rPr lang="en-US" sz="2400" dirty="0" err="1">
                <a:latin typeface="Helvetica Neue"/>
              </a:rPr>
              <a:t>biên</a:t>
            </a:r>
            <a:r>
              <a:rPr lang="en-US" sz="2400" dirty="0">
                <a:latin typeface="Helvetica Neue"/>
              </a:rPr>
              <a:t> </a:t>
            </a:r>
            <a:r>
              <a:rPr lang="en-US" sz="2400" dirty="0" err="1">
                <a:latin typeface="Helvetica Neue"/>
              </a:rPr>
              <a:t>sắc</a:t>
            </a:r>
            <a:r>
              <a:rPr lang="en-US" sz="2400" dirty="0">
                <a:latin typeface="Helvetica Neue"/>
              </a:rPr>
              <a:t> </a:t>
            </a:r>
            <a:r>
              <a:rPr lang="en-US" sz="2400" dirty="0" err="1">
                <a:latin typeface="Helvetica Neue"/>
              </a:rPr>
              <a:t>nét</a:t>
            </a:r>
            <a:r>
              <a:rPr lang="en-US" sz="2400" dirty="0">
                <a:latin typeface="Helvetica Neue"/>
              </a:rPr>
              <a:t> </a:t>
            </a:r>
            <a:r>
              <a:rPr lang="en-US" sz="2400" dirty="0" err="1">
                <a:latin typeface="Helvetica Neue"/>
              </a:rPr>
              <a:t>hơn</a:t>
            </a:r>
            <a:r>
              <a:rPr lang="en-US" sz="2400" dirty="0">
                <a:latin typeface="Helvetica Neue"/>
              </a:rPr>
              <a:t> Sobel, Prewitt.</a:t>
            </a:r>
            <a:br>
              <a:rPr lang="en-US" sz="2400" dirty="0">
                <a:latin typeface="Helvetica Neue"/>
              </a:rPr>
            </a:br>
            <a:r>
              <a:rPr lang="en-US" sz="2400" dirty="0">
                <a:latin typeface="Helvetica Neue"/>
              </a:rPr>
              <a:t>	❌ </a:t>
            </a:r>
            <a:r>
              <a:rPr lang="en-US" sz="2400" dirty="0" err="1">
                <a:latin typeface="Helvetica Neue"/>
              </a:rPr>
              <a:t>Nhạy</a:t>
            </a:r>
            <a:r>
              <a:rPr lang="en-US" sz="2400" dirty="0">
                <a:latin typeface="Helvetica Neue"/>
              </a:rPr>
              <a:t> </a:t>
            </a:r>
            <a:r>
              <a:rPr lang="en-US" sz="2400" dirty="0" err="1">
                <a:latin typeface="Helvetica Neue"/>
              </a:rPr>
              <a:t>với</a:t>
            </a:r>
            <a:r>
              <a:rPr lang="en-US" sz="2400" dirty="0">
                <a:latin typeface="Helvetica Neue"/>
              </a:rPr>
              <a:t> </a:t>
            </a:r>
            <a:r>
              <a:rPr lang="en-US" sz="2400" dirty="0" err="1">
                <a:latin typeface="Helvetica Neue"/>
              </a:rPr>
              <a:t>nhiễu</a:t>
            </a:r>
            <a:r>
              <a:rPr lang="en-US" sz="2400" dirty="0">
                <a:latin typeface="Helvetica Neue"/>
              </a:rPr>
              <a:t>, </a:t>
            </a:r>
            <a:r>
              <a:rPr lang="en-US" sz="2400" dirty="0" err="1">
                <a:latin typeface="Helvetica Neue"/>
              </a:rPr>
              <a:t>dễ</a:t>
            </a:r>
            <a:r>
              <a:rPr lang="en-US" sz="2400" dirty="0">
                <a:latin typeface="Helvetica Neue"/>
              </a:rPr>
              <a:t> phát </a:t>
            </a:r>
            <a:r>
              <a:rPr lang="en-US" sz="2400" dirty="0" err="1">
                <a:latin typeface="Helvetica Neue"/>
              </a:rPr>
              <a:t>hiện</a:t>
            </a:r>
            <a:r>
              <a:rPr lang="en-US" sz="2400" dirty="0">
                <a:latin typeface="Helvetica Neue"/>
              </a:rPr>
              <a:t> </a:t>
            </a:r>
            <a:r>
              <a:rPr lang="en-US" sz="2400" dirty="0" err="1">
                <a:latin typeface="Helvetica Neue"/>
              </a:rPr>
              <a:t>biên</a:t>
            </a:r>
            <a:r>
              <a:rPr lang="en-US" sz="2400" dirty="0">
                <a:latin typeface="Helvetica Neue"/>
              </a:rPr>
              <a:t> </a:t>
            </a:r>
            <a:r>
              <a:rPr lang="en-US" sz="2400" dirty="0" err="1">
                <a:latin typeface="Helvetica Neue"/>
              </a:rPr>
              <a:t>giả</a:t>
            </a:r>
            <a:r>
              <a:rPr lang="en-US" sz="2400" dirty="0">
                <a:latin typeface="Helvetica Neue"/>
              </a:rPr>
              <a:t>.</a:t>
            </a:r>
            <a:br>
              <a:rPr lang="en-US" sz="2400" dirty="0">
                <a:latin typeface="Helvetica Neue"/>
              </a:rPr>
            </a:br>
            <a:r>
              <a:rPr lang="en-US" sz="2400" dirty="0">
                <a:latin typeface="Helvetica Neue"/>
              </a:rPr>
              <a:t>	❌ </a:t>
            </a:r>
            <a:r>
              <a:rPr lang="en-US" sz="2400" dirty="0" err="1">
                <a:latin typeface="Helvetica Neue"/>
              </a:rPr>
              <a:t>Không</a:t>
            </a:r>
            <a:r>
              <a:rPr lang="en-US" sz="2400" dirty="0">
                <a:latin typeface="Helvetica Neue"/>
              </a:rPr>
              <a:t> </a:t>
            </a:r>
            <a:r>
              <a:rPr lang="en-US" sz="2400" dirty="0" err="1">
                <a:latin typeface="Helvetica Neue"/>
              </a:rPr>
              <a:t>xác</a:t>
            </a:r>
            <a:r>
              <a:rPr lang="en-US" sz="2400" dirty="0">
                <a:latin typeface="Helvetica Neue"/>
              </a:rPr>
              <a:t> </a:t>
            </a:r>
            <a:r>
              <a:rPr lang="en-US" sz="2400" dirty="0" err="1">
                <a:latin typeface="Helvetica Neue"/>
              </a:rPr>
              <a:t>định</a:t>
            </a:r>
            <a:r>
              <a:rPr lang="en-US" sz="2400" dirty="0">
                <a:latin typeface="Helvetica Neue"/>
              </a:rPr>
              <a:t> </a:t>
            </a:r>
            <a:r>
              <a:rPr lang="en-US" sz="2400" dirty="0" err="1">
                <a:latin typeface="Helvetica Neue"/>
              </a:rPr>
              <a:t>được</a:t>
            </a:r>
            <a:r>
              <a:rPr lang="en-US" sz="2400" dirty="0">
                <a:latin typeface="Helvetica Neue"/>
              </a:rPr>
              <a:t> </a:t>
            </a:r>
            <a:r>
              <a:rPr lang="en-US" sz="2400" dirty="0" err="1">
                <a:latin typeface="Helvetica Neue"/>
              </a:rPr>
              <a:t>hướng</a:t>
            </a:r>
            <a:r>
              <a:rPr lang="en-US" sz="2400" dirty="0">
                <a:latin typeface="Helvetica Neue"/>
              </a:rPr>
              <a:t> </a:t>
            </a:r>
            <a:r>
              <a:rPr lang="en-US" sz="2400" dirty="0" err="1">
                <a:latin typeface="Helvetica Neue"/>
              </a:rPr>
              <a:t>biên</a:t>
            </a:r>
            <a:r>
              <a:rPr lang="en-US" sz="2400" dirty="0">
                <a:latin typeface="Helvetica Neue"/>
              </a:rPr>
              <a:t>.</a:t>
            </a:r>
          </a:p>
          <a:p>
            <a:pPr marL="0" indent="0">
              <a:buNone/>
            </a:pPr>
            <a:endParaRPr lang="en-US" sz="2400" dirty="0">
              <a:latin typeface="Helvetica Neue"/>
            </a:endParaRPr>
          </a:p>
          <a:p>
            <a:pPr marL="0" indent="0">
              <a:buNone/>
            </a:pPr>
            <a:r>
              <a:rPr lang="en-US" sz="2400" b="1" dirty="0" err="1">
                <a:latin typeface="Helvetica Neue"/>
              </a:rPr>
              <a:t>Ứng</a:t>
            </a:r>
            <a:r>
              <a:rPr lang="en-US" sz="2400" b="1" dirty="0">
                <a:latin typeface="Helvetica Neue"/>
              </a:rPr>
              <a:t> </a:t>
            </a:r>
            <a:r>
              <a:rPr lang="en-US" sz="2400" b="1" dirty="0" err="1">
                <a:latin typeface="Helvetica Neue"/>
              </a:rPr>
              <a:t>dụng</a:t>
            </a:r>
            <a:endParaRPr lang="en-US" sz="2400" b="1" dirty="0">
              <a:latin typeface="Helvetica Neue"/>
            </a:endParaRPr>
          </a:p>
          <a:p>
            <a:pPr marL="0" indent="0">
              <a:buNone/>
            </a:pPr>
            <a:endParaRPr lang="en-US" sz="2400" b="1" dirty="0">
              <a:latin typeface="Helvetica Neue"/>
            </a:endParaRPr>
          </a:p>
          <a:p>
            <a:pPr lvl="1"/>
            <a:r>
              <a:rPr lang="en-US" sz="2116" dirty="0">
                <a:latin typeface="Helvetica Neue"/>
              </a:rPr>
              <a:t>Phát </a:t>
            </a:r>
            <a:r>
              <a:rPr lang="en-US" sz="2116" dirty="0" err="1">
                <a:latin typeface="Helvetica Neue"/>
              </a:rPr>
              <a:t>hiện</a:t>
            </a:r>
            <a:r>
              <a:rPr lang="en-US" sz="2116" dirty="0">
                <a:latin typeface="Helvetica Neue"/>
              </a:rPr>
              <a:t> </a:t>
            </a:r>
            <a:r>
              <a:rPr lang="en-US" sz="2116" dirty="0" err="1">
                <a:latin typeface="Helvetica Neue"/>
              </a:rPr>
              <a:t>cạnh</a:t>
            </a:r>
            <a:r>
              <a:rPr lang="en-US" sz="2116" dirty="0">
                <a:latin typeface="Helvetica Neue"/>
              </a:rPr>
              <a:t> trong </a:t>
            </a:r>
            <a:r>
              <a:rPr lang="en-US" sz="2116" dirty="0" err="1">
                <a:latin typeface="Helvetica Neue"/>
              </a:rPr>
              <a:t>ảnh</a:t>
            </a:r>
            <a:r>
              <a:rPr lang="en-US" sz="2116" dirty="0">
                <a:latin typeface="Helvetica Neue"/>
              </a:rPr>
              <a:t> y </a:t>
            </a:r>
            <a:r>
              <a:rPr lang="en-US" sz="2116" dirty="0" err="1">
                <a:latin typeface="Helvetica Neue"/>
              </a:rPr>
              <a:t>tế</a:t>
            </a:r>
            <a:r>
              <a:rPr lang="en-US" sz="2116" dirty="0">
                <a:latin typeface="Helvetica Neue"/>
              </a:rPr>
              <a:t>.</a:t>
            </a:r>
          </a:p>
          <a:p>
            <a:pPr lvl="1"/>
            <a:r>
              <a:rPr lang="en-US" sz="2116" dirty="0" err="1">
                <a:latin typeface="Helvetica Neue"/>
              </a:rPr>
              <a:t>Nhận</a:t>
            </a:r>
            <a:r>
              <a:rPr lang="en-US" sz="2116" dirty="0">
                <a:latin typeface="Helvetica Neue"/>
              </a:rPr>
              <a:t> </a:t>
            </a:r>
            <a:r>
              <a:rPr lang="en-US" sz="2116" dirty="0" err="1">
                <a:latin typeface="Helvetica Neue"/>
              </a:rPr>
              <a:t>diện</a:t>
            </a:r>
            <a:r>
              <a:rPr lang="en-US" sz="2116" dirty="0">
                <a:latin typeface="Helvetica Neue"/>
              </a:rPr>
              <a:t> </a:t>
            </a:r>
            <a:r>
              <a:rPr lang="en-US" sz="2116" dirty="0" err="1">
                <a:latin typeface="Helvetica Neue"/>
              </a:rPr>
              <a:t>ký</a:t>
            </a:r>
            <a:r>
              <a:rPr lang="en-US" sz="2116" dirty="0">
                <a:latin typeface="Helvetica Neue"/>
              </a:rPr>
              <a:t> </a:t>
            </a:r>
            <a:r>
              <a:rPr lang="en-US" sz="2116" dirty="0" err="1">
                <a:latin typeface="Helvetica Neue"/>
              </a:rPr>
              <a:t>tự</a:t>
            </a:r>
            <a:r>
              <a:rPr lang="en-US" sz="2116" dirty="0">
                <a:latin typeface="Helvetica Neue"/>
              </a:rPr>
              <a:t>.</a:t>
            </a:r>
          </a:p>
          <a:p>
            <a:pPr marL="0" indent="0">
              <a:buNone/>
            </a:pPr>
            <a:endParaRPr lang="en-US" sz="2400" dirty="0">
              <a:latin typeface="Helvetica Neue"/>
            </a:endParaRPr>
          </a:p>
        </p:txBody>
      </p:sp>
    </p:spTree>
    <p:extLst>
      <p:ext uri="{BB962C8B-B14F-4D97-AF65-F5344CB8AC3E}">
        <p14:creationId xmlns:p14="http://schemas.microsoft.com/office/powerpoint/2010/main" val="42062106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409700" y="2192476"/>
                <a:ext cx="10191750" cy="7408724"/>
              </a:xfrm>
            </p:spPr>
            <p:txBody>
              <a:bodyPr>
                <a:noAutofit/>
              </a:bodyPr>
              <a:lstStyle/>
              <a:p>
                <a:pPr marL="0" indent="0">
                  <a:buNone/>
                </a:pPr>
                <a:r>
                  <a:rPr lang="en-US" sz="2400" b="1" dirty="0" smtClean="0">
                    <a:latin typeface="Helvetica Neue"/>
                  </a:rPr>
                  <a:t>Giới</a:t>
                </a:r>
                <a:r>
                  <a:rPr lang="en-US" sz="2400" b="1" dirty="0">
                    <a:latin typeface="Helvetica Neue"/>
                  </a:rPr>
                  <a:t> </a:t>
                </a:r>
                <a:r>
                  <a:rPr lang="en-US" sz="2400" b="1" dirty="0" err="1">
                    <a:latin typeface="Helvetica Neue"/>
                  </a:rPr>
                  <a:t>thiệu</a:t>
                </a:r>
                <a:r>
                  <a:rPr lang="en-US" sz="2400" b="1" dirty="0">
                    <a:latin typeface="Helvetica Neue"/>
                  </a:rPr>
                  <a:t> </a:t>
                </a:r>
                <a:r>
                  <a:rPr lang="en-US" sz="2400" b="1" dirty="0" err="1">
                    <a:latin typeface="Helvetica Neue"/>
                  </a:rPr>
                  <a:t>chung</a:t>
                </a:r>
                <a:endParaRPr lang="en-US" sz="2400" b="1" dirty="0">
                  <a:latin typeface="Helvetica Neue"/>
                </a:endParaRPr>
              </a:p>
              <a:p>
                <a:r>
                  <a:rPr lang="en-US" sz="2400" dirty="0" err="1">
                    <a:latin typeface="Helvetica Neue"/>
                  </a:rPr>
                  <a:t>LoG</a:t>
                </a:r>
                <a:r>
                  <a:rPr lang="en-US" sz="2400" dirty="0">
                    <a:latin typeface="Helvetica Neue"/>
                  </a:rPr>
                  <a:t> </a:t>
                </a:r>
                <a:r>
                  <a:rPr lang="en-US" sz="2400" dirty="0" err="1">
                    <a:latin typeface="Helvetica Neue"/>
                  </a:rPr>
                  <a:t>khắc</a:t>
                </a:r>
                <a:r>
                  <a:rPr lang="en-US" sz="2400" dirty="0">
                    <a:latin typeface="Helvetica Neue"/>
                  </a:rPr>
                  <a:t> </a:t>
                </a:r>
                <a:r>
                  <a:rPr lang="en-US" sz="2400" dirty="0" err="1">
                    <a:latin typeface="Helvetica Neue"/>
                  </a:rPr>
                  <a:t>phục</a:t>
                </a:r>
                <a:r>
                  <a:rPr lang="en-US" sz="2400" dirty="0">
                    <a:latin typeface="Helvetica Neue"/>
                  </a:rPr>
                  <a:t> </a:t>
                </a:r>
                <a:r>
                  <a:rPr lang="en-US" sz="2400" dirty="0" err="1">
                    <a:latin typeface="Helvetica Neue"/>
                  </a:rPr>
                  <a:t>nhược</a:t>
                </a:r>
                <a:r>
                  <a:rPr lang="en-US" sz="2400" dirty="0">
                    <a:latin typeface="Helvetica Neue"/>
                  </a:rPr>
                  <a:t> </a:t>
                </a:r>
                <a:r>
                  <a:rPr lang="en-US" sz="2400" dirty="0" err="1">
                    <a:latin typeface="Helvetica Neue"/>
                  </a:rPr>
                  <a:t>điểm</a:t>
                </a:r>
                <a:r>
                  <a:rPr lang="en-US" sz="2400" dirty="0">
                    <a:latin typeface="Helvetica Neue"/>
                  </a:rPr>
                  <a:t> </a:t>
                </a:r>
                <a:r>
                  <a:rPr lang="en-US" sz="2400" dirty="0" err="1">
                    <a:latin typeface="Helvetica Neue"/>
                  </a:rPr>
                  <a:t>của</a:t>
                </a:r>
                <a:r>
                  <a:rPr lang="en-US" sz="2400" dirty="0">
                    <a:latin typeface="Helvetica Neue"/>
                  </a:rPr>
                  <a:t> Laplacian </a:t>
                </a:r>
                <a:r>
                  <a:rPr lang="en-US" sz="2400" dirty="0" err="1">
                    <a:latin typeface="Helvetica Neue"/>
                  </a:rPr>
                  <a:t>bằng</a:t>
                </a:r>
                <a:r>
                  <a:rPr lang="en-US" sz="2400" dirty="0">
                    <a:latin typeface="Helvetica Neue"/>
                  </a:rPr>
                  <a:t> </a:t>
                </a:r>
                <a:r>
                  <a:rPr lang="en-US" sz="2400" dirty="0" err="1">
                    <a:latin typeface="Helvetica Neue"/>
                  </a:rPr>
                  <a:t>cách</a:t>
                </a:r>
                <a:r>
                  <a:rPr lang="en-US" sz="2400" dirty="0">
                    <a:latin typeface="Helvetica Neue"/>
                  </a:rPr>
                  <a:t> làm </a:t>
                </a:r>
                <a:r>
                  <a:rPr lang="en-US" sz="2400" dirty="0" err="1">
                    <a:latin typeface="Helvetica Neue"/>
                  </a:rPr>
                  <a:t>mờ</a:t>
                </a:r>
                <a:r>
                  <a:rPr lang="en-US" sz="2400" dirty="0">
                    <a:latin typeface="Helvetica Neue"/>
                  </a:rPr>
                  <a:t> </a:t>
                </a:r>
                <a:r>
                  <a:rPr lang="en-US" sz="2400" dirty="0" err="1">
                    <a:latin typeface="Helvetica Neue"/>
                  </a:rPr>
                  <a:t>ảnh</a:t>
                </a:r>
                <a:r>
                  <a:rPr lang="en-US" sz="2400" dirty="0">
                    <a:latin typeface="Helvetica Neue"/>
                  </a:rPr>
                  <a:t> </a:t>
                </a:r>
                <a:r>
                  <a:rPr lang="en-US" sz="2400" dirty="0" err="1">
                    <a:latin typeface="Helvetica Neue"/>
                  </a:rPr>
                  <a:t>trước</a:t>
                </a:r>
                <a:r>
                  <a:rPr lang="en-US" sz="2400" dirty="0">
                    <a:latin typeface="Helvetica Neue"/>
                  </a:rPr>
                  <a:t> </a:t>
                </a:r>
                <a:r>
                  <a:rPr lang="en-US" sz="2400" dirty="0" err="1">
                    <a:latin typeface="Helvetica Neue"/>
                  </a:rPr>
                  <a:t>khi</a:t>
                </a:r>
                <a:r>
                  <a:rPr lang="en-US" sz="2400" dirty="0">
                    <a:latin typeface="Helvetica Neue"/>
                  </a:rPr>
                  <a:t> tính </a:t>
                </a:r>
                <a:r>
                  <a:rPr lang="en-US" sz="2400" dirty="0" err="1">
                    <a:latin typeface="Helvetica Neue"/>
                  </a:rPr>
                  <a:t>toán</a:t>
                </a:r>
                <a:r>
                  <a:rPr lang="en-US" sz="2400" dirty="0">
                    <a:latin typeface="Helvetica Neue"/>
                  </a:rPr>
                  <a:t>.</a:t>
                </a:r>
              </a:p>
              <a:p>
                <a:pPr marL="0" indent="0">
                  <a:buNone/>
                </a:pPr>
                <a:r>
                  <a:rPr lang="en-US" sz="2400" b="1" dirty="0" smtClean="0">
                    <a:latin typeface="Helvetica Neue"/>
                  </a:rPr>
                  <a:t>Nguyên </a:t>
                </a:r>
                <a:r>
                  <a:rPr lang="en-US" sz="2400" b="1" dirty="0" err="1">
                    <a:latin typeface="Helvetica Neue"/>
                  </a:rPr>
                  <a:t>lý</a:t>
                </a:r>
                <a:r>
                  <a:rPr lang="en-US" sz="2400" b="1" dirty="0">
                    <a:latin typeface="Helvetica Neue"/>
                  </a:rPr>
                  <a:t> </a:t>
                </a:r>
                <a:r>
                  <a:rPr lang="en-US" sz="2400" b="1" dirty="0" err="1">
                    <a:latin typeface="Helvetica Neue"/>
                  </a:rPr>
                  <a:t>hoạt</a:t>
                </a:r>
                <a:r>
                  <a:rPr lang="en-US" sz="2400" b="1" dirty="0">
                    <a:latin typeface="Helvetica Neue"/>
                  </a:rPr>
                  <a:t> </a:t>
                </a:r>
                <a:r>
                  <a:rPr lang="en-US" sz="2400" b="1" dirty="0" err="1">
                    <a:latin typeface="Helvetica Neue"/>
                  </a:rPr>
                  <a:t>động</a:t>
                </a:r>
                <a:endParaRPr lang="en-US" sz="2400" b="1" dirty="0">
                  <a:latin typeface="Helvetica Neue"/>
                </a:endParaRPr>
              </a:p>
              <a:p>
                <a:r>
                  <a:rPr lang="en-US" sz="2400" dirty="0" err="1">
                    <a:latin typeface="Helvetica Neue"/>
                  </a:rPr>
                  <a:t>LoG</a:t>
                </a:r>
                <a:r>
                  <a:rPr lang="en-US" sz="2400" dirty="0">
                    <a:latin typeface="Helvetica Neue"/>
                  </a:rPr>
                  <a:t> = Laplacian(Gaussian(</a:t>
                </a:r>
                <a:r>
                  <a:rPr lang="en-US" sz="2400" dirty="0" err="1">
                    <a:latin typeface="Helvetica Neue"/>
                  </a:rPr>
                  <a:t>ảnh</a:t>
                </a:r>
                <a:r>
                  <a:rPr lang="en-US" sz="2400" dirty="0">
                    <a:latin typeface="Helvetica Neue"/>
                  </a:rPr>
                  <a:t>)). </a:t>
                </a:r>
                <a:r>
                  <a:rPr lang="en-US" sz="2400" dirty="0" err="1">
                    <a:latin typeface="Helvetica Neue"/>
                  </a:rPr>
                  <a:t>Công</a:t>
                </a:r>
                <a:r>
                  <a:rPr lang="en-US" sz="2400" dirty="0">
                    <a:latin typeface="Helvetica Neue"/>
                  </a:rPr>
                  <a:t> </a:t>
                </a:r>
                <a:r>
                  <a:rPr lang="en-US" sz="2400" dirty="0" err="1">
                    <a:latin typeface="Helvetica Neue"/>
                  </a:rPr>
                  <a:t>thức</a:t>
                </a:r>
                <a:r>
                  <a:rPr lang="en-US" sz="2400" dirty="0">
                    <a:latin typeface="Helvetica Neue"/>
                  </a:rPr>
                  <a:t>:</a:t>
                </a:r>
              </a:p>
              <a:p>
                <a:pPr marL="0" indent="0">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𝐿𝑜𝐺</m:t>
                      </m:r>
                      <m:d>
                        <m:dPr>
                          <m:ctrlPr>
                            <a:rPr lang="en-US" sz="2400" i="1">
                              <a:latin typeface="Cambria Math" panose="02040503050406030204" pitchFamily="18" charset="0"/>
                            </a:rPr>
                          </m:ctrlPr>
                        </m:dPr>
                        <m:e>
                          <m:r>
                            <a:rPr lang="en-US" sz="2400" i="1">
                              <a:latin typeface="Cambria Math" panose="02040503050406030204" pitchFamily="18" charset="0"/>
                            </a:rPr>
                            <m:t>𝑥</m:t>
                          </m:r>
                          <m:r>
                            <a:rPr lang="en-US" sz="2400">
                              <a:latin typeface="Cambria Math" panose="02040503050406030204" pitchFamily="18" charset="0"/>
                            </a:rPr>
                            <m:t>,</m:t>
                          </m:r>
                          <m:r>
                            <a:rPr lang="en-US" sz="2400" i="1">
                              <a:latin typeface="Cambria Math" panose="02040503050406030204" pitchFamily="18" charset="0"/>
                            </a:rPr>
                            <m:t>𝑦</m:t>
                          </m:r>
                        </m:e>
                      </m:d>
                      <m:r>
                        <a:rPr lang="en-US" sz="2400">
                          <a:latin typeface="Cambria Math" panose="02040503050406030204" pitchFamily="18" charset="0"/>
                        </a:rPr>
                        <m:t>=</m:t>
                      </m:r>
                      <m:sSup>
                        <m:sSupPr>
                          <m:ctrlPr>
                            <a:rPr lang="en-US" sz="2400" i="1">
                              <a:latin typeface="Cambria Math" panose="02040503050406030204" pitchFamily="18" charset="0"/>
                            </a:rPr>
                          </m:ctrlPr>
                        </m:sSupPr>
                        <m:e>
                          <m:r>
                            <a:rPr lang="en-US" sz="2400">
                              <a:latin typeface="Cambria Math" panose="02040503050406030204" pitchFamily="18" charset="0"/>
                            </a:rPr>
                            <m:t>𝛻</m:t>
                          </m:r>
                        </m:e>
                        <m:sup>
                          <m:r>
                            <a:rPr lang="en-US" sz="2400" i="1">
                              <a:latin typeface="Cambria Math" panose="02040503050406030204" pitchFamily="18" charset="0"/>
                            </a:rPr>
                            <m:t>2</m:t>
                          </m:r>
                        </m:sup>
                      </m:sSup>
                      <m:d>
                        <m:dPr>
                          <m:ctrlPr>
                            <a:rPr lang="en-US" sz="2400" i="1">
                              <a:latin typeface="Cambria Math" panose="02040503050406030204" pitchFamily="18" charset="0"/>
                            </a:rPr>
                          </m:ctrlPr>
                        </m:dPr>
                        <m:e>
                          <m:r>
                            <a:rPr lang="en-US" sz="2400" i="1">
                              <a:latin typeface="Cambria Math" panose="02040503050406030204" pitchFamily="18" charset="0"/>
                            </a:rPr>
                            <m:t>𝐺</m:t>
                          </m:r>
                          <m:d>
                            <m:dPr>
                              <m:ctrlPr>
                                <a:rPr lang="en-US" sz="2400" i="1">
                                  <a:latin typeface="Cambria Math" panose="02040503050406030204" pitchFamily="18" charset="0"/>
                                </a:rPr>
                              </m:ctrlPr>
                            </m:dPr>
                            <m:e>
                              <m:r>
                                <a:rPr lang="en-US" sz="2400" i="1">
                                  <a:latin typeface="Cambria Math" panose="02040503050406030204" pitchFamily="18" charset="0"/>
                                </a:rPr>
                                <m:t>𝑥</m:t>
                              </m:r>
                              <m:r>
                                <a:rPr lang="en-US" sz="2400">
                                  <a:latin typeface="Cambria Math" panose="02040503050406030204" pitchFamily="18" charset="0"/>
                                </a:rPr>
                                <m:t>,</m:t>
                              </m:r>
                              <m:r>
                                <a:rPr lang="en-US" sz="2400" i="1">
                                  <a:latin typeface="Cambria Math" panose="02040503050406030204" pitchFamily="18" charset="0"/>
                                </a:rPr>
                                <m:t>𝑦</m:t>
                              </m:r>
                            </m:e>
                          </m:d>
                          <m:r>
                            <a:rPr lang="en-US" sz="2400" i="1">
                              <a:latin typeface="Cambria Math" panose="02040503050406030204" pitchFamily="18" charset="0"/>
                            </a:rPr>
                            <m:t>∗</m:t>
                          </m:r>
                          <m:r>
                            <a:rPr lang="en-US" sz="2400" i="1">
                              <a:latin typeface="Cambria Math" panose="02040503050406030204" pitchFamily="18" charset="0"/>
                            </a:rPr>
                            <m:t>𝐼</m:t>
                          </m:r>
                          <m:d>
                            <m:dPr>
                              <m:ctrlPr>
                                <a:rPr lang="en-US" sz="2400" i="1">
                                  <a:latin typeface="Cambria Math" panose="02040503050406030204" pitchFamily="18" charset="0"/>
                                </a:rPr>
                              </m:ctrlPr>
                            </m:dPr>
                            <m:e>
                              <m:r>
                                <a:rPr lang="en-US" sz="2400" i="1">
                                  <a:latin typeface="Cambria Math" panose="02040503050406030204" pitchFamily="18" charset="0"/>
                                </a:rPr>
                                <m:t>𝑥</m:t>
                              </m:r>
                              <m:r>
                                <a:rPr lang="en-US" sz="2400">
                                  <a:latin typeface="Cambria Math" panose="02040503050406030204" pitchFamily="18" charset="0"/>
                                </a:rPr>
                                <m:t>,</m:t>
                              </m:r>
                              <m:r>
                                <a:rPr lang="en-US" sz="2400" i="1">
                                  <a:latin typeface="Cambria Math" panose="02040503050406030204" pitchFamily="18" charset="0"/>
                                </a:rPr>
                                <m:t>𝑦</m:t>
                              </m:r>
                            </m:e>
                          </m:d>
                        </m:e>
                      </m:d>
                    </m:oMath>
                  </m:oMathPara>
                </a14:m>
                <a:endParaRPr lang="en-US" sz="2400" dirty="0" smtClean="0">
                  <a:latin typeface="Helvetica Neue"/>
                </a:endParaRPr>
              </a:p>
              <a:p>
                <a:pPr marL="568951" lvl="1" indent="0">
                  <a:buNone/>
                </a:pPr>
                <a:r>
                  <a:rPr lang="en-US" sz="2400" dirty="0" smtClean="0">
                    <a:latin typeface="Helvetica Neue"/>
                  </a:rPr>
                  <a:t>-G(</a:t>
                </a:r>
                <a:r>
                  <a:rPr lang="en-US" sz="2400" dirty="0" err="1" smtClean="0">
                    <a:latin typeface="Helvetica Neue"/>
                  </a:rPr>
                  <a:t>x,y</a:t>
                </a:r>
                <a:r>
                  <a:rPr lang="en-US" sz="2400" dirty="0">
                    <a:latin typeface="Helvetica Neue"/>
                  </a:rPr>
                  <a:t>): </a:t>
                </a:r>
                <a:r>
                  <a:rPr lang="en-US" sz="2400" dirty="0" err="1">
                    <a:latin typeface="Helvetica Neue"/>
                  </a:rPr>
                  <a:t>Hàm</a:t>
                </a:r>
                <a:r>
                  <a:rPr lang="en-US" sz="2400" dirty="0">
                    <a:latin typeface="Helvetica Neue"/>
                  </a:rPr>
                  <a:t> Gaussian (</a:t>
                </a:r>
                <a:r>
                  <a:rPr lang="en-US" sz="2400" dirty="0" err="1">
                    <a:latin typeface="Helvetica Neue"/>
                  </a:rPr>
                  <a:t>lọc</a:t>
                </a:r>
                <a:r>
                  <a:rPr lang="en-US" sz="2400" dirty="0">
                    <a:latin typeface="Helvetica Neue"/>
                  </a:rPr>
                  <a:t> làm </a:t>
                </a:r>
                <a:r>
                  <a:rPr lang="en-US" sz="2400" dirty="0" err="1">
                    <a:latin typeface="Helvetica Neue"/>
                  </a:rPr>
                  <a:t>mịn</a:t>
                </a:r>
                <a:r>
                  <a:rPr lang="en-US" sz="2400" dirty="0">
                    <a:latin typeface="Helvetica Neue"/>
                  </a:rPr>
                  <a:t> </a:t>
                </a:r>
                <a:r>
                  <a:rPr lang="en-US" sz="2400" dirty="0" err="1">
                    <a:latin typeface="Helvetica Neue"/>
                  </a:rPr>
                  <a:t>ảnh</a:t>
                </a:r>
                <a:r>
                  <a:rPr lang="en-US" sz="2400" dirty="0" smtClean="0">
                    <a:latin typeface="Helvetica Neue"/>
                  </a:rPr>
                  <a:t>)</a:t>
                </a:r>
              </a:p>
              <a:p>
                <a:pPr marL="568951" lvl="1" indent="0">
                  <a:buNone/>
                </a:pPr>
                <a:r>
                  <a:rPr lang="en-US" sz="2400" dirty="0" smtClean="0">
                    <a:latin typeface="Helvetica Neue"/>
                  </a:rPr>
                  <a:t>-I(</a:t>
                </a:r>
                <a:r>
                  <a:rPr lang="en-US" sz="2400" dirty="0" err="1" smtClean="0">
                    <a:latin typeface="Helvetica Neue"/>
                  </a:rPr>
                  <a:t>x,y</a:t>
                </a:r>
                <a:r>
                  <a:rPr lang="en-US" sz="2400" dirty="0" smtClean="0">
                    <a:latin typeface="Helvetica Neue"/>
                  </a:rPr>
                  <a:t>): </a:t>
                </a:r>
                <a:r>
                  <a:rPr lang="en-US" sz="2400" dirty="0" err="1">
                    <a:latin typeface="Helvetica Neue"/>
                  </a:rPr>
                  <a:t>Ảnh</a:t>
                </a:r>
                <a:r>
                  <a:rPr lang="en-US" sz="2400" dirty="0">
                    <a:latin typeface="Helvetica Neue"/>
                  </a:rPr>
                  <a:t> đầu </a:t>
                </a:r>
                <a:r>
                  <a:rPr lang="en-US" sz="2400" dirty="0" smtClean="0">
                    <a:latin typeface="Helvetica Neue"/>
                  </a:rPr>
                  <a:t>vào</a:t>
                </a:r>
              </a:p>
              <a:p>
                <a:pPr marL="568951" lvl="1" indent="0">
                  <a:buNone/>
                </a:pPr>
                <a:r>
                  <a:rPr lang="en-US" sz="2400" dirty="0" smtClean="0">
                    <a:latin typeface="Helvetica Neue"/>
                  </a:rPr>
                  <a:t>-G(</a:t>
                </a:r>
                <a:r>
                  <a:rPr lang="en-US" sz="2400" dirty="0" err="1" smtClean="0">
                    <a:latin typeface="Helvetica Neue"/>
                  </a:rPr>
                  <a:t>x,y</a:t>
                </a:r>
                <a:r>
                  <a:rPr lang="en-US" sz="2400" dirty="0">
                    <a:latin typeface="Helvetica Neue"/>
                  </a:rPr>
                  <a:t>)∗I(</a:t>
                </a:r>
                <a:r>
                  <a:rPr lang="en-US" sz="2400" dirty="0" err="1">
                    <a:latin typeface="Helvetica Neue"/>
                  </a:rPr>
                  <a:t>x,y</a:t>
                </a:r>
                <a:r>
                  <a:rPr lang="en-US" sz="2400" dirty="0">
                    <a:latin typeface="Helvetica Neue"/>
                  </a:rPr>
                  <a:t>): </a:t>
                </a:r>
                <a:r>
                  <a:rPr lang="en-US" sz="2400" dirty="0" err="1">
                    <a:latin typeface="Helvetica Neue"/>
                  </a:rPr>
                  <a:t>Kết</a:t>
                </a:r>
                <a:r>
                  <a:rPr lang="en-US" sz="2400" dirty="0">
                    <a:latin typeface="Helvetica Neue"/>
                  </a:rPr>
                  <a:t> </a:t>
                </a:r>
                <a:r>
                  <a:rPr lang="en-US" sz="2400" dirty="0" err="1">
                    <a:latin typeface="Helvetica Neue"/>
                  </a:rPr>
                  <a:t>quả</a:t>
                </a:r>
                <a:r>
                  <a:rPr lang="en-US" sz="2400" dirty="0">
                    <a:latin typeface="Helvetica Neue"/>
                  </a:rPr>
                  <a:t> </a:t>
                </a:r>
                <a:r>
                  <a:rPr lang="en-US" sz="2400" dirty="0" err="1">
                    <a:latin typeface="Helvetica Neue"/>
                  </a:rPr>
                  <a:t>của</a:t>
                </a:r>
                <a:r>
                  <a:rPr lang="en-US" sz="2400" dirty="0">
                    <a:latin typeface="Helvetica Neue"/>
                  </a:rPr>
                  <a:t> </a:t>
                </a:r>
                <a:r>
                  <a:rPr lang="en-US" sz="2400" dirty="0" err="1">
                    <a:latin typeface="Helvetica Neue"/>
                  </a:rPr>
                  <a:t>việc</a:t>
                </a:r>
                <a:r>
                  <a:rPr lang="en-US" sz="2400" dirty="0">
                    <a:latin typeface="Helvetica Neue"/>
                  </a:rPr>
                  <a:t> làm </a:t>
                </a:r>
                <a:r>
                  <a:rPr lang="en-US" sz="2400" dirty="0" err="1">
                    <a:latin typeface="Helvetica Neue"/>
                  </a:rPr>
                  <a:t>mịn</a:t>
                </a:r>
                <a:r>
                  <a:rPr lang="en-US" sz="2400" dirty="0">
                    <a:latin typeface="Helvetica Neue"/>
                  </a:rPr>
                  <a:t> </a:t>
                </a:r>
                <a:r>
                  <a:rPr lang="en-US" sz="2400" dirty="0" err="1">
                    <a:latin typeface="Helvetica Neue"/>
                  </a:rPr>
                  <a:t>ảnh</a:t>
                </a:r>
                <a:r>
                  <a:rPr lang="en-US" sz="2400" dirty="0">
                    <a:latin typeface="Helvetica Neue"/>
                  </a:rPr>
                  <a:t> </a:t>
                </a:r>
                <a:r>
                  <a:rPr lang="en-US" sz="2400" dirty="0" err="1">
                    <a:latin typeface="Helvetica Neue"/>
                  </a:rPr>
                  <a:t>bằng</a:t>
                </a:r>
                <a:r>
                  <a:rPr lang="en-US" sz="2400" dirty="0">
                    <a:latin typeface="Helvetica Neue"/>
                  </a:rPr>
                  <a:t> </a:t>
                </a:r>
                <a:r>
                  <a:rPr lang="en-US" sz="2400" dirty="0" err="1">
                    <a:latin typeface="Helvetica Neue"/>
                  </a:rPr>
                  <a:t>bộ</a:t>
                </a:r>
                <a:r>
                  <a:rPr lang="en-US" sz="2400" dirty="0">
                    <a:latin typeface="Helvetica Neue"/>
                  </a:rPr>
                  <a:t> </a:t>
                </a:r>
                <a:r>
                  <a:rPr lang="en-US" sz="2400" dirty="0" err="1">
                    <a:latin typeface="Helvetica Neue"/>
                  </a:rPr>
                  <a:t>lọc</a:t>
                </a:r>
                <a:r>
                  <a:rPr lang="en-US" sz="2400" dirty="0">
                    <a:latin typeface="Helvetica Neue"/>
                  </a:rPr>
                  <a:t> Gaussian</a:t>
                </a:r>
                <a:r>
                  <a:rPr lang="en-US" sz="2400" dirty="0" smtClean="0">
                    <a:latin typeface="Helvetica Neue"/>
                  </a:rPr>
                  <a:t>.</a:t>
                </a:r>
              </a:p>
              <a:p>
                <a:pPr marL="0" indent="0">
                  <a:buNone/>
                </a:pPr>
                <a:r>
                  <a:rPr lang="en-US" sz="2400" b="1" dirty="0" smtClean="0">
                    <a:latin typeface="Helvetica Neue"/>
                  </a:rPr>
                  <a:t>	-</a:t>
                </a:r>
                <a14:m>
                  <m:oMath xmlns:m="http://schemas.openxmlformats.org/officeDocument/2006/math">
                    <m:sSup>
                      <m:sSupPr>
                        <m:ctrlPr>
                          <a:rPr lang="en-US" sz="2400" i="1">
                            <a:latin typeface="Helvetica Neue"/>
                          </a:rPr>
                        </m:ctrlPr>
                      </m:sSupPr>
                      <m:e>
                        <m:r>
                          <a:rPr lang="en-US" sz="2400">
                            <a:latin typeface="Helvetica Neue"/>
                          </a:rPr>
                          <m:t>𝛻</m:t>
                        </m:r>
                      </m:e>
                      <m:sup>
                        <m:r>
                          <a:rPr lang="en-US" sz="2400" i="1">
                            <a:latin typeface="Helvetica Neue"/>
                          </a:rPr>
                          <m:t>2</m:t>
                        </m:r>
                      </m:sup>
                    </m:sSup>
                    <m:r>
                      <a:rPr lang="en-US" sz="2400" b="1" i="0" smtClean="0">
                        <a:latin typeface="Helvetica Neue"/>
                      </a:rPr>
                      <m:t>:</m:t>
                    </m:r>
                    <m:r>
                      <m:rPr>
                        <m:sty m:val="p"/>
                      </m:rPr>
                      <a:rPr lang="en-US" sz="2400" b="0" i="0" smtClean="0">
                        <a:latin typeface="Helvetica Neue"/>
                      </a:rPr>
                      <m:t>To</m:t>
                    </m:r>
                    <m:r>
                      <a:rPr lang="en-US" sz="2400" b="0" i="0" smtClean="0">
                        <a:latin typeface="Helvetica Neue"/>
                      </a:rPr>
                      <m:t>á</m:t>
                    </m:r>
                    <m:r>
                      <m:rPr>
                        <m:sty m:val="p"/>
                      </m:rPr>
                      <a:rPr lang="en-US" sz="2400" b="0" i="0" smtClean="0">
                        <a:latin typeface="Helvetica Neue"/>
                      </a:rPr>
                      <m:t>n</m:t>
                    </m:r>
                    <m:r>
                      <a:rPr lang="en-US" sz="2400" b="0" i="0" smtClean="0">
                        <a:latin typeface="Helvetica Neue"/>
                      </a:rPr>
                      <m:t> </m:t>
                    </m:r>
                    <m:r>
                      <m:rPr>
                        <m:sty m:val="p"/>
                      </m:rPr>
                      <a:rPr lang="en-US" sz="2400" b="0" i="0" smtClean="0">
                        <a:latin typeface="Helvetica Neue"/>
                      </a:rPr>
                      <m:t>t</m:t>
                    </m:r>
                    <m:r>
                      <a:rPr lang="en-US" sz="2400" b="0" i="0" smtClean="0">
                        <a:latin typeface="Helvetica Neue"/>
                      </a:rPr>
                      <m:t>ử </m:t>
                    </m:r>
                    <m:r>
                      <m:rPr>
                        <m:sty m:val="p"/>
                      </m:rPr>
                      <a:rPr lang="en-US" sz="2400" b="0" i="0" smtClean="0">
                        <a:latin typeface="Helvetica Neue"/>
                      </a:rPr>
                      <m:t>laplacian</m:t>
                    </m:r>
                    <m:r>
                      <a:rPr lang="en-US" sz="2400" b="0" i="0" smtClean="0">
                        <a:latin typeface="Helvetica Neue"/>
                      </a:rPr>
                      <m:t> (</m:t>
                    </m:r>
                    <m:r>
                      <m:rPr>
                        <m:sty m:val="p"/>
                      </m:rPr>
                      <a:rPr lang="en-US" sz="2400" b="0" i="0" smtClean="0">
                        <a:latin typeface="Helvetica Neue"/>
                      </a:rPr>
                      <m:t>Ph</m:t>
                    </m:r>
                    <m:r>
                      <a:rPr lang="en-US" sz="2400" b="0" i="0" smtClean="0">
                        <a:latin typeface="Helvetica Neue"/>
                      </a:rPr>
                      <m:t>é</m:t>
                    </m:r>
                    <m:r>
                      <m:rPr>
                        <m:sty m:val="p"/>
                      </m:rPr>
                      <a:rPr lang="en-US" sz="2400" b="0" i="0" smtClean="0">
                        <a:latin typeface="Helvetica Neue"/>
                      </a:rPr>
                      <m:t>p</m:t>
                    </m:r>
                    <m:r>
                      <a:rPr lang="en-US" sz="2400" b="0" i="0" smtClean="0">
                        <a:latin typeface="Helvetica Neue"/>
                      </a:rPr>
                      <m:t> đạ</m:t>
                    </m:r>
                    <m:r>
                      <m:rPr>
                        <m:sty m:val="p"/>
                      </m:rPr>
                      <a:rPr lang="en-US" sz="2400" b="0" i="0" smtClean="0">
                        <a:latin typeface="Helvetica Neue"/>
                      </a:rPr>
                      <m:t>o</m:t>
                    </m:r>
                    <m:r>
                      <a:rPr lang="en-US" sz="2400" b="0" i="0" smtClean="0">
                        <a:latin typeface="Helvetica Neue"/>
                      </a:rPr>
                      <m:t> </m:t>
                    </m:r>
                    <m:r>
                      <m:rPr>
                        <m:sty m:val="p"/>
                      </m:rPr>
                      <a:rPr lang="en-US" sz="2400" b="0" i="0" smtClean="0">
                        <a:latin typeface="Helvetica Neue"/>
                      </a:rPr>
                      <m:t>h</m:t>
                    </m:r>
                    <m:r>
                      <a:rPr lang="en-US" sz="2400" b="0" i="0" smtClean="0">
                        <a:latin typeface="Helvetica Neue"/>
                      </a:rPr>
                      <m:t>à</m:t>
                    </m:r>
                    <m:r>
                      <m:rPr>
                        <m:sty m:val="p"/>
                      </m:rPr>
                      <a:rPr lang="en-US" sz="2400" b="0" i="0" smtClean="0">
                        <a:latin typeface="Helvetica Neue"/>
                      </a:rPr>
                      <m:t>m</m:t>
                    </m:r>
                    <m:r>
                      <a:rPr lang="en-US" sz="2400" b="0" i="0" smtClean="0">
                        <a:latin typeface="Helvetica Neue"/>
                      </a:rPr>
                      <m:t> </m:t>
                    </m:r>
                    <m:r>
                      <m:rPr>
                        <m:sty m:val="p"/>
                      </m:rPr>
                      <a:rPr lang="en-US" sz="2400" b="0" i="0" smtClean="0">
                        <a:latin typeface="Helvetica Neue"/>
                      </a:rPr>
                      <m:t>b</m:t>
                    </m:r>
                    <m:r>
                      <a:rPr lang="en-US" sz="2400" b="0" i="0" smtClean="0">
                        <a:latin typeface="Helvetica Neue"/>
                      </a:rPr>
                      <m:t>ậ</m:t>
                    </m:r>
                    <m:r>
                      <m:rPr>
                        <m:sty m:val="p"/>
                      </m:rPr>
                      <a:rPr lang="en-US" sz="2400" b="0" i="0" smtClean="0">
                        <a:latin typeface="Helvetica Neue"/>
                      </a:rPr>
                      <m:t>c</m:t>
                    </m:r>
                    <m:r>
                      <a:rPr lang="en-US" sz="2400" b="0" i="0" smtClean="0">
                        <a:latin typeface="Helvetica Neue"/>
                      </a:rPr>
                      <m:t> 2 </m:t>
                    </m:r>
                    <m:r>
                      <m:rPr>
                        <m:sty m:val="p"/>
                      </m:rPr>
                      <a:rPr lang="en-US" sz="2400" b="0" i="0" smtClean="0">
                        <a:latin typeface="Helvetica Neue"/>
                      </a:rPr>
                      <m:t>t</m:t>
                    </m:r>
                    <m:r>
                      <a:rPr lang="en-US" sz="2400" b="0" i="0" smtClean="0">
                        <a:latin typeface="Helvetica Neue"/>
                      </a:rPr>
                      <m:t>ổ</m:t>
                    </m:r>
                    <m:r>
                      <m:rPr>
                        <m:sty m:val="p"/>
                      </m:rPr>
                      <a:rPr lang="en-US" sz="2400" b="0" i="0" smtClean="0">
                        <a:latin typeface="Helvetica Neue"/>
                      </a:rPr>
                      <m:t>ng</m:t>
                    </m:r>
                    <m:r>
                      <a:rPr lang="en-US" sz="2400" b="0" i="0" smtClean="0">
                        <a:latin typeface="Helvetica Neue"/>
                      </a:rPr>
                      <m:t> </m:t>
                    </m:r>
                    <m:r>
                      <m:rPr>
                        <m:sty m:val="p"/>
                      </m:rPr>
                      <a:rPr lang="en-US" sz="2400" b="0" i="0" smtClean="0">
                        <a:latin typeface="Helvetica Neue"/>
                      </a:rPr>
                      <m:t>qu</m:t>
                    </m:r>
                    <m:r>
                      <a:rPr lang="en-US" sz="2400" b="0" i="0" smtClean="0">
                        <a:latin typeface="Helvetica Neue"/>
                      </a:rPr>
                      <m:t>á</m:t>
                    </m:r>
                    <m:r>
                      <m:rPr>
                        <m:sty m:val="p"/>
                      </m:rPr>
                      <a:rPr lang="en-US" sz="2400" b="0" i="0" smtClean="0">
                        <a:latin typeface="Helvetica Neue"/>
                      </a:rPr>
                      <m:t>t</m:t>
                    </m:r>
                    <m:r>
                      <a:rPr lang="en-US" sz="2400" b="0" i="0" smtClean="0">
                        <a:latin typeface="Helvetica Neue"/>
                      </a:rPr>
                      <m:t>)</m:t>
                    </m:r>
                  </m:oMath>
                </a14:m>
                <a:endParaRPr lang="en-US" sz="2400" dirty="0">
                  <a:latin typeface="Helvetica Neue"/>
                </a:endParaRPr>
              </a:p>
              <a:p>
                <a:pPr marL="0" indent="0">
                  <a:buNone/>
                </a:pPr>
                <a:r>
                  <a:rPr lang="en-US" sz="2400" b="1" dirty="0" err="1" smtClean="0">
                    <a:latin typeface="Helvetica Neue"/>
                  </a:rPr>
                  <a:t>Mặt</a:t>
                </a:r>
                <a:r>
                  <a:rPr lang="en-US" sz="2400" b="1" dirty="0" smtClean="0">
                    <a:latin typeface="Helvetica Neue"/>
                  </a:rPr>
                  <a:t> </a:t>
                </a:r>
                <a:r>
                  <a:rPr lang="en-US" sz="2400" b="1" dirty="0" err="1">
                    <a:latin typeface="Helvetica Neue"/>
                  </a:rPr>
                  <a:t>nạ</a:t>
                </a:r>
                <a:r>
                  <a:rPr lang="en-US" sz="2400" b="1" dirty="0">
                    <a:latin typeface="Helvetica Neue"/>
                  </a:rPr>
                  <a:t> </a:t>
                </a:r>
                <a:r>
                  <a:rPr lang="en-US" sz="2400" b="1" dirty="0" err="1">
                    <a:latin typeface="Helvetica Neue"/>
                  </a:rPr>
                  <a:t>LoG</a:t>
                </a:r>
                <a:r>
                  <a:rPr lang="en-US" sz="2400" b="1" dirty="0">
                    <a:latin typeface="Helvetica Neue"/>
                  </a:rPr>
                  <a:t> (5×5)</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m>
                            <m:mPr>
                              <m:plcHide m:val="on"/>
                              <m:mcs>
                                <m:mc>
                                  <m:mcPr>
                                    <m:count m:val="5"/>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−1</m:t>
                                </m:r>
                              </m:e>
                              <m:e>
                                <m:r>
                                  <a:rPr lang="en-US" sz="2400" i="1">
                                    <a:latin typeface="Cambria Math" panose="02040503050406030204" pitchFamily="18" charset="0"/>
                                  </a:rPr>
                                  <m:t>0</m:t>
                                </m:r>
                              </m:e>
                              <m:e>
                                <m:r>
                                  <a:rPr lang="en-US" sz="2400" i="1">
                                    <a:latin typeface="Cambria Math" panose="02040503050406030204" pitchFamily="18" charset="0"/>
                                  </a:rPr>
                                  <m:t>0</m:t>
                                </m:r>
                              </m:e>
                            </m:mr>
                            <m:mr>
                              <m:e>
                                <m:r>
                                  <a:rPr lang="en-US" sz="2400" i="1">
                                    <a:latin typeface="Cambria Math" panose="02040503050406030204" pitchFamily="18" charset="0"/>
                                  </a:rPr>
                                  <m:t>0</m:t>
                                </m:r>
                              </m:e>
                              <m:e>
                                <m:r>
                                  <a:rPr lang="en-US" sz="2400" i="1">
                                    <a:latin typeface="Cambria Math" panose="02040503050406030204" pitchFamily="18" charset="0"/>
                                  </a:rPr>
                                  <m:t>−1</m:t>
                                </m:r>
                              </m:e>
                              <m:e>
                                <m:r>
                                  <a:rPr lang="en-US" sz="2400" i="1">
                                    <a:latin typeface="Cambria Math" panose="02040503050406030204" pitchFamily="18" charset="0"/>
                                  </a:rPr>
                                  <m:t>−2</m:t>
                                </m:r>
                              </m:e>
                              <m:e>
                                <m:r>
                                  <a:rPr lang="en-US" sz="2400" i="1">
                                    <a:latin typeface="Cambria Math" panose="02040503050406030204" pitchFamily="18" charset="0"/>
                                  </a:rPr>
                                  <m:t>−1</m:t>
                                </m:r>
                              </m:e>
                              <m:e>
                                <m:r>
                                  <a:rPr lang="en-US" sz="2400" i="1">
                                    <a:latin typeface="Cambria Math" panose="02040503050406030204" pitchFamily="18" charset="0"/>
                                  </a:rPr>
                                  <m:t>0</m:t>
                                </m:r>
                              </m:e>
                            </m:mr>
                            <m:mr>
                              <m:e>
                                <m:r>
                                  <a:rPr lang="en-US" sz="2400" i="1">
                                    <a:latin typeface="Cambria Math" panose="02040503050406030204" pitchFamily="18" charset="0"/>
                                  </a:rPr>
                                  <m:t>−1</m:t>
                                </m:r>
                              </m:e>
                              <m:e>
                                <m:r>
                                  <a:rPr lang="en-US" sz="2400" i="1">
                                    <a:latin typeface="Cambria Math" panose="02040503050406030204" pitchFamily="18" charset="0"/>
                                  </a:rPr>
                                  <m:t>−2</m:t>
                                </m:r>
                              </m:e>
                              <m:e>
                                <m:r>
                                  <a:rPr lang="en-US" sz="2400" i="1">
                                    <a:latin typeface="Cambria Math" panose="02040503050406030204" pitchFamily="18" charset="0"/>
                                  </a:rPr>
                                  <m:t>16</m:t>
                                </m:r>
                              </m:e>
                              <m:e>
                                <m:r>
                                  <a:rPr lang="en-US" sz="2400" i="1">
                                    <a:latin typeface="Cambria Math" panose="02040503050406030204" pitchFamily="18" charset="0"/>
                                  </a:rPr>
                                  <m:t>−2</m:t>
                                </m:r>
                              </m:e>
                              <m:e>
                                <m:r>
                                  <a:rPr lang="en-US" sz="2400" i="1">
                                    <a:latin typeface="Cambria Math" panose="02040503050406030204" pitchFamily="18" charset="0"/>
                                  </a:rPr>
                                  <m:t>−1</m:t>
                                </m:r>
                              </m:e>
                            </m:mr>
                            <m:mr>
                              <m:e>
                                <m:r>
                                  <a:rPr lang="en-US" sz="2400" i="1">
                                    <a:latin typeface="Cambria Math" panose="02040503050406030204" pitchFamily="18" charset="0"/>
                                  </a:rPr>
                                  <m:t>0</m:t>
                                </m:r>
                              </m:e>
                              <m:e>
                                <m:r>
                                  <a:rPr lang="en-US" sz="2400" i="1">
                                    <a:latin typeface="Cambria Math" panose="02040503050406030204" pitchFamily="18" charset="0"/>
                                  </a:rPr>
                                  <m:t>−1</m:t>
                                </m:r>
                              </m:e>
                              <m:e>
                                <m:r>
                                  <a:rPr lang="en-US" sz="2400" i="1">
                                    <a:latin typeface="Cambria Math" panose="02040503050406030204" pitchFamily="18" charset="0"/>
                                  </a:rPr>
                                  <m:t>−2</m:t>
                                </m:r>
                              </m:e>
                              <m:e>
                                <m:r>
                                  <a:rPr lang="en-US" sz="2400" i="1">
                                    <a:latin typeface="Cambria Math" panose="02040503050406030204" pitchFamily="18" charset="0"/>
                                  </a:rPr>
                                  <m:t>−1</m:t>
                                </m:r>
                              </m:e>
                              <m:e>
                                <m:r>
                                  <a:rPr lang="en-US" sz="2400" i="1">
                                    <a:latin typeface="Cambria Math" panose="02040503050406030204" pitchFamily="18" charset="0"/>
                                  </a:rPr>
                                  <m:t>0</m:t>
                                </m:r>
                              </m:e>
                            </m:mr>
                            <m:mr>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−1</m:t>
                                </m:r>
                              </m:e>
                              <m:e>
                                <m:r>
                                  <a:rPr lang="en-US" sz="2400" i="1">
                                    <a:latin typeface="Cambria Math" panose="02040503050406030204" pitchFamily="18" charset="0"/>
                                  </a:rPr>
                                  <m:t>0</m:t>
                                </m:r>
                              </m:e>
                              <m:e>
                                <m:r>
                                  <a:rPr lang="en-US" sz="2400" i="1">
                                    <a:latin typeface="Cambria Math" panose="02040503050406030204" pitchFamily="18" charset="0"/>
                                  </a:rPr>
                                  <m:t>0</m:t>
                                </m:r>
                              </m:e>
                            </m:mr>
                          </m:m>
                        </m:e>
                      </m:d>
                    </m:oMath>
                  </m:oMathPara>
                </a14:m>
                <a:endParaRPr lang="en-US" sz="2400" dirty="0">
                  <a:latin typeface="Helvetica Neue"/>
                </a:endParaRPr>
              </a:p>
              <a:p>
                <a:pPr marL="0" indent="0">
                  <a:buNone/>
                </a:pPr>
                <a:endParaRPr lang="en-US" sz="2400" dirty="0">
                  <a:latin typeface="Helvetica Neue"/>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409700" y="2192476"/>
                <a:ext cx="10191750" cy="7408724"/>
              </a:xfrm>
              <a:blipFill>
                <a:blip r:embed="rId2"/>
                <a:stretch>
                  <a:fillRect l="-897" t="-576"/>
                </a:stretch>
              </a:blipFill>
            </p:spPr>
            <p:txBody>
              <a:bodyPr/>
              <a:lstStyle/>
              <a:p>
                <a:r>
                  <a:rPr lang="en-US">
                    <a:noFill/>
                  </a:rPr>
                  <a:t> </a:t>
                </a:r>
              </a:p>
            </p:txBody>
          </p:sp>
        </mc:Fallback>
      </mc:AlternateContent>
      <p:sp>
        <p:nvSpPr>
          <p:cNvPr id="2" name="TextBox 1"/>
          <p:cNvSpPr txBox="1"/>
          <p:nvPr/>
        </p:nvSpPr>
        <p:spPr>
          <a:xfrm>
            <a:off x="2647950" y="438150"/>
            <a:ext cx="8343900" cy="1754326"/>
          </a:xfrm>
          <a:prstGeom prst="rect">
            <a:avLst/>
          </a:prstGeom>
          <a:noFill/>
        </p:spPr>
        <p:txBody>
          <a:bodyPr wrap="square" rtlCol="0">
            <a:spAutoFit/>
          </a:bodyPr>
          <a:lstStyle/>
          <a:p>
            <a:r>
              <a:rPr lang="en-US" sz="5400" dirty="0" err="1"/>
              <a:t>Phương</a:t>
            </a:r>
            <a:r>
              <a:rPr lang="en-US" sz="5400" dirty="0"/>
              <a:t> </a:t>
            </a:r>
            <a:r>
              <a:rPr lang="en-US" sz="5400" dirty="0" err="1"/>
              <a:t>pháp</a:t>
            </a:r>
            <a:r>
              <a:rPr lang="en-US" sz="5400" dirty="0"/>
              <a:t> Laplacian of Gaussian (</a:t>
            </a:r>
            <a:r>
              <a:rPr lang="en-US" sz="5400" dirty="0" err="1"/>
              <a:t>LoG</a:t>
            </a:r>
            <a:r>
              <a:rPr lang="en-US" sz="5400" dirty="0"/>
              <a:t>)</a:t>
            </a:r>
          </a:p>
        </p:txBody>
      </p:sp>
    </p:spTree>
    <p:extLst>
      <p:ext uri="{BB962C8B-B14F-4D97-AF65-F5344CB8AC3E}">
        <p14:creationId xmlns:p14="http://schemas.microsoft.com/office/powerpoint/2010/main" val="19586178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33896" y="1110403"/>
            <a:ext cx="9375268" cy="5372618"/>
          </a:xfrm>
        </p:spPr>
        <p:txBody>
          <a:bodyPr>
            <a:noAutofit/>
          </a:bodyPr>
          <a:lstStyle/>
          <a:p>
            <a:pPr marL="0" indent="0">
              <a:buNone/>
            </a:pPr>
            <a:r>
              <a:rPr lang="en-US" sz="2400" b="1" dirty="0" err="1">
                <a:latin typeface="Helvetica Neue"/>
              </a:rPr>
              <a:t>Các</a:t>
            </a:r>
            <a:r>
              <a:rPr lang="en-US" sz="2400" b="1" dirty="0">
                <a:latin typeface="Helvetica Neue"/>
              </a:rPr>
              <a:t> </a:t>
            </a:r>
            <a:r>
              <a:rPr lang="en-US" sz="2400" b="1" dirty="0" err="1">
                <a:latin typeface="Helvetica Neue"/>
              </a:rPr>
              <a:t>bước</a:t>
            </a:r>
            <a:r>
              <a:rPr lang="en-US" sz="2400" b="1" dirty="0">
                <a:latin typeface="Helvetica Neue"/>
              </a:rPr>
              <a:t> </a:t>
            </a:r>
            <a:r>
              <a:rPr lang="en-US" sz="2400" b="1" dirty="0" err="1">
                <a:latin typeface="Helvetica Neue"/>
              </a:rPr>
              <a:t>thực</a:t>
            </a:r>
            <a:r>
              <a:rPr lang="en-US" sz="2400" b="1" dirty="0">
                <a:latin typeface="Helvetica Neue"/>
              </a:rPr>
              <a:t> </a:t>
            </a:r>
            <a:r>
              <a:rPr lang="en-US" sz="2400" b="1" dirty="0" err="1">
                <a:latin typeface="Helvetica Neue"/>
              </a:rPr>
              <a:t>hiện</a:t>
            </a:r>
            <a:r>
              <a:rPr lang="en-US" sz="2400" b="1" dirty="0">
                <a:latin typeface="Helvetica Neue"/>
              </a:rPr>
              <a:t> chi </a:t>
            </a:r>
            <a:r>
              <a:rPr lang="en-US" sz="2400" b="1" dirty="0" err="1">
                <a:latin typeface="Helvetica Neue"/>
              </a:rPr>
              <a:t>tiết</a:t>
            </a:r>
            <a:endParaRPr lang="en-US" sz="2400" b="1" dirty="0">
              <a:latin typeface="Helvetica Neue"/>
            </a:endParaRPr>
          </a:p>
          <a:p>
            <a:pPr marL="0" indent="0">
              <a:buNone/>
            </a:pPr>
            <a:r>
              <a:rPr lang="en-US" sz="2400" i="1" dirty="0" err="1">
                <a:latin typeface="Helvetica Neue"/>
              </a:rPr>
              <a:t>Bước</a:t>
            </a:r>
            <a:r>
              <a:rPr lang="en-US" sz="2400" i="1" dirty="0">
                <a:latin typeface="Helvetica Neue"/>
              </a:rPr>
              <a:t> 1: Làm </a:t>
            </a:r>
            <a:r>
              <a:rPr lang="en-US" sz="2400" i="1" dirty="0" err="1">
                <a:latin typeface="Helvetica Neue"/>
              </a:rPr>
              <a:t>mờ</a:t>
            </a:r>
            <a:r>
              <a:rPr lang="en-US" sz="2400" i="1" dirty="0">
                <a:latin typeface="Helvetica Neue"/>
              </a:rPr>
              <a:t> </a:t>
            </a:r>
            <a:r>
              <a:rPr lang="en-US" sz="2400" i="1" dirty="0" err="1">
                <a:latin typeface="Helvetica Neue"/>
              </a:rPr>
              <a:t>ảnh</a:t>
            </a:r>
            <a:r>
              <a:rPr lang="en-US" sz="2400" i="1" dirty="0">
                <a:latin typeface="Helvetica Neue"/>
              </a:rPr>
              <a:t> </a:t>
            </a:r>
            <a:r>
              <a:rPr lang="en-US" sz="2400" i="1" dirty="0" err="1">
                <a:latin typeface="Helvetica Neue"/>
              </a:rPr>
              <a:t>bằng</a:t>
            </a:r>
            <a:r>
              <a:rPr lang="en-US" sz="2400" i="1" dirty="0">
                <a:latin typeface="Helvetica Neue"/>
              </a:rPr>
              <a:t> Gaussian</a:t>
            </a:r>
          </a:p>
          <a:p>
            <a:pPr lvl="1"/>
            <a:r>
              <a:rPr lang="en-US" sz="2116" dirty="0" err="1">
                <a:latin typeface="Helvetica Neue"/>
              </a:rPr>
              <a:t>Chọn</a:t>
            </a:r>
            <a:r>
              <a:rPr lang="en-US" sz="2116" dirty="0">
                <a:latin typeface="Helvetica Neue"/>
              </a:rPr>
              <a:t> </a:t>
            </a:r>
            <a:r>
              <a:rPr lang="en-US" sz="2116" dirty="0" err="1">
                <a:latin typeface="Helvetica Neue"/>
              </a:rPr>
              <a:t>một</a:t>
            </a:r>
            <a:r>
              <a:rPr lang="en-US" sz="2116" dirty="0">
                <a:latin typeface="Helvetica Neue"/>
              </a:rPr>
              <a:t> </a:t>
            </a:r>
            <a:r>
              <a:rPr lang="en-US" sz="2116" dirty="0" err="1">
                <a:latin typeface="Helvetica Neue"/>
              </a:rPr>
              <a:t>bộ</a:t>
            </a:r>
            <a:r>
              <a:rPr lang="en-US" sz="2116" dirty="0">
                <a:latin typeface="Helvetica Neue"/>
              </a:rPr>
              <a:t> </a:t>
            </a:r>
            <a:r>
              <a:rPr lang="en-US" sz="2116" dirty="0" err="1">
                <a:latin typeface="Helvetica Neue"/>
              </a:rPr>
              <a:t>lọc</a:t>
            </a:r>
            <a:r>
              <a:rPr lang="en-US" sz="2116" dirty="0">
                <a:latin typeface="Helvetica Neue"/>
              </a:rPr>
              <a:t> Gaussian </a:t>
            </a:r>
            <a:r>
              <a:rPr lang="en-US" sz="2116" dirty="0" err="1">
                <a:latin typeface="Helvetica Neue"/>
              </a:rPr>
              <a:t>phù</a:t>
            </a:r>
            <a:r>
              <a:rPr lang="en-US" sz="2116" dirty="0">
                <a:latin typeface="Helvetica Neue"/>
              </a:rPr>
              <a:t> </a:t>
            </a:r>
            <a:r>
              <a:rPr lang="en-US" sz="2116" dirty="0" err="1">
                <a:latin typeface="Helvetica Neue"/>
              </a:rPr>
              <a:t>hợp</a:t>
            </a:r>
            <a:r>
              <a:rPr lang="en-US" sz="2116" dirty="0">
                <a:latin typeface="Helvetica Neue"/>
              </a:rPr>
              <a:t>.</a:t>
            </a:r>
          </a:p>
          <a:p>
            <a:pPr lvl="1"/>
            <a:r>
              <a:rPr lang="en-US" sz="2116" dirty="0" err="1">
                <a:latin typeface="Helvetica Neue"/>
              </a:rPr>
              <a:t>Dùng</a:t>
            </a:r>
            <a:r>
              <a:rPr lang="en-US" sz="2116" dirty="0">
                <a:latin typeface="Helvetica Neue"/>
              </a:rPr>
              <a:t> </a:t>
            </a:r>
            <a:r>
              <a:rPr lang="en-US" sz="2116" dirty="0" err="1">
                <a:latin typeface="Helvetica Neue"/>
              </a:rPr>
              <a:t>bộ</a:t>
            </a:r>
            <a:r>
              <a:rPr lang="en-US" sz="2116" dirty="0">
                <a:latin typeface="Helvetica Neue"/>
              </a:rPr>
              <a:t> </a:t>
            </a:r>
            <a:r>
              <a:rPr lang="en-US" sz="2116" dirty="0" err="1">
                <a:latin typeface="Helvetica Neue"/>
              </a:rPr>
              <a:t>lọc</a:t>
            </a:r>
            <a:r>
              <a:rPr lang="en-US" sz="2116" dirty="0">
                <a:latin typeface="Helvetica Neue"/>
              </a:rPr>
              <a:t> này để làm </a:t>
            </a:r>
            <a:r>
              <a:rPr lang="en-US" sz="2116" dirty="0" err="1">
                <a:latin typeface="Helvetica Neue"/>
              </a:rPr>
              <a:t>mờ</a:t>
            </a:r>
            <a:r>
              <a:rPr lang="en-US" sz="2116" dirty="0">
                <a:latin typeface="Helvetica Neue"/>
              </a:rPr>
              <a:t> </a:t>
            </a:r>
            <a:r>
              <a:rPr lang="en-US" sz="2116" dirty="0" err="1">
                <a:latin typeface="Helvetica Neue"/>
              </a:rPr>
              <a:t>ảnh</a:t>
            </a:r>
            <a:r>
              <a:rPr lang="en-US" sz="2116" dirty="0">
                <a:latin typeface="Helvetica Neue"/>
              </a:rPr>
              <a:t>.</a:t>
            </a:r>
          </a:p>
          <a:p>
            <a:pPr marL="0" indent="0">
              <a:buNone/>
            </a:pPr>
            <a:r>
              <a:rPr lang="en-US" sz="2400" i="1" dirty="0" err="1">
                <a:latin typeface="Helvetica Neue"/>
              </a:rPr>
              <a:t>Bước</a:t>
            </a:r>
            <a:r>
              <a:rPr lang="en-US" sz="2400" i="1" dirty="0">
                <a:latin typeface="Helvetica Neue"/>
              </a:rPr>
              <a:t> 2: </a:t>
            </a:r>
            <a:r>
              <a:rPr lang="en-US" sz="2400" i="1" dirty="0" err="1">
                <a:latin typeface="Helvetica Neue"/>
              </a:rPr>
              <a:t>Áp</a:t>
            </a:r>
            <a:r>
              <a:rPr lang="en-US" sz="2400" i="1" dirty="0">
                <a:latin typeface="Helvetica Neue"/>
              </a:rPr>
              <a:t> </a:t>
            </a:r>
            <a:r>
              <a:rPr lang="en-US" sz="2400" i="1" dirty="0" err="1">
                <a:latin typeface="Helvetica Neue"/>
              </a:rPr>
              <a:t>dụng</a:t>
            </a:r>
            <a:r>
              <a:rPr lang="en-US" sz="2400" i="1" dirty="0">
                <a:latin typeface="Helvetica Neue"/>
              </a:rPr>
              <a:t> </a:t>
            </a:r>
            <a:r>
              <a:rPr lang="en-US" sz="2400" i="1" dirty="0" err="1">
                <a:latin typeface="Helvetica Neue"/>
              </a:rPr>
              <a:t>toán</a:t>
            </a:r>
            <a:r>
              <a:rPr lang="en-US" sz="2400" i="1" dirty="0">
                <a:latin typeface="Helvetica Neue"/>
              </a:rPr>
              <a:t> </a:t>
            </a:r>
            <a:r>
              <a:rPr lang="en-US" sz="2400" i="1" dirty="0" err="1">
                <a:latin typeface="Helvetica Neue"/>
              </a:rPr>
              <a:t>tử</a:t>
            </a:r>
            <a:r>
              <a:rPr lang="en-US" sz="2400" i="1" dirty="0">
                <a:latin typeface="Helvetica Neue"/>
              </a:rPr>
              <a:t> Laplacian</a:t>
            </a:r>
          </a:p>
          <a:p>
            <a:pPr lvl="1"/>
            <a:r>
              <a:rPr lang="en-US" sz="2116" dirty="0" err="1">
                <a:latin typeface="Helvetica Neue"/>
              </a:rPr>
              <a:t>Sử</a:t>
            </a:r>
            <a:r>
              <a:rPr lang="en-US" sz="2116" dirty="0">
                <a:latin typeface="Helvetica Neue"/>
              </a:rPr>
              <a:t> </a:t>
            </a:r>
            <a:r>
              <a:rPr lang="en-US" sz="2116" dirty="0" err="1">
                <a:latin typeface="Helvetica Neue"/>
              </a:rPr>
              <a:t>dụng</a:t>
            </a:r>
            <a:r>
              <a:rPr lang="en-US" sz="2116" dirty="0">
                <a:latin typeface="Helvetica Neue"/>
              </a:rPr>
              <a:t> </a:t>
            </a:r>
            <a:r>
              <a:rPr lang="en-US" sz="2116" dirty="0" err="1">
                <a:latin typeface="Helvetica Neue"/>
              </a:rPr>
              <a:t>mặt</a:t>
            </a:r>
            <a:r>
              <a:rPr lang="en-US" sz="2116" dirty="0">
                <a:latin typeface="Helvetica Neue"/>
              </a:rPr>
              <a:t> </a:t>
            </a:r>
            <a:r>
              <a:rPr lang="en-US" sz="2116" dirty="0" err="1">
                <a:latin typeface="Helvetica Neue"/>
              </a:rPr>
              <a:t>nạ</a:t>
            </a:r>
            <a:r>
              <a:rPr lang="en-US" sz="2116" dirty="0">
                <a:latin typeface="Helvetica Neue"/>
              </a:rPr>
              <a:t> </a:t>
            </a:r>
            <a:r>
              <a:rPr lang="en-US" sz="2116" dirty="0" err="1">
                <a:latin typeface="Helvetica Neue"/>
              </a:rPr>
              <a:t>LoG</a:t>
            </a:r>
            <a:r>
              <a:rPr lang="en-US" sz="2116" dirty="0">
                <a:latin typeface="Helvetica Neue"/>
              </a:rPr>
              <a:t> để </a:t>
            </a:r>
            <a:r>
              <a:rPr lang="en-US" sz="2116" dirty="0" err="1">
                <a:latin typeface="Helvetica Neue"/>
              </a:rPr>
              <a:t>tích</a:t>
            </a:r>
            <a:r>
              <a:rPr lang="en-US" sz="2116" dirty="0">
                <a:latin typeface="Helvetica Neue"/>
              </a:rPr>
              <a:t> </a:t>
            </a:r>
            <a:r>
              <a:rPr lang="en-US" sz="2116" dirty="0" err="1">
                <a:latin typeface="Helvetica Neue"/>
              </a:rPr>
              <a:t>chập</a:t>
            </a:r>
            <a:r>
              <a:rPr lang="en-US" sz="2116" dirty="0">
                <a:latin typeface="Helvetica Neue"/>
              </a:rPr>
              <a:t> </a:t>
            </a:r>
            <a:r>
              <a:rPr lang="en-US" sz="2116" dirty="0" err="1">
                <a:latin typeface="Helvetica Neue"/>
              </a:rPr>
              <a:t>với</a:t>
            </a:r>
            <a:r>
              <a:rPr lang="en-US" sz="2116" dirty="0">
                <a:latin typeface="Helvetica Neue"/>
              </a:rPr>
              <a:t> </a:t>
            </a:r>
            <a:r>
              <a:rPr lang="en-US" sz="2116" dirty="0" err="1">
                <a:latin typeface="Helvetica Neue"/>
              </a:rPr>
              <a:t>ảnh</a:t>
            </a:r>
            <a:r>
              <a:rPr lang="en-US" sz="2116" dirty="0">
                <a:latin typeface="Helvetica Neue"/>
              </a:rPr>
              <a:t>.</a:t>
            </a:r>
          </a:p>
          <a:p>
            <a:pPr marL="0" indent="0">
              <a:buNone/>
            </a:pPr>
            <a:r>
              <a:rPr lang="en-US" sz="2400" i="1" dirty="0" err="1">
                <a:latin typeface="Helvetica Neue"/>
              </a:rPr>
              <a:t>Bước</a:t>
            </a:r>
            <a:r>
              <a:rPr lang="en-US" sz="2400" i="1" dirty="0">
                <a:latin typeface="Helvetica Neue"/>
              </a:rPr>
              <a:t> 3: </a:t>
            </a:r>
            <a:r>
              <a:rPr lang="en-US" sz="2400" i="1" dirty="0" err="1">
                <a:latin typeface="Helvetica Neue"/>
              </a:rPr>
              <a:t>Xác</a:t>
            </a:r>
            <a:r>
              <a:rPr lang="en-US" sz="2400" i="1" dirty="0">
                <a:latin typeface="Helvetica Neue"/>
              </a:rPr>
              <a:t> </a:t>
            </a:r>
            <a:r>
              <a:rPr lang="en-US" sz="2400" i="1" dirty="0" err="1">
                <a:latin typeface="Helvetica Neue"/>
              </a:rPr>
              <a:t>định</a:t>
            </a:r>
            <a:r>
              <a:rPr lang="en-US" sz="2400" i="1" dirty="0">
                <a:latin typeface="Helvetica Neue"/>
              </a:rPr>
              <a:t> </a:t>
            </a:r>
            <a:r>
              <a:rPr lang="en-US" sz="2400" i="1" dirty="0" err="1">
                <a:latin typeface="Helvetica Neue"/>
              </a:rPr>
              <a:t>điểm</a:t>
            </a:r>
            <a:r>
              <a:rPr lang="en-US" sz="2400" i="1" dirty="0">
                <a:latin typeface="Helvetica Neue"/>
              </a:rPr>
              <a:t> </a:t>
            </a:r>
            <a:r>
              <a:rPr lang="en-US" sz="2400" i="1" dirty="0" err="1">
                <a:latin typeface="Helvetica Neue"/>
              </a:rPr>
              <a:t>biên</a:t>
            </a:r>
            <a:endParaRPr lang="en-US" sz="2400" i="1" dirty="0">
              <a:latin typeface="Helvetica Neue"/>
            </a:endParaRPr>
          </a:p>
          <a:p>
            <a:pPr lvl="1"/>
            <a:r>
              <a:rPr lang="en-US" sz="2116" dirty="0" err="1">
                <a:latin typeface="Helvetica Neue"/>
              </a:rPr>
              <a:t>Tìm</a:t>
            </a:r>
            <a:r>
              <a:rPr lang="en-US" sz="2116" dirty="0">
                <a:latin typeface="Helvetica Neue"/>
              </a:rPr>
              <a:t> zero-crossing.</a:t>
            </a:r>
          </a:p>
          <a:p>
            <a:pPr marL="0" indent="0">
              <a:buNone/>
            </a:pPr>
            <a:r>
              <a:rPr lang="en-US" sz="2400" i="1" dirty="0" err="1">
                <a:latin typeface="Helvetica Neue"/>
              </a:rPr>
              <a:t>Bước</a:t>
            </a:r>
            <a:r>
              <a:rPr lang="en-US" sz="2400" i="1" dirty="0">
                <a:latin typeface="Helvetica Neue"/>
              </a:rPr>
              <a:t> 4: </a:t>
            </a:r>
            <a:r>
              <a:rPr lang="en-US" sz="2400" i="1" dirty="0" err="1">
                <a:latin typeface="Helvetica Neue"/>
              </a:rPr>
              <a:t>Hậu</a:t>
            </a:r>
            <a:r>
              <a:rPr lang="en-US" sz="2400" i="1" dirty="0">
                <a:latin typeface="Helvetica Neue"/>
              </a:rPr>
              <a:t> </a:t>
            </a:r>
            <a:r>
              <a:rPr lang="en-US" sz="2400" i="1" dirty="0" err="1">
                <a:latin typeface="Helvetica Neue"/>
              </a:rPr>
              <a:t>xử</a:t>
            </a:r>
            <a:r>
              <a:rPr lang="en-US" sz="2400" i="1" dirty="0">
                <a:latin typeface="Helvetica Neue"/>
              </a:rPr>
              <a:t> </a:t>
            </a:r>
            <a:r>
              <a:rPr lang="en-US" sz="2400" i="1" dirty="0" err="1">
                <a:latin typeface="Helvetica Neue"/>
              </a:rPr>
              <a:t>lý</a:t>
            </a:r>
            <a:r>
              <a:rPr lang="en-US" sz="2400" i="1" dirty="0">
                <a:latin typeface="Helvetica Neue"/>
              </a:rPr>
              <a:t> </a:t>
            </a:r>
            <a:r>
              <a:rPr lang="en-US" sz="2400" i="1" dirty="0" err="1">
                <a:latin typeface="Helvetica Neue"/>
              </a:rPr>
              <a:t>ảnh</a:t>
            </a:r>
            <a:endParaRPr lang="en-US" sz="2400" i="1" dirty="0">
              <a:latin typeface="Helvetica Neue"/>
            </a:endParaRPr>
          </a:p>
          <a:p>
            <a:pPr lvl="1"/>
            <a:r>
              <a:rPr lang="en-US" sz="2116" dirty="0" err="1">
                <a:latin typeface="Helvetica Neue"/>
              </a:rPr>
              <a:t>Ngưỡng</a:t>
            </a:r>
            <a:r>
              <a:rPr lang="en-US" sz="2116" dirty="0">
                <a:latin typeface="Helvetica Neue"/>
              </a:rPr>
              <a:t> </a:t>
            </a:r>
            <a:r>
              <a:rPr lang="en-US" sz="2116" dirty="0" err="1">
                <a:latin typeface="Helvetica Neue"/>
              </a:rPr>
              <a:t>hóa</a:t>
            </a:r>
            <a:r>
              <a:rPr lang="en-US" sz="2116" dirty="0">
                <a:latin typeface="Helvetica Neue"/>
              </a:rPr>
              <a:t> để </a:t>
            </a:r>
            <a:r>
              <a:rPr lang="en-US" sz="2116" dirty="0" err="1">
                <a:latin typeface="Helvetica Neue"/>
              </a:rPr>
              <a:t>giữ</a:t>
            </a:r>
            <a:r>
              <a:rPr lang="en-US" sz="2116" dirty="0">
                <a:latin typeface="Helvetica Neue"/>
              </a:rPr>
              <a:t> lại </a:t>
            </a:r>
            <a:r>
              <a:rPr lang="en-US" sz="2116" dirty="0" err="1">
                <a:latin typeface="Helvetica Neue"/>
              </a:rPr>
              <a:t>các</a:t>
            </a:r>
            <a:r>
              <a:rPr lang="en-US" sz="2116" dirty="0">
                <a:latin typeface="Helvetica Neue"/>
              </a:rPr>
              <a:t> </a:t>
            </a:r>
            <a:r>
              <a:rPr lang="en-US" sz="2116" dirty="0" err="1">
                <a:latin typeface="Helvetica Neue"/>
              </a:rPr>
              <a:t>biên</a:t>
            </a:r>
            <a:r>
              <a:rPr lang="en-US" sz="2116" dirty="0">
                <a:latin typeface="Helvetica Neue"/>
              </a:rPr>
              <a:t> mạnh.</a:t>
            </a:r>
          </a:p>
          <a:p>
            <a:pPr marL="0" indent="0">
              <a:buNone/>
            </a:pPr>
            <a:r>
              <a:rPr lang="en-US" sz="2400" b="1" dirty="0" err="1">
                <a:latin typeface="Helvetica Neue"/>
              </a:rPr>
              <a:t>Ưu</a:t>
            </a:r>
            <a:r>
              <a:rPr lang="en-US" sz="2400" b="1" dirty="0">
                <a:latin typeface="Helvetica Neue"/>
              </a:rPr>
              <a:t>, </a:t>
            </a:r>
            <a:r>
              <a:rPr lang="en-US" sz="2400" b="1" dirty="0" err="1">
                <a:latin typeface="Helvetica Neue"/>
              </a:rPr>
              <a:t>nhược</a:t>
            </a:r>
            <a:r>
              <a:rPr lang="en-US" sz="2400" b="1" dirty="0">
                <a:latin typeface="Helvetica Neue"/>
              </a:rPr>
              <a:t> </a:t>
            </a:r>
            <a:r>
              <a:rPr lang="en-US" sz="2400" b="1" dirty="0" err="1">
                <a:latin typeface="Helvetica Neue"/>
              </a:rPr>
              <a:t>điểm</a:t>
            </a:r>
            <a:endParaRPr lang="en-US" sz="2400" b="1" dirty="0">
              <a:latin typeface="Helvetica Neue"/>
            </a:endParaRPr>
          </a:p>
          <a:p>
            <a:pPr marL="0" indent="0">
              <a:buNone/>
            </a:pPr>
            <a:r>
              <a:rPr lang="en-US" sz="2400" dirty="0">
                <a:latin typeface="Helvetica Neue"/>
              </a:rPr>
              <a:t>	✅ </a:t>
            </a:r>
            <a:r>
              <a:rPr lang="en-US" sz="2400" dirty="0" err="1">
                <a:latin typeface="Helvetica Neue"/>
              </a:rPr>
              <a:t>Giảm</a:t>
            </a:r>
            <a:r>
              <a:rPr lang="en-US" sz="2400" dirty="0">
                <a:latin typeface="Helvetica Neue"/>
              </a:rPr>
              <a:t> </a:t>
            </a:r>
            <a:r>
              <a:rPr lang="en-US" sz="2400" dirty="0" err="1">
                <a:latin typeface="Helvetica Neue"/>
              </a:rPr>
              <a:t>nhiễu</a:t>
            </a:r>
            <a:r>
              <a:rPr lang="en-US" sz="2400" dirty="0">
                <a:latin typeface="Helvetica Neue"/>
              </a:rPr>
              <a:t> </a:t>
            </a:r>
            <a:r>
              <a:rPr lang="en-US" sz="2400" dirty="0" err="1">
                <a:latin typeface="Helvetica Neue"/>
              </a:rPr>
              <a:t>tốt</a:t>
            </a:r>
            <a:r>
              <a:rPr lang="en-US" sz="2400" dirty="0">
                <a:latin typeface="Helvetica Neue"/>
              </a:rPr>
              <a:t> </a:t>
            </a:r>
            <a:r>
              <a:rPr lang="en-US" sz="2400" dirty="0" err="1">
                <a:latin typeface="Helvetica Neue"/>
              </a:rPr>
              <a:t>hơn</a:t>
            </a:r>
            <a:r>
              <a:rPr lang="en-US" sz="2400" dirty="0">
                <a:latin typeface="Helvetica Neue"/>
              </a:rPr>
              <a:t> Laplacian.</a:t>
            </a:r>
            <a:br>
              <a:rPr lang="en-US" sz="2400" dirty="0">
                <a:latin typeface="Helvetica Neue"/>
              </a:rPr>
            </a:br>
            <a:r>
              <a:rPr lang="en-US" sz="2400" dirty="0">
                <a:latin typeface="Helvetica Neue"/>
              </a:rPr>
              <a:t>	✅ </a:t>
            </a:r>
            <a:r>
              <a:rPr lang="en-US" sz="2400" dirty="0" err="1">
                <a:latin typeface="Helvetica Neue"/>
              </a:rPr>
              <a:t>Tìm</a:t>
            </a:r>
            <a:r>
              <a:rPr lang="en-US" sz="2400" dirty="0">
                <a:latin typeface="Helvetica Neue"/>
              </a:rPr>
              <a:t> </a:t>
            </a:r>
            <a:r>
              <a:rPr lang="en-US" sz="2400" dirty="0" err="1">
                <a:latin typeface="Helvetica Neue"/>
              </a:rPr>
              <a:t>biên</a:t>
            </a:r>
            <a:r>
              <a:rPr lang="en-US" sz="2400" dirty="0">
                <a:latin typeface="Helvetica Neue"/>
              </a:rPr>
              <a:t> chính </a:t>
            </a:r>
            <a:r>
              <a:rPr lang="en-US" sz="2400" dirty="0" err="1">
                <a:latin typeface="Helvetica Neue"/>
              </a:rPr>
              <a:t>xác</a:t>
            </a:r>
            <a:r>
              <a:rPr lang="en-US" sz="2400" dirty="0">
                <a:latin typeface="Helvetica Neue"/>
              </a:rPr>
              <a:t> </a:t>
            </a:r>
            <a:r>
              <a:rPr lang="en-US" sz="2400" dirty="0" err="1">
                <a:latin typeface="Helvetica Neue"/>
              </a:rPr>
              <a:t>hơn</a:t>
            </a:r>
            <a:r>
              <a:rPr lang="en-US" sz="2400" dirty="0">
                <a:latin typeface="Helvetica Neue"/>
              </a:rPr>
              <a:t>.</a:t>
            </a:r>
            <a:br>
              <a:rPr lang="en-US" sz="2400" dirty="0">
                <a:latin typeface="Helvetica Neue"/>
              </a:rPr>
            </a:br>
            <a:r>
              <a:rPr lang="en-US" sz="2400" dirty="0">
                <a:latin typeface="Helvetica Neue"/>
              </a:rPr>
              <a:t>	❌ </a:t>
            </a:r>
            <a:r>
              <a:rPr lang="en-US" sz="2400" dirty="0" err="1">
                <a:latin typeface="Helvetica Neue"/>
              </a:rPr>
              <a:t>Chậm</a:t>
            </a:r>
            <a:r>
              <a:rPr lang="en-US" sz="2400" dirty="0">
                <a:latin typeface="Helvetica Neue"/>
              </a:rPr>
              <a:t> </a:t>
            </a:r>
            <a:r>
              <a:rPr lang="en-US" sz="2400" dirty="0" err="1">
                <a:latin typeface="Helvetica Neue"/>
              </a:rPr>
              <a:t>hơn</a:t>
            </a:r>
            <a:r>
              <a:rPr lang="en-US" sz="2400" dirty="0">
                <a:latin typeface="Helvetica Neue"/>
              </a:rPr>
              <a:t> do </a:t>
            </a:r>
            <a:r>
              <a:rPr lang="en-US" sz="2400" dirty="0" err="1">
                <a:latin typeface="Helvetica Neue"/>
              </a:rPr>
              <a:t>cần</a:t>
            </a:r>
            <a:r>
              <a:rPr lang="en-US" sz="2400" dirty="0">
                <a:latin typeface="Helvetica Neue"/>
              </a:rPr>
              <a:t> làm </a:t>
            </a:r>
            <a:r>
              <a:rPr lang="en-US" sz="2400" dirty="0" err="1">
                <a:latin typeface="Helvetica Neue"/>
              </a:rPr>
              <a:t>mờ</a:t>
            </a:r>
            <a:r>
              <a:rPr lang="en-US" sz="2400" dirty="0">
                <a:latin typeface="Helvetica Neue"/>
              </a:rPr>
              <a:t> </a:t>
            </a:r>
            <a:r>
              <a:rPr lang="en-US" sz="2400" dirty="0" err="1">
                <a:latin typeface="Helvetica Neue"/>
              </a:rPr>
              <a:t>ảnh</a:t>
            </a:r>
            <a:r>
              <a:rPr lang="en-US" sz="2400" dirty="0">
                <a:latin typeface="Helvetica Neue"/>
              </a:rPr>
              <a:t>.</a:t>
            </a:r>
            <a:br>
              <a:rPr lang="en-US" sz="2400" dirty="0">
                <a:latin typeface="Helvetica Neue"/>
              </a:rPr>
            </a:br>
            <a:r>
              <a:rPr lang="en-US" sz="2400" dirty="0">
                <a:latin typeface="Helvetica Neue"/>
              </a:rPr>
              <a:t>	❌ </a:t>
            </a:r>
            <a:r>
              <a:rPr lang="en-US" sz="2400" dirty="0" err="1">
                <a:latin typeface="Helvetica Neue"/>
              </a:rPr>
              <a:t>Đôi</a:t>
            </a:r>
            <a:r>
              <a:rPr lang="en-US" sz="2400" dirty="0">
                <a:latin typeface="Helvetica Neue"/>
              </a:rPr>
              <a:t> </a:t>
            </a:r>
            <a:r>
              <a:rPr lang="en-US" sz="2400" dirty="0" err="1">
                <a:latin typeface="Helvetica Neue"/>
              </a:rPr>
              <a:t>khi</a:t>
            </a:r>
            <a:r>
              <a:rPr lang="en-US" sz="2400" dirty="0">
                <a:latin typeface="Helvetica Neue"/>
              </a:rPr>
              <a:t> phát </a:t>
            </a:r>
            <a:r>
              <a:rPr lang="en-US" sz="2400" dirty="0" err="1">
                <a:latin typeface="Helvetica Neue"/>
              </a:rPr>
              <a:t>hiện</a:t>
            </a:r>
            <a:r>
              <a:rPr lang="en-US" sz="2400" dirty="0">
                <a:latin typeface="Helvetica Neue"/>
              </a:rPr>
              <a:t> </a:t>
            </a:r>
            <a:r>
              <a:rPr lang="en-US" sz="2400" dirty="0" err="1">
                <a:latin typeface="Helvetica Neue"/>
              </a:rPr>
              <a:t>biên</a:t>
            </a:r>
            <a:r>
              <a:rPr lang="en-US" sz="2400" dirty="0">
                <a:latin typeface="Helvetica Neue"/>
              </a:rPr>
              <a:t> </a:t>
            </a:r>
            <a:r>
              <a:rPr lang="en-US" sz="2400" dirty="0" err="1">
                <a:latin typeface="Helvetica Neue"/>
              </a:rPr>
              <a:t>đôi</a:t>
            </a:r>
            <a:r>
              <a:rPr lang="en-US" sz="2400" dirty="0">
                <a:latin typeface="Helvetica Neue"/>
              </a:rPr>
              <a:t>.</a:t>
            </a:r>
          </a:p>
          <a:p>
            <a:pPr marL="0" indent="0">
              <a:buNone/>
            </a:pPr>
            <a:r>
              <a:rPr lang="en-US" sz="2400" b="1" dirty="0" err="1">
                <a:latin typeface="Helvetica Neue"/>
              </a:rPr>
              <a:t>Ứng</a:t>
            </a:r>
            <a:r>
              <a:rPr lang="en-US" sz="2400" b="1" dirty="0">
                <a:latin typeface="Helvetica Neue"/>
              </a:rPr>
              <a:t> </a:t>
            </a:r>
            <a:r>
              <a:rPr lang="en-US" sz="2400" b="1" dirty="0" err="1">
                <a:latin typeface="Helvetica Neue"/>
              </a:rPr>
              <a:t>dụng</a:t>
            </a:r>
            <a:endParaRPr lang="en-US" sz="2400" b="1" dirty="0">
              <a:latin typeface="Helvetica Neue"/>
            </a:endParaRPr>
          </a:p>
          <a:p>
            <a:pPr lvl="0"/>
            <a:r>
              <a:rPr lang="en-US" sz="2400" dirty="0" err="1">
                <a:latin typeface="Helvetica Neue"/>
              </a:rPr>
              <a:t>Xử</a:t>
            </a:r>
            <a:r>
              <a:rPr lang="en-US" sz="2400" dirty="0">
                <a:latin typeface="Helvetica Neue"/>
              </a:rPr>
              <a:t> </a:t>
            </a:r>
            <a:r>
              <a:rPr lang="en-US" sz="2400" dirty="0" err="1">
                <a:latin typeface="Helvetica Neue"/>
              </a:rPr>
              <a:t>lý</a:t>
            </a:r>
            <a:r>
              <a:rPr lang="en-US" sz="2400" dirty="0">
                <a:latin typeface="Helvetica Neue"/>
              </a:rPr>
              <a:t> </a:t>
            </a:r>
            <a:r>
              <a:rPr lang="en-US" sz="2400" dirty="0" err="1">
                <a:latin typeface="Helvetica Neue"/>
              </a:rPr>
              <a:t>ảnh</a:t>
            </a:r>
            <a:r>
              <a:rPr lang="en-US" sz="2400" dirty="0">
                <a:latin typeface="Helvetica Neue"/>
              </a:rPr>
              <a:t> y </a:t>
            </a:r>
            <a:r>
              <a:rPr lang="en-US" sz="2400" dirty="0" err="1">
                <a:latin typeface="Helvetica Neue"/>
              </a:rPr>
              <a:t>tế</a:t>
            </a:r>
            <a:r>
              <a:rPr lang="en-US" sz="2400" dirty="0">
                <a:latin typeface="Helvetica Neue"/>
              </a:rPr>
              <a:t> </a:t>
            </a:r>
            <a:r>
              <a:rPr lang="en-US" sz="2400" dirty="0" err="1">
                <a:latin typeface="Helvetica Neue"/>
              </a:rPr>
              <a:t>và</a:t>
            </a:r>
            <a:r>
              <a:rPr lang="en-US" sz="2400" dirty="0">
                <a:latin typeface="Helvetica Neue"/>
              </a:rPr>
              <a:t> phát </a:t>
            </a:r>
            <a:r>
              <a:rPr lang="en-US" sz="2400" dirty="0" err="1">
                <a:latin typeface="Helvetica Neue"/>
              </a:rPr>
              <a:t>hiện</a:t>
            </a:r>
            <a:r>
              <a:rPr lang="en-US" sz="2400" dirty="0">
                <a:latin typeface="Helvetica Neue"/>
              </a:rPr>
              <a:t> </a:t>
            </a:r>
            <a:r>
              <a:rPr lang="en-US" sz="2400" dirty="0" err="1">
                <a:latin typeface="Helvetica Neue"/>
              </a:rPr>
              <a:t>biên</a:t>
            </a:r>
            <a:r>
              <a:rPr lang="en-US" sz="2400" dirty="0">
                <a:latin typeface="Helvetica Neue"/>
              </a:rPr>
              <a:t> trong </a:t>
            </a:r>
            <a:r>
              <a:rPr lang="en-US" sz="2400" dirty="0" err="1">
                <a:latin typeface="Helvetica Neue"/>
              </a:rPr>
              <a:t>ảnh</a:t>
            </a:r>
            <a:r>
              <a:rPr lang="en-US" sz="2400" dirty="0">
                <a:latin typeface="Helvetica Neue"/>
              </a:rPr>
              <a:t> </a:t>
            </a:r>
            <a:r>
              <a:rPr lang="en-US" sz="2400" dirty="0" err="1">
                <a:latin typeface="Helvetica Neue"/>
              </a:rPr>
              <a:t>vệ</a:t>
            </a:r>
            <a:r>
              <a:rPr lang="en-US" sz="2400" dirty="0">
                <a:latin typeface="Helvetica Neue"/>
              </a:rPr>
              <a:t> </a:t>
            </a:r>
            <a:r>
              <a:rPr lang="en-US" sz="2400" dirty="0" err="1">
                <a:latin typeface="Helvetica Neue"/>
              </a:rPr>
              <a:t>tinh</a:t>
            </a:r>
            <a:r>
              <a:rPr lang="en-US" sz="2400" dirty="0">
                <a:latin typeface="Helvetica Neue"/>
              </a:rPr>
              <a:t>.</a:t>
            </a:r>
          </a:p>
          <a:p>
            <a:pPr marL="0" indent="0">
              <a:buNone/>
            </a:pPr>
            <a:endParaRPr lang="en-US" sz="2400" dirty="0">
              <a:latin typeface="Helvetica Neue"/>
            </a:endParaRPr>
          </a:p>
        </p:txBody>
      </p:sp>
    </p:spTree>
    <p:extLst>
      <p:ext uri="{BB962C8B-B14F-4D97-AF65-F5344CB8AC3E}">
        <p14:creationId xmlns:p14="http://schemas.microsoft.com/office/powerpoint/2010/main" val="34240947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err="1">
                <a:latin typeface="Helvetica Neue"/>
              </a:rPr>
              <a:t>Phương</a:t>
            </a:r>
            <a:r>
              <a:rPr lang="en-US" sz="5400" b="1" dirty="0">
                <a:latin typeface="Helvetica Neue"/>
              </a:rPr>
              <a:t> </a:t>
            </a:r>
            <a:r>
              <a:rPr lang="en-US" sz="5400" b="1" dirty="0" err="1">
                <a:latin typeface="Helvetica Neue"/>
              </a:rPr>
              <a:t>pháp</a:t>
            </a:r>
            <a:r>
              <a:rPr lang="en-US" sz="5400" b="1" dirty="0">
                <a:latin typeface="Helvetica Neue"/>
              </a:rPr>
              <a:t> Difference of Gaussian (</a:t>
            </a:r>
            <a:r>
              <a:rPr lang="en-US" sz="5400" b="1" dirty="0" err="1">
                <a:latin typeface="Helvetica Neue"/>
              </a:rPr>
              <a:t>DoG</a:t>
            </a:r>
            <a:r>
              <a:rPr lang="en-US" sz="5400" b="1" dirty="0">
                <a:latin typeface="Helvetica Neue"/>
              </a:rPr>
              <a: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00496" y="3015403"/>
                <a:ext cx="9375268" cy="5372618"/>
              </a:xfrm>
            </p:spPr>
            <p:txBody>
              <a:bodyPr>
                <a:normAutofit/>
              </a:bodyPr>
              <a:lstStyle/>
              <a:p>
                <a:pPr marL="0" indent="0">
                  <a:buNone/>
                </a:pPr>
                <a:r>
                  <a:rPr lang="en-US" sz="2400" b="1" dirty="0">
                    <a:latin typeface="Helvetica Neue"/>
                  </a:rPr>
                  <a:t>Giới </a:t>
                </a:r>
                <a:r>
                  <a:rPr lang="en-US" sz="2400" b="1" dirty="0" err="1">
                    <a:latin typeface="Helvetica Neue"/>
                  </a:rPr>
                  <a:t>thiệu</a:t>
                </a:r>
                <a:r>
                  <a:rPr lang="en-US" sz="2400" b="1" dirty="0">
                    <a:latin typeface="Helvetica Neue"/>
                  </a:rPr>
                  <a:t> </a:t>
                </a:r>
                <a:r>
                  <a:rPr lang="en-US" sz="2400" b="1" dirty="0" err="1">
                    <a:latin typeface="Helvetica Neue"/>
                  </a:rPr>
                  <a:t>chung</a:t>
                </a:r>
                <a:endParaRPr lang="en-US" sz="2400" b="1" dirty="0">
                  <a:latin typeface="Helvetica Neue"/>
                </a:endParaRPr>
              </a:p>
              <a:p>
                <a:pPr marL="0" indent="0">
                  <a:buNone/>
                </a:pPr>
                <a:r>
                  <a:rPr lang="en-US" sz="2400" dirty="0" err="1">
                    <a:latin typeface="Helvetica Neue"/>
                  </a:rPr>
                  <a:t>DoG</a:t>
                </a:r>
                <a:r>
                  <a:rPr lang="en-US" sz="2400" dirty="0">
                    <a:latin typeface="Helvetica Neue"/>
                  </a:rPr>
                  <a:t> </a:t>
                </a:r>
                <a:r>
                  <a:rPr lang="en-US" sz="2400" dirty="0" err="1">
                    <a:latin typeface="Helvetica Neue"/>
                  </a:rPr>
                  <a:t>dùng</a:t>
                </a:r>
                <a:r>
                  <a:rPr lang="en-US" sz="2400" dirty="0">
                    <a:latin typeface="Helvetica Neue"/>
                  </a:rPr>
                  <a:t> </a:t>
                </a:r>
                <a:r>
                  <a:rPr lang="en-US" sz="2400" dirty="0" err="1">
                    <a:latin typeface="Helvetica Neue"/>
                  </a:rPr>
                  <a:t>hai</a:t>
                </a:r>
                <a:r>
                  <a:rPr lang="en-US" sz="2400" dirty="0">
                    <a:latin typeface="Helvetica Neue"/>
                  </a:rPr>
                  <a:t> </a:t>
                </a:r>
                <a:r>
                  <a:rPr lang="en-US" sz="2400" dirty="0" err="1">
                    <a:latin typeface="Helvetica Neue"/>
                  </a:rPr>
                  <a:t>bộ</a:t>
                </a:r>
                <a:r>
                  <a:rPr lang="en-US" sz="2400" dirty="0">
                    <a:latin typeface="Helvetica Neue"/>
                  </a:rPr>
                  <a:t> </a:t>
                </a:r>
                <a:r>
                  <a:rPr lang="en-US" sz="2400" dirty="0" err="1">
                    <a:latin typeface="Helvetica Neue"/>
                  </a:rPr>
                  <a:t>lọc</a:t>
                </a:r>
                <a:r>
                  <a:rPr lang="en-US" sz="2400" dirty="0">
                    <a:latin typeface="Helvetica Neue"/>
                  </a:rPr>
                  <a:t> Gaussian </a:t>
                </a:r>
                <a:r>
                  <a:rPr lang="en-US" sz="2400" dirty="0" err="1">
                    <a:latin typeface="Helvetica Neue"/>
                  </a:rPr>
                  <a:t>với</a:t>
                </a:r>
                <a:r>
                  <a:rPr lang="en-US" sz="2400" dirty="0">
                    <a:latin typeface="Helvetica Neue"/>
                  </a:rPr>
                  <a:t> </a:t>
                </a:r>
                <a:r>
                  <a:rPr lang="en-US" sz="2400" dirty="0" err="1">
                    <a:latin typeface="Helvetica Neue"/>
                  </a:rPr>
                  <a:t>độ</a:t>
                </a:r>
                <a:r>
                  <a:rPr lang="en-US" sz="2400" dirty="0">
                    <a:latin typeface="Helvetica Neue"/>
                  </a:rPr>
                  <a:t> lệch </a:t>
                </a:r>
                <a:r>
                  <a:rPr lang="en-US" sz="2400" dirty="0" err="1">
                    <a:latin typeface="Helvetica Neue"/>
                  </a:rPr>
                  <a:t>chuẩn</a:t>
                </a:r>
                <a:r>
                  <a:rPr lang="en-US" sz="2400" dirty="0">
                    <a:latin typeface="Helvetica Neue"/>
                  </a:rPr>
                  <a:t> khác nhau rồi </a:t>
                </a:r>
                <a:r>
                  <a:rPr lang="en-US" sz="2400" dirty="0" err="1">
                    <a:latin typeface="Helvetica Neue"/>
                  </a:rPr>
                  <a:t>trừ</a:t>
                </a:r>
                <a:r>
                  <a:rPr lang="en-US" sz="2400" dirty="0">
                    <a:latin typeface="Helvetica Neue"/>
                  </a:rPr>
                  <a:t> nhau để phát </a:t>
                </a:r>
                <a:r>
                  <a:rPr lang="en-US" sz="2400" dirty="0" err="1">
                    <a:latin typeface="Helvetica Neue"/>
                  </a:rPr>
                  <a:t>hiện</a:t>
                </a:r>
                <a:r>
                  <a:rPr lang="en-US" sz="2400" dirty="0">
                    <a:latin typeface="Helvetica Neue"/>
                  </a:rPr>
                  <a:t> </a:t>
                </a:r>
                <a:r>
                  <a:rPr lang="en-US" sz="2400" dirty="0" err="1">
                    <a:latin typeface="Helvetica Neue"/>
                  </a:rPr>
                  <a:t>biên</a:t>
                </a:r>
                <a:r>
                  <a:rPr lang="en-US" sz="2400" dirty="0">
                    <a:latin typeface="Helvetica Neue"/>
                  </a:rPr>
                  <a:t>.</a:t>
                </a:r>
              </a:p>
              <a:p>
                <a:pPr marL="0" indent="0">
                  <a:buNone/>
                </a:pPr>
                <a:r>
                  <a:rPr lang="en-US" sz="2400" b="1" dirty="0">
                    <a:latin typeface="Helvetica Neue"/>
                  </a:rPr>
                  <a:t>Nguyên </a:t>
                </a:r>
                <a:r>
                  <a:rPr lang="en-US" sz="2400" b="1" dirty="0" err="1">
                    <a:latin typeface="Helvetica Neue"/>
                  </a:rPr>
                  <a:t>lý</a:t>
                </a:r>
                <a:r>
                  <a:rPr lang="en-US" sz="2400" b="1" dirty="0">
                    <a:latin typeface="Helvetica Neue"/>
                  </a:rPr>
                  <a:t> </a:t>
                </a:r>
                <a:r>
                  <a:rPr lang="en-US" sz="2400" b="1" dirty="0" err="1">
                    <a:latin typeface="Helvetica Neue"/>
                  </a:rPr>
                  <a:t>hoạt</a:t>
                </a:r>
                <a:r>
                  <a:rPr lang="en-US" sz="2400" b="1" dirty="0">
                    <a:latin typeface="Helvetica Neue"/>
                  </a:rPr>
                  <a:t> </a:t>
                </a:r>
                <a:r>
                  <a:rPr lang="en-US" sz="2400" b="1" dirty="0" err="1">
                    <a:latin typeface="Helvetica Neue"/>
                  </a:rPr>
                  <a:t>động</a:t>
                </a:r>
                <a:endParaRPr lang="en-US" sz="2400" b="1" dirty="0">
                  <a:latin typeface="Helvetica Neue"/>
                </a:endParaRPr>
              </a:p>
              <a:p>
                <a:pPr marL="0" indent="0">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𝐷𝑜𝐺</m:t>
                      </m:r>
                      <m:d>
                        <m:dPr>
                          <m:ctrlPr>
                            <a:rPr lang="en-US" sz="2400" i="1">
                              <a:latin typeface="Cambria Math" panose="02040503050406030204" pitchFamily="18" charset="0"/>
                            </a:rPr>
                          </m:ctrlPr>
                        </m:dPr>
                        <m:e>
                          <m:r>
                            <a:rPr lang="en-US" sz="2400" i="1">
                              <a:latin typeface="Cambria Math" panose="02040503050406030204" pitchFamily="18" charset="0"/>
                            </a:rPr>
                            <m:t>𝑥</m:t>
                          </m:r>
                          <m:r>
                            <a:rPr lang="en-US" sz="2400">
                              <a:latin typeface="Cambria Math" panose="02040503050406030204" pitchFamily="18" charset="0"/>
                            </a:rPr>
                            <m:t>,</m:t>
                          </m:r>
                          <m:r>
                            <a:rPr lang="en-US" sz="2400" i="1">
                              <a:latin typeface="Cambria Math" panose="02040503050406030204" pitchFamily="18" charset="0"/>
                            </a:rPr>
                            <m:t>𝑦</m:t>
                          </m:r>
                        </m:e>
                      </m:d>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𝐺</m:t>
                          </m:r>
                        </m:e>
                        <m:sub>
                          <m:sSub>
                            <m:sSubPr>
                              <m:ctrlPr>
                                <a:rPr lang="en-US" sz="2400" i="1">
                                  <a:latin typeface="Cambria Math" panose="02040503050406030204" pitchFamily="18" charset="0"/>
                                </a:rPr>
                              </m:ctrlPr>
                            </m:sSubPr>
                            <m:e>
                              <m:r>
                                <a:rPr lang="en-US" sz="2400" i="1">
                                  <a:latin typeface="Cambria Math" panose="02040503050406030204" pitchFamily="18" charset="0"/>
                                </a:rPr>
                                <m:t>𝜎</m:t>
                              </m:r>
                            </m:e>
                            <m:sub>
                              <m:r>
                                <a:rPr lang="en-US" sz="2400" i="1">
                                  <a:latin typeface="Cambria Math" panose="02040503050406030204" pitchFamily="18" charset="0"/>
                                </a:rPr>
                                <m:t>1</m:t>
                              </m:r>
                            </m:sub>
                          </m:sSub>
                        </m:sub>
                      </m:sSub>
                      <m:d>
                        <m:dPr>
                          <m:ctrlPr>
                            <a:rPr lang="en-US" sz="2400" i="1">
                              <a:latin typeface="Cambria Math" panose="02040503050406030204" pitchFamily="18" charset="0"/>
                            </a:rPr>
                          </m:ctrlPr>
                        </m:dPr>
                        <m:e>
                          <m:r>
                            <a:rPr lang="en-US" sz="2400" i="1">
                              <a:latin typeface="Cambria Math" panose="02040503050406030204" pitchFamily="18" charset="0"/>
                            </a:rPr>
                            <m:t>𝑥</m:t>
                          </m:r>
                          <m:r>
                            <a:rPr lang="en-US" sz="2400">
                              <a:latin typeface="Cambria Math" panose="02040503050406030204" pitchFamily="18" charset="0"/>
                            </a:rPr>
                            <m:t>,</m:t>
                          </m:r>
                          <m:r>
                            <a:rPr lang="en-US" sz="2400" i="1">
                              <a:latin typeface="Cambria Math" panose="02040503050406030204" pitchFamily="18" charset="0"/>
                            </a:rPr>
                            <m:t>𝑦</m:t>
                          </m:r>
                        </m:e>
                      </m:d>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𝐺</m:t>
                          </m:r>
                        </m:e>
                        <m:sub>
                          <m:sSub>
                            <m:sSubPr>
                              <m:ctrlPr>
                                <a:rPr lang="en-US" sz="2400" i="1">
                                  <a:latin typeface="Cambria Math" panose="02040503050406030204" pitchFamily="18" charset="0"/>
                                </a:rPr>
                              </m:ctrlPr>
                            </m:sSubPr>
                            <m:e>
                              <m:r>
                                <a:rPr lang="en-US" sz="2400" i="1">
                                  <a:latin typeface="Cambria Math" panose="02040503050406030204" pitchFamily="18" charset="0"/>
                                </a:rPr>
                                <m:t>𝜎</m:t>
                              </m:r>
                            </m:e>
                            <m:sub>
                              <m:r>
                                <a:rPr lang="en-US" sz="2400" i="1">
                                  <a:latin typeface="Cambria Math" panose="02040503050406030204" pitchFamily="18" charset="0"/>
                                </a:rPr>
                                <m:t>2</m:t>
                              </m:r>
                            </m:sub>
                          </m:sSub>
                        </m:sub>
                      </m:sSub>
                      <m:d>
                        <m:dPr>
                          <m:ctrlPr>
                            <a:rPr lang="en-US" sz="2400" i="1">
                              <a:latin typeface="Cambria Math" panose="02040503050406030204" pitchFamily="18" charset="0"/>
                            </a:rPr>
                          </m:ctrlPr>
                        </m:dPr>
                        <m:e>
                          <m:r>
                            <a:rPr lang="en-US" sz="2400" i="1">
                              <a:latin typeface="Cambria Math" panose="02040503050406030204" pitchFamily="18" charset="0"/>
                            </a:rPr>
                            <m:t>𝑥</m:t>
                          </m:r>
                          <m:r>
                            <a:rPr lang="en-US" sz="2400">
                              <a:latin typeface="Cambria Math" panose="02040503050406030204" pitchFamily="18" charset="0"/>
                            </a:rPr>
                            <m:t>,</m:t>
                          </m:r>
                          <m:r>
                            <a:rPr lang="en-US" sz="2400" i="1">
                              <a:latin typeface="Cambria Math" panose="02040503050406030204" pitchFamily="18" charset="0"/>
                            </a:rPr>
                            <m:t>𝑦</m:t>
                          </m:r>
                        </m:e>
                      </m:d>
                    </m:oMath>
                  </m:oMathPara>
                </a14:m>
                <a:endParaRPr lang="en-US" sz="2400" dirty="0">
                  <a:latin typeface="Helvetica Neue"/>
                </a:endParaRPr>
              </a:p>
              <a:p>
                <a:pPr marL="0" indent="0">
                  <a:buNone/>
                </a:pPr>
                <a:endParaRPr lang="en-US" sz="2400" dirty="0">
                  <a:latin typeface="Helvetica Neue"/>
                </a:endParaRPr>
              </a:p>
              <a:p>
                <a:pPr marL="0" indent="0">
                  <a:buNone/>
                </a:pPr>
                <a:r>
                  <a:rPr lang="en-US" sz="2400" dirty="0">
                    <a:latin typeface="Helvetica Neue"/>
                  </a:rPr>
                  <a:t>	-</a:t>
                </a:r>
                <a:r>
                  <a:rPr lang="vi-VN" sz="2400" dirty="0">
                    <a:latin typeface="Helvetica Neue"/>
                  </a:rPr>
                  <a:t>Nếu 𝜎1</a:t>
                </a:r>
                <a:r>
                  <a:rPr lang="en-US" sz="2400" dirty="0">
                    <a:latin typeface="Helvetica Neue"/>
                  </a:rPr>
                  <a:t> </a:t>
                </a:r>
                <a:r>
                  <a:rPr lang="vi-VN" sz="2400" dirty="0">
                    <a:latin typeface="Helvetica Neue"/>
                  </a:rPr>
                  <a:t>nhỏ, nó giữ lại nhiều chi tiết hơn.</a:t>
                </a:r>
                <a:endParaRPr lang="en-US" sz="2400" dirty="0">
                  <a:latin typeface="Helvetica Neue"/>
                </a:endParaRPr>
              </a:p>
              <a:p>
                <a:pPr marL="0" indent="0">
                  <a:buNone/>
                </a:pPr>
                <a:r>
                  <a:rPr lang="en-US" sz="2400" dirty="0">
                    <a:latin typeface="Helvetica Neue"/>
                  </a:rPr>
                  <a:t>	-</a:t>
                </a:r>
                <a:r>
                  <a:rPr lang="vi-VN" sz="2400" dirty="0">
                    <a:latin typeface="Helvetica Neue"/>
                  </a:rPr>
                  <a:t>Nếu 𝜎2</a:t>
                </a:r>
                <a:r>
                  <a:rPr lang="en-US" sz="2400" dirty="0">
                    <a:latin typeface="Helvetica Neue"/>
                  </a:rPr>
                  <a:t> </a:t>
                </a:r>
                <a:r>
                  <a:rPr lang="vi-VN" sz="2400" dirty="0">
                    <a:latin typeface="Helvetica Neue"/>
                  </a:rPr>
                  <a:t>lớn, nó làm mờ mạnh hơn và giữ lại ít chi tiết hơn.</a:t>
                </a:r>
                <a:endParaRPr lang="en-US" sz="2400" dirty="0">
                  <a:latin typeface="Helvetica Neue"/>
                </a:endParaRPr>
              </a:p>
              <a:p>
                <a:pPr marL="0" indent="0">
                  <a:buNone/>
                </a:pPr>
                <a:r>
                  <a:rPr lang="en-US" sz="2400" dirty="0">
                    <a:latin typeface="Helvetica Neue"/>
                  </a:rPr>
                  <a:t>	-</a:t>
                </a:r>
                <a:r>
                  <a:rPr lang="vi-VN" sz="2400" dirty="0">
                    <a:latin typeface="Helvetica Neue"/>
                  </a:rPr>
                  <a:t>Khi lấy hiệu 𝐺𝜎1−𝐺𝜎2</a:t>
                </a:r>
                <a:r>
                  <a:rPr lang="el-GR" sz="2400" dirty="0">
                    <a:latin typeface="Helvetica Neue"/>
                  </a:rPr>
                  <a:t>, </a:t>
                </a:r>
                <a:r>
                  <a:rPr lang="vi-VN" sz="2400" dirty="0">
                    <a:latin typeface="Helvetica Neue"/>
                  </a:rPr>
                  <a:t>các chi tiết có kích thước nằm giữa hai mức làm mờ sẽ được giữ lại, còn nhiễu nhỏ và vùng phẳng bị loại bỏ.</a:t>
                </a:r>
                <a:endParaRPr lang="en-US" sz="2400" dirty="0">
                  <a:latin typeface="Helvetica Neue"/>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00496" y="3015403"/>
                <a:ext cx="9375268" cy="5372618"/>
              </a:xfrm>
              <a:blipFill>
                <a:blip r:embed="rId2"/>
                <a:stretch>
                  <a:fillRect l="-1041" t="-795" r="-846"/>
                </a:stretch>
              </a:blipFill>
            </p:spPr>
            <p:txBody>
              <a:bodyPr/>
              <a:lstStyle/>
              <a:p>
                <a:r>
                  <a:rPr lang="en-US">
                    <a:noFill/>
                  </a:rPr>
                  <a:t> </a:t>
                </a:r>
              </a:p>
            </p:txBody>
          </p:sp>
        </mc:Fallback>
      </mc:AlternateContent>
    </p:spTree>
    <p:extLst>
      <p:ext uri="{BB962C8B-B14F-4D97-AF65-F5344CB8AC3E}">
        <p14:creationId xmlns:p14="http://schemas.microsoft.com/office/powerpoint/2010/main" val="37532884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771946" y="1866900"/>
                <a:ext cx="9375268" cy="6806871"/>
              </a:xfrm>
            </p:spPr>
            <p:txBody>
              <a:bodyPr>
                <a:normAutofit/>
              </a:bodyPr>
              <a:lstStyle/>
              <a:p>
                <a:pPr marL="0" indent="0">
                  <a:buNone/>
                </a:pPr>
                <a:r>
                  <a:rPr lang="en-US" b="1" dirty="0" err="1">
                    <a:latin typeface="Helvetica Neue"/>
                  </a:rPr>
                  <a:t>Mặt</a:t>
                </a:r>
                <a:r>
                  <a:rPr lang="en-US" b="1" dirty="0">
                    <a:latin typeface="Helvetica Neue"/>
                  </a:rPr>
                  <a:t> </a:t>
                </a:r>
                <a:r>
                  <a:rPr lang="en-US" b="1" dirty="0" err="1">
                    <a:latin typeface="Helvetica Neue"/>
                  </a:rPr>
                  <a:t>nạ</a:t>
                </a:r>
                <a:r>
                  <a:rPr lang="en-US" b="1" dirty="0">
                    <a:latin typeface="Helvetica Neue"/>
                  </a:rPr>
                  <a:t> </a:t>
                </a:r>
                <a:r>
                  <a:rPr lang="en-US" b="1" dirty="0" err="1">
                    <a:latin typeface="Helvetica Neue"/>
                  </a:rPr>
                  <a:t>DoG</a:t>
                </a:r>
                <a:endParaRPr lang="en-US" b="1" dirty="0">
                  <a:latin typeface="Helvetica Neue"/>
                </a:endParaRPr>
              </a:p>
              <a:p>
                <a:pPr marL="0" indent="0">
                  <a:buNone/>
                </a:pPr>
                <a:r>
                  <a:rPr lang="en-US" dirty="0" err="1">
                    <a:latin typeface="Helvetica Neue"/>
                  </a:rPr>
                  <a:t>DoG</a:t>
                </a:r>
                <a:r>
                  <a:rPr lang="en-US" dirty="0">
                    <a:latin typeface="Helvetica Neue"/>
                  </a:rPr>
                  <a:t> </a:t>
                </a:r>
                <a:r>
                  <a:rPr lang="en-US" dirty="0" err="1">
                    <a:latin typeface="Helvetica Neue"/>
                  </a:rPr>
                  <a:t>không</a:t>
                </a:r>
                <a:r>
                  <a:rPr lang="en-US" dirty="0">
                    <a:latin typeface="Helvetica Neue"/>
                  </a:rPr>
                  <a:t> có </a:t>
                </a:r>
                <a:r>
                  <a:rPr lang="en-US" dirty="0" err="1">
                    <a:latin typeface="Helvetica Neue"/>
                  </a:rPr>
                  <a:t>một</a:t>
                </a:r>
                <a:r>
                  <a:rPr lang="en-US" dirty="0">
                    <a:latin typeface="Helvetica Neue"/>
                  </a:rPr>
                  <a:t> </a:t>
                </a:r>
                <a:r>
                  <a:rPr lang="en-US" dirty="0" err="1">
                    <a:latin typeface="Helvetica Neue"/>
                  </a:rPr>
                  <a:t>mặt</a:t>
                </a:r>
                <a:r>
                  <a:rPr lang="en-US" dirty="0">
                    <a:latin typeface="Helvetica Neue"/>
                  </a:rPr>
                  <a:t> </a:t>
                </a:r>
                <a:r>
                  <a:rPr lang="en-US" dirty="0" err="1">
                    <a:latin typeface="Helvetica Neue"/>
                  </a:rPr>
                  <a:t>nạ</a:t>
                </a:r>
                <a:r>
                  <a:rPr lang="en-US" dirty="0">
                    <a:latin typeface="Helvetica Neue"/>
                  </a:rPr>
                  <a:t> cố </a:t>
                </a:r>
                <a:r>
                  <a:rPr lang="en-US" dirty="0" err="1">
                    <a:latin typeface="Helvetica Neue"/>
                  </a:rPr>
                  <a:t>định</a:t>
                </a:r>
                <a:r>
                  <a:rPr lang="en-US" dirty="0">
                    <a:latin typeface="Helvetica Neue"/>
                  </a:rPr>
                  <a:t> </a:t>
                </a:r>
                <a:r>
                  <a:rPr lang="en-US" dirty="0" err="1">
                    <a:latin typeface="Helvetica Neue"/>
                  </a:rPr>
                  <a:t>như</a:t>
                </a:r>
                <a:r>
                  <a:rPr lang="en-US" dirty="0">
                    <a:latin typeface="Helvetica Neue"/>
                  </a:rPr>
                  <a:t> Laplacian hay Sobel mà </a:t>
                </a:r>
                <a:r>
                  <a:rPr lang="en-US" dirty="0" err="1">
                    <a:latin typeface="Helvetica Neue"/>
                  </a:rPr>
                  <a:t>được</a:t>
                </a:r>
                <a:r>
                  <a:rPr lang="en-US" dirty="0">
                    <a:latin typeface="Helvetica Neue"/>
                  </a:rPr>
                  <a:t> </a:t>
                </a:r>
                <a:r>
                  <a:rPr lang="en-US" dirty="0" err="1">
                    <a:latin typeface="Helvetica Neue"/>
                  </a:rPr>
                  <a:t>tạo</a:t>
                </a:r>
                <a:r>
                  <a:rPr lang="en-US" dirty="0">
                    <a:latin typeface="Helvetica Neue"/>
                  </a:rPr>
                  <a:t> </a:t>
                </a:r>
                <a:r>
                  <a:rPr lang="en-US" dirty="0" err="1">
                    <a:latin typeface="Helvetica Neue"/>
                  </a:rPr>
                  <a:t>bằng</a:t>
                </a:r>
                <a:r>
                  <a:rPr lang="en-US" dirty="0">
                    <a:latin typeface="Helvetica Neue"/>
                  </a:rPr>
                  <a:t> </a:t>
                </a:r>
                <a:r>
                  <a:rPr lang="en-US" dirty="0" err="1">
                    <a:latin typeface="Helvetica Neue"/>
                  </a:rPr>
                  <a:t>cách</a:t>
                </a:r>
                <a:r>
                  <a:rPr lang="en-US" dirty="0">
                    <a:latin typeface="Helvetica Neue"/>
                  </a:rPr>
                  <a:t> </a:t>
                </a:r>
                <a:r>
                  <a:rPr lang="en-US" dirty="0" err="1">
                    <a:latin typeface="Helvetica Neue"/>
                  </a:rPr>
                  <a:t>lấy</a:t>
                </a:r>
                <a:r>
                  <a:rPr lang="en-US" dirty="0">
                    <a:latin typeface="Helvetica Neue"/>
                  </a:rPr>
                  <a:t> </a:t>
                </a:r>
                <a:r>
                  <a:rPr lang="en-US" dirty="0" err="1">
                    <a:latin typeface="Helvetica Neue"/>
                  </a:rPr>
                  <a:t>hiệu</a:t>
                </a:r>
                <a:r>
                  <a:rPr lang="en-US" dirty="0">
                    <a:latin typeface="Helvetica Neue"/>
                  </a:rPr>
                  <a:t> </a:t>
                </a:r>
                <a:r>
                  <a:rPr lang="en-US" dirty="0" err="1">
                    <a:latin typeface="Helvetica Neue"/>
                  </a:rPr>
                  <a:t>của</a:t>
                </a:r>
                <a:r>
                  <a:rPr lang="en-US" dirty="0">
                    <a:latin typeface="Helvetica Neue"/>
                  </a:rPr>
                  <a:t> </a:t>
                </a:r>
                <a:r>
                  <a:rPr lang="en-US" dirty="0" err="1">
                    <a:latin typeface="Helvetica Neue"/>
                  </a:rPr>
                  <a:t>hai</a:t>
                </a:r>
                <a:r>
                  <a:rPr lang="en-US" dirty="0">
                    <a:latin typeface="Helvetica Neue"/>
                  </a:rPr>
                  <a:t> </a:t>
                </a:r>
                <a:r>
                  <a:rPr lang="en-US" dirty="0" err="1">
                    <a:latin typeface="Helvetica Neue"/>
                  </a:rPr>
                  <a:t>bộ</a:t>
                </a:r>
                <a:r>
                  <a:rPr lang="en-US" dirty="0">
                    <a:latin typeface="Helvetica Neue"/>
                  </a:rPr>
                  <a:t> </a:t>
                </a:r>
                <a:r>
                  <a:rPr lang="en-US" dirty="0" err="1">
                    <a:latin typeface="Helvetica Neue"/>
                  </a:rPr>
                  <a:t>lọc</a:t>
                </a:r>
                <a:r>
                  <a:rPr lang="en-US" dirty="0">
                    <a:latin typeface="Helvetica Neue"/>
                  </a:rPr>
                  <a:t> Gaussian.</a:t>
                </a:r>
              </a:p>
              <a:p>
                <a:r>
                  <a:rPr lang="en-US" dirty="0" err="1">
                    <a:latin typeface="Helvetica Neue"/>
                  </a:rPr>
                  <a:t>Ví</a:t>
                </a:r>
                <a:r>
                  <a:rPr lang="en-US" dirty="0">
                    <a:latin typeface="Helvetica Neue"/>
                  </a:rPr>
                  <a:t> </a:t>
                </a:r>
                <a:r>
                  <a:rPr lang="en-US" dirty="0" err="1">
                    <a:latin typeface="Helvetica Neue"/>
                  </a:rPr>
                  <a:t>dụ</a:t>
                </a:r>
                <a:r>
                  <a:rPr lang="en-US" dirty="0">
                    <a:latin typeface="Helvetica Neue"/>
                  </a:rPr>
                  <a:t>, </a:t>
                </a:r>
                <a:r>
                  <a:rPr lang="en-US" dirty="0" err="1">
                    <a:latin typeface="Helvetica Neue"/>
                  </a:rPr>
                  <a:t>nếu</a:t>
                </a:r>
                <a:r>
                  <a:rPr lang="en-US" dirty="0">
                    <a:latin typeface="Helvetica Neue"/>
                  </a:rPr>
                  <a:t> </a:t>
                </a:r>
                <a:r>
                  <a:rPr lang="en-US" dirty="0" err="1">
                    <a:latin typeface="Helvetica Neue"/>
                  </a:rPr>
                  <a:t>áp</a:t>
                </a:r>
                <a:r>
                  <a:rPr lang="en-US" dirty="0">
                    <a:latin typeface="Helvetica Neue"/>
                  </a:rPr>
                  <a:t> </a:t>
                </a:r>
                <a:r>
                  <a:rPr lang="en-US" dirty="0" err="1">
                    <a:latin typeface="Helvetica Neue"/>
                  </a:rPr>
                  <a:t>dụng</a:t>
                </a:r>
                <a:r>
                  <a:rPr lang="en-US" dirty="0">
                    <a:latin typeface="Helvetica Neue"/>
                  </a:rPr>
                  <a:t> </a:t>
                </a:r>
                <a:r>
                  <a:rPr lang="en-US" dirty="0" err="1">
                    <a:latin typeface="Helvetica Neue"/>
                  </a:rPr>
                  <a:t>hai</a:t>
                </a:r>
                <a:r>
                  <a:rPr lang="en-US" dirty="0">
                    <a:latin typeface="Helvetica Neue"/>
                  </a:rPr>
                  <a:t> </a:t>
                </a:r>
                <a:r>
                  <a:rPr lang="en-US" dirty="0" err="1">
                    <a:latin typeface="Helvetica Neue"/>
                  </a:rPr>
                  <a:t>bộ</a:t>
                </a:r>
                <a:r>
                  <a:rPr lang="en-US" dirty="0">
                    <a:latin typeface="Helvetica Neue"/>
                  </a:rPr>
                  <a:t> </a:t>
                </a:r>
                <a:r>
                  <a:rPr lang="en-US" dirty="0" err="1">
                    <a:latin typeface="Helvetica Neue"/>
                  </a:rPr>
                  <a:t>lọc</a:t>
                </a:r>
                <a:r>
                  <a:rPr lang="en-US" dirty="0">
                    <a:latin typeface="Helvetica Neue"/>
                  </a:rPr>
                  <a:t> Gaussian </a:t>
                </a:r>
                <a14:m>
                  <m:oMath xmlns:m="http://schemas.openxmlformats.org/officeDocument/2006/math">
                    <m:r>
                      <a:rPr lang="en-US" i="1">
                        <a:latin typeface="Cambria Math" panose="02040503050406030204" pitchFamily="18" charset="0"/>
                      </a:rPr>
                      <m:t>5</m:t>
                    </m:r>
                    <m:r>
                      <a:rPr lang="en-US">
                        <a:latin typeface="Cambria Math" panose="02040503050406030204" pitchFamily="18" charset="0"/>
                      </a:rPr>
                      <m:t>×</m:t>
                    </m:r>
                    <m:r>
                      <a:rPr lang="en-US" i="1">
                        <a:latin typeface="Cambria Math" panose="02040503050406030204" pitchFamily="18" charset="0"/>
                      </a:rPr>
                      <m:t>5</m:t>
                    </m:r>
                  </m:oMath>
                </a14:m>
                <a:r>
                  <a:rPr lang="en-US" dirty="0">
                    <a:latin typeface="Helvetica Neue"/>
                  </a:rPr>
                  <a:t> </a:t>
                </a:r>
                <a:r>
                  <a:rPr lang="en-US" dirty="0" err="1">
                    <a:latin typeface="Helvetica Neue"/>
                  </a:rPr>
                  <a:t>với</a:t>
                </a:r>
                <a:r>
                  <a:rPr lang="en-US" dirty="0">
                    <a:latin typeface="Helvetica Neue"/>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1</m:t>
                        </m:r>
                      </m:sub>
                    </m:sSub>
                    <m:r>
                      <a:rPr lang="en-US">
                        <a:latin typeface="Cambria Math" panose="02040503050406030204" pitchFamily="18" charset="0"/>
                      </a:rPr>
                      <m:t>=</m:t>
                    </m:r>
                    <m:r>
                      <a:rPr lang="en-US" i="1">
                        <a:latin typeface="Cambria Math" panose="02040503050406030204" pitchFamily="18" charset="0"/>
                      </a:rPr>
                      <m:t>1</m:t>
                    </m:r>
                  </m:oMath>
                </a14:m>
                <a:r>
                  <a:rPr lang="en-US" dirty="0">
                    <a:latin typeface="Helvetica Neue"/>
                  </a:rPr>
                  <a:t> </a:t>
                </a:r>
                <a:r>
                  <a:rPr lang="en-US" dirty="0" err="1">
                    <a:latin typeface="Helvetica Neue"/>
                  </a:rPr>
                  <a:t>và</a:t>
                </a:r>
                <a:r>
                  <a:rPr lang="en-US" dirty="0">
                    <a:latin typeface="Helvetica Neue"/>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2</m:t>
                        </m:r>
                      </m:sub>
                    </m:sSub>
                    <m:r>
                      <a:rPr lang="en-US">
                        <a:latin typeface="Cambria Math" panose="02040503050406030204" pitchFamily="18" charset="0"/>
                      </a:rPr>
                      <m:t>=</m:t>
                    </m:r>
                    <m:r>
                      <a:rPr lang="en-US" i="1">
                        <a:latin typeface="Cambria Math" panose="02040503050406030204" pitchFamily="18" charset="0"/>
                      </a:rPr>
                      <m:t>2</m:t>
                    </m:r>
                  </m:oMath>
                </a14:m>
                <a:r>
                  <a:rPr lang="en-US" dirty="0">
                    <a:latin typeface="Helvetica Neue"/>
                  </a:rPr>
                  <a:t>, ta </a:t>
                </a:r>
                <a:r>
                  <a:rPr lang="en-US" dirty="0" err="1">
                    <a:latin typeface="Helvetica Neue"/>
                  </a:rPr>
                  <a:t>sẽ</a:t>
                </a:r>
                <a:r>
                  <a:rPr lang="en-US" dirty="0">
                    <a:latin typeface="Helvetica Neue"/>
                  </a:rPr>
                  <a:t> có </a:t>
                </a:r>
                <a:r>
                  <a:rPr lang="en-US" dirty="0" err="1">
                    <a:latin typeface="Helvetica Neue"/>
                  </a:rPr>
                  <a:t>hai</a:t>
                </a:r>
                <a:r>
                  <a:rPr lang="en-US" dirty="0">
                    <a:latin typeface="Helvetica Neue"/>
                  </a:rPr>
                  <a:t> ma </a:t>
                </a:r>
                <a:r>
                  <a:rPr lang="en-US" dirty="0" err="1">
                    <a:latin typeface="Helvetica Neue"/>
                  </a:rPr>
                  <a:t>trận</a:t>
                </a:r>
                <a:r>
                  <a:rPr lang="en-US" dirty="0">
                    <a:latin typeface="Helvetica Neue"/>
                  </a:rPr>
                  <a:t> kernel:</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𝐺</m:t>
                          </m:r>
                        </m:e>
                        <m:sub>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1</m:t>
                              </m:r>
                            </m:sub>
                          </m:sSub>
                        </m:sub>
                      </m:sSub>
                      <m:r>
                        <a:rPr lang="en-US">
                          <a:latin typeface="Cambria Math" panose="02040503050406030204" pitchFamily="18" charset="0"/>
                        </a:rPr>
                        <m:t>=</m:t>
                      </m:r>
                      <m:d>
                        <m:dPr>
                          <m:begChr m:val="["/>
                          <m:endChr m:val="]"/>
                          <m:ctrlPr>
                            <a:rPr lang="en-US" i="1">
                              <a:latin typeface="Cambria Math" panose="02040503050406030204" pitchFamily="18" charset="0"/>
                            </a:rPr>
                          </m:ctrlPr>
                        </m:dPr>
                        <m:e>
                          <m:m>
                            <m:mPr>
                              <m:plcHide m:val="on"/>
                              <m:mcs>
                                <m:mc>
                                  <m:mcPr>
                                    <m:count m:val="5"/>
                                    <m:mcJc m:val="center"/>
                                  </m:mcPr>
                                </m:mc>
                              </m:mcs>
                              <m:ctrlPr>
                                <a:rPr lang="en-US" i="1">
                                  <a:latin typeface="Cambria Math" panose="02040503050406030204" pitchFamily="18" charset="0"/>
                                </a:rPr>
                              </m:ctrlPr>
                            </m:mPr>
                            <m:mr>
                              <m:e>
                                <m:r>
                                  <a:rPr lang="en-US" i="1">
                                    <a:latin typeface="Cambria Math" panose="02040503050406030204" pitchFamily="18" charset="0"/>
                                  </a:rPr>
                                  <m:t>1</m:t>
                                </m:r>
                              </m:e>
                              <m:e>
                                <m:r>
                                  <a:rPr lang="en-US" i="1">
                                    <a:latin typeface="Cambria Math" panose="02040503050406030204" pitchFamily="18" charset="0"/>
                                  </a:rPr>
                                  <m:t>4</m:t>
                                </m:r>
                              </m:e>
                              <m:e>
                                <m:r>
                                  <a:rPr lang="en-US" i="1">
                                    <a:latin typeface="Cambria Math" panose="02040503050406030204" pitchFamily="18" charset="0"/>
                                  </a:rPr>
                                  <m:t>7</m:t>
                                </m:r>
                              </m:e>
                              <m:e>
                                <m:r>
                                  <a:rPr lang="en-US" i="1">
                                    <a:latin typeface="Cambria Math" panose="02040503050406030204" pitchFamily="18" charset="0"/>
                                  </a:rPr>
                                  <m:t>4</m:t>
                                </m:r>
                              </m:e>
                              <m:e>
                                <m:r>
                                  <a:rPr lang="en-US" i="1">
                                    <a:latin typeface="Cambria Math" panose="02040503050406030204" pitchFamily="18" charset="0"/>
                                  </a:rPr>
                                  <m:t>1</m:t>
                                </m:r>
                              </m:e>
                            </m:mr>
                            <m:mr>
                              <m:e>
                                <m:r>
                                  <a:rPr lang="en-US" i="1">
                                    <a:latin typeface="Cambria Math" panose="02040503050406030204" pitchFamily="18" charset="0"/>
                                  </a:rPr>
                                  <m:t>4</m:t>
                                </m:r>
                              </m:e>
                              <m:e>
                                <m:r>
                                  <a:rPr lang="en-US" i="1">
                                    <a:latin typeface="Cambria Math" panose="02040503050406030204" pitchFamily="18" charset="0"/>
                                  </a:rPr>
                                  <m:t>16</m:t>
                                </m:r>
                              </m:e>
                              <m:e>
                                <m:r>
                                  <a:rPr lang="en-US" i="1">
                                    <a:latin typeface="Cambria Math" panose="02040503050406030204" pitchFamily="18" charset="0"/>
                                  </a:rPr>
                                  <m:t>26</m:t>
                                </m:r>
                              </m:e>
                              <m:e>
                                <m:r>
                                  <a:rPr lang="en-US" i="1">
                                    <a:latin typeface="Cambria Math" panose="02040503050406030204" pitchFamily="18" charset="0"/>
                                  </a:rPr>
                                  <m:t>16</m:t>
                                </m:r>
                              </m:e>
                              <m:e>
                                <m:r>
                                  <a:rPr lang="en-US" i="1">
                                    <a:latin typeface="Cambria Math" panose="02040503050406030204" pitchFamily="18" charset="0"/>
                                  </a:rPr>
                                  <m:t>4</m:t>
                                </m:r>
                              </m:e>
                            </m:mr>
                            <m:mr>
                              <m:e>
                                <m:r>
                                  <a:rPr lang="en-US" i="1">
                                    <a:latin typeface="Cambria Math" panose="02040503050406030204" pitchFamily="18" charset="0"/>
                                  </a:rPr>
                                  <m:t>7</m:t>
                                </m:r>
                              </m:e>
                              <m:e>
                                <m:r>
                                  <a:rPr lang="en-US" i="1">
                                    <a:latin typeface="Cambria Math" panose="02040503050406030204" pitchFamily="18" charset="0"/>
                                  </a:rPr>
                                  <m:t>26</m:t>
                                </m:r>
                              </m:e>
                              <m:e>
                                <m:r>
                                  <a:rPr lang="en-US" i="1">
                                    <a:latin typeface="Cambria Math" panose="02040503050406030204" pitchFamily="18" charset="0"/>
                                  </a:rPr>
                                  <m:t>41</m:t>
                                </m:r>
                              </m:e>
                              <m:e>
                                <m:r>
                                  <a:rPr lang="en-US" i="1">
                                    <a:latin typeface="Cambria Math" panose="02040503050406030204" pitchFamily="18" charset="0"/>
                                  </a:rPr>
                                  <m:t>26</m:t>
                                </m:r>
                              </m:e>
                              <m:e>
                                <m:r>
                                  <a:rPr lang="en-US" i="1">
                                    <a:latin typeface="Cambria Math" panose="02040503050406030204" pitchFamily="18" charset="0"/>
                                  </a:rPr>
                                  <m:t>7</m:t>
                                </m:r>
                              </m:e>
                            </m:mr>
                            <m:mr>
                              <m:e>
                                <m:r>
                                  <a:rPr lang="en-US" i="1">
                                    <a:latin typeface="Cambria Math" panose="02040503050406030204" pitchFamily="18" charset="0"/>
                                  </a:rPr>
                                  <m:t>4</m:t>
                                </m:r>
                              </m:e>
                              <m:e>
                                <m:r>
                                  <a:rPr lang="en-US" i="1">
                                    <a:latin typeface="Cambria Math" panose="02040503050406030204" pitchFamily="18" charset="0"/>
                                  </a:rPr>
                                  <m:t>16</m:t>
                                </m:r>
                              </m:e>
                              <m:e>
                                <m:r>
                                  <a:rPr lang="en-US" i="1">
                                    <a:latin typeface="Cambria Math" panose="02040503050406030204" pitchFamily="18" charset="0"/>
                                  </a:rPr>
                                  <m:t>26</m:t>
                                </m:r>
                              </m:e>
                              <m:e>
                                <m:r>
                                  <a:rPr lang="en-US" i="1">
                                    <a:latin typeface="Cambria Math" panose="02040503050406030204" pitchFamily="18" charset="0"/>
                                  </a:rPr>
                                  <m:t>16</m:t>
                                </m:r>
                              </m:e>
                              <m:e>
                                <m:r>
                                  <a:rPr lang="en-US" i="1">
                                    <a:latin typeface="Cambria Math" panose="02040503050406030204" pitchFamily="18" charset="0"/>
                                  </a:rPr>
                                  <m:t>4</m:t>
                                </m:r>
                              </m:e>
                            </m:mr>
                            <m:mr>
                              <m:e>
                                <m:r>
                                  <a:rPr lang="en-US" i="1">
                                    <a:latin typeface="Cambria Math" panose="02040503050406030204" pitchFamily="18" charset="0"/>
                                  </a:rPr>
                                  <m:t>1</m:t>
                                </m:r>
                              </m:e>
                              <m:e>
                                <m:r>
                                  <a:rPr lang="en-US" i="1">
                                    <a:latin typeface="Cambria Math" panose="02040503050406030204" pitchFamily="18" charset="0"/>
                                  </a:rPr>
                                  <m:t>4</m:t>
                                </m:r>
                              </m:e>
                              <m:e>
                                <m:r>
                                  <a:rPr lang="en-US" i="1">
                                    <a:latin typeface="Cambria Math" panose="02040503050406030204" pitchFamily="18" charset="0"/>
                                  </a:rPr>
                                  <m:t>7</m:t>
                                </m:r>
                              </m:e>
                              <m:e>
                                <m:r>
                                  <a:rPr lang="en-US" i="1">
                                    <a:latin typeface="Cambria Math" panose="02040503050406030204" pitchFamily="18" charset="0"/>
                                  </a:rPr>
                                  <m:t>4</m:t>
                                </m:r>
                              </m:e>
                              <m:e>
                                <m:r>
                                  <a:rPr lang="en-US" i="1">
                                    <a:latin typeface="Cambria Math" panose="02040503050406030204" pitchFamily="18" charset="0"/>
                                  </a:rPr>
                                  <m:t>1</m:t>
                                </m:r>
                              </m:e>
                            </m:mr>
                          </m:m>
                        </m:e>
                      </m:d>
                    </m:oMath>
                  </m:oMathPara>
                </a14:m>
                <a:endParaRPr lang="en-US" dirty="0">
                  <a:latin typeface="Helvetica Neue"/>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𝐺</m:t>
                          </m:r>
                        </m:e>
                        <m:sub>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2</m:t>
                              </m:r>
                            </m:sub>
                          </m:sSub>
                        </m:sub>
                      </m:sSub>
                      <m:r>
                        <a:rPr lang="en-US">
                          <a:latin typeface="Cambria Math" panose="02040503050406030204" pitchFamily="18" charset="0"/>
                        </a:rPr>
                        <m:t>=</m:t>
                      </m:r>
                      <m:d>
                        <m:dPr>
                          <m:begChr m:val="["/>
                          <m:endChr m:val="]"/>
                          <m:ctrlPr>
                            <a:rPr lang="en-US" i="1">
                              <a:latin typeface="Cambria Math" panose="02040503050406030204" pitchFamily="18" charset="0"/>
                            </a:rPr>
                          </m:ctrlPr>
                        </m:dPr>
                        <m:e>
                          <m:m>
                            <m:mPr>
                              <m:plcHide m:val="on"/>
                              <m:mcs>
                                <m:mc>
                                  <m:mcPr>
                                    <m:count m:val="5"/>
                                    <m:mcJc m:val="center"/>
                                  </m:mcPr>
                                </m:mc>
                              </m:mcs>
                              <m:ctrlPr>
                                <a:rPr lang="en-US" i="1">
                                  <a:latin typeface="Cambria Math" panose="02040503050406030204" pitchFamily="18" charset="0"/>
                                </a:rPr>
                              </m:ctrlPr>
                            </m:mPr>
                            <m:mr>
                              <m:e>
                                <m:r>
                                  <a:rPr lang="en-US" i="1">
                                    <a:latin typeface="Cambria Math" panose="02040503050406030204" pitchFamily="18" charset="0"/>
                                  </a:rPr>
                                  <m:t>1</m:t>
                                </m:r>
                              </m:e>
                              <m:e>
                                <m:r>
                                  <a:rPr lang="en-US" i="1">
                                    <a:latin typeface="Cambria Math" panose="02040503050406030204" pitchFamily="18" charset="0"/>
                                  </a:rPr>
                                  <m:t>2</m:t>
                                </m:r>
                              </m:e>
                              <m:e>
                                <m:r>
                                  <a:rPr lang="en-US" i="1">
                                    <a:latin typeface="Cambria Math" panose="02040503050406030204" pitchFamily="18" charset="0"/>
                                  </a:rPr>
                                  <m:t>3</m:t>
                                </m:r>
                              </m:e>
                              <m:e>
                                <m:r>
                                  <a:rPr lang="en-US" i="1">
                                    <a:latin typeface="Cambria Math" panose="02040503050406030204" pitchFamily="18" charset="0"/>
                                  </a:rPr>
                                  <m:t>2</m:t>
                                </m:r>
                              </m:e>
                              <m:e>
                                <m:r>
                                  <a:rPr lang="en-US" i="1">
                                    <a:latin typeface="Cambria Math" panose="02040503050406030204" pitchFamily="18" charset="0"/>
                                  </a:rPr>
                                  <m:t>1</m:t>
                                </m:r>
                              </m:e>
                            </m:mr>
                            <m:mr>
                              <m:e>
                                <m:r>
                                  <a:rPr lang="en-US" i="1">
                                    <a:latin typeface="Cambria Math" panose="02040503050406030204" pitchFamily="18" charset="0"/>
                                  </a:rPr>
                                  <m:t>2</m:t>
                                </m:r>
                              </m:e>
                              <m:e>
                                <m:r>
                                  <a:rPr lang="en-US" i="1">
                                    <a:latin typeface="Cambria Math" panose="02040503050406030204" pitchFamily="18" charset="0"/>
                                  </a:rPr>
                                  <m:t>4</m:t>
                                </m:r>
                              </m:e>
                              <m:e>
                                <m:r>
                                  <a:rPr lang="en-US" i="1">
                                    <a:latin typeface="Cambria Math" panose="02040503050406030204" pitchFamily="18" charset="0"/>
                                  </a:rPr>
                                  <m:t>5</m:t>
                                </m:r>
                              </m:e>
                              <m:e>
                                <m:r>
                                  <a:rPr lang="en-US" i="1">
                                    <a:latin typeface="Cambria Math" panose="02040503050406030204" pitchFamily="18" charset="0"/>
                                  </a:rPr>
                                  <m:t>4</m:t>
                                </m:r>
                              </m:e>
                              <m:e>
                                <m:r>
                                  <a:rPr lang="en-US" i="1">
                                    <a:latin typeface="Cambria Math" panose="02040503050406030204" pitchFamily="18" charset="0"/>
                                  </a:rPr>
                                  <m:t>2</m:t>
                                </m:r>
                              </m:e>
                            </m:mr>
                            <m:mr>
                              <m:e>
                                <m:r>
                                  <a:rPr lang="en-US" i="1">
                                    <a:latin typeface="Cambria Math" panose="02040503050406030204" pitchFamily="18" charset="0"/>
                                  </a:rPr>
                                  <m:t>3</m:t>
                                </m:r>
                              </m:e>
                              <m:e>
                                <m:r>
                                  <a:rPr lang="en-US" i="1">
                                    <a:latin typeface="Cambria Math" panose="02040503050406030204" pitchFamily="18" charset="0"/>
                                  </a:rPr>
                                  <m:t>5</m:t>
                                </m:r>
                              </m:e>
                              <m:e>
                                <m:r>
                                  <a:rPr lang="en-US" i="1">
                                    <a:latin typeface="Cambria Math" panose="02040503050406030204" pitchFamily="18" charset="0"/>
                                  </a:rPr>
                                  <m:t>6</m:t>
                                </m:r>
                              </m:e>
                              <m:e>
                                <m:r>
                                  <a:rPr lang="en-US" i="1">
                                    <a:latin typeface="Cambria Math" panose="02040503050406030204" pitchFamily="18" charset="0"/>
                                  </a:rPr>
                                  <m:t>5</m:t>
                                </m:r>
                              </m:e>
                              <m:e>
                                <m:r>
                                  <a:rPr lang="en-US" i="1">
                                    <a:latin typeface="Cambria Math" panose="02040503050406030204" pitchFamily="18" charset="0"/>
                                  </a:rPr>
                                  <m:t>3</m:t>
                                </m:r>
                              </m:e>
                            </m:mr>
                            <m:mr>
                              <m:e>
                                <m:r>
                                  <a:rPr lang="en-US" i="1">
                                    <a:latin typeface="Cambria Math" panose="02040503050406030204" pitchFamily="18" charset="0"/>
                                  </a:rPr>
                                  <m:t>2</m:t>
                                </m:r>
                              </m:e>
                              <m:e>
                                <m:r>
                                  <a:rPr lang="en-US" i="1">
                                    <a:latin typeface="Cambria Math" panose="02040503050406030204" pitchFamily="18" charset="0"/>
                                  </a:rPr>
                                  <m:t>4</m:t>
                                </m:r>
                              </m:e>
                              <m:e>
                                <m:r>
                                  <a:rPr lang="en-US" i="1">
                                    <a:latin typeface="Cambria Math" panose="02040503050406030204" pitchFamily="18" charset="0"/>
                                  </a:rPr>
                                  <m:t>5</m:t>
                                </m:r>
                              </m:e>
                              <m:e>
                                <m:r>
                                  <a:rPr lang="en-US" i="1">
                                    <a:latin typeface="Cambria Math" panose="02040503050406030204" pitchFamily="18" charset="0"/>
                                  </a:rPr>
                                  <m:t>4</m:t>
                                </m:r>
                              </m:e>
                              <m:e>
                                <m:r>
                                  <a:rPr lang="en-US" i="1">
                                    <a:latin typeface="Cambria Math" panose="02040503050406030204" pitchFamily="18" charset="0"/>
                                  </a:rPr>
                                  <m:t>2</m:t>
                                </m:r>
                              </m:e>
                            </m:mr>
                            <m:mr>
                              <m:e>
                                <m:r>
                                  <a:rPr lang="en-US" i="1">
                                    <a:latin typeface="Cambria Math" panose="02040503050406030204" pitchFamily="18" charset="0"/>
                                  </a:rPr>
                                  <m:t>1</m:t>
                                </m:r>
                              </m:e>
                              <m:e>
                                <m:r>
                                  <a:rPr lang="en-US" i="1">
                                    <a:latin typeface="Cambria Math" panose="02040503050406030204" pitchFamily="18" charset="0"/>
                                  </a:rPr>
                                  <m:t>2</m:t>
                                </m:r>
                              </m:e>
                              <m:e>
                                <m:r>
                                  <a:rPr lang="en-US" i="1">
                                    <a:latin typeface="Cambria Math" panose="02040503050406030204" pitchFamily="18" charset="0"/>
                                  </a:rPr>
                                  <m:t>3</m:t>
                                </m:r>
                              </m:e>
                              <m:e>
                                <m:r>
                                  <a:rPr lang="en-US" i="1">
                                    <a:latin typeface="Cambria Math" panose="02040503050406030204" pitchFamily="18" charset="0"/>
                                  </a:rPr>
                                  <m:t>2</m:t>
                                </m:r>
                              </m:e>
                              <m:e>
                                <m:r>
                                  <a:rPr lang="en-US" i="1">
                                    <a:latin typeface="Cambria Math" panose="02040503050406030204" pitchFamily="18" charset="0"/>
                                  </a:rPr>
                                  <m:t>1</m:t>
                                </m:r>
                              </m:e>
                            </m:mr>
                          </m:m>
                        </m:e>
                      </m:d>
                    </m:oMath>
                  </m:oMathPara>
                </a14:m>
                <a:endParaRPr lang="en-US" dirty="0">
                  <a:latin typeface="Helvetica Neue"/>
                </a:endParaRPr>
              </a:p>
              <a:p>
                <a:pPr marL="0" indent="0">
                  <a:buNone/>
                </a:pPr>
                <a:r>
                  <a:rPr lang="en-US" dirty="0" err="1">
                    <a:latin typeface="Helvetica Neue"/>
                  </a:rPr>
                  <a:t>Lấy</a:t>
                </a:r>
                <a:r>
                  <a:rPr lang="en-US" dirty="0">
                    <a:latin typeface="Helvetica Neue"/>
                  </a:rPr>
                  <a:t> </a:t>
                </a:r>
                <a:r>
                  <a:rPr lang="en-US" dirty="0" err="1">
                    <a:latin typeface="Helvetica Neue"/>
                  </a:rPr>
                  <a:t>hiệu</a:t>
                </a:r>
                <a:r>
                  <a:rPr lang="en-US" dirty="0">
                    <a:latin typeface="Helvetica Neue"/>
                  </a:rPr>
                  <a:t> </a:t>
                </a:r>
                <a:r>
                  <a:rPr lang="en-US" dirty="0" err="1">
                    <a:latin typeface="Helvetica Neue"/>
                  </a:rPr>
                  <a:t>hai</a:t>
                </a:r>
                <a:r>
                  <a:rPr lang="en-US" dirty="0">
                    <a:latin typeface="Helvetica Neue"/>
                  </a:rPr>
                  <a:t> ma </a:t>
                </a:r>
                <a:r>
                  <a:rPr lang="en-US" dirty="0" err="1">
                    <a:latin typeface="Helvetica Neue"/>
                  </a:rPr>
                  <a:t>trận</a:t>
                </a:r>
                <a:r>
                  <a:rPr lang="en-US" dirty="0">
                    <a:latin typeface="Helvetica Neue"/>
                  </a:rPr>
                  <a:t> này </a:t>
                </a:r>
                <a:r>
                  <a:rPr lang="en-US" dirty="0" err="1">
                    <a:latin typeface="Helvetica Neue"/>
                  </a:rPr>
                  <a:t>sẽ</a:t>
                </a:r>
                <a:r>
                  <a:rPr lang="en-US" dirty="0">
                    <a:latin typeface="Helvetica Neue"/>
                  </a:rPr>
                  <a:t> </a:t>
                </a:r>
                <a:r>
                  <a:rPr lang="en-US" dirty="0" err="1">
                    <a:latin typeface="Helvetica Neue"/>
                  </a:rPr>
                  <a:t>cho</a:t>
                </a:r>
                <a:r>
                  <a:rPr lang="en-US" dirty="0">
                    <a:latin typeface="Helvetica Neue"/>
                  </a:rPr>
                  <a:t> </a:t>
                </a:r>
                <a:r>
                  <a:rPr lang="en-US" dirty="0" err="1">
                    <a:latin typeface="Helvetica Neue"/>
                  </a:rPr>
                  <a:t>ra</a:t>
                </a:r>
                <a:r>
                  <a:rPr lang="en-US" dirty="0">
                    <a:latin typeface="Helvetica Neue"/>
                  </a:rPr>
                  <a:t> </a:t>
                </a:r>
                <a:r>
                  <a:rPr lang="en-US" dirty="0" err="1">
                    <a:latin typeface="Helvetica Neue"/>
                  </a:rPr>
                  <a:t>mặt</a:t>
                </a:r>
                <a:r>
                  <a:rPr lang="en-US" dirty="0">
                    <a:latin typeface="Helvetica Neue"/>
                  </a:rPr>
                  <a:t> </a:t>
                </a:r>
                <a:r>
                  <a:rPr lang="en-US" dirty="0" err="1">
                    <a:latin typeface="Helvetica Neue"/>
                  </a:rPr>
                  <a:t>nạ</a:t>
                </a:r>
                <a:r>
                  <a:rPr lang="en-US" dirty="0">
                    <a:latin typeface="Helvetica Neue"/>
                  </a:rPr>
                  <a:t> </a:t>
                </a:r>
                <a:r>
                  <a:rPr lang="en-US" dirty="0" err="1">
                    <a:latin typeface="Helvetica Neue"/>
                  </a:rPr>
                  <a:t>DoG</a:t>
                </a:r>
                <a:r>
                  <a:rPr lang="en-US" dirty="0">
                    <a:latin typeface="Helvetica Neue"/>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771946" y="1866900"/>
                <a:ext cx="9375268" cy="6806871"/>
              </a:xfrm>
              <a:blipFill>
                <a:blip r:embed="rId2"/>
                <a:stretch>
                  <a:fillRect l="-1170" t="-806" r="-1886"/>
                </a:stretch>
              </a:blipFill>
            </p:spPr>
            <p:txBody>
              <a:bodyPr/>
              <a:lstStyle/>
              <a:p>
                <a:r>
                  <a:rPr lang="en-US">
                    <a:noFill/>
                  </a:rPr>
                  <a:t> </a:t>
                </a:r>
              </a:p>
            </p:txBody>
          </p:sp>
        </mc:Fallback>
      </mc:AlternateContent>
    </p:spTree>
    <p:extLst>
      <p:ext uri="{BB962C8B-B14F-4D97-AF65-F5344CB8AC3E}">
        <p14:creationId xmlns:p14="http://schemas.microsoft.com/office/powerpoint/2010/main" val="39851964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90946" y="1872403"/>
                <a:ext cx="9375268" cy="5372618"/>
              </a:xfrm>
            </p:spPr>
            <p:txBody>
              <a:bodyPr>
                <a:noAutofit/>
              </a:bodyPr>
              <a:lstStyle/>
              <a:p>
                <a:pPr marL="0" indent="0">
                  <a:buNone/>
                </a:pPr>
                <a:r>
                  <a:rPr lang="en-US" sz="2400" b="1" dirty="0" err="1">
                    <a:latin typeface="Helvetica Neue"/>
                  </a:rPr>
                  <a:t>Các</a:t>
                </a:r>
                <a:r>
                  <a:rPr lang="en-US" sz="2400" b="1" dirty="0">
                    <a:latin typeface="Helvetica Neue"/>
                  </a:rPr>
                  <a:t> </a:t>
                </a:r>
                <a:r>
                  <a:rPr lang="en-US" sz="2400" b="1" dirty="0" err="1">
                    <a:latin typeface="Helvetica Neue"/>
                  </a:rPr>
                  <a:t>bước</a:t>
                </a:r>
                <a:r>
                  <a:rPr lang="en-US" sz="2400" b="1" dirty="0">
                    <a:latin typeface="Helvetica Neue"/>
                  </a:rPr>
                  <a:t> </a:t>
                </a:r>
                <a:r>
                  <a:rPr lang="en-US" sz="2400" b="1" dirty="0" err="1">
                    <a:latin typeface="Helvetica Neue"/>
                  </a:rPr>
                  <a:t>thực</a:t>
                </a:r>
                <a:r>
                  <a:rPr lang="en-US" sz="2400" b="1" dirty="0">
                    <a:latin typeface="Helvetica Neue"/>
                  </a:rPr>
                  <a:t> </a:t>
                </a:r>
                <a:r>
                  <a:rPr lang="en-US" sz="2400" b="1" dirty="0" err="1">
                    <a:latin typeface="Helvetica Neue"/>
                  </a:rPr>
                  <a:t>hiện</a:t>
                </a:r>
                <a:r>
                  <a:rPr lang="en-US" sz="2400" b="1" dirty="0">
                    <a:latin typeface="Helvetica Neue"/>
                  </a:rPr>
                  <a:t> chi </a:t>
                </a:r>
                <a:r>
                  <a:rPr lang="en-US" sz="2400" b="1" dirty="0" err="1">
                    <a:latin typeface="Helvetica Neue"/>
                  </a:rPr>
                  <a:t>tiết</a:t>
                </a:r>
                <a:endParaRPr lang="en-US" sz="2400" b="1" dirty="0">
                  <a:latin typeface="Helvetica Neue"/>
                </a:endParaRPr>
              </a:p>
              <a:p>
                <a:pPr marL="0" indent="0">
                  <a:buNone/>
                </a:pPr>
                <a:r>
                  <a:rPr lang="en-US" sz="2400" dirty="0" err="1">
                    <a:latin typeface="Helvetica Neue"/>
                  </a:rPr>
                  <a:t>Bước</a:t>
                </a:r>
                <a:r>
                  <a:rPr lang="en-US" sz="2400" dirty="0">
                    <a:latin typeface="Helvetica Neue"/>
                  </a:rPr>
                  <a:t> 1: Tiền </a:t>
                </a:r>
                <a:r>
                  <a:rPr lang="en-US" sz="2400" dirty="0" err="1">
                    <a:latin typeface="Helvetica Neue"/>
                  </a:rPr>
                  <a:t>xử</a:t>
                </a:r>
                <a:r>
                  <a:rPr lang="en-US" sz="2400" dirty="0">
                    <a:latin typeface="Helvetica Neue"/>
                  </a:rPr>
                  <a:t> </a:t>
                </a:r>
                <a:r>
                  <a:rPr lang="en-US" sz="2400" dirty="0" err="1">
                    <a:latin typeface="Helvetica Neue"/>
                  </a:rPr>
                  <a:t>lý</a:t>
                </a:r>
                <a:r>
                  <a:rPr lang="en-US" sz="2400" dirty="0">
                    <a:latin typeface="Helvetica Neue"/>
                  </a:rPr>
                  <a:t> </a:t>
                </a:r>
                <a:r>
                  <a:rPr lang="en-US" sz="2400" dirty="0" err="1">
                    <a:latin typeface="Helvetica Neue"/>
                  </a:rPr>
                  <a:t>ảnh</a:t>
                </a:r>
                <a:endParaRPr lang="en-US" sz="2400" dirty="0">
                  <a:latin typeface="Helvetica Neue"/>
                </a:endParaRPr>
              </a:p>
              <a:p>
                <a:pPr lvl="1"/>
                <a:r>
                  <a:rPr lang="en-US" sz="2116" dirty="0" err="1">
                    <a:latin typeface="Helvetica Neue"/>
                  </a:rPr>
                  <a:t>Nếu</a:t>
                </a:r>
                <a:r>
                  <a:rPr lang="en-US" sz="2116" dirty="0">
                    <a:latin typeface="Helvetica Neue"/>
                  </a:rPr>
                  <a:t> </a:t>
                </a:r>
                <a:r>
                  <a:rPr lang="en-US" sz="2116" dirty="0" err="1">
                    <a:latin typeface="Helvetica Neue"/>
                  </a:rPr>
                  <a:t>ảnh</a:t>
                </a:r>
                <a:r>
                  <a:rPr lang="en-US" sz="2116" dirty="0">
                    <a:latin typeface="Helvetica Neue"/>
                  </a:rPr>
                  <a:t> là </a:t>
                </a:r>
                <a:r>
                  <a:rPr lang="en-US" sz="2116" dirty="0" err="1">
                    <a:latin typeface="Helvetica Neue"/>
                  </a:rPr>
                  <a:t>ảnh</a:t>
                </a:r>
                <a:r>
                  <a:rPr lang="en-US" sz="2116" dirty="0">
                    <a:latin typeface="Helvetica Neue"/>
                  </a:rPr>
                  <a:t> </a:t>
                </a:r>
                <a:r>
                  <a:rPr lang="en-US" sz="2116" dirty="0" err="1">
                    <a:latin typeface="Helvetica Neue"/>
                  </a:rPr>
                  <a:t>màu</a:t>
                </a:r>
                <a:r>
                  <a:rPr lang="en-US" sz="2116" dirty="0">
                    <a:latin typeface="Helvetica Neue"/>
                  </a:rPr>
                  <a:t>, </a:t>
                </a:r>
                <a:r>
                  <a:rPr lang="en-US" sz="2116" dirty="0" err="1">
                    <a:latin typeface="Helvetica Neue"/>
                  </a:rPr>
                  <a:t>chuyển</a:t>
                </a:r>
                <a:r>
                  <a:rPr lang="en-US" sz="2116" dirty="0">
                    <a:latin typeface="Helvetica Neue"/>
                  </a:rPr>
                  <a:t> sang </a:t>
                </a:r>
                <a:r>
                  <a:rPr lang="en-US" sz="2116" dirty="0" err="1">
                    <a:latin typeface="Helvetica Neue"/>
                  </a:rPr>
                  <a:t>ảnh</a:t>
                </a:r>
                <a:r>
                  <a:rPr lang="en-US" sz="2116" dirty="0">
                    <a:latin typeface="Helvetica Neue"/>
                  </a:rPr>
                  <a:t> </a:t>
                </a:r>
                <a:r>
                  <a:rPr lang="en-US" sz="2116" dirty="0" err="1">
                    <a:latin typeface="Helvetica Neue"/>
                  </a:rPr>
                  <a:t>xám</a:t>
                </a:r>
                <a:r>
                  <a:rPr lang="en-US" sz="2116" dirty="0">
                    <a:latin typeface="Helvetica Neue"/>
                  </a:rPr>
                  <a:t>.</a:t>
                </a:r>
              </a:p>
              <a:p>
                <a:pPr lvl="1"/>
                <a:r>
                  <a:rPr lang="en-US" sz="2116" dirty="0" err="1">
                    <a:latin typeface="Helvetica Neue"/>
                  </a:rPr>
                  <a:t>Cân</a:t>
                </a:r>
                <a:r>
                  <a:rPr lang="en-US" sz="2116" dirty="0">
                    <a:latin typeface="Helvetica Neue"/>
                  </a:rPr>
                  <a:t> </a:t>
                </a:r>
                <a:r>
                  <a:rPr lang="en-US" sz="2116" dirty="0" err="1">
                    <a:latin typeface="Helvetica Neue"/>
                  </a:rPr>
                  <a:t>nhắc</a:t>
                </a:r>
                <a:r>
                  <a:rPr lang="en-US" sz="2116" dirty="0">
                    <a:latin typeface="Helvetica Neue"/>
                  </a:rPr>
                  <a:t> làm </a:t>
                </a:r>
                <a:r>
                  <a:rPr lang="en-US" sz="2116" dirty="0" err="1">
                    <a:latin typeface="Helvetica Neue"/>
                  </a:rPr>
                  <a:t>mờ</a:t>
                </a:r>
                <a:r>
                  <a:rPr lang="en-US" sz="2116" dirty="0">
                    <a:latin typeface="Helvetica Neue"/>
                  </a:rPr>
                  <a:t> </a:t>
                </a:r>
                <a:r>
                  <a:rPr lang="en-US" sz="2116" dirty="0" err="1">
                    <a:latin typeface="Helvetica Neue"/>
                  </a:rPr>
                  <a:t>ảnh</a:t>
                </a:r>
                <a:r>
                  <a:rPr lang="en-US" sz="2116" dirty="0">
                    <a:latin typeface="Helvetica Neue"/>
                  </a:rPr>
                  <a:t> </a:t>
                </a:r>
                <a:r>
                  <a:rPr lang="en-US" sz="2116" dirty="0" err="1">
                    <a:latin typeface="Helvetica Neue"/>
                  </a:rPr>
                  <a:t>bằng</a:t>
                </a:r>
                <a:r>
                  <a:rPr lang="en-US" sz="2116" dirty="0">
                    <a:latin typeface="Helvetica Neue"/>
                  </a:rPr>
                  <a:t> </a:t>
                </a:r>
                <a:r>
                  <a:rPr lang="en-US" sz="2116" dirty="0" err="1">
                    <a:latin typeface="Helvetica Neue"/>
                  </a:rPr>
                  <a:t>một</a:t>
                </a:r>
                <a:r>
                  <a:rPr lang="en-US" sz="2116" dirty="0">
                    <a:latin typeface="Helvetica Neue"/>
                  </a:rPr>
                  <a:t> </a:t>
                </a:r>
                <a:r>
                  <a:rPr lang="en-US" sz="2116" dirty="0" err="1">
                    <a:latin typeface="Helvetica Neue"/>
                  </a:rPr>
                  <a:t>bộ</a:t>
                </a:r>
                <a:r>
                  <a:rPr lang="en-US" sz="2116" dirty="0">
                    <a:latin typeface="Helvetica Neue"/>
                  </a:rPr>
                  <a:t> </a:t>
                </a:r>
                <a:r>
                  <a:rPr lang="en-US" sz="2116" dirty="0" err="1">
                    <a:latin typeface="Helvetica Neue"/>
                  </a:rPr>
                  <a:t>lọc</a:t>
                </a:r>
                <a:r>
                  <a:rPr lang="en-US" sz="2116" dirty="0">
                    <a:latin typeface="Helvetica Neue"/>
                  </a:rPr>
                  <a:t> </a:t>
                </a:r>
                <a:r>
                  <a:rPr lang="en-US" sz="2116" dirty="0" err="1">
                    <a:latin typeface="Helvetica Neue"/>
                  </a:rPr>
                  <a:t>nhỏ</a:t>
                </a:r>
                <a:r>
                  <a:rPr lang="en-US" sz="2116" dirty="0">
                    <a:latin typeface="Helvetica Neue"/>
                  </a:rPr>
                  <a:t> để </a:t>
                </a:r>
                <a:r>
                  <a:rPr lang="en-US" sz="2116" dirty="0" err="1">
                    <a:latin typeface="Helvetica Neue"/>
                  </a:rPr>
                  <a:t>giảm</a:t>
                </a:r>
                <a:r>
                  <a:rPr lang="en-US" sz="2116" dirty="0">
                    <a:latin typeface="Helvetica Neue"/>
                  </a:rPr>
                  <a:t> </a:t>
                </a:r>
                <a:r>
                  <a:rPr lang="en-US" sz="2116" dirty="0" err="1">
                    <a:latin typeface="Helvetica Neue"/>
                  </a:rPr>
                  <a:t>nhiễu</a:t>
                </a:r>
                <a:r>
                  <a:rPr lang="en-US" sz="2116" dirty="0">
                    <a:latin typeface="Helvetica Neue"/>
                  </a:rPr>
                  <a:t>.</a:t>
                </a:r>
              </a:p>
              <a:p>
                <a:pPr marL="0" indent="0">
                  <a:buNone/>
                </a:pPr>
                <a:r>
                  <a:rPr lang="en-US" sz="2400" dirty="0" err="1">
                    <a:latin typeface="Helvetica Neue"/>
                  </a:rPr>
                  <a:t>Bước</a:t>
                </a:r>
                <a:r>
                  <a:rPr lang="en-US" sz="2400" dirty="0">
                    <a:latin typeface="Helvetica Neue"/>
                  </a:rPr>
                  <a:t> 2: </a:t>
                </a:r>
                <a:r>
                  <a:rPr lang="en-US" sz="2400" dirty="0" err="1">
                    <a:latin typeface="Helvetica Neue"/>
                  </a:rPr>
                  <a:t>Áp</a:t>
                </a:r>
                <a:r>
                  <a:rPr lang="en-US" sz="2400" dirty="0">
                    <a:latin typeface="Helvetica Neue"/>
                  </a:rPr>
                  <a:t> </a:t>
                </a:r>
                <a:r>
                  <a:rPr lang="en-US" sz="2400" dirty="0" err="1">
                    <a:latin typeface="Helvetica Neue"/>
                  </a:rPr>
                  <a:t>dụng</a:t>
                </a:r>
                <a:r>
                  <a:rPr lang="en-US" sz="2400" dirty="0">
                    <a:latin typeface="Helvetica Neue"/>
                  </a:rPr>
                  <a:t> </a:t>
                </a:r>
                <a:r>
                  <a:rPr lang="en-US" sz="2400" dirty="0" err="1">
                    <a:latin typeface="Helvetica Neue"/>
                  </a:rPr>
                  <a:t>hai</a:t>
                </a:r>
                <a:r>
                  <a:rPr lang="en-US" sz="2400" dirty="0">
                    <a:latin typeface="Helvetica Neue"/>
                  </a:rPr>
                  <a:t> </a:t>
                </a:r>
                <a:r>
                  <a:rPr lang="en-US" sz="2400" dirty="0" err="1">
                    <a:latin typeface="Helvetica Neue"/>
                  </a:rPr>
                  <a:t>bộ</a:t>
                </a:r>
                <a:r>
                  <a:rPr lang="en-US" sz="2400" dirty="0">
                    <a:latin typeface="Helvetica Neue"/>
                  </a:rPr>
                  <a:t> </a:t>
                </a:r>
                <a:r>
                  <a:rPr lang="en-US" sz="2400" dirty="0" err="1">
                    <a:latin typeface="Helvetica Neue"/>
                  </a:rPr>
                  <a:t>lọc</a:t>
                </a:r>
                <a:r>
                  <a:rPr lang="en-US" sz="2400" dirty="0">
                    <a:latin typeface="Helvetica Neue"/>
                  </a:rPr>
                  <a:t> Gaussian</a:t>
                </a:r>
              </a:p>
              <a:p>
                <a:pPr lvl="1"/>
                <a:r>
                  <a:rPr lang="en-US" sz="2116" dirty="0" err="1">
                    <a:latin typeface="Helvetica Neue"/>
                  </a:rPr>
                  <a:t>Chọn</a:t>
                </a:r>
                <a:r>
                  <a:rPr lang="en-US" sz="2116" dirty="0">
                    <a:latin typeface="Helvetica Neue"/>
                  </a:rPr>
                  <a:t> </a:t>
                </a:r>
                <a:r>
                  <a:rPr lang="en-US" sz="2116" dirty="0" err="1">
                    <a:latin typeface="Helvetica Neue"/>
                  </a:rPr>
                  <a:t>hai</a:t>
                </a:r>
                <a:r>
                  <a:rPr lang="en-US" sz="2116" dirty="0">
                    <a:latin typeface="Helvetica Neue"/>
                  </a:rPr>
                  <a:t> </a:t>
                </a:r>
                <a:r>
                  <a:rPr lang="en-US" sz="2116" dirty="0" err="1">
                    <a:latin typeface="Helvetica Neue"/>
                  </a:rPr>
                  <a:t>giá</a:t>
                </a:r>
                <a:r>
                  <a:rPr lang="en-US" sz="2116" dirty="0">
                    <a:latin typeface="Helvetica Neue"/>
                  </a:rPr>
                  <a:t> </a:t>
                </a:r>
                <a:r>
                  <a:rPr lang="en-US" sz="2116" dirty="0" err="1">
                    <a:latin typeface="Helvetica Neue"/>
                  </a:rPr>
                  <a:t>trị</a:t>
                </a:r>
                <a:r>
                  <a:rPr lang="en-US" sz="2116" dirty="0">
                    <a:latin typeface="Helvetica Neue"/>
                  </a:rPr>
                  <a:t> </a:t>
                </a:r>
                <a14:m>
                  <m:oMath xmlns:m="http://schemas.openxmlformats.org/officeDocument/2006/math">
                    <m:sSub>
                      <m:sSubPr>
                        <m:ctrlPr>
                          <a:rPr lang="en-US" sz="2116" i="1">
                            <a:latin typeface="Cambria Math" panose="02040503050406030204" pitchFamily="18" charset="0"/>
                          </a:rPr>
                        </m:ctrlPr>
                      </m:sSubPr>
                      <m:e>
                        <m:r>
                          <a:rPr lang="en-US" sz="2116" b="0" i="1">
                            <a:latin typeface="Cambria Math" panose="02040503050406030204" pitchFamily="18" charset="0"/>
                          </a:rPr>
                          <m:t>𝜎</m:t>
                        </m:r>
                      </m:e>
                      <m:sub>
                        <m:r>
                          <a:rPr lang="en-US" sz="2116" b="0" i="1">
                            <a:latin typeface="Cambria Math" panose="02040503050406030204" pitchFamily="18" charset="0"/>
                          </a:rPr>
                          <m:t>1</m:t>
                        </m:r>
                      </m:sub>
                    </m:sSub>
                  </m:oMath>
                </a14:m>
                <a:r>
                  <a:rPr lang="en-US" sz="2116" dirty="0">
                    <a:latin typeface="Helvetica Neue"/>
                  </a:rPr>
                  <a:t> </a:t>
                </a:r>
                <a:r>
                  <a:rPr lang="en-US" sz="2116" dirty="0" err="1">
                    <a:latin typeface="Helvetica Neue"/>
                  </a:rPr>
                  <a:t>và</a:t>
                </a:r>
                <a:r>
                  <a:rPr lang="en-US" sz="2116" dirty="0">
                    <a:latin typeface="Helvetica Neue"/>
                  </a:rPr>
                  <a:t> </a:t>
                </a:r>
                <a14:m>
                  <m:oMath xmlns:m="http://schemas.openxmlformats.org/officeDocument/2006/math">
                    <m:sSub>
                      <m:sSubPr>
                        <m:ctrlPr>
                          <a:rPr lang="en-US" sz="2116" i="1">
                            <a:latin typeface="Cambria Math" panose="02040503050406030204" pitchFamily="18" charset="0"/>
                          </a:rPr>
                        </m:ctrlPr>
                      </m:sSubPr>
                      <m:e>
                        <m:r>
                          <a:rPr lang="en-US" sz="2116" b="0" i="1">
                            <a:latin typeface="Cambria Math" panose="02040503050406030204" pitchFamily="18" charset="0"/>
                          </a:rPr>
                          <m:t>𝜎</m:t>
                        </m:r>
                      </m:e>
                      <m:sub>
                        <m:r>
                          <a:rPr lang="en-US" sz="2116" b="0" i="1">
                            <a:latin typeface="Cambria Math" panose="02040503050406030204" pitchFamily="18" charset="0"/>
                          </a:rPr>
                          <m:t>2</m:t>
                        </m:r>
                      </m:sub>
                    </m:sSub>
                  </m:oMath>
                </a14:m>
                <a:r>
                  <a:rPr lang="en-US" sz="2116" dirty="0">
                    <a:latin typeface="Helvetica Neue"/>
                  </a:rPr>
                  <a:t> (</a:t>
                </a:r>
                <a14:m>
                  <m:oMath xmlns:m="http://schemas.openxmlformats.org/officeDocument/2006/math">
                    <m:sSub>
                      <m:sSubPr>
                        <m:ctrlPr>
                          <a:rPr lang="en-US" sz="2116" i="1">
                            <a:latin typeface="Cambria Math" panose="02040503050406030204" pitchFamily="18" charset="0"/>
                          </a:rPr>
                        </m:ctrlPr>
                      </m:sSubPr>
                      <m:e>
                        <m:r>
                          <a:rPr lang="en-US" sz="2116" b="0" i="1">
                            <a:latin typeface="Cambria Math" panose="02040503050406030204" pitchFamily="18" charset="0"/>
                          </a:rPr>
                          <m:t>𝜎</m:t>
                        </m:r>
                      </m:e>
                      <m:sub>
                        <m:r>
                          <a:rPr lang="en-US" sz="2116" b="0" i="1">
                            <a:latin typeface="Cambria Math" panose="02040503050406030204" pitchFamily="18" charset="0"/>
                          </a:rPr>
                          <m:t>2</m:t>
                        </m:r>
                      </m:sub>
                    </m:sSub>
                    <m:r>
                      <a:rPr lang="en-US" sz="2116" b="0">
                        <a:latin typeface="Cambria Math" panose="02040503050406030204" pitchFamily="18" charset="0"/>
                      </a:rPr>
                      <m:t>&gt;</m:t>
                    </m:r>
                    <m:sSub>
                      <m:sSubPr>
                        <m:ctrlPr>
                          <a:rPr lang="en-US" sz="2116" i="1">
                            <a:latin typeface="Cambria Math" panose="02040503050406030204" pitchFamily="18" charset="0"/>
                          </a:rPr>
                        </m:ctrlPr>
                      </m:sSubPr>
                      <m:e>
                        <m:r>
                          <a:rPr lang="en-US" sz="2116" b="0" i="1">
                            <a:latin typeface="Cambria Math" panose="02040503050406030204" pitchFamily="18" charset="0"/>
                          </a:rPr>
                          <m:t>𝜎</m:t>
                        </m:r>
                      </m:e>
                      <m:sub>
                        <m:r>
                          <a:rPr lang="en-US" sz="2116" b="0" i="1">
                            <a:latin typeface="Cambria Math" panose="02040503050406030204" pitchFamily="18" charset="0"/>
                          </a:rPr>
                          <m:t>1</m:t>
                        </m:r>
                      </m:sub>
                    </m:sSub>
                  </m:oMath>
                </a14:m>
                <a:r>
                  <a:rPr lang="en-US" sz="2116" dirty="0">
                    <a:latin typeface="Helvetica Neue"/>
                  </a:rPr>
                  <a:t>).</a:t>
                </a:r>
              </a:p>
              <a:p>
                <a:pPr lvl="1"/>
                <a:r>
                  <a:rPr lang="en-US" sz="2116" dirty="0">
                    <a:latin typeface="Helvetica Neue"/>
                  </a:rPr>
                  <a:t>Làm </a:t>
                </a:r>
                <a:r>
                  <a:rPr lang="en-US" sz="2116" dirty="0" err="1">
                    <a:latin typeface="Helvetica Neue"/>
                  </a:rPr>
                  <a:t>mờ</a:t>
                </a:r>
                <a:r>
                  <a:rPr lang="en-US" sz="2116" dirty="0">
                    <a:latin typeface="Helvetica Neue"/>
                  </a:rPr>
                  <a:t> </a:t>
                </a:r>
                <a:r>
                  <a:rPr lang="en-US" sz="2116" dirty="0" err="1">
                    <a:latin typeface="Helvetica Neue"/>
                  </a:rPr>
                  <a:t>ảnh</a:t>
                </a:r>
                <a:r>
                  <a:rPr lang="en-US" sz="2116" dirty="0">
                    <a:latin typeface="Helvetica Neue"/>
                  </a:rPr>
                  <a:t> </a:t>
                </a:r>
                <a:r>
                  <a:rPr lang="en-US" sz="2116" dirty="0" err="1">
                    <a:latin typeface="Helvetica Neue"/>
                  </a:rPr>
                  <a:t>bằng</a:t>
                </a:r>
                <a:r>
                  <a:rPr lang="en-US" sz="2116" dirty="0">
                    <a:latin typeface="Helvetica Neue"/>
                  </a:rPr>
                  <a:t> </a:t>
                </a:r>
                <a:r>
                  <a:rPr lang="en-US" sz="2116" dirty="0" err="1">
                    <a:latin typeface="Helvetica Neue"/>
                  </a:rPr>
                  <a:t>hai</a:t>
                </a:r>
                <a:r>
                  <a:rPr lang="en-US" sz="2116" dirty="0">
                    <a:latin typeface="Helvetica Neue"/>
                  </a:rPr>
                  <a:t> </a:t>
                </a:r>
                <a:r>
                  <a:rPr lang="en-US" sz="2116" dirty="0" err="1">
                    <a:latin typeface="Helvetica Neue"/>
                  </a:rPr>
                  <a:t>bộ</a:t>
                </a:r>
                <a:r>
                  <a:rPr lang="en-US" sz="2116" dirty="0">
                    <a:latin typeface="Helvetica Neue"/>
                  </a:rPr>
                  <a:t> </a:t>
                </a:r>
                <a:r>
                  <a:rPr lang="en-US" sz="2116" dirty="0" err="1">
                    <a:latin typeface="Helvetica Neue"/>
                  </a:rPr>
                  <a:t>lọc</a:t>
                </a:r>
                <a:r>
                  <a:rPr lang="en-US" sz="2116" dirty="0">
                    <a:latin typeface="Helvetica Neue"/>
                  </a:rPr>
                  <a:t> Gaussian.</a:t>
                </a:r>
              </a:p>
              <a:p>
                <a:pPr marL="0" indent="0">
                  <a:buNone/>
                </a:pPr>
                <a:r>
                  <a:rPr lang="en-US" sz="2400" dirty="0" err="1">
                    <a:latin typeface="Helvetica Neue"/>
                  </a:rPr>
                  <a:t>Bước</a:t>
                </a:r>
                <a:r>
                  <a:rPr lang="en-US" sz="2400" dirty="0">
                    <a:latin typeface="Helvetica Neue"/>
                  </a:rPr>
                  <a:t> 3: Tính </a:t>
                </a:r>
                <a:r>
                  <a:rPr lang="en-US" sz="2400" dirty="0" err="1">
                    <a:latin typeface="Helvetica Neue"/>
                  </a:rPr>
                  <a:t>hiệu</a:t>
                </a:r>
                <a:r>
                  <a:rPr lang="en-US" sz="2400" dirty="0">
                    <a:latin typeface="Helvetica Neue"/>
                  </a:rPr>
                  <a:t> </a:t>
                </a:r>
                <a:r>
                  <a:rPr lang="en-US" sz="2400" dirty="0" err="1">
                    <a:latin typeface="Helvetica Neue"/>
                  </a:rPr>
                  <a:t>giữa</a:t>
                </a:r>
                <a:r>
                  <a:rPr lang="en-US" sz="2400" dirty="0">
                    <a:latin typeface="Helvetica Neue"/>
                  </a:rPr>
                  <a:t> </a:t>
                </a:r>
                <a:r>
                  <a:rPr lang="en-US" sz="2400" dirty="0" err="1">
                    <a:latin typeface="Helvetica Neue"/>
                  </a:rPr>
                  <a:t>hai</a:t>
                </a:r>
                <a:r>
                  <a:rPr lang="en-US" sz="2400" dirty="0">
                    <a:latin typeface="Helvetica Neue"/>
                  </a:rPr>
                  <a:t> </a:t>
                </a:r>
                <a:r>
                  <a:rPr lang="en-US" sz="2400" dirty="0" err="1">
                    <a:latin typeface="Helvetica Neue"/>
                  </a:rPr>
                  <a:t>ảnh</a:t>
                </a:r>
                <a:r>
                  <a:rPr lang="en-US" sz="2400" dirty="0">
                    <a:latin typeface="Helvetica Neue"/>
                  </a:rPr>
                  <a:t> làm </a:t>
                </a:r>
                <a:r>
                  <a:rPr lang="en-US" sz="2400" dirty="0" err="1">
                    <a:latin typeface="Helvetica Neue"/>
                  </a:rPr>
                  <a:t>mờ</a:t>
                </a:r>
                <a:endParaRPr lang="en-US" sz="2400" dirty="0">
                  <a:latin typeface="Helvetica Neue"/>
                </a:endParaRPr>
              </a:p>
              <a:p>
                <a:pPr lvl="1"/>
                <a:r>
                  <a:rPr lang="en-US" sz="2116" dirty="0" err="1">
                    <a:latin typeface="Helvetica Neue"/>
                  </a:rPr>
                  <a:t>Trừ</a:t>
                </a:r>
                <a:r>
                  <a:rPr lang="en-US" sz="2116" dirty="0">
                    <a:latin typeface="Helvetica Neue"/>
                  </a:rPr>
                  <a:t> </a:t>
                </a:r>
                <a:r>
                  <a:rPr lang="en-US" sz="2116" dirty="0" err="1">
                    <a:latin typeface="Helvetica Neue"/>
                  </a:rPr>
                  <a:t>ảnh</a:t>
                </a:r>
                <a:r>
                  <a:rPr lang="en-US" sz="2116" dirty="0">
                    <a:latin typeface="Helvetica Neue"/>
                  </a:rPr>
                  <a:t> đã làm </a:t>
                </a:r>
                <a:r>
                  <a:rPr lang="en-US" sz="2116" dirty="0" err="1">
                    <a:latin typeface="Helvetica Neue"/>
                  </a:rPr>
                  <a:t>mờ</a:t>
                </a:r>
                <a:r>
                  <a:rPr lang="en-US" sz="2116" dirty="0">
                    <a:latin typeface="Helvetica Neue"/>
                  </a:rPr>
                  <a:t> </a:t>
                </a:r>
                <a:r>
                  <a:rPr lang="en-US" sz="2116" dirty="0" err="1">
                    <a:latin typeface="Helvetica Neue"/>
                  </a:rPr>
                  <a:t>với</a:t>
                </a:r>
                <a:r>
                  <a:rPr lang="en-US" sz="2116" dirty="0">
                    <a:latin typeface="Helvetica Neue"/>
                  </a:rPr>
                  <a:t> </a:t>
                </a:r>
                <a14:m>
                  <m:oMath xmlns:m="http://schemas.openxmlformats.org/officeDocument/2006/math">
                    <m:sSub>
                      <m:sSubPr>
                        <m:ctrlPr>
                          <a:rPr lang="en-US" sz="2116" i="1">
                            <a:latin typeface="Cambria Math" panose="02040503050406030204" pitchFamily="18" charset="0"/>
                          </a:rPr>
                        </m:ctrlPr>
                      </m:sSubPr>
                      <m:e>
                        <m:r>
                          <a:rPr lang="en-US" sz="2116" b="0" i="1">
                            <a:latin typeface="Cambria Math" panose="02040503050406030204" pitchFamily="18" charset="0"/>
                          </a:rPr>
                          <m:t>𝜎</m:t>
                        </m:r>
                      </m:e>
                      <m:sub>
                        <m:r>
                          <a:rPr lang="en-US" sz="2116" b="0" i="1">
                            <a:latin typeface="Cambria Math" panose="02040503050406030204" pitchFamily="18" charset="0"/>
                          </a:rPr>
                          <m:t>1</m:t>
                        </m:r>
                      </m:sub>
                    </m:sSub>
                  </m:oMath>
                </a14:m>
                <a:r>
                  <a:rPr lang="en-US" sz="2116" dirty="0">
                    <a:latin typeface="Helvetica Neue"/>
                  </a:rPr>
                  <a:t> </a:t>
                </a:r>
                <a:r>
                  <a:rPr lang="en-US" sz="2116" dirty="0" err="1">
                    <a:latin typeface="Helvetica Neue"/>
                  </a:rPr>
                  <a:t>khỏi</a:t>
                </a:r>
                <a:r>
                  <a:rPr lang="en-US" sz="2116" dirty="0">
                    <a:latin typeface="Helvetica Neue"/>
                  </a:rPr>
                  <a:t> </a:t>
                </a:r>
                <a:r>
                  <a:rPr lang="en-US" sz="2116" dirty="0" err="1">
                    <a:latin typeface="Helvetica Neue"/>
                  </a:rPr>
                  <a:t>ảnh</a:t>
                </a:r>
                <a:r>
                  <a:rPr lang="en-US" sz="2116" dirty="0">
                    <a:latin typeface="Helvetica Neue"/>
                  </a:rPr>
                  <a:t> đã làm </a:t>
                </a:r>
                <a:r>
                  <a:rPr lang="en-US" sz="2116" dirty="0" err="1">
                    <a:latin typeface="Helvetica Neue"/>
                  </a:rPr>
                  <a:t>mờ</a:t>
                </a:r>
                <a:r>
                  <a:rPr lang="en-US" sz="2116" dirty="0">
                    <a:latin typeface="Helvetica Neue"/>
                  </a:rPr>
                  <a:t> </a:t>
                </a:r>
                <a:r>
                  <a:rPr lang="en-US" sz="2116" dirty="0" err="1">
                    <a:latin typeface="Helvetica Neue"/>
                  </a:rPr>
                  <a:t>với</a:t>
                </a:r>
                <a:r>
                  <a:rPr lang="en-US" sz="2116" dirty="0">
                    <a:latin typeface="Helvetica Neue"/>
                  </a:rPr>
                  <a:t> </a:t>
                </a:r>
                <a14:m>
                  <m:oMath xmlns:m="http://schemas.openxmlformats.org/officeDocument/2006/math">
                    <m:sSub>
                      <m:sSubPr>
                        <m:ctrlPr>
                          <a:rPr lang="en-US" sz="2116" i="1">
                            <a:latin typeface="Cambria Math" panose="02040503050406030204" pitchFamily="18" charset="0"/>
                          </a:rPr>
                        </m:ctrlPr>
                      </m:sSubPr>
                      <m:e>
                        <m:r>
                          <a:rPr lang="en-US" sz="2116" b="0" i="1">
                            <a:latin typeface="Cambria Math" panose="02040503050406030204" pitchFamily="18" charset="0"/>
                          </a:rPr>
                          <m:t>𝜎</m:t>
                        </m:r>
                      </m:e>
                      <m:sub>
                        <m:r>
                          <a:rPr lang="en-US" sz="2116" b="0" i="1">
                            <a:latin typeface="Cambria Math" panose="02040503050406030204" pitchFamily="18" charset="0"/>
                          </a:rPr>
                          <m:t>2</m:t>
                        </m:r>
                      </m:sub>
                    </m:sSub>
                  </m:oMath>
                </a14:m>
                <a:r>
                  <a:rPr lang="en-US" sz="2116" dirty="0">
                    <a:latin typeface="Helvetica Neue"/>
                  </a:rPr>
                  <a:t>.</a:t>
                </a:r>
              </a:p>
              <a:p>
                <a:pPr marL="0" indent="0">
                  <a:buNone/>
                </a:pPr>
                <a:r>
                  <a:rPr lang="en-US" sz="2400" dirty="0" err="1">
                    <a:latin typeface="Helvetica Neue"/>
                  </a:rPr>
                  <a:t>Bước</a:t>
                </a:r>
                <a:r>
                  <a:rPr lang="en-US" sz="2400" dirty="0">
                    <a:latin typeface="Helvetica Neue"/>
                  </a:rPr>
                  <a:t> 4: </a:t>
                </a:r>
                <a:r>
                  <a:rPr lang="en-US" sz="2400" dirty="0" err="1">
                    <a:latin typeface="Helvetica Neue"/>
                  </a:rPr>
                  <a:t>Xác</a:t>
                </a:r>
                <a:r>
                  <a:rPr lang="en-US" sz="2400" dirty="0">
                    <a:latin typeface="Helvetica Neue"/>
                  </a:rPr>
                  <a:t> </a:t>
                </a:r>
                <a:r>
                  <a:rPr lang="en-US" sz="2400" dirty="0" err="1">
                    <a:latin typeface="Helvetica Neue"/>
                  </a:rPr>
                  <a:t>định</a:t>
                </a:r>
                <a:r>
                  <a:rPr lang="en-US" sz="2400" dirty="0">
                    <a:latin typeface="Helvetica Neue"/>
                  </a:rPr>
                  <a:t> </a:t>
                </a:r>
                <a:r>
                  <a:rPr lang="en-US" sz="2400" dirty="0" err="1">
                    <a:latin typeface="Helvetica Neue"/>
                  </a:rPr>
                  <a:t>điểm</a:t>
                </a:r>
                <a:r>
                  <a:rPr lang="en-US" sz="2400" dirty="0">
                    <a:latin typeface="Helvetica Neue"/>
                  </a:rPr>
                  <a:t> </a:t>
                </a:r>
                <a:r>
                  <a:rPr lang="en-US" sz="2400" dirty="0" err="1">
                    <a:latin typeface="Helvetica Neue"/>
                  </a:rPr>
                  <a:t>biên</a:t>
                </a:r>
                <a:endParaRPr lang="en-US" sz="2400" dirty="0">
                  <a:latin typeface="Helvetica Neue"/>
                </a:endParaRPr>
              </a:p>
              <a:p>
                <a:pPr lvl="1"/>
                <a:r>
                  <a:rPr lang="en-US" sz="2116" dirty="0" err="1">
                    <a:latin typeface="Helvetica Neue"/>
                  </a:rPr>
                  <a:t>Tìm</a:t>
                </a:r>
                <a:r>
                  <a:rPr lang="en-US" sz="2116" dirty="0">
                    <a:latin typeface="Helvetica Neue"/>
                  </a:rPr>
                  <a:t> </a:t>
                </a:r>
                <a:r>
                  <a:rPr lang="en-US" sz="2116" dirty="0" err="1">
                    <a:latin typeface="Helvetica Neue"/>
                  </a:rPr>
                  <a:t>các</a:t>
                </a:r>
                <a:r>
                  <a:rPr lang="en-US" sz="2116" dirty="0">
                    <a:latin typeface="Helvetica Neue"/>
                  </a:rPr>
                  <a:t> </a:t>
                </a:r>
                <a:r>
                  <a:rPr lang="en-US" sz="2116" dirty="0" err="1">
                    <a:latin typeface="Helvetica Neue"/>
                  </a:rPr>
                  <a:t>điểm</a:t>
                </a:r>
                <a:r>
                  <a:rPr lang="en-US" sz="2116" dirty="0">
                    <a:latin typeface="Helvetica Neue"/>
                  </a:rPr>
                  <a:t> zero-crossing, </a:t>
                </a:r>
                <a:r>
                  <a:rPr lang="en-US" sz="2116" dirty="0" err="1">
                    <a:latin typeface="Helvetica Neue"/>
                  </a:rPr>
                  <a:t>tức</a:t>
                </a:r>
                <a:r>
                  <a:rPr lang="en-US" sz="2116" dirty="0">
                    <a:latin typeface="Helvetica Neue"/>
                  </a:rPr>
                  <a:t> là </a:t>
                </a:r>
                <a:r>
                  <a:rPr lang="en-US" sz="2116" dirty="0" err="1">
                    <a:latin typeface="Helvetica Neue"/>
                  </a:rPr>
                  <a:t>nơi</a:t>
                </a:r>
                <a:r>
                  <a:rPr lang="en-US" sz="2116" dirty="0">
                    <a:latin typeface="Helvetica Neue"/>
                  </a:rPr>
                  <a:t> </a:t>
                </a:r>
                <a:r>
                  <a:rPr lang="en-US" sz="2116" dirty="0" err="1">
                    <a:latin typeface="Helvetica Neue"/>
                  </a:rPr>
                  <a:t>giá</a:t>
                </a:r>
                <a:r>
                  <a:rPr lang="en-US" sz="2116" dirty="0">
                    <a:latin typeface="Helvetica Neue"/>
                  </a:rPr>
                  <a:t> </a:t>
                </a:r>
                <a:r>
                  <a:rPr lang="en-US" sz="2116" dirty="0" err="1">
                    <a:latin typeface="Helvetica Neue"/>
                  </a:rPr>
                  <a:t>trị</a:t>
                </a:r>
                <a:r>
                  <a:rPr lang="en-US" sz="2116" dirty="0">
                    <a:latin typeface="Helvetica Neue"/>
                  </a:rPr>
                  <a:t> </a:t>
                </a:r>
                <a:r>
                  <a:rPr lang="en-US" sz="2116" dirty="0" err="1">
                    <a:latin typeface="Helvetica Neue"/>
                  </a:rPr>
                  <a:t>DoG</a:t>
                </a:r>
                <a:r>
                  <a:rPr lang="en-US" sz="2116" dirty="0">
                    <a:latin typeface="Helvetica Neue"/>
                  </a:rPr>
                  <a:t> </a:t>
                </a:r>
                <a:r>
                  <a:rPr lang="en-US" sz="2116" dirty="0" err="1">
                    <a:latin typeface="Helvetica Neue"/>
                  </a:rPr>
                  <a:t>đổi</a:t>
                </a:r>
                <a:r>
                  <a:rPr lang="en-US" sz="2116" dirty="0">
                    <a:latin typeface="Helvetica Neue"/>
                  </a:rPr>
                  <a:t> </a:t>
                </a:r>
                <a:r>
                  <a:rPr lang="en-US" sz="2116" dirty="0" err="1">
                    <a:latin typeface="Helvetica Neue"/>
                  </a:rPr>
                  <a:t>dấu</a:t>
                </a:r>
                <a:r>
                  <a:rPr lang="en-US" sz="2116" dirty="0">
                    <a:latin typeface="Helvetica Neue"/>
                  </a:rPr>
                  <a:t>.</a:t>
                </a:r>
              </a:p>
              <a:p>
                <a:pPr marL="0" indent="0">
                  <a:buNone/>
                </a:pPr>
                <a:r>
                  <a:rPr lang="en-US" sz="2400" dirty="0" err="1">
                    <a:latin typeface="Helvetica Neue"/>
                  </a:rPr>
                  <a:t>Bước</a:t>
                </a:r>
                <a:r>
                  <a:rPr lang="en-US" sz="2400" dirty="0">
                    <a:latin typeface="Helvetica Neue"/>
                  </a:rPr>
                  <a:t> 5: </a:t>
                </a:r>
                <a:r>
                  <a:rPr lang="en-US" sz="2400" dirty="0" err="1">
                    <a:latin typeface="Helvetica Neue"/>
                  </a:rPr>
                  <a:t>Hậu</a:t>
                </a:r>
                <a:r>
                  <a:rPr lang="en-US" sz="2400" dirty="0">
                    <a:latin typeface="Helvetica Neue"/>
                  </a:rPr>
                  <a:t> </a:t>
                </a:r>
                <a:r>
                  <a:rPr lang="en-US" sz="2400" dirty="0" err="1">
                    <a:latin typeface="Helvetica Neue"/>
                  </a:rPr>
                  <a:t>xử</a:t>
                </a:r>
                <a:r>
                  <a:rPr lang="en-US" sz="2400" dirty="0">
                    <a:latin typeface="Helvetica Neue"/>
                  </a:rPr>
                  <a:t> </a:t>
                </a:r>
                <a:r>
                  <a:rPr lang="en-US" sz="2400" dirty="0" err="1">
                    <a:latin typeface="Helvetica Neue"/>
                  </a:rPr>
                  <a:t>lý</a:t>
                </a:r>
                <a:r>
                  <a:rPr lang="en-US" sz="2400" dirty="0">
                    <a:latin typeface="Helvetica Neue"/>
                  </a:rPr>
                  <a:t> </a:t>
                </a:r>
                <a:r>
                  <a:rPr lang="en-US" sz="2400" dirty="0" err="1">
                    <a:latin typeface="Helvetica Neue"/>
                  </a:rPr>
                  <a:t>ảnh</a:t>
                </a:r>
                <a:endParaRPr lang="en-US" sz="2400" dirty="0">
                  <a:latin typeface="Helvetica Neue"/>
                </a:endParaRPr>
              </a:p>
              <a:p>
                <a:pPr lvl="1"/>
                <a:r>
                  <a:rPr lang="en-US" sz="2116" dirty="0" err="1">
                    <a:latin typeface="Helvetica Neue"/>
                  </a:rPr>
                  <a:t>Ngưỡng</a:t>
                </a:r>
                <a:r>
                  <a:rPr lang="en-US" sz="2116" dirty="0">
                    <a:latin typeface="Helvetica Neue"/>
                  </a:rPr>
                  <a:t> </a:t>
                </a:r>
                <a:r>
                  <a:rPr lang="en-US" sz="2116" dirty="0" err="1">
                    <a:latin typeface="Helvetica Neue"/>
                  </a:rPr>
                  <a:t>hóa</a:t>
                </a:r>
                <a:r>
                  <a:rPr lang="en-US" sz="2116" dirty="0">
                    <a:latin typeface="Helvetica Neue"/>
                  </a:rPr>
                  <a:t> </a:t>
                </a:r>
                <a:r>
                  <a:rPr lang="en-US" sz="2116" dirty="0" err="1">
                    <a:latin typeface="Helvetica Neue"/>
                  </a:rPr>
                  <a:t>ảnh</a:t>
                </a:r>
                <a:r>
                  <a:rPr lang="en-US" sz="2116" dirty="0">
                    <a:latin typeface="Helvetica Neue"/>
                  </a:rPr>
                  <a:t> để </a:t>
                </a:r>
                <a:r>
                  <a:rPr lang="en-US" sz="2116" dirty="0" err="1">
                    <a:latin typeface="Helvetica Neue"/>
                  </a:rPr>
                  <a:t>chỉ</a:t>
                </a:r>
                <a:r>
                  <a:rPr lang="en-US" sz="2116" dirty="0">
                    <a:latin typeface="Helvetica Neue"/>
                  </a:rPr>
                  <a:t> </a:t>
                </a:r>
                <a:r>
                  <a:rPr lang="en-US" sz="2116" dirty="0" err="1">
                    <a:latin typeface="Helvetica Neue"/>
                  </a:rPr>
                  <a:t>giữ</a:t>
                </a:r>
                <a:r>
                  <a:rPr lang="en-US" sz="2116" dirty="0">
                    <a:latin typeface="Helvetica Neue"/>
                  </a:rPr>
                  <a:t> lại </a:t>
                </a:r>
                <a:r>
                  <a:rPr lang="en-US" sz="2116" dirty="0" err="1">
                    <a:latin typeface="Helvetica Neue"/>
                  </a:rPr>
                  <a:t>các</a:t>
                </a:r>
                <a:r>
                  <a:rPr lang="en-US" sz="2116" dirty="0">
                    <a:latin typeface="Helvetica Neue"/>
                  </a:rPr>
                  <a:t> </a:t>
                </a:r>
                <a:r>
                  <a:rPr lang="en-US" sz="2116" dirty="0" err="1">
                    <a:latin typeface="Helvetica Neue"/>
                  </a:rPr>
                  <a:t>biên</a:t>
                </a:r>
                <a:r>
                  <a:rPr lang="en-US" sz="2116" dirty="0">
                    <a:latin typeface="Helvetica Neue"/>
                  </a:rPr>
                  <a:t> mạnh.</a:t>
                </a:r>
              </a:p>
              <a:p>
                <a:pPr lvl="1"/>
                <a:r>
                  <a:rPr lang="en-US" sz="2116" dirty="0" err="1">
                    <a:latin typeface="Helvetica Neue"/>
                  </a:rPr>
                  <a:t>Lọc</a:t>
                </a:r>
                <a:r>
                  <a:rPr lang="en-US" sz="2116" dirty="0">
                    <a:latin typeface="Helvetica Neue"/>
                  </a:rPr>
                  <a:t> </a:t>
                </a:r>
                <a:r>
                  <a:rPr lang="en-US" sz="2116" dirty="0" err="1">
                    <a:latin typeface="Helvetica Neue"/>
                  </a:rPr>
                  <a:t>nhiễu</a:t>
                </a:r>
                <a:r>
                  <a:rPr lang="en-US" sz="2116" dirty="0">
                    <a:latin typeface="Helvetica Neue"/>
                  </a:rPr>
                  <a:t> </a:t>
                </a:r>
                <a:r>
                  <a:rPr lang="en-US" sz="2116" dirty="0" err="1">
                    <a:latin typeface="Helvetica Neue"/>
                  </a:rPr>
                  <a:t>bằng</a:t>
                </a:r>
                <a:r>
                  <a:rPr lang="en-US" sz="2116" dirty="0">
                    <a:latin typeface="Helvetica Neue"/>
                  </a:rPr>
                  <a:t> </a:t>
                </a:r>
                <a:r>
                  <a:rPr lang="en-US" sz="2116" dirty="0" err="1">
                    <a:latin typeface="Helvetica Neue"/>
                  </a:rPr>
                  <a:t>phương</a:t>
                </a:r>
                <a:r>
                  <a:rPr lang="en-US" sz="2116" dirty="0">
                    <a:latin typeface="Helvetica Neue"/>
                  </a:rPr>
                  <a:t> </a:t>
                </a:r>
                <a:r>
                  <a:rPr lang="en-US" sz="2116" dirty="0" err="1">
                    <a:latin typeface="Helvetica Neue"/>
                  </a:rPr>
                  <a:t>pháp</a:t>
                </a:r>
                <a:r>
                  <a:rPr lang="en-US" sz="2116" dirty="0">
                    <a:latin typeface="Helvetica Neue"/>
                  </a:rPr>
                  <a:t> </a:t>
                </a:r>
                <a:r>
                  <a:rPr lang="en-US" sz="2116" dirty="0" err="1">
                    <a:latin typeface="Helvetica Neue"/>
                  </a:rPr>
                  <a:t>thích</a:t>
                </a:r>
                <a:r>
                  <a:rPr lang="en-US" sz="2116" dirty="0">
                    <a:latin typeface="Helvetica Neue"/>
                  </a:rPr>
                  <a:t> </a:t>
                </a:r>
                <a:r>
                  <a:rPr lang="en-US" sz="2116" dirty="0" err="1">
                    <a:latin typeface="Helvetica Neue"/>
                  </a:rPr>
                  <a:t>hợp</a:t>
                </a:r>
                <a:r>
                  <a:rPr lang="en-US" sz="2116" dirty="0">
                    <a:latin typeface="Helvetica Neue"/>
                  </a:rPr>
                  <a:t>.</a:t>
                </a:r>
              </a:p>
              <a:p>
                <a:pPr marL="0" indent="0">
                  <a:buNone/>
                </a:pPr>
                <a:endParaRPr lang="en-US" sz="2400" dirty="0">
                  <a:latin typeface="Helvetica Neue"/>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90946" y="1872403"/>
                <a:ext cx="9375268" cy="5372618"/>
              </a:xfrm>
              <a:blipFill>
                <a:blip r:embed="rId2"/>
                <a:stretch>
                  <a:fillRect l="-975" t="-795" b="-35868"/>
                </a:stretch>
              </a:blipFill>
            </p:spPr>
            <p:txBody>
              <a:bodyPr/>
              <a:lstStyle/>
              <a:p>
                <a:r>
                  <a:rPr lang="en-US">
                    <a:noFill/>
                  </a:rPr>
                  <a:t> </a:t>
                </a:r>
              </a:p>
            </p:txBody>
          </p:sp>
        </mc:Fallback>
      </mc:AlternateContent>
    </p:spTree>
    <p:extLst>
      <p:ext uri="{BB962C8B-B14F-4D97-AF65-F5344CB8AC3E}">
        <p14:creationId xmlns:p14="http://schemas.microsoft.com/office/powerpoint/2010/main" val="32508114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0996" y="1771650"/>
            <a:ext cx="10953454" cy="6768771"/>
          </a:xfrm>
        </p:spPr>
        <p:txBody>
          <a:bodyPr>
            <a:noAutofit/>
          </a:bodyPr>
          <a:lstStyle/>
          <a:p>
            <a:pPr marL="0" indent="0">
              <a:buNone/>
            </a:pPr>
            <a:r>
              <a:rPr lang="vi-VN" sz="2400" b="1" dirty="0">
                <a:latin typeface="Helvetica Neue"/>
              </a:rPr>
              <a:t>Ưu, nhược điểm của DoG</a:t>
            </a:r>
          </a:p>
          <a:p>
            <a:pPr marL="0" indent="0">
              <a:buNone/>
            </a:pPr>
            <a:r>
              <a:rPr lang="vi-VN" sz="2400" b="1" dirty="0">
                <a:latin typeface="Helvetica Neue"/>
              </a:rPr>
              <a:t>✅ Ưu điểm:</a:t>
            </a:r>
          </a:p>
          <a:p>
            <a:pPr marL="0" indent="0">
              <a:buNone/>
            </a:pPr>
            <a:r>
              <a:rPr lang="en-US" sz="2400" dirty="0">
                <a:latin typeface="Helvetica Neue"/>
              </a:rPr>
              <a:t>	-</a:t>
            </a:r>
            <a:r>
              <a:rPr lang="vi-VN" sz="2400" dirty="0">
                <a:latin typeface="Helvetica Neue"/>
              </a:rPr>
              <a:t>Chống nhiễu tốt hơn Laplacian nhờ làm mờ ảnh trước khi tính toán.  </a:t>
            </a:r>
          </a:p>
          <a:p>
            <a:pPr marL="0" indent="0">
              <a:buNone/>
            </a:pPr>
            <a:r>
              <a:rPr lang="en-US" sz="2400" dirty="0">
                <a:latin typeface="Helvetica Neue"/>
              </a:rPr>
              <a:t>	-</a:t>
            </a:r>
            <a:r>
              <a:rPr lang="vi-VN" sz="2400" dirty="0">
                <a:latin typeface="Helvetica Neue"/>
              </a:rPr>
              <a:t>Phát hiện biên ở nhiều cấp độ khác nhau do sử dụng hai mức làm mờ.  </a:t>
            </a:r>
          </a:p>
          <a:p>
            <a:pPr marL="0" indent="0">
              <a:buNone/>
            </a:pPr>
            <a:r>
              <a:rPr lang="en-US" sz="2400" dirty="0">
                <a:latin typeface="Helvetica Neue"/>
              </a:rPr>
              <a:t>	-</a:t>
            </a:r>
            <a:r>
              <a:rPr lang="vi-VN" sz="2400" dirty="0">
                <a:latin typeface="Helvetica Neue"/>
              </a:rPr>
              <a:t>Tính toán đơn giản hơn LoG, nhanh hơn nhưng vẫn hiệu quả.  </a:t>
            </a:r>
          </a:p>
          <a:p>
            <a:pPr marL="0" indent="0">
              <a:buNone/>
            </a:pPr>
            <a:r>
              <a:rPr lang="vi-VN" sz="2400" b="1" dirty="0">
                <a:latin typeface="Helvetica Neue"/>
              </a:rPr>
              <a:t>❌ Nhược điểm:  </a:t>
            </a:r>
          </a:p>
          <a:p>
            <a:pPr marL="0" indent="0">
              <a:buNone/>
            </a:pPr>
            <a:r>
              <a:rPr lang="en-US" sz="2400" dirty="0">
                <a:latin typeface="Helvetica Neue"/>
              </a:rPr>
              <a:t>	-</a:t>
            </a:r>
            <a:r>
              <a:rPr lang="vi-VN" sz="2400" dirty="0">
                <a:latin typeface="Helvetica Neue"/>
              </a:rPr>
              <a:t>Có thể làm mờ biên sắc nét, khiến biên bị mất.  </a:t>
            </a:r>
          </a:p>
          <a:p>
            <a:pPr>
              <a:buFontTx/>
              <a:buChar char="-"/>
            </a:pPr>
            <a:r>
              <a:rPr lang="en-US" sz="2400" dirty="0">
                <a:latin typeface="Helvetica Neue"/>
              </a:rPr>
              <a:t>-</a:t>
            </a:r>
            <a:r>
              <a:rPr lang="vi-VN" sz="2400" dirty="0">
                <a:latin typeface="Helvetica Neue"/>
              </a:rPr>
              <a:t>Khó chọn giá trị </a:t>
            </a:r>
            <a:r>
              <a:rPr lang="el-GR" sz="2400" dirty="0">
                <a:latin typeface="Helvetica Neue"/>
              </a:rPr>
              <a:t>σ1</a:t>
            </a:r>
            <a:r>
              <a:rPr lang="vi-VN" sz="2400" dirty="0">
                <a:latin typeface="Helvetica Neue"/>
              </a:rPr>
              <a:t> và </a:t>
            </a:r>
            <a:r>
              <a:rPr lang="el-GR" sz="2400" dirty="0">
                <a:latin typeface="Helvetica Neue"/>
              </a:rPr>
              <a:t>σ</a:t>
            </a:r>
            <a:r>
              <a:rPr lang="en-US" sz="2400" dirty="0">
                <a:latin typeface="Helvetica Neue"/>
              </a:rPr>
              <a:t>2</a:t>
            </a:r>
            <a:r>
              <a:rPr lang="vi-VN" sz="2400" dirty="0">
                <a:latin typeface="Helvetica Neue"/>
              </a:rPr>
              <a:t> tối ưu, cần thử nghiệm nhiều.  </a:t>
            </a:r>
            <a:endParaRPr lang="en-US" sz="2400" dirty="0">
              <a:latin typeface="Helvetica Neue"/>
            </a:endParaRPr>
          </a:p>
          <a:p>
            <a:pPr marL="0" indent="0">
              <a:buNone/>
            </a:pPr>
            <a:r>
              <a:rPr lang="vi-VN" sz="2400" b="1" dirty="0">
                <a:latin typeface="Helvetica Neue"/>
              </a:rPr>
              <a:t>Ứng dụng</a:t>
            </a:r>
            <a:r>
              <a:rPr lang="en-US" sz="2400" b="1" dirty="0">
                <a:latin typeface="Helvetica Neue"/>
              </a:rPr>
              <a:t>:</a:t>
            </a:r>
            <a:endParaRPr lang="vi-VN" sz="2400" b="1" dirty="0">
              <a:latin typeface="Helvetica Neue"/>
            </a:endParaRPr>
          </a:p>
          <a:p>
            <a:pPr marL="0" indent="0">
              <a:buNone/>
            </a:pPr>
            <a:r>
              <a:rPr lang="en-US" sz="2400" dirty="0">
                <a:latin typeface="Helvetica Neue"/>
              </a:rPr>
              <a:t>	-</a:t>
            </a:r>
            <a:r>
              <a:rPr lang="vi-VN" sz="2400" dirty="0">
                <a:latin typeface="Helvetica Neue"/>
              </a:rPr>
              <a:t>Thị giác máy:</a:t>
            </a:r>
            <a:r>
              <a:rPr lang="en-US" sz="2400" dirty="0">
                <a:latin typeface="Helvetica Neue"/>
              </a:rPr>
              <a:t> </a:t>
            </a:r>
            <a:r>
              <a:rPr lang="vi-VN" sz="2400" dirty="0">
                <a:latin typeface="Helvetica Neue"/>
              </a:rPr>
              <a:t>Dùng trong thuật toán SIFT để phát hiện đặc trưng.  </a:t>
            </a:r>
          </a:p>
          <a:p>
            <a:pPr marL="0" indent="0">
              <a:buNone/>
            </a:pPr>
            <a:r>
              <a:rPr lang="en-US" sz="2400" dirty="0">
                <a:latin typeface="Helvetica Neue"/>
              </a:rPr>
              <a:t>	-</a:t>
            </a:r>
            <a:r>
              <a:rPr lang="vi-VN" sz="2400" dirty="0">
                <a:latin typeface="Helvetica Neue"/>
              </a:rPr>
              <a:t>Ảnh y tế:</a:t>
            </a:r>
            <a:r>
              <a:rPr lang="en-US" sz="2400" dirty="0">
                <a:latin typeface="Helvetica Neue"/>
              </a:rPr>
              <a:t> </a:t>
            </a:r>
            <a:r>
              <a:rPr lang="vi-VN" sz="2400" dirty="0">
                <a:latin typeface="Helvetica Neue"/>
              </a:rPr>
              <a:t>Xác định ranh giới mô, xương trong ảnh X-ray, MRI.  </a:t>
            </a:r>
          </a:p>
          <a:p>
            <a:pPr marL="0" indent="0">
              <a:buNone/>
            </a:pPr>
            <a:r>
              <a:rPr lang="en-US" sz="2400" dirty="0">
                <a:latin typeface="Helvetica Neue"/>
              </a:rPr>
              <a:t>	-</a:t>
            </a:r>
            <a:r>
              <a:rPr lang="vi-VN" sz="2400" dirty="0">
                <a:latin typeface="Helvetica Neue"/>
              </a:rPr>
              <a:t>Ảnh vệ tinh:</a:t>
            </a:r>
            <a:r>
              <a:rPr lang="en-US" sz="2400" dirty="0">
                <a:latin typeface="Helvetica Neue"/>
              </a:rPr>
              <a:t> </a:t>
            </a:r>
            <a:r>
              <a:rPr lang="vi-VN" sz="2400" dirty="0">
                <a:latin typeface="Helvetica Neue"/>
              </a:rPr>
              <a:t>Làm nổi bật ranh giới giữa các vùng địa lý khác nhau. </a:t>
            </a:r>
            <a:endParaRPr lang="en-US" sz="2400" dirty="0">
              <a:latin typeface="Helvetica Neue"/>
            </a:endParaRPr>
          </a:p>
        </p:txBody>
      </p:sp>
    </p:spTree>
    <p:extLst>
      <p:ext uri="{BB962C8B-B14F-4D97-AF65-F5344CB8AC3E}">
        <p14:creationId xmlns:p14="http://schemas.microsoft.com/office/powerpoint/2010/main" val="28252539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66720" y="468523"/>
            <a:ext cx="9371305" cy="1821710"/>
          </a:xfrm>
        </p:spPr>
        <p:txBody>
          <a:bodyPr>
            <a:normAutofit/>
          </a:bodyPr>
          <a:lstStyle/>
          <a:p>
            <a:r>
              <a:rPr lang="en-US" sz="5400" b="1" dirty="0">
                <a:latin typeface="Helvetica Neue"/>
              </a:rPr>
              <a:t>So </a:t>
            </a:r>
            <a:r>
              <a:rPr lang="en-US" sz="5400" b="1" dirty="0" err="1">
                <a:latin typeface="Helvetica Neue"/>
              </a:rPr>
              <a:t>sánh</a:t>
            </a:r>
            <a:r>
              <a:rPr lang="en-US" sz="5400" b="1" dirty="0">
                <a:latin typeface="Helvetica Neue"/>
              </a:rPr>
              <a:t> canny </a:t>
            </a:r>
            <a:r>
              <a:rPr lang="en-US" sz="5400" b="1" dirty="0" err="1">
                <a:latin typeface="Helvetica Neue"/>
              </a:rPr>
              <a:t>với</a:t>
            </a:r>
            <a:r>
              <a:rPr lang="en-US" sz="5400" b="1" dirty="0">
                <a:latin typeface="Helvetica Neue"/>
              </a:rPr>
              <a:t> </a:t>
            </a:r>
            <a:r>
              <a:rPr lang="en-US" sz="5400" b="1" dirty="0" err="1">
                <a:latin typeface="Helvetica Neue"/>
              </a:rPr>
              <a:t>đạo</a:t>
            </a:r>
            <a:r>
              <a:rPr lang="en-US" sz="5400" b="1" dirty="0">
                <a:latin typeface="Helvetica Neue"/>
              </a:rPr>
              <a:t> </a:t>
            </a:r>
            <a:r>
              <a:rPr lang="en-US" sz="5400" b="1" dirty="0" err="1">
                <a:latin typeface="Helvetica Neue"/>
              </a:rPr>
              <a:t>hàm</a:t>
            </a:r>
            <a:r>
              <a:rPr lang="en-US" sz="5400" b="1" dirty="0">
                <a:latin typeface="Helvetica Neue"/>
              </a:rPr>
              <a:t> </a:t>
            </a:r>
            <a:r>
              <a:rPr lang="en-US" sz="5400" b="1" dirty="0" err="1">
                <a:latin typeface="Helvetica Neue"/>
              </a:rPr>
              <a:t>bậc</a:t>
            </a:r>
            <a:r>
              <a:rPr lang="en-US" sz="5400" b="1" dirty="0">
                <a:latin typeface="Helvetica Neue"/>
              </a:rPr>
              <a:t> 2</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88735768"/>
              </p:ext>
            </p:extLst>
          </p:nvPr>
        </p:nvGraphicFramePr>
        <p:xfrm>
          <a:off x="723900" y="2290233"/>
          <a:ext cx="11944350" cy="7330019"/>
        </p:xfrm>
        <a:graphic>
          <a:graphicData uri="http://schemas.openxmlformats.org/drawingml/2006/table">
            <a:tbl>
              <a:tblPr firstRow="1" bandRow="1" bandCol="1">
                <a:tableStyleId>{5940675A-B579-460E-94D1-54222C63F5DA}</a:tableStyleId>
              </a:tblPr>
              <a:tblGrid>
                <a:gridCol w="2388870">
                  <a:extLst>
                    <a:ext uri="{9D8B030D-6E8A-4147-A177-3AD203B41FA5}">
                      <a16:colId xmlns:a16="http://schemas.microsoft.com/office/drawing/2014/main" val="2049225400"/>
                    </a:ext>
                  </a:extLst>
                </a:gridCol>
                <a:gridCol w="2388870">
                  <a:extLst>
                    <a:ext uri="{9D8B030D-6E8A-4147-A177-3AD203B41FA5}">
                      <a16:colId xmlns:a16="http://schemas.microsoft.com/office/drawing/2014/main" val="1649224760"/>
                    </a:ext>
                  </a:extLst>
                </a:gridCol>
                <a:gridCol w="2388870">
                  <a:extLst>
                    <a:ext uri="{9D8B030D-6E8A-4147-A177-3AD203B41FA5}">
                      <a16:colId xmlns:a16="http://schemas.microsoft.com/office/drawing/2014/main" val="242553659"/>
                    </a:ext>
                  </a:extLst>
                </a:gridCol>
                <a:gridCol w="2388870">
                  <a:extLst>
                    <a:ext uri="{9D8B030D-6E8A-4147-A177-3AD203B41FA5}">
                      <a16:colId xmlns:a16="http://schemas.microsoft.com/office/drawing/2014/main" val="4117118235"/>
                    </a:ext>
                  </a:extLst>
                </a:gridCol>
                <a:gridCol w="2388870">
                  <a:extLst>
                    <a:ext uri="{9D8B030D-6E8A-4147-A177-3AD203B41FA5}">
                      <a16:colId xmlns:a16="http://schemas.microsoft.com/office/drawing/2014/main" val="105005657"/>
                    </a:ext>
                  </a:extLst>
                </a:gridCol>
              </a:tblGrid>
              <a:tr h="738820">
                <a:tc>
                  <a:txBody>
                    <a:bodyPr/>
                    <a:lstStyle/>
                    <a:p>
                      <a:pPr>
                        <a:spcBef>
                          <a:spcPts val="180"/>
                        </a:spcBef>
                        <a:spcAft>
                          <a:spcPts val="180"/>
                        </a:spcAft>
                      </a:pPr>
                      <a:r>
                        <a:rPr lang="en-US" sz="1800" dirty="0" err="1">
                          <a:effectLst/>
                          <a:latin typeface="Helvetica Neue"/>
                        </a:rPr>
                        <a:t>Tiêu</a:t>
                      </a:r>
                      <a:r>
                        <a:rPr lang="en-US" sz="1800" dirty="0">
                          <a:effectLst/>
                          <a:latin typeface="Helvetica Neue"/>
                        </a:rPr>
                        <a:t> </a:t>
                      </a:r>
                      <a:r>
                        <a:rPr lang="en-US" sz="1800" dirty="0" err="1">
                          <a:effectLst/>
                          <a:latin typeface="Helvetica Neue"/>
                        </a:rPr>
                        <a:t>chí</a:t>
                      </a:r>
                      <a:endParaRPr lang="en-US" sz="1800" dirty="0">
                        <a:effectLst/>
                        <a:latin typeface="Helvetica Neue"/>
                        <a:ea typeface="Aptos"/>
                        <a:cs typeface="Times New Roman" panose="02020603050405020304" pitchFamily="18" charset="0"/>
                      </a:endParaRPr>
                    </a:p>
                  </a:txBody>
                  <a:tcPr marL="68580" marR="68580" marT="0" marB="0" anchor="b"/>
                </a:tc>
                <a:tc>
                  <a:txBody>
                    <a:bodyPr/>
                    <a:lstStyle/>
                    <a:p>
                      <a:pPr>
                        <a:spcBef>
                          <a:spcPts val="180"/>
                        </a:spcBef>
                        <a:spcAft>
                          <a:spcPts val="180"/>
                        </a:spcAft>
                      </a:pPr>
                      <a:r>
                        <a:rPr lang="en-US" sz="1800" dirty="0">
                          <a:effectLst/>
                          <a:latin typeface="Helvetica Neue"/>
                        </a:rPr>
                        <a:t>Canny</a:t>
                      </a:r>
                      <a:endParaRPr lang="en-US" sz="1800" dirty="0">
                        <a:effectLst/>
                        <a:latin typeface="Helvetica Neue"/>
                        <a:ea typeface="Aptos"/>
                        <a:cs typeface="Times New Roman" panose="02020603050405020304" pitchFamily="18" charset="0"/>
                      </a:endParaRPr>
                    </a:p>
                  </a:txBody>
                  <a:tcPr marL="68580" marR="68580" marT="0" marB="0" anchor="b"/>
                </a:tc>
                <a:tc>
                  <a:txBody>
                    <a:bodyPr/>
                    <a:lstStyle/>
                    <a:p>
                      <a:pPr>
                        <a:spcBef>
                          <a:spcPts val="180"/>
                        </a:spcBef>
                        <a:spcAft>
                          <a:spcPts val="180"/>
                        </a:spcAft>
                      </a:pPr>
                      <a:r>
                        <a:rPr lang="en-US" sz="1800">
                          <a:effectLst/>
                          <a:latin typeface="Helvetica Neue"/>
                        </a:rPr>
                        <a:t>Laplacian</a:t>
                      </a:r>
                      <a:endParaRPr lang="en-US" sz="1800">
                        <a:effectLst/>
                        <a:latin typeface="Helvetica Neue"/>
                        <a:ea typeface="Aptos"/>
                        <a:cs typeface="Times New Roman" panose="02020603050405020304" pitchFamily="18" charset="0"/>
                      </a:endParaRPr>
                    </a:p>
                  </a:txBody>
                  <a:tcPr marL="68580" marR="68580" marT="0" marB="0" anchor="b"/>
                </a:tc>
                <a:tc>
                  <a:txBody>
                    <a:bodyPr/>
                    <a:lstStyle/>
                    <a:p>
                      <a:pPr>
                        <a:spcBef>
                          <a:spcPts val="180"/>
                        </a:spcBef>
                        <a:spcAft>
                          <a:spcPts val="180"/>
                        </a:spcAft>
                      </a:pPr>
                      <a:r>
                        <a:rPr lang="en-US" sz="1800">
                          <a:effectLst/>
                          <a:latin typeface="Helvetica Neue"/>
                        </a:rPr>
                        <a:t>LoG (Laplacian of Gaussian)</a:t>
                      </a:r>
                      <a:endParaRPr lang="en-US" sz="1800">
                        <a:effectLst/>
                        <a:latin typeface="Helvetica Neue"/>
                        <a:ea typeface="Aptos"/>
                        <a:cs typeface="Times New Roman" panose="02020603050405020304" pitchFamily="18" charset="0"/>
                      </a:endParaRPr>
                    </a:p>
                  </a:txBody>
                  <a:tcPr marL="68580" marR="68580" marT="0" marB="0" anchor="b"/>
                </a:tc>
                <a:tc>
                  <a:txBody>
                    <a:bodyPr/>
                    <a:lstStyle/>
                    <a:p>
                      <a:pPr>
                        <a:spcBef>
                          <a:spcPts val="180"/>
                        </a:spcBef>
                        <a:spcAft>
                          <a:spcPts val="180"/>
                        </a:spcAft>
                      </a:pPr>
                      <a:r>
                        <a:rPr lang="en-US" sz="1800">
                          <a:effectLst/>
                          <a:latin typeface="Helvetica Neue"/>
                        </a:rPr>
                        <a:t>DoG (Difference of Gaussian)</a:t>
                      </a:r>
                      <a:endParaRPr lang="en-US" sz="1800">
                        <a:effectLst/>
                        <a:latin typeface="Helvetica Neue"/>
                        <a:ea typeface="Aptos"/>
                        <a:cs typeface="Times New Roman" panose="02020603050405020304" pitchFamily="18" charset="0"/>
                      </a:endParaRPr>
                    </a:p>
                  </a:txBody>
                  <a:tcPr marL="68580" marR="68580" marT="0" marB="0" anchor="b"/>
                </a:tc>
                <a:extLst>
                  <a:ext uri="{0D108BD9-81ED-4DB2-BD59-A6C34878D82A}">
                    <a16:rowId xmlns:a16="http://schemas.microsoft.com/office/drawing/2014/main" val="187467753"/>
                  </a:ext>
                </a:extLst>
              </a:tr>
              <a:tr h="924060">
                <a:tc>
                  <a:txBody>
                    <a:bodyPr/>
                    <a:lstStyle/>
                    <a:p>
                      <a:pPr>
                        <a:spcBef>
                          <a:spcPts val="180"/>
                        </a:spcBef>
                        <a:spcAft>
                          <a:spcPts val="180"/>
                        </a:spcAft>
                      </a:pPr>
                      <a:r>
                        <a:rPr lang="en-US" sz="1800" dirty="0" err="1">
                          <a:effectLst/>
                          <a:latin typeface="Helvetica Neue"/>
                        </a:rPr>
                        <a:t>Khả</a:t>
                      </a:r>
                      <a:r>
                        <a:rPr lang="en-US" sz="1800" dirty="0">
                          <a:effectLst/>
                          <a:latin typeface="Helvetica Neue"/>
                        </a:rPr>
                        <a:t> </a:t>
                      </a:r>
                      <a:r>
                        <a:rPr lang="en-US" sz="1800" dirty="0" err="1">
                          <a:effectLst/>
                          <a:latin typeface="Helvetica Neue"/>
                        </a:rPr>
                        <a:t>năng</a:t>
                      </a:r>
                      <a:r>
                        <a:rPr lang="en-US" sz="1800" dirty="0">
                          <a:effectLst/>
                          <a:latin typeface="Helvetica Neue"/>
                        </a:rPr>
                        <a:t> </a:t>
                      </a:r>
                      <a:r>
                        <a:rPr lang="en-US" sz="1800" dirty="0" err="1">
                          <a:effectLst/>
                          <a:latin typeface="Helvetica Neue"/>
                        </a:rPr>
                        <a:t>chống</a:t>
                      </a:r>
                      <a:r>
                        <a:rPr lang="en-US" sz="1800" dirty="0">
                          <a:effectLst/>
                          <a:latin typeface="Helvetica Neue"/>
                        </a:rPr>
                        <a:t> </a:t>
                      </a:r>
                      <a:r>
                        <a:rPr lang="en-US" sz="1800" dirty="0" err="1">
                          <a:effectLst/>
                          <a:latin typeface="Helvetica Neue"/>
                        </a:rPr>
                        <a:t>nhiễu</a:t>
                      </a:r>
                      <a:endParaRPr lang="en-US" sz="1800" dirty="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Rất tốt (nhờ làm mờ trước)</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Kém (nhạy với nhiễu)</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Tốt (Gaussian giúp giảm nhiễu)</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Tốt (giảm nhiễu bằng hai Gaussian)</a:t>
                      </a:r>
                      <a:endParaRPr lang="en-US" sz="1800">
                        <a:effectLst/>
                        <a:latin typeface="Helvetica Neue"/>
                        <a:ea typeface="Aptos"/>
                        <a:cs typeface="Times New Roman" panose="02020603050405020304" pitchFamily="18" charset="0"/>
                      </a:endParaRPr>
                    </a:p>
                  </a:txBody>
                  <a:tcPr marL="68580" marR="68580" marT="0" marB="0"/>
                </a:tc>
                <a:extLst>
                  <a:ext uri="{0D108BD9-81ED-4DB2-BD59-A6C34878D82A}">
                    <a16:rowId xmlns:a16="http://schemas.microsoft.com/office/drawing/2014/main" val="4092457917"/>
                  </a:ext>
                </a:extLst>
              </a:tr>
              <a:tr h="924060">
                <a:tc>
                  <a:txBody>
                    <a:bodyPr/>
                    <a:lstStyle/>
                    <a:p>
                      <a:pPr>
                        <a:spcBef>
                          <a:spcPts val="180"/>
                        </a:spcBef>
                        <a:spcAft>
                          <a:spcPts val="180"/>
                        </a:spcAft>
                      </a:pPr>
                      <a:r>
                        <a:rPr lang="en-US" sz="1800">
                          <a:effectLst/>
                          <a:latin typeface="Helvetica Neue"/>
                        </a:rPr>
                        <a:t>Tốc độ</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Chậm hơn (do nhiều bước xử lý)</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Nhanh</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Trung bình</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Nhanh hơn LoG</a:t>
                      </a:r>
                      <a:endParaRPr lang="en-US" sz="1800">
                        <a:effectLst/>
                        <a:latin typeface="Helvetica Neue"/>
                        <a:ea typeface="Aptos"/>
                        <a:cs typeface="Times New Roman" panose="02020603050405020304" pitchFamily="18" charset="0"/>
                      </a:endParaRPr>
                    </a:p>
                  </a:txBody>
                  <a:tcPr marL="68580" marR="68580" marT="0" marB="0"/>
                </a:tc>
                <a:extLst>
                  <a:ext uri="{0D108BD9-81ED-4DB2-BD59-A6C34878D82A}">
                    <a16:rowId xmlns:a16="http://schemas.microsoft.com/office/drawing/2014/main" val="2673350199"/>
                  </a:ext>
                </a:extLst>
              </a:tr>
              <a:tr h="924060">
                <a:tc>
                  <a:txBody>
                    <a:bodyPr/>
                    <a:lstStyle/>
                    <a:p>
                      <a:pPr>
                        <a:spcBef>
                          <a:spcPts val="180"/>
                        </a:spcBef>
                        <a:spcAft>
                          <a:spcPts val="180"/>
                        </a:spcAft>
                      </a:pPr>
                      <a:r>
                        <a:rPr lang="en-US" sz="1800">
                          <a:effectLst/>
                          <a:latin typeface="Helvetica Neue"/>
                        </a:rPr>
                        <a:t>Độ chính xác</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Rất cao (tìm biên mảnh, chính xác)</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Trung bình (nhạy với nhiễu)</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Cao (xác định biên rõ ràng)</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Cao (nhạy với biên ở nhiều cấp độ)</a:t>
                      </a:r>
                      <a:endParaRPr lang="en-US" sz="1800">
                        <a:effectLst/>
                        <a:latin typeface="Helvetica Neue"/>
                        <a:ea typeface="Aptos"/>
                        <a:cs typeface="Times New Roman" panose="02020603050405020304" pitchFamily="18" charset="0"/>
                      </a:endParaRPr>
                    </a:p>
                  </a:txBody>
                  <a:tcPr marL="68580" marR="68580" marT="0" marB="0"/>
                </a:tc>
                <a:extLst>
                  <a:ext uri="{0D108BD9-81ED-4DB2-BD59-A6C34878D82A}">
                    <a16:rowId xmlns:a16="http://schemas.microsoft.com/office/drawing/2014/main" val="873640384"/>
                  </a:ext>
                </a:extLst>
              </a:tr>
              <a:tr h="738820">
                <a:tc>
                  <a:txBody>
                    <a:bodyPr/>
                    <a:lstStyle/>
                    <a:p>
                      <a:pPr>
                        <a:spcBef>
                          <a:spcPts val="180"/>
                        </a:spcBef>
                        <a:spcAft>
                          <a:spcPts val="180"/>
                        </a:spcAft>
                      </a:pPr>
                      <a:r>
                        <a:rPr lang="en-US" sz="1800">
                          <a:effectLst/>
                          <a:latin typeface="Helvetica Neue"/>
                        </a:rPr>
                        <a:t>Khả năng xác định hướng biên</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Có (dùng đạo hàm bậc 1)</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Không</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Không</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Không</a:t>
                      </a:r>
                      <a:endParaRPr lang="en-US" sz="1800">
                        <a:effectLst/>
                        <a:latin typeface="Helvetica Neue"/>
                        <a:ea typeface="Aptos"/>
                        <a:cs typeface="Times New Roman" panose="02020603050405020304" pitchFamily="18" charset="0"/>
                      </a:endParaRPr>
                    </a:p>
                  </a:txBody>
                  <a:tcPr marL="68580" marR="68580" marT="0" marB="0"/>
                </a:tc>
                <a:extLst>
                  <a:ext uri="{0D108BD9-81ED-4DB2-BD59-A6C34878D82A}">
                    <a16:rowId xmlns:a16="http://schemas.microsoft.com/office/drawing/2014/main" val="1190872625"/>
                  </a:ext>
                </a:extLst>
              </a:tr>
              <a:tr h="924060">
                <a:tc>
                  <a:txBody>
                    <a:bodyPr/>
                    <a:lstStyle/>
                    <a:p>
                      <a:pPr>
                        <a:spcBef>
                          <a:spcPts val="180"/>
                        </a:spcBef>
                        <a:spcAft>
                          <a:spcPts val="180"/>
                        </a:spcAft>
                      </a:pPr>
                      <a:r>
                        <a:rPr lang="en-US" sz="1800">
                          <a:effectLst/>
                          <a:latin typeface="Helvetica Neue"/>
                        </a:rPr>
                        <a:t>Cách xác định biên</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Tìm cực đại của đạo hàm bậc 1</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Zero-crossing của Laplacian</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Zero-crossing sau khi làm mờ</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Zero-crossing giữa hai Gaussian</a:t>
                      </a:r>
                      <a:endParaRPr lang="en-US" sz="1800">
                        <a:effectLst/>
                        <a:latin typeface="Helvetica Neue"/>
                        <a:ea typeface="Aptos"/>
                        <a:cs typeface="Times New Roman" panose="02020603050405020304" pitchFamily="18" charset="0"/>
                      </a:endParaRPr>
                    </a:p>
                  </a:txBody>
                  <a:tcPr marL="68580" marR="68580" marT="0" marB="0"/>
                </a:tc>
                <a:extLst>
                  <a:ext uri="{0D108BD9-81ED-4DB2-BD59-A6C34878D82A}">
                    <a16:rowId xmlns:a16="http://schemas.microsoft.com/office/drawing/2014/main" val="3568874640"/>
                  </a:ext>
                </a:extLst>
              </a:tr>
              <a:tr h="924060">
                <a:tc>
                  <a:txBody>
                    <a:bodyPr/>
                    <a:lstStyle/>
                    <a:p>
                      <a:pPr>
                        <a:spcBef>
                          <a:spcPts val="180"/>
                        </a:spcBef>
                        <a:spcAft>
                          <a:spcPts val="180"/>
                        </a:spcAft>
                      </a:pPr>
                      <a:r>
                        <a:rPr lang="en-US" sz="1800">
                          <a:effectLst/>
                          <a:latin typeface="Helvetica Neue"/>
                        </a:rPr>
                        <a:t>Độ phức tạp thuật toán</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Cao (nhiều bước tính toán)</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Thấp (tính toán đơn giản)</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Trung bình (cần làm mờ trước)</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Trung bình (tính toán đơn giản hơn LoG)</a:t>
                      </a:r>
                      <a:endParaRPr lang="en-US" sz="1800">
                        <a:effectLst/>
                        <a:latin typeface="Helvetica Neue"/>
                        <a:ea typeface="Aptos"/>
                        <a:cs typeface="Times New Roman" panose="02020603050405020304" pitchFamily="18" charset="0"/>
                      </a:endParaRPr>
                    </a:p>
                  </a:txBody>
                  <a:tcPr marL="68580" marR="68580" marT="0" marB="0"/>
                </a:tc>
                <a:extLst>
                  <a:ext uri="{0D108BD9-81ED-4DB2-BD59-A6C34878D82A}">
                    <a16:rowId xmlns:a16="http://schemas.microsoft.com/office/drawing/2014/main" val="970240507"/>
                  </a:ext>
                </a:extLst>
              </a:tr>
              <a:tr h="1232079">
                <a:tc>
                  <a:txBody>
                    <a:bodyPr/>
                    <a:lstStyle/>
                    <a:p>
                      <a:pPr>
                        <a:spcBef>
                          <a:spcPts val="180"/>
                        </a:spcBef>
                        <a:spcAft>
                          <a:spcPts val="180"/>
                        </a:spcAft>
                      </a:pPr>
                      <a:r>
                        <a:rPr lang="en-US" sz="1800">
                          <a:effectLst/>
                          <a:latin typeface="Helvetica Neue"/>
                        </a:rPr>
                        <a:t>Ứng dụng</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Nhận diện đối tượng, xử lý ảnh y tế, ảnh vệ tinh</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Phát hiện cạnh đơn giản</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a:effectLst/>
                          <a:latin typeface="Helvetica Neue"/>
                        </a:rPr>
                        <a:t>Phát hiện biên trong ảnh y tế, ảnh kỹ thuật số</a:t>
                      </a:r>
                      <a:endParaRPr lang="en-US" sz="1800">
                        <a:effectLst/>
                        <a:latin typeface="Helvetica Neue"/>
                        <a:ea typeface="Aptos"/>
                        <a:cs typeface="Times New Roman" panose="02020603050405020304" pitchFamily="18" charset="0"/>
                      </a:endParaRPr>
                    </a:p>
                  </a:txBody>
                  <a:tcPr marL="68580" marR="68580" marT="0" marB="0"/>
                </a:tc>
                <a:tc>
                  <a:txBody>
                    <a:bodyPr/>
                    <a:lstStyle/>
                    <a:p>
                      <a:pPr>
                        <a:spcBef>
                          <a:spcPts val="180"/>
                        </a:spcBef>
                        <a:spcAft>
                          <a:spcPts val="180"/>
                        </a:spcAft>
                      </a:pPr>
                      <a:r>
                        <a:rPr lang="en-US" sz="1800" dirty="0" err="1">
                          <a:effectLst/>
                          <a:latin typeface="Helvetica Neue"/>
                        </a:rPr>
                        <a:t>Nhận</a:t>
                      </a:r>
                      <a:r>
                        <a:rPr lang="en-US" sz="1800" dirty="0">
                          <a:effectLst/>
                          <a:latin typeface="Helvetica Neue"/>
                        </a:rPr>
                        <a:t> </a:t>
                      </a:r>
                      <a:r>
                        <a:rPr lang="en-US" sz="1800" dirty="0" err="1">
                          <a:effectLst/>
                          <a:latin typeface="Helvetica Neue"/>
                        </a:rPr>
                        <a:t>diện</a:t>
                      </a:r>
                      <a:r>
                        <a:rPr lang="en-US" sz="1800" dirty="0">
                          <a:effectLst/>
                          <a:latin typeface="Helvetica Neue"/>
                        </a:rPr>
                        <a:t> </a:t>
                      </a:r>
                      <a:r>
                        <a:rPr lang="en-US" sz="1800" dirty="0" err="1">
                          <a:effectLst/>
                          <a:latin typeface="Helvetica Neue"/>
                        </a:rPr>
                        <a:t>đặc</a:t>
                      </a:r>
                      <a:r>
                        <a:rPr lang="en-US" sz="1800" dirty="0">
                          <a:effectLst/>
                          <a:latin typeface="Helvetica Neue"/>
                        </a:rPr>
                        <a:t> </a:t>
                      </a:r>
                      <a:r>
                        <a:rPr lang="en-US" sz="1800" dirty="0" err="1">
                          <a:effectLst/>
                          <a:latin typeface="Helvetica Neue"/>
                        </a:rPr>
                        <a:t>trưng</a:t>
                      </a:r>
                      <a:r>
                        <a:rPr lang="en-US" sz="1800" dirty="0">
                          <a:effectLst/>
                          <a:latin typeface="Helvetica Neue"/>
                        </a:rPr>
                        <a:t> (SIFT), </a:t>
                      </a:r>
                      <a:r>
                        <a:rPr lang="en-US" sz="1800" dirty="0" err="1">
                          <a:effectLst/>
                          <a:latin typeface="Helvetica Neue"/>
                        </a:rPr>
                        <a:t>ảnh</a:t>
                      </a:r>
                      <a:r>
                        <a:rPr lang="en-US" sz="1800" dirty="0">
                          <a:effectLst/>
                          <a:latin typeface="Helvetica Neue"/>
                        </a:rPr>
                        <a:t> </a:t>
                      </a:r>
                      <a:r>
                        <a:rPr lang="en-US" sz="1800" dirty="0" err="1">
                          <a:effectLst/>
                          <a:latin typeface="Helvetica Neue"/>
                        </a:rPr>
                        <a:t>vệ</a:t>
                      </a:r>
                      <a:r>
                        <a:rPr lang="en-US" sz="1800" dirty="0">
                          <a:effectLst/>
                          <a:latin typeface="Helvetica Neue"/>
                        </a:rPr>
                        <a:t> </a:t>
                      </a:r>
                      <a:r>
                        <a:rPr lang="en-US" sz="1800" dirty="0" err="1">
                          <a:effectLst/>
                          <a:latin typeface="Helvetica Neue"/>
                        </a:rPr>
                        <a:t>tinh</a:t>
                      </a:r>
                      <a:endParaRPr lang="en-US" sz="1800" dirty="0">
                        <a:effectLst/>
                        <a:latin typeface="Helvetica Neue"/>
                        <a:ea typeface="Aptos"/>
                        <a:cs typeface="Times New Roman" panose="02020603050405020304" pitchFamily="18" charset="0"/>
                      </a:endParaRPr>
                    </a:p>
                  </a:txBody>
                  <a:tcPr marL="68580" marR="68580" marT="0" marB="0"/>
                </a:tc>
                <a:extLst>
                  <a:ext uri="{0D108BD9-81ED-4DB2-BD59-A6C34878D82A}">
                    <a16:rowId xmlns:a16="http://schemas.microsoft.com/office/drawing/2014/main" val="986717122"/>
                  </a:ext>
                </a:extLst>
              </a:tr>
            </a:tbl>
          </a:graphicData>
        </a:graphic>
      </p:graphicFrame>
    </p:spTree>
    <p:extLst>
      <p:ext uri="{BB962C8B-B14F-4D97-AF65-F5344CB8AC3E}">
        <p14:creationId xmlns:p14="http://schemas.microsoft.com/office/powerpoint/2010/main" val="32639594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err="1">
                <a:latin typeface="Helvetica Neue"/>
              </a:rPr>
              <a:t>Nhận</a:t>
            </a:r>
            <a:r>
              <a:rPr lang="en-US" sz="5400" b="1" dirty="0">
                <a:latin typeface="Helvetica Neue"/>
              </a:rPr>
              <a:t> </a:t>
            </a:r>
            <a:r>
              <a:rPr lang="en-US" sz="5400" b="1" dirty="0" err="1">
                <a:latin typeface="Helvetica Neue"/>
              </a:rPr>
              <a:t>xét</a:t>
            </a:r>
            <a:endParaRPr lang="en-US" sz="5400" b="1" dirty="0">
              <a:latin typeface="Helvetica Neue"/>
            </a:endParaRPr>
          </a:p>
        </p:txBody>
      </p:sp>
      <p:sp>
        <p:nvSpPr>
          <p:cNvPr id="3" name="Content Placeholder 2"/>
          <p:cNvSpPr>
            <a:spLocks noGrp="1"/>
          </p:cNvSpPr>
          <p:nvPr>
            <p:ph idx="1"/>
          </p:nvPr>
        </p:nvSpPr>
        <p:spPr>
          <a:xfrm>
            <a:off x="1905296" y="2709333"/>
            <a:ext cx="9375268" cy="5372618"/>
          </a:xfrm>
        </p:spPr>
        <p:txBody>
          <a:bodyPr>
            <a:normAutofit/>
          </a:bodyPr>
          <a:lstStyle/>
          <a:p>
            <a:pPr lvl="0"/>
            <a:endParaRPr lang="en-US" sz="2400" b="1" dirty="0">
              <a:latin typeface="Helvetica Neue"/>
            </a:endParaRPr>
          </a:p>
          <a:p>
            <a:pPr lvl="0"/>
            <a:r>
              <a:rPr lang="en-US" sz="2400" dirty="0">
                <a:latin typeface="Helvetica Neue"/>
              </a:rPr>
              <a:t>Canny là </a:t>
            </a:r>
            <a:r>
              <a:rPr lang="en-US" sz="2400" dirty="0" err="1">
                <a:latin typeface="Helvetica Neue"/>
              </a:rPr>
              <a:t>phương</a:t>
            </a:r>
            <a:r>
              <a:rPr lang="en-US" sz="2400" dirty="0">
                <a:latin typeface="Helvetica Neue"/>
              </a:rPr>
              <a:t> </a:t>
            </a:r>
            <a:r>
              <a:rPr lang="en-US" sz="2400" dirty="0" err="1">
                <a:latin typeface="Helvetica Neue"/>
              </a:rPr>
              <a:t>pháp</a:t>
            </a:r>
            <a:r>
              <a:rPr lang="en-US" sz="2400" dirty="0">
                <a:latin typeface="Helvetica Neue"/>
              </a:rPr>
              <a:t> phát </a:t>
            </a:r>
            <a:r>
              <a:rPr lang="en-US" sz="2400" dirty="0" err="1">
                <a:latin typeface="Helvetica Neue"/>
              </a:rPr>
              <a:t>hiện</a:t>
            </a:r>
            <a:r>
              <a:rPr lang="en-US" sz="2400" dirty="0">
                <a:latin typeface="Helvetica Neue"/>
              </a:rPr>
              <a:t> </a:t>
            </a:r>
            <a:r>
              <a:rPr lang="en-US" sz="2400" dirty="0" err="1">
                <a:latin typeface="Helvetica Neue"/>
              </a:rPr>
              <a:t>biên</a:t>
            </a:r>
            <a:r>
              <a:rPr lang="en-US" sz="2400" dirty="0">
                <a:latin typeface="Helvetica Neue"/>
              </a:rPr>
              <a:t> </a:t>
            </a:r>
            <a:r>
              <a:rPr lang="en-US" sz="2400" dirty="0" err="1">
                <a:latin typeface="Helvetica Neue"/>
              </a:rPr>
              <a:t>tốt</a:t>
            </a:r>
            <a:r>
              <a:rPr lang="en-US" sz="2400" dirty="0">
                <a:latin typeface="Helvetica Neue"/>
              </a:rPr>
              <a:t> </a:t>
            </a:r>
            <a:r>
              <a:rPr lang="en-US" sz="2400" dirty="0" err="1">
                <a:latin typeface="Helvetica Neue"/>
              </a:rPr>
              <a:t>nhất</a:t>
            </a:r>
            <a:r>
              <a:rPr lang="en-US" sz="2400" dirty="0">
                <a:latin typeface="Helvetica Neue"/>
              </a:rPr>
              <a:t> </a:t>
            </a:r>
            <a:r>
              <a:rPr lang="en-US" sz="2400" dirty="0" err="1">
                <a:latin typeface="Helvetica Neue"/>
              </a:rPr>
              <a:t>với</a:t>
            </a:r>
            <a:r>
              <a:rPr lang="en-US" sz="2400" dirty="0">
                <a:latin typeface="Helvetica Neue"/>
              </a:rPr>
              <a:t> </a:t>
            </a:r>
            <a:r>
              <a:rPr lang="en-US" sz="2400" dirty="0" err="1">
                <a:latin typeface="Helvetica Neue"/>
              </a:rPr>
              <a:t>độ</a:t>
            </a:r>
            <a:r>
              <a:rPr lang="en-US" sz="2400" dirty="0">
                <a:latin typeface="Helvetica Neue"/>
              </a:rPr>
              <a:t> chính </a:t>
            </a:r>
            <a:r>
              <a:rPr lang="en-US" sz="2400" dirty="0" err="1">
                <a:latin typeface="Helvetica Neue"/>
              </a:rPr>
              <a:t>xác</a:t>
            </a:r>
            <a:r>
              <a:rPr lang="en-US" sz="2400" dirty="0">
                <a:latin typeface="Helvetica Neue"/>
              </a:rPr>
              <a:t> </a:t>
            </a:r>
            <a:r>
              <a:rPr lang="en-US" sz="2400" dirty="0" err="1">
                <a:latin typeface="Helvetica Neue"/>
              </a:rPr>
              <a:t>cao</a:t>
            </a:r>
            <a:r>
              <a:rPr lang="en-US" sz="2400" dirty="0">
                <a:latin typeface="Helvetica Neue"/>
              </a:rPr>
              <a:t>, </a:t>
            </a:r>
            <a:r>
              <a:rPr lang="en-US" sz="2400" dirty="0" err="1">
                <a:latin typeface="Helvetica Neue"/>
              </a:rPr>
              <a:t>biên</a:t>
            </a:r>
            <a:r>
              <a:rPr lang="en-US" sz="2400" dirty="0">
                <a:latin typeface="Helvetica Neue"/>
              </a:rPr>
              <a:t> </a:t>
            </a:r>
            <a:r>
              <a:rPr lang="en-US" sz="2400" dirty="0" err="1">
                <a:latin typeface="Helvetica Neue"/>
              </a:rPr>
              <a:t>mảnh</a:t>
            </a:r>
            <a:r>
              <a:rPr lang="en-US" sz="2400" dirty="0">
                <a:latin typeface="Helvetica Neue"/>
              </a:rPr>
              <a:t> </a:t>
            </a:r>
            <a:r>
              <a:rPr lang="en-US" sz="2400" dirty="0" err="1">
                <a:latin typeface="Helvetica Neue"/>
              </a:rPr>
              <a:t>và</a:t>
            </a:r>
            <a:r>
              <a:rPr lang="en-US" sz="2400" dirty="0">
                <a:latin typeface="Helvetica Neue"/>
              </a:rPr>
              <a:t> </a:t>
            </a:r>
            <a:r>
              <a:rPr lang="en-US" sz="2400" dirty="0" err="1">
                <a:latin typeface="Helvetica Neue"/>
              </a:rPr>
              <a:t>chống</a:t>
            </a:r>
            <a:r>
              <a:rPr lang="en-US" sz="2400" dirty="0">
                <a:latin typeface="Helvetica Neue"/>
              </a:rPr>
              <a:t> </a:t>
            </a:r>
            <a:r>
              <a:rPr lang="en-US" sz="2400" dirty="0" err="1">
                <a:latin typeface="Helvetica Neue"/>
              </a:rPr>
              <a:t>nhiễu</a:t>
            </a:r>
            <a:r>
              <a:rPr lang="en-US" sz="2400" dirty="0">
                <a:latin typeface="Helvetica Neue"/>
              </a:rPr>
              <a:t> </a:t>
            </a:r>
            <a:r>
              <a:rPr lang="en-US" sz="2400" dirty="0" err="1">
                <a:latin typeface="Helvetica Neue"/>
              </a:rPr>
              <a:t>tốt</a:t>
            </a:r>
            <a:r>
              <a:rPr lang="en-US" sz="2400" dirty="0">
                <a:latin typeface="Helvetica Neue"/>
              </a:rPr>
              <a:t>, </a:t>
            </a:r>
            <a:r>
              <a:rPr lang="en-US" sz="2400" dirty="0" err="1">
                <a:latin typeface="Helvetica Neue"/>
              </a:rPr>
              <a:t>nhưng</a:t>
            </a:r>
            <a:r>
              <a:rPr lang="en-US" sz="2400" dirty="0">
                <a:latin typeface="Helvetica Neue"/>
              </a:rPr>
              <a:t> </a:t>
            </a:r>
            <a:r>
              <a:rPr lang="en-US" sz="2400" dirty="0" err="1">
                <a:latin typeface="Helvetica Neue"/>
              </a:rPr>
              <a:t>tốc</a:t>
            </a:r>
            <a:r>
              <a:rPr lang="en-US" sz="2400" dirty="0">
                <a:latin typeface="Helvetica Neue"/>
              </a:rPr>
              <a:t> </a:t>
            </a:r>
            <a:r>
              <a:rPr lang="en-US" sz="2400" dirty="0" err="1">
                <a:latin typeface="Helvetica Neue"/>
              </a:rPr>
              <a:t>độ</a:t>
            </a:r>
            <a:r>
              <a:rPr lang="en-US" sz="2400" dirty="0">
                <a:latin typeface="Helvetica Neue"/>
              </a:rPr>
              <a:t> </a:t>
            </a:r>
            <a:r>
              <a:rPr lang="en-US" sz="2400" dirty="0" err="1">
                <a:latin typeface="Helvetica Neue"/>
              </a:rPr>
              <a:t>chậm</a:t>
            </a:r>
            <a:r>
              <a:rPr lang="en-US" sz="2400" dirty="0">
                <a:latin typeface="Helvetica Neue"/>
              </a:rPr>
              <a:t> </a:t>
            </a:r>
            <a:r>
              <a:rPr lang="en-US" sz="2400" dirty="0" err="1">
                <a:latin typeface="Helvetica Neue"/>
              </a:rPr>
              <a:t>hơn</a:t>
            </a:r>
            <a:r>
              <a:rPr lang="en-US" sz="2400" dirty="0">
                <a:latin typeface="Helvetica Neue"/>
              </a:rPr>
              <a:t> do </a:t>
            </a:r>
            <a:r>
              <a:rPr lang="en-US" sz="2400" dirty="0" err="1">
                <a:latin typeface="Helvetica Neue"/>
              </a:rPr>
              <a:t>nhiều</a:t>
            </a:r>
            <a:r>
              <a:rPr lang="en-US" sz="2400" dirty="0">
                <a:latin typeface="Helvetica Neue"/>
              </a:rPr>
              <a:t> </a:t>
            </a:r>
            <a:r>
              <a:rPr lang="en-US" sz="2400" dirty="0" err="1">
                <a:latin typeface="Helvetica Neue"/>
              </a:rPr>
              <a:t>bước</a:t>
            </a:r>
            <a:r>
              <a:rPr lang="en-US" sz="2400" dirty="0">
                <a:latin typeface="Helvetica Neue"/>
              </a:rPr>
              <a:t> </a:t>
            </a:r>
            <a:r>
              <a:rPr lang="en-US" sz="2400" dirty="0" err="1">
                <a:latin typeface="Helvetica Neue"/>
              </a:rPr>
              <a:t>xử</a:t>
            </a:r>
            <a:r>
              <a:rPr lang="en-US" sz="2400" dirty="0">
                <a:latin typeface="Helvetica Neue"/>
              </a:rPr>
              <a:t> </a:t>
            </a:r>
            <a:r>
              <a:rPr lang="en-US" sz="2400" dirty="0" err="1">
                <a:latin typeface="Helvetica Neue"/>
              </a:rPr>
              <a:t>lý</a:t>
            </a:r>
            <a:r>
              <a:rPr lang="en-US" sz="2400" dirty="0">
                <a:latin typeface="Helvetica Neue"/>
              </a:rPr>
              <a:t>. </a:t>
            </a:r>
          </a:p>
          <a:p>
            <a:pPr lvl="0"/>
            <a:r>
              <a:rPr lang="en-US" sz="2400" dirty="0">
                <a:latin typeface="Helvetica Neue"/>
              </a:rPr>
              <a:t>Laplacian </a:t>
            </a:r>
            <a:r>
              <a:rPr lang="en-US" sz="2400" dirty="0" err="1">
                <a:latin typeface="Helvetica Neue"/>
              </a:rPr>
              <a:t>đơn</a:t>
            </a:r>
            <a:r>
              <a:rPr lang="en-US" sz="2400" dirty="0">
                <a:latin typeface="Helvetica Neue"/>
              </a:rPr>
              <a:t> </a:t>
            </a:r>
            <a:r>
              <a:rPr lang="en-US" sz="2400" dirty="0" err="1">
                <a:latin typeface="Helvetica Neue"/>
              </a:rPr>
              <a:t>giản</a:t>
            </a:r>
            <a:r>
              <a:rPr lang="en-US" sz="2400" dirty="0">
                <a:latin typeface="Helvetica Neue"/>
              </a:rPr>
              <a:t> </a:t>
            </a:r>
            <a:r>
              <a:rPr lang="en-US" sz="2400" dirty="0" err="1">
                <a:latin typeface="Helvetica Neue"/>
              </a:rPr>
              <a:t>và</a:t>
            </a:r>
            <a:r>
              <a:rPr lang="en-US" sz="2400" dirty="0">
                <a:latin typeface="Helvetica Neue"/>
              </a:rPr>
              <a:t> </a:t>
            </a:r>
            <a:r>
              <a:rPr lang="en-US" sz="2400" dirty="0" err="1">
                <a:latin typeface="Helvetica Neue"/>
              </a:rPr>
              <a:t>nhanh</a:t>
            </a:r>
            <a:r>
              <a:rPr lang="en-US" sz="2400" dirty="0">
                <a:latin typeface="Helvetica Neue"/>
              </a:rPr>
              <a:t> </a:t>
            </a:r>
            <a:r>
              <a:rPr lang="en-US" sz="2400" dirty="0" err="1">
                <a:latin typeface="Helvetica Neue"/>
              </a:rPr>
              <a:t>nhất</a:t>
            </a:r>
            <a:r>
              <a:rPr lang="en-US" sz="2400" dirty="0">
                <a:latin typeface="Helvetica Neue"/>
              </a:rPr>
              <a:t>, </a:t>
            </a:r>
            <a:r>
              <a:rPr lang="en-US" sz="2400" dirty="0" err="1">
                <a:latin typeface="Helvetica Neue"/>
              </a:rPr>
              <a:t>nhưng</a:t>
            </a:r>
            <a:r>
              <a:rPr lang="en-US" sz="2400" dirty="0">
                <a:latin typeface="Helvetica Neue"/>
              </a:rPr>
              <a:t> </a:t>
            </a:r>
            <a:r>
              <a:rPr lang="en-US" sz="2400" dirty="0" err="1">
                <a:latin typeface="Helvetica Neue"/>
              </a:rPr>
              <a:t>dễ</a:t>
            </a:r>
            <a:r>
              <a:rPr lang="en-US" sz="2400" dirty="0">
                <a:latin typeface="Helvetica Neue"/>
              </a:rPr>
              <a:t> bị </a:t>
            </a:r>
            <a:r>
              <a:rPr lang="en-US" sz="2400" dirty="0" err="1">
                <a:latin typeface="Helvetica Neue"/>
              </a:rPr>
              <a:t>nhiễu</a:t>
            </a:r>
            <a:r>
              <a:rPr lang="en-US" sz="2400" dirty="0">
                <a:latin typeface="Helvetica Neue"/>
              </a:rPr>
              <a:t> </a:t>
            </a:r>
            <a:r>
              <a:rPr lang="en-US" sz="2400" dirty="0" err="1">
                <a:latin typeface="Helvetica Neue"/>
              </a:rPr>
              <a:t>và</a:t>
            </a:r>
            <a:r>
              <a:rPr lang="en-US" sz="2400" dirty="0">
                <a:latin typeface="Helvetica Neue"/>
              </a:rPr>
              <a:t> </a:t>
            </a:r>
            <a:r>
              <a:rPr lang="en-US" sz="2400" dirty="0" err="1">
                <a:latin typeface="Helvetica Neue"/>
              </a:rPr>
              <a:t>tạo</a:t>
            </a:r>
            <a:r>
              <a:rPr lang="en-US" sz="2400" dirty="0">
                <a:latin typeface="Helvetica Neue"/>
              </a:rPr>
              <a:t> </a:t>
            </a:r>
            <a:r>
              <a:rPr lang="en-US" sz="2400" dirty="0" err="1">
                <a:latin typeface="Helvetica Neue"/>
              </a:rPr>
              <a:t>nhiều</a:t>
            </a:r>
            <a:r>
              <a:rPr lang="en-US" sz="2400" dirty="0">
                <a:latin typeface="Helvetica Neue"/>
              </a:rPr>
              <a:t> </a:t>
            </a:r>
            <a:r>
              <a:rPr lang="en-US" sz="2400" dirty="0" err="1">
                <a:latin typeface="Helvetica Neue"/>
              </a:rPr>
              <a:t>biên</a:t>
            </a:r>
            <a:r>
              <a:rPr lang="en-US" sz="2400" dirty="0">
                <a:latin typeface="Helvetica Neue"/>
              </a:rPr>
              <a:t> </a:t>
            </a:r>
            <a:r>
              <a:rPr lang="en-US" sz="2400" dirty="0" err="1">
                <a:latin typeface="Helvetica Neue"/>
              </a:rPr>
              <a:t>giả</a:t>
            </a:r>
            <a:r>
              <a:rPr lang="en-US" sz="2400" dirty="0">
                <a:latin typeface="Helvetica Neue"/>
              </a:rPr>
              <a:t> do </a:t>
            </a:r>
            <a:r>
              <a:rPr lang="en-US" sz="2400" dirty="0" err="1">
                <a:latin typeface="Helvetica Neue"/>
              </a:rPr>
              <a:t>không</a:t>
            </a:r>
            <a:r>
              <a:rPr lang="en-US" sz="2400" dirty="0">
                <a:latin typeface="Helvetica Neue"/>
              </a:rPr>
              <a:t> có </a:t>
            </a:r>
            <a:r>
              <a:rPr lang="en-US" sz="2400" dirty="0" err="1">
                <a:latin typeface="Helvetica Neue"/>
              </a:rPr>
              <a:t>bước</a:t>
            </a:r>
            <a:r>
              <a:rPr lang="en-US" sz="2400" dirty="0">
                <a:latin typeface="Helvetica Neue"/>
              </a:rPr>
              <a:t> làm </a:t>
            </a:r>
            <a:r>
              <a:rPr lang="en-US" sz="2400" dirty="0" err="1">
                <a:latin typeface="Helvetica Neue"/>
              </a:rPr>
              <a:t>mờ</a:t>
            </a:r>
            <a:r>
              <a:rPr lang="en-US" sz="2400" dirty="0">
                <a:latin typeface="Helvetica Neue"/>
              </a:rPr>
              <a:t> </a:t>
            </a:r>
            <a:r>
              <a:rPr lang="en-US" sz="2400" dirty="0" err="1">
                <a:latin typeface="Helvetica Neue"/>
              </a:rPr>
              <a:t>trước</a:t>
            </a:r>
            <a:r>
              <a:rPr lang="en-US" sz="2400" dirty="0">
                <a:latin typeface="Helvetica Neue"/>
              </a:rPr>
              <a:t>. </a:t>
            </a:r>
          </a:p>
          <a:p>
            <a:pPr lvl="0"/>
            <a:r>
              <a:rPr lang="en-US" sz="2400" dirty="0" err="1">
                <a:latin typeface="Helvetica Neue"/>
              </a:rPr>
              <a:t>LoG</a:t>
            </a:r>
            <a:r>
              <a:rPr lang="en-US" sz="2400" dirty="0">
                <a:latin typeface="Helvetica Neue"/>
              </a:rPr>
              <a:t> </a:t>
            </a:r>
            <a:r>
              <a:rPr lang="en-US" sz="2400" dirty="0" err="1">
                <a:latin typeface="Helvetica Neue"/>
              </a:rPr>
              <a:t>cải</a:t>
            </a:r>
            <a:r>
              <a:rPr lang="en-US" sz="2400" dirty="0">
                <a:latin typeface="Helvetica Neue"/>
              </a:rPr>
              <a:t> </a:t>
            </a:r>
            <a:r>
              <a:rPr lang="en-US" sz="2400" dirty="0" err="1">
                <a:latin typeface="Helvetica Neue"/>
              </a:rPr>
              <a:t>thiện</a:t>
            </a:r>
            <a:r>
              <a:rPr lang="en-US" sz="2400" dirty="0">
                <a:latin typeface="Helvetica Neue"/>
              </a:rPr>
              <a:t> </a:t>
            </a:r>
            <a:r>
              <a:rPr lang="en-US" sz="2400" dirty="0" err="1">
                <a:latin typeface="Helvetica Neue"/>
              </a:rPr>
              <a:t>độ</a:t>
            </a:r>
            <a:r>
              <a:rPr lang="en-US" sz="2400" dirty="0">
                <a:latin typeface="Helvetica Neue"/>
              </a:rPr>
              <a:t> chính </a:t>
            </a:r>
            <a:r>
              <a:rPr lang="en-US" sz="2400" dirty="0" err="1">
                <a:latin typeface="Helvetica Neue"/>
              </a:rPr>
              <a:t>xác</a:t>
            </a:r>
            <a:r>
              <a:rPr lang="en-US" sz="2400" dirty="0">
                <a:latin typeface="Helvetica Neue"/>
              </a:rPr>
              <a:t> so </a:t>
            </a:r>
            <a:r>
              <a:rPr lang="en-US" sz="2400" dirty="0" err="1">
                <a:latin typeface="Helvetica Neue"/>
              </a:rPr>
              <a:t>với</a:t>
            </a:r>
            <a:r>
              <a:rPr lang="en-US" sz="2400" dirty="0">
                <a:latin typeface="Helvetica Neue"/>
              </a:rPr>
              <a:t> Laplacian </a:t>
            </a:r>
            <a:r>
              <a:rPr lang="en-US" sz="2400" dirty="0" err="1">
                <a:latin typeface="Helvetica Neue"/>
              </a:rPr>
              <a:t>bằng</a:t>
            </a:r>
            <a:r>
              <a:rPr lang="en-US" sz="2400" dirty="0">
                <a:latin typeface="Helvetica Neue"/>
              </a:rPr>
              <a:t> </a:t>
            </a:r>
            <a:r>
              <a:rPr lang="en-US" sz="2400" dirty="0" err="1">
                <a:latin typeface="Helvetica Neue"/>
              </a:rPr>
              <a:t>cách</a:t>
            </a:r>
            <a:r>
              <a:rPr lang="en-US" sz="2400" dirty="0">
                <a:latin typeface="Helvetica Neue"/>
              </a:rPr>
              <a:t> làm </a:t>
            </a:r>
            <a:r>
              <a:rPr lang="en-US" sz="2400" dirty="0" err="1">
                <a:latin typeface="Helvetica Neue"/>
              </a:rPr>
              <a:t>mờ</a:t>
            </a:r>
            <a:r>
              <a:rPr lang="en-US" sz="2400" dirty="0">
                <a:latin typeface="Helvetica Neue"/>
              </a:rPr>
              <a:t> </a:t>
            </a:r>
            <a:r>
              <a:rPr lang="en-US" sz="2400" dirty="0" err="1">
                <a:latin typeface="Helvetica Neue"/>
              </a:rPr>
              <a:t>ảnh</a:t>
            </a:r>
            <a:r>
              <a:rPr lang="en-US" sz="2400" dirty="0">
                <a:latin typeface="Helvetica Neue"/>
              </a:rPr>
              <a:t> </a:t>
            </a:r>
            <a:r>
              <a:rPr lang="en-US" sz="2400" dirty="0" err="1">
                <a:latin typeface="Helvetica Neue"/>
              </a:rPr>
              <a:t>trước</a:t>
            </a:r>
            <a:r>
              <a:rPr lang="en-US" sz="2400" dirty="0">
                <a:latin typeface="Helvetica Neue"/>
              </a:rPr>
              <a:t> </a:t>
            </a:r>
            <a:r>
              <a:rPr lang="en-US" sz="2400" dirty="0" err="1">
                <a:latin typeface="Helvetica Neue"/>
              </a:rPr>
              <a:t>khi</a:t>
            </a:r>
            <a:r>
              <a:rPr lang="en-US" sz="2400" dirty="0">
                <a:latin typeface="Helvetica Neue"/>
              </a:rPr>
              <a:t> tính </a:t>
            </a:r>
            <a:r>
              <a:rPr lang="en-US" sz="2400" dirty="0" err="1">
                <a:latin typeface="Helvetica Neue"/>
              </a:rPr>
              <a:t>toán</a:t>
            </a:r>
            <a:r>
              <a:rPr lang="en-US" sz="2400" dirty="0">
                <a:latin typeface="Helvetica Neue"/>
              </a:rPr>
              <a:t>, </a:t>
            </a:r>
            <a:r>
              <a:rPr lang="en-US" sz="2400" dirty="0" err="1">
                <a:latin typeface="Helvetica Neue"/>
              </a:rPr>
              <a:t>giúp</a:t>
            </a:r>
            <a:r>
              <a:rPr lang="en-US" sz="2400" dirty="0">
                <a:latin typeface="Helvetica Neue"/>
              </a:rPr>
              <a:t> </a:t>
            </a:r>
            <a:r>
              <a:rPr lang="en-US" sz="2400" dirty="0" err="1">
                <a:latin typeface="Helvetica Neue"/>
              </a:rPr>
              <a:t>giảm</a:t>
            </a:r>
            <a:r>
              <a:rPr lang="en-US" sz="2400" dirty="0">
                <a:latin typeface="Helvetica Neue"/>
              </a:rPr>
              <a:t> </a:t>
            </a:r>
            <a:r>
              <a:rPr lang="en-US" sz="2400" dirty="0" err="1">
                <a:latin typeface="Helvetica Neue"/>
              </a:rPr>
              <a:t>nhiễu</a:t>
            </a:r>
            <a:r>
              <a:rPr lang="en-US" sz="2400" dirty="0">
                <a:latin typeface="Helvetica Neue"/>
              </a:rPr>
              <a:t> </a:t>
            </a:r>
            <a:r>
              <a:rPr lang="en-US" sz="2400" dirty="0" err="1">
                <a:latin typeface="Helvetica Neue"/>
              </a:rPr>
              <a:t>nhưng</a:t>
            </a:r>
            <a:r>
              <a:rPr lang="en-US" sz="2400" dirty="0">
                <a:latin typeface="Helvetica Neue"/>
              </a:rPr>
              <a:t> </a:t>
            </a:r>
            <a:r>
              <a:rPr lang="en-US" sz="2400" dirty="0" err="1">
                <a:latin typeface="Helvetica Neue"/>
              </a:rPr>
              <a:t>tốc</a:t>
            </a:r>
            <a:r>
              <a:rPr lang="en-US" sz="2400" dirty="0">
                <a:latin typeface="Helvetica Neue"/>
              </a:rPr>
              <a:t> </a:t>
            </a:r>
            <a:r>
              <a:rPr lang="en-US" sz="2400" dirty="0" err="1">
                <a:latin typeface="Helvetica Neue"/>
              </a:rPr>
              <a:t>độ</a:t>
            </a:r>
            <a:r>
              <a:rPr lang="en-US" sz="2400" dirty="0">
                <a:latin typeface="Helvetica Neue"/>
              </a:rPr>
              <a:t> </a:t>
            </a:r>
            <a:r>
              <a:rPr lang="en-US" sz="2400" dirty="0" err="1">
                <a:latin typeface="Helvetica Neue"/>
              </a:rPr>
              <a:t>chậm</a:t>
            </a:r>
            <a:r>
              <a:rPr lang="en-US" sz="2400" dirty="0">
                <a:latin typeface="Helvetica Neue"/>
              </a:rPr>
              <a:t> </a:t>
            </a:r>
            <a:r>
              <a:rPr lang="en-US" sz="2400" dirty="0" err="1">
                <a:latin typeface="Helvetica Neue"/>
              </a:rPr>
              <a:t>hơn</a:t>
            </a:r>
            <a:r>
              <a:rPr lang="en-US" sz="2400" dirty="0">
                <a:latin typeface="Helvetica Neue"/>
              </a:rPr>
              <a:t>. </a:t>
            </a:r>
          </a:p>
          <a:p>
            <a:pPr lvl="0"/>
            <a:r>
              <a:rPr lang="en-US" sz="2400" dirty="0" err="1">
                <a:latin typeface="Helvetica Neue"/>
              </a:rPr>
              <a:t>DoG</a:t>
            </a:r>
            <a:r>
              <a:rPr lang="en-US" sz="2400" dirty="0">
                <a:latin typeface="Helvetica Neue"/>
              </a:rPr>
              <a:t> là </a:t>
            </a:r>
            <a:r>
              <a:rPr lang="en-US" sz="2400" dirty="0" err="1">
                <a:latin typeface="Helvetica Neue"/>
              </a:rPr>
              <a:t>phiên</a:t>
            </a:r>
            <a:r>
              <a:rPr lang="en-US" sz="2400" dirty="0">
                <a:latin typeface="Helvetica Neue"/>
              </a:rPr>
              <a:t> </a:t>
            </a:r>
            <a:r>
              <a:rPr lang="en-US" sz="2400" dirty="0" err="1">
                <a:latin typeface="Helvetica Neue"/>
              </a:rPr>
              <a:t>bản</a:t>
            </a:r>
            <a:r>
              <a:rPr lang="en-US" sz="2400" dirty="0">
                <a:latin typeface="Helvetica Neue"/>
              </a:rPr>
              <a:t> tối </a:t>
            </a:r>
            <a:r>
              <a:rPr lang="en-US" sz="2400" dirty="0" err="1">
                <a:latin typeface="Helvetica Neue"/>
              </a:rPr>
              <a:t>ưu</a:t>
            </a:r>
            <a:r>
              <a:rPr lang="en-US" sz="2400" dirty="0">
                <a:latin typeface="Helvetica Neue"/>
              </a:rPr>
              <a:t> </a:t>
            </a:r>
            <a:r>
              <a:rPr lang="en-US" sz="2400" dirty="0" err="1">
                <a:latin typeface="Helvetica Neue"/>
              </a:rPr>
              <a:t>hơn</a:t>
            </a:r>
            <a:r>
              <a:rPr lang="en-US" sz="2400" dirty="0">
                <a:latin typeface="Helvetica Neue"/>
              </a:rPr>
              <a:t> </a:t>
            </a:r>
            <a:r>
              <a:rPr lang="en-US" sz="2400" dirty="0" err="1">
                <a:latin typeface="Helvetica Neue"/>
              </a:rPr>
              <a:t>của</a:t>
            </a:r>
            <a:r>
              <a:rPr lang="en-US" sz="2400" dirty="0">
                <a:latin typeface="Helvetica Neue"/>
              </a:rPr>
              <a:t> </a:t>
            </a:r>
            <a:r>
              <a:rPr lang="en-US" sz="2400" dirty="0" err="1">
                <a:latin typeface="Helvetica Neue"/>
              </a:rPr>
              <a:t>LoG</a:t>
            </a:r>
            <a:r>
              <a:rPr lang="en-US" sz="2400" dirty="0">
                <a:latin typeface="Helvetica Neue"/>
              </a:rPr>
              <a:t>, </a:t>
            </a:r>
            <a:r>
              <a:rPr lang="en-US" sz="2400" dirty="0" err="1">
                <a:latin typeface="Helvetica Neue"/>
              </a:rPr>
              <a:t>giúp</a:t>
            </a:r>
            <a:r>
              <a:rPr lang="en-US" sz="2400" dirty="0">
                <a:latin typeface="Helvetica Neue"/>
              </a:rPr>
              <a:t> phát </a:t>
            </a:r>
            <a:r>
              <a:rPr lang="en-US" sz="2400" dirty="0" err="1">
                <a:latin typeface="Helvetica Neue"/>
              </a:rPr>
              <a:t>hiện</a:t>
            </a:r>
            <a:r>
              <a:rPr lang="en-US" sz="2400" dirty="0">
                <a:latin typeface="Helvetica Neue"/>
              </a:rPr>
              <a:t> </a:t>
            </a:r>
            <a:r>
              <a:rPr lang="en-US" sz="2400" dirty="0" err="1">
                <a:latin typeface="Helvetica Neue"/>
              </a:rPr>
              <a:t>biên</a:t>
            </a:r>
            <a:r>
              <a:rPr lang="en-US" sz="2400" dirty="0">
                <a:latin typeface="Helvetica Neue"/>
              </a:rPr>
              <a:t> ở </a:t>
            </a:r>
            <a:r>
              <a:rPr lang="en-US" sz="2400" dirty="0" err="1">
                <a:latin typeface="Helvetica Neue"/>
              </a:rPr>
              <a:t>nhiều</a:t>
            </a:r>
            <a:r>
              <a:rPr lang="en-US" sz="2400" dirty="0">
                <a:latin typeface="Helvetica Neue"/>
              </a:rPr>
              <a:t> </a:t>
            </a:r>
            <a:r>
              <a:rPr lang="en-US" sz="2400" dirty="0" err="1">
                <a:latin typeface="Helvetica Neue"/>
              </a:rPr>
              <a:t>cấp</a:t>
            </a:r>
            <a:r>
              <a:rPr lang="en-US" sz="2400" dirty="0">
                <a:latin typeface="Helvetica Neue"/>
              </a:rPr>
              <a:t> </a:t>
            </a:r>
            <a:r>
              <a:rPr lang="en-US" sz="2400" dirty="0" err="1">
                <a:latin typeface="Helvetica Neue"/>
              </a:rPr>
              <a:t>độ</a:t>
            </a:r>
            <a:r>
              <a:rPr lang="en-US" sz="2400" dirty="0">
                <a:latin typeface="Helvetica Neue"/>
              </a:rPr>
              <a:t> khác nhau </a:t>
            </a:r>
            <a:r>
              <a:rPr lang="en-US" sz="2400" dirty="0" err="1">
                <a:latin typeface="Helvetica Neue"/>
              </a:rPr>
              <a:t>và</a:t>
            </a:r>
            <a:r>
              <a:rPr lang="en-US" sz="2400" dirty="0">
                <a:latin typeface="Helvetica Neue"/>
              </a:rPr>
              <a:t> có </a:t>
            </a:r>
            <a:r>
              <a:rPr lang="en-US" sz="2400" dirty="0" err="1">
                <a:latin typeface="Helvetica Neue"/>
              </a:rPr>
              <a:t>tốc</a:t>
            </a:r>
            <a:r>
              <a:rPr lang="en-US" sz="2400" dirty="0">
                <a:latin typeface="Helvetica Neue"/>
              </a:rPr>
              <a:t> </a:t>
            </a:r>
            <a:r>
              <a:rPr lang="en-US" sz="2400" dirty="0" err="1">
                <a:latin typeface="Helvetica Neue"/>
              </a:rPr>
              <a:t>độ</a:t>
            </a:r>
            <a:r>
              <a:rPr lang="en-US" sz="2400" dirty="0">
                <a:latin typeface="Helvetica Neue"/>
              </a:rPr>
              <a:t> </a:t>
            </a:r>
            <a:r>
              <a:rPr lang="en-US" sz="2400" dirty="0" err="1">
                <a:latin typeface="Helvetica Neue"/>
              </a:rPr>
              <a:t>nhanh</a:t>
            </a:r>
            <a:r>
              <a:rPr lang="en-US" sz="2400" dirty="0">
                <a:latin typeface="Helvetica Neue"/>
              </a:rPr>
              <a:t> </a:t>
            </a:r>
            <a:r>
              <a:rPr lang="en-US" sz="2400" dirty="0" err="1">
                <a:latin typeface="Helvetica Neue"/>
              </a:rPr>
              <a:t>hơn</a:t>
            </a:r>
            <a:r>
              <a:rPr lang="en-US" sz="2400" dirty="0">
                <a:latin typeface="Helvetica Neue"/>
              </a:rPr>
              <a:t> do </a:t>
            </a:r>
            <a:r>
              <a:rPr lang="en-US" sz="2400" dirty="0" err="1">
                <a:latin typeface="Helvetica Neue"/>
              </a:rPr>
              <a:t>chỉ</a:t>
            </a:r>
            <a:r>
              <a:rPr lang="en-US" sz="2400" dirty="0">
                <a:latin typeface="Helvetica Neue"/>
              </a:rPr>
              <a:t> </a:t>
            </a:r>
            <a:r>
              <a:rPr lang="en-US" sz="2400" dirty="0" err="1">
                <a:latin typeface="Helvetica Neue"/>
              </a:rPr>
              <a:t>cần</a:t>
            </a:r>
            <a:r>
              <a:rPr lang="en-US" sz="2400" dirty="0">
                <a:latin typeface="Helvetica Neue"/>
              </a:rPr>
              <a:t> </a:t>
            </a:r>
            <a:r>
              <a:rPr lang="en-US" sz="2400" dirty="0" err="1">
                <a:latin typeface="Helvetica Neue"/>
              </a:rPr>
              <a:t>lấy</a:t>
            </a:r>
            <a:r>
              <a:rPr lang="en-US" sz="2400" dirty="0">
                <a:latin typeface="Helvetica Neue"/>
              </a:rPr>
              <a:t> </a:t>
            </a:r>
            <a:r>
              <a:rPr lang="en-US" sz="2400" dirty="0" err="1">
                <a:latin typeface="Helvetica Neue"/>
              </a:rPr>
              <a:t>hiệu</a:t>
            </a:r>
            <a:r>
              <a:rPr lang="en-US" sz="2400" dirty="0">
                <a:latin typeface="Helvetica Neue"/>
              </a:rPr>
              <a:t> </a:t>
            </a:r>
            <a:r>
              <a:rPr lang="en-US" sz="2400" dirty="0" err="1">
                <a:latin typeface="Helvetica Neue"/>
              </a:rPr>
              <a:t>hai</a:t>
            </a:r>
            <a:r>
              <a:rPr lang="en-US" sz="2400" dirty="0">
                <a:latin typeface="Helvetica Neue"/>
              </a:rPr>
              <a:t> </a:t>
            </a:r>
            <a:r>
              <a:rPr lang="en-US" sz="2400" dirty="0" err="1">
                <a:latin typeface="Helvetica Neue"/>
              </a:rPr>
              <a:t>bộ</a:t>
            </a:r>
            <a:r>
              <a:rPr lang="en-US" sz="2400" dirty="0">
                <a:latin typeface="Helvetica Neue"/>
              </a:rPr>
              <a:t> </a:t>
            </a:r>
            <a:r>
              <a:rPr lang="en-US" sz="2400" dirty="0" err="1">
                <a:latin typeface="Helvetica Neue"/>
              </a:rPr>
              <a:t>lọc</a:t>
            </a:r>
            <a:r>
              <a:rPr lang="en-US" sz="2400" dirty="0">
                <a:latin typeface="Helvetica Neue"/>
              </a:rPr>
              <a:t> Gaussian.</a:t>
            </a:r>
          </a:p>
          <a:p>
            <a:pPr marL="0" indent="0">
              <a:buNone/>
            </a:pPr>
            <a:endParaRPr lang="en-US" sz="2400" dirty="0">
              <a:latin typeface="Helvetica Neue"/>
            </a:endParaRPr>
          </a:p>
        </p:txBody>
      </p:sp>
    </p:spTree>
    <p:extLst>
      <p:ext uri="{BB962C8B-B14F-4D97-AF65-F5344CB8AC3E}">
        <p14:creationId xmlns:p14="http://schemas.microsoft.com/office/powerpoint/2010/main" val="22103444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08309" y="129583"/>
            <a:ext cx="11888003" cy="1187774"/>
          </a:xfrm>
        </p:spPr>
        <p:txBody>
          <a:bodyPr>
            <a:normAutofit/>
          </a:bodyPr>
          <a:lstStyle/>
          <a:p>
            <a:pPr algn="ctr"/>
            <a:r>
              <a:rPr lang="en-US" sz="5400" b="1" dirty="0" err="1">
                <a:latin typeface="Helvetica Neue"/>
              </a:rPr>
              <a:t>Dò</a:t>
            </a:r>
            <a:r>
              <a:rPr lang="en-US" sz="5400" b="1" dirty="0">
                <a:latin typeface="Helvetica Neue"/>
              </a:rPr>
              <a:t> </a:t>
            </a:r>
            <a:r>
              <a:rPr lang="en-US" sz="5400" b="1" dirty="0" err="1">
                <a:latin typeface="Helvetica Neue"/>
              </a:rPr>
              <a:t>biên</a:t>
            </a:r>
            <a:r>
              <a:rPr lang="en-US" sz="5400" b="1" dirty="0">
                <a:latin typeface="Helvetica Neue"/>
              </a:rPr>
              <a:t> </a:t>
            </a:r>
            <a:r>
              <a:rPr lang="en-US" sz="5400" b="1" dirty="0" err="1">
                <a:latin typeface="Helvetica Neue"/>
              </a:rPr>
              <a:t>bằng</a:t>
            </a:r>
            <a:r>
              <a:rPr lang="en-US" sz="5400" b="1" dirty="0">
                <a:latin typeface="Helvetica Neue"/>
              </a:rPr>
              <a:t> </a:t>
            </a:r>
            <a:r>
              <a:rPr lang="en-US" sz="5400" b="1" dirty="0" err="1">
                <a:latin typeface="Helvetica Neue"/>
              </a:rPr>
              <a:t>quy</a:t>
            </a:r>
            <a:r>
              <a:rPr lang="en-US" sz="5400" b="1" dirty="0">
                <a:latin typeface="Helvetica Neue"/>
              </a:rPr>
              <a:t> </a:t>
            </a:r>
            <a:r>
              <a:rPr lang="en-US" sz="5400" b="1" dirty="0" err="1">
                <a:latin typeface="Helvetica Neue"/>
              </a:rPr>
              <a:t>hoạch</a:t>
            </a:r>
            <a:r>
              <a:rPr lang="en-US" sz="5400" b="1" dirty="0">
                <a:latin typeface="Helvetica Neue"/>
              </a:rPr>
              <a:t> </a:t>
            </a:r>
            <a:r>
              <a:rPr lang="en-US" sz="5400" b="1" dirty="0" err="1">
                <a:latin typeface="Helvetica Neue"/>
              </a:rPr>
              <a:t>động</a:t>
            </a:r>
            <a:endParaRPr lang="en-US" sz="5400" b="1" dirty="0">
              <a:latin typeface="Helvetica Neue"/>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9269" y="2419350"/>
            <a:ext cx="4821931" cy="5657850"/>
          </a:xfrm>
          <a:prstGeom prst="rect">
            <a:avLst/>
          </a:prstGeom>
        </p:spPr>
      </p:pic>
      <p:sp>
        <p:nvSpPr>
          <p:cNvPr id="3" name="TextBox 2"/>
          <p:cNvSpPr txBox="1"/>
          <p:nvPr/>
        </p:nvSpPr>
        <p:spPr>
          <a:xfrm>
            <a:off x="6610350" y="2247900"/>
            <a:ext cx="5943600" cy="6001643"/>
          </a:xfrm>
          <a:prstGeom prst="rect">
            <a:avLst/>
          </a:prstGeom>
          <a:noFill/>
        </p:spPr>
        <p:txBody>
          <a:bodyPr wrap="square" rtlCol="0">
            <a:spAutoFit/>
          </a:bodyPr>
          <a:lstStyle/>
          <a:p>
            <a:pPr algn="l"/>
            <a:r>
              <a:rPr lang="vi-VN" b="0" dirty="0"/>
              <a:t>Dò biên bằng quy hoạch động là một phương pháp tối ưu hóa giúp tìm đường biên của đối tượng trong ảnh bằng cách chia bài toán lớn thành các bài toán con nhỏ hơn và giải quyết chúng một cách hiệu quả. </a:t>
            </a:r>
            <a:endParaRPr lang="en-US" b="0" dirty="0"/>
          </a:p>
          <a:p>
            <a:pPr algn="l"/>
            <a:endParaRPr lang="en-US" b="0" dirty="0"/>
          </a:p>
          <a:p>
            <a:pPr algn="l"/>
            <a:r>
              <a:rPr lang="vi-VN" b="0" dirty="0"/>
              <a:t>Phương pháp này coi các điểm ảnh như các nút trong một đồ thị, trong đó trọng số cạnh giữa các nút được xác định dựa trên giá trị pixel hoặc gradient. </a:t>
            </a:r>
            <a:endParaRPr lang="en-US" b="0" dirty="0"/>
          </a:p>
          <a:p>
            <a:pPr algn="l"/>
            <a:endParaRPr lang="en-US" b="0" dirty="0"/>
          </a:p>
          <a:p>
            <a:pPr algn="l"/>
            <a:r>
              <a:rPr lang="vi-VN" b="0" dirty="0"/>
              <a:t>Bằng cách sử dụng một hàm chi phí, thuật toán sẽ tìm đường đi có tổng chi phí thấp nhất, giúp xác định biên của đối tượng một cách chính xác.</a:t>
            </a:r>
            <a:endParaRPr lang="en-US" b="0" dirty="0"/>
          </a:p>
        </p:txBody>
      </p:sp>
    </p:spTree>
    <p:extLst>
      <p:ext uri="{BB962C8B-B14F-4D97-AF65-F5344CB8AC3E}">
        <p14:creationId xmlns:p14="http://schemas.microsoft.com/office/powerpoint/2010/main" val="30333876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err="1">
                <a:latin typeface="Helvetica Neue"/>
              </a:rPr>
              <a:t>Mô</a:t>
            </a:r>
            <a:r>
              <a:rPr lang="en-US" sz="5400" b="1" dirty="0">
                <a:latin typeface="Helvetica Neue"/>
              </a:rPr>
              <a:t> </a:t>
            </a:r>
            <a:r>
              <a:rPr lang="en-US" sz="5400" b="1" dirty="0" err="1">
                <a:latin typeface="Helvetica Neue"/>
              </a:rPr>
              <a:t>hình</a:t>
            </a:r>
            <a:r>
              <a:rPr lang="en-US" sz="5400" b="1" dirty="0">
                <a:latin typeface="Helvetica Neue"/>
              </a:rPr>
              <a:t> bài </a:t>
            </a:r>
            <a:r>
              <a:rPr lang="en-US" sz="5400" b="1" dirty="0" err="1">
                <a:latin typeface="Helvetica Neue"/>
              </a:rPr>
              <a:t>toán</a:t>
            </a:r>
            <a:endParaRPr lang="en-US" sz="5400" b="1" dirty="0">
              <a:latin typeface="Helvetica Neue"/>
            </a:endParaRPr>
          </a:p>
        </p:txBody>
      </p:sp>
      <p:sp>
        <p:nvSpPr>
          <p:cNvPr id="4" name="Rectangle 1"/>
          <p:cNvSpPr>
            <a:spLocks noGrp="1" noChangeArrowheads="1"/>
          </p:cNvSpPr>
          <p:nvPr>
            <p:ph idx="1"/>
          </p:nvPr>
        </p:nvSpPr>
        <p:spPr bwMode="auto">
          <a:xfrm>
            <a:off x="838497" y="2479673"/>
            <a:ext cx="12344104"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Helvetica Neue"/>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chemeClr val="tx1"/>
                </a:solidFill>
                <a:effectLst/>
                <a:latin typeface="Helvetica Neue"/>
              </a:rPr>
              <a:t>Ảnh</a:t>
            </a:r>
            <a:r>
              <a:rPr kumimoji="0" lang="en-US" altLang="en-US" sz="2400" b="0" i="0" u="none" strike="noStrike" cap="none" normalizeH="0" baseline="0" dirty="0">
                <a:ln>
                  <a:noFill/>
                </a:ln>
                <a:solidFill>
                  <a:schemeClr val="tx1"/>
                </a:solidFill>
                <a:effectLst/>
                <a:latin typeface="Helvetica Neue"/>
              </a:rPr>
              <a:t> đầu vào là </a:t>
            </a:r>
            <a:r>
              <a:rPr kumimoji="0" lang="en-US" altLang="en-US" sz="2400" b="0" i="0" u="none" strike="noStrike" cap="none" normalizeH="0" baseline="0" dirty="0" err="1">
                <a:ln>
                  <a:noFill/>
                </a:ln>
                <a:solidFill>
                  <a:schemeClr val="tx1"/>
                </a:solidFill>
                <a:effectLst/>
                <a:latin typeface="Helvetica Neue"/>
              </a:rPr>
              <a:t>ảnh</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xám</a:t>
            </a:r>
            <a:r>
              <a:rPr kumimoji="0" lang="en-US" altLang="en-US" sz="2400" b="0" i="0" u="none" strike="noStrike" cap="none" normalizeH="0" baseline="0" dirty="0">
                <a:ln>
                  <a:noFill/>
                </a:ln>
                <a:solidFill>
                  <a:schemeClr val="tx1"/>
                </a:solidFill>
                <a:effectLst/>
                <a:latin typeface="Helvetica Neue"/>
              </a:rPr>
              <a:t> I(</a:t>
            </a:r>
            <a:r>
              <a:rPr kumimoji="0" lang="en-US" altLang="en-US" sz="2400" b="0" i="0" u="none" strike="noStrike" cap="none" normalizeH="0" baseline="0" dirty="0" err="1">
                <a:ln>
                  <a:noFill/>
                </a:ln>
                <a:solidFill>
                  <a:schemeClr val="tx1"/>
                </a:solidFill>
                <a:effectLst/>
                <a:latin typeface="Helvetica Neue"/>
              </a:rPr>
              <a:t>x,y</a:t>
            </a:r>
            <a:r>
              <a:rPr kumimoji="0" lang="en-US" altLang="en-US" sz="2400" b="0" i="0" u="none" strike="noStrike" cap="none" normalizeH="0" baseline="0" dirty="0">
                <a:ln>
                  <a:noFill/>
                </a:ln>
                <a:solidFill>
                  <a:schemeClr val="tx1"/>
                </a:solidFill>
                <a:effectLst/>
                <a:latin typeface="Helvetica Neue"/>
              </a:rPr>
              <a:t>)</a:t>
            </a:r>
            <a:r>
              <a:rPr lang="en-US" altLang="en-US" sz="2400" dirty="0">
                <a:solidFill>
                  <a:schemeClr val="tx1"/>
                </a:solidFill>
                <a:latin typeface="Helvetica Neue"/>
              </a:rPr>
              <a:t> </a:t>
            </a:r>
            <a:r>
              <a:rPr kumimoji="0" lang="en-US" altLang="en-US" sz="2400" b="0" i="0" u="none" strike="noStrike" cap="none" normalizeH="0" baseline="0" dirty="0">
                <a:ln>
                  <a:noFill/>
                </a:ln>
                <a:solidFill>
                  <a:schemeClr val="tx1"/>
                </a:solidFill>
                <a:effectLst/>
                <a:latin typeface="Helvetica Neue"/>
              </a:rPr>
              <a:t>có </a:t>
            </a:r>
            <a:r>
              <a:rPr kumimoji="0" lang="en-US" altLang="en-US" sz="2400" b="0" i="0" u="none" strike="noStrike" cap="none" normalizeH="0" baseline="0" dirty="0" err="1">
                <a:ln>
                  <a:noFill/>
                </a:ln>
                <a:solidFill>
                  <a:schemeClr val="tx1"/>
                </a:solidFill>
                <a:effectLst/>
                <a:latin typeface="Helvetica Neue"/>
              </a:rPr>
              <a:t>kích</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thước</a:t>
            </a:r>
            <a:r>
              <a:rPr kumimoji="0" lang="en-US" altLang="en-US" sz="2400" b="0" i="0" u="none" strike="noStrike" cap="none" normalizeH="0" baseline="0" dirty="0">
                <a:ln>
                  <a:noFill/>
                </a:ln>
                <a:solidFill>
                  <a:schemeClr val="tx1"/>
                </a:solidFill>
                <a:effectLst/>
                <a:latin typeface="Helvetica Neue"/>
              </a:rPr>
              <a:t> M×N.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Helvetica Neue"/>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chemeClr val="tx1"/>
                </a:solidFill>
                <a:effectLst/>
                <a:latin typeface="Helvetica Neue"/>
              </a:rPr>
              <a:t>Mục</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tiêu</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Xác</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định</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đường</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biên</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từ</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cột</a:t>
            </a:r>
            <a:r>
              <a:rPr kumimoji="0" lang="en-US" altLang="en-US" sz="2400" b="0" i="0" u="none" strike="noStrike" cap="none" normalizeH="0" baseline="0" dirty="0">
                <a:ln>
                  <a:noFill/>
                </a:ln>
                <a:solidFill>
                  <a:schemeClr val="tx1"/>
                </a:solidFill>
                <a:effectLst/>
                <a:latin typeface="Helvetica Neue"/>
              </a:rPr>
              <a:t> đầu tiên </a:t>
            </a:r>
            <a:r>
              <a:rPr kumimoji="0" lang="en-US" altLang="en-US" sz="2400" b="0" i="0" u="none" strike="noStrike" cap="none" normalizeH="0" baseline="0" dirty="0" err="1">
                <a:ln>
                  <a:noFill/>
                </a:ln>
                <a:solidFill>
                  <a:schemeClr val="tx1"/>
                </a:solidFill>
                <a:effectLst/>
                <a:latin typeface="Helvetica Neue"/>
              </a:rPr>
              <a:t>đến</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cột</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cuối</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cùng</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sao</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cho</a:t>
            </a:r>
            <a:r>
              <a:rPr kumimoji="0" lang="en-US" altLang="en-US" sz="2400" b="0" i="0" u="none" strike="noStrike" cap="none" normalizeH="0" baseline="0" dirty="0">
                <a:ln>
                  <a:noFill/>
                </a:ln>
                <a:solidFill>
                  <a:schemeClr val="tx1"/>
                </a:solidFill>
                <a:effectLst/>
                <a:latin typeface="Helvetica Neue"/>
              </a:rPr>
              <a:t> có </a:t>
            </a:r>
            <a:r>
              <a:rPr kumimoji="0" lang="en-US" altLang="en-US" sz="2400" b="0" i="0" u="none" strike="noStrike" cap="none" normalizeH="0" baseline="0" dirty="0" err="1">
                <a:ln>
                  <a:noFill/>
                </a:ln>
                <a:solidFill>
                  <a:schemeClr val="tx1"/>
                </a:solidFill>
                <a:effectLst/>
                <a:latin typeface="Helvetica Neue"/>
              </a:rPr>
              <a:t>độ</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tương</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phản</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cao</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nhất</a:t>
            </a:r>
            <a:r>
              <a:rPr kumimoji="0" lang="en-US" altLang="en-US" sz="2400" b="0" i="0" u="none" strike="noStrike" cap="none" normalizeH="0" baseline="0" dirty="0">
                <a:ln>
                  <a:noFill/>
                </a:ln>
                <a:solidFill>
                  <a:schemeClr val="tx1"/>
                </a:solidFill>
                <a:effectLst/>
                <a:latin typeface="Helvetica Neue"/>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Helvetica Neue"/>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chemeClr val="tx1"/>
                </a:solidFill>
                <a:effectLst/>
                <a:latin typeface="Helvetica Neue"/>
              </a:rPr>
              <a:t>Hàm</a:t>
            </a:r>
            <a:r>
              <a:rPr kumimoji="0" lang="en-US" altLang="en-US" sz="2400" b="0" i="0" u="none" strike="noStrike" cap="none" normalizeH="0" baseline="0" dirty="0">
                <a:ln>
                  <a:noFill/>
                </a:ln>
                <a:solidFill>
                  <a:schemeClr val="tx1"/>
                </a:solidFill>
                <a:effectLst/>
                <a:latin typeface="Helvetica Neue"/>
              </a:rPr>
              <a:t> chi </a:t>
            </a:r>
            <a:r>
              <a:rPr kumimoji="0" lang="en-US" altLang="en-US" sz="2400" b="0" i="0" u="none" strike="noStrike" cap="none" normalizeH="0" baseline="0" dirty="0" err="1">
                <a:ln>
                  <a:noFill/>
                </a:ln>
                <a:solidFill>
                  <a:schemeClr val="tx1"/>
                </a:solidFill>
                <a:effectLst/>
                <a:latin typeface="Helvetica Neue"/>
              </a:rPr>
              <a:t>phí</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được</a:t>
            </a:r>
            <a:r>
              <a:rPr kumimoji="0" lang="en-US" altLang="en-US" sz="2400" b="0" i="0" u="none" strike="noStrike" cap="none" normalizeH="0" baseline="0" dirty="0">
                <a:ln>
                  <a:noFill/>
                </a:ln>
                <a:solidFill>
                  <a:schemeClr val="tx1"/>
                </a:solidFill>
                <a:effectLst/>
                <a:latin typeface="Helvetica Neue"/>
              </a:rPr>
              <a:t> tính </a:t>
            </a:r>
            <a:r>
              <a:rPr kumimoji="0" lang="en-US" altLang="en-US" sz="2400" b="0" i="0" u="none" strike="noStrike" cap="none" normalizeH="0" baseline="0" dirty="0" err="1">
                <a:ln>
                  <a:noFill/>
                </a:ln>
                <a:solidFill>
                  <a:schemeClr val="tx1"/>
                </a:solidFill>
                <a:effectLst/>
                <a:latin typeface="Helvetica Neue"/>
              </a:rPr>
              <a:t>theo</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công</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thức</a:t>
            </a:r>
            <a:r>
              <a:rPr kumimoji="0" lang="en-US" altLang="en-US" sz="2400" b="0" i="0" u="none" strike="noStrike" cap="none" normalizeH="0" baseline="0" dirty="0">
                <a:ln>
                  <a:noFill/>
                </a:ln>
                <a:solidFill>
                  <a:schemeClr val="tx1"/>
                </a:solidFill>
                <a:effectLst/>
                <a:latin typeface="Helvetica Neue"/>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Helvetica Neue"/>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Helvetica Neue"/>
              </a:rPr>
              <a:t>		</a:t>
            </a:r>
            <a:r>
              <a:rPr kumimoji="0" lang="en-US" altLang="en-US" sz="2400" b="1" i="0" u="none" strike="noStrike" cap="none" normalizeH="0" baseline="0" dirty="0">
                <a:ln>
                  <a:noFill/>
                </a:ln>
                <a:solidFill>
                  <a:schemeClr val="tx1"/>
                </a:solidFill>
                <a:effectLst/>
                <a:latin typeface="Helvetica Neue"/>
              </a:rPr>
              <a:t>C(</a:t>
            </a:r>
            <a:r>
              <a:rPr kumimoji="0" lang="en-US" altLang="en-US" sz="2400" b="1" i="0" u="none" strike="noStrike" cap="none" normalizeH="0" baseline="0" dirty="0" err="1">
                <a:ln>
                  <a:noFill/>
                </a:ln>
                <a:solidFill>
                  <a:schemeClr val="tx1"/>
                </a:solidFill>
                <a:effectLst/>
                <a:latin typeface="Helvetica Neue"/>
              </a:rPr>
              <a:t>x,y</a:t>
            </a:r>
            <a:r>
              <a:rPr kumimoji="0" lang="en-US" altLang="en-US" sz="2400" b="1" i="0" u="none" strike="noStrike" cap="none" normalizeH="0" baseline="0" dirty="0">
                <a:ln>
                  <a:noFill/>
                </a:ln>
                <a:solidFill>
                  <a:schemeClr val="tx1"/>
                </a:solidFill>
                <a:effectLst/>
                <a:latin typeface="Helvetica Neue"/>
              </a:rPr>
              <a:t>)=G(</a:t>
            </a:r>
            <a:r>
              <a:rPr kumimoji="0" lang="en-US" altLang="en-US" sz="2400" b="1" i="0" u="none" strike="noStrike" cap="none" normalizeH="0" baseline="0" dirty="0" err="1">
                <a:ln>
                  <a:noFill/>
                </a:ln>
                <a:solidFill>
                  <a:schemeClr val="tx1"/>
                </a:solidFill>
                <a:effectLst/>
                <a:latin typeface="Helvetica Neue"/>
              </a:rPr>
              <a:t>x,y</a:t>
            </a:r>
            <a:r>
              <a:rPr kumimoji="0" lang="en-US" altLang="en-US" sz="2400" b="1" i="0" u="none" strike="noStrike" cap="none" normalizeH="0" baseline="0" dirty="0">
                <a:ln>
                  <a:noFill/>
                </a:ln>
                <a:solidFill>
                  <a:schemeClr val="tx1"/>
                </a:solidFill>
                <a:effectLst/>
                <a:latin typeface="Helvetica Neue"/>
              </a:rPr>
              <a:t>)+min⁡{C(x−1,y−1),C(x−1,y),C(x−1,y+1)} </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solidFill>
                  <a:schemeClr val="tx1"/>
                </a:solidFill>
                <a:latin typeface="Helvetica Neue"/>
              </a:rPr>
              <a:t>  Trong </a:t>
            </a:r>
            <a:r>
              <a:rPr lang="en-US" altLang="en-US" sz="2400" dirty="0" err="1">
                <a:solidFill>
                  <a:schemeClr val="tx1"/>
                </a:solidFill>
                <a:latin typeface="Helvetica Neue"/>
              </a:rPr>
              <a:t>đó</a:t>
            </a:r>
            <a:r>
              <a:rPr lang="en-US" altLang="en-US" sz="2400" dirty="0">
                <a:solidFill>
                  <a:schemeClr val="tx1"/>
                </a:solidFill>
                <a:latin typeface="Helvetica Neue"/>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Helvetica Neue"/>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Helvetica Neue"/>
              </a:rPr>
              <a:t>        G(</a:t>
            </a:r>
            <a:r>
              <a:rPr kumimoji="0" lang="en-US" altLang="en-US" sz="2400" b="0" i="0" u="none" strike="noStrike" cap="none" normalizeH="0" baseline="0" dirty="0" err="1">
                <a:ln>
                  <a:noFill/>
                </a:ln>
                <a:solidFill>
                  <a:schemeClr val="tx1"/>
                </a:solidFill>
                <a:effectLst/>
                <a:latin typeface="Helvetica Neue"/>
              </a:rPr>
              <a:t>x,y</a:t>
            </a:r>
            <a:r>
              <a:rPr kumimoji="0" lang="en-US" altLang="en-US" sz="2400" b="0" i="0" u="none" strike="noStrike" cap="none" normalizeH="0" baseline="0" dirty="0">
                <a:ln>
                  <a:noFill/>
                </a:ln>
                <a:solidFill>
                  <a:schemeClr val="tx1"/>
                </a:solidFill>
                <a:effectLst/>
                <a:latin typeface="Helvetica Neue"/>
              </a:rPr>
              <a:t>)</a:t>
            </a:r>
            <a:r>
              <a:rPr kumimoji="0" lang="en-US" altLang="en-US" sz="2400" b="0" i="0" u="none" strike="noStrike" cap="none" normalizeH="0" dirty="0">
                <a:ln>
                  <a:noFill/>
                </a:ln>
                <a:solidFill>
                  <a:schemeClr val="tx1"/>
                </a:solidFill>
                <a:effectLst/>
                <a:latin typeface="Helvetica Neue"/>
              </a:rPr>
              <a:t> </a:t>
            </a:r>
            <a:r>
              <a:rPr kumimoji="0" lang="en-US" altLang="en-US" sz="2400" b="0" i="0" u="none" strike="noStrike" cap="none" normalizeH="0" baseline="0" dirty="0">
                <a:ln>
                  <a:noFill/>
                </a:ln>
                <a:solidFill>
                  <a:schemeClr val="tx1"/>
                </a:solidFill>
                <a:effectLst/>
                <a:latin typeface="Helvetica Neue"/>
              </a:rPr>
              <a:t>là gradient </a:t>
            </a:r>
            <a:r>
              <a:rPr kumimoji="0" lang="en-US" altLang="en-US" sz="2400" b="0" i="0" u="none" strike="noStrike" cap="none" normalizeH="0" baseline="0" dirty="0" err="1">
                <a:ln>
                  <a:noFill/>
                </a:ln>
                <a:solidFill>
                  <a:schemeClr val="tx1"/>
                </a:solidFill>
                <a:effectLst/>
                <a:latin typeface="Helvetica Neue"/>
              </a:rPr>
              <a:t>tại</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điểm</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ảnh</a:t>
            </a:r>
            <a:r>
              <a:rPr kumimoji="0" lang="en-US" altLang="en-US" sz="2400" b="0" i="0" u="none" strike="noStrike" cap="none" normalizeH="0" baseline="0" dirty="0">
                <a:ln>
                  <a:noFill/>
                </a:ln>
                <a:solidFill>
                  <a:schemeClr val="tx1"/>
                </a:solidFill>
                <a:effectLst/>
                <a:latin typeface="Helvetica Neue"/>
              </a:rPr>
              <a:t>, có </a:t>
            </a:r>
            <a:r>
              <a:rPr kumimoji="0" lang="en-US" altLang="en-US" sz="2400" b="0" i="0" u="none" strike="noStrike" cap="none" normalizeH="0" baseline="0" dirty="0" err="1">
                <a:ln>
                  <a:noFill/>
                </a:ln>
                <a:solidFill>
                  <a:schemeClr val="tx1"/>
                </a:solidFill>
                <a:effectLst/>
                <a:latin typeface="Helvetica Neue"/>
              </a:rPr>
              <a:t>thể</a:t>
            </a:r>
            <a:r>
              <a:rPr kumimoji="0" lang="en-US" altLang="en-US" sz="2400" b="0" i="0" u="none" strike="noStrike" cap="none" normalizeH="0" baseline="0" dirty="0">
                <a:ln>
                  <a:noFill/>
                </a:ln>
                <a:solidFill>
                  <a:schemeClr val="tx1"/>
                </a:solidFill>
                <a:effectLst/>
                <a:latin typeface="Helvetica Neue"/>
              </a:rPr>
              <a:t> tính </a:t>
            </a:r>
            <a:r>
              <a:rPr kumimoji="0" lang="en-US" altLang="en-US" sz="2400" b="0" i="0" u="none" strike="noStrike" cap="none" normalizeH="0" baseline="0" dirty="0" err="1">
                <a:ln>
                  <a:noFill/>
                </a:ln>
                <a:solidFill>
                  <a:schemeClr val="tx1"/>
                </a:solidFill>
                <a:effectLst/>
                <a:latin typeface="Helvetica Neue"/>
              </a:rPr>
              <a:t>bằng</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toán</a:t>
            </a:r>
            <a:r>
              <a:rPr kumimoji="0" lang="en-US" altLang="en-US" sz="2400" b="0" i="0" u="none" strike="noStrike" cap="none" normalizeH="0" baseline="0" dirty="0">
                <a:ln>
                  <a:noFill/>
                </a:ln>
                <a:solidFill>
                  <a:schemeClr val="tx1"/>
                </a:solidFill>
                <a:effectLst/>
                <a:latin typeface="Helvetica Neue"/>
              </a:rPr>
              <a:t> </a:t>
            </a:r>
            <a:r>
              <a:rPr kumimoji="0" lang="en-US" altLang="en-US" sz="2400" b="0" i="0" u="none" strike="noStrike" cap="none" normalizeH="0" baseline="0" dirty="0" err="1">
                <a:ln>
                  <a:noFill/>
                </a:ln>
                <a:solidFill>
                  <a:schemeClr val="tx1"/>
                </a:solidFill>
                <a:effectLst/>
                <a:latin typeface="Helvetica Neue"/>
              </a:rPr>
              <a:t>tử</a:t>
            </a:r>
            <a:r>
              <a:rPr kumimoji="0" lang="en-US" altLang="en-US" sz="2400" b="0" i="0" u="none" strike="noStrike" cap="none" normalizeH="0" baseline="0" dirty="0">
                <a:ln>
                  <a:noFill/>
                </a:ln>
                <a:solidFill>
                  <a:schemeClr val="tx1"/>
                </a:solidFill>
                <a:effectLst/>
                <a:latin typeface="Helvetica Neue"/>
              </a:rPr>
              <a:t> Sobel </a:t>
            </a:r>
            <a:r>
              <a:rPr kumimoji="0" lang="en-US" altLang="en-US" sz="2400" b="0" i="0" u="none" strike="noStrike" cap="none" normalizeH="0" baseline="0" dirty="0" err="1">
                <a:ln>
                  <a:noFill/>
                </a:ln>
                <a:solidFill>
                  <a:schemeClr val="tx1"/>
                </a:solidFill>
                <a:effectLst/>
                <a:latin typeface="Helvetica Neue"/>
              </a:rPr>
              <a:t>hoặc</a:t>
            </a:r>
            <a:r>
              <a:rPr kumimoji="0" lang="en-US" altLang="en-US" sz="2400" b="0" i="0" u="none" strike="noStrike" cap="none" normalizeH="0" baseline="0" dirty="0">
                <a:ln>
                  <a:noFill/>
                </a:ln>
                <a:solidFill>
                  <a:schemeClr val="tx1"/>
                </a:solidFill>
                <a:effectLst/>
                <a:latin typeface="Helvetica Neue"/>
              </a:rPr>
              <a:t> Laplacian</a:t>
            </a:r>
          </a:p>
          <a:p>
            <a:pPr marR="0" lvl="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Helvetica Neue"/>
            </a:endParaRPr>
          </a:p>
          <a:p>
            <a:pPr marL="0" lvl="0" indent="0" defTabSz="914400" eaLnBrk="0" fontAlgn="base" hangingPunct="0">
              <a:spcBef>
                <a:spcPct val="0"/>
              </a:spcBef>
              <a:spcAft>
                <a:spcPct val="0"/>
              </a:spcAft>
              <a:buClrTx/>
              <a:buNone/>
            </a:pPr>
            <a:r>
              <a:rPr lang="en-US" altLang="en-US" sz="2400" dirty="0">
                <a:solidFill>
                  <a:schemeClr val="tx1"/>
                </a:solidFill>
                <a:latin typeface="Helvetica Neue"/>
              </a:rPr>
              <a:t> </a:t>
            </a:r>
            <a:r>
              <a:rPr kumimoji="0" lang="en-US" altLang="en-US" sz="2400" b="0" i="0" u="none" strike="noStrike" cap="none" normalizeH="0" baseline="0" dirty="0">
                <a:ln>
                  <a:noFill/>
                </a:ln>
                <a:solidFill>
                  <a:schemeClr val="tx1"/>
                </a:solidFill>
                <a:effectLst/>
                <a:latin typeface="Helvetica Neue"/>
              </a:rPr>
              <a:t>       </a:t>
            </a:r>
            <a:r>
              <a:rPr lang="vi-VN" altLang="en-US" sz="2400" dirty="0">
                <a:solidFill>
                  <a:schemeClr val="tx1"/>
                </a:solidFill>
                <a:latin typeface="Helvetica Neue"/>
              </a:rPr>
              <a:t>C(x−1, y−1), C(x−1, y), C(x−1, y+1) giúp chọn hướng đi tốt nhất từ cột trước</a:t>
            </a:r>
            <a:endParaRPr kumimoji="0" lang="en-US" altLang="en-US" sz="1800" b="0" i="0" u="none" strike="noStrike" cap="none" normalizeH="0" baseline="0" dirty="0">
              <a:ln>
                <a:noFill/>
              </a:ln>
              <a:solidFill>
                <a:schemeClr val="tx1"/>
              </a:solidFill>
              <a:effectLst/>
              <a:latin typeface="Helvetica Neue"/>
            </a:endParaRPr>
          </a:p>
        </p:txBody>
      </p:sp>
    </p:spTree>
    <p:extLst>
      <p:ext uri="{BB962C8B-B14F-4D97-AF65-F5344CB8AC3E}">
        <p14:creationId xmlns:p14="http://schemas.microsoft.com/office/powerpoint/2010/main" val="19796182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008309" y="129582"/>
            <a:ext cx="11888003" cy="1249767"/>
          </a:xfrm>
        </p:spPr>
        <p:txBody>
          <a:bodyPr>
            <a:normAutofit/>
          </a:bodyPr>
          <a:lstStyle/>
          <a:p>
            <a:r>
              <a:rPr lang="en-US" sz="6600" b="1" dirty="0" err="1">
                <a:latin typeface="Constantia" panose="02030602050306030303" pitchFamily="18" charset="0"/>
              </a:rPr>
              <a:t>Các</a:t>
            </a:r>
            <a:r>
              <a:rPr lang="en-US" sz="6600" b="1" dirty="0">
                <a:latin typeface="Constantia" panose="02030602050306030303" pitchFamily="18" charset="0"/>
              </a:rPr>
              <a:t> </a:t>
            </a:r>
            <a:r>
              <a:rPr lang="en-US" sz="6600" b="1" dirty="0" err="1">
                <a:latin typeface="Constantia" panose="02030602050306030303" pitchFamily="18" charset="0"/>
              </a:rPr>
              <a:t>bước</a:t>
            </a:r>
            <a:r>
              <a:rPr lang="en-US" sz="6600" b="1" dirty="0">
                <a:latin typeface="Constantia" panose="02030602050306030303" pitchFamily="18" charset="0"/>
              </a:rPr>
              <a:t> </a:t>
            </a:r>
            <a:r>
              <a:rPr lang="en-US" sz="6600" b="1" dirty="0" err="1">
                <a:latin typeface="Constantia" panose="02030602050306030303" pitchFamily="18" charset="0"/>
              </a:rPr>
              <a:t>thực</a:t>
            </a:r>
            <a:r>
              <a:rPr lang="en-US" sz="6600" b="1" dirty="0">
                <a:latin typeface="Constantia" panose="02030602050306030303" pitchFamily="18" charset="0"/>
              </a:rPr>
              <a:t> </a:t>
            </a:r>
            <a:r>
              <a:rPr lang="en-US" sz="6600" b="1" dirty="0" err="1">
                <a:latin typeface="Constantia" panose="02030602050306030303" pitchFamily="18" charset="0"/>
              </a:rPr>
              <a:t>hiện</a:t>
            </a:r>
            <a:endParaRPr lang="en-US" sz="6600" b="1" dirty="0">
              <a:latin typeface="Constantia" panose="02030602050306030303" pitchFamily="18" charset="0"/>
            </a:endParaRPr>
          </a:p>
        </p:txBody>
      </p:sp>
      <p:sp>
        <p:nvSpPr>
          <p:cNvPr id="2" name="TextBox 1"/>
          <p:cNvSpPr txBox="1"/>
          <p:nvPr/>
        </p:nvSpPr>
        <p:spPr>
          <a:xfrm>
            <a:off x="1008309" y="2057400"/>
            <a:ext cx="10953750" cy="6740307"/>
          </a:xfrm>
          <a:prstGeom prst="rect">
            <a:avLst/>
          </a:prstGeom>
          <a:noFill/>
        </p:spPr>
        <p:txBody>
          <a:bodyPr wrap="square" rtlCol="0">
            <a:spAutoFit/>
          </a:bodyPr>
          <a:lstStyle/>
          <a:p>
            <a:pPr algn="l"/>
            <a:r>
              <a:rPr lang="vi-VN" dirty="0"/>
              <a:t>Bước 1: Tính toán ma trận gradient</a:t>
            </a:r>
            <a:endParaRPr lang="vi-VN" b="0" dirty="0"/>
          </a:p>
          <a:p>
            <a:pPr algn="l"/>
            <a:r>
              <a:rPr lang="en-US" b="0" dirty="0"/>
              <a:t>-</a:t>
            </a:r>
            <a:r>
              <a:rPr lang="vi-VN" b="0" dirty="0"/>
              <a:t>Dùng toán tử Sobel hoặc Laplacian để tính toán ma trận gradient G(x,y)</a:t>
            </a:r>
            <a:r>
              <a:rPr lang="en-US" b="0" dirty="0"/>
              <a:t>.</a:t>
            </a:r>
            <a:endParaRPr lang="vi-VN" b="0" dirty="0"/>
          </a:p>
          <a:p>
            <a:pPr algn="l"/>
            <a:r>
              <a:rPr lang="en-US" b="0" dirty="0"/>
              <a:t>-</a:t>
            </a:r>
            <a:r>
              <a:rPr lang="vi-VN" b="0" dirty="0"/>
              <a:t>Giá trị gradient càng lớn, điểm ảnh càng có khả năng nằm trên đường biên.</a:t>
            </a:r>
            <a:endParaRPr lang="en-US" b="0" dirty="0"/>
          </a:p>
          <a:p>
            <a:pPr algn="l"/>
            <a:endParaRPr lang="vi-VN" b="0" dirty="0"/>
          </a:p>
          <a:p>
            <a:pPr algn="l"/>
            <a:r>
              <a:rPr lang="vi-VN" dirty="0"/>
              <a:t>Bước 2: Xây dựng ma trận chi phí C(x,y)</a:t>
            </a:r>
            <a:endParaRPr lang="vi-VN" b="0" dirty="0"/>
          </a:p>
          <a:p>
            <a:pPr algn="l"/>
            <a:r>
              <a:rPr lang="en-US" b="0" dirty="0"/>
              <a:t>-</a:t>
            </a:r>
            <a:r>
              <a:rPr lang="vi-VN" b="0" dirty="0"/>
              <a:t>Khởi tạo hàng đầu tiên: </a:t>
            </a:r>
            <a:endParaRPr lang="en-US" b="0" dirty="0"/>
          </a:p>
          <a:p>
            <a:pPr algn="l"/>
            <a:r>
              <a:rPr lang="en-US" b="0" dirty="0"/>
              <a:t>	</a:t>
            </a:r>
            <a:r>
              <a:rPr lang="vi-VN" b="0" dirty="0"/>
              <a:t>C(1,y)=G(1,y)</a:t>
            </a:r>
            <a:endParaRPr lang="en-US" b="0" dirty="0"/>
          </a:p>
          <a:p>
            <a:pPr algn="l"/>
            <a:r>
              <a:rPr lang="en-US" b="0" dirty="0"/>
              <a:t>-</a:t>
            </a:r>
            <a:r>
              <a:rPr lang="vi-VN" b="0" dirty="0"/>
              <a:t>Duyệt qua các hàng từ x=2</a:t>
            </a:r>
            <a:r>
              <a:rPr lang="en-US" b="0" dirty="0"/>
              <a:t> </a:t>
            </a:r>
            <a:r>
              <a:rPr lang="vi-VN" b="0" dirty="0"/>
              <a:t>đến M, cập nhật theo công thức quy hoạch động</a:t>
            </a:r>
            <a:r>
              <a:rPr lang="en-US" b="0" dirty="0"/>
              <a:t>:</a:t>
            </a:r>
          </a:p>
          <a:p>
            <a:pPr algn="l"/>
            <a:endParaRPr lang="en-US" b="0" dirty="0"/>
          </a:p>
          <a:p>
            <a:pPr lvl="0" algn="l"/>
            <a:r>
              <a:rPr lang="en-US" altLang="en-US" dirty="0">
                <a:solidFill>
                  <a:schemeClr val="tx1"/>
                </a:solidFill>
              </a:rPr>
              <a:t>		C(</a:t>
            </a:r>
            <a:r>
              <a:rPr lang="en-US" altLang="en-US" dirty="0" err="1">
                <a:solidFill>
                  <a:schemeClr val="tx1"/>
                </a:solidFill>
              </a:rPr>
              <a:t>x,y</a:t>
            </a:r>
            <a:r>
              <a:rPr lang="en-US" altLang="en-US" dirty="0">
                <a:solidFill>
                  <a:schemeClr val="tx1"/>
                </a:solidFill>
              </a:rPr>
              <a:t>)=G(</a:t>
            </a:r>
            <a:r>
              <a:rPr lang="en-US" altLang="en-US" dirty="0" err="1">
                <a:solidFill>
                  <a:schemeClr val="tx1"/>
                </a:solidFill>
              </a:rPr>
              <a:t>x,y</a:t>
            </a:r>
            <a:r>
              <a:rPr lang="en-US" altLang="en-US" dirty="0">
                <a:solidFill>
                  <a:schemeClr val="tx1"/>
                </a:solidFill>
              </a:rPr>
              <a:t>)+min⁡{C(x−1,y−1),C(x−1,y),C(x−1,y+1)} </a:t>
            </a:r>
          </a:p>
          <a:p>
            <a:pPr algn="l"/>
            <a:endParaRPr lang="vi-VN" b="0" dirty="0"/>
          </a:p>
          <a:p>
            <a:pPr algn="l"/>
            <a:r>
              <a:rPr lang="vi-VN" dirty="0"/>
              <a:t>Bước 3: Truy vết đường biên tối ưu</a:t>
            </a:r>
          </a:p>
          <a:p>
            <a:pPr algn="l"/>
            <a:r>
              <a:rPr lang="en-US" b="0" dirty="0"/>
              <a:t>-</a:t>
            </a:r>
            <a:r>
              <a:rPr lang="vi-VN" b="0" dirty="0"/>
              <a:t>Tìm giá trị nhỏ nhất ở hàng cuối min⁡</a:t>
            </a:r>
            <a:r>
              <a:rPr lang="en-US" b="0" dirty="0"/>
              <a:t>_y </a:t>
            </a:r>
            <a:r>
              <a:rPr lang="vi-VN" b="0" dirty="0"/>
              <a:t>C(M,y)</a:t>
            </a:r>
            <a:r>
              <a:rPr lang="en-US" b="0" dirty="0"/>
              <a:t> </a:t>
            </a:r>
            <a:r>
              <a:rPr lang="vi-VN" b="0" dirty="0"/>
              <a:t>để xác định điểm bắt đầu của đường biên.</a:t>
            </a:r>
          </a:p>
          <a:p>
            <a:pPr algn="l"/>
            <a:r>
              <a:rPr lang="en-US" b="0" dirty="0"/>
              <a:t>-</a:t>
            </a:r>
            <a:r>
              <a:rPr lang="vi-VN" b="0" dirty="0"/>
              <a:t>Dò ngược từ hàng M về hàng 1, chọn giá trị y có chi phí thấp nhất từ ba ô trước đó.</a:t>
            </a:r>
          </a:p>
          <a:p>
            <a:pPr lvl="0" algn="l" defTabSz="914400" eaLnBrk="0" fontAlgn="base">
              <a:spcBef>
                <a:spcPct val="0"/>
              </a:spcBef>
              <a:spcAft>
                <a:spcPct val="0"/>
              </a:spcAft>
            </a:pPr>
            <a:endParaRPr lang="vi-VN" b="0" dirty="0"/>
          </a:p>
          <a:p>
            <a:pPr marL="457200" lvl="1" indent="0" algn="l" defTabSz="914400" eaLnBrk="0" fontAlgn="base">
              <a:spcBef>
                <a:spcPct val="0"/>
              </a:spcBef>
              <a:spcAft>
                <a:spcPct val="0"/>
              </a:spcAft>
              <a:buFontTx/>
              <a:buChar char="•"/>
            </a:pPr>
            <a:endParaRPr lang="en-US" altLang="en-US" b="0" dirty="0">
              <a:solidFill>
                <a:srgbClr val="1F1F1F"/>
              </a:solidFill>
            </a:endParaRPr>
          </a:p>
        </p:txBody>
      </p:sp>
    </p:spTree>
    <p:extLst>
      <p:ext uri="{BB962C8B-B14F-4D97-AF65-F5344CB8AC3E}">
        <p14:creationId xmlns:p14="http://schemas.microsoft.com/office/powerpoint/2010/main" val="30648185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err="1">
                <a:latin typeface="Helvetica Neue"/>
              </a:rPr>
              <a:t>Ứng</a:t>
            </a:r>
            <a:r>
              <a:rPr lang="en-US" sz="5400" dirty="0">
                <a:latin typeface="Helvetica Neue"/>
              </a:rPr>
              <a:t> </a:t>
            </a:r>
            <a:r>
              <a:rPr lang="en-US" sz="5400" dirty="0" err="1">
                <a:latin typeface="Helvetica Neue"/>
              </a:rPr>
              <a:t>dụng</a:t>
            </a:r>
            <a:endParaRPr lang="en-US" sz="5400" dirty="0">
              <a:latin typeface="Helvetica Neue"/>
            </a:endParaRPr>
          </a:p>
        </p:txBody>
      </p:sp>
      <p:sp>
        <p:nvSpPr>
          <p:cNvPr id="3" name="Content Placeholder 2"/>
          <p:cNvSpPr>
            <a:spLocks noGrp="1"/>
          </p:cNvSpPr>
          <p:nvPr>
            <p:ph idx="1"/>
          </p:nvPr>
        </p:nvSpPr>
        <p:spPr>
          <a:xfrm>
            <a:off x="1504950" y="3034453"/>
            <a:ext cx="10632864" cy="5372618"/>
          </a:xfrm>
        </p:spPr>
        <p:txBody>
          <a:bodyPr>
            <a:normAutofit/>
          </a:bodyPr>
          <a:lstStyle/>
          <a:p>
            <a:r>
              <a:rPr lang="vi-VN" sz="2400" b="1" dirty="0">
                <a:latin typeface="Helvetica Neue"/>
              </a:rPr>
              <a:t>Nhận diện đường bao vật thể</a:t>
            </a:r>
            <a:r>
              <a:rPr lang="vi-VN" sz="2400" dirty="0">
                <a:latin typeface="Helvetica Neue"/>
              </a:rPr>
              <a:t> trong ảnh y khoa, ảnh vệ tinh.</a:t>
            </a:r>
            <a:endParaRPr lang="en-US" sz="2400" dirty="0">
              <a:latin typeface="Helvetica Neue"/>
            </a:endParaRPr>
          </a:p>
          <a:p>
            <a:pPr marL="0" indent="0">
              <a:buNone/>
            </a:pPr>
            <a:endParaRPr lang="vi-VN" sz="2400" dirty="0">
              <a:latin typeface="Helvetica Neue"/>
            </a:endParaRPr>
          </a:p>
          <a:p>
            <a:r>
              <a:rPr lang="vi-VN" sz="2400" b="1" dirty="0">
                <a:latin typeface="Helvetica Neue"/>
              </a:rPr>
              <a:t>Phát hiện đường trong ảnh giao thông</a:t>
            </a:r>
            <a:r>
              <a:rPr lang="vi-VN" sz="2400" dirty="0">
                <a:latin typeface="Helvetica Neue"/>
              </a:rPr>
              <a:t>, hỗ trợ các hệ thống xe tự hành.</a:t>
            </a:r>
            <a:endParaRPr lang="en-US" sz="2400" dirty="0">
              <a:latin typeface="Helvetica Neue"/>
            </a:endParaRPr>
          </a:p>
          <a:p>
            <a:pPr marL="0" indent="0">
              <a:buNone/>
            </a:pPr>
            <a:endParaRPr lang="vi-VN" sz="2400" dirty="0">
              <a:latin typeface="Helvetica Neue"/>
            </a:endParaRPr>
          </a:p>
          <a:p>
            <a:r>
              <a:rPr lang="vi-VN" sz="2400" b="1" dirty="0">
                <a:latin typeface="Helvetica Neue"/>
              </a:rPr>
              <a:t>Cải thiện chất lượng dò biên trong ảnh nhiễu</a:t>
            </a:r>
            <a:r>
              <a:rPr lang="vi-VN" sz="2400" dirty="0">
                <a:latin typeface="Helvetica Neue"/>
              </a:rPr>
              <a:t>, vì phương pháp này tìm đường tối ưu thay vì chỉ dựa vào ngưỡng cường độ đơn giản.</a:t>
            </a:r>
          </a:p>
        </p:txBody>
      </p:sp>
    </p:spTree>
    <p:extLst>
      <p:ext uri="{BB962C8B-B14F-4D97-AF65-F5344CB8AC3E}">
        <p14:creationId xmlns:p14="http://schemas.microsoft.com/office/powerpoint/2010/main" val="6275099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0790" y="1996066"/>
            <a:ext cx="12348302" cy="7426903"/>
          </a:xfrm>
        </p:spPr>
        <p:txBody>
          <a:bodyPr>
            <a:normAutofit/>
          </a:bodyPr>
          <a:lstStyle/>
          <a:p>
            <a:pPr marL="0" indent="0">
              <a:buNone/>
            </a:pPr>
            <a:r>
              <a:rPr lang="en-US" sz="2400" b="1" dirty="0">
                <a:latin typeface="Helvetica Neue"/>
              </a:rPr>
              <a:t>1</a:t>
            </a:r>
            <a:r>
              <a:rPr lang="vi-VN" sz="2400" b="1" dirty="0">
                <a:latin typeface="Helvetica Neue"/>
              </a:rPr>
              <a:t>. Active Contour Model (Snakes)</a:t>
            </a:r>
          </a:p>
          <a:p>
            <a:pPr marL="0" indent="0">
              <a:buNone/>
            </a:pPr>
            <a:r>
              <a:rPr lang="en-US" sz="2400" dirty="0">
                <a:latin typeface="Helvetica Neue"/>
              </a:rPr>
              <a:t>-</a:t>
            </a:r>
            <a:r>
              <a:rPr lang="vi-VN" sz="2400" dirty="0">
                <a:latin typeface="Helvetica Neue"/>
              </a:rPr>
              <a:t>Là phương pháp tìm đường biên động dựa trên tối ưu hóa năng lượng, trong đó đường biên được mô hình hóa bằng một đường cong co giãn và uốn cong theo đối tượng.</a:t>
            </a:r>
          </a:p>
          <a:p>
            <a:pPr marL="0" indent="0">
              <a:buNone/>
            </a:pPr>
            <a:r>
              <a:rPr lang="en-US" sz="2400" b="1" dirty="0">
                <a:latin typeface="Helvetica Neue"/>
              </a:rPr>
              <a:t>-</a:t>
            </a:r>
            <a:r>
              <a:rPr lang="vi-VN" sz="2400" dirty="0">
                <a:latin typeface="Helvetica Neue"/>
              </a:rPr>
              <a:t>Quy trình hoạt động:</a:t>
            </a:r>
          </a:p>
          <a:p>
            <a:pPr lvl="1"/>
            <a:r>
              <a:rPr lang="vi-VN" sz="2400" dirty="0">
                <a:latin typeface="Helvetica Neue"/>
              </a:rPr>
              <a:t>Khởi tạo một đường cong gần biên đối tượng.</a:t>
            </a:r>
          </a:p>
          <a:p>
            <a:pPr lvl="1"/>
            <a:r>
              <a:rPr lang="vi-VN" sz="2400" dirty="0">
                <a:latin typeface="Helvetica Neue"/>
              </a:rPr>
              <a:t>Tối ưu hóa năng lượng để đường cong di chuyển tới biên thực sự.</a:t>
            </a:r>
          </a:p>
          <a:p>
            <a:pPr lvl="1"/>
            <a:r>
              <a:rPr lang="vi-VN" sz="2400" dirty="0">
                <a:latin typeface="Helvetica Neue"/>
              </a:rPr>
              <a:t>Dừng khi đường biên hội tụ vào cạnh sắc nét của đối tượng.</a:t>
            </a:r>
          </a:p>
          <a:p>
            <a:pPr marL="0" indent="0">
              <a:buNone/>
            </a:pPr>
            <a:r>
              <a:rPr lang="vi-VN" sz="2400" dirty="0">
                <a:latin typeface="Helvetica Neue"/>
              </a:rPr>
              <a:t>Ưu điểm: Mềm dẻo, phù hợp với biên liên tục.</a:t>
            </a:r>
          </a:p>
          <a:p>
            <a:pPr marL="0" indent="0">
              <a:buNone/>
            </a:pPr>
            <a:r>
              <a:rPr lang="vi-VN" sz="2400" dirty="0">
                <a:latin typeface="Helvetica Neue"/>
              </a:rPr>
              <a:t>Nhược điểm: Nhạy cảm với vị trí khởi tạo, khó làm việc với ảnh nhiễu mạnh.</a:t>
            </a:r>
          </a:p>
          <a:p>
            <a:pPr lvl="1">
              <a:buFont typeface="Wingdings" panose="05000000000000000000" pitchFamily="2" charset="2"/>
              <a:buChar char="§"/>
            </a:pPr>
            <a:endParaRPr lang="en-US" sz="3316" dirty="0">
              <a:latin typeface="Constantia" panose="02030602050306030303" pitchFamily="18" charset="0"/>
            </a:endParaRPr>
          </a:p>
        </p:txBody>
      </p:sp>
      <p:sp>
        <p:nvSpPr>
          <p:cNvPr id="4" name="Title 1"/>
          <p:cNvSpPr>
            <a:spLocks noGrp="1"/>
          </p:cNvSpPr>
          <p:nvPr>
            <p:ph type="title"/>
          </p:nvPr>
        </p:nvSpPr>
        <p:spPr>
          <a:xfrm>
            <a:off x="853326" y="129583"/>
            <a:ext cx="11888003" cy="1187774"/>
          </a:xfrm>
        </p:spPr>
        <p:txBody>
          <a:bodyPr>
            <a:normAutofit/>
          </a:bodyPr>
          <a:lstStyle/>
          <a:p>
            <a:pPr algn="ctr"/>
            <a:r>
              <a:rPr lang="en-US" sz="5400" b="1" dirty="0" err="1">
                <a:latin typeface="Helvetica Neue"/>
              </a:rPr>
              <a:t>Các</a:t>
            </a:r>
            <a:r>
              <a:rPr lang="en-US" sz="5400" b="1" dirty="0">
                <a:latin typeface="Helvetica Neue"/>
              </a:rPr>
              <a:t> </a:t>
            </a:r>
            <a:r>
              <a:rPr lang="en-US" sz="5400" b="1" dirty="0" err="1">
                <a:latin typeface="Helvetica Neue"/>
              </a:rPr>
              <a:t>phương</a:t>
            </a:r>
            <a:r>
              <a:rPr lang="en-US" sz="5400" b="1" dirty="0">
                <a:latin typeface="Helvetica Neue"/>
              </a:rPr>
              <a:t> </a:t>
            </a:r>
            <a:r>
              <a:rPr lang="en-US" sz="5400" b="1" dirty="0" err="1">
                <a:latin typeface="Helvetica Neue"/>
              </a:rPr>
              <a:t>pháp</a:t>
            </a:r>
            <a:r>
              <a:rPr lang="en-US" sz="5400" b="1" dirty="0">
                <a:latin typeface="Helvetica Neue"/>
              </a:rPr>
              <a:t> khác</a:t>
            </a:r>
          </a:p>
        </p:txBody>
      </p:sp>
    </p:spTree>
    <p:extLst>
      <p:ext uri="{BB962C8B-B14F-4D97-AF65-F5344CB8AC3E}">
        <p14:creationId xmlns:p14="http://schemas.microsoft.com/office/powerpoint/2010/main" val="16995130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62050" y="2114550"/>
            <a:ext cx="11315700" cy="7181850"/>
          </a:xfrm>
        </p:spPr>
        <p:txBody>
          <a:bodyPr>
            <a:normAutofit/>
          </a:bodyPr>
          <a:lstStyle/>
          <a:p>
            <a:pPr marL="0" indent="0">
              <a:buNone/>
            </a:pPr>
            <a:r>
              <a:rPr lang="vi-VN" b="1" dirty="0"/>
              <a:t>2. Graph Cut</a:t>
            </a:r>
          </a:p>
          <a:p>
            <a:pPr marL="0" indent="0">
              <a:buNone/>
            </a:pPr>
            <a:r>
              <a:rPr lang="en-US" dirty="0"/>
              <a:t>-</a:t>
            </a:r>
            <a:r>
              <a:rPr lang="vi-VN" dirty="0"/>
              <a:t>Là một phương pháp phân đoạn ảnh dựa trên lý thuyết đồ thị, trong đó mỗi pixel được coi là một nút và có liên kết với các pixel lân cận.</a:t>
            </a:r>
          </a:p>
          <a:p>
            <a:pPr marL="0" indent="0">
              <a:buNone/>
            </a:pPr>
            <a:r>
              <a:rPr lang="en-US" dirty="0"/>
              <a:t>-</a:t>
            </a:r>
            <a:r>
              <a:rPr lang="vi-VN" dirty="0"/>
              <a:t>Quy trình hoạt động:</a:t>
            </a:r>
          </a:p>
          <a:p>
            <a:pPr lvl="1"/>
            <a:r>
              <a:rPr lang="vi-VN" dirty="0"/>
              <a:t>Xây dựng đồ thị dựa trên giá trị màu sắc, cường độ hoặc gradient.</a:t>
            </a:r>
          </a:p>
          <a:p>
            <a:pPr lvl="1"/>
            <a:r>
              <a:rPr lang="vi-VN" dirty="0"/>
              <a:t>Xác định điểm nền và điểm đối tượng thông qua gán nhãn sơ bộ.</a:t>
            </a:r>
          </a:p>
          <a:p>
            <a:pPr lvl="1"/>
            <a:r>
              <a:rPr lang="vi-VN" dirty="0"/>
              <a:t>Dùng thuật toán cắt đồ thị (Max-Flow/Min-Cut) để phân đoạn ảnh.</a:t>
            </a:r>
          </a:p>
          <a:p>
            <a:pPr marL="0" indent="0">
              <a:buNone/>
            </a:pPr>
            <a:r>
              <a:rPr lang="en-US" dirty="0"/>
              <a:t>-</a:t>
            </a:r>
            <a:r>
              <a:rPr lang="vi-VN" dirty="0"/>
              <a:t>Ưu điểm: Chính xác cao, hoạt động tốt với ảnh có nhiễu.</a:t>
            </a:r>
          </a:p>
          <a:p>
            <a:pPr marL="0" indent="0">
              <a:buNone/>
            </a:pPr>
            <a:r>
              <a:rPr lang="en-US" dirty="0"/>
              <a:t>-</a:t>
            </a:r>
            <a:r>
              <a:rPr lang="vi-VN" dirty="0"/>
              <a:t>Nhược điểm: Cần gán nhãn sơ bộ, thuật toán phức tạp.</a:t>
            </a:r>
          </a:p>
          <a:p>
            <a:endParaRPr lang="en-US" dirty="0"/>
          </a:p>
        </p:txBody>
      </p:sp>
    </p:spTree>
    <p:extLst>
      <p:ext uri="{BB962C8B-B14F-4D97-AF65-F5344CB8AC3E}">
        <p14:creationId xmlns:p14="http://schemas.microsoft.com/office/powerpoint/2010/main" val="6544346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62050" y="2114550"/>
            <a:ext cx="11315700" cy="7181850"/>
          </a:xfrm>
        </p:spPr>
        <p:txBody>
          <a:bodyPr>
            <a:normAutofit/>
          </a:bodyPr>
          <a:lstStyle/>
          <a:p>
            <a:pPr marL="0" indent="0">
              <a:buNone/>
            </a:pPr>
            <a:r>
              <a:rPr lang="en-US" b="1" dirty="0"/>
              <a:t>3</a:t>
            </a:r>
            <a:r>
              <a:rPr lang="vi-VN" b="1" dirty="0"/>
              <a:t>. </a:t>
            </a:r>
            <a:r>
              <a:rPr lang="en-US" b="1" dirty="0"/>
              <a:t>Deep Learning trong </a:t>
            </a:r>
            <a:r>
              <a:rPr lang="en-US" b="1" dirty="0" err="1"/>
              <a:t>xử</a:t>
            </a:r>
            <a:r>
              <a:rPr lang="en-US" b="1" dirty="0"/>
              <a:t> </a:t>
            </a:r>
            <a:r>
              <a:rPr lang="en-US" b="1" dirty="0" err="1"/>
              <a:t>lý</a:t>
            </a:r>
            <a:r>
              <a:rPr lang="en-US" b="1" dirty="0"/>
              <a:t> </a:t>
            </a:r>
            <a:r>
              <a:rPr lang="en-US" b="1" dirty="0" err="1"/>
              <a:t>ảnh</a:t>
            </a:r>
            <a:endParaRPr lang="en-US" b="1" dirty="0"/>
          </a:p>
          <a:p>
            <a:pPr marL="0" indent="0">
              <a:buNone/>
            </a:pPr>
            <a:endParaRPr lang="vi-VN" b="1" dirty="0"/>
          </a:p>
          <a:p>
            <a:pPr marL="0" lvl="0" indent="0" defTabSz="914400" eaLnBrk="0" fontAlgn="base" hangingPunct="0">
              <a:spcBef>
                <a:spcPct val="0"/>
              </a:spcBef>
              <a:spcAft>
                <a:spcPct val="0"/>
              </a:spcAft>
              <a:buClrTx/>
              <a:buNone/>
            </a:pPr>
            <a:r>
              <a:rPr lang="en-US" altLang="en-US" sz="2400" dirty="0">
                <a:solidFill>
                  <a:schemeClr val="tx1"/>
                </a:solidFill>
                <a:latin typeface="Helvetica Neue"/>
              </a:rPr>
              <a:t>-</a:t>
            </a:r>
            <a:r>
              <a:rPr lang="en-US" altLang="en-US" sz="2400" dirty="0" err="1">
                <a:solidFill>
                  <a:schemeClr val="tx1"/>
                </a:solidFill>
                <a:latin typeface="Helvetica Neue"/>
              </a:rPr>
              <a:t>Sử</a:t>
            </a:r>
            <a:r>
              <a:rPr lang="en-US" altLang="en-US" sz="2400" dirty="0">
                <a:solidFill>
                  <a:schemeClr val="tx1"/>
                </a:solidFill>
                <a:latin typeface="Helvetica Neue"/>
              </a:rPr>
              <a:t> </a:t>
            </a:r>
            <a:r>
              <a:rPr lang="en-US" altLang="en-US" sz="2400" dirty="0" err="1">
                <a:solidFill>
                  <a:schemeClr val="tx1"/>
                </a:solidFill>
                <a:latin typeface="Helvetica Neue"/>
              </a:rPr>
              <a:t>dụng</a:t>
            </a:r>
            <a:r>
              <a:rPr lang="en-US" altLang="en-US" sz="2400" dirty="0">
                <a:solidFill>
                  <a:schemeClr val="tx1"/>
                </a:solidFill>
                <a:latin typeface="Helvetica Neue"/>
              </a:rPr>
              <a:t> </a:t>
            </a:r>
            <a:r>
              <a:rPr lang="en-US" altLang="en-US" sz="2400" dirty="0" err="1">
                <a:solidFill>
                  <a:schemeClr val="tx1"/>
                </a:solidFill>
                <a:latin typeface="Helvetica Neue"/>
              </a:rPr>
              <a:t>các</a:t>
            </a:r>
            <a:r>
              <a:rPr lang="en-US" altLang="en-US" sz="2400" dirty="0">
                <a:solidFill>
                  <a:schemeClr val="tx1"/>
                </a:solidFill>
                <a:latin typeface="Helvetica Neue"/>
              </a:rPr>
              <a:t> </a:t>
            </a:r>
            <a:r>
              <a:rPr lang="en-US" altLang="en-US" sz="2400" dirty="0" err="1">
                <a:solidFill>
                  <a:schemeClr val="tx1"/>
                </a:solidFill>
                <a:latin typeface="Helvetica Neue"/>
              </a:rPr>
              <a:t>mô</a:t>
            </a:r>
            <a:r>
              <a:rPr lang="en-US" altLang="en-US" sz="2400" dirty="0">
                <a:solidFill>
                  <a:schemeClr val="tx1"/>
                </a:solidFill>
                <a:latin typeface="Helvetica Neue"/>
              </a:rPr>
              <a:t> </a:t>
            </a:r>
            <a:r>
              <a:rPr lang="en-US" altLang="en-US" sz="2400" dirty="0" err="1">
                <a:solidFill>
                  <a:schemeClr val="tx1"/>
                </a:solidFill>
                <a:latin typeface="Helvetica Neue"/>
              </a:rPr>
              <a:t>hình</a:t>
            </a:r>
            <a:r>
              <a:rPr lang="en-US" altLang="en-US" sz="2400" dirty="0">
                <a:solidFill>
                  <a:schemeClr val="tx1"/>
                </a:solidFill>
                <a:latin typeface="Helvetica Neue"/>
              </a:rPr>
              <a:t> </a:t>
            </a:r>
            <a:r>
              <a:rPr lang="en-US" altLang="en-US" sz="2400" dirty="0" err="1">
                <a:solidFill>
                  <a:schemeClr val="tx1"/>
                </a:solidFill>
                <a:latin typeface="Helvetica Neue"/>
              </a:rPr>
              <a:t>mạng</a:t>
            </a:r>
            <a:r>
              <a:rPr lang="en-US" altLang="en-US" sz="2400" dirty="0">
                <a:solidFill>
                  <a:schemeClr val="tx1"/>
                </a:solidFill>
                <a:latin typeface="Helvetica Neue"/>
              </a:rPr>
              <a:t> </a:t>
            </a:r>
            <a:r>
              <a:rPr lang="en-US" altLang="en-US" sz="2400" dirty="0" err="1">
                <a:solidFill>
                  <a:schemeClr val="tx1"/>
                </a:solidFill>
                <a:latin typeface="Helvetica Neue"/>
              </a:rPr>
              <a:t>nơ-ron</a:t>
            </a:r>
            <a:r>
              <a:rPr lang="en-US" altLang="en-US" sz="2400" dirty="0">
                <a:solidFill>
                  <a:schemeClr val="tx1"/>
                </a:solidFill>
                <a:latin typeface="Helvetica Neue"/>
              </a:rPr>
              <a:t> </a:t>
            </a:r>
            <a:r>
              <a:rPr lang="en-US" altLang="en-US" sz="2400" dirty="0" err="1">
                <a:solidFill>
                  <a:schemeClr val="tx1"/>
                </a:solidFill>
                <a:latin typeface="Helvetica Neue"/>
              </a:rPr>
              <a:t>nhân</a:t>
            </a:r>
            <a:r>
              <a:rPr lang="en-US" altLang="en-US" sz="2400" dirty="0">
                <a:solidFill>
                  <a:schemeClr val="tx1"/>
                </a:solidFill>
                <a:latin typeface="Helvetica Neue"/>
              </a:rPr>
              <a:t> </a:t>
            </a:r>
            <a:r>
              <a:rPr lang="en-US" altLang="en-US" sz="2400" dirty="0" err="1">
                <a:solidFill>
                  <a:schemeClr val="tx1"/>
                </a:solidFill>
                <a:latin typeface="Helvetica Neue"/>
              </a:rPr>
              <a:t>tạo</a:t>
            </a:r>
            <a:r>
              <a:rPr lang="en-US" altLang="en-US" sz="2400" dirty="0">
                <a:solidFill>
                  <a:schemeClr val="tx1"/>
                </a:solidFill>
                <a:latin typeface="Helvetica Neue"/>
              </a:rPr>
              <a:t> (CNNs) để </a:t>
            </a:r>
            <a:r>
              <a:rPr lang="en-US" altLang="en-US" sz="2400" dirty="0" err="1">
                <a:solidFill>
                  <a:schemeClr val="tx1"/>
                </a:solidFill>
                <a:latin typeface="Helvetica Neue"/>
              </a:rPr>
              <a:t>tự</a:t>
            </a:r>
            <a:r>
              <a:rPr lang="en-US" altLang="en-US" sz="2400" dirty="0">
                <a:solidFill>
                  <a:schemeClr val="tx1"/>
                </a:solidFill>
                <a:latin typeface="Helvetica Neue"/>
              </a:rPr>
              <a:t> </a:t>
            </a:r>
            <a:r>
              <a:rPr lang="en-US" altLang="en-US" sz="2400" dirty="0" err="1">
                <a:solidFill>
                  <a:schemeClr val="tx1"/>
                </a:solidFill>
                <a:latin typeface="Helvetica Neue"/>
              </a:rPr>
              <a:t>động</a:t>
            </a:r>
            <a:r>
              <a:rPr lang="en-US" altLang="en-US" sz="2400" dirty="0">
                <a:solidFill>
                  <a:schemeClr val="tx1"/>
                </a:solidFill>
                <a:latin typeface="Helvetica Neue"/>
              </a:rPr>
              <a:t> học </a:t>
            </a:r>
            <a:r>
              <a:rPr lang="en-US" altLang="en-US" sz="2400" dirty="0" err="1">
                <a:solidFill>
                  <a:schemeClr val="tx1"/>
                </a:solidFill>
                <a:latin typeface="Helvetica Neue"/>
              </a:rPr>
              <a:t>đặc</a:t>
            </a:r>
            <a:r>
              <a:rPr lang="en-US" altLang="en-US" sz="2400" dirty="0">
                <a:solidFill>
                  <a:schemeClr val="tx1"/>
                </a:solidFill>
                <a:latin typeface="Helvetica Neue"/>
              </a:rPr>
              <a:t> </a:t>
            </a:r>
            <a:r>
              <a:rPr lang="en-US" altLang="en-US" sz="2400" dirty="0" err="1">
                <a:solidFill>
                  <a:schemeClr val="tx1"/>
                </a:solidFill>
                <a:latin typeface="Helvetica Neue"/>
              </a:rPr>
              <a:t>trưng</a:t>
            </a:r>
            <a:r>
              <a:rPr lang="en-US" altLang="en-US" sz="2400" dirty="0">
                <a:solidFill>
                  <a:schemeClr val="tx1"/>
                </a:solidFill>
                <a:latin typeface="Helvetica Neue"/>
              </a:rPr>
              <a:t> </a:t>
            </a:r>
            <a:r>
              <a:rPr lang="en-US" altLang="en-US" sz="2400" dirty="0" err="1">
                <a:solidFill>
                  <a:schemeClr val="tx1"/>
                </a:solidFill>
                <a:latin typeface="Helvetica Neue"/>
              </a:rPr>
              <a:t>và</a:t>
            </a:r>
            <a:r>
              <a:rPr lang="en-US" altLang="en-US" sz="2400" dirty="0">
                <a:solidFill>
                  <a:schemeClr val="tx1"/>
                </a:solidFill>
                <a:latin typeface="Helvetica Neue"/>
              </a:rPr>
              <a:t> </a:t>
            </a:r>
            <a:r>
              <a:rPr lang="en-US" altLang="en-US" sz="2400" dirty="0" err="1">
                <a:solidFill>
                  <a:schemeClr val="tx1"/>
                </a:solidFill>
                <a:latin typeface="Helvetica Neue"/>
              </a:rPr>
              <a:t>thực</a:t>
            </a:r>
            <a:r>
              <a:rPr lang="en-US" altLang="en-US" sz="2400" dirty="0">
                <a:solidFill>
                  <a:schemeClr val="tx1"/>
                </a:solidFill>
                <a:latin typeface="Helvetica Neue"/>
              </a:rPr>
              <a:t> </a:t>
            </a:r>
            <a:r>
              <a:rPr lang="en-US" altLang="en-US" sz="2400" dirty="0" err="1">
                <a:solidFill>
                  <a:schemeClr val="tx1"/>
                </a:solidFill>
                <a:latin typeface="Helvetica Neue"/>
              </a:rPr>
              <a:t>hiện</a:t>
            </a:r>
            <a:r>
              <a:rPr lang="en-US" altLang="en-US" sz="2400" dirty="0">
                <a:solidFill>
                  <a:schemeClr val="tx1"/>
                </a:solidFill>
                <a:latin typeface="Helvetica Neue"/>
              </a:rPr>
              <a:t> </a:t>
            </a:r>
            <a:r>
              <a:rPr lang="en-US" altLang="en-US" sz="2400" dirty="0" err="1">
                <a:solidFill>
                  <a:schemeClr val="tx1"/>
                </a:solidFill>
                <a:latin typeface="Helvetica Neue"/>
              </a:rPr>
              <a:t>phân</a:t>
            </a:r>
            <a:r>
              <a:rPr lang="en-US" altLang="en-US" sz="2400" dirty="0">
                <a:solidFill>
                  <a:schemeClr val="tx1"/>
                </a:solidFill>
                <a:latin typeface="Helvetica Neue"/>
              </a:rPr>
              <a:t> </a:t>
            </a:r>
            <a:r>
              <a:rPr lang="en-US" altLang="en-US" sz="2400" dirty="0" err="1">
                <a:solidFill>
                  <a:schemeClr val="tx1"/>
                </a:solidFill>
                <a:latin typeface="Helvetica Neue"/>
              </a:rPr>
              <a:t>đoạn</a:t>
            </a:r>
            <a:r>
              <a:rPr lang="en-US" altLang="en-US" sz="2400" dirty="0">
                <a:solidFill>
                  <a:schemeClr val="tx1"/>
                </a:solidFill>
                <a:latin typeface="Helvetica Neue"/>
              </a:rPr>
              <a:t> </a:t>
            </a:r>
            <a:r>
              <a:rPr lang="en-US" altLang="en-US" sz="2400" dirty="0" err="1">
                <a:solidFill>
                  <a:schemeClr val="tx1"/>
                </a:solidFill>
                <a:latin typeface="Helvetica Neue"/>
              </a:rPr>
              <a:t>ảnh</a:t>
            </a:r>
            <a:r>
              <a:rPr lang="en-US" altLang="en-US" sz="2400" dirty="0">
                <a:solidFill>
                  <a:schemeClr val="tx1"/>
                </a:solidFill>
                <a:latin typeface="Helvetica Neue"/>
              </a:rPr>
              <a:t> chính </a:t>
            </a:r>
            <a:r>
              <a:rPr lang="en-US" altLang="en-US" sz="2400" dirty="0" err="1">
                <a:solidFill>
                  <a:schemeClr val="tx1"/>
                </a:solidFill>
                <a:latin typeface="Helvetica Neue"/>
              </a:rPr>
              <a:t>xác</a:t>
            </a:r>
            <a:r>
              <a:rPr lang="en-US" altLang="en-US" sz="2400" dirty="0">
                <a:solidFill>
                  <a:schemeClr val="tx1"/>
                </a:solidFill>
                <a:latin typeface="Helvetica Neue"/>
              </a:rPr>
              <a:t>.</a:t>
            </a:r>
          </a:p>
          <a:p>
            <a:pPr marL="0" lvl="0" indent="0" defTabSz="914400" eaLnBrk="0" fontAlgn="base" hangingPunct="0">
              <a:spcBef>
                <a:spcPct val="0"/>
              </a:spcBef>
              <a:spcAft>
                <a:spcPct val="0"/>
              </a:spcAft>
              <a:buClrTx/>
              <a:buNone/>
            </a:pPr>
            <a:endParaRPr lang="en-US" altLang="en-US" sz="2400" dirty="0">
              <a:solidFill>
                <a:schemeClr val="tx1"/>
              </a:solidFill>
              <a:latin typeface="Helvetica Neue"/>
            </a:endParaRPr>
          </a:p>
          <a:p>
            <a:pPr marL="0" lvl="0" indent="0" defTabSz="914400" eaLnBrk="0" fontAlgn="base" hangingPunct="0">
              <a:spcBef>
                <a:spcPct val="0"/>
              </a:spcBef>
              <a:spcAft>
                <a:spcPct val="0"/>
              </a:spcAft>
              <a:buClrTx/>
              <a:buNone/>
            </a:pPr>
            <a:r>
              <a:rPr lang="en-US" altLang="en-US" sz="2400" dirty="0">
                <a:solidFill>
                  <a:schemeClr val="tx1"/>
                </a:solidFill>
                <a:latin typeface="Helvetica Neue"/>
              </a:rPr>
              <a:t>-</a:t>
            </a:r>
            <a:r>
              <a:rPr lang="en-US" altLang="en-US" sz="2400" dirty="0" err="1">
                <a:solidFill>
                  <a:schemeClr val="tx1"/>
                </a:solidFill>
                <a:latin typeface="Helvetica Neue"/>
              </a:rPr>
              <a:t>Các</a:t>
            </a:r>
            <a:r>
              <a:rPr lang="en-US" altLang="en-US" sz="2400" dirty="0">
                <a:solidFill>
                  <a:schemeClr val="tx1"/>
                </a:solidFill>
                <a:latin typeface="Helvetica Neue"/>
              </a:rPr>
              <a:t> </a:t>
            </a:r>
            <a:r>
              <a:rPr lang="en-US" altLang="en-US" sz="2400" dirty="0" err="1">
                <a:solidFill>
                  <a:schemeClr val="tx1"/>
                </a:solidFill>
                <a:latin typeface="Helvetica Neue"/>
              </a:rPr>
              <a:t>mô</a:t>
            </a:r>
            <a:r>
              <a:rPr lang="en-US" altLang="en-US" sz="2400" dirty="0">
                <a:solidFill>
                  <a:schemeClr val="tx1"/>
                </a:solidFill>
                <a:latin typeface="Helvetica Neue"/>
              </a:rPr>
              <a:t> </a:t>
            </a:r>
            <a:r>
              <a:rPr lang="en-US" altLang="en-US" sz="2400" dirty="0" err="1">
                <a:solidFill>
                  <a:schemeClr val="tx1"/>
                </a:solidFill>
                <a:latin typeface="Helvetica Neue"/>
              </a:rPr>
              <a:t>hình</a:t>
            </a:r>
            <a:r>
              <a:rPr lang="en-US" altLang="en-US" sz="2400" dirty="0">
                <a:solidFill>
                  <a:schemeClr val="tx1"/>
                </a:solidFill>
                <a:latin typeface="Helvetica Neue"/>
              </a:rPr>
              <a:t> </a:t>
            </a:r>
            <a:r>
              <a:rPr lang="en-US" altLang="en-US" sz="2400" dirty="0" err="1">
                <a:solidFill>
                  <a:schemeClr val="tx1"/>
                </a:solidFill>
                <a:latin typeface="Helvetica Neue"/>
              </a:rPr>
              <a:t>phổ</a:t>
            </a:r>
            <a:r>
              <a:rPr lang="en-US" altLang="en-US" sz="2400" dirty="0">
                <a:solidFill>
                  <a:schemeClr val="tx1"/>
                </a:solidFill>
                <a:latin typeface="Helvetica Neue"/>
              </a:rPr>
              <a:t> </a:t>
            </a:r>
            <a:r>
              <a:rPr lang="en-US" altLang="en-US" sz="2400" dirty="0" err="1">
                <a:solidFill>
                  <a:schemeClr val="tx1"/>
                </a:solidFill>
                <a:latin typeface="Helvetica Neue"/>
              </a:rPr>
              <a:t>biến</a:t>
            </a:r>
            <a:r>
              <a:rPr lang="en-US" altLang="en-US" sz="2400" dirty="0">
                <a:solidFill>
                  <a:schemeClr val="tx1"/>
                </a:solidFill>
                <a:latin typeface="Helvetica Neue"/>
              </a:rPr>
              <a:t>:</a:t>
            </a:r>
          </a:p>
          <a:p>
            <a:pPr marL="568951" lvl="1" indent="0" defTabSz="914400" eaLnBrk="0" fontAlgn="base" hangingPunct="0">
              <a:spcBef>
                <a:spcPct val="0"/>
              </a:spcBef>
              <a:spcAft>
                <a:spcPct val="0"/>
              </a:spcAft>
              <a:buClrTx/>
              <a:buFontTx/>
              <a:buChar char="•"/>
            </a:pPr>
            <a:r>
              <a:rPr lang="en-US" altLang="en-US" sz="2400" dirty="0">
                <a:solidFill>
                  <a:schemeClr val="tx1"/>
                </a:solidFill>
                <a:latin typeface="Helvetica Neue"/>
              </a:rPr>
              <a:t>U-Net: </a:t>
            </a:r>
            <a:r>
              <a:rPr lang="en-US" altLang="en-US" sz="2400" dirty="0" err="1">
                <a:solidFill>
                  <a:schemeClr val="tx1"/>
                </a:solidFill>
                <a:latin typeface="Helvetica Neue"/>
              </a:rPr>
              <a:t>Hiệu</a:t>
            </a:r>
            <a:r>
              <a:rPr lang="en-US" altLang="en-US" sz="2400" dirty="0">
                <a:solidFill>
                  <a:schemeClr val="tx1"/>
                </a:solidFill>
                <a:latin typeface="Helvetica Neue"/>
              </a:rPr>
              <a:t> </a:t>
            </a:r>
            <a:r>
              <a:rPr lang="en-US" altLang="en-US" sz="2400" dirty="0" err="1">
                <a:solidFill>
                  <a:schemeClr val="tx1"/>
                </a:solidFill>
                <a:latin typeface="Helvetica Neue"/>
              </a:rPr>
              <a:t>quả</a:t>
            </a:r>
            <a:r>
              <a:rPr lang="en-US" altLang="en-US" sz="2400" dirty="0">
                <a:solidFill>
                  <a:schemeClr val="tx1"/>
                </a:solidFill>
                <a:latin typeface="Helvetica Neue"/>
              </a:rPr>
              <a:t> </a:t>
            </a:r>
            <a:r>
              <a:rPr lang="en-US" altLang="en-US" sz="2400" dirty="0" err="1">
                <a:solidFill>
                  <a:schemeClr val="tx1"/>
                </a:solidFill>
                <a:latin typeface="Helvetica Neue"/>
              </a:rPr>
              <a:t>cho</a:t>
            </a:r>
            <a:r>
              <a:rPr lang="en-US" altLang="en-US" sz="2400" dirty="0">
                <a:solidFill>
                  <a:schemeClr val="tx1"/>
                </a:solidFill>
                <a:latin typeface="Helvetica Neue"/>
              </a:rPr>
              <a:t> </a:t>
            </a:r>
            <a:r>
              <a:rPr lang="en-US" altLang="en-US" sz="2400" dirty="0" err="1">
                <a:solidFill>
                  <a:schemeClr val="tx1"/>
                </a:solidFill>
                <a:latin typeface="Helvetica Neue"/>
              </a:rPr>
              <a:t>phân</a:t>
            </a:r>
            <a:r>
              <a:rPr lang="en-US" altLang="en-US" sz="2400" dirty="0">
                <a:solidFill>
                  <a:schemeClr val="tx1"/>
                </a:solidFill>
                <a:latin typeface="Helvetica Neue"/>
              </a:rPr>
              <a:t> </a:t>
            </a:r>
            <a:r>
              <a:rPr lang="en-US" altLang="en-US" sz="2400" dirty="0" err="1">
                <a:solidFill>
                  <a:schemeClr val="tx1"/>
                </a:solidFill>
                <a:latin typeface="Helvetica Neue"/>
              </a:rPr>
              <a:t>đoạn</a:t>
            </a:r>
            <a:r>
              <a:rPr lang="en-US" altLang="en-US" sz="2400" dirty="0">
                <a:solidFill>
                  <a:schemeClr val="tx1"/>
                </a:solidFill>
                <a:latin typeface="Helvetica Neue"/>
              </a:rPr>
              <a:t> </a:t>
            </a:r>
            <a:r>
              <a:rPr lang="en-US" altLang="en-US" sz="2400" dirty="0" err="1">
                <a:solidFill>
                  <a:schemeClr val="tx1"/>
                </a:solidFill>
                <a:latin typeface="Helvetica Neue"/>
              </a:rPr>
              <a:t>ảnh</a:t>
            </a:r>
            <a:r>
              <a:rPr lang="en-US" altLang="en-US" sz="2400" dirty="0">
                <a:solidFill>
                  <a:schemeClr val="tx1"/>
                </a:solidFill>
                <a:latin typeface="Helvetica Neue"/>
              </a:rPr>
              <a:t> y </a:t>
            </a:r>
            <a:r>
              <a:rPr lang="en-US" altLang="en-US" sz="2400" dirty="0" err="1">
                <a:solidFill>
                  <a:schemeClr val="tx1"/>
                </a:solidFill>
                <a:latin typeface="Helvetica Neue"/>
              </a:rPr>
              <a:t>khoa</a:t>
            </a:r>
            <a:r>
              <a:rPr lang="en-US" altLang="en-US" sz="2400" dirty="0">
                <a:solidFill>
                  <a:schemeClr val="tx1"/>
                </a:solidFill>
                <a:latin typeface="Helvetica Neue"/>
              </a:rPr>
              <a:t>.</a:t>
            </a:r>
          </a:p>
          <a:p>
            <a:pPr marL="568951" lvl="1" indent="0" defTabSz="914400" eaLnBrk="0" fontAlgn="base" hangingPunct="0">
              <a:spcBef>
                <a:spcPct val="0"/>
              </a:spcBef>
              <a:spcAft>
                <a:spcPct val="0"/>
              </a:spcAft>
              <a:buClrTx/>
              <a:buFontTx/>
              <a:buChar char="•"/>
            </a:pPr>
            <a:r>
              <a:rPr lang="en-US" altLang="en-US" sz="2400" dirty="0">
                <a:solidFill>
                  <a:schemeClr val="tx1"/>
                </a:solidFill>
                <a:latin typeface="Helvetica Neue"/>
              </a:rPr>
              <a:t>DeepLabV3+: </a:t>
            </a:r>
            <a:r>
              <a:rPr lang="en-US" altLang="en-US" sz="2400" dirty="0" err="1">
                <a:solidFill>
                  <a:schemeClr val="tx1"/>
                </a:solidFill>
                <a:latin typeface="Helvetica Neue"/>
              </a:rPr>
              <a:t>Phù</a:t>
            </a:r>
            <a:r>
              <a:rPr lang="en-US" altLang="en-US" sz="2400" dirty="0">
                <a:solidFill>
                  <a:schemeClr val="tx1"/>
                </a:solidFill>
                <a:latin typeface="Helvetica Neue"/>
              </a:rPr>
              <a:t> </a:t>
            </a:r>
            <a:r>
              <a:rPr lang="en-US" altLang="en-US" sz="2400" dirty="0" err="1">
                <a:solidFill>
                  <a:schemeClr val="tx1"/>
                </a:solidFill>
                <a:latin typeface="Helvetica Neue"/>
              </a:rPr>
              <a:t>hợp</a:t>
            </a:r>
            <a:r>
              <a:rPr lang="en-US" altLang="en-US" sz="2400" dirty="0">
                <a:solidFill>
                  <a:schemeClr val="tx1"/>
                </a:solidFill>
                <a:latin typeface="Helvetica Neue"/>
              </a:rPr>
              <a:t> </a:t>
            </a:r>
            <a:r>
              <a:rPr lang="en-US" altLang="en-US" sz="2400" dirty="0" err="1">
                <a:solidFill>
                  <a:schemeClr val="tx1"/>
                </a:solidFill>
                <a:latin typeface="Helvetica Neue"/>
              </a:rPr>
              <a:t>với</a:t>
            </a:r>
            <a:r>
              <a:rPr lang="en-US" altLang="en-US" sz="2400" dirty="0">
                <a:solidFill>
                  <a:schemeClr val="tx1"/>
                </a:solidFill>
                <a:latin typeface="Helvetica Neue"/>
              </a:rPr>
              <a:t> </a:t>
            </a:r>
            <a:r>
              <a:rPr lang="en-US" altLang="en-US" sz="2400" dirty="0" err="1">
                <a:solidFill>
                  <a:schemeClr val="tx1"/>
                </a:solidFill>
                <a:latin typeface="Helvetica Neue"/>
              </a:rPr>
              <a:t>phân</a:t>
            </a:r>
            <a:r>
              <a:rPr lang="en-US" altLang="en-US" sz="2400" dirty="0">
                <a:solidFill>
                  <a:schemeClr val="tx1"/>
                </a:solidFill>
                <a:latin typeface="Helvetica Neue"/>
              </a:rPr>
              <a:t> </a:t>
            </a:r>
            <a:r>
              <a:rPr lang="en-US" altLang="en-US" sz="2400" dirty="0" err="1">
                <a:solidFill>
                  <a:schemeClr val="tx1"/>
                </a:solidFill>
                <a:latin typeface="Helvetica Neue"/>
              </a:rPr>
              <a:t>đoạn</a:t>
            </a:r>
            <a:r>
              <a:rPr lang="en-US" altLang="en-US" sz="2400" dirty="0">
                <a:solidFill>
                  <a:schemeClr val="tx1"/>
                </a:solidFill>
                <a:latin typeface="Helvetica Neue"/>
              </a:rPr>
              <a:t> </a:t>
            </a:r>
            <a:r>
              <a:rPr lang="en-US" altLang="en-US" sz="2400" dirty="0" err="1">
                <a:solidFill>
                  <a:schemeClr val="tx1"/>
                </a:solidFill>
                <a:latin typeface="Helvetica Neue"/>
              </a:rPr>
              <a:t>ảnh</a:t>
            </a:r>
            <a:r>
              <a:rPr lang="en-US" altLang="en-US" sz="2400" dirty="0">
                <a:solidFill>
                  <a:schemeClr val="tx1"/>
                </a:solidFill>
                <a:latin typeface="Helvetica Neue"/>
              </a:rPr>
              <a:t> </a:t>
            </a:r>
            <a:r>
              <a:rPr lang="en-US" altLang="en-US" sz="2400" dirty="0" err="1">
                <a:solidFill>
                  <a:schemeClr val="tx1"/>
                </a:solidFill>
                <a:latin typeface="Helvetica Neue"/>
              </a:rPr>
              <a:t>phức</a:t>
            </a:r>
            <a:r>
              <a:rPr lang="en-US" altLang="en-US" sz="2400" dirty="0">
                <a:solidFill>
                  <a:schemeClr val="tx1"/>
                </a:solidFill>
                <a:latin typeface="Helvetica Neue"/>
              </a:rPr>
              <a:t> </a:t>
            </a:r>
            <a:r>
              <a:rPr lang="en-US" altLang="en-US" sz="2400" dirty="0" err="1">
                <a:solidFill>
                  <a:schemeClr val="tx1"/>
                </a:solidFill>
                <a:latin typeface="Helvetica Neue"/>
              </a:rPr>
              <a:t>tạp</a:t>
            </a:r>
            <a:r>
              <a:rPr lang="en-US" altLang="en-US" sz="2400" dirty="0">
                <a:solidFill>
                  <a:schemeClr val="tx1"/>
                </a:solidFill>
                <a:latin typeface="Helvetica Neue"/>
              </a:rPr>
              <a:t>.</a:t>
            </a:r>
          </a:p>
          <a:p>
            <a:pPr marL="568951" lvl="1" indent="0" defTabSz="914400" eaLnBrk="0" fontAlgn="base" hangingPunct="0">
              <a:spcBef>
                <a:spcPct val="0"/>
              </a:spcBef>
              <a:spcAft>
                <a:spcPct val="0"/>
              </a:spcAft>
              <a:buClrTx/>
              <a:buFontTx/>
              <a:buChar char="•"/>
            </a:pPr>
            <a:r>
              <a:rPr lang="en-US" altLang="en-US" sz="2400" dirty="0">
                <a:solidFill>
                  <a:schemeClr val="tx1"/>
                </a:solidFill>
                <a:latin typeface="Helvetica Neue"/>
              </a:rPr>
              <a:t>Mask R-CNN: </a:t>
            </a:r>
            <a:r>
              <a:rPr lang="en-US" altLang="en-US" sz="2400" dirty="0" err="1">
                <a:solidFill>
                  <a:schemeClr val="tx1"/>
                </a:solidFill>
                <a:latin typeface="Helvetica Neue"/>
              </a:rPr>
              <a:t>Tốt</a:t>
            </a:r>
            <a:r>
              <a:rPr lang="en-US" altLang="en-US" sz="2400" dirty="0">
                <a:solidFill>
                  <a:schemeClr val="tx1"/>
                </a:solidFill>
                <a:latin typeface="Helvetica Neue"/>
              </a:rPr>
              <a:t> </a:t>
            </a:r>
            <a:r>
              <a:rPr lang="en-US" altLang="en-US" sz="2400" dirty="0" err="1">
                <a:solidFill>
                  <a:schemeClr val="tx1"/>
                </a:solidFill>
                <a:latin typeface="Helvetica Neue"/>
              </a:rPr>
              <a:t>cho</a:t>
            </a:r>
            <a:r>
              <a:rPr lang="en-US" altLang="en-US" sz="2400" dirty="0">
                <a:solidFill>
                  <a:schemeClr val="tx1"/>
                </a:solidFill>
                <a:latin typeface="Helvetica Neue"/>
              </a:rPr>
              <a:t> </a:t>
            </a:r>
            <a:r>
              <a:rPr lang="en-US" altLang="en-US" sz="2400" dirty="0" err="1">
                <a:solidFill>
                  <a:schemeClr val="tx1"/>
                </a:solidFill>
                <a:latin typeface="Helvetica Neue"/>
              </a:rPr>
              <a:t>nhận</a:t>
            </a:r>
            <a:r>
              <a:rPr lang="en-US" altLang="en-US" sz="2400" dirty="0">
                <a:solidFill>
                  <a:schemeClr val="tx1"/>
                </a:solidFill>
                <a:latin typeface="Helvetica Neue"/>
              </a:rPr>
              <a:t> </a:t>
            </a:r>
            <a:r>
              <a:rPr lang="en-US" altLang="en-US" sz="2400" dirty="0" err="1">
                <a:solidFill>
                  <a:schemeClr val="tx1"/>
                </a:solidFill>
                <a:latin typeface="Helvetica Neue"/>
              </a:rPr>
              <a:t>diện</a:t>
            </a:r>
            <a:r>
              <a:rPr lang="en-US" altLang="en-US" sz="2400" dirty="0">
                <a:solidFill>
                  <a:schemeClr val="tx1"/>
                </a:solidFill>
                <a:latin typeface="Helvetica Neue"/>
              </a:rPr>
              <a:t> </a:t>
            </a:r>
            <a:r>
              <a:rPr lang="en-US" altLang="en-US" sz="2400" dirty="0" err="1">
                <a:solidFill>
                  <a:schemeClr val="tx1"/>
                </a:solidFill>
                <a:latin typeface="Helvetica Neue"/>
              </a:rPr>
              <a:t>đối</a:t>
            </a:r>
            <a:r>
              <a:rPr lang="en-US" altLang="en-US" sz="2400" dirty="0">
                <a:solidFill>
                  <a:schemeClr val="tx1"/>
                </a:solidFill>
                <a:latin typeface="Helvetica Neue"/>
              </a:rPr>
              <a:t> </a:t>
            </a:r>
            <a:r>
              <a:rPr lang="en-US" altLang="en-US" sz="2400" dirty="0" err="1">
                <a:solidFill>
                  <a:schemeClr val="tx1"/>
                </a:solidFill>
                <a:latin typeface="Helvetica Neue"/>
              </a:rPr>
              <a:t>tượng</a:t>
            </a:r>
            <a:r>
              <a:rPr lang="en-US" altLang="en-US" sz="2400" dirty="0">
                <a:solidFill>
                  <a:schemeClr val="tx1"/>
                </a:solidFill>
                <a:latin typeface="Helvetica Neue"/>
              </a:rPr>
              <a:t>.</a:t>
            </a:r>
          </a:p>
          <a:p>
            <a:pPr marL="568951" lvl="1" indent="0" defTabSz="914400" eaLnBrk="0" fontAlgn="base" hangingPunct="0">
              <a:spcBef>
                <a:spcPct val="0"/>
              </a:spcBef>
              <a:spcAft>
                <a:spcPct val="0"/>
              </a:spcAft>
              <a:buClrTx/>
              <a:buFontTx/>
              <a:buChar char="•"/>
            </a:pPr>
            <a:endParaRPr lang="en-US" altLang="en-US" sz="2400" dirty="0">
              <a:solidFill>
                <a:schemeClr val="tx1"/>
              </a:solidFill>
              <a:latin typeface="Helvetica Neue"/>
            </a:endParaRPr>
          </a:p>
          <a:p>
            <a:pPr marL="0" lvl="0" indent="0" defTabSz="914400" eaLnBrk="0" fontAlgn="base" hangingPunct="0">
              <a:spcBef>
                <a:spcPct val="0"/>
              </a:spcBef>
              <a:spcAft>
                <a:spcPct val="0"/>
              </a:spcAft>
              <a:buClrTx/>
              <a:buNone/>
            </a:pPr>
            <a:r>
              <a:rPr lang="en-US" altLang="en-US" sz="2400" dirty="0">
                <a:solidFill>
                  <a:schemeClr val="tx1"/>
                </a:solidFill>
                <a:latin typeface="Helvetica Neue"/>
              </a:rPr>
              <a:t>-</a:t>
            </a:r>
            <a:r>
              <a:rPr lang="en-US" altLang="en-US" sz="2400" dirty="0" err="1">
                <a:solidFill>
                  <a:schemeClr val="tx1"/>
                </a:solidFill>
                <a:latin typeface="Helvetica Neue"/>
              </a:rPr>
              <a:t>Ưu</a:t>
            </a:r>
            <a:r>
              <a:rPr lang="en-US" altLang="en-US" sz="2400" dirty="0">
                <a:solidFill>
                  <a:schemeClr val="tx1"/>
                </a:solidFill>
                <a:latin typeface="Helvetica Neue"/>
              </a:rPr>
              <a:t> </a:t>
            </a:r>
            <a:r>
              <a:rPr lang="en-US" altLang="en-US" sz="2400" dirty="0" err="1">
                <a:solidFill>
                  <a:schemeClr val="tx1"/>
                </a:solidFill>
                <a:latin typeface="Helvetica Neue"/>
              </a:rPr>
              <a:t>điểm</a:t>
            </a:r>
            <a:r>
              <a:rPr lang="en-US" altLang="en-US" sz="2400" dirty="0">
                <a:solidFill>
                  <a:schemeClr val="tx1"/>
                </a:solidFill>
                <a:latin typeface="Helvetica Neue"/>
              </a:rPr>
              <a:t>: Chính </a:t>
            </a:r>
            <a:r>
              <a:rPr lang="en-US" altLang="en-US" sz="2400" dirty="0" err="1">
                <a:solidFill>
                  <a:schemeClr val="tx1"/>
                </a:solidFill>
                <a:latin typeface="Helvetica Neue"/>
              </a:rPr>
              <a:t>xác</a:t>
            </a:r>
            <a:r>
              <a:rPr lang="en-US" altLang="en-US" sz="2400" dirty="0">
                <a:solidFill>
                  <a:schemeClr val="tx1"/>
                </a:solidFill>
                <a:latin typeface="Helvetica Neue"/>
              </a:rPr>
              <a:t> </a:t>
            </a:r>
            <a:r>
              <a:rPr lang="en-US" altLang="en-US" sz="2400" dirty="0" err="1">
                <a:solidFill>
                  <a:schemeClr val="tx1"/>
                </a:solidFill>
                <a:latin typeface="Helvetica Neue"/>
              </a:rPr>
              <a:t>cao</a:t>
            </a:r>
            <a:r>
              <a:rPr lang="en-US" altLang="en-US" sz="2400" dirty="0">
                <a:solidFill>
                  <a:schemeClr val="tx1"/>
                </a:solidFill>
                <a:latin typeface="Helvetica Neue"/>
              </a:rPr>
              <a:t>, </a:t>
            </a:r>
            <a:r>
              <a:rPr lang="en-US" altLang="en-US" sz="2400" dirty="0" err="1">
                <a:solidFill>
                  <a:schemeClr val="tx1"/>
                </a:solidFill>
                <a:latin typeface="Helvetica Neue"/>
              </a:rPr>
              <a:t>tự</a:t>
            </a:r>
            <a:r>
              <a:rPr lang="en-US" altLang="en-US" sz="2400" dirty="0">
                <a:solidFill>
                  <a:schemeClr val="tx1"/>
                </a:solidFill>
                <a:latin typeface="Helvetica Neue"/>
              </a:rPr>
              <a:t> </a:t>
            </a:r>
            <a:r>
              <a:rPr lang="en-US" altLang="en-US" sz="2400" dirty="0" err="1">
                <a:solidFill>
                  <a:schemeClr val="tx1"/>
                </a:solidFill>
                <a:latin typeface="Helvetica Neue"/>
              </a:rPr>
              <a:t>động</a:t>
            </a:r>
            <a:r>
              <a:rPr lang="en-US" altLang="en-US" sz="2400" dirty="0">
                <a:solidFill>
                  <a:schemeClr val="tx1"/>
                </a:solidFill>
                <a:latin typeface="Helvetica Neue"/>
              </a:rPr>
              <a:t> học </a:t>
            </a:r>
            <a:r>
              <a:rPr lang="en-US" altLang="en-US" sz="2400" dirty="0" err="1">
                <a:solidFill>
                  <a:schemeClr val="tx1"/>
                </a:solidFill>
                <a:latin typeface="Helvetica Neue"/>
              </a:rPr>
              <a:t>đặc</a:t>
            </a:r>
            <a:r>
              <a:rPr lang="en-US" altLang="en-US" sz="2400" dirty="0">
                <a:solidFill>
                  <a:schemeClr val="tx1"/>
                </a:solidFill>
                <a:latin typeface="Helvetica Neue"/>
              </a:rPr>
              <a:t> </a:t>
            </a:r>
            <a:r>
              <a:rPr lang="en-US" altLang="en-US" sz="2400" dirty="0" err="1">
                <a:solidFill>
                  <a:schemeClr val="tx1"/>
                </a:solidFill>
                <a:latin typeface="Helvetica Neue"/>
              </a:rPr>
              <a:t>trưng</a:t>
            </a:r>
            <a:r>
              <a:rPr lang="en-US" altLang="en-US" sz="2400" dirty="0">
                <a:solidFill>
                  <a:schemeClr val="tx1"/>
                </a:solidFill>
                <a:latin typeface="Helvetica Neue"/>
              </a:rPr>
              <a:t> </a:t>
            </a:r>
            <a:r>
              <a:rPr lang="en-US" altLang="en-US" sz="2400" dirty="0" err="1">
                <a:solidFill>
                  <a:schemeClr val="tx1"/>
                </a:solidFill>
                <a:latin typeface="Helvetica Neue"/>
              </a:rPr>
              <a:t>từ</a:t>
            </a:r>
            <a:r>
              <a:rPr lang="en-US" altLang="en-US" sz="2400" dirty="0">
                <a:solidFill>
                  <a:schemeClr val="tx1"/>
                </a:solidFill>
                <a:latin typeface="Helvetica Neue"/>
              </a:rPr>
              <a:t> </a:t>
            </a:r>
            <a:r>
              <a:rPr lang="en-US" altLang="en-US" sz="2400" dirty="0" err="1">
                <a:solidFill>
                  <a:schemeClr val="tx1"/>
                </a:solidFill>
                <a:latin typeface="Helvetica Neue"/>
              </a:rPr>
              <a:t>dữ</a:t>
            </a:r>
            <a:r>
              <a:rPr lang="en-US" altLang="en-US" sz="2400" dirty="0">
                <a:solidFill>
                  <a:schemeClr val="tx1"/>
                </a:solidFill>
                <a:latin typeface="Helvetica Neue"/>
              </a:rPr>
              <a:t> </a:t>
            </a:r>
            <a:r>
              <a:rPr lang="en-US" altLang="en-US" sz="2400" dirty="0" err="1">
                <a:solidFill>
                  <a:schemeClr val="tx1"/>
                </a:solidFill>
                <a:latin typeface="Helvetica Neue"/>
              </a:rPr>
              <a:t>liệu</a:t>
            </a:r>
            <a:r>
              <a:rPr lang="en-US" altLang="en-US" sz="2400" dirty="0">
                <a:solidFill>
                  <a:schemeClr val="tx1"/>
                </a:solidFill>
                <a:latin typeface="Helvetica Neue"/>
              </a:rPr>
              <a:t>.</a:t>
            </a:r>
          </a:p>
          <a:p>
            <a:pPr marL="0" lvl="0" indent="0" defTabSz="914400" eaLnBrk="0" fontAlgn="base" hangingPunct="0">
              <a:spcBef>
                <a:spcPct val="0"/>
              </a:spcBef>
              <a:spcAft>
                <a:spcPct val="0"/>
              </a:spcAft>
              <a:buClrTx/>
              <a:buNone/>
            </a:pPr>
            <a:endParaRPr lang="en-US" altLang="en-US" sz="2400" dirty="0">
              <a:solidFill>
                <a:schemeClr val="tx1"/>
              </a:solidFill>
              <a:latin typeface="Helvetica Neue"/>
            </a:endParaRPr>
          </a:p>
          <a:p>
            <a:pPr marL="0" lvl="0" indent="0" defTabSz="914400" eaLnBrk="0" fontAlgn="base" hangingPunct="0">
              <a:spcBef>
                <a:spcPct val="0"/>
              </a:spcBef>
              <a:spcAft>
                <a:spcPct val="0"/>
              </a:spcAft>
              <a:buClrTx/>
              <a:buNone/>
            </a:pPr>
            <a:r>
              <a:rPr lang="en-US" altLang="en-US" sz="2400" dirty="0">
                <a:solidFill>
                  <a:schemeClr val="tx1"/>
                </a:solidFill>
                <a:latin typeface="Helvetica Neue"/>
              </a:rPr>
              <a:t>-</a:t>
            </a:r>
            <a:r>
              <a:rPr lang="en-US" altLang="en-US" sz="2400" dirty="0" err="1">
                <a:solidFill>
                  <a:schemeClr val="tx1"/>
                </a:solidFill>
                <a:latin typeface="Helvetica Neue"/>
              </a:rPr>
              <a:t>Nhược</a:t>
            </a:r>
            <a:r>
              <a:rPr lang="en-US" altLang="en-US" sz="2400" dirty="0">
                <a:solidFill>
                  <a:schemeClr val="tx1"/>
                </a:solidFill>
                <a:latin typeface="Helvetica Neue"/>
              </a:rPr>
              <a:t> </a:t>
            </a:r>
            <a:r>
              <a:rPr lang="en-US" altLang="en-US" sz="2400" dirty="0" err="1">
                <a:solidFill>
                  <a:schemeClr val="tx1"/>
                </a:solidFill>
                <a:latin typeface="Helvetica Neue"/>
              </a:rPr>
              <a:t>điểm</a:t>
            </a:r>
            <a:r>
              <a:rPr lang="en-US" altLang="en-US" sz="2400" dirty="0">
                <a:solidFill>
                  <a:schemeClr val="tx1"/>
                </a:solidFill>
                <a:latin typeface="Helvetica Neue"/>
              </a:rPr>
              <a:t>: </a:t>
            </a:r>
            <a:r>
              <a:rPr lang="en-US" altLang="en-US" sz="2400" dirty="0" err="1">
                <a:solidFill>
                  <a:schemeClr val="tx1"/>
                </a:solidFill>
                <a:latin typeface="Helvetica Neue"/>
              </a:rPr>
              <a:t>Cần</a:t>
            </a:r>
            <a:r>
              <a:rPr lang="en-US" altLang="en-US" sz="2400" dirty="0">
                <a:solidFill>
                  <a:schemeClr val="tx1"/>
                </a:solidFill>
                <a:latin typeface="Helvetica Neue"/>
              </a:rPr>
              <a:t> </a:t>
            </a:r>
            <a:r>
              <a:rPr lang="en-US" altLang="en-US" sz="2400" dirty="0" err="1">
                <a:solidFill>
                  <a:schemeClr val="tx1"/>
                </a:solidFill>
                <a:latin typeface="Helvetica Neue"/>
              </a:rPr>
              <a:t>lượng</a:t>
            </a:r>
            <a:r>
              <a:rPr lang="en-US" altLang="en-US" sz="2400" dirty="0">
                <a:solidFill>
                  <a:schemeClr val="tx1"/>
                </a:solidFill>
                <a:latin typeface="Helvetica Neue"/>
              </a:rPr>
              <a:t> </a:t>
            </a:r>
            <a:r>
              <a:rPr lang="en-US" altLang="en-US" sz="2400" dirty="0" err="1">
                <a:solidFill>
                  <a:schemeClr val="tx1"/>
                </a:solidFill>
                <a:latin typeface="Helvetica Neue"/>
              </a:rPr>
              <a:t>dữ</a:t>
            </a:r>
            <a:r>
              <a:rPr lang="en-US" altLang="en-US" sz="2400" dirty="0">
                <a:solidFill>
                  <a:schemeClr val="tx1"/>
                </a:solidFill>
                <a:latin typeface="Helvetica Neue"/>
              </a:rPr>
              <a:t> </a:t>
            </a:r>
            <a:r>
              <a:rPr lang="en-US" altLang="en-US" sz="2400" dirty="0" err="1">
                <a:solidFill>
                  <a:schemeClr val="tx1"/>
                </a:solidFill>
                <a:latin typeface="Helvetica Neue"/>
              </a:rPr>
              <a:t>liệu</a:t>
            </a:r>
            <a:r>
              <a:rPr lang="en-US" altLang="en-US" sz="2400" dirty="0">
                <a:solidFill>
                  <a:schemeClr val="tx1"/>
                </a:solidFill>
                <a:latin typeface="Helvetica Neue"/>
              </a:rPr>
              <a:t> </a:t>
            </a:r>
            <a:r>
              <a:rPr lang="en-US" altLang="en-US" sz="2400" dirty="0" err="1">
                <a:solidFill>
                  <a:schemeClr val="tx1"/>
                </a:solidFill>
                <a:latin typeface="Helvetica Neue"/>
              </a:rPr>
              <a:t>lớn</a:t>
            </a:r>
            <a:r>
              <a:rPr lang="en-US" altLang="en-US" sz="2400" dirty="0">
                <a:solidFill>
                  <a:schemeClr val="tx1"/>
                </a:solidFill>
                <a:latin typeface="Helvetica Neue"/>
              </a:rPr>
              <a:t>, </a:t>
            </a:r>
            <a:r>
              <a:rPr lang="en-US" altLang="en-US" sz="2400" dirty="0" err="1">
                <a:solidFill>
                  <a:schemeClr val="tx1"/>
                </a:solidFill>
                <a:latin typeface="Helvetica Neue"/>
              </a:rPr>
              <a:t>yêu</a:t>
            </a:r>
            <a:r>
              <a:rPr lang="en-US" altLang="en-US" sz="2400" dirty="0">
                <a:solidFill>
                  <a:schemeClr val="tx1"/>
                </a:solidFill>
                <a:latin typeface="Helvetica Neue"/>
              </a:rPr>
              <a:t> </a:t>
            </a:r>
            <a:r>
              <a:rPr lang="en-US" altLang="en-US" sz="2400" dirty="0" err="1">
                <a:solidFill>
                  <a:schemeClr val="tx1"/>
                </a:solidFill>
                <a:latin typeface="Helvetica Neue"/>
              </a:rPr>
              <a:t>cầu</a:t>
            </a:r>
            <a:r>
              <a:rPr lang="en-US" altLang="en-US" sz="2400" dirty="0">
                <a:solidFill>
                  <a:schemeClr val="tx1"/>
                </a:solidFill>
                <a:latin typeface="Helvetica Neue"/>
              </a:rPr>
              <a:t> </a:t>
            </a:r>
            <a:r>
              <a:rPr lang="en-US" altLang="en-US" sz="2400" dirty="0" err="1">
                <a:solidFill>
                  <a:schemeClr val="tx1"/>
                </a:solidFill>
                <a:latin typeface="Helvetica Neue"/>
              </a:rPr>
              <a:t>phần</a:t>
            </a:r>
            <a:r>
              <a:rPr lang="en-US" altLang="en-US" sz="2400" dirty="0">
                <a:solidFill>
                  <a:schemeClr val="tx1"/>
                </a:solidFill>
                <a:latin typeface="Helvetica Neue"/>
              </a:rPr>
              <a:t> </a:t>
            </a:r>
            <a:r>
              <a:rPr lang="en-US" altLang="en-US" sz="2400" dirty="0" err="1">
                <a:solidFill>
                  <a:schemeClr val="tx1"/>
                </a:solidFill>
                <a:latin typeface="Helvetica Neue"/>
              </a:rPr>
              <a:t>cứng</a:t>
            </a:r>
            <a:r>
              <a:rPr lang="en-US" altLang="en-US" sz="2400" dirty="0">
                <a:solidFill>
                  <a:schemeClr val="tx1"/>
                </a:solidFill>
                <a:latin typeface="Helvetica Neue"/>
              </a:rPr>
              <a:t> mạnh (GPU). </a:t>
            </a:r>
          </a:p>
          <a:p>
            <a:pPr marL="0" indent="0">
              <a:buNone/>
            </a:pPr>
            <a:endParaRPr lang="en-US" dirty="0"/>
          </a:p>
        </p:txBody>
      </p:sp>
    </p:spTree>
    <p:extLst>
      <p:ext uri="{BB962C8B-B14F-4D97-AF65-F5344CB8AC3E}">
        <p14:creationId xmlns:p14="http://schemas.microsoft.com/office/powerpoint/2010/main" val="3757945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57E1A5D3B7924CA35C3F67B9BE6836" ma:contentTypeVersion="14" ma:contentTypeDescription="Create a new document." ma:contentTypeScope="" ma:versionID="cad63b9dfd7b06e8a58d6f1d8cd96428">
  <xsd:schema xmlns:xsd="http://www.w3.org/2001/XMLSchema" xmlns:xs="http://www.w3.org/2001/XMLSchema" xmlns:p="http://schemas.microsoft.com/office/2006/metadata/properties" xmlns:ns2="71dd2c63-3f01-4569-91c2-295b22e7c09d" xmlns:ns3="58282856-7444-4258-9459-a816c44d1ff7" targetNamespace="http://schemas.microsoft.com/office/2006/metadata/properties" ma:root="true" ma:fieldsID="a9aec6a5807f7e4e0228c53d7da7df2f" ns2:_="" ns3:_="">
    <xsd:import namespace="71dd2c63-3f01-4569-91c2-295b22e7c09d"/>
    <xsd:import namespace="58282856-7444-4258-9459-a816c44d1ff7"/>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dd2c63-3f01-4569-91c2-295b22e7c09d"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158d9f12-b085-4db2-abbf-1ae4638ef84d"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8282856-7444-4258-9459-a816c44d1ff7"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98c2c24-f2e5-4a58-acd9-dc01051e8075}" ma:internalName="TaxCatchAll" ma:showField="CatchAllData" ma:web="58282856-7444-4258-9459-a816c44d1ff7">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48A05E-06E6-4800-846F-35512E904EE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dd2c63-3f01-4569-91c2-295b22e7c09d"/>
    <ds:schemaRef ds:uri="58282856-7444-4258-9459-a816c44d1f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1A18A9-D001-4725-AEA1-B79C0212C60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Wisp</Template>
  <TotalTime>8105</TotalTime>
  <Words>3585</Words>
  <Application>Microsoft Office PowerPoint</Application>
  <PresentationFormat>Custom</PresentationFormat>
  <Paragraphs>591</Paragraphs>
  <Slides>54</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54</vt:i4>
      </vt:variant>
    </vt:vector>
  </HeadingPairs>
  <TitlesOfParts>
    <vt:vector size="68" baseType="lpstr">
      <vt:lpstr>Aptos</vt:lpstr>
      <vt:lpstr>Arial</vt:lpstr>
      <vt:lpstr>Cambria Math</vt:lpstr>
      <vt:lpstr>Century Gothic</vt:lpstr>
      <vt:lpstr>Constantia</vt:lpstr>
      <vt:lpstr>Helvetica Neue</vt:lpstr>
      <vt:lpstr>Helvetica Neue Thin</vt:lpstr>
      <vt:lpstr>MathJax_Math-italic</vt:lpstr>
      <vt:lpstr>Roboto</vt:lpstr>
      <vt:lpstr>Tahoma</vt:lpstr>
      <vt:lpstr>Times New Roman</vt:lpstr>
      <vt:lpstr>Wingdings</vt:lpstr>
      <vt:lpstr>Wingdings 3</vt:lpstr>
      <vt:lpstr>Wisp</vt:lpstr>
      <vt:lpstr>PowerPoint Presentation</vt:lpstr>
      <vt:lpstr>Báo cáo nhóm 5:</vt:lpstr>
      <vt:lpstr>Phát hiện biên trong xử lý ảnh số</vt:lpstr>
      <vt:lpstr>Vai trò và vị trí của tách biên ảnh trong hệ thống xử lý ảnh</vt:lpstr>
      <vt:lpstr>Khái niệm biên ảnh</vt:lpstr>
      <vt:lpstr>Các phương pháp phát hiện biên ảnh</vt:lpstr>
      <vt:lpstr>Phương pháp đạo hàm bậc nhất</vt:lpstr>
      <vt:lpstr>Phương pháp đạo hàm bậc nhất</vt:lpstr>
      <vt:lpstr>Phương pháp đạo hàm bậc nhất</vt:lpstr>
      <vt:lpstr>PowerPoint Presentation</vt:lpstr>
      <vt:lpstr>PowerPoint Presentation</vt:lpstr>
      <vt:lpstr>PowerPoint Presentation</vt:lpstr>
      <vt:lpstr>PowerPoint Presentation</vt:lpstr>
      <vt:lpstr>Nguyên lý hoạt động  </vt:lpstr>
      <vt:lpstr>Ví dụ Sobel  </vt:lpstr>
      <vt:lpstr>Các bước thực hiện</vt:lpstr>
      <vt:lpstr>PowerPoint Presentation</vt:lpstr>
      <vt:lpstr>PowerPoint Presentation</vt:lpstr>
      <vt:lpstr>Nguyên lý hoạt động  </vt:lpstr>
      <vt:lpstr>Các bước thực hiện</vt:lpstr>
      <vt:lpstr>PowerPoint Presentation</vt:lpstr>
      <vt:lpstr>PowerPoint Presentation</vt:lpstr>
      <vt:lpstr>Nguyên lý hoạt động  </vt:lpstr>
      <vt:lpstr>PowerPoint Presentation</vt:lpstr>
      <vt:lpstr>Phương pháp Canny  Bộ dò cạnh Canny (Canny edge detector) là một toán tử phát hiện cạnh sử dụng thuật toán nhiều giai đoạn để phát hiện một loạt các cạnh trong hình ảnh. Nó được phát triển bởi John F. Canny vào năm 1986. Canny cũng đã đưa ra một lý thuyết tính toán về phát hiện cạnh, giải thích tại sao kỹ thuật này hoạt động hiệu quả. </vt:lpstr>
      <vt:lpstr>Nguyên lý hoạt động</vt:lpstr>
      <vt:lpstr>Các bước thực hiện</vt:lpstr>
      <vt:lpstr>PowerPoint Presentation</vt:lpstr>
      <vt:lpstr>PowerPoint Presentation</vt:lpstr>
      <vt:lpstr>Ưu và nhược điểm</vt:lpstr>
      <vt:lpstr>Ứng dụng:</vt:lpstr>
      <vt:lpstr>So sánh Canny với đạo hàm bậc 1</vt:lpstr>
      <vt:lpstr>Nhận xét</vt:lpstr>
      <vt:lpstr>Các phương pháp đạo hàm bậc 2</vt:lpstr>
      <vt:lpstr>PowerPoint Presentation</vt:lpstr>
      <vt:lpstr>Các phương phước đạo hàm bậc 2 phổ biến</vt:lpstr>
      <vt:lpstr>PowerPoint Presentation</vt:lpstr>
      <vt:lpstr>PowerPoint Presentation</vt:lpstr>
      <vt:lpstr>PowerPoint Presentation</vt:lpstr>
      <vt:lpstr>PowerPoint Presentation</vt:lpstr>
      <vt:lpstr>PowerPoint Presentation</vt:lpstr>
      <vt:lpstr>Phương pháp Difference of Gaussian (DoG)</vt:lpstr>
      <vt:lpstr>PowerPoint Presentation</vt:lpstr>
      <vt:lpstr>PowerPoint Presentation</vt:lpstr>
      <vt:lpstr>PowerPoint Presentation</vt:lpstr>
      <vt:lpstr>So sánh canny với đạo hàm bậc 2</vt:lpstr>
      <vt:lpstr>Nhận xét</vt:lpstr>
      <vt:lpstr>Dò biên bằng quy hoạch động</vt:lpstr>
      <vt:lpstr>Mô hình bài toán</vt:lpstr>
      <vt:lpstr>Các bước thực hiện</vt:lpstr>
      <vt:lpstr>Ứng dụng</vt:lpstr>
      <vt:lpstr>Các phương pháp khác</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Minh Hồ</cp:lastModifiedBy>
  <cp:revision>363</cp:revision>
  <cp:lastPrinted>2022-08-13T11:14:32Z</cp:lastPrinted>
  <dcterms:modified xsi:type="dcterms:W3CDTF">2025-02-18T00:57:07Z</dcterms:modified>
</cp:coreProperties>
</file>