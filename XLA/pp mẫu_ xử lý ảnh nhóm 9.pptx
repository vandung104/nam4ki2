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media/image7.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96" r:id="rId3"/>
  </p:sldMasterIdLst>
  <p:notesMasterIdLst>
    <p:notesMasterId r:id="rId47"/>
  </p:notesMasterIdLst>
  <p:sldIdLst>
    <p:sldId id="256" r:id="rId4"/>
    <p:sldId id="324" r:id="rId5"/>
    <p:sldId id="361" r:id="rId6"/>
    <p:sldId id="400" r:id="rId7"/>
    <p:sldId id="401" r:id="rId8"/>
    <p:sldId id="362" r:id="rId9"/>
    <p:sldId id="391" r:id="rId10"/>
    <p:sldId id="363" r:id="rId11"/>
    <p:sldId id="364" r:id="rId12"/>
    <p:sldId id="383" r:id="rId13"/>
    <p:sldId id="384" r:id="rId14"/>
    <p:sldId id="387" r:id="rId15"/>
    <p:sldId id="388" r:id="rId16"/>
    <p:sldId id="389" r:id="rId17"/>
    <p:sldId id="390" r:id="rId18"/>
    <p:sldId id="396" r:id="rId19"/>
    <p:sldId id="397" r:id="rId20"/>
    <p:sldId id="398" r:id="rId21"/>
    <p:sldId id="392" r:id="rId22"/>
    <p:sldId id="394" r:id="rId23"/>
    <p:sldId id="408" r:id="rId24"/>
    <p:sldId id="409" r:id="rId25"/>
    <p:sldId id="395" r:id="rId26"/>
    <p:sldId id="399" r:id="rId27"/>
    <p:sldId id="410" r:id="rId28"/>
    <p:sldId id="411" r:id="rId29"/>
    <p:sldId id="413" r:id="rId30"/>
    <p:sldId id="416" r:id="rId31"/>
    <p:sldId id="415" r:id="rId32"/>
    <p:sldId id="414" r:id="rId33"/>
    <p:sldId id="417" r:id="rId34"/>
    <p:sldId id="372" r:id="rId35"/>
    <p:sldId id="402" r:id="rId36"/>
    <p:sldId id="403" r:id="rId37"/>
    <p:sldId id="404" r:id="rId38"/>
    <p:sldId id="373" r:id="rId39"/>
    <p:sldId id="405" r:id="rId40"/>
    <p:sldId id="407" r:id="rId41"/>
    <p:sldId id="406" r:id="rId42"/>
    <p:sldId id="418" r:id="rId43"/>
    <p:sldId id="419" r:id="rId44"/>
    <p:sldId id="420" r:id="rId45"/>
    <p:sldId id="376" r:id="rId4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521415D9-36F7-43E2-AB2F-B90AF26B5E84}">
      <p14:sectionLst xmlns:p14="http://schemas.microsoft.com/office/powerpoint/2010/main">
        <p14:section name="Default Section" id="{D5A9294E-A4F9-4F4F-9893-5B6F532F758E}">
          <p14:sldIdLst>
            <p14:sldId id="256"/>
            <p14:sldId id="324"/>
            <p14:sldId id="361"/>
            <p14:sldId id="400"/>
            <p14:sldId id="401"/>
            <p14:sldId id="362"/>
            <p14:sldId id="391"/>
            <p14:sldId id="363"/>
            <p14:sldId id="364"/>
            <p14:sldId id="383"/>
            <p14:sldId id="384"/>
            <p14:sldId id="387"/>
            <p14:sldId id="388"/>
            <p14:sldId id="389"/>
            <p14:sldId id="390"/>
            <p14:sldId id="396"/>
            <p14:sldId id="397"/>
            <p14:sldId id="398"/>
            <p14:sldId id="392"/>
            <p14:sldId id="394"/>
            <p14:sldId id="408"/>
            <p14:sldId id="409"/>
            <p14:sldId id="395"/>
            <p14:sldId id="399"/>
            <p14:sldId id="410"/>
            <p14:sldId id="411"/>
            <p14:sldId id="413"/>
            <p14:sldId id="416"/>
            <p14:sldId id="415"/>
            <p14:sldId id="414"/>
            <p14:sldId id="417"/>
            <p14:sldId id="372"/>
            <p14:sldId id="402"/>
            <p14:sldId id="403"/>
            <p14:sldId id="404"/>
            <p14:sldId id="373"/>
            <p14:sldId id="405"/>
            <p14:sldId id="407"/>
            <p14:sldId id="406"/>
            <p14:sldId id="418"/>
            <p14:sldId id="419"/>
            <p14:sldId id="420"/>
            <p14:sldId id="376"/>
          </p14:sldIdLst>
        </p14:section>
        <p14:section name="Untitled Section" id="{A4DFE58B-9ACB-4C5E-811B-6FA1C38CF87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66"/>
    <a:srgbClr val="51C564"/>
    <a:srgbClr val="FFFF99"/>
    <a:srgbClr val="00A44A"/>
    <a:srgbClr val="30DDE6"/>
    <a:srgbClr val="F4F8BE"/>
    <a:srgbClr val="FFFFCC"/>
    <a:srgbClr val="CCFF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5" autoAdjust="0"/>
    <p:restoredTop sz="94660"/>
  </p:normalViewPr>
  <p:slideViewPr>
    <p:cSldViewPr snapToGrid="0">
      <p:cViewPr varScale="1">
        <p:scale>
          <a:sx n="51" d="100"/>
          <a:sy n="51" d="100"/>
        </p:scale>
        <p:origin x="116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customXml" Target="../customXml/item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6" name="Shape 116"/>
          <p:cNvSpPr>
            <a:spLocks noGrp="1" noRot="1" noChangeAspect="1"/>
          </p:cNvSpPr>
          <p:nvPr>
            <p:ph type="sldImg"/>
          </p:nvPr>
        </p:nvSpPr>
        <p:spPr>
          <a:xfrm>
            <a:off x="1143000" y="685800"/>
            <a:ext cx="4572000" cy="3429000"/>
          </a:xfrm>
          <a:prstGeom prst="rect">
            <a:avLst/>
          </a:prstGeom>
        </p:spPr>
        <p:txBody>
          <a:bodyPr/>
          <a:lstStyle/>
          <a:p>
            <a:endParaRPr/>
          </a:p>
        </p:txBody>
      </p:sp>
      <p:sp>
        <p:nvSpPr>
          <p:cNvPr id="117" name="Shape 11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62548" y="3576322"/>
            <a:ext cx="9387308" cy="3218177"/>
          </a:xfrm>
        </p:spPr>
        <p:txBody>
          <a:bodyPr anchor="b">
            <a:normAutofit/>
          </a:bodyPr>
          <a:lstStyle>
            <a:lvl1pPr>
              <a:defRPr sz="7680"/>
            </a:lvl1pPr>
          </a:lstStyle>
          <a:p>
            <a:r>
              <a:rPr lang="en-US"/>
              <a:t>Click to edit Master title style</a:t>
            </a:r>
            <a:endParaRPr lang="en-US" dirty="0"/>
          </a:p>
        </p:txBody>
      </p:sp>
      <p:sp>
        <p:nvSpPr>
          <p:cNvPr id="3" name="Subtitle 2"/>
          <p:cNvSpPr>
            <a:spLocks noGrp="1"/>
          </p:cNvSpPr>
          <p:nvPr>
            <p:ph type="subTitle" idx="1"/>
          </p:nvPr>
        </p:nvSpPr>
        <p:spPr>
          <a:xfrm>
            <a:off x="2762548" y="6794497"/>
            <a:ext cx="9387308" cy="1601825"/>
          </a:xfrm>
        </p:spPr>
        <p:txBody>
          <a:bodyPr anchor="t"/>
          <a:lstStyle>
            <a:lvl1pPr marL="0" indent="0" algn="l">
              <a:buNone/>
              <a:defRPr>
                <a:solidFill>
                  <a:schemeClr val="tx1">
                    <a:lumMod val="65000"/>
                    <a:lumOff val="35000"/>
                  </a:schemeClr>
                </a:solidFill>
              </a:defRPr>
            </a:lvl1pPr>
            <a:lvl2pPr marL="650230" indent="0" algn="ctr">
              <a:buNone/>
              <a:defRPr>
                <a:solidFill>
                  <a:schemeClr val="tx1">
                    <a:tint val="75000"/>
                  </a:schemeClr>
                </a:solidFill>
              </a:defRPr>
            </a:lvl2pPr>
            <a:lvl3pPr marL="1300460" indent="0" algn="ctr">
              <a:buNone/>
              <a:defRPr>
                <a:solidFill>
                  <a:schemeClr val="tx1">
                    <a:tint val="75000"/>
                  </a:schemeClr>
                </a:solidFill>
              </a:defRPr>
            </a:lvl3pPr>
            <a:lvl4pPr marL="1950690" indent="0" algn="ctr">
              <a:buNone/>
              <a:defRPr>
                <a:solidFill>
                  <a:schemeClr val="tx1">
                    <a:tint val="75000"/>
                  </a:schemeClr>
                </a:solidFill>
              </a:defRPr>
            </a:lvl4pPr>
            <a:lvl5pPr marL="2600919" indent="0" algn="ctr">
              <a:buNone/>
              <a:defRPr>
                <a:solidFill>
                  <a:schemeClr val="tx1">
                    <a:tint val="75000"/>
                  </a:schemeClr>
                </a:solidFill>
              </a:defRPr>
            </a:lvl5pPr>
            <a:lvl6pPr marL="3251149" indent="0" algn="ctr">
              <a:buNone/>
              <a:defRPr>
                <a:solidFill>
                  <a:schemeClr val="tx1">
                    <a:tint val="75000"/>
                  </a:schemeClr>
                </a:solidFill>
              </a:defRPr>
            </a:lvl6pPr>
            <a:lvl7pPr marL="3901379" indent="0" algn="ctr">
              <a:buNone/>
              <a:defRPr>
                <a:solidFill>
                  <a:schemeClr val="tx1">
                    <a:tint val="75000"/>
                  </a:schemeClr>
                </a:solidFill>
              </a:defRPr>
            </a:lvl7pPr>
            <a:lvl8pPr marL="4551609" indent="0" algn="ctr">
              <a:buNone/>
              <a:defRPr>
                <a:solidFill>
                  <a:schemeClr val="tx1">
                    <a:tint val="75000"/>
                  </a:schemeClr>
                </a:solidFill>
              </a:defRPr>
            </a:lvl8pPr>
            <a:lvl9pPr marL="520183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45111" y="6145648"/>
            <a:ext cx="1984673" cy="1111866"/>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602075" y="6442015"/>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115854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66509" y="887623"/>
            <a:ext cx="9371305" cy="1821710"/>
          </a:xfrm>
        </p:spPr>
        <p:txBody>
          <a:bodyPr/>
          <a:lstStyle/>
          <a:p>
            <a:r>
              <a:rPr lang="en-US"/>
              <a:t>Click to edit Master title style</a:t>
            </a:r>
            <a:endParaRPr lang="en-US" dirty="0"/>
          </a:p>
        </p:txBody>
      </p:sp>
      <p:sp>
        <p:nvSpPr>
          <p:cNvPr id="3" name="Content Placeholder 2"/>
          <p:cNvSpPr>
            <a:spLocks noGrp="1"/>
          </p:cNvSpPr>
          <p:nvPr>
            <p:ph idx="1"/>
          </p:nvPr>
        </p:nvSpPr>
        <p:spPr>
          <a:xfrm>
            <a:off x="2762546" y="3034453"/>
            <a:ext cx="9375268" cy="53726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488261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762546" y="2950488"/>
            <a:ext cx="9375268" cy="2088960"/>
          </a:xfrm>
        </p:spPr>
        <p:txBody>
          <a:bodyPr anchor="b"/>
          <a:lstStyle>
            <a:lvl1pPr algn="l">
              <a:defRPr sz="5689" b="0" cap="none"/>
            </a:lvl1pPr>
          </a:lstStyle>
          <a:p>
            <a:r>
              <a:rPr lang="en-US"/>
              <a:t>Click to edit Master title style</a:t>
            </a:r>
            <a:endParaRPr lang="en-US" dirty="0"/>
          </a:p>
        </p:txBody>
      </p:sp>
      <p:sp>
        <p:nvSpPr>
          <p:cNvPr id="3" name="Text Placeholder 2"/>
          <p:cNvSpPr>
            <a:spLocks noGrp="1"/>
          </p:cNvSpPr>
          <p:nvPr>
            <p:ph type="body" idx="1"/>
          </p:nvPr>
        </p:nvSpPr>
        <p:spPr>
          <a:xfrm>
            <a:off x="2762546" y="5093547"/>
            <a:ext cx="9375268" cy="1223680"/>
          </a:xfrm>
        </p:spPr>
        <p:txBody>
          <a:bodyPr anchor="t"/>
          <a:lstStyle>
            <a:lvl1pPr marL="0" indent="0" algn="l">
              <a:buNone/>
              <a:defRPr sz="2844">
                <a:solidFill>
                  <a:schemeClr val="tx1">
                    <a:lumMod val="65000"/>
                    <a:lumOff val="35000"/>
                  </a:schemeClr>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83" y="4503506"/>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727080" y="4613889"/>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859311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762548" y="3038871"/>
            <a:ext cx="4547600" cy="53580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590837" y="3038871"/>
            <a:ext cx="4546977" cy="535807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727080" y="1120403"/>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666858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221834" y="3166757"/>
            <a:ext cx="4088314" cy="819573"/>
          </a:xfrm>
        </p:spPr>
        <p:txBody>
          <a:bodyPr anchor="b">
            <a:noAutofit/>
          </a:bodyPr>
          <a:lstStyle>
            <a:lvl1pPr marL="0" indent="0">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Edit Master text styles</a:t>
            </a:r>
          </a:p>
        </p:txBody>
      </p:sp>
      <p:sp>
        <p:nvSpPr>
          <p:cNvPr id="4" name="Content Placeholder 3"/>
          <p:cNvSpPr>
            <a:spLocks noGrp="1"/>
          </p:cNvSpPr>
          <p:nvPr>
            <p:ph sz="half" idx="2"/>
          </p:nvPr>
        </p:nvSpPr>
        <p:spPr>
          <a:xfrm>
            <a:off x="2762546" y="3986330"/>
            <a:ext cx="4547601" cy="44170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4309" y="3162166"/>
            <a:ext cx="4086384" cy="819573"/>
          </a:xfrm>
        </p:spPr>
        <p:txBody>
          <a:bodyPr anchor="b">
            <a:noAutofit/>
          </a:bodyPr>
          <a:lstStyle>
            <a:lvl1pPr marL="0" indent="0">
              <a:buNone/>
              <a:defRPr sz="3413" b="0"/>
            </a:lvl1pPr>
            <a:lvl2pPr marL="650230" indent="0">
              <a:buNone/>
              <a:defRPr sz="2844" b="1"/>
            </a:lvl2pPr>
            <a:lvl3pPr marL="1300460" indent="0">
              <a:buNone/>
              <a:defRPr sz="2560" b="1"/>
            </a:lvl3pPr>
            <a:lvl4pPr marL="1950690" indent="0">
              <a:buNone/>
              <a:defRPr sz="2276" b="1"/>
            </a:lvl4pPr>
            <a:lvl5pPr marL="2600919" indent="0">
              <a:buNone/>
              <a:defRPr sz="2276" b="1"/>
            </a:lvl5pPr>
            <a:lvl6pPr marL="3251149" indent="0">
              <a:buNone/>
              <a:defRPr sz="2276" b="1"/>
            </a:lvl6pPr>
            <a:lvl7pPr marL="3901379" indent="0">
              <a:buNone/>
              <a:defRPr sz="2276" b="1"/>
            </a:lvl7pPr>
            <a:lvl8pPr marL="4551609" indent="0">
              <a:buNone/>
              <a:defRPr sz="2276" b="1"/>
            </a:lvl8pPr>
            <a:lvl9pPr marL="5201839" indent="0">
              <a:buNone/>
              <a:defRPr sz="2276" b="1"/>
            </a:lvl9pPr>
          </a:lstStyle>
          <a:p>
            <a:pPr lvl="0"/>
            <a:r>
              <a:rPr lang="en-US"/>
              <a:t>Edit Master text styles</a:t>
            </a:r>
          </a:p>
        </p:txBody>
      </p:sp>
      <p:sp>
        <p:nvSpPr>
          <p:cNvPr id="6" name="Content Placeholder 5"/>
          <p:cNvSpPr>
            <a:spLocks noGrp="1"/>
          </p:cNvSpPr>
          <p:nvPr>
            <p:ph sz="quarter" idx="4"/>
          </p:nvPr>
        </p:nvSpPr>
        <p:spPr>
          <a:xfrm>
            <a:off x="7585728" y="3981739"/>
            <a:ext cx="4544967" cy="44170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2/12/2025</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727080" y="1120403"/>
            <a:ext cx="831969" cy="519289"/>
          </a:xfrm>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4011246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766506" y="887623"/>
            <a:ext cx="9371307" cy="182171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2/12/2025</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3674323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2/12/2025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347509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62546" y="634436"/>
            <a:ext cx="3739853" cy="1388533"/>
          </a:xfrm>
        </p:spPr>
        <p:txBody>
          <a:bodyPr anchor="b"/>
          <a:lstStyle>
            <a:lvl1pPr algn="l">
              <a:defRPr sz="2844" b="0"/>
            </a:lvl1pPr>
          </a:lstStyle>
          <a:p>
            <a:r>
              <a:rPr lang="en-US"/>
              <a:t>Click to edit Master title style</a:t>
            </a:r>
            <a:endParaRPr lang="en-US" dirty="0"/>
          </a:p>
        </p:txBody>
      </p:sp>
      <p:sp>
        <p:nvSpPr>
          <p:cNvPr id="3" name="Content Placeholder 2"/>
          <p:cNvSpPr>
            <a:spLocks noGrp="1"/>
          </p:cNvSpPr>
          <p:nvPr>
            <p:ph idx="1"/>
          </p:nvPr>
        </p:nvSpPr>
        <p:spPr>
          <a:xfrm>
            <a:off x="6746302" y="634438"/>
            <a:ext cx="5391511" cy="7701281"/>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762546" y="2273583"/>
            <a:ext cx="3739853" cy="6062131"/>
          </a:xfrm>
        </p:spPr>
        <p:txBody>
          <a:bodyPr/>
          <a:lstStyle>
            <a:lvl1pPr marL="0" indent="0">
              <a:buNone/>
              <a:defRPr sz="1991"/>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6CB4B4D-7CA3-9044-876B-883B54F8677D}" type="slidenum">
              <a:rPr lang="en-US" smtClean="0"/>
              <a:pPr/>
              <a:t>‹#›</a:t>
            </a:fld>
            <a:endParaRPr lang="en-US"/>
          </a:p>
        </p:txBody>
      </p:sp>
    </p:spTree>
    <p:extLst>
      <p:ext uri="{BB962C8B-B14F-4D97-AF65-F5344CB8AC3E}">
        <p14:creationId xmlns:p14="http://schemas.microsoft.com/office/powerpoint/2010/main" val="4200672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762546" y="6827520"/>
            <a:ext cx="9375268" cy="806027"/>
          </a:xfrm>
        </p:spPr>
        <p:txBody>
          <a:bodyPr anchor="b">
            <a:normAutofit/>
          </a:bodyPr>
          <a:lstStyle>
            <a:lvl1pPr algn="l">
              <a:defRPr sz="3413"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762546" y="903061"/>
            <a:ext cx="9375268" cy="5482624"/>
          </a:xfrm>
        </p:spPr>
        <p:txBody>
          <a:bodyPr anchor="t">
            <a:normAutofit/>
          </a:bodyPr>
          <a:lstStyle>
            <a:lvl1pPr marL="0" indent="0" algn="ctr">
              <a:buNone/>
              <a:defRPr sz="2276"/>
            </a:lvl1pPr>
            <a:lvl2pPr marL="650230" indent="0">
              <a:buNone/>
              <a:defRPr sz="2276"/>
            </a:lvl2pPr>
            <a:lvl3pPr marL="1300460" indent="0">
              <a:buNone/>
              <a:defRPr sz="2276"/>
            </a:lvl3pPr>
            <a:lvl4pPr marL="1950690" indent="0">
              <a:buNone/>
              <a:defRPr sz="2276"/>
            </a:lvl4pPr>
            <a:lvl5pPr marL="2600919" indent="0">
              <a:buNone/>
              <a:defRPr sz="2276"/>
            </a:lvl5pPr>
            <a:lvl6pPr marL="3251149" indent="0">
              <a:buNone/>
              <a:defRPr sz="2276"/>
            </a:lvl6pPr>
            <a:lvl7pPr marL="3901379" indent="0">
              <a:buNone/>
              <a:defRPr sz="2276"/>
            </a:lvl7pPr>
            <a:lvl8pPr marL="4551609" indent="0">
              <a:buNone/>
              <a:defRPr sz="2276"/>
            </a:lvl8pPr>
            <a:lvl9pPr marL="5201839" indent="0">
              <a:buNone/>
              <a:defRPr sz="2276"/>
            </a:lvl9pPr>
          </a:lstStyle>
          <a:p>
            <a:r>
              <a:rPr lang="en-US"/>
              <a:t>Click icon to add picture</a:t>
            </a:r>
            <a:endParaRPr lang="en-US" dirty="0"/>
          </a:p>
        </p:txBody>
      </p:sp>
      <p:sp>
        <p:nvSpPr>
          <p:cNvPr id="4" name="Text Placeholder 3"/>
          <p:cNvSpPr>
            <a:spLocks noGrp="1"/>
          </p:cNvSpPr>
          <p:nvPr>
            <p:ph type="body" sz="half" idx="2"/>
          </p:nvPr>
        </p:nvSpPr>
        <p:spPr>
          <a:xfrm>
            <a:off x="2762546" y="7633547"/>
            <a:ext cx="9375268" cy="702168"/>
          </a:xfrm>
        </p:spPr>
        <p:txBody>
          <a:bodyPr>
            <a:normAutofit/>
          </a:bodyPr>
          <a:lstStyle>
            <a:lvl1pPr marL="0" indent="0">
              <a:buNone/>
              <a:defRPr sz="1707"/>
            </a:lvl1pPr>
            <a:lvl2pPr marL="650230" indent="0">
              <a:buNone/>
              <a:defRPr sz="1707"/>
            </a:lvl2pPr>
            <a:lvl3pPr marL="1300460" indent="0">
              <a:buNone/>
              <a:defRPr sz="1422"/>
            </a:lvl3pPr>
            <a:lvl4pPr marL="1950690" indent="0">
              <a:buNone/>
              <a:defRPr sz="1280"/>
            </a:lvl4pPr>
            <a:lvl5pPr marL="2600919" indent="0">
              <a:buNone/>
              <a:defRPr sz="1280"/>
            </a:lvl5pPr>
            <a:lvl6pPr marL="3251149" indent="0">
              <a:buNone/>
              <a:defRPr sz="1280"/>
            </a:lvl6pPr>
            <a:lvl7pPr marL="3901379" indent="0">
              <a:buNone/>
              <a:defRPr sz="1280"/>
            </a:lvl7pPr>
            <a:lvl8pPr marL="4551609" indent="0">
              <a:buNone/>
              <a:defRPr sz="1280"/>
            </a:lvl8pPr>
            <a:lvl9pPr marL="5201839" indent="0">
              <a:buNone/>
              <a:defRPr sz="128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457565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762546" y="866986"/>
            <a:ext cx="9375268" cy="4433124"/>
          </a:xfrm>
        </p:spPr>
        <p:txBody>
          <a:bodyPr anchor="ctr">
            <a:normAutofit/>
          </a:bodyPr>
          <a:lstStyle>
            <a:lvl1pPr algn="l">
              <a:defRPr sz="6827" b="0" cap="none"/>
            </a:lvl1pPr>
          </a:lstStyle>
          <a:p>
            <a:r>
              <a:rPr lang="en-US"/>
              <a:t>Click to edit Master title style</a:t>
            </a:r>
            <a:endParaRPr lang="en-US" dirty="0"/>
          </a:p>
        </p:txBody>
      </p:sp>
      <p:sp>
        <p:nvSpPr>
          <p:cNvPr id="3" name="Text Placeholder 2"/>
          <p:cNvSpPr>
            <a:spLocks noGrp="1"/>
          </p:cNvSpPr>
          <p:nvPr>
            <p:ph type="body" idx="1"/>
          </p:nvPr>
        </p:nvSpPr>
        <p:spPr>
          <a:xfrm>
            <a:off x="2762546" y="6192421"/>
            <a:ext cx="9375268" cy="2212784"/>
          </a:xfrm>
        </p:spPr>
        <p:txBody>
          <a:bodyPr anchor="ctr">
            <a:normAutofit/>
          </a:bodyPr>
          <a:lstStyle>
            <a:lvl1pPr marL="0" indent="0" algn="l">
              <a:buNone/>
              <a:defRPr sz="2560">
                <a:solidFill>
                  <a:schemeClr val="tx1">
                    <a:lumMod val="65000"/>
                    <a:lumOff val="35000"/>
                  </a:schemeClr>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4503506"/>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727080" y="461388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766121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11998" y="866987"/>
            <a:ext cx="8689190" cy="4118187"/>
          </a:xfrm>
        </p:spPr>
        <p:txBody>
          <a:bodyPr anchor="ctr">
            <a:normAutofit/>
          </a:bodyPr>
          <a:lstStyle>
            <a:lvl1pPr algn="l">
              <a:defRPr sz="6827"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436049" y="4985173"/>
            <a:ext cx="8041085" cy="541867"/>
          </a:xfrm>
        </p:spPr>
        <p:txBody>
          <a:bodyPr anchor="ctr">
            <a:noAutofit/>
          </a:bodyPr>
          <a:lstStyle>
            <a:lvl1pPr marL="0" indent="0">
              <a:buFontTx/>
              <a:buNone/>
              <a:defRPr sz="2276">
                <a:solidFill>
                  <a:schemeClr val="tx1">
                    <a:lumMod val="50000"/>
                    <a:lumOff val="50000"/>
                  </a:schemeClr>
                </a:solidFill>
              </a:defRPr>
            </a:lvl1pPr>
            <a:lvl2pPr marL="650230" indent="0">
              <a:buFontTx/>
              <a:buNone/>
              <a:defRPr/>
            </a:lvl2pPr>
            <a:lvl3pPr marL="1300460" indent="0">
              <a:buFontTx/>
              <a:buNone/>
              <a:defRPr/>
            </a:lvl3pPr>
            <a:lvl4pPr marL="1950690" indent="0">
              <a:buFontTx/>
              <a:buNone/>
              <a:defRPr/>
            </a:lvl4pPr>
            <a:lvl5pPr marL="2600919" indent="0">
              <a:buFontTx/>
              <a:buNone/>
              <a:defRPr/>
            </a:lvl5pPr>
          </a:lstStyle>
          <a:p>
            <a:pPr lvl="0"/>
            <a:r>
              <a:rPr lang="en-US"/>
              <a:t>Edit Master text styles</a:t>
            </a:r>
          </a:p>
        </p:txBody>
      </p:sp>
      <p:sp>
        <p:nvSpPr>
          <p:cNvPr id="3" name="Text Placeholder 2"/>
          <p:cNvSpPr>
            <a:spLocks noGrp="1"/>
          </p:cNvSpPr>
          <p:nvPr>
            <p:ph type="body" idx="1"/>
          </p:nvPr>
        </p:nvSpPr>
        <p:spPr>
          <a:xfrm>
            <a:off x="2762546" y="6192421"/>
            <a:ext cx="9375268" cy="2212784"/>
          </a:xfrm>
        </p:spPr>
        <p:txBody>
          <a:bodyPr anchor="ctr">
            <a:normAutofit/>
          </a:bodyPr>
          <a:lstStyle>
            <a:lvl1pPr marL="0" indent="0" algn="l">
              <a:buNone/>
              <a:defRPr sz="2560">
                <a:solidFill>
                  <a:schemeClr val="tx1">
                    <a:lumMod val="65000"/>
                    <a:lumOff val="35000"/>
                  </a:schemeClr>
                </a:solidFill>
              </a:defRPr>
            </a:lvl1pPr>
            <a:lvl2pPr marL="650230" indent="0">
              <a:buNone/>
              <a:defRPr sz="2560">
                <a:solidFill>
                  <a:schemeClr val="tx1">
                    <a:tint val="75000"/>
                  </a:schemeClr>
                </a:solidFill>
              </a:defRPr>
            </a:lvl2pPr>
            <a:lvl3pPr marL="1300460" indent="0">
              <a:buNone/>
              <a:defRPr sz="2276">
                <a:solidFill>
                  <a:schemeClr val="tx1">
                    <a:tint val="75000"/>
                  </a:schemeClr>
                </a:solidFill>
              </a:defRPr>
            </a:lvl3pPr>
            <a:lvl4pPr marL="1950690" indent="0">
              <a:buNone/>
              <a:defRPr sz="1991">
                <a:solidFill>
                  <a:schemeClr val="tx1">
                    <a:tint val="75000"/>
                  </a:schemeClr>
                </a:solidFill>
              </a:defRPr>
            </a:lvl4pPr>
            <a:lvl5pPr marL="2600919" indent="0">
              <a:buNone/>
              <a:defRPr sz="1991">
                <a:solidFill>
                  <a:schemeClr val="tx1">
                    <a:tint val="75000"/>
                  </a:schemeClr>
                </a:solidFill>
              </a:defRPr>
            </a:lvl5pPr>
            <a:lvl6pPr marL="3251149" indent="0">
              <a:buNone/>
              <a:defRPr sz="1991">
                <a:solidFill>
                  <a:schemeClr val="tx1">
                    <a:tint val="75000"/>
                  </a:schemeClr>
                </a:solidFill>
              </a:defRPr>
            </a:lvl6pPr>
            <a:lvl7pPr marL="3901379" indent="0">
              <a:buNone/>
              <a:defRPr sz="1991">
                <a:solidFill>
                  <a:schemeClr val="tx1">
                    <a:tint val="75000"/>
                  </a:schemeClr>
                </a:solidFill>
              </a:defRPr>
            </a:lvl7pPr>
            <a:lvl8pPr marL="4551609" indent="0">
              <a:buNone/>
              <a:defRPr sz="1991">
                <a:solidFill>
                  <a:schemeClr val="tx1">
                    <a:tint val="75000"/>
                  </a:schemeClr>
                </a:solidFill>
              </a:defRPr>
            </a:lvl8pPr>
            <a:lvl9pPr marL="5201839" indent="0">
              <a:buNone/>
              <a:defRPr sz="199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83" y="4503506"/>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727080" y="4613889"/>
            <a:ext cx="831969" cy="519289"/>
          </a:xfrm>
        </p:spPr>
        <p:txBody>
          <a:bodyPr/>
          <a:lstStyle/>
          <a:p>
            <a:fld id="{86CB4B4D-7CA3-9044-876B-883B54F8677D}" type="slidenum">
              <a:rPr lang="en-US" smtClean="0"/>
              <a:t>‹#›</a:t>
            </a:fld>
            <a:endParaRPr lang="en-US"/>
          </a:p>
        </p:txBody>
      </p:sp>
      <p:sp>
        <p:nvSpPr>
          <p:cNvPr id="14" name="TextBox 13"/>
          <p:cNvSpPr txBox="1"/>
          <p:nvPr/>
        </p:nvSpPr>
        <p:spPr>
          <a:xfrm>
            <a:off x="2571828" y="921607"/>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
        <p:nvSpPr>
          <p:cNvPr id="15" name="TextBox 14"/>
          <p:cNvSpPr txBox="1"/>
          <p:nvPr/>
        </p:nvSpPr>
        <p:spPr>
          <a:xfrm>
            <a:off x="11618892" y="4131991"/>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69934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762546" y="3467949"/>
            <a:ext cx="9375268" cy="3875335"/>
          </a:xfrm>
        </p:spPr>
        <p:txBody>
          <a:bodyPr anchor="b">
            <a:normAutofit/>
          </a:bodyPr>
          <a:lstStyle>
            <a:lvl1pPr algn="l">
              <a:defRPr sz="6827" b="0"/>
            </a:lvl1pPr>
          </a:lstStyle>
          <a:p>
            <a:r>
              <a:rPr lang="en-US"/>
              <a:t>Click to edit Master title style</a:t>
            </a:r>
            <a:endParaRPr lang="en-US" dirty="0"/>
          </a:p>
        </p:txBody>
      </p:sp>
      <p:sp>
        <p:nvSpPr>
          <p:cNvPr id="4" name="Text Placeholder 3"/>
          <p:cNvSpPr>
            <a:spLocks noGrp="1"/>
          </p:cNvSpPr>
          <p:nvPr>
            <p:ph type="body" sz="half" idx="2"/>
          </p:nvPr>
        </p:nvSpPr>
        <p:spPr>
          <a:xfrm>
            <a:off x="2762546" y="7369386"/>
            <a:ext cx="9375268" cy="103768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4836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3111998" y="866987"/>
            <a:ext cx="8689190" cy="4118187"/>
          </a:xfrm>
        </p:spPr>
        <p:txBody>
          <a:bodyPr anchor="ctr">
            <a:normAutofit/>
          </a:bodyPr>
          <a:lstStyle>
            <a:lvl1pPr algn="l">
              <a:defRPr sz="6827"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762546" y="6177280"/>
            <a:ext cx="9512238" cy="1192107"/>
          </a:xfrm>
        </p:spPr>
        <p:txBody>
          <a:bodyPr anchor="b">
            <a:noAutofit/>
          </a:bodyPr>
          <a:lstStyle>
            <a:lvl1pPr marL="0" indent="0">
              <a:buFontTx/>
              <a:buNone/>
              <a:defRPr sz="3413">
                <a:solidFill>
                  <a:schemeClr val="accent1"/>
                </a:solidFill>
              </a:defRPr>
            </a:lvl1pPr>
            <a:lvl2pPr marL="650230" indent="0">
              <a:buFontTx/>
              <a:buNone/>
              <a:defRPr/>
            </a:lvl2pPr>
            <a:lvl3pPr marL="1300460" indent="0">
              <a:buFontTx/>
              <a:buNone/>
              <a:defRPr/>
            </a:lvl3pPr>
            <a:lvl4pPr marL="1950690" indent="0">
              <a:buFontTx/>
              <a:buNone/>
              <a:defRPr/>
            </a:lvl4pPr>
            <a:lvl5pPr marL="2600919" indent="0">
              <a:buFontTx/>
              <a:buNone/>
              <a:defRPr/>
            </a:lvl5pPr>
          </a:lstStyle>
          <a:p>
            <a:pPr lvl="0"/>
            <a:r>
              <a:rPr lang="en-US"/>
              <a:t>Edit Master text styles</a:t>
            </a:r>
          </a:p>
        </p:txBody>
      </p:sp>
      <p:sp>
        <p:nvSpPr>
          <p:cNvPr id="4" name="Text Placeholder 3"/>
          <p:cNvSpPr>
            <a:spLocks noGrp="1"/>
          </p:cNvSpPr>
          <p:nvPr>
            <p:ph type="body" sz="half" idx="2"/>
          </p:nvPr>
        </p:nvSpPr>
        <p:spPr>
          <a:xfrm>
            <a:off x="2762546" y="7369386"/>
            <a:ext cx="9512238" cy="103768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
        <p:nvSpPr>
          <p:cNvPr id="11" name="TextBox 10"/>
          <p:cNvSpPr txBox="1"/>
          <p:nvPr/>
        </p:nvSpPr>
        <p:spPr>
          <a:xfrm>
            <a:off x="2571828" y="921607"/>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
        <p:nvSpPr>
          <p:cNvPr id="12" name="TextBox 11"/>
          <p:cNvSpPr txBox="1"/>
          <p:nvPr/>
        </p:nvSpPr>
        <p:spPr>
          <a:xfrm>
            <a:off x="11618892" y="4131991"/>
            <a:ext cx="650409" cy="831681"/>
          </a:xfrm>
          <a:prstGeom prst="rect">
            <a:avLst/>
          </a:prstGeom>
        </p:spPr>
        <p:txBody>
          <a:bodyPr vert="horz" lIns="130048" tIns="65024" rIns="130048" bIns="65024" rtlCol="0" anchor="ctr">
            <a:noAutofit/>
          </a:bodyPr>
          <a:lstStyle/>
          <a:p>
            <a:pPr lvl="0"/>
            <a:r>
              <a:rPr lang="en-US" sz="11378"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43537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762547" y="892312"/>
            <a:ext cx="9375266" cy="4096028"/>
          </a:xfrm>
        </p:spPr>
        <p:txBody>
          <a:bodyPr anchor="ctr">
            <a:normAutofit/>
          </a:bodyPr>
          <a:lstStyle>
            <a:lvl1pPr algn="l">
              <a:defRPr sz="6827" b="0"/>
            </a:lvl1pPr>
          </a:lstStyle>
          <a:p>
            <a:r>
              <a:rPr lang="en-US"/>
              <a:t>Click to edit Master title style</a:t>
            </a:r>
            <a:endParaRPr lang="en-US" dirty="0"/>
          </a:p>
        </p:txBody>
      </p:sp>
      <p:sp>
        <p:nvSpPr>
          <p:cNvPr id="21" name="Text Placeholder 9"/>
          <p:cNvSpPr>
            <a:spLocks noGrp="1"/>
          </p:cNvSpPr>
          <p:nvPr>
            <p:ph type="body" sz="quarter" idx="13"/>
          </p:nvPr>
        </p:nvSpPr>
        <p:spPr>
          <a:xfrm>
            <a:off x="2762546" y="6177280"/>
            <a:ext cx="9375268" cy="1192107"/>
          </a:xfrm>
        </p:spPr>
        <p:txBody>
          <a:bodyPr anchor="b">
            <a:noAutofit/>
          </a:bodyPr>
          <a:lstStyle>
            <a:lvl1pPr marL="0" indent="0">
              <a:buFontTx/>
              <a:buNone/>
              <a:defRPr sz="3413">
                <a:solidFill>
                  <a:schemeClr val="accent1"/>
                </a:solidFill>
              </a:defRPr>
            </a:lvl1pPr>
            <a:lvl2pPr marL="650230" indent="0">
              <a:buFontTx/>
              <a:buNone/>
              <a:defRPr/>
            </a:lvl2pPr>
            <a:lvl3pPr marL="1300460" indent="0">
              <a:buFontTx/>
              <a:buNone/>
              <a:defRPr/>
            </a:lvl3pPr>
            <a:lvl4pPr marL="1950690" indent="0">
              <a:buFontTx/>
              <a:buNone/>
              <a:defRPr/>
            </a:lvl4pPr>
            <a:lvl5pPr marL="2600919" indent="0">
              <a:buFontTx/>
              <a:buNone/>
              <a:defRPr/>
            </a:lvl5pPr>
          </a:lstStyle>
          <a:p>
            <a:pPr lvl="0"/>
            <a:r>
              <a:rPr lang="en-US"/>
              <a:t>Edit Master text styles</a:t>
            </a:r>
          </a:p>
        </p:txBody>
      </p:sp>
      <p:sp>
        <p:nvSpPr>
          <p:cNvPr id="4" name="Text Placeholder 3"/>
          <p:cNvSpPr>
            <a:spLocks noGrp="1"/>
          </p:cNvSpPr>
          <p:nvPr>
            <p:ph type="body" sz="half" idx="2"/>
          </p:nvPr>
        </p:nvSpPr>
        <p:spPr>
          <a:xfrm>
            <a:off x="2762546" y="7369386"/>
            <a:ext cx="9375268" cy="1037685"/>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2/12/2025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83" y="6984050"/>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727080" y="7087059"/>
            <a:ext cx="831969" cy="519289"/>
          </a:xfrm>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8964713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2741977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82805" y="892311"/>
            <a:ext cx="2355388" cy="7514762"/>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762547" y="892311"/>
            <a:ext cx="6707695" cy="75147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2/12/2025</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83" y="1011477"/>
            <a:ext cx="1931884" cy="722496"/>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323667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325120"/>
            <a:ext cx="2817707" cy="9441604"/>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9043" y="406"/>
            <a:ext cx="2776565" cy="9746443"/>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260096" cy="97536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766506" y="887623"/>
            <a:ext cx="9371307" cy="182171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62546" y="3034453"/>
            <a:ext cx="9375268" cy="552704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054080" y="8725461"/>
            <a:ext cx="1089963" cy="526465"/>
          </a:xfrm>
          <a:prstGeom prst="rect">
            <a:avLst/>
          </a:prstGeom>
        </p:spPr>
        <p:txBody>
          <a:bodyPr vert="horz" lIns="91440" tIns="45720" rIns="91440" bIns="45720" rtlCol="0" anchor="ctr"/>
          <a:lstStyle>
            <a:lvl1pPr algn="r">
              <a:defRPr sz="1280">
                <a:solidFill>
                  <a:schemeClr val="tx1">
                    <a:tint val="75000"/>
                  </a:schemeClr>
                </a:solidFill>
              </a:defRPr>
            </a:lvl1pPr>
          </a:lstStyle>
          <a:p>
            <a:fld id="{B61BEF0D-F0BB-DE4B-95CE-6DB70DBA9567}" type="datetimeFigureOut">
              <a:rPr lang="en-US" smtClean="0"/>
              <a:pPr/>
              <a:t>2/12/2025</a:t>
            </a:fld>
            <a:endParaRPr lang="en-US"/>
          </a:p>
        </p:txBody>
      </p:sp>
      <p:sp>
        <p:nvSpPr>
          <p:cNvPr id="5" name="Footer Placeholder 4"/>
          <p:cNvSpPr>
            <a:spLocks noGrp="1"/>
          </p:cNvSpPr>
          <p:nvPr>
            <p:ph type="ftr" sz="quarter" idx="3"/>
          </p:nvPr>
        </p:nvSpPr>
        <p:spPr>
          <a:xfrm>
            <a:off x="2762546" y="8726485"/>
            <a:ext cx="8130116" cy="519289"/>
          </a:xfrm>
          <a:prstGeom prst="rect">
            <a:avLst/>
          </a:prstGeom>
        </p:spPr>
        <p:txBody>
          <a:bodyPr vert="horz" lIns="91440" tIns="45720" rIns="91440" bIns="45720" rtlCol="0" anchor="ctr"/>
          <a:lstStyle>
            <a:lvl1pPr algn="l">
              <a:defRPr sz="12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080" y="1120403"/>
            <a:ext cx="831969" cy="519289"/>
          </a:xfrm>
          <a:prstGeom prst="rect">
            <a:avLst/>
          </a:prstGeom>
        </p:spPr>
        <p:txBody>
          <a:bodyPr vert="horz" lIns="91440" tIns="45720" rIns="91440" bIns="45720" rtlCol="0" anchor="ctr"/>
          <a:lstStyle>
            <a:lvl1pPr algn="r">
              <a:defRPr sz="2844">
                <a:solidFill>
                  <a:srgbClr val="FEFFFF"/>
                </a:solidFill>
              </a:defRPr>
            </a:lvl1pPr>
          </a:lstStyle>
          <a:p>
            <a:fld id="{86CB4B4D-7CA3-9044-876B-883B54F8677D}" type="slidenum">
              <a:rPr lang="en-US" smtClean="0"/>
              <a:t>‹#›</a:t>
            </a:fld>
            <a:endParaRPr lang="en-US"/>
          </a:p>
        </p:txBody>
      </p:sp>
    </p:spTree>
    <p:extLst>
      <p:ext uri="{BB962C8B-B14F-4D97-AF65-F5344CB8AC3E}">
        <p14:creationId xmlns:p14="http://schemas.microsoft.com/office/powerpoint/2010/main" val="4228334538"/>
      </p:ext>
    </p:extLst>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 id="2147484009" r:id="rId13"/>
    <p:sldLayoutId id="2147484010" r:id="rId14"/>
    <p:sldLayoutId id="2147484011" r:id="rId15"/>
    <p:sldLayoutId id="2147484012" r:id="rId16"/>
  </p:sldLayoutIdLst>
  <p:txStyles>
    <p:titleStyle>
      <a:lvl1pPr algn="l" defTabSz="650230" rtl="0" eaLnBrk="1" latinLnBrk="0" hangingPunct="1">
        <a:spcBef>
          <a:spcPct val="0"/>
        </a:spcBef>
        <a:buNone/>
        <a:defRPr sz="512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87672" indent="-487672" algn="l" defTabSz="650230" rtl="0" eaLnBrk="1" latinLnBrk="0" hangingPunct="1">
        <a:spcBef>
          <a:spcPts val="1422"/>
        </a:spcBef>
        <a:spcAft>
          <a:spcPts val="0"/>
        </a:spcAft>
        <a:buClr>
          <a:schemeClr val="accent1"/>
        </a:buClr>
        <a:buFont typeface="Wingdings 3" charset="2"/>
        <a:buChar char=""/>
        <a:defRPr sz="2560" kern="1200">
          <a:solidFill>
            <a:schemeClr val="tx1">
              <a:lumMod val="75000"/>
              <a:lumOff val="25000"/>
            </a:schemeClr>
          </a:solidFill>
          <a:latin typeface="+mn-lt"/>
          <a:ea typeface="+mn-ea"/>
          <a:cs typeface="+mn-cs"/>
        </a:defRPr>
      </a:lvl1pPr>
      <a:lvl2pPr marL="1056623" indent="-406394" algn="l" defTabSz="650230" rtl="0" eaLnBrk="1" latinLnBrk="0" hangingPunct="1">
        <a:spcBef>
          <a:spcPts val="1422"/>
        </a:spcBef>
        <a:spcAft>
          <a:spcPts val="0"/>
        </a:spcAft>
        <a:buClr>
          <a:schemeClr val="accent1"/>
        </a:buClr>
        <a:buFont typeface="Wingdings 3" charset="2"/>
        <a:buChar char=""/>
        <a:defRPr sz="2276" kern="1200">
          <a:solidFill>
            <a:schemeClr val="tx1">
              <a:lumMod val="75000"/>
              <a:lumOff val="25000"/>
            </a:schemeClr>
          </a:solidFill>
          <a:latin typeface="+mn-lt"/>
          <a:ea typeface="+mn-ea"/>
          <a:cs typeface="+mn-cs"/>
        </a:defRPr>
      </a:lvl2pPr>
      <a:lvl3pPr marL="1625575" indent="-325115" algn="l" defTabSz="650230" rtl="0" eaLnBrk="1" latinLnBrk="0" hangingPunct="1">
        <a:spcBef>
          <a:spcPts val="1422"/>
        </a:spcBef>
        <a:spcAft>
          <a:spcPts val="0"/>
        </a:spcAft>
        <a:buClr>
          <a:schemeClr val="accent1"/>
        </a:buClr>
        <a:buFont typeface="Wingdings 3" charset="2"/>
        <a:buChar char=""/>
        <a:defRPr sz="1991" kern="1200">
          <a:solidFill>
            <a:schemeClr val="tx1">
              <a:lumMod val="75000"/>
              <a:lumOff val="25000"/>
            </a:schemeClr>
          </a:solidFill>
          <a:latin typeface="+mn-lt"/>
          <a:ea typeface="+mn-ea"/>
          <a:cs typeface="+mn-cs"/>
        </a:defRPr>
      </a:lvl3pPr>
      <a:lvl4pPr marL="227580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4pPr>
      <a:lvl5pPr marL="292603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5pPr>
      <a:lvl6pPr marL="357626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6pPr>
      <a:lvl7pPr marL="422649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7pPr>
      <a:lvl8pPr marL="487672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8pPr>
      <a:lvl9pPr marL="5526954" indent="-325115" algn="l" defTabSz="650230" rtl="0" eaLnBrk="1" latinLnBrk="0" hangingPunct="1">
        <a:spcBef>
          <a:spcPts val="1422"/>
        </a:spcBef>
        <a:spcAft>
          <a:spcPts val="0"/>
        </a:spcAft>
        <a:buClr>
          <a:schemeClr val="accent1"/>
        </a:buClr>
        <a:buFont typeface="Wingdings 3" charset="2"/>
        <a:buChar char=""/>
        <a:defRPr sz="1707" kern="1200">
          <a:solidFill>
            <a:schemeClr val="tx1">
              <a:lumMod val="75000"/>
              <a:lumOff val="25000"/>
            </a:schemeClr>
          </a:solidFill>
          <a:latin typeface="+mn-lt"/>
          <a:ea typeface="+mn-ea"/>
          <a:cs typeface="+mn-cs"/>
        </a:defRPr>
      </a:lvl9pPr>
    </p:bodyStyle>
    <p:otherStyle>
      <a:defPPr>
        <a:defRPr lang="en-US"/>
      </a:defPPr>
      <a:lvl1pPr marL="0" algn="l" defTabSz="650230" rtl="0" eaLnBrk="1" latinLnBrk="0" hangingPunct="1">
        <a:defRPr sz="2560" kern="1200">
          <a:solidFill>
            <a:schemeClr val="tx1"/>
          </a:solidFill>
          <a:latin typeface="+mn-lt"/>
          <a:ea typeface="+mn-ea"/>
          <a:cs typeface="+mn-cs"/>
        </a:defRPr>
      </a:lvl1pPr>
      <a:lvl2pPr marL="650230" algn="l" defTabSz="650230" rtl="0" eaLnBrk="1" latinLnBrk="0" hangingPunct="1">
        <a:defRPr sz="2560" kern="1200">
          <a:solidFill>
            <a:schemeClr val="tx1"/>
          </a:solidFill>
          <a:latin typeface="+mn-lt"/>
          <a:ea typeface="+mn-ea"/>
          <a:cs typeface="+mn-cs"/>
        </a:defRPr>
      </a:lvl2pPr>
      <a:lvl3pPr marL="1300460" algn="l" defTabSz="650230" rtl="0" eaLnBrk="1" latinLnBrk="0" hangingPunct="1">
        <a:defRPr sz="2560" kern="1200">
          <a:solidFill>
            <a:schemeClr val="tx1"/>
          </a:solidFill>
          <a:latin typeface="+mn-lt"/>
          <a:ea typeface="+mn-ea"/>
          <a:cs typeface="+mn-cs"/>
        </a:defRPr>
      </a:lvl3pPr>
      <a:lvl4pPr marL="1950690" algn="l" defTabSz="650230" rtl="0" eaLnBrk="1" latinLnBrk="0" hangingPunct="1">
        <a:defRPr sz="2560" kern="1200">
          <a:solidFill>
            <a:schemeClr val="tx1"/>
          </a:solidFill>
          <a:latin typeface="+mn-lt"/>
          <a:ea typeface="+mn-ea"/>
          <a:cs typeface="+mn-cs"/>
        </a:defRPr>
      </a:lvl4pPr>
      <a:lvl5pPr marL="2600919" algn="l" defTabSz="650230" rtl="0" eaLnBrk="1" latinLnBrk="0" hangingPunct="1">
        <a:defRPr sz="2560" kern="1200">
          <a:solidFill>
            <a:schemeClr val="tx1"/>
          </a:solidFill>
          <a:latin typeface="+mn-lt"/>
          <a:ea typeface="+mn-ea"/>
          <a:cs typeface="+mn-cs"/>
        </a:defRPr>
      </a:lvl5pPr>
      <a:lvl6pPr marL="3251149" algn="l" defTabSz="650230" rtl="0" eaLnBrk="1" latinLnBrk="0" hangingPunct="1">
        <a:defRPr sz="2560" kern="1200">
          <a:solidFill>
            <a:schemeClr val="tx1"/>
          </a:solidFill>
          <a:latin typeface="+mn-lt"/>
          <a:ea typeface="+mn-ea"/>
          <a:cs typeface="+mn-cs"/>
        </a:defRPr>
      </a:lvl6pPr>
      <a:lvl7pPr marL="3901379" algn="l" defTabSz="650230" rtl="0" eaLnBrk="1" latinLnBrk="0" hangingPunct="1">
        <a:defRPr sz="2560" kern="1200">
          <a:solidFill>
            <a:schemeClr val="tx1"/>
          </a:solidFill>
          <a:latin typeface="+mn-lt"/>
          <a:ea typeface="+mn-ea"/>
          <a:cs typeface="+mn-cs"/>
        </a:defRPr>
      </a:lvl7pPr>
      <a:lvl8pPr marL="4551609" algn="l" defTabSz="650230" rtl="0" eaLnBrk="1" latinLnBrk="0" hangingPunct="1">
        <a:defRPr sz="2560" kern="1200">
          <a:solidFill>
            <a:schemeClr val="tx1"/>
          </a:solidFill>
          <a:latin typeface="+mn-lt"/>
          <a:ea typeface="+mn-ea"/>
          <a:cs typeface="+mn-cs"/>
        </a:defRPr>
      </a:lvl8pPr>
      <a:lvl9pPr marL="5201839" algn="l" defTabSz="650230" rtl="0" eaLnBrk="1" latinLnBrk="0" hangingPunct="1">
        <a:defRPr sz="2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190.png"/><Relationship Id="rId4" Type="http://schemas.openxmlformats.org/officeDocument/2006/relationships/image" Target="../media/image2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MẠNG NEURON…"/>
          <p:cNvSpPr txBox="1">
            <a:spLocks noGrp="1"/>
          </p:cNvSpPr>
          <p:nvPr>
            <p:ph type="subTitle" idx="1"/>
          </p:nvPr>
        </p:nvSpPr>
        <p:spPr>
          <a:xfrm>
            <a:off x="-3388" y="3696960"/>
            <a:ext cx="13004801" cy="4021195"/>
          </a:xfrm>
          <a:prstGeom prst="rect">
            <a:avLst/>
          </a:prstGeom>
        </p:spPr>
        <p:txBody>
          <a:bodyPr>
            <a:normAutofit/>
          </a:bodyPr>
          <a:lstStyle/>
          <a:p>
            <a:pPr algn="ctr">
              <a:defRPr sz="4000" b="1">
                <a:latin typeface="Arial"/>
                <a:ea typeface="Arial"/>
                <a:cs typeface="Arial"/>
                <a:sym typeface="Arial"/>
              </a:defRPr>
            </a:pPr>
            <a:r>
              <a:rPr lang="en-US" sz="8800" dirty="0" err="1" smtClean="0">
                <a:solidFill>
                  <a:srgbClr val="002060"/>
                </a:solidFill>
                <a:latin typeface="Constantia" panose="02030602050306030303" pitchFamily="18" charset="0"/>
              </a:rPr>
              <a:t>Xử</a:t>
            </a:r>
            <a:r>
              <a:rPr lang="en-US" sz="8800" dirty="0" smtClean="0">
                <a:solidFill>
                  <a:srgbClr val="002060"/>
                </a:solidFill>
                <a:latin typeface="Constantia" panose="02030602050306030303" pitchFamily="18" charset="0"/>
              </a:rPr>
              <a:t> </a:t>
            </a:r>
            <a:r>
              <a:rPr lang="en-US" sz="8800" dirty="0" err="1" smtClean="0">
                <a:solidFill>
                  <a:srgbClr val="002060"/>
                </a:solidFill>
                <a:latin typeface="Constantia" panose="02030602050306030303" pitchFamily="18" charset="0"/>
              </a:rPr>
              <a:t>lý</a:t>
            </a:r>
            <a:r>
              <a:rPr lang="en-US" sz="8800" dirty="0" smtClean="0">
                <a:solidFill>
                  <a:srgbClr val="002060"/>
                </a:solidFill>
                <a:latin typeface="Constantia" panose="02030602050306030303" pitchFamily="18" charset="0"/>
              </a:rPr>
              <a:t> </a:t>
            </a:r>
            <a:r>
              <a:rPr lang="en-US" sz="8800" dirty="0" err="1" smtClean="0">
                <a:solidFill>
                  <a:srgbClr val="002060"/>
                </a:solidFill>
                <a:latin typeface="Constantia" panose="02030602050306030303" pitchFamily="18" charset="0"/>
              </a:rPr>
              <a:t>ảnh</a:t>
            </a:r>
            <a:r>
              <a:rPr lang="en-US" sz="8800" dirty="0" smtClean="0">
                <a:solidFill>
                  <a:srgbClr val="002060"/>
                </a:solidFill>
                <a:latin typeface="Constantia" panose="02030602050306030303" pitchFamily="18" charset="0"/>
              </a:rPr>
              <a:t> </a:t>
            </a:r>
            <a:r>
              <a:rPr lang="en-US" sz="8800" dirty="0" err="1" smtClean="0">
                <a:solidFill>
                  <a:srgbClr val="002060"/>
                </a:solidFill>
                <a:latin typeface="Constantia" panose="02030602050306030303" pitchFamily="18" charset="0"/>
              </a:rPr>
              <a:t>nâng</a:t>
            </a:r>
            <a:r>
              <a:rPr lang="en-US" sz="8800" dirty="0" smtClean="0">
                <a:solidFill>
                  <a:srgbClr val="002060"/>
                </a:solidFill>
                <a:latin typeface="Constantia" panose="02030602050306030303" pitchFamily="18" charset="0"/>
              </a:rPr>
              <a:t> </a:t>
            </a:r>
            <a:r>
              <a:rPr lang="en-US" sz="8800" dirty="0" err="1" smtClean="0">
                <a:solidFill>
                  <a:srgbClr val="002060"/>
                </a:solidFill>
                <a:latin typeface="Constantia" panose="02030602050306030303" pitchFamily="18" charset="0"/>
              </a:rPr>
              <a:t>cao</a:t>
            </a:r>
            <a:endParaRPr lang="en-US" sz="8800" dirty="0">
              <a:solidFill>
                <a:srgbClr val="002060"/>
              </a:solidFill>
              <a:latin typeface="Constantia" panose="02030602050306030303" pitchFamily="18" charset="0"/>
            </a:endParaRPr>
          </a:p>
          <a:p>
            <a:pPr algn="ctr">
              <a:defRPr sz="4000" b="1">
                <a:latin typeface="Arial"/>
                <a:ea typeface="Arial"/>
                <a:cs typeface="Arial"/>
                <a:sym typeface="Arial"/>
              </a:defRPr>
            </a:pPr>
            <a:r>
              <a:rPr lang="en-US" sz="4000" dirty="0" err="1">
                <a:solidFill>
                  <a:srgbClr val="002060"/>
                </a:solidFill>
                <a:latin typeface="Constantia" panose="02030602050306030303" pitchFamily="18" charset="0"/>
              </a:rPr>
              <a:t>Giảng</a:t>
            </a:r>
            <a:r>
              <a:rPr lang="en-US" sz="4000" dirty="0">
                <a:solidFill>
                  <a:srgbClr val="002060"/>
                </a:solidFill>
                <a:latin typeface="Constantia" panose="02030602050306030303" pitchFamily="18" charset="0"/>
              </a:rPr>
              <a:t> </a:t>
            </a:r>
            <a:r>
              <a:rPr lang="en-US" sz="4000" dirty="0" err="1">
                <a:solidFill>
                  <a:srgbClr val="002060"/>
                </a:solidFill>
                <a:latin typeface="Constantia" panose="02030602050306030303" pitchFamily="18" charset="0"/>
              </a:rPr>
              <a:t>viên</a:t>
            </a:r>
            <a:r>
              <a:rPr lang="en-US" sz="4000" dirty="0">
                <a:solidFill>
                  <a:srgbClr val="002060"/>
                </a:solidFill>
                <a:latin typeface="Constantia" panose="02030602050306030303" pitchFamily="18" charset="0"/>
              </a:rPr>
              <a:t>: TS. </a:t>
            </a:r>
            <a:r>
              <a:rPr lang="en-US" sz="4000" dirty="0" smtClean="0">
                <a:solidFill>
                  <a:srgbClr val="002060"/>
                </a:solidFill>
                <a:latin typeface="Constantia" panose="02030602050306030303" pitchFamily="18" charset="0"/>
              </a:rPr>
              <a:t>Cao </a:t>
            </a:r>
            <a:r>
              <a:rPr lang="en-US" sz="4000" dirty="0" err="1" smtClean="0">
                <a:solidFill>
                  <a:srgbClr val="002060"/>
                </a:solidFill>
                <a:latin typeface="Constantia" panose="02030602050306030303" pitchFamily="18" charset="0"/>
              </a:rPr>
              <a:t>Thị</a:t>
            </a:r>
            <a:r>
              <a:rPr lang="en-US" sz="4000" dirty="0" smtClean="0">
                <a:solidFill>
                  <a:srgbClr val="002060"/>
                </a:solidFill>
                <a:latin typeface="Constantia" panose="02030602050306030303" pitchFamily="18" charset="0"/>
              </a:rPr>
              <a:t> </a:t>
            </a:r>
            <a:r>
              <a:rPr lang="en-US" sz="4000" dirty="0" err="1" smtClean="0">
                <a:solidFill>
                  <a:srgbClr val="002060"/>
                </a:solidFill>
                <a:latin typeface="Constantia" panose="02030602050306030303" pitchFamily="18" charset="0"/>
              </a:rPr>
              <a:t>Luyên</a:t>
            </a:r>
            <a:endParaRPr lang="en-US" sz="3200" dirty="0">
              <a:solidFill>
                <a:srgbClr val="002060"/>
              </a:solidFill>
              <a:latin typeface="Constantia" panose="02030602050306030303" pitchFamily="18" charset="0"/>
            </a:endParaRPr>
          </a:p>
          <a:p>
            <a:pPr algn="ctr">
              <a:defRPr sz="4000" b="1">
                <a:latin typeface="Arial"/>
                <a:ea typeface="Arial"/>
                <a:cs typeface="Arial"/>
                <a:sym typeface="Arial"/>
              </a:defRPr>
            </a:pPr>
            <a:endParaRPr dirty="0"/>
          </a:p>
        </p:txBody>
      </p:sp>
      <p:sp>
        <p:nvSpPr>
          <p:cNvPr id="120" name="Số Trang chiếu"/>
          <p:cNvSpPr txBox="1">
            <a:spLocks noGrp="1"/>
          </p:cNvSpPr>
          <p:nvPr>
            <p:ph type="sldNum" sz="quarter" idx="12"/>
          </p:nvPr>
        </p:nvSpPr>
        <p:spPr>
          <a:xfrm>
            <a:off x="6385373" y="9296400"/>
            <a:ext cx="227280" cy="3243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a:latin typeface="Helvetica Neue Thin"/>
                <a:ea typeface="Helvetica Neue Thin"/>
                <a:cs typeface="Helvetica Neue Thin"/>
                <a:sym typeface="Helvetica Neue Thin"/>
              </a:defRPr>
            </a:lvl1pPr>
          </a:lstStyle>
          <a:p>
            <a:fld id="{86CB4B4D-7CA3-9044-876B-883B54F8677D}" type="slidenum">
              <a:rPr/>
              <a:t>1</a:t>
            </a:f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Nội dung môn học"/>
          <p:cNvSpPr txBox="1">
            <a:spLocks noGrp="1"/>
          </p:cNvSpPr>
          <p:nvPr>
            <p:ph type="ctrTitle"/>
          </p:nvPr>
        </p:nvSpPr>
        <p:spPr>
          <a:xfrm>
            <a:off x="-673" y="-14652"/>
            <a:ext cx="12980746" cy="1340427"/>
          </a:xfrm>
          <a:prstGeom prst="rect">
            <a:avLst/>
          </a:prstGeom>
        </p:spPr>
        <p:txBody>
          <a:bodyPr>
            <a:normAutofit/>
          </a:bodyPr>
          <a:lstStyle/>
          <a:p>
            <a:pPr algn="ctr"/>
            <a:r>
              <a:rPr lang="en-US" sz="7200" b="1" dirty="0" smtClean="0">
                <a:solidFill>
                  <a:srgbClr val="002060"/>
                </a:solidFill>
                <a:latin typeface="Constantia" panose="02030602050306030303" pitchFamily="18" charset="0"/>
              </a:rPr>
              <a:t>Báo </a:t>
            </a:r>
            <a:r>
              <a:rPr lang="en-US" sz="7200" b="1" dirty="0" err="1" smtClean="0">
                <a:solidFill>
                  <a:srgbClr val="002060"/>
                </a:solidFill>
                <a:latin typeface="Constantia" panose="02030602050306030303" pitchFamily="18" charset="0"/>
              </a:rPr>
              <a:t>cáo</a:t>
            </a:r>
            <a:r>
              <a:rPr lang="en-US" sz="7200" b="1" dirty="0" smtClean="0">
                <a:solidFill>
                  <a:srgbClr val="002060"/>
                </a:solidFill>
                <a:latin typeface="Constantia" panose="02030602050306030303" pitchFamily="18" charset="0"/>
              </a:rPr>
              <a:t> </a:t>
            </a:r>
            <a:r>
              <a:rPr lang="en-US" sz="7200" b="1" dirty="0" err="1" smtClean="0">
                <a:solidFill>
                  <a:srgbClr val="002060"/>
                </a:solidFill>
                <a:latin typeface="Constantia" panose="02030602050306030303" pitchFamily="18" charset="0"/>
              </a:rPr>
              <a:t>nhóm</a:t>
            </a:r>
            <a:r>
              <a:rPr lang="en-US" sz="7200" b="1" dirty="0" smtClean="0">
                <a:solidFill>
                  <a:srgbClr val="002060"/>
                </a:solidFill>
                <a:latin typeface="Constantia" panose="02030602050306030303" pitchFamily="18" charset="0"/>
              </a:rPr>
              <a:t> 5:</a:t>
            </a:r>
            <a:endParaRPr sz="7200" b="1" dirty="0">
              <a:solidFill>
                <a:srgbClr val="002060"/>
              </a:solidFill>
              <a:latin typeface="Constantia" panose="02030602050306030303" pitchFamily="18" charset="0"/>
            </a:endParaRPr>
          </a:p>
        </p:txBody>
      </p:sp>
      <p:sp>
        <p:nvSpPr>
          <p:cNvPr id="123" name="Tên môn học: Mạng neuron và ứng dụng trong xử lý tín hiệu…"/>
          <p:cNvSpPr txBox="1">
            <a:spLocks noGrp="1"/>
          </p:cNvSpPr>
          <p:nvPr>
            <p:ph type="subTitle" idx="1"/>
          </p:nvPr>
        </p:nvSpPr>
        <p:spPr>
          <a:xfrm>
            <a:off x="825751" y="1759727"/>
            <a:ext cx="11956152" cy="7398508"/>
          </a:xfrm>
          <a:prstGeom prst="rect">
            <a:avLst/>
          </a:prstGeom>
        </p:spPr>
        <p:txBody>
          <a:bodyPr>
            <a:normAutofit/>
          </a:bodyPr>
          <a:lstStyle/>
          <a:p>
            <a:pPr lvl="2" algn="l">
              <a:defRPr sz="4000">
                <a:latin typeface="Arial"/>
                <a:ea typeface="Arial"/>
                <a:cs typeface="Arial"/>
                <a:sym typeface="Arial"/>
              </a:defRPr>
            </a:pPr>
            <a:r>
              <a:rPr lang="en-US" sz="8800" b="1" dirty="0" smtClean="0">
                <a:solidFill>
                  <a:srgbClr val="002060"/>
                </a:solidFill>
                <a:latin typeface="Constantia" panose="02030602050306030303" pitchFamily="18" charset="0"/>
              </a:rPr>
              <a:t>EDGE DETECTION</a:t>
            </a:r>
          </a:p>
          <a:p>
            <a:pPr lvl="2" algn="l">
              <a:defRPr sz="4000">
                <a:latin typeface="Arial"/>
                <a:ea typeface="Arial"/>
                <a:cs typeface="Arial"/>
                <a:sym typeface="Arial"/>
              </a:defRPr>
            </a:pPr>
            <a:r>
              <a:rPr lang="en-US" sz="6600" b="1" dirty="0" smtClean="0">
                <a:solidFill>
                  <a:srgbClr val="002060"/>
                </a:solidFill>
                <a:latin typeface="Constantia" panose="02030602050306030303" pitchFamily="18" charset="0"/>
              </a:rPr>
              <a:t>(PHÁT HIỆN BIÊN ẢNH)</a:t>
            </a:r>
          </a:p>
          <a:p>
            <a:pPr lvl="2" algn="l">
              <a:defRPr sz="4000">
                <a:latin typeface="Arial"/>
                <a:ea typeface="Arial"/>
                <a:cs typeface="Arial"/>
                <a:sym typeface="Arial"/>
              </a:defRPr>
            </a:pPr>
            <a:r>
              <a:rPr lang="en-US" sz="3600" b="1" dirty="0" err="1" smtClean="0">
                <a:solidFill>
                  <a:srgbClr val="002060"/>
                </a:solidFill>
                <a:latin typeface="Constantia" panose="02030602050306030303" pitchFamily="18" charset="0"/>
              </a:rPr>
              <a:t>Thành</a:t>
            </a:r>
            <a:r>
              <a:rPr lang="en-US" sz="3600" b="1" dirty="0" smtClean="0">
                <a:solidFill>
                  <a:srgbClr val="002060"/>
                </a:solidFill>
                <a:latin typeface="Constantia" panose="02030602050306030303" pitchFamily="18" charset="0"/>
              </a:rPr>
              <a:t> </a:t>
            </a:r>
            <a:r>
              <a:rPr lang="en-US" sz="3600" b="1" dirty="0" err="1" smtClean="0">
                <a:solidFill>
                  <a:srgbClr val="002060"/>
                </a:solidFill>
                <a:latin typeface="Constantia" panose="02030602050306030303" pitchFamily="18" charset="0"/>
              </a:rPr>
              <a:t>viên</a:t>
            </a:r>
            <a:r>
              <a:rPr lang="en-US" sz="3600" b="1" dirty="0" smtClean="0">
                <a:solidFill>
                  <a:srgbClr val="002060"/>
                </a:solidFill>
                <a:latin typeface="Constantia" panose="02030602050306030303" pitchFamily="18" charset="0"/>
              </a:rPr>
              <a:t> </a:t>
            </a:r>
            <a:r>
              <a:rPr lang="en-US" sz="3600" b="1" dirty="0" err="1" smtClean="0">
                <a:solidFill>
                  <a:srgbClr val="002060"/>
                </a:solidFill>
                <a:latin typeface="Constantia" panose="02030602050306030303" pitchFamily="18" charset="0"/>
              </a:rPr>
              <a:t>nhóm</a:t>
            </a:r>
            <a:r>
              <a:rPr lang="en-US" sz="3600" b="1" dirty="0" smtClean="0">
                <a:solidFill>
                  <a:srgbClr val="002060"/>
                </a:solidFill>
                <a:latin typeface="Constantia" panose="02030602050306030303" pitchFamily="18" charset="0"/>
              </a:rPr>
              <a:t>:</a:t>
            </a:r>
          </a:p>
          <a:p>
            <a:pPr lvl="2" algn="l">
              <a:defRPr sz="4000">
                <a:latin typeface="Arial"/>
                <a:ea typeface="Arial"/>
                <a:cs typeface="Arial"/>
                <a:sym typeface="Arial"/>
              </a:defRPr>
            </a:pPr>
            <a:r>
              <a:rPr lang="en-US" sz="3600" b="1" dirty="0" smtClean="0">
                <a:solidFill>
                  <a:srgbClr val="002060"/>
                </a:solidFill>
                <a:latin typeface="Constantia" panose="02030602050306030303" pitchFamily="18" charset="0"/>
              </a:rPr>
              <a:t>Chu </a:t>
            </a:r>
            <a:r>
              <a:rPr lang="en-US" sz="3600" b="1" dirty="0" err="1" smtClean="0">
                <a:solidFill>
                  <a:srgbClr val="002060"/>
                </a:solidFill>
                <a:latin typeface="Constantia" panose="02030602050306030303" pitchFamily="18" charset="0"/>
              </a:rPr>
              <a:t>Văn</a:t>
            </a:r>
            <a:r>
              <a:rPr lang="en-US" sz="3600" b="1" dirty="0" smtClean="0">
                <a:solidFill>
                  <a:srgbClr val="002060"/>
                </a:solidFill>
                <a:latin typeface="Constantia" panose="02030602050306030303" pitchFamily="18" charset="0"/>
              </a:rPr>
              <a:t> </a:t>
            </a:r>
            <a:r>
              <a:rPr lang="en-US" sz="3600" b="1" dirty="0" err="1" smtClean="0">
                <a:solidFill>
                  <a:srgbClr val="002060"/>
                </a:solidFill>
                <a:latin typeface="Constantia" panose="02030602050306030303" pitchFamily="18" charset="0"/>
              </a:rPr>
              <a:t>Dũng</a:t>
            </a:r>
            <a:endParaRPr lang="en-US" sz="3600" b="1" dirty="0" smtClean="0">
              <a:solidFill>
                <a:srgbClr val="002060"/>
              </a:solidFill>
              <a:latin typeface="Constantia" panose="02030602050306030303" pitchFamily="18" charset="0"/>
            </a:endParaRPr>
          </a:p>
          <a:p>
            <a:pPr lvl="2" algn="l">
              <a:defRPr sz="4000">
                <a:latin typeface="Arial"/>
                <a:ea typeface="Arial"/>
                <a:cs typeface="Arial"/>
                <a:sym typeface="Arial"/>
              </a:defRPr>
            </a:pPr>
            <a:r>
              <a:rPr lang="en-US" sz="3600" b="1" dirty="0" err="1" smtClean="0">
                <a:solidFill>
                  <a:srgbClr val="002060"/>
                </a:solidFill>
                <a:latin typeface="Constantia" panose="02030602050306030303" pitchFamily="18" charset="0"/>
              </a:rPr>
              <a:t>Phạm</a:t>
            </a:r>
            <a:r>
              <a:rPr lang="en-US" sz="3600" b="1" dirty="0" smtClean="0">
                <a:solidFill>
                  <a:srgbClr val="002060"/>
                </a:solidFill>
                <a:latin typeface="Constantia" panose="02030602050306030303" pitchFamily="18" charset="0"/>
              </a:rPr>
              <a:t> </a:t>
            </a:r>
            <a:r>
              <a:rPr lang="en-US" sz="3600" b="1" dirty="0" err="1" smtClean="0">
                <a:solidFill>
                  <a:srgbClr val="002060"/>
                </a:solidFill>
                <a:latin typeface="Constantia" panose="02030602050306030303" pitchFamily="18" charset="0"/>
              </a:rPr>
              <a:t>Hải</a:t>
            </a:r>
            <a:r>
              <a:rPr lang="en-US" sz="3600" b="1" dirty="0" smtClean="0">
                <a:solidFill>
                  <a:srgbClr val="002060"/>
                </a:solidFill>
                <a:latin typeface="Constantia" panose="02030602050306030303" pitchFamily="18" charset="0"/>
              </a:rPr>
              <a:t> </a:t>
            </a:r>
            <a:r>
              <a:rPr lang="en-US" sz="3600" b="1" dirty="0" err="1" smtClean="0">
                <a:solidFill>
                  <a:srgbClr val="002060"/>
                </a:solidFill>
                <a:latin typeface="Constantia" panose="02030602050306030303" pitchFamily="18" charset="0"/>
              </a:rPr>
              <a:t>Nhi</a:t>
            </a:r>
            <a:endParaRPr lang="en-US" sz="3600" b="1" dirty="0" smtClean="0">
              <a:solidFill>
                <a:srgbClr val="002060"/>
              </a:solidFill>
              <a:latin typeface="Constantia" panose="02030602050306030303" pitchFamily="18" charset="0"/>
            </a:endParaRPr>
          </a:p>
          <a:p>
            <a:pPr lvl="2" algn="l">
              <a:defRPr sz="4000">
                <a:latin typeface="Arial"/>
                <a:ea typeface="Arial"/>
                <a:cs typeface="Arial"/>
                <a:sym typeface="Arial"/>
              </a:defRPr>
            </a:pPr>
            <a:r>
              <a:rPr lang="en-US" sz="3600" b="1" dirty="0" smtClean="0">
                <a:solidFill>
                  <a:srgbClr val="002060"/>
                </a:solidFill>
                <a:latin typeface="Constantia" panose="02030602050306030303" pitchFamily="18" charset="0"/>
              </a:rPr>
              <a:t>Hồ Anh Minh</a:t>
            </a:r>
          </a:p>
          <a:p>
            <a:pPr lvl="2" algn="l">
              <a:defRPr sz="4000">
                <a:latin typeface="Arial"/>
                <a:ea typeface="Arial"/>
                <a:cs typeface="Arial"/>
                <a:sym typeface="Arial"/>
              </a:defRPr>
            </a:pPr>
            <a:r>
              <a:rPr lang="en-US" sz="3600" b="1" dirty="0" err="1" smtClean="0">
                <a:solidFill>
                  <a:srgbClr val="002060"/>
                </a:solidFill>
                <a:latin typeface="Constantia" panose="02030602050306030303" pitchFamily="18" charset="0"/>
              </a:rPr>
              <a:t>Phạm</a:t>
            </a:r>
            <a:r>
              <a:rPr lang="en-US" sz="3600" b="1" dirty="0" smtClean="0">
                <a:solidFill>
                  <a:srgbClr val="002060"/>
                </a:solidFill>
                <a:latin typeface="Constantia" panose="02030602050306030303" pitchFamily="18" charset="0"/>
              </a:rPr>
              <a:t> </a:t>
            </a:r>
            <a:r>
              <a:rPr lang="en-US" sz="3600" b="1" dirty="0" err="1" smtClean="0">
                <a:solidFill>
                  <a:srgbClr val="002060"/>
                </a:solidFill>
                <a:latin typeface="Constantia" panose="02030602050306030303" pitchFamily="18" charset="0"/>
              </a:rPr>
              <a:t>Quang</a:t>
            </a:r>
            <a:r>
              <a:rPr lang="en-US" sz="3600" b="1" dirty="0" smtClean="0">
                <a:solidFill>
                  <a:srgbClr val="002060"/>
                </a:solidFill>
                <a:latin typeface="Constantia" panose="02030602050306030303" pitchFamily="18" charset="0"/>
              </a:rPr>
              <a:t> </a:t>
            </a:r>
            <a:r>
              <a:rPr lang="en-US" sz="3600" b="1" dirty="0" err="1" smtClean="0">
                <a:solidFill>
                  <a:srgbClr val="002060"/>
                </a:solidFill>
                <a:latin typeface="Constantia" panose="02030602050306030303" pitchFamily="18" charset="0"/>
              </a:rPr>
              <a:t>Bách</a:t>
            </a:r>
            <a:endParaRPr lang="en-US" sz="3600" b="1" dirty="0" smtClean="0">
              <a:solidFill>
                <a:srgbClr val="002060"/>
              </a:solidFill>
              <a:latin typeface="Constantia" panose="02030602050306030303" pitchFamily="18" charset="0"/>
            </a:endParaRPr>
          </a:p>
        </p:txBody>
      </p:sp>
      <p:sp>
        <p:nvSpPr>
          <p:cNvPr id="124" name="Số Trang chiếu"/>
          <p:cNvSpPr txBox="1">
            <a:spLocks noGrp="1"/>
          </p:cNvSpPr>
          <p:nvPr>
            <p:ph type="sldNum" sz="quarter" idx="12"/>
          </p:nvPr>
        </p:nvSpPr>
        <p:spPr>
          <a:xfrm>
            <a:off x="6385373" y="9296400"/>
            <a:ext cx="227280" cy="32430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a:latin typeface="Helvetica Neue Thin"/>
                <a:ea typeface="Helvetica Neue Thin"/>
                <a:cs typeface="Helvetica Neue Thin"/>
                <a:sym typeface="Helvetica Neue Thin"/>
              </a:defRPr>
            </a:lvl1pPr>
          </a:lstStyle>
          <a:p>
            <a:fld id="{86CB4B4D-7CA3-9044-876B-883B54F8677D}" type="slidenum">
              <a:t>2</a:t>
            </a:fld>
            <a:endParaRPr/>
          </a:p>
        </p:txBody>
      </p:sp>
    </p:spTree>
    <p:extLst>
      <p:ext uri="{BB962C8B-B14F-4D97-AF65-F5344CB8AC3E}">
        <p14:creationId xmlns:p14="http://schemas.microsoft.com/office/powerpoint/2010/main" val="556772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590083" y="434993"/>
            <a:ext cx="11021017" cy="1235644"/>
          </a:xfrm>
        </p:spPr>
        <p:txBody>
          <a:bodyPr>
            <a:normAutofit fontScale="90000"/>
          </a:bodyPr>
          <a:lstStyle/>
          <a:p>
            <a:r>
              <a:rPr lang="en-US" sz="6600" b="1" dirty="0">
                <a:latin typeface="Constantia" panose="02030602050306030303" pitchFamily="18" charset="0"/>
              </a:rPr>
              <a:t>Phát </a:t>
            </a:r>
            <a:r>
              <a:rPr lang="en-US" sz="6600" b="1" dirty="0" err="1">
                <a:latin typeface="Constantia" panose="02030602050306030303" pitchFamily="18" charset="0"/>
              </a:rPr>
              <a:t>hiện</a:t>
            </a:r>
            <a:r>
              <a:rPr lang="en-US" sz="6600" b="1" dirty="0">
                <a:latin typeface="Constantia" panose="02030602050306030303" pitchFamily="18" charset="0"/>
              </a:rPr>
              <a:t> </a:t>
            </a:r>
            <a:r>
              <a:rPr lang="en-US" sz="6600" b="1" dirty="0" err="1" smtClean="0">
                <a:latin typeface="Constantia" panose="02030602050306030303" pitchFamily="18" charset="0"/>
              </a:rPr>
              <a:t>biên</a:t>
            </a:r>
            <a:r>
              <a:rPr lang="en-US" sz="6600" b="1" dirty="0">
                <a:latin typeface="Constantia" panose="02030602050306030303" pitchFamily="18" charset="0"/>
              </a:rPr>
              <a:t> </a:t>
            </a:r>
            <a:r>
              <a:rPr lang="en-US" sz="6600" b="1" dirty="0" smtClean="0">
                <a:latin typeface="Constantia" panose="02030602050306030303" pitchFamily="18" charset="0"/>
              </a:rPr>
              <a:t>trong </a:t>
            </a:r>
            <a:r>
              <a:rPr lang="en-US" sz="6600" b="1" dirty="0" err="1" smtClean="0">
                <a:latin typeface="Constantia" panose="02030602050306030303" pitchFamily="18" charset="0"/>
              </a:rPr>
              <a:t>xử</a:t>
            </a:r>
            <a:r>
              <a:rPr lang="en-US" sz="6600" b="1" dirty="0" smtClean="0">
                <a:latin typeface="Constantia" panose="02030602050306030303" pitchFamily="18" charset="0"/>
              </a:rPr>
              <a:t> </a:t>
            </a:r>
            <a:r>
              <a:rPr lang="en-US" sz="6600" b="1" dirty="0" err="1" smtClean="0">
                <a:latin typeface="Constantia" panose="02030602050306030303" pitchFamily="18" charset="0"/>
              </a:rPr>
              <a:t>lý</a:t>
            </a:r>
            <a:r>
              <a:rPr lang="en-US" sz="6600" b="1" dirty="0" smtClean="0">
                <a:latin typeface="Constantia" panose="02030602050306030303" pitchFamily="18" charset="0"/>
              </a:rPr>
              <a:t> </a:t>
            </a:r>
            <a:r>
              <a:rPr lang="en-US" sz="6600" b="1" dirty="0" err="1" smtClean="0">
                <a:latin typeface="Constantia" panose="02030602050306030303" pitchFamily="18" charset="0"/>
              </a:rPr>
              <a:t>ảnh</a:t>
            </a:r>
            <a:r>
              <a:rPr lang="en-US" sz="6600" b="1" dirty="0" smtClean="0">
                <a:latin typeface="Constantia" panose="02030602050306030303" pitchFamily="18" charset="0"/>
              </a:rPr>
              <a:t> </a:t>
            </a:r>
            <a:r>
              <a:rPr lang="en-US" sz="6600" b="1" dirty="0" err="1" smtClean="0">
                <a:latin typeface="Constantia" panose="02030602050306030303" pitchFamily="18" charset="0"/>
              </a:rPr>
              <a:t>số</a:t>
            </a:r>
            <a:endParaRPr lang="en-US" sz="6600" b="1" dirty="0">
              <a:latin typeface="Constantia" panose="02030602050306030303" pitchFamily="18" charset="0"/>
            </a:endParaRPr>
          </a:p>
        </p:txBody>
      </p:sp>
      <p:pic>
        <p:nvPicPr>
          <p:cNvPr id="6" name="Picture 5"/>
          <p:cNvPicPr>
            <a:picLocks noChangeAspect="1"/>
          </p:cNvPicPr>
          <p:nvPr/>
        </p:nvPicPr>
        <p:blipFill>
          <a:blip r:embed="rId2"/>
          <a:stretch>
            <a:fillRect/>
          </a:stretch>
        </p:blipFill>
        <p:spPr>
          <a:xfrm>
            <a:off x="8058149" y="2533650"/>
            <a:ext cx="4228803" cy="2857500"/>
          </a:xfrm>
          <a:prstGeom prst="rect">
            <a:avLst/>
          </a:prstGeom>
        </p:spPr>
      </p:pic>
      <p:pic>
        <p:nvPicPr>
          <p:cNvPr id="2" name="Picture 1"/>
          <p:cNvPicPr>
            <a:picLocks noChangeAspect="1"/>
          </p:cNvPicPr>
          <p:nvPr/>
        </p:nvPicPr>
        <p:blipFill>
          <a:blip r:embed="rId3"/>
          <a:stretch>
            <a:fillRect/>
          </a:stretch>
        </p:blipFill>
        <p:spPr>
          <a:xfrm>
            <a:off x="647701" y="2533650"/>
            <a:ext cx="4267199" cy="2857500"/>
          </a:xfrm>
          <a:prstGeom prst="rect">
            <a:avLst/>
          </a:prstGeom>
        </p:spPr>
      </p:pic>
      <p:sp>
        <p:nvSpPr>
          <p:cNvPr id="9" name="TextBox 8"/>
          <p:cNvSpPr txBox="1"/>
          <p:nvPr/>
        </p:nvSpPr>
        <p:spPr>
          <a:xfrm>
            <a:off x="1809750" y="6425310"/>
            <a:ext cx="9505950" cy="1569660"/>
          </a:xfrm>
          <a:prstGeom prst="rect">
            <a:avLst/>
          </a:prstGeom>
          <a:noFill/>
        </p:spPr>
        <p:txBody>
          <a:bodyPr wrap="square" rtlCol="0">
            <a:spAutoFit/>
          </a:bodyPr>
          <a:lstStyle/>
          <a:p>
            <a:r>
              <a:rPr lang="vi-VN" b="0" dirty="0"/>
              <a:t>Phát hiện biên là một bước quan trọng trong xử lý ảnh số, giúp xác định ranh giới giữa các vùng trong ảnh. Biên có thể là biên sắc nét (có sự thay đổi mạnh về cường độ) hoặc biên mờ (chuyển đổi dần dần</a:t>
            </a:r>
            <a:r>
              <a:rPr lang="vi-VN" b="0" dirty="0" smtClean="0"/>
              <a:t>).</a:t>
            </a:r>
            <a:endParaRPr lang="vi-VN" b="0" dirty="0"/>
          </a:p>
        </p:txBody>
      </p:sp>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4962" y="3029234"/>
            <a:ext cx="2143125" cy="2143125"/>
          </a:xfrm>
          <a:prstGeom prst="rect">
            <a:avLst/>
          </a:prstGeom>
        </p:spPr>
      </p:pic>
    </p:spTree>
    <p:extLst>
      <p:ext uri="{BB962C8B-B14F-4D97-AF65-F5344CB8AC3E}">
        <p14:creationId xmlns:p14="http://schemas.microsoft.com/office/powerpoint/2010/main" val="18543958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800" b="1" dirty="0" err="1">
                <a:latin typeface="Helvetica Neue"/>
              </a:rPr>
              <a:t>Vai</a:t>
            </a:r>
            <a:r>
              <a:rPr lang="en-US" sz="4800" b="1" dirty="0">
                <a:latin typeface="Helvetica Neue"/>
              </a:rPr>
              <a:t> </a:t>
            </a:r>
            <a:r>
              <a:rPr lang="en-US" sz="4800" b="1" dirty="0" err="1">
                <a:latin typeface="Helvetica Neue"/>
              </a:rPr>
              <a:t>trò</a:t>
            </a:r>
            <a:r>
              <a:rPr lang="en-US" sz="4800" b="1" dirty="0">
                <a:latin typeface="Helvetica Neue"/>
              </a:rPr>
              <a:t> </a:t>
            </a:r>
            <a:r>
              <a:rPr lang="en-US" sz="4800" b="1" dirty="0" err="1">
                <a:latin typeface="Helvetica Neue"/>
              </a:rPr>
              <a:t>và</a:t>
            </a:r>
            <a:r>
              <a:rPr lang="en-US" sz="4800" b="1" dirty="0">
                <a:latin typeface="Helvetica Neue"/>
              </a:rPr>
              <a:t> </a:t>
            </a:r>
            <a:r>
              <a:rPr lang="en-US" sz="4800" b="1" dirty="0" err="1">
                <a:latin typeface="Helvetica Neue"/>
              </a:rPr>
              <a:t>vị</a:t>
            </a:r>
            <a:r>
              <a:rPr lang="en-US" sz="4800" b="1" dirty="0">
                <a:latin typeface="Helvetica Neue"/>
              </a:rPr>
              <a:t> </a:t>
            </a:r>
            <a:r>
              <a:rPr lang="en-US" sz="4800" b="1" dirty="0" err="1">
                <a:latin typeface="Helvetica Neue"/>
              </a:rPr>
              <a:t>trí</a:t>
            </a:r>
            <a:r>
              <a:rPr lang="en-US" sz="4800" b="1" dirty="0">
                <a:latin typeface="Helvetica Neue"/>
              </a:rPr>
              <a:t> </a:t>
            </a:r>
            <a:r>
              <a:rPr lang="en-US" sz="4800" b="1" dirty="0" err="1">
                <a:latin typeface="Helvetica Neue"/>
              </a:rPr>
              <a:t>của</a:t>
            </a:r>
            <a:r>
              <a:rPr lang="en-US" sz="4800" b="1" dirty="0">
                <a:latin typeface="Helvetica Neue"/>
              </a:rPr>
              <a:t> </a:t>
            </a:r>
            <a:r>
              <a:rPr lang="en-US" sz="4800" b="1" dirty="0" err="1">
                <a:latin typeface="Helvetica Neue"/>
              </a:rPr>
              <a:t>tách</a:t>
            </a:r>
            <a:r>
              <a:rPr lang="en-US" sz="4800" b="1" dirty="0">
                <a:latin typeface="Helvetica Neue"/>
              </a:rPr>
              <a:t> </a:t>
            </a:r>
            <a:r>
              <a:rPr lang="en-US" sz="4800" b="1" dirty="0" err="1">
                <a:latin typeface="Helvetica Neue"/>
              </a:rPr>
              <a:t>biên</a:t>
            </a:r>
            <a:r>
              <a:rPr lang="en-US" sz="4800" b="1" dirty="0">
                <a:latin typeface="Helvetica Neue"/>
              </a:rPr>
              <a:t> </a:t>
            </a:r>
            <a:r>
              <a:rPr lang="en-US" sz="4800" b="1" dirty="0" err="1">
                <a:latin typeface="Helvetica Neue"/>
              </a:rPr>
              <a:t>ảnh</a:t>
            </a:r>
            <a:r>
              <a:rPr lang="en-US" sz="4800" b="1" dirty="0">
                <a:latin typeface="Helvetica Neue"/>
              </a:rPr>
              <a:t> trong </a:t>
            </a:r>
            <a:r>
              <a:rPr lang="en-US" sz="4800" b="1" dirty="0" err="1">
                <a:latin typeface="Helvetica Neue"/>
              </a:rPr>
              <a:t>hệ</a:t>
            </a:r>
            <a:r>
              <a:rPr lang="en-US" sz="4800" b="1" dirty="0">
                <a:latin typeface="Helvetica Neue"/>
              </a:rPr>
              <a:t> </a:t>
            </a:r>
            <a:r>
              <a:rPr lang="en-US" sz="4800" b="1" dirty="0" err="1">
                <a:latin typeface="Helvetica Neue"/>
              </a:rPr>
              <a:t>thống</a:t>
            </a:r>
            <a:r>
              <a:rPr lang="en-US" sz="4800" b="1" dirty="0">
                <a:latin typeface="Helvetica Neue"/>
              </a:rPr>
              <a:t> </a:t>
            </a:r>
            <a:r>
              <a:rPr lang="en-US" sz="4800" b="1" dirty="0" err="1">
                <a:latin typeface="Helvetica Neue"/>
              </a:rPr>
              <a:t>xử</a:t>
            </a:r>
            <a:r>
              <a:rPr lang="en-US" sz="4800" b="1" dirty="0">
                <a:latin typeface="Helvetica Neue"/>
              </a:rPr>
              <a:t> </a:t>
            </a:r>
            <a:r>
              <a:rPr lang="en-US" sz="4800" b="1" dirty="0" err="1">
                <a:latin typeface="Helvetica Neue"/>
              </a:rPr>
              <a:t>lý</a:t>
            </a:r>
            <a:r>
              <a:rPr lang="en-US" sz="4800" b="1" dirty="0">
                <a:latin typeface="Helvetica Neue"/>
              </a:rPr>
              <a:t> </a:t>
            </a:r>
            <a:r>
              <a:rPr lang="en-US" sz="4800" b="1" dirty="0" err="1">
                <a:latin typeface="Helvetica Neue"/>
              </a:rPr>
              <a:t>ảnh</a:t>
            </a:r>
            <a:endParaRPr lang="en-US" sz="4800" b="1" dirty="0">
              <a:latin typeface="Helvetica Neue"/>
            </a:endParaRPr>
          </a:p>
        </p:txBody>
      </p:sp>
      <p:sp>
        <p:nvSpPr>
          <p:cNvPr id="3" name="Content Placeholder 2"/>
          <p:cNvSpPr>
            <a:spLocks noGrp="1"/>
          </p:cNvSpPr>
          <p:nvPr>
            <p:ph idx="1"/>
          </p:nvPr>
        </p:nvSpPr>
        <p:spPr>
          <a:xfrm>
            <a:off x="1028700" y="2709333"/>
            <a:ext cx="11601450" cy="6815667"/>
          </a:xfrm>
        </p:spPr>
        <p:txBody>
          <a:bodyPr>
            <a:noAutofit/>
          </a:bodyPr>
          <a:lstStyle/>
          <a:p>
            <a:pPr marL="0" indent="0">
              <a:buNone/>
            </a:pPr>
            <a:r>
              <a:rPr lang="en-US" sz="2000" b="1" dirty="0" smtClean="0"/>
              <a:t>1.</a:t>
            </a:r>
            <a:r>
              <a:rPr lang="vi-VN" sz="2000" b="1" dirty="0" smtClean="0"/>
              <a:t>Vai </a:t>
            </a:r>
            <a:r>
              <a:rPr lang="vi-VN" sz="2000" b="1" dirty="0"/>
              <a:t>trò của tách biên </a:t>
            </a:r>
            <a:r>
              <a:rPr lang="vi-VN" sz="2000" b="1" dirty="0" smtClean="0"/>
              <a:t>ảnh</a:t>
            </a:r>
            <a:endParaRPr lang="en-US" sz="2000" b="1" dirty="0" smtClean="0"/>
          </a:p>
          <a:p>
            <a:pPr marL="0" indent="0">
              <a:buNone/>
            </a:pPr>
            <a:r>
              <a:rPr lang="en-US" sz="2000" dirty="0"/>
              <a:t>-</a:t>
            </a:r>
            <a:r>
              <a:rPr lang="vi-VN" sz="2000" dirty="0" smtClean="0"/>
              <a:t>Phát </a:t>
            </a:r>
            <a:r>
              <a:rPr lang="vi-VN" sz="2000" dirty="0"/>
              <a:t>hiện ranh giới đối tượng: Xác định biên giữa các vùng có đặc điểm khác nhau về mức xám, màu sắc, kết cấu (ví dụ: ranh giới giữa tòa nhà và bầu trời, khối u và mô lành trong ảnh y tế).</a:t>
            </a:r>
          </a:p>
          <a:p>
            <a:pPr marL="0" indent="0">
              <a:buNone/>
            </a:pPr>
            <a:r>
              <a:rPr lang="en-US" sz="2000" dirty="0" smtClean="0"/>
              <a:t>-</a:t>
            </a:r>
            <a:r>
              <a:rPr lang="vi-VN" sz="2000" dirty="0" smtClean="0"/>
              <a:t>Giảm </a:t>
            </a:r>
            <a:r>
              <a:rPr lang="vi-VN" sz="2000" dirty="0"/>
              <a:t>lượng dữ liệu cần xử lý: Tập trung vào các đặc trưng quan trọng, giúp tăng tốc độ xử </a:t>
            </a:r>
            <a:r>
              <a:rPr lang="vi-VN" sz="2000" dirty="0" smtClean="0"/>
              <a:t>lý.</a:t>
            </a:r>
            <a:endParaRPr lang="en-US" sz="2000" dirty="0" smtClean="0"/>
          </a:p>
          <a:p>
            <a:pPr marL="0" indent="0">
              <a:buNone/>
            </a:pPr>
            <a:r>
              <a:rPr lang="vi-VN" sz="2000" dirty="0" smtClean="0"/>
              <a:t>Tiền </a:t>
            </a:r>
            <a:r>
              <a:rPr lang="vi-VN" sz="2000" dirty="0"/>
              <a:t>xử lý cho các bước sau: Hỗ trợ phân đoạn ảnh, nhận diện đối tượng, theo dõi chuyển động.</a:t>
            </a:r>
          </a:p>
          <a:p>
            <a:pPr marL="0" indent="0">
              <a:buNone/>
            </a:pPr>
            <a:r>
              <a:rPr lang="en-US" sz="2000" b="1" dirty="0" smtClean="0"/>
              <a:t>2.</a:t>
            </a:r>
            <a:r>
              <a:rPr lang="vi-VN" sz="2000" b="1" dirty="0" smtClean="0"/>
              <a:t>Ứng </a:t>
            </a:r>
            <a:r>
              <a:rPr lang="vi-VN" sz="2000" b="1" dirty="0"/>
              <a:t>dụng thực tiễn</a:t>
            </a:r>
          </a:p>
          <a:p>
            <a:pPr marL="0" indent="0">
              <a:buNone/>
            </a:pPr>
            <a:r>
              <a:rPr lang="en-US" sz="2000" dirty="0" smtClean="0"/>
              <a:t>-</a:t>
            </a:r>
            <a:r>
              <a:rPr lang="vi-VN" sz="2000" dirty="0" smtClean="0"/>
              <a:t>Y </a:t>
            </a:r>
            <a:r>
              <a:rPr lang="vi-VN" sz="2000" dirty="0"/>
              <a:t>tế: Phát hiện biên trong ảnh X-quang, </a:t>
            </a:r>
            <a:r>
              <a:rPr lang="vi-VN" sz="2000" dirty="0" smtClean="0"/>
              <a:t>MRI.</a:t>
            </a:r>
            <a:endParaRPr lang="en-US" sz="2000" dirty="0" smtClean="0"/>
          </a:p>
          <a:p>
            <a:pPr marL="0" indent="0">
              <a:buNone/>
            </a:pPr>
            <a:r>
              <a:rPr lang="en-US" sz="2000" dirty="0" smtClean="0"/>
              <a:t>-</a:t>
            </a:r>
            <a:r>
              <a:rPr lang="vi-VN" sz="2000" dirty="0" smtClean="0"/>
              <a:t>An </a:t>
            </a:r>
            <a:r>
              <a:rPr lang="vi-VN" sz="2000" dirty="0"/>
              <a:t>ninh: Nhận diện khuôn mặt, biển số xe.</a:t>
            </a:r>
          </a:p>
          <a:p>
            <a:pPr marL="0" indent="0">
              <a:buNone/>
            </a:pPr>
            <a:r>
              <a:rPr lang="en-US" sz="2000" dirty="0" smtClean="0"/>
              <a:t>-</a:t>
            </a:r>
            <a:r>
              <a:rPr lang="vi-VN" sz="2000" dirty="0" smtClean="0"/>
              <a:t>Công </a:t>
            </a:r>
            <a:r>
              <a:rPr lang="vi-VN" sz="2000" dirty="0"/>
              <a:t>nghiệp: Giám sát sản phẩm, phát hiện lỗi bề mặt.</a:t>
            </a:r>
          </a:p>
          <a:p>
            <a:pPr marL="0" indent="0">
              <a:buNone/>
            </a:pPr>
            <a:r>
              <a:rPr lang="en-US" sz="2000" b="1" dirty="0" smtClean="0"/>
              <a:t>3.</a:t>
            </a:r>
            <a:r>
              <a:rPr lang="vi-VN" sz="2000" b="1" dirty="0" smtClean="0"/>
              <a:t>Vị </a:t>
            </a:r>
            <a:r>
              <a:rPr lang="vi-VN" sz="2000" b="1" dirty="0"/>
              <a:t>trí của tách biên ảnh trong hệ thống xử lý ảnh</a:t>
            </a:r>
          </a:p>
          <a:p>
            <a:pPr marL="0" indent="0">
              <a:buNone/>
            </a:pPr>
            <a:r>
              <a:rPr lang="en-US" sz="2000" dirty="0" smtClean="0"/>
              <a:t>-</a:t>
            </a:r>
            <a:r>
              <a:rPr lang="vi-VN" sz="2000" dirty="0" smtClean="0"/>
              <a:t>Trước </a:t>
            </a:r>
            <a:r>
              <a:rPr lang="vi-VN" sz="2000" dirty="0"/>
              <a:t>tách biên: Gồm tiền xử lý như khử nhiễu, tăng cường ảnh.</a:t>
            </a:r>
          </a:p>
          <a:p>
            <a:pPr marL="0" indent="0">
              <a:buNone/>
            </a:pPr>
            <a:r>
              <a:rPr lang="en-US" sz="2000" dirty="0" smtClean="0"/>
              <a:t>-</a:t>
            </a:r>
            <a:r>
              <a:rPr lang="vi-VN" sz="2000" dirty="0" smtClean="0"/>
              <a:t>Tách </a:t>
            </a:r>
            <a:r>
              <a:rPr lang="vi-VN" sz="2000" dirty="0"/>
              <a:t>biên: Sử dụng các thuật toán để phát hiện biên.</a:t>
            </a:r>
          </a:p>
          <a:p>
            <a:pPr marL="0" indent="0">
              <a:buNone/>
            </a:pPr>
            <a:r>
              <a:rPr lang="en-US" sz="2000" dirty="0" smtClean="0"/>
              <a:t>-</a:t>
            </a:r>
            <a:r>
              <a:rPr lang="vi-VN" sz="2000" dirty="0" smtClean="0"/>
              <a:t>Sau </a:t>
            </a:r>
            <a:r>
              <a:rPr lang="vi-VN" sz="2000" dirty="0"/>
              <a:t>tách biên: Dùng để phân đoạn ảnh và nhận dạng đối tượng.</a:t>
            </a:r>
          </a:p>
        </p:txBody>
      </p:sp>
    </p:spTree>
    <p:extLst>
      <p:ext uri="{BB962C8B-B14F-4D97-AF65-F5344CB8AC3E}">
        <p14:creationId xmlns:p14="http://schemas.microsoft.com/office/powerpoint/2010/main" val="12252420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6509" y="201823"/>
            <a:ext cx="9371305" cy="1821710"/>
          </a:xfrm>
        </p:spPr>
        <p:txBody>
          <a:bodyPr>
            <a:normAutofit/>
          </a:bodyPr>
          <a:lstStyle/>
          <a:p>
            <a:r>
              <a:rPr lang="en-US" sz="5400" b="1" dirty="0" err="1" smtClean="0">
                <a:latin typeface="Helvetica Neue"/>
              </a:rPr>
              <a:t>Khái</a:t>
            </a:r>
            <a:r>
              <a:rPr lang="en-US" sz="5400" b="1" dirty="0" smtClean="0">
                <a:latin typeface="Helvetica Neue"/>
              </a:rPr>
              <a:t> </a:t>
            </a:r>
            <a:r>
              <a:rPr lang="en-US" sz="5400" b="1" dirty="0" err="1" smtClean="0">
                <a:latin typeface="Helvetica Neue"/>
              </a:rPr>
              <a:t>niệm</a:t>
            </a:r>
            <a:r>
              <a:rPr lang="en-US" sz="5400" b="1" dirty="0" smtClean="0">
                <a:latin typeface="Helvetica Neue"/>
              </a:rPr>
              <a:t> </a:t>
            </a:r>
            <a:r>
              <a:rPr lang="en-US" sz="5400" b="1" dirty="0" err="1" smtClean="0">
                <a:latin typeface="Helvetica Neue"/>
              </a:rPr>
              <a:t>biên</a:t>
            </a:r>
            <a:r>
              <a:rPr lang="en-US" sz="5400" b="1" dirty="0" smtClean="0">
                <a:latin typeface="Helvetica Neue"/>
              </a:rPr>
              <a:t> </a:t>
            </a:r>
            <a:r>
              <a:rPr lang="en-US" sz="5400" b="1" dirty="0" err="1" smtClean="0">
                <a:latin typeface="Helvetica Neue"/>
              </a:rPr>
              <a:t>ảnh</a:t>
            </a:r>
            <a:endParaRPr lang="en-US" sz="5400" b="1" dirty="0">
              <a:latin typeface="Helvetica Neue"/>
            </a:endParaRPr>
          </a:p>
        </p:txBody>
      </p:sp>
      <p:sp>
        <p:nvSpPr>
          <p:cNvPr id="3" name="Content Placeholder 2"/>
          <p:cNvSpPr>
            <a:spLocks noGrp="1"/>
          </p:cNvSpPr>
          <p:nvPr>
            <p:ph idx="1"/>
          </p:nvPr>
        </p:nvSpPr>
        <p:spPr>
          <a:xfrm>
            <a:off x="990600" y="1809750"/>
            <a:ext cx="11147214" cy="7581900"/>
          </a:xfrm>
        </p:spPr>
        <p:txBody>
          <a:bodyPr>
            <a:normAutofit fontScale="85000" lnSpcReduction="20000"/>
          </a:bodyPr>
          <a:lstStyle/>
          <a:p>
            <a:pPr marL="0" indent="0">
              <a:buNone/>
            </a:pPr>
            <a:r>
              <a:rPr lang="en-US" b="1" dirty="0" smtClean="0">
                <a:latin typeface="Helvetica Neue"/>
              </a:rPr>
              <a:t>1.</a:t>
            </a:r>
            <a:r>
              <a:rPr lang="vi-VN" b="1" dirty="0" smtClean="0">
                <a:latin typeface="Helvetica Neue"/>
              </a:rPr>
              <a:t>Khái </a:t>
            </a:r>
            <a:r>
              <a:rPr lang="vi-VN" b="1" dirty="0">
                <a:latin typeface="Helvetica Neue"/>
              </a:rPr>
              <a:t>niệm</a:t>
            </a:r>
          </a:p>
          <a:p>
            <a:pPr marL="0" indent="0">
              <a:buNone/>
            </a:pPr>
            <a:r>
              <a:rPr lang="en-US" dirty="0" smtClean="0">
                <a:latin typeface="Helvetica Neue"/>
              </a:rPr>
              <a:t>	</a:t>
            </a:r>
            <a:r>
              <a:rPr lang="vi-VN" dirty="0" smtClean="0">
                <a:latin typeface="Helvetica Neue"/>
              </a:rPr>
              <a:t>Biên </a:t>
            </a:r>
            <a:r>
              <a:rPr lang="vi-VN" dirty="0">
                <a:latin typeface="Helvetica Neue"/>
              </a:rPr>
              <a:t>ảnh là vùng có sự thay đổi lớn về:</a:t>
            </a:r>
          </a:p>
          <a:p>
            <a:pPr lvl="1"/>
            <a:r>
              <a:rPr lang="vi-VN" dirty="0">
                <a:latin typeface="Helvetica Neue"/>
              </a:rPr>
              <a:t>Cường độ sáng: Chuyển từ vùng tối sang vùng sáng.</a:t>
            </a:r>
          </a:p>
          <a:p>
            <a:pPr lvl="1"/>
            <a:r>
              <a:rPr lang="vi-VN" dirty="0">
                <a:latin typeface="Helvetica Neue"/>
              </a:rPr>
              <a:t>Màu sắc: Sự chuyển đổi rõ rệt giữa hai màu.</a:t>
            </a:r>
          </a:p>
          <a:p>
            <a:pPr lvl="1"/>
            <a:r>
              <a:rPr lang="vi-VN" dirty="0">
                <a:latin typeface="Helvetica Neue"/>
              </a:rPr>
              <a:t>Kết cấu: Ranh giới giữa các vùng có họa tiết khác nhau.</a:t>
            </a:r>
          </a:p>
          <a:p>
            <a:pPr marL="0" indent="0">
              <a:buNone/>
            </a:pPr>
            <a:r>
              <a:rPr lang="en-US" b="1" dirty="0" smtClean="0">
                <a:latin typeface="Helvetica Neue"/>
              </a:rPr>
              <a:t>2.</a:t>
            </a:r>
            <a:r>
              <a:rPr lang="vi-VN" b="1" dirty="0" smtClean="0">
                <a:latin typeface="Helvetica Neue"/>
              </a:rPr>
              <a:t>Đặc </a:t>
            </a:r>
            <a:r>
              <a:rPr lang="vi-VN" b="1" dirty="0">
                <a:latin typeface="Helvetica Neue"/>
              </a:rPr>
              <a:t>điểm của biên ảnh</a:t>
            </a:r>
          </a:p>
          <a:p>
            <a:r>
              <a:rPr lang="vi-VN" dirty="0">
                <a:latin typeface="Helvetica Neue"/>
              </a:rPr>
              <a:t>Vị trí cục bộ: Xảy ra tại điểm có gradient cường độ sáng cao.</a:t>
            </a:r>
          </a:p>
          <a:p>
            <a:r>
              <a:rPr lang="vi-VN" dirty="0">
                <a:latin typeface="Helvetica Neue"/>
              </a:rPr>
              <a:t>Kích thước: Thường rất mảnh, nhưng có thể dày hơn nếu ảnh bị nhiễu.</a:t>
            </a:r>
          </a:p>
          <a:p>
            <a:r>
              <a:rPr lang="vi-VN" dirty="0">
                <a:latin typeface="Helvetica Neue"/>
              </a:rPr>
              <a:t>Hình dạng: Có thể liên tục hoặc đứt đoạn tùy vào cấu trúc đối tượng.</a:t>
            </a:r>
          </a:p>
          <a:p>
            <a:pPr marL="0" indent="0">
              <a:buNone/>
            </a:pPr>
            <a:r>
              <a:rPr lang="en-US" b="1" dirty="0">
                <a:latin typeface="Helvetica Neue"/>
              </a:rPr>
              <a:t>3</a:t>
            </a:r>
            <a:r>
              <a:rPr lang="en-US" b="1" dirty="0" smtClean="0">
                <a:latin typeface="Helvetica Neue"/>
              </a:rPr>
              <a:t>.</a:t>
            </a:r>
            <a:r>
              <a:rPr lang="vi-VN" b="1" dirty="0" smtClean="0">
                <a:latin typeface="Helvetica Neue"/>
              </a:rPr>
              <a:t>Tách </a:t>
            </a:r>
            <a:r>
              <a:rPr lang="vi-VN" b="1" dirty="0">
                <a:latin typeface="Helvetica Neue"/>
              </a:rPr>
              <a:t>biên ảnh (Edge Detection)</a:t>
            </a:r>
          </a:p>
          <a:p>
            <a:pPr marL="0" indent="0">
              <a:buNone/>
            </a:pPr>
            <a:r>
              <a:rPr lang="en-US" dirty="0" smtClean="0">
                <a:latin typeface="Helvetica Neue"/>
              </a:rPr>
              <a:t>	</a:t>
            </a:r>
            <a:r>
              <a:rPr lang="vi-VN" dirty="0" smtClean="0">
                <a:latin typeface="Helvetica Neue"/>
              </a:rPr>
              <a:t>Phát </a:t>
            </a:r>
            <a:r>
              <a:rPr lang="vi-VN" dirty="0">
                <a:latin typeface="Helvetica Neue"/>
              </a:rPr>
              <a:t>hiện và đánh dấu biên bằng cách:</a:t>
            </a:r>
          </a:p>
          <a:p>
            <a:pPr lvl="1"/>
            <a:r>
              <a:rPr lang="vi-VN" dirty="0">
                <a:latin typeface="Helvetica Neue"/>
              </a:rPr>
              <a:t>Xác định vùng có sự thay đổi nhanh về mức xám hoặc màu sắc.</a:t>
            </a:r>
          </a:p>
          <a:p>
            <a:pPr lvl="1"/>
            <a:r>
              <a:rPr lang="vi-VN" dirty="0">
                <a:latin typeface="Helvetica Neue"/>
              </a:rPr>
              <a:t>Dùng toán tử/bộ lọc: Sobel, Prewitt, Canny, </a:t>
            </a:r>
            <a:r>
              <a:rPr lang="vi-VN" dirty="0" smtClean="0">
                <a:latin typeface="Helvetica Neue"/>
              </a:rPr>
              <a:t>Laplacian</a:t>
            </a:r>
            <a:r>
              <a:rPr lang="en-US" dirty="0" smtClean="0">
                <a:latin typeface="Helvetica Neue"/>
              </a:rPr>
              <a:t>, Canny</a:t>
            </a:r>
            <a:endParaRPr lang="vi-VN" dirty="0">
              <a:latin typeface="Helvetica Neue"/>
            </a:endParaRPr>
          </a:p>
          <a:p>
            <a:pPr marL="0" indent="0">
              <a:buNone/>
            </a:pPr>
            <a:r>
              <a:rPr lang="en-US" b="1" dirty="0" smtClean="0">
                <a:latin typeface="Helvetica Neue"/>
              </a:rPr>
              <a:t>4.</a:t>
            </a:r>
            <a:r>
              <a:rPr lang="vi-VN" b="1" dirty="0" smtClean="0">
                <a:latin typeface="Helvetica Neue"/>
              </a:rPr>
              <a:t>Lợi </a:t>
            </a:r>
            <a:r>
              <a:rPr lang="vi-VN" b="1" dirty="0">
                <a:latin typeface="Helvetica Neue"/>
              </a:rPr>
              <a:t>ích của tách biên ảnh</a:t>
            </a:r>
          </a:p>
          <a:p>
            <a:r>
              <a:rPr lang="vi-VN" dirty="0">
                <a:latin typeface="Helvetica Neue"/>
              </a:rPr>
              <a:t>Phân tích hình dạng: Xác định hình dạng và kích thước đối tượng.</a:t>
            </a:r>
          </a:p>
          <a:p>
            <a:r>
              <a:rPr lang="vi-VN" dirty="0">
                <a:latin typeface="Helvetica Neue"/>
              </a:rPr>
              <a:t>Phân đoạn chính xác hơn: Tách vùng ảnh theo biên.</a:t>
            </a:r>
          </a:p>
          <a:p>
            <a:r>
              <a:rPr lang="vi-VN" dirty="0">
                <a:latin typeface="Helvetica Neue"/>
              </a:rPr>
              <a:t>Giảm phức tạp dữ liệu: Giúp biểu diễn ảnh đơn giản hơn nhưng vẫn giữ thông tin quan trọng.</a:t>
            </a:r>
          </a:p>
        </p:txBody>
      </p:sp>
    </p:spTree>
    <p:extLst>
      <p:ext uri="{BB962C8B-B14F-4D97-AF65-F5344CB8AC3E}">
        <p14:creationId xmlns:p14="http://schemas.microsoft.com/office/powerpoint/2010/main" val="18097011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342110" y="331061"/>
            <a:ext cx="11021017" cy="1235644"/>
          </a:xfrm>
        </p:spPr>
        <p:txBody>
          <a:bodyPr>
            <a:normAutofit/>
          </a:bodyPr>
          <a:lstStyle/>
          <a:p>
            <a:r>
              <a:rPr lang="en-US" sz="4800" b="1" dirty="0" err="1" smtClean="0">
                <a:latin typeface="Constantia" panose="02030602050306030303" pitchFamily="18" charset="0"/>
              </a:rPr>
              <a:t>Các</a:t>
            </a:r>
            <a:r>
              <a:rPr lang="en-US" sz="4800" b="1" dirty="0" smtClean="0">
                <a:latin typeface="Constantia" panose="02030602050306030303" pitchFamily="18" charset="0"/>
              </a:rPr>
              <a:t> </a:t>
            </a:r>
            <a:r>
              <a:rPr lang="en-US" sz="4800" b="1" dirty="0" err="1" smtClean="0">
                <a:latin typeface="Constantia" panose="02030602050306030303" pitchFamily="18" charset="0"/>
              </a:rPr>
              <a:t>phương</a:t>
            </a:r>
            <a:r>
              <a:rPr lang="en-US" sz="4800" b="1" dirty="0" smtClean="0">
                <a:latin typeface="Constantia" panose="02030602050306030303" pitchFamily="18" charset="0"/>
              </a:rPr>
              <a:t> </a:t>
            </a:r>
            <a:r>
              <a:rPr lang="en-US" sz="4800" b="1" dirty="0" err="1" smtClean="0">
                <a:latin typeface="Constantia" panose="02030602050306030303" pitchFamily="18" charset="0"/>
              </a:rPr>
              <a:t>pháp</a:t>
            </a:r>
            <a:r>
              <a:rPr lang="en-US" sz="4800" b="1" dirty="0" smtClean="0">
                <a:latin typeface="Constantia" panose="02030602050306030303" pitchFamily="18" charset="0"/>
              </a:rPr>
              <a:t> </a:t>
            </a:r>
            <a:r>
              <a:rPr lang="en-US" sz="4800" b="1" dirty="0">
                <a:latin typeface="Constantia" panose="02030602050306030303" pitchFamily="18" charset="0"/>
              </a:rPr>
              <a:t>p</a:t>
            </a:r>
            <a:r>
              <a:rPr lang="en-US" sz="4800" b="1" dirty="0" smtClean="0">
                <a:latin typeface="Constantia" panose="02030602050306030303" pitchFamily="18" charset="0"/>
              </a:rPr>
              <a:t>hát </a:t>
            </a:r>
            <a:r>
              <a:rPr lang="en-US" sz="4800" b="1" dirty="0" err="1">
                <a:latin typeface="Constantia" panose="02030602050306030303" pitchFamily="18" charset="0"/>
              </a:rPr>
              <a:t>hiện</a:t>
            </a:r>
            <a:r>
              <a:rPr lang="en-US" sz="4800" b="1" dirty="0">
                <a:latin typeface="Constantia" panose="02030602050306030303" pitchFamily="18" charset="0"/>
              </a:rPr>
              <a:t> </a:t>
            </a:r>
            <a:r>
              <a:rPr lang="en-US" sz="4800" b="1" dirty="0" err="1">
                <a:latin typeface="Constantia" panose="02030602050306030303" pitchFamily="18" charset="0"/>
              </a:rPr>
              <a:t>biên</a:t>
            </a:r>
            <a:r>
              <a:rPr lang="en-US" sz="4800" b="1" dirty="0">
                <a:latin typeface="Constantia" panose="02030602050306030303" pitchFamily="18" charset="0"/>
              </a:rPr>
              <a:t> </a:t>
            </a:r>
            <a:r>
              <a:rPr lang="en-US" sz="4800" b="1" dirty="0" err="1">
                <a:latin typeface="Constantia" panose="02030602050306030303" pitchFamily="18" charset="0"/>
              </a:rPr>
              <a:t>ảnh</a:t>
            </a:r>
            <a:endParaRPr lang="en-US" sz="4800" b="1" dirty="0">
              <a:latin typeface="Constantia" panose="02030602050306030303" pitchFamily="18" charset="0"/>
            </a:endParaRPr>
          </a:p>
        </p:txBody>
      </p:sp>
      <p:sp>
        <p:nvSpPr>
          <p:cNvPr id="2" name="TextBox 1"/>
          <p:cNvSpPr txBox="1"/>
          <p:nvPr/>
        </p:nvSpPr>
        <p:spPr>
          <a:xfrm>
            <a:off x="1342110" y="2209800"/>
            <a:ext cx="5401590" cy="6740307"/>
          </a:xfrm>
          <a:prstGeom prst="rect">
            <a:avLst/>
          </a:prstGeom>
          <a:noFill/>
        </p:spPr>
        <p:txBody>
          <a:bodyPr wrap="square" rtlCol="0">
            <a:spAutoFit/>
          </a:bodyPr>
          <a:lstStyle/>
          <a:p>
            <a:pPr algn="l"/>
            <a:r>
              <a:rPr lang="en-US" sz="3200" b="0" dirty="0" smtClean="0"/>
              <a:t>1.Dựa </a:t>
            </a:r>
            <a:r>
              <a:rPr lang="en-US" sz="3200" b="0" dirty="0"/>
              <a:t>trên </a:t>
            </a:r>
            <a:r>
              <a:rPr lang="en-US" sz="3200" b="0" dirty="0" err="1"/>
              <a:t>đạo</a:t>
            </a:r>
            <a:r>
              <a:rPr lang="en-US" sz="3200" b="0" dirty="0"/>
              <a:t> </a:t>
            </a:r>
            <a:r>
              <a:rPr lang="en-US" sz="3200" b="0" dirty="0" err="1"/>
              <a:t>hàm</a:t>
            </a:r>
            <a:r>
              <a:rPr lang="en-US" sz="3200" b="0" dirty="0"/>
              <a:t> </a:t>
            </a:r>
            <a:r>
              <a:rPr lang="en-US" sz="3200" b="0" dirty="0" err="1"/>
              <a:t>bậc</a:t>
            </a:r>
            <a:r>
              <a:rPr lang="en-US" sz="3200" b="0" dirty="0"/>
              <a:t> </a:t>
            </a:r>
            <a:r>
              <a:rPr lang="en-US" sz="3200" b="0" dirty="0" err="1"/>
              <a:t>nhất</a:t>
            </a:r>
            <a:r>
              <a:rPr lang="en-US" sz="3200" b="0" dirty="0"/>
              <a:t> (Gradient-based</a:t>
            </a:r>
            <a:r>
              <a:rPr lang="en-US" sz="3200" b="0" dirty="0" smtClean="0"/>
              <a:t>):</a:t>
            </a:r>
          </a:p>
          <a:p>
            <a:pPr algn="l"/>
            <a:endParaRPr lang="en-US" b="0" dirty="0" smtClean="0"/>
          </a:p>
          <a:p>
            <a:pPr marL="342900" indent="-342900" algn="l">
              <a:buFontTx/>
              <a:buChar char="-"/>
            </a:pPr>
            <a:r>
              <a:rPr lang="en-US" b="0" dirty="0" err="1" smtClean="0"/>
              <a:t>Toán</a:t>
            </a:r>
            <a:r>
              <a:rPr lang="en-US" b="0" dirty="0" smtClean="0"/>
              <a:t> </a:t>
            </a:r>
            <a:r>
              <a:rPr lang="en-US" b="0" dirty="0" err="1" smtClean="0"/>
              <a:t>tử</a:t>
            </a:r>
            <a:r>
              <a:rPr lang="en-US" b="0" dirty="0" smtClean="0"/>
              <a:t> Roberts</a:t>
            </a:r>
          </a:p>
          <a:p>
            <a:pPr marL="342900" indent="-342900" algn="l">
              <a:buFontTx/>
              <a:buChar char="-"/>
            </a:pPr>
            <a:r>
              <a:rPr lang="en-US" b="0" dirty="0" err="1" smtClean="0"/>
              <a:t>Toán</a:t>
            </a:r>
            <a:r>
              <a:rPr lang="en-US" b="0" dirty="0" smtClean="0"/>
              <a:t> </a:t>
            </a:r>
            <a:r>
              <a:rPr lang="en-US" b="0" dirty="0" err="1" smtClean="0"/>
              <a:t>tử</a:t>
            </a:r>
            <a:r>
              <a:rPr lang="en-US" b="0" dirty="0" smtClean="0"/>
              <a:t> Prewitt</a:t>
            </a:r>
          </a:p>
          <a:p>
            <a:pPr marL="342900" indent="-342900" algn="l">
              <a:buFontTx/>
              <a:buChar char="-"/>
            </a:pPr>
            <a:r>
              <a:rPr lang="en-US" b="0" dirty="0" err="1" smtClean="0"/>
              <a:t>Toán</a:t>
            </a:r>
            <a:r>
              <a:rPr lang="en-US" b="0" dirty="0" smtClean="0"/>
              <a:t> </a:t>
            </a:r>
            <a:r>
              <a:rPr lang="en-US" b="0" dirty="0" err="1" smtClean="0"/>
              <a:t>tử</a:t>
            </a:r>
            <a:r>
              <a:rPr lang="en-US" b="0" dirty="0" smtClean="0"/>
              <a:t> Sobel</a:t>
            </a:r>
          </a:p>
          <a:p>
            <a:pPr algn="l"/>
            <a:endParaRPr lang="en-US" b="0" dirty="0" smtClean="0"/>
          </a:p>
          <a:p>
            <a:pPr algn="l"/>
            <a:r>
              <a:rPr lang="en-US" sz="3200" b="0" dirty="0" smtClean="0"/>
              <a:t>2. </a:t>
            </a:r>
            <a:r>
              <a:rPr lang="en-US" sz="3200" b="0" dirty="0" err="1" smtClean="0"/>
              <a:t>Dựa</a:t>
            </a:r>
            <a:r>
              <a:rPr lang="en-US" sz="3200" b="0" dirty="0" smtClean="0"/>
              <a:t> </a:t>
            </a:r>
            <a:r>
              <a:rPr lang="en-US" sz="3200" b="0" dirty="0"/>
              <a:t>trên </a:t>
            </a:r>
            <a:r>
              <a:rPr lang="en-US" sz="3200" b="0" dirty="0" err="1"/>
              <a:t>đạo</a:t>
            </a:r>
            <a:r>
              <a:rPr lang="en-US" sz="3200" b="0" dirty="0"/>
              <a:t> </a:t>
            </a:r>
            <a:r>
              <a:rPr lang="en-US" sz="3200" b="0" dirty="0" err="1"/>
              <a:t>hàm</a:t>
            </a:r>
            <a:r>
              <a:rPr lang="en-US" sz="3200" b="0" dirty="0"/>
              <a:t> </a:t>
            </a:r>
            <a:r>
              <a:rPr lang="en-US" sz="3200" b="0" dirty="0" err="1"/>
              <a:t>bậc</a:t>
            </a:r>
            <a:r>
              <a:rPr lang="en-US" sz="3200" b="0" dirty="0"/>
              <a:t> </a:t>
            </a:r>
            <a:r>
              <a:rPr lang="en-US" sz="3200" b="0" dirty="0" err="1"/>
              <a:t>hai</a:t>
            </a:r>
            <a:r>
              <a:rPr lang="en-US" sz="3200" b="0" dirty="0"/>
              <a:t> (Laplacian-based</a:t>
            </a:r>
            <a:r>
              <a:rPr lang="en-US" sz="3200" b="0" dirty="0" smtClean="0"/>
              <a:t>)</a:t>
            </a:r>
          </a:p>
          <a:p>
            <a:pPr algn="l"/>
            <a:endParaRPr lang="en-US" b="0" dirty="0" smtClean="0"/>
          </a:p>
          <a:p>
            <a:pPr marL="342900" indent="-342900" algn="l">
              <a:buFontTx/>
              <a:buChar char="-"/>
            </a:pPr>
            <a:r>
              <a:rPr lang="en-US" b="0" dirty="0" smtClean="0"/>
              <a:t>Laplacian</a:t>
            </a:r>
          </a:p>
          <a:p>
            <a:pPr marL="342900" indent="-342900" algn="l">
              <a:buFontTx/>
              <a:buChar char="-"/>
            </a:pPr>
            <a:r>
              <a:rPr lang="en-US" b="0" dirty="0"/>
              <a:t>Laplacian of Gaussian (</a:t>
            </a:r>
            <a:r>
              <a:rPr lang="en-US" b="0" dirty="0" err="1"/>
              <a:t>LoG</a:t>
            </a:r>
            <a:r>
              <a:rPr lang="en-US" b="0" dirty="0" smtClean="0"/>
              <a:t>)</a:t>
            </a:r>
          </a:p>
          <a:p>
            <a:pPr marL="342900" indent="-342900" algn="l">
              <a:buFontTx/>
              <a:buChar char="-"/>
            </a:pPr>
            <a:endParaRPr lang="en-US" b="0" dirty="0" smtClean="0"/>
          </a:p>
          <a:p>
            <a:pPr algn="l"/>
            <a:r>
              <a:rPr lang="en-US" sz="3200" b="0" dirty="0" smtClean="0"/>
              <a:t>3. </a:t>
            </a:r>
            <a:r>
              <a:rPr lang="vi-VN" sz="3200" b="0" dirty="0" smtClean="0"/>
              <a:t>Phương </a:t>
            </a:r>
            <a:r>
              <a:rPr lang="vi-VN" sz="3200" b="0" dirty="0"/>
              <a:t>pháp Canny (Tối ưu nhất</a:t>
            </a:r>
            <a:r>
              <a:rPr lang="vi-VN" sz="3200" b="0" dirty="0" smtClean="0"/>
              <a:t>)</a:t>
            </a:r>
            <a:endParaRPr lang="en-US" sz="3200" b="0" dirty="0" smtClean="0"/>
          </a:p>
          <a:p>
            <a:pPr algn="l"/>
            <a:endParaRPr lang="en-US" b="0"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3901" y="6286500"/>
            <a:ext cx="3295648" cy="2857500"/>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43900" y="1752600"/>
            <a:ext cx="3295649" cy="2857500"/>
          </a:xfrm>
          <a:prstGeom prst="rect">
            <a:avLst/>
          </a:prstGeom>
        </p:spPr>
      </p:pic>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77336" y="4795995"/>
            <a:ext cx="1628775" cy="1264365"/>
          </a:xfrm>
          <a:prstGeom prst="rect">
            <a:avLst/>
          </a:prstGeom>
        </p:spPr>
      </p:pic>
    </p:spTree>
    <p:extLst>
      <p:ext uri="{BB962C8B-B14F-4D97-AF65-F5344CB8AC3E}">
        <p14:creationId xmlns:p14="http://schemas.microsoft.com/office/powerpoint/2010/main" val="861366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latin typeface="Helvetica Neue"/>
              </a:rPr>
              <a:t>Phương</a:t>
            </a:r>
            <a:r>
              <a:rPr lang="en-US" b="1" dirty="0" smtClean="0">
                <a:latin typeface="Helvetica Neue"/>
              </a:rPr>
              <a:t> </a:t>
            </a:r>
            <a:r>
              <a:rPr lang="en-US" b="1" dirty="0" err="1" smtClean="0">
                <a:latin typeface="Helvetica Neue"/>
              </a:rPr>
              <a:t>pháp</a:t>
            </a:r>
            <a:r>
              <a:rPr lang="en-US" b="1" dirty="0" smtClean="0">
                <a:latin typeface="Helvetica Neue"/>
              </a:rPr>
              <a:t> </a:t>
            </a:r>
            <a:r>
              <a:rPr lang="en-US" b="1" dirty="0" err="1" smtClean="0">
                <a:latin typeface="Helvetica Neue"/>
              </a:rPr>
              <a:t>đạo</a:t>
            </a:r>
            <a:r>
              <a:rPr lang="en-US" b="1" dirty="0" smtClean="0">
                <a:latin typeface="Helvetica Neue"/>
              </a:rPr>
              <a:t> </a:t>
            </a:r>
            <a:r>
              <a:rPr lang="en-US" b="1" dirty="0" err="1" smtClean="0">
                <a:latin typeface="Helvetica Neue"/>
              </a:rPr>
              <a:t>hàm</a:t>
            </a:r>
            <a:r>
              <a:rPr lang="en-US" b="1" dirty="0" smtClean="0">
                <a:latin typeface="Helvetica Neue"/>
              </a:rPr>
              <a:t> </a:t>
            </a:r>
            <a:r>
              <a:rPr lang="en-US" b="1" dirty="0" err="1" smtClean="0">
                <a:latin typeface="Helvetica Neue"/>
              </a:rPr>
              <a:t>bậc</a:t>
            </a:r>
            <a:r>
              <a:rPr lang="en-US" b="1" dirty="0" smtClean="0">
                <a:latin typeface="Helvetica Neue"/>
              </a:rPr>
              <a:t> </a:t>
            </a:r>
            <a:r>
              <a:rPr lang="en-US" b="1" dirty="0" err="1" smtClean="0">
                <a:latin typeface="Helvetica Neue"/>
              </a:rPr>
              <a:t>nhất</a:t>
            </a:r>
            <a:endParaRPr lang="en-US" b="1" dirty="0">
              <a:latin typeface="Helvetica Neue"/>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7724" y="3467100"/>
            <a:ext cx="7223125" cy="5076825"/>
          </a:xfrm>
          <a:prstGeom prst="rect">
            <a:avLst/>
          </a:prstGeom>
        </p:spPr>
      </p:pic>
    </p:spTree>
    <p:extLst>
      <p:ext uri="{BB962C8B-B14F-4D97-AF65-F5344CB8AC3E}">
        <p14:creationId xmlns:p14="http://schemas.microsoft.com/office/powerpoint/2010/main" val="16217526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53250" y="1752600"/>
            <a:ext cx="5295900" cy="5632311"/>
          </a:xfrm>
          <a:prstGeom prst="rect">
            <a:avLst/>
          </a:prstGeom>
          <a:noFill/>
        </p:spPr>
        <p:txBody>
          <a:bodyPr wrap="square" rtlCol="0">
            <a:spAutoFit/>
          </a:bodyPr>
          <a:lstStyle/>
          <a:p>
            <a:pPr algn="l"/>
            <a:r>
              <a:rPr lang="en-US" sz="6000" dirty="0" err="1" smtClean="0"/>
              <a:t>Toán</a:t>
            </a:r>
            <a:r>
              <a:rPr lang="en-US" sz="6000" dirty="0" smtClean="0"/>
              <a:t> </a:t>
            </a:r>
            <a:r>
              <a:rPr lang="en-US" sz="6000" dirty="0" err="1" smtClean="0"/>
              <a:t>tử</a:t>
            </a:r>
            <a:r>
              <a:rPr lang="en-US" sz="6000" dirty="0" smtClean="0"/>
              <a:t> Sobel</a:t>
            </a:r>
          </a:p>
          <a:p>
            <a:pPr algn="l"/>
            <a:endParaRPr lang="en-US" b="0" dirty="0" smtClean="0"/>
          </a:p>
          <a:p>
            <a:pPr algn="l"/>
            <a:r>
              <a:rPr lang="vi-VN" b="0" dirty="0" smtClean="0"/>
              <a:t>Sobel </a:t>
            </a:r>
            <a:r>
              <a:rPr lang="vi-VN" b="0" dirty="0"/>
              <a:t>là một thuật toán phát hiện biên trong xử lý ảnh, dựa trên việc tính đạo hàm bậc nhất của cường độ sáng trong ảnh. </a:t>
            </a:r>
            <a:endParaRPr lang="en-US" b="0" dirty="0" smtClean="0"/>
          </a:p>
          <a:p>
            <a:pPr algn="l"/>
            <a:r>
              <a:rPr lang="vi-VN" b="0" dirty="0" smtClean="0"/>
              <a:t>Nó </a:t>
            </a:r>
            <a:r>
              <a:rPr lang="vi-VN" b="0" dirty="0"/>
              <a:t>phát hiện các biên bằng cách tìm những thay đổi nhanh chóng về cường độ sáng, thường xảy ra tại các đường biên của đối tượng trong ảnh.</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0" y="2176462"/>
            <a:ext cx="5695950" cy="6391275"/>
          </a:xfrm>
          <a:prstGeom prst="rect">
            <a:avLst/>
          </a:prstGeom>
        </p:spPr>
      </p:pic>
    </p:spTree>
    <p:extLst>
      <p:ext uri="{BB962C8B-B14F-4D97-AF65-F5344CB8AC3E}">
        <p14:creationId xmlns:p14="http://schemas.microsoft.com/office/powerpoint/2010/main" val="14427755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1008309" y="129582"/>
            <a:ext cx="11888003" cy="1249767"/>
          </a:xfrm>
        </p:spPr>
        <p:txBody>
          <a:bodyPr>
            <a:normAutofit fontScale="90000"/>
          </a:bodyPr>
          <a:lstStyle/>
          <a:p>
            <a:r>
              <a:rPr lang="en-US" sz="6600" b="1" dirty="0" smtClean="0">
                <a:latin typeface="Constantia" panose="02030602050306030303" pitchFamily="18" charset="0"/>
              </a:rPr>
              <a:t>Nguyên </a:t>
            </a:r>
            <a:r>
              <a:rPr lang="en-US" sz="6600" b="1" dirty="0" err="1" smtClean="0">
                <a:latin typeface="Constantia" panose="02030602050306030303" pitchFamily="18" charset="0"/>
              </a:rPr>
              <a:t>lý</a:t>
            </a:r>
            <a:r>
              <a:rPr lang="en-US" sz="6600" b="1" dirty="0" smtClean="0">
                <a:latin typeface="Constantia" panose="02030602050306030303" pitchFamily="18" charset="0"/>
              </a:rPr>
              <a:t> </a:t>
            </a:r>
            <a:r>
              <a:rPr lang="en-US" sz="6600" b="1" dirty="0" err="1" smtClean="0">
                <a:latin typeface="Constantia" panose="02030602050306030303" pitchFamily="18" charset="0"/>
              </a:rPr>
              <a:t>hoạt</a:t>
            </a:r>
            <a:r>
              <a:rPr lang="en-US" sz="6600" b="1" dirty="0" smtClean="0">
                <a:latin typeface="Constantia" panose="02030602050306030303" pitchFamily="18" charset="0"/>
              </a:rPr>
              <a:t> </a:t>
            </a:r>
            <a:r>
              <a:rPr lang="en-US" sz="6600" b="1" dirty="0" err="1" smtClean="0">
                <a:latin typeface="Constantia" panose="02030602050306030303" pitchFamily="18" charset="0"/>
              </a:rPr>
              <a:t>động</a:t>
            </a:r>
            <a:r>
              <a:rPr lang="en-US" sz="6600" b="1" dirty="0">
                <a:latin typeface="Constantia" panose="02030602050306030303" pitchFamily="18" charset="0"/>
              </a:rPr>
              <a:t/>
            </a:r>
            <a:br>
              <a:rPr lang="en-US" sz="6600" b="1" dirty="0">
                <a:latin typeface="Constantia" panose="02030602050306030303" pitchFamily="18" charset="0"/>
              </a:rPr>
            </a:br>
            <a:r>
              <a:rPr lang="en-US" sz="6600" b="1" dirty="0" smtClean="0">
                <a:latin typeface="Constantia" panose="02030602050306030303" pitchFamily="18" charset="0"/>
              </a:rPr>
              <a:t/>
            </a:r>
            <a:br>
              <a:rPr lang="en-US" sz="6600" b="1" dirty="0" smtClean="0">
                <a:latin typeface="Constantia" panose="02030602050306030303" pitchFamily="18" charset="0"/>
              </a:rPr>
            </a:br>
            <a:endParaRPr lang="en-US" sz="6600" b="1" dirty="0">
              <a:latin typeface="Constantia" panose="02030602050306030303" pitchFamily="18" charset="0"/>
            </a:endParaRPr>
          </a:p>
        </p:txBody>
      </p:sp>
      <p:sp>
        <p:nvSpPr>
          <p:cNvPr id="5" name="TextBox 4"/>
          <p:cNvSpPr txBox="1"/>
          <p:nvPr/>
        </p:nvSpPr>
        <p:spPr>
          <a:xfrm>
            <a:off x="1219200" y="1869355"/>
            <a:ext cx="10896600" cy="7848302"/>
          </a:xfrm>
          <a:prstGeom prst="rect">
            <a:avLst/>
          </a:prstGeom>
          <a:noFill/>
        </p:spPr>
        <p:txBody>
          <a:bodyPr wrap="square" rtlCol="0">
            <a:spAutoFit/>
          </a:bodyPr>
          <a:lstStyle/>
          <a:p>
            <a:pPr algn="l"/>
            <a:r>
              <a:rPr lang="vi-VN" b="0" dirty="0"/>
              <a:t>Sobel sử dụng </a:t>
            </a:r>
            <a:r>
              <a:rPr lang="vi-VN" dirty="0"/>
              <a:t>toán tử tích chập (convolution operator)</a:t>
            </a:r>
            <a:r>
              <a:rPr lang="vi-VN" b="0" dirty="0"/>
              <a:t> với hai ma trận nhân (kernel) để tính gần đúng đạo hàm bậc nhất theo hai hướng: </a:t>
            </a:r>
            <a:r>
              <a:rPr lang="vi-VN" dirty="0"/>
              <a:t>hướng ngang (x)</a:t>
            </a:r>
            <a:r>
              <a:rPr lang="vi-VN" b="0" dirty="0"/>
              <a:t> và </a:t>
            </a:r>
            <a:r>
              <a:rPr lang="vi-VN" dirty="0"/>
              <a:t>hướng dọc (y</a:t>
            </a:r>
            <a:r>
              <a:rPr lang="vi-VN" dirty="0" smtClean="0"/>
              <a:t>)</a:t>
            </a:r>
            <a:endParaRPr lang="en-US" dirty="0" smtClean="0"/>
          </a:p>
          <a:p>
            <a:pPr marL="457200" indent="-457200" algn="l">
              <a:buAutoNum type="arabicPeriod"/>
            </a:pPr>
            <a:r>
              <a:rPr lang="en-US" dirty="0" smtClean="0"/>
              <a:t>Kernel Sobel:</a:t>
            </a:r>
          </a:p>
          <a:p>
            <a:pPr algn="l"/>
            <a:r>
              <a:rPr lang="en-US" dirty="0" smtClean="0"/>
              <a:t>- </a:t>
            </a:r>
            <a:r>
              <a:rPr lang="en-US" dirty="0" err="1" smtClean="0"/>
              <a:t>Hướng</a:t>
            </a:r>
            <a:r>
              <a:rPr lang="en-US" dirty="0" smtClean="0"/>
              <a:t> </a:t>
            </a:r>
            <a:r>
              <a:rPr lang="en-US" dirty="0" err="1" smtClean="0"/>
              <a:t>ngang</a:t>
            </a:r>
            <a:r>
              <a:rPr lang="en-US" dirty="0" smtClean="0"/>
              <a:t>(</a:t>
            </a:r>
            <a:r>
              <a:rPr lang="en-US" dirty="0" err="1" smtClean="0"/>
              <a:t>Gx</a:t>
            </a:r>
            <a:r>
              <a:rPr lang="en-US" dirty="0" smtClean="0"/>
              <a:t>): </a:t>
            </a:r>
            <a:r>
              <a:rPr lang="en-US" dirty="0" err="1" smtClean="0"/>
              <a:t>K_x</a:t>
            </a:r>
            <a:r>
              <a:rPr lang="en-US" dirty="0" smtClean="0"/>
              <a:t> =</a:t>
            </a:r>
          </a:p>
          <a:p>
            <a:pPr algn="l"/>
            <a:r>
              <a:rPr lang="en-US" dirty="0"/>
              <a:t>	</a:t>
            </a:r>
            <a:r>
              <a:rPr lang="en-US" dirty="0" smtClean="0"/>
              <a:t>							</a:t>
            </a:r>
          </a:p>
          <a:p>
            <a:pPr algn="l"/>
            <a:endParaRPr lang="en-US" dirty="0"/>
          </a:p>
          <a:p>
            <a:pPr algn="l"/>
            <a:r>
              <a:rPr lang="en-US" dirty="0" smtClean="0"/>
              <a:t>- </a:t>
            </a:r>
            <a:r>
              <a:rPr lang="en-US" dirty="0" err="1" smtClean="0"/>
              <a:t>Hướng</a:t>
            </a:r>
            <a:r>
              <a:rPr lang="en-US" dirty="0" smtClean="0"/>
              <a:t> </a:t>
            </a:r>
            <a:r>
              <a:rPr lang="en-US" dirty="0" err="1" smtClean="0"/>
              <a:t>dọc</a:t>
            </a:r>
            <a:r>
              <a:rPr lang="en-US" dirty="0" smtClean="0"/>
              <a:t>(</a:t>
            </a:r>
            <a:r>
              <a:rPr lang="en-US" dirty="0" err="1" smtClean="0"/>
              <a:t>Gy</a:t>
            </a:r>
            <a:r>
              <a:rPr lang="en-US" dirty="0" smtClean="0"/>
              <a:t>)    : </a:t>
            </a:r>
            <a:r>
              <a:rPr lang="en-US" dirty="0" err="1" smtClean="0"/>
              <a:t>K_y</a:t>
            </a:r>
            <a:r>
              <a:rPr lang="en-US" dirty="0" smtClean="0"/>
              <a:t> =  </a:t>
            </a:r>
          </a:p>
          <a:p>
            <a:pPr marL="342900" indent="-342900" algn="l">
              <a:buFontTx/>
              <a:buChar char="-"/>
            </a:pPr>
            <a:endParaRPr lang="en-US" dirty="0"/>
          </a:p>
          <a:p>
            <a:pPr marL="342900" indent="-342900" algn="l">
              <a:buFontTx/>
              <a:buChar char="-"/>
            </a:pPr>
            <a:endParaRPr lang="en-US" dirty="0" smtClean="0"/>
          </a:p>
          <a:p>
            <a:pPr algn="l"/>
            <a:r>
              <a:rPr lang="en-US" dirty="0" smtClean="0"/>
              <a:t>2. Tính </a:t>
            </a:r>
            <a:r>
              <a:rPr lang="en-US" dirty="0" err="1" smtClean="0"/>
              <a:t>toán</a:t>
            </a:r>
            <a:r>
              <a:rPr lang="en-US" dirty="0" smtClean="0"/>
              <a:t> </a:t>
            </a:r>
            <a:r>
              <a:rPr lang="en-US" dirty="0" err="1" smtClean="0"/>
              <a:t>đạo</a:t>
            </a:r>
            <a:r>
              <a:rPr lang="en-US" dirty="0" smtClean="0"/>
              <a:t> </a:t>
            </a:r>
            <a:r>
              <a:rPr lang="en-US" dirty="0" err="1" smtClean="0"/>
              <a:t>hàm</a:t>
            </a:r>
            <a:r>
              <a:rPr lang="en-US" dirty="0" smtClean="0"/>
              <a:t> x </a:t>
            </a:r>
            <a:r>
              <a:rPr lang="en-US" dirty="0" err="1" smtClean="0"/>
              <a:t>và</a:t>
            </a:r>
            <a:r>
              <a:rPr lang="en-US" dirty="0" smtClean="0"/>
              <a:t> y:</a:t>
            </a:r>
          </a:p>
          <a:p>
            <a:pPr marL="457200" lvl="1" indent="0" algn="l" defTabSz="914400" eaLnBrk="0" fontAlgn="base">
              <a:spcBef>
                <a:spcPct val="0"/>
              </a:spcBef>
              <a:spcAft>
                <a:spcPct val="0"/>
              </a:spcAft>
            </a:pPr>
            <a:r>
              <a:rPr lang="en-US" altLang="en-US" b="0" dirty="0" smtClean="0">
                <a:solidFill>
                  <a:schemeClr val="tx1"/>
                </a:solidFill>
              </a:rPr>
              <a:t>-</a:t>
            </a:r>
            <a:r>
              <a:rPr lang="en-US" altLang="en-US" b="0" dirty="0" err="1" smtClean="0">
                <a:solidFill>
                  <a:srgbClr val="1F1F1F"/>
                </a:solidFill>
              </a:rPr>
              <a:t>Đạo</a:t>
            </a:r>
            <a:r>
              <a:rPr lang="en-US" altLang="en-US" b="0" dirty="0" smtClean="0">
                <a:solidFill>
                  <a:srgbClr val="1F1F1F"/>
                </a:solidFill>
              </a:rPr>
              <a:t> </a:t>
            </a:r>
            <a:r>
              <a:rPr lang="en-US" altLang="en-US" b="0" dirty="0" err="1">
                <a:solidFill>
                  <a:srgbClr val="1F1F1F"/>
                </a:solidFill>
              </a:rPr>
              <a:t>hàm</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ngang</a:t>
            </a:r>
            <a:r>
              <a:rPr lang="en-US" altLang="en-US" b="0" dirty="0">
                <a:solidFill>
                  <a:srgbClr val="1F1F1F"/>
                </a:solidFill>
              </a:rPr>
              <a:t>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a:t>
            </a:r>
            <a:r>
              <a:rPr lang="en-US" altLang="en-US" b="0" dirty="0" err="1">
                <a:solidFill>
                  <a:srgbClr val="1F1F1F"/>
                </a:solidFill>
              </a:rPr>
              <a:t>với</a:t>
            </a:r>
            <a:r>
              <a:rPr lang="en-US" altLang="en-US" b="0" dirty="0">
                <a:solidFill>
                  <a:srgbClr val="1F1F1F"/>
                </a:solidFill>
              </a:rPr>
              <a:t> </a:t>
            </a:r>
            <a:r>
              <a:rPr lang="en-US" altLang="en-US" b="0" dirty="0" err="1">
                <a:solidFill>
                  <a:srgbClr val="1F1F1F"/>
                </a:solidFill>
              </a:rPr>
              <a:t>Kx</a:t>
            </a:r>
            <a:r>
              <a:rPr lang="en-US" altLang="en-US" b="0" dirty="0">
                <a:solidFill>
                  <a:srgbClr val="1F1F1F"/>
                </a:solidFill>
              </a:rPr>
              <a:t>.</a:t>
            </a:r>
          </a:p>
          <a:p>
            <a:pPr marL="457200" lvl="1" indent="0" algn="l" defTabSz="914400" eaLnBrk="0" fontAlgn="base">
              <a:spcBef>
                <a:spcPct val="0"/>
              </a:spcBef>
              <a:spcAft>
                <a:spcPct val="0"/>
              </a:spcAft>
            </a:pPr>
            <a:r>
              <a:rPr lang="en-US" altLang="en-US" b="0" dirty="0" smtClean="0">
                <a:solidFill>
                  <a:srgbClr val="1F1F1F"/>
                </a:solidFill>
              </a:rPr>
              <a:t>-</a:t>
            </a:r>
            <a:r>
              <a:rPr lang="en-US" altLang="en-US" b="0" dirty="0" err="1" smtClean="0">
                <a:solidFill>
                  <a:srgbClr val="1F1F1F"/>
                </a:solidFill>
              </a:rPr>
              <a:t>Đạo</a:t>
            </a:r>
            <a:r>
              <a:rPr lang="en-US" altLang="en-US" b="0" dirty="0" smtClean="0">
                <a:solidFill>
                  <a:srgbClr val="1F1F1F"/>
                </a:solidFill>
              </a:rPr>
              <a:t> </a:t>
            </a:r>
            <a:r>
              <a:rPr lang="en-US" altLang="en-US" b="0" dirty="0" err="1">
                <a:solidFill>
                  <a:srgbClr val="1F1F1F"/>
                </a:solidFill>
              </a:rPr>
              <a:t>hàm</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dọc</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a:t>
            </a:r>
            <a:r>
              <a:rPr lang="en-US" altLang="en-US" b="0" dirty="0" err="1">
                <a:solidFill>
                  <a:srgbClr val="1F1F1F"/>
                </a:solidFill>
              </a:rPr>
              <a:t>với</a:t>
            </a:r>
            <a:r>
              <a:rPr lang="en-US" altLang="en-US" b="0" dirty="0">
                <a:solidFill>
                  <a:srgbClr val="1F1F1F"/>
                </a:solidFill>
              </a:rPr>
              <a:t> Ky.</a:t>
            </a:r>
          </a:p>
          <a:p>
            <a:pPr lvl="0" algn="l" defTabSz="914400" eaLnBrk="0" fontAlgn="base">
              <a:spcBef>
                <a:spcPct val="0"/>
              </a:spcBef>
              <a:spcAft>
                <a:spcPct val="0"/>
              </a:spcAft>
            </a:pPr>
            <a:r>
              <a:rPr lang="en-US" altLang="en-US" dirty="0" smtClean="0">
                <a:solidFill>
                  <a:srgbClr val="1F1F1F"/>
                </a:solidFill>
              </a:rPr>
              <a:t>3.Độ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G</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Sau</a:t>
            </a:r>
            <a:r>
              <a:rPr lang="en-US" altLang="en-US" b="0" dirty="0">
                <a:solidFill>
                  <a:srgbClr val="1F1F1F"/>
                </a:solidFill>
              </a:rPr>
              <a:t> </a:t>
            </a:r>
            <a:r>
              <a:rPr lang="en-US" altLang="en-US" b="0" dirty="0" err="1">
                <a:solidFill>
                  <a:srgbClr val="1F1F1F"/>
                </a:solidFill>
              </a:rPr>
              <a:t>khi</a:t>
            </a:r>
            <a:r>
              <a:rPr lang="en-US" altLang="en-US" b="0" dirty="0">
                <a:solidFill>
                  <a:srgbClr val="1F1F1F"/>
                </a:solidFill>
              </a:rPr>
              <a:t>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tính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smtClean="0">
              <a:solidFill>
                <a:srgbClr val="1F1F1F"/>
              </a:solidFill>
            </a:endParaRPr>
          </a:p>
          <a:p>
            <a:pPr lvl="0" algn="l" defTabSz="914400" eaLnBrk="0" fontAlgn="base">
              <a:spcBef>
                <a:spcPct val="0"/>
              </a:spcBef>
              <a:spcAft>
                <a:spcPct val="0"/>
              </a:spcAft>
            </a:pPr>
            <a:r>
              <a:rPr lang="en-US" altLang="en-US" b="0" dirty="0" smtClean="0">
                <a:solidFill>
                  <a:srgbClr val="1F1F1F"/>
                </a:solidFill>
              </a:rPr>
              <a:t>(</a:t>
            </a:r>
            <a:r>
              <a:rPr lang="en-US" altLang="en-US" b="0" dirty="0" err="1">
                <a:solidFill>
                  <a:srgbClr val="1F1F1F"/>
                </a:solidFill>
              </a:rPr>
              <a:t>hoặc</a:t>
            </a:r>
            <a:r>
              <a:rPr lang="en-US" altLang="en-US" b="0" dirty="0">
                <a:solidFill>
                  <a:srgbClr val="1F1F1F"/>
                </a:solidFill>
              </a:rPr>
              <a:t> </a:t>
            </a:r>
            <a:r>
              <a:rPr lang="en-US" altLang="en-US" b="0" dirty="0" err="1">
                <a:solidFill>
                  <a:srgbClr val="1F1F1F"/>
                </a:solidFill>
              </a:rPr>
              <a:t>lấy</a:t>
            </a:r>
            <a:r>
              <a:rPr lang="en-US" altLang="en-US" b="0" dirty="0">
                <a:solidFill>
                  <a:srgbClr val="1F1F1F"/>
                </a:solidFill>
              </a:rPr>
              <a:t> </a:t>
            </a:r>
            <a:r>
              <a:rPr lang="en-US" altLang="en-US" b="0" dirty="0" err="1">
                <a:solidFill>
                  <a:srgbClr val="1F1F1F"/>
                </a:solidFill>
              </a:rPr>
              <a:t>gần</a:t>
            </a:r>
            <a:r>
              <a:rPr lang="en-US" altLang="en-US" b="0" dirty="0">
                <a:solidFill>
                  <a:srgbClr val="1F1F1F"/>
                </a:solidFill>
              </a:rPr>
              <a:t> </a:t>
            </a:r>
            <a:r>
              <a:rPr lang="en-US" altLang="en-US" b="0" dirty="0" err="1">
                <a:solidFill>
                  <a:srgbClr val="1F1F1F"/>
                </a:solidFill>
              </a:rPr>
              <a:t>đúng</a:t>
            </a:r>
            <a:r>
              <a:rPr lang="en-US" altLang="en-US" b="0" dirty="0">
                <a:solidFill>
                  <a:srgbClr val="1F1F1F"/>
                </a:solidFill>
              </a:rPr>
              <a:t> G=|</a:t>
            </a:r>
            <a:r>
              <a:rPr lang="en-US" altLang="en-US" b="0" dirty="0" err="1">
                <a:solidFill>
                  <a:srgbClr val="1F1F1F"/>
                </a:solidFill>
              </a:rPr>
              <a:t>Gx</a:t>
            </a:r>
            <a:r>
              <a:rPr lang="en-US" altLang="en-US" b="0" dirty="0">
                <a:solidFill>
                  <a:srgbClr val="1F1F1F"/>
                </a:solidFill>
              </a:rPr>
              <a:t>|+|</a:t>
            </a:r>
            <a:r>
              <a:rPr lang="en-US" altLang="en-US" b="0" dirty="0" err="1">
                <a:solidFill>
                  <a:srgbClr val="1F1F1F"/>
                </a:solidFill>
              </a:rPr>
              <a:t>Gy</a:t>
            </a:r>
            <a:r>
              <a:rPr lang="en-US" altLang="en-US" b="0" dirty="0">
                <a:solidFill>
                  <a:srgbClr val="1F1F1F"/>
                </a:solidFill>
              </a:rPr>
              <a:t>| để </a:t>
            </a:r>
            <a:r>
              <a:rPr lang="en-US" altLang="en-US" b="0" dirty="0" err="1">
                <a:solidFill>
                  <a:srgbClr val="1F1F1F"/>
                </a:solidFill>
              </a:rPr>
              <a:t>giảm</a:t>
            </a:r>
            <a:r>
              <a:rPr lang="en-US" altLang="en-US" b="0" dirty="0">
                <a:solidFill>
                  <a:srgbClr val="1F1F1F"/>
                </a:solidFill>
              </a:rPr>
              <a:t> chi </a:t>
            </a:r>
            <a:r>
              <a:rPr lang="en-US" altLang="en-US" b="0" dirty="0" err="1">
                <a:solidFill>
                  <a:srgbClr val="1F1F1F"/>
                </a:solidFill>
              </a:rPr>
              <a:t>phí</a:t>
            </a:r>
            <a:r>
              <a:rPr lang="en-US" altLang="en-US" b="0" dirty="0">
                <a:solidFill>
                  <a:srgbClr val="1F1F1F"/>
                </a:solidFill>
              </a:rPr>
              <a:t> tính </a:t>
            </a:r>
            <a:r>
              <a:rPr lang="en-US" altLang="en-US" b="0" dirty="0" err="1">
                <a:solidFill>
                  <a:srgbClr val="1F1F1F"/>
                </a:solidFill>
              </a:rPr>
              <a:t>toán</a:t>
            </a:r>
            <a:r>
              <a:rPr lang="en-US" altLang="en-US" b="0" dirty="0">
                <a:solidFill>
                  <a:srgbClr val="1F1F1F"/>
                </a:solidFill>
              </a:rPr>
              <a:t>).</a:t>
            </a:r>
          </a:p>
          <a:p>
            <a:pPr lvl="0" algn="l" defTabSz="914400" eaLnBrk="0" fontAlgn="base">
              <a:spcBef>
                <a:spcPct val="0"/>
              </a:spcBef>
              <a:spcAft>
                <a:spcPct val="0"/>
              </a:spcAft>
              <a:buFontTx/>
              <a:buAutoNum type="arabicPeriod" startAt="3"/>
            </a:pPr>
            <a:r>
              <a:rPr lang="en-US" altLang="en-US" dirty="0" err="1">
                <a:solidFill>
                  <a:srgbClr val="1F1F1F"/>
                </a:solidFill>
              </a:rPr>
              <a:t>Hướng</a:t>
            </a:r>
            <a:r>
              <a:rPr lang="en-US" altLang="en-US" dirty="0">
                <a:solidFill>
                  <a:srgbClr val="1F1F1F"/>
                </a:solidFill>
              </a:rPr>
              <a:t> </a:t>
            </a:r>
            <a:r>
              <a:rPr lang="en-US" altLang="en-US" dirty="0" err="1">
                <a:solidFill>
                  <a:srgbClr val="1F1F1F"/>
                </a:solidFill>
              </a:rPr>
              <a:t>của</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θ</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a:t>
            </a:r>
            <a:r>
              <a:rPr lang="en-US" altLang="en-US" b="0" dirty="0" err="1">
                <a:solidFill>
                  <a:srgbClr val="1F1F1F"/>
                </a:solidFill>
              </a:rPr>
              <a:t>xác</a:t>
            </a:r>
            <a:r>
              <a:rPr lang="en-US" altLang="en-US" b="0" dirty="0">
                <a:solidFill>
                  <a:srgbClr val="1F1F1F"/>
                </a:solidFill>
              </a:rPr>
              <a:t> </a:t>
            </a:r>
            <a:r>
              <a:rPr lang="en-US" altLang="en-US" b="0" dirty="0" err="1">
                <a:solidFill>
                  <a:srgbClr val="1F1F1F"/>
                </a:solidFill>
              </a:rPr>
              <a:t>định</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chemeClr val="tx1"/>
                </a:solidFill>
              </a:rPr>
              <a:t/>
            </a:r>
            <a:br>
              <a:rPr lang="en-US" altLang="en-US" b="0" dirty="0">
                <a:solidFill>
                  <a:schemeClr val="tx1"/>
                </a:solidFill>
              </a:rPr>
            </a:br>
            <a:endParaRPr lang="en-US" dirty="0" smtClean="0"/>
          </a:p>
        </p:txBody>
      </p:sp>
      <p:sp>
        <p:nvSpPr>
          <p:cNvPr id="9" name="Rectangle 4"/>
          <p:cNvSpPr>
            <a:spLocks noChangeArrowheads="1"/>
          </p:cNvSpPr>
          <p:nvPr/>
        </p:nvSpPr>
        <p:spPr bwMode="auto">
          <a:xfrm>
            <a:off x="304800" y="304800"/>
            <a:ext cx="13004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E3E3E3"/>
                </a:solidFill>
                <a:effectLst/>
                <a:latin typeface="Roboto"/>
              </a:rPr>
              <a:t>Hướng ngang (</a:t>
            </a:r>
            <a:r>
              <a:rPr kumimoji="0" lang="en-US" altLang="en-US" sz="1400" b="0" i="0" u="none" strike="noStrike" cap="none" normalizeH="0" baseline="0" smtClean="0">
                <a:ln>
                  <a:noFill/>
                </a:ln>
                <a:solidFill>
                  <a:srgbClr val="E3E3E3"/>
                </a:solidFill>
                <a:effectLst/>
                <a:latin typeface="MathJax_Math-italic"/>
              </a:rPr>
              <a:t>G</a:t>
            </a:r>
            <a:r>
              <a:rPr kumimoji="0" lang="en-US" altLang="en-US" sz="900" b="0" i="0" u="none" strike="noStrike" cap="none" normalizeH="0" baseline="0" smtClean="0">
                <a:ln>
                  <a:noFill/>
                </a:ln>
                <a:solidFill>
                  <a:srgbClr val="E3E3E3"/>
                </a:solidFill>
                <a:effectLst/>
                <a:latin typeface="MathJax_Math-italic"/>
              </a:rPr>
              <a:t>x</a:t>
            </a:r>
            <a:r>
              <a:rPr kumimoji="0" lang="en-US" altLang="en-US" sz="1200" b="0" i="0" u="none" strike="noStrike" cap="none" normalizeH="0" baseline="0" smtClean="0">
                <a:ln>
                  <a:noFill/>
                </a:ln>
                <a:solidFill>
                  <a:srgbClr val="E3E3E3"/>
                </a:solidFill>
                <a:effectLst/>
                <a:latin typeface="Roboto"/>
              </a:rPr>
              <a:t>): $$ K_x =</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2"/>
          <a:stretch>
            <a:fillRect/>
          </a:stretch>
        </p:blipFill>
        <p:spPr>
          <a:xfrm>
            <a:off x="5666255" y="2993988"/>
            <a:ext cx="1593487" cy="971686"/>
          </a:xfrm>
          <a:prstGeom prst="rect">
            <a:avLst/>
          </a:prstGeom>
        </p:spPr>
      </p:pic>
      <p:pic>
        <p:nvPicPr>
          <p:cNvPr id="11" name="Picture 10"/>
          <p:cNvPicPr>
            <a:picLocks noChangeAspect="1"/>
          </p:cNvPicPr>
          <p:nvPr/>
        </p:nvPicPr>
        <p:blipFill>
          <a:blip r:embed="rId3"/>
          <a:stretch>
            <a:fillRect/>
          </a:stretch>
        </p:blipFill>
        <p:spPr>
          <a:xfrm>
            <a:off x="5666255" y="4244879"/>
            <a:ext cx="1514686" cy="828791"/>
          </a:xfrm>
          <a:prstGeom prst="rect">
            <a:avLst/>
          </a:prstGeom>
        </p:spPr>
      </p:pic>
      <p:pic>
        <p:nvPicPr>
          <p:cNvPr id="17" name="Picture 16"/>
          <p:cNvPicPr>
            <a:picLocks noChangeAspect="1"/>
          </p:cNvPicPr>
          <p:nvPr/>
        </p:nvPicPr>
        <p:blipFill>
          <a:blip r:embed="rId4"/>
          <a:stretch>
            <a:fillRect/>
          </a:stretch>
        </p:blipFill>
        <p:spPr>
          <a:xfrm>
            <a:off x="5100733" y="7227246"/>
            <a:ext cx="1362265" cy="507053"/>
          </a:xfrm>
          <a:prstGeom prst="rect">
            <a:avLst/>
          </a:prstGeom>
        </p:spPr>
      </p:pic>
      <p:pic>
        <p:nvPicPr>
          <p:cNvPr id="18" name="Picture 17"/>
          <p:cNvPicPr>
            <a:picLocks noChangeAspect="1"/>
          </p:cNvPicPr>
          <p:nvPr/>
        </p:nvPicPr>
        <p:blipFill>
          <a:blip r:embed="rId5"/>
          <a:stretch>
            <a:fillRect/>
          </a:stretch>
        </p:blipFill>
        <p:spPr>
          <a:xfrm>
            <a:off x="5877115" y="8687716"/>
            <a:ext cx="1590897" cy="635849"/>
          </a:xfrm>
          <a:prstGeom prst="rect">
            <a:avLst/>
          </a:prstGeom>
        </p:spPr>
      </p:pic>
    </p:spTree>
    <p:extLst>
      <p:ext uri="{BB962C8B-B14F-4D97-AF65-F5344CB8AC3E}">
        <p14:creationId xmlns:p14="http://schemas.microsoft.com/office/powerpoint/2010/main" val="22882871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08309" y="129582"/>
            <a:ext cx="11888003" cy="1249767"/>
          </a:xfrm>
        </p:spPr>
        <p:txBody>
          <a:bodyPr>
            <a:normAutofit/>
          </a:bodyPr>
          <a:lstStyle/>
          <a:p>
            <a:r>
              <a:rPr lang="en-US" sz="6600" b="1" dirty="0" err="1" smtClean="0">
                <a:latin typeface="Constantia" panose="02030602050306030303" pitchFamily="18" charset="0"/>
              </a:rPr>
              <a:t>Các</a:t>
            </a:r>
            <a:r>
              <a:rPr lang="en-US" sz="6600" b="1" dirty="0" smtClean="0">
                <a:latin typeface="Constantia" panose="02030602050306030303" pitchFamily="18" charset="0"/>
              </a:rPr>
              <a:t> </a:t>
            </a:r>
            <a:r>
              <a:rPr lang="en-US" sz="6600" b="1" dirty="0" err="1" smtClean="0">
                <a:latin typeface="Constantia" panose="02030602050306030303" pitchFamily="18" charset="0"/>
              </a:rPr>
              <a:t>bước</a:t>
            </a:r>
            <a:r>
              <a:rPr lang="en-US" sz="6600" b="1" dirty="0" smtClean="0">
                <a:latin typeface="Constantia" panose="02030602050306030303" pitchFamily="18" charset="0"/>
              </a:rPr>
              <a:t> </a:t>
            </a:r>
            <a:r>
              <a:rPr lang="en-US" sz="6600" b="1" dirty="0" err="1" smtClean="0">
                <a:latin typeface="Constantia" panose="02030602050306030303" pitchFamily="18" charset="0"/>
              </a:rPr>
              <a:t>thực</a:t>
            </a:r>
            <a:r>
              <a:rPr lang="en-US" sz="6600" b="1" dirty="0" smtClean="0">
                <a:latin typeface="Constantia" panose="02030602050306030303" pitchFamily="18" charset="0"/>
              </a:rPr>
              <a:t> </a:t>
            </a:r>
            <a:r>
              <a:rPr lang="en-US" sz="6600" b="1" dirty="0" err="1" smtClean="0">
                <a:latin typeface="Constantia" panose="02030602050306030303" pitchFamily="18" charset="0"/>
              </a:rPr>
              <a:t>hiện</a:t>
            </a:r>
            <a:endParaRPr lang="en-US" sz="6600" b="1" dirty="0">
              <a:latin typeface="Constantia" panose="02030602050306030303" pitchFamily="18" charset="0"/>
            </a:endParaRPr>
          </a:p>
        </p:txBody>
      </p:sp>
      <p:sp>
        <p:nvSpPr>
          <p:cNvPr id="2" name="TextBox 1"/>
          <p:cNvSpPr txBox="1"/>
          <p:nvPr/>
        </p:nvSpPr>
        <p:spPr>
          <a:xfrm>
            <a:off x="1008309" y="2819400"/>
            <a:ext cx="10953750" cy="4893647"/>
          </a:xfrm>
          <a:prstGeom prst="rect">
            <a:avLst/>
          </a:prstGeom>
          <a:noFill/>
        </p:spPr>
        <p:txBody>
          <a:bodyPr wrap="square" rtlCol="0">
            <a:spAutoFit/>
          </a:bodyPr>
          <a:lstStyle/>
          <a:p>
            <a:pPr lvl="0" algn="l" defTabSz="914400" eaLnBrk="0" fontAlgn="base">
              <a:spcBef>
                <a:spcPct val="0"/>
              </a:spcBef>
              <a:spcAft>
                <a:spcPct val="0"/>
              </a:spcAft>
              <a:buFontTx/>
              <a:buAutoNum type="arabicPeriod"/>
            </a:pPr>
            <a:r>
              <a:rPr lang="en-US" altLang="en-US" dirty="0">
                <a:solidFill>
                  <a:srgbClr val="1F1F1F"/>
                </a:solidFill>
              </a:rPr>
              <a:t>Tiền </a:t>
            </a:r>
            <a:r>
              <a:rPr lang="en-US" altLang="en-US" dirty="0" err="1">
                <a:solidFill>
                  <a:srgbClr val="1F1F1F"/>
                </a:solidFill>
              </a:rPr>
              <a:t>xử</a:t>
            </a:r>
            <a:r>
              <a:rPr lang="en-US" altLang="en-US" dirty="0">
                <a:solidFill>
                  <a:srgbClr val="1F1F1F"/>
                </a:solidFill>
              </a:rPr>
              <a:t> </a:t>
            </a:r>
            <a:r>
              <a:rPr lang="en-US" altLang="en-US" dirty="0" err="1">
                <a:solidFill>
                  <a:srgbClr val="1F1F1F"/>
                </a:solidFill>
              </a:rPr>
              <a:t>lý</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Chuyển</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sang </a:t>
            </a:r>
            <a:r>
              <a:rPr lang="en-US" altLang="en-US" b="0" dirty="0" err="1">
                <a:solidFill>
                  <a:srgbClr val="1F1F1F"/>
                </a:solidFill>
              </a:rPr>
              <a:t>ảnh</a:t>
            </a:r>
            <a:r>
              <a:rPr lang="en-US" altLang="en-US" b="0" dirty="0">
                <a:solidFill>
                  <a:srgbClr val="1F1F1F"/>
                </a:solidFill>
              </a:rPr>
              <a:t> grayscale (</a:t>
            </a:r>
            <a:r>
              <a:rPr lang="en-US" altLang="en-US" b="0" dirty="0" err="1">
                <a:solidFill>
                  <a:srgbClr val="1F1F1F"/>
                </a:solidFill>
              </a:rPr>
              <a:t>nếu</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là RGB).</a:t>
            </a:r>
          </a:p>
          <a:p>
            <a:pPr marL="457200" lvl="1" indent="0" algn="l" defTabSz="914400" eaLnBrk="0" fontAlgn="base">
              <a:spcBef>
                <a:spcPct val="0"/>
              </a:spcBef>
              <a:spcAft>
                <a:spcPct val="0"/>
              </a:spcAft>
              <a:buFontTx/>
              <a:buChar char="•"/>
            </a:pP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bộ</a:t>
            </a:r>
            <a:r>
              <a:rPr lang="en-US" altLang="en-US" b="0" dirty="0">
                <a:solidFill>
                  <a:srgbClr val="1F1F1F"/>
                </a:solidFill>
              </a:rPr>
              <a:t> </a:t>
            </a:r>
            <a:r>
              <a:rPr lang="en-US" altLang="en-US" b="0" dirty="0" err="1">
                <a:solidFill>
                  <a:srgbClr val="1F1F1F"/>
                </a:solidFill>
              </a:rPr>
              <a:t>lọc</a:t>
            </a:r>
            <a:r>
              <a:rPr lang="en-US" altLang="en-US" b="0" dirty="0">
                <a:solidFill>
                  <a:srgbClr val="1F1F1F"/>
                </a:solidFill>
              </a:rPr>
              <a:t> Gaussian để </a:t>
            </a:r>
            <a:r>
              <a:rPr lang="en-US" altLang="en-US" b="0" dirty="0" err="1">
                <a:solidFill>
                  <a:srgbClr val="1F1F1F"/>
                </a:solidFill>
              </a:rPr>
              <a:t>giảm</a:t>
            </a:r>
            <a:r>
              <a:rPr lang="en-US" altLang="en-US" b="0" dirty="0">
                <a:solidFill>
                  <a:srgbClr val="1F1F1F"/>
                </a:solidFill>
              </a:rPr>
              <a:t> </a:t>
            </a:r>
            <a:r>
              <a:rPr lang="en-US" altLang="en-US" b="0" dirty="0" err="1">
                <a:solidFill>
                  <a:srgbClr val="1F1F1F"/>
                </a:solidFill>
              </a:rPr>
              <a:t>nhiễu</a:t>
            </a:r>
            <a:r>
              <a:rPr lang="en-US" altLang="en-US" b="0" dirty="0">
                <a:solidFill>
                  <a:srgbClr val="1F1F1F"/>
                </a:solidFill>
              </a:rPr>
              <a:t> (</a:t>
            </a:r>
            <a:r>
              <a:rPr lang="en-US" altLang="en-US" b="0" dirty="0" err="1">
                <a:solidFill>
                  <a:srgbClr val="1F1F1F"/>
                </a:solidFill>
              </a:rPr>
              <a:t>không</a:t>
            </a:r>
            <a:r>
              <a:rPr lang="en-US" altLang="en-US" b="0" dirty="0">
                <a:solidFill>
                  <a:srgbClr val="1F1F1F"/>
                </a:solidFill>
              </a:rPr>
              <a:t> </a:t>
            </a:r>
            <a:r>
              <a:rPr lang="en-US" altLang="en-US" b="0" dirty="0" err="1">
                <a:solidFill>
                  <a:srgbClr val="1F1F1F"/>
                </a:solidFill>
              </a:rPr>
              <a:t>bắt</a:t>
            </a:r>
            <a:r>
              <a:rPr lang="en-US" altLang="en-US" b="0" dirty="0">
                <a:solidFill>
                  <a:srgbClr val="1F1F1F"/>
                </a:solidFill>
              </a:rPr>
              <a:t> </a:t>
            </a:r>
            <a:r>
              <a:rPr lang="en-US" altLang="en-US" b="0" dirty="0" err="1">
                <a:solidFill>
                  <a:srgbClr val="1F1F1F"/>
                </a:solidFill>
              </a:rPr>
              <a:t>buộc</a:t>
            </a:r>
            <a:r>
              <a:rPr lang="en-US" altLang="en-US" b="0" dirty="0">
                <a:solidFill>
                  <a:srgbClr val="1F1F1F"/>
                </a:solidFill>
              </a:rPr>
              <a:t> </a:t>
            </a:r>
            <a:r>
              <a:rPr lang="en-US" altLang="en-US" b="0" dirty="0" err="1">
                <a:solidFill>
                  <a:srgbClr val="1F1F1F"/>
                </a:solidFill>
              </a:rPr>
              <a:t>nhưng</a:t>
            </a:r>
            <a:r>
              <a:rPr lang="en-US" altLang="en-US" b="0" dirty="0">
                <a:solidFill>
                  <a:srgbClr val="1F1F1F"/>
                </a:solidFill>
              </a:rPr>
              <a:t> </a:t>
            </a:r>
            <a:r>
              <a:rPr lang="en-US" altLang="en-US" b="0" dirty="0" err="1">
                <a:solidFill>
                  <a:srgbClr val="1F1F1F"/>
                </a:solidFill>
              </a:rPr>
              <a:t>khuyến</a:t>
            </a:r>
            <a:r>
              <a:rPr lang="en-US" altLang="en-US" b="0" dirty="0">
                <a:solidFill>
                  <a:srgbClr val="1F1F1F"/>
                </a:solidFill>
              </a:rPr>
              <a:t> </a:t>
            </a:r>
            <a:r>
              <a:rPr lang="en-US" altLang="en-US" b="0" dirty="0" err="1">
                <a:solidFill>
                  <a:srgbClr val="1F1F1F"/>
                </a:solidFill>
              </a:rPr>
              <a:t>khích</a:t>
            </a:r>
            <a:r>
              <a:rPr lang="en-US" altLang="en-US" b="0" dirty="0">
                <a:solidFill>
                  <a:srgbClr val="1F1F1F"/>
                </a:solidFill>
              </a:rPr>
              <a:t>).</a:t>
            </a:r>
          </a:p>
          <a:p>
            <a:pPr lvl="0" algn="l" defTabSz="914400" eaLnBrk="0" fontAlgn="base">
              <a:spcBef>
                <a:spcPct val="0"/>
              </a:spcBef>
              <a:spcAft>
                <a:spcPct val="0"/>
              </a:spcAft>
            </a:pPr>
            <a:endParaRPr lang="en-US" altLang="en-US" b="0" dirty="0">
              <a:solidFill>
                <a:schemeClr val="tx1"/>
              </a:solidFill>
            </a:endParaRPr>
          </a:p>
          <a:p>
            <a:pPr lvl="0" algn="l" defTabSz="914400" eaLnBrk="0" fontAlgn="base">
              <a:spcBef>
                <a:spcPct val="0"/>
              </a:spcBef>
              <a:spcAft>
                <a:spcPct val="0"/>
              </a:spcAft>
              <a:buFontTx/>
              <a:buAutoNum type="arabicPeriod" startAt="2"/>
            </a:pPr>
            <a:r>
              <a:rPr lang="en-US" altLang="en-US" dirty="0" err="1">
                <a:solidFill>
                  <a:srgbClr val="1F1F1F"/>
                </a:solidFill>
              </a:rPr>
              <a:t>Tích</a:t>
            </a:r>
            <a:r>
              <a:rPr lang="en-US" altLang="en-US" dirty="0">
                <a:solidFill>
                  <a:srgbClr val="1F1F1F"/>
                </a:solidFill>
              </a:rPr>
              <a:t> </a:t>
            </a:r>
            <a:r>
              <a:rPr lang="en-US" altLang="en-US" dirty="0" err="1">
                <a:solidFill>
                  <a:srgbClr val="1F1F1F"/>
                </a:solidFill>
              </a:rPr>
              <a:t>chập</a:t>
            </a:r>
            <a:r>
              <a:rPr lang="en-US" altLang="en-US" dirty="0">
                <a:solidFill>
                  <a:srgbClr val="1F1F1F"/>
                </a:solidFill>
              </a:rPr>
              <a:t> </a:t>
            </a:r>
            <a:r>
              <a:rPr lang="en-US" altLang="en-US" dirty="0" err="1">
                <a:solidFill>
                  <a:srgbClr val="1F1F1F"/>
                </a:solidFill>
              </a:rPr>
              <a:t>với</a:t>
            </a:r>
            <a:r>
              <a:rPr lang="en-US" altLang="en-US" dirty="0">
                <a:solidFill>
                  <a:srgbClr val="1F1F1F"/>
                </a:solidFill>
              </a:rPr>
              <a:t> kernel Sobel:</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Kx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Ky</a:t>
            </a:r>
            <a:r>
              <a:rPr lang="en-US" altLang="en-US" b="0" dirty="0">
                <a:solidFill>
                  <a:srgbClr val="1F1F1F"/>
                </a:solidFill>
              </a:rPr>
              <a:t> lên </a:t>
            </a:r>
            <a:r>
              <a:rPr lang="en-US" altLang="en-US" b="0" dirty="0" err="1">
                <a:solidFill>
                  <a:srgbClr val="1F1F1F"/>
                </a:solidFill>
              </a:rPr>
              <a:t>ảnh</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để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smtClean="0">
                <a:solidFill>
                  <a:srgbClr val="1F1F1F"/>
                </a:solidFill>
              </a:rPr>
              <a: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3"/>
            </a:pPr>
            <a:r>
              <a:rPr lang="en-US" altLang="en-US" dirty="0">
                <a:solidFill>
                  <a:srgbClr val="1F1F1F"/>
                </a:solidFill>
              </a:rPr>
              <a:t>Tính </a:t>
            </a:r>
            <a:r>
              <a:rPr lang="en-US" altLang="en-US" dirty="0" err="1">
                <a:solidFill>
                  <a:srgbClr val="1F1F1F"/>
                </a:solidFill>
              </a:rPr>
              <a:t>độ</a:t>
            </a:r>
            <a:r>
              <a:rPr lang="en-US" altLang="en-US" dirty="0">
                <a:solidFill>
                  <a:srgbClr val="1F1F1F"/>
                </a:solidFill>
              </a:rPr>
              <a:t>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Kết</a:t>
            </a:r>
            <a:r>
              <a:rPr lang="en-US" altLang="en-US" b="0" dirty="0">
                <a:solidFill>
                  <a:srgbClr val="1F1F1F"/>
                </a:solidFill>
              </a:rPr>
              <a:t> </a:t>
            </a:r>
            <a:r>
              <a:rPr lang="en-US" altLang="en-US" b="0" dirty="0" err="1">
                <a:solidFill>
                  <a:srgbClr val="1F1F1F"/>
                </a:solidFill>
              </a:rPr>
              <a:t>hợp</a:t>
            </a:r>
            <a:r>
              <a:rPr lang="en-US" altLang="en-US" b="0" dirty="0">
                <a:solidFill>
                  <a:srgbClr val="1F1F1F"/>
                </a:solidFill>
              </a:rPr>
              <a:t>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để </a:t>
            </a:r>
            <a:r>
              <a:rPr lang="en-US" altLang="en-US" b="0" dirty="0" err="1">
                <a:solidFill>
                  <a:srgbClr val="1F1F1F"/>
                </a:solidFill>
              </a:rPr>
              <a:t>xác</a:t>
            </a:r>
            <a:r>
              <a:rPr lang="en-US" altLang="en-US" b="0" dirty="0">
                <a:solidFill>
                  <a:srgbClr val="1F1F1F"/>
                </a:solidFill>
              </a:rPr>
              <a:t> </a:t>
            </a:r>
            <a:r>
              <a:rPr lang="en-US" altLang="en-US" b="0" dirty="0" err="1">
                <a:solidFill>
                  <a:srgbClr val="1F1F1F"/>
                </a:solidFill>
              </a:rPr>
              <a:t>định</a:t>
            </a:r>
            <a:r>
              <a:rPr lang="en-US" altLang="en-US" b="0" dirty="0">
                <a:solidFill>
                  <a:srgbClr val="1F1F1F"/>
                </a:solidFill>
              </a:rPr>
              <a:t> </a:t>
            </a:r>
            <a:r>
              <a:rPr lang="en-US" altLang="en-US" b="0" dirty="0" err="1">
                <a:solidFill>
                  <a:srgbClr val="1F1F1F"/>
                </a:solidFill>
              </a:rPr>
              <a:t>biên</a:t>
            </a:r>
            <a:r>
              <a:rPr lang="en-US" altLang="en-US" b="0" dirty="0" smtClean="0">
                <a:solidFill>
                  <a:srgbClr val="1F1F1F"/>
                </a:solidFill>
              </a:rPr>
              <a: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4"/>
            </a:pPr>
            <a:r>
              <a:rPr lang="en-US" altLang="en-US" dirty="0" err="1">
                <a:solidFill>
                  <a:srgbClr val="1F1F1F"/>
                </a:solidFill>
              </a:rPr>
              <a:t>Ngưỡng</a:t>
            </a:r>
            <a:r>
              <a:rPr lang="en-US" altLang="en-US" dirty="0">
                <a:solidFill>
                  <a:srgbClr val="1F1F1F"/>
                </a:solidFill>
              </a:rPr>
              <a:t> </a:t>
            </a:r>
            <a:r>
              <a:rPr lang="en-US" altLang="en-US" dirty="0" err="1">
                <a:solidFill>
                  <a:srgbClr val="1F1F1F"/>
                </a:solidFill>
              </a:rPr>
              <a:t>hóa</a:t>
            </a:r>
            <a:r>
              <a:rPr lang="en-US" altLang="en-US" dirty="0">
                <a:solidFill>
                  <a:srgbClr val="1F1F1F"/>
                </a:solidFill>
              </a:rPr>
              <a:t> (</a:t>
            </a:r>
            <a:r>
              <a:rPr lang="en-US" altLang="en-US" dirty="0" err="1">
                <a:solidFill>
                  <a:srgbClr val="1F1F1F"/>
                </a:solidFill>
              </a:rPr>
              <a:t>Thresholding</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Loại</a:t>
            </a:r>
            <a:r>
              <a:rPr lang="en-US" altLang="en-US" b="0" dirty="0">
                <a:solidFill>
                  <a:srgbClr val="1F1F1F"/>
                </a:solidFill>
              </a:rPr>
              <a:t> bỏ </a:t>
            </a:r>
            <a:r>
              <a:rPr lang="en-US" altLang="en-US" b="0" dirty="0" err="1">
                <a:solidFill>
                  <a:srgbClr val="1F1F1F"/>
                </a:solidFill>
              </a:rPr>
              <a:t>các</a:t>
            </a:r>
            <a:r>
              <a:rPr lang="en-US" altLang="en-US" b="0" dirty="0">
                <a:solidFill>
                  <a:srgbClr val="1F1F1F"/>
                </a:solidFill>
              </a:rPr>
              <a:t> </a:t>
            </a:r>
            <a:r>
              <a:rPr lang="en-US" altLang="en-US" b="0" dirty="0" err="1">
                <a:solidFill>
                  <a:srgbClr val="1F1F1F"/>
                </a:solidFill>
              </a:rPr>
              <a:t>giá</a:t>
            </a:r>
            <a:r>
              <a:rPr lang="en-US" altLang="en-US" b="0" dirty="0">
                <a:solidFill>
                  <a:srgbClr val="1F1F1F"/>
                </a:solidFill>
              </a:rPr>
              <a:t> </a:t>
            </a:r>
            <a:r>
              <a:rPr lang="en-US" altLang="en-US" b="0" dirty="0" err="1">
                <a:solidFill>
                  <a:srgbClr val="1F1F1F"/>
                </a:solidFill>
              </a:rPr>
              <a:t>trị</a:t>
            </a:r>
            <a:r>
              <a:rPr lang="en-US" altLang="en-US" b="0" dirty="0">
                <a:solidFill>
                  <a:srgbClr val="1F1F1F"/>
                </a:solidFill>
              </a:rPr>
              <a:t> </a:t>
            </a:r>
            <a:r>
              <a:rPr lang="en-US" altLang="en-US" b="0" dirty="0" err="1">
                <a:solidFill>
                  <a:srgbClr val="1F1F1F"/>
                </a:solidFill>
              </a:rPr>
              <a:t>nhỏ</a:t>
            </a:r>
            <a:r>
              <a:rPr lang="en-US" altLang="en-US" b="0" dirty="0">
                <a:solidFill>
                  <a:srgbClr val="1F1F1F"/>
                </a:solidFill>
              </a:rPr>
              <a:t> (</a:t>
            </a:r>
            <a:r>
              <a:rPr lang="en-US" altLang="en-US" b="0" dirty="0" err="1">
                <a:solidFill>
                  <a:srgbClr val="1F1F1F"/>
                </a:solidFill>
              </a:rPr>
              <a:t>không</a:t>
            </a:r>
            <a:r>
              <a:rPr lang="en-US" altLang="en-US" b="0" dirty="0">
                <a:solidFill>
                  <a:srgbClr val="1F1F1F"/>
                </a:solidFill>
              </a:rPr>
              <a:t> phải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 </a:t>
            </a:r>
            <a:r>
              <a:rPr lang="en-US" altLang="en-US" b="0" dirty="0" err="1">
                <a:solidFill>
                  <a:srgbClr val="1F1F1F"/>
                </a:solidFill>
              </a:rPr>
              <a:t>cách</a:t>
            </a:r>
            <a:r>
              <a:rPr lang="en-US" altLang="en-US" b="0" dirty="0">
                <a:solidFill>
                  <a:srgbClr val="1F1F1F"/>
                </a:solidFill>
              </a:rPr>
              <a:t> </a:t>
            </a: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ngưỡng</a:t>
            </a:r>
            <a:r>
              <a:rPr lang="en-US" altLang="en-US" b="0" dirty="0">
                <a:solidFill>
                  <a:srgbClr val="1F1F1F"/>
                </a:solidFill>
              </a:rPr>
              <a:t>.</a:t>
            </a:r>
          </a:p>
        </p:txBody>
      </p:sp>
    </p:spTree>
    <p:extLst>
      <p:ext uri="{BB962C8B-B14F-4D97-AF65-F5344CB8AC3E}">
        <p14:creationId xmlns:p14="http://schemas.microsoft.com/office/powerpoint/2010/main" val="5143075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76450" y="190500"/>
            <a:ext cx="8172450" cy="9971961"/>
          </a:xfrm>
          <a:prstGeom prst="rect">
            <a:avLst/>
          </a:prstGeom>
        </p:spPr>
        <p:txBody>
          <a:bodyPr wrap="square">
            <a:spAutoFit/>
          </a:bodyPr>
          <a:lstStyle/>
          <a:p>
            <a:pPr algn="l"/>
            <a:r>
              <a:rPr lang="vi-VN" sz="5400" dirty="0">
                <a:solidFill>
                  <a:srgbClr val="1F1F1F"/>
                </a:solidFill>
              </a:rPr>
              <a:t>Ưu </a:t>
            </a:r>
            <a:r>
              <a:rPr lang="vi-VN" sz="5400" dirty="0" smtClean="0">
                <a:solidFill>
                  <a:srgbClr val="1F1F1F"/>
                </a:solidFill>
              </a:rPr>
              <a:t>điểm</a:t>
            </a:r>
            <a:endParaRPr lang="en-US" b="0" dirty="0">
              <a:solidFill>
                <a:srgbClr val="1F1F1F"/>
              </a:solidFill>
            </a:endParaRPr>
          </a:p>
          <a:p>
            <a:pPr algn="l"/>
            <a:r>
              <a:rPr lang="en-US" b="0" dirty="0" smtClean="0">
                <a:solidFill>
                  <a:srgbClr val="1F1F1F"/>
                </a:solidFill>
              </a:rPr>
              <a:t>-</a:t>
            </a:r>
            <a:r>
              <a:rPr lang="vi-VN" b="0" dirty="0" smtClean="0">
                <a:solidFill>
                  <a:srgbClr val="1F1F1F"/>
                </a:solidFill>
              </a:rPr>
              <a:t>Đơn </a:t>
            </a:r>
            <a:r>
              <a:rPr lang="vi-VN" b="0" dirty="0">
                <a:solidFill>
                  <a:srgbClr val="1F1F1F"/>
                </a:solidFill>
              </a:rPr>
              <a:t>giản, dễ thực hiện và hiệu quả</a:t>
            </a:r>
            <a:r>
              <a:rPr lang="vi-VN" b="0" dirty="0" smtClean="0">
                <a:solidFill>
                  <a:srgbClr val="1F1F1F"/>
                </a:solidFill>
              </a:rPr>
              <a:t>.</a:t>
            </a:r>
            <a:endParaRPr lang="en-US" b="0" dirty="0" smtClean="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smtClean="0">
                <a:solidFill>
                  <a:srgbClr val="1F1F1F"/>
                </a:solidFill>
              </a:rPr>
              <a:t>-</a:t>
            </a:r>
            <a:r>
              <a:rPr lang="vi-VN" b="0" dirty="0" smtClean="0">
                <a:solidFill>
                  <a:srgbClr val="1F1F1F"/>
                </a:solidFill>
              </a:rPr>
              <a:t>Có </a:t>
            </a:r>
            <a:r>
              <a:rPr lang="vi-VN" b="0" dirty="0">
                <a:solidFill>
                  <a:srgbClr val="1F1F1F"/>
                </a:solidFill>
              </a:rPr>
              <a:t>khả năng làm mịn ảnh (nhờ các trọng số trong kernel</a:t>
            </a:r>
            <a:r>
              <a:rPr lang="vi-VN" b="0" dirty="0" smtClean="0">
                <a:solidFill>
                  <a:srgbClr val="1F1F1F"/>
                </a:solidFill>
              </a:rPr>
              <a:t>).</a:t>
            </a:r>
            <a:endParaRPr lang="en-US" b="0" dirty="0" smtClean="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smtClean="0">
                <a:solidFill>
                  <a:srgbClr val="1F1F1F"/>
                </a:solidFill>
              </a:rPr>
              <a:t>-</a:t>
            </a:r>
            <a:r>
              <a:rPr lang="vi-VN" b="0" dirty="0" smtClean="0">
                <a:solidFill>
                  <a:srgbClr val="1F1F1F"/>
                </a:solidFill>
              </a:rPr>
              <a:t>Phát </a:t>
            </a:r>
            <a:r>
              <a:rPr lang="vi-VN" b="0" dirty="0">
                <a:solidFill>
                  <a:srgbClr val="1F1F1F"/>
                </a:solidFill>
              </a:rPr>
              <a:t>hiện biên ở cả hai hướng ngang và dọc</a:t>
            </a:r>
            <a:r>
              <a:rPr lang="vi-VN" b="0" dirty="0" smtClean="0">
                <a:solidFill>
                  <a:srgbClr val="1F1F1F"/>
                </a:solidFill>
              </a:rPr>
              <a:t>.</a:t>
            </a:r>
            <a:endParaRPr lang="vi-VN" b="0" dirty="0">
              <a:solidFill>
                <a:srgbClr val="1F1F1F"/>
              </a:solidFill>
            </a:endParaRPr>
          </a:p>
          <a:p>
            <a:pPr algn="l"/>
            <a:r>
              <a:rPr lang="vi-VN" sz="5400" dirty="0">
                <a:solidFill>
                  <a:srgbClr val="1F1F1F"/>
                </a:solidFill>
              </a:rPr>
              <a:t>Nhược </a:t>
            </a:r>
            <a:r>
              <a:rPr lang="vi-VN" sz="5400" dirty="0" smtClean="0">
                <a:solidFill>
                  <a:srgbClr val="1F1F1F"/>
                </a:solidFill>
              </a:rPr>
              <a:t>điểm</a:t>
            </a:r>
            <a:endParaRPr lang="en-US" b="0" dirty="0">
              <a:solidFill>
                <a:srgbClr val="1F1F1F"/>
              </a:solidFill>
            </a:endParaRPr>
          </a:p>
          <a:p>
            <a:pPr algn="l"/>
            <a:r>
              <a:rPr lang="en-US" b="0" dirty="0" smtClean="0">
                <a:solidFill>
                  <a:srgbClr val="1F1F1F"/>
                </a:solidFill>
              </a:rPr>
              <a:t>-</a:t>
            </a:r>
            <a:r>
              <a:rPr lang="vi-VN" b="0" dirty="0" smtClean="0">
                <a:solidFill>
                  <a:srgbClr val="1F1F1F"/>
                </a:solidFill>
              </a:rPr>
              <a:t>Không </a:t>
            </a:r>
            <a:r>
              <a:rPr lang="vi-VN" b="0" dirty="0">
                <a:solidFill>
                  <a:srgbClr val="1F1F1F"/>
                </a:solidFill>
              </a:rPr>
              <a:t>phát hiện tốt biên trong ảnh nhiễu (cần kết hợp với lọc trước</a:t>
            </a:r>
            <a:r>
              <a:rPr lang="vi-VN" b="0" dirty="0" smtClean="0">
                <a:solidFill>
                  <a:srgbClr val="1F1F1F"/>
                </a:solidFill>
              </a:rPr>
              <a:t>).</a:t>
            </a:r>
            <a:endParaRPr lang="en-US" b="0" dirty="0" smtClean="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smtClean="0">
                <a:solidFill>
                  <a:srgbClr val="1F1F1F"/>
                </a:solidFill>
              </a:rPr>
              <a:t>-</a:t>
            </a:r>
            <a:r>
              <a:rPr lang="vi-VN" b="0" dirty="0" smtClean="0">
                <a:solidFill>
                  <a:srgbClr val="1F1F1F"/>
                </a:solidFill>
              </a:rPr>
              <a:t>Khả </a:t>
            </a:r>
            <a:r>
              <a:rPr lang="vi-VN" b="0" dirty="0">
                <a:solidFill>
                  <a:srgbClr val="1F1F1F"/>
                </a:solidFill>
              </a:rPr>
              <a:t>năng phân biệt biên mờ hoặc biên mạnh có thể hạn chế</a:t>
            </a:r>
            <a:r>
              <a:rPr lang="vi-VN" b="0" dirty="0" smtClean="0">
                <a:solidFill>
                  <a:srgbClr val="1F1F1F"/>
                </a:solidFill>
              </a:rPr>
              <a:t>.</a:t>
            </a:r>
            <a:endParaRPr lang="en-US" b="0" dirty="0" smtClean="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smtClean="0">
                <a:solidFill>
                  <a:srgbClr val="1F1F1F"/>
                </a:solidFill>
              </a:rPr>
              <a:t>-</a:t>
            </a:r>
            <a:r>
              <a:rPr lang="vi-VN" b="0" dirty="0" smtClean="0">
                <a:solidFill>
                  <a:srgbClr val="1F1F1F"/>
                </a:solidFill>
              </a:rPr>
              <a:t>Không </a:t>
            </a:r>
            <a:r>
              <a:rPr lang="vi-VN" b="0" dirty="0">
                <a:solidFill>
                  <a:srgbClr val="1F1F1F"/>
                </a:solidFill>
              </a:rPr>
              <a:t>phát hiện tốt các biên cong phức tạp</a:t>
            </a:r>
            <a:r>
              <a:rPr lang="vi-VN" b="0" dirty="0" smtClean="0">
                <a:solidFill>
                  <a:srgbClr val="1F1F1F"/>
                </a:solidFill>
              </a:rPr>
              <a:t>.</a:t>
            </a:r>
            <a:endParaRPr lang="en-US" b="0" dirty="0" smtClean="0">
              <a:solidFill>
                <a:srgbClr val="1F1F1F"/>
              </a:solidFill>
            </a:endParaRPr>
          </a:p>
          <a:p>
            <a:pPr algn="l"/>
            <a:r>
              <a:rPr lang="vi-VN" sz="5400" dirty="0"/>
              <a:t>Ứng </a:t>
            </a:r>
            <a:r>
              <a:rPr lang="vi-VN" sz="5400" dirty="0" smtClean="0"/>
              <a:t>dụng</a:t>
            </a:r>
            <a:endParaRPr lang="en-US" sz="5400" b="0" dirty="0"/>
          </a:p>
          <a:p>
            <a:pPr algn="l"/>
            <a:r>
              <a:rPr lang="en-US" b="0" dirty="0" smtClean="0"/>
              <a:t>-</a:t>
            </a:r>
            <a:r>
              <a:rPr lang="vi-VN" b="0" dirty="0" smtClean="0"/>
              <a:t>Phát </a:t>
            </a:r>
            <a:r>
              <a:rPr lang="vi-VN" b="0" dirty="0"/>
              <a:t>hiện biên (Edge detection</a:t>
            </a:r>
            <a:r>
              <a:rPr lang="vi-VN" b="0" dirty="0" smtClean="0"/>
              <a:t>).</a:t>
            </a:r>
            <a:endParaRPr lang="en-US" b="0" dirty="0" smtClean="0"/>
          </a:p>
          <a:p>
            <a:pPr algn="l"/>
            <a:endParaRPr lang="vi-VN" b="0" dirty="0"/>
          </a:p>
          <a:p>
            <a:pPr algn="l"/>
            <a:r>
              <a:rPr lang="en-US" b="0" dirty="0" smtClean="0"/>
              <a:t>-</a:t>
            </a:r>
            <a:r>
              <a:rPr lang="vi-VN" b="0" dirty="0" smtClean="0"/>
              <a:t>Tiền </a:t>
            </a:r>
            <a:r>
              <a:rPr lang="vi-VN" b="0" dirty="0"/>
              <a:t>xử lý trong các bài toán nhận diện đối tượng, phát hiện vật thể</a:t>
            </a:r>
            <a:r>
              <a:rPr lang="vi-VN" b="0" dirty="0" smtClean="0"/>
              <a:t>.</a:t>
            </a:r>
            <a:endParaRPr lang="en-US" b="0" dirty="0" smtClean="0"/>
          </a:p>
          <a:p>
            <a:pPr algn="l"/>
            <a:endParaRPr lang="vi-VN" b="0" dirty="0"/>
          </a:p>
          <a:p>
            <a:pPr algn="l"/>
            <a:r>
              <a:rPr lang="en-US" b="0" dirty="0" smtClean="0"/>
              <a:t>-</a:t>
            </a:r>
            <a:r>
              <a:rPr lang="vi-VN" b="0" dirty="0" smtClean="0"/>
              <a:t>Tăng </a:t>
            </a:r>
            <a:r>
              <a:rPr lang="vi-VN" b="0" dirty="0"/>
              <a:t>cường chi tiết trong ảnh.</a:t>
            </a:r>
          </a:p>
          <a:p>
            <a:pPr algn="l">
              <a:buFont typeface="Arial" panose="020B0604020202020204" pitchFamily="34" charset="0"/>
              <a:buChar char="•"/>
            </a:pPr>
            <a:endParaRPr lang="vi-VN" b="0" dirty="0">
              <a:solidFill>
                <a:srgbClr val="1F1F1F"/>
              </a:solidFill>
            </a:endParaRPr>
          </a:p>
        </p:txBody>
      </p:sp>
    </p:spTree>
    <p:extLst>
      <p:ext uri="{BB962C8B-B14F-4D97-AF65-F5344CB8AC3E}">
        <p14:creationId xmlns:p14="http://schemas.microsoft.com/office/powerpoint/2010/main" val="18349709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53250" y="1752600"/>
            <a:ext cx="5295900" cy="6001643"/>
          </a:xfrm>
          <a:prstGeom prst="rect">
            <a:avLst/>
          </a:prstGeom>
          <a:noFill/>
        </p:spPr>
        <p:txBody>
          <a:bodyPr wrap="square" rtlCol="0">
            <a:sp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US" sz="6000" b="1" i="0" u="none" strike="noStrike" kern="0" cap="none" spc="0" normalizeH="0" baseline="0" noProof="0" dirty="0" err="1" smtClean="0">
                <a:ln>
                  <a:noFill/>
                </a:ln>
                <a:solidFill>
                  <a:srgbClr val="000000"/>
                </a:solidFill>
                <a:effectLst/>
                <a:uLnTx/>
                <a:uFillTx/>
                <a:latin typeface="Helvetica Neue"/>
                <a:sym typeface="Helvetica Neue"/>
              </a:rPr>
              <a:t>Toán</a:t>
            </a:r>
            <a:r>
              <a:rPr kumimoji="0" lang="en-US" sz="6000" b="1" i="0" u="none" strike="noStrike" kern="0" cap="none" spc="0" normalizeH="0" baseline="0" noProof="0" dirty="0" smtClean="0">
                <a:ln>
                  <a:noFill/>
                </a:ln>
                <a:solidFill>
                  <a:srgbClr val="000000"/>
                </a:solidFill>
                <a:effectLst/>
                <a:uLnTx/>
                <a:uFillTx/>
                <a:latin typeface="Helvetica Neue"/>
                <a:sym typeface="Helvetica Neue"/>
              </a:rPr>
              <a:t> </a:t>
            </a:r>
            <a:r>
              <a:rPr kumimoji="0" lang="en-US" sz="6000" b="1" i="0" u="none" strike="noStrike" kern="0" cap="none" spc="0" normalizeH="0" baseline="0" noProof="0" dirty="0" err="1" smtClean="0">
                <a:ln>
                  <a:noFill/>
                </a:ln>
                <a:solidFill>
                  <a:srgbClr val="000000"/>
                </a:solidFill>
                <a:effectLst/>
                <a:uLnTx/>
                <a:uFillTx/>
                <a:latin typeface="Helvetica Neue"/>
                <a:sym typeface="Helvetica Neue"/>
              </a:rPr>
              <a:t>tử</a:t>
            </a:r>
            <a:r>
              <a:rPr kumimoji="0" lang="en-US" sz="6000" b="1" i="0" u="none" strike="noStrike" kern="0" cap="none" spc="0" normalizeH="0" baseline="0" noProof="0" dirty="0" smtClean="0">
                <a:ln>
                  <a:noFill/>
                </a:ln>
                <a:solidFill>
                  <a:srgbClr val="000000"/>
                </a:solidFill>
                <a:effectLst/>
                <a:uLnTx/>
                <a:uFillTx/>
                <a:latin typeface="Helvetica Neue"/>
                <a:sym typeface="Helvetica Neue"/>
              </a:rPr>
              <a:t> Roberts</a:t>
            </a:r>
          </a:p>
          <a:p>
            <a:pPr marL="0" marR="0" lvl="0" indent="0" algn="l" defTabSz="584200" rtl="0" eaLnBrk="1"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000000"/>
              </a:solidFill>
              <a:effectLst/>
              <a:uLnTx/>
              <a:uFillTx/>
              <a:latin typeface="Helvetica Neue"/>
              <a:sym typeface="Helvetica Neue"/>
            </a:endParaRPr>
          </a:p>
          <a:p>
            <a:pPr lvl="0" algn="l"/>
            <a:r>
              <a:rPr lang="vi-VN" b="0" dirty="0"/>
              <a:t>Bộ lọc Roberts là một trong những toán tử phát hiện biên (edge detection) cơ bản trong xử lý ảnh. Nó được thiết kế để tính toán độ dốc (gradient) của cường độ sáng của ảnh. </a:t>
            </a:r>
            <a:endParaRPr lang="en-US" b="0" dirty="0" smtClean="0"/>
          </a:p>
          <a:p>
            <a:pPr lvl="0" algn="l"/>
            <a:r>
              <a:rPr lang="vi-VN" b="0" dirty="0" smtClean="0"/>
              <a:t>Bộ </a:t>
            </a:r>
            <a:r>
              <a:rPr lang="vi-VN" b="0" dirty="0"/>
              <a:t>lọc này phát hiện biên tại các vị trí có sự thay đổi nhanh chóng về cường độ sáng, thường là đường viền của các đối tượng trong ảnh.</a:t>
            </a:r>
            <a:endParaRPr kumimoji="0" lang="en-US" sz="2400" b="1" i="0" u="none" strike="noStrike" kern="0" cap="none" spc="0" normalizeH="0" baseline="0" noProof="0" dirty="0">
              <a:ln>
                <a:noFill/>
              </a:ln>
              <a:solidFill>
                <a:srgbClr val="000000"/>
              </a:solidFill>
              <a:effectLst/>
              <a:uLnTx/>
              <a:uFillTx/>
              <a:latin typeface="Helvetica Neue"/>
              <a:sym typeface="Helvetica Neue"/>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651" y="2057400"/>
            <a:ext cx="5047498" cy="6362700"/>
          </a:xfrm>
          <a:prstGeom prst="rect">
            <a:avLst/>
          </a:prstGeom>
        </p:spPr>
      </p:pic>
    </p:spTree>
    <p:extLst>
      <p:ext uri="{BB962C8B-B14F-4D97-AF65-F5344CB8AC3E}">
        <p14:creationId xmlns:p14="http://schemas.microsoft.com/office/powerpoint/2010/main" val="22584012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1008309" y="129582"/>
            <a:ext cx="11888003" cy="1249767"/>
          </a:xfrm>
        </p:spPr>
        <p:txBody>
          <a:bodyPr>
            <a:normAutofit fontScale="90000"/>
          </a:bodyPr>
          <a:lstStyle/>
          <a:p>
            <a:r>
              <a:rPr lang="en-US" sz="6600" b="1" dirty="0" smtClean="0">
                <a:latin typeface="Constantia" panose="02030602050306030303" pitchFamily="18" charset="0"/>
              </a:rPr>
              <a:t>Nguyên </a:t>
            </a:r>
            <a:r>
              <a:rPr lang="en-US" sz="6600" b="1" dirty="0" err="1" smtClean="0">
                <a:latin typeface="Constantia" panose="02030602050306030303" pitchFamily="18" charset="0"/>
              </a:rPr>
              <a:t>lý</a:t>
            </a:r>
            <a:r>
              <a:rPr lang="en-US" sz="6600" b="1" dirty="0" smtClean="0">
                <a:latin typeface="Constantia" panose="02030602050306030303" pitchFamily="18" charset="0"/>
              </a:rPr>
              <a:t> </a:t>
            </a:r>
            <a:r>
              <a:rPr lang="en-US" sz="6600" b="1" dirty="0" err="1" smtClean="0">
                <a:latin typeface="Constantia" panose="02030602050306030303" pitchFamily="18" charset="0"/>
              </a:rPr>
              <a:t>hoạt</a:t>
            </a:r>
            <a:r>
              <a:rPr lang="en-US" sz="6600" b="1" dirty="0" smtClean="0">
                <a:latin typeface="Constantia" panose="02030602050306030303" pitchFamily="18" charset="0"/>
              </a:rPr>
              <a:t> </a:t>
            </a:r>
            <a:r>
              <a:rPr lang="en-US" sz="6600" b="1" dirty="0" err="1" smtClean="0">
                <a:latin typeface="Constantia" panose="02030602050306030303" pitchFamily="18" charset="0"/>
              </a:rPr>
              <a:t>động</a:t>
            </a:r>
            <a:r>
              <a:rPr lang="en-US" sz="6600" b="1" dirty="0">
                <a:latin typeface="Constantia" panose="02030602050306030303" pitchFamily="18" charset="0"/>
              </a:rPr>
              <a:t/>
            </a:r>
            <a:br>
              <a:rPr lang="en-US" sz="6600" b="1" dirty="0">
                <a:latin typeface="Constantia" panose="02030602050306030303" pitchFamily="18" charset="0"/>
              </a:rPr>
            </a:br>
            <a:r>
              <a:rPr lang="en-US" sz="6600" b="1" dirty="0" smtClean="0">
                <a:latin typeface="Constantia" panose="02030602050306030303" pitchFamily="18" charset="0"/>
              </a:rPr>
              <a:t/>
            </a:r>
            <a:br>
              <a:rPr lang="en-US" sz="6600" b="1" dirty="0" smtClean="0">
                <a:latin typeface="Constantia" panose="02030602050306030303" pitchFamily="18" charset="0"/>
              </a:rPr>
            </a:br>
            <a:endParaRPr lang="en-US" sz="6600" b="1" dirty="0">
              <a:latin typeface="Constantia" panose="02030602050306030303" pitchFamily="18" charset="0"/>
            </a:endParaRPr>
          </a:p>
        </p:txBody>
      </p:sp>
      <p:sp>
        <p:nvSpPr>
          <p:cNvPr id="5" name="TextBox 4"/>
          <p:cNvSpPr txBox="1"/>
          <p:nvPr/>
        </p:nvSpPr>
        <p:spPr>
          <a:xfrm>
            <a:off x="1219200" y="1869355"/>
            <a:ext cx="10896600" cy="7848302"/>
          </a:xfrm>
          <a:prstGeom prst="rect">
            <a:avLst/>
          </a:prstGeom>
          <a:noFill/>
        </p:spPr>
        <p:txBody>
          <a:bodyPr wrap="square" rtlCol="0">
            <a:spAutoFit/>
          </a:bodyPr>
          <a:lstStyle/>
          <a:p>
            <a:pPr algn="l"/>
            <a:r>
              <a:rPr lang="en-US" b="0" dirty="0" err="1" smtClean="0"/>
              <a:t>Bộ</a:t>
            </a:r>
            <a:r>
              <a:rPr lang="en-US" b="0" dirty="0" smtClean="0"/>
              <a:t> </a:t>
            </a:r>
            <a:r>
              <a:rPr lang="en-US" b="0" dirty="0" err="1" smtClean="0"/>
              <a:t>lọc</a:t>
            </a:r>
            <a:r>
              <a:rPr lang="en-US" b="0" dirty="0" smtClean="0"/>
              <a:t> Roberts</a:t>
            </a:r>
            <a:r>
              <a:rPr lang="vi-VN" b="0" dirty="0" smtClean="0"/>
              <a:t> </a:t>
            </a:r>
            <a:r>
              <a:rPr lang="vi-VN" b="0" dirty="0"/>
              <a:t>sử dụng </a:t>
            </a:r>
            <a:r>
              <a:rPr lang="vi-VN" dirty="0"/>
              <a:t>toán tử tích chập (convolution operator)</a:t>
            </a:r>
            <a:r>
              <a:rPr lang="vi-VN" b="0" dirty="0"/>
              <a:t> với hai kernel nhỏ, mỗi kernel có kích thước (2</a:t>
            </a:r>
            <a:r>
              <a:rPr lang="vi-VN" b="0" i="1" dirty="0"/>
              <a:t>2), để tính gradient theo hai hướng chéo: </a:t>
            </a:r>
            <a:r>
              <a:rPr lang="vi-VN" dirty="0" smtClean="0"/>
              <a:t>dọc-chéo</a:t>
            </a:r>
            <a:r>
              <a:rPr lang="vi-VN" b="0" dirty="0" smtClean="0"/>
              <a:t> </a:t>
            </a:r>
            <a:r>
              <a:rPr lang="vi-VN" b="0" dirty="0"/>
              <a:t>(diagonal) và </a:t>
            </a:r>
            <a:r>
              <a:rPr lang="vi-VN" dirty="0"/>
              <a:t>ngang-chéo</a:t>
            </a:r>
            <a:r>
              <a:rPr lang="vi-VN" b="0" dirty="0"/>
              <a:t> (anti-diagonal</a:t>
            </a:r>
            <a:r>
              <a:rPr lang="vi-VN" b="0" dirty="0" smtClean="0"/>
              <a:t>).</a:t>
            </a:r>
            <a:endParaRPr lang="en-US" b="0" dirty="0" smtClean="0"/>
          </a:p>
          <a:p>
            <a:pPr algn="l"/>
            <a:r>
              <a:rPr lang="en-US" b="0" dirty="0" smtClean="0"/>
              <a:t>1.</a:t>
            </a:r>
            <a:r>
              <a:rPr lang="en-US" dirty="0" smtClean="0"/>
              <a:t>Kernel Roberts:</a:t>
            </a:r>
          </a:p>
          <a:p>
            <a:pPr algn="l"/>
            <a:r>
              <a:rPr lang="en-US" dirty="0" smtClean="0"/>
              <a:t>- </a:t>
            </a:r>
            <a:r>
              <a:rPr lang="en-US" dirty="0" err="1" smtClean="0"/>
              <a:t>Hướng</a:t>
            </a:r>
            <a:r>
              <a:rPr lang="en-US" dirty="0" smtClean="0"/>
              <a:t> </a:t>
            </a:r>
            <a:r>
              <a:rPr lang="en-US" dirty="0" err="1" smtClean="0"/>
              <a:t>ngang</a:t>
            </a:r>
            <a:r>
              <a:rPr lang="en-US" dirty="0" smtClean="0"/>
              <a:t>(</a:t>
            </a:r>
            <a:r>
              <a:rPr lang="en-US" dirty="0" err="1" smtClean="0"/>
              <a:t>Gx</a:t>
            </a:r>
            <a:r>
              <a:rPr lang="en-US" dirty="0" smtClean="0"/>
              <a:t>): </a:t>
            </a:r>
            <a:r>
              <a:rPr lang="en-US" dirty="0" err="1" smtClean="0"/>
              <a:t>K_x</a:t>
            </a:r>
            <a:r>
              <a:rPr lang="en-US" dirty="0" smtClean="0"/>
              <a:t> = </a:t>
            </a:r>
          </a:p>
          <a:p>
            <a:pPr algn="l"/>
            <a:r>
              <a:rPr lang="en-US" dirty="0"/>
              <a:t>	</a:t>
            </a:r>
            <a:r>
              <a:rPr lang="en-US" dirty="0" smtClean="0"/>
              <a:t>							</a:t>
            </a:r>
          </a:p>
          <a:p>
            <a:pPr algn="l"/>
            <a:endParaRPr lang="en-US" dirty="0"/>
          </a:p>
          <a:p>
            <a:pPr algn="l"/>
            <a:r>
              <a:rPr lang="en-US" dirty="0" smtClean="0"/>
              <a:t>- </a:t>
            </a:r>
            <a:r>
              <a:rPr lang="en-US" dirty="0" err="1" smtClean="0"/>
              <a:t>Hướng</a:t>
            </a:r>
            <a:r>
              <a:rPr lang="en-US" dirty="0" smtClean="0"/>
              <a:t> </a:t>
            </a:r>
            <a:r>
              <a:rPr lang="en-US" dirty="0" err="1" smtClean="0"/>
              <a:t>dọc</a:t>
            </a:r>
            <a:r>
              <a:rPr lang="en-US" dirty="0" smtClean="0"/>
              <a:t>(</a:t>
            </a:r>
            <a:r>
              <a:rPr lang="en-US" dirty="0" err="1" smtClean="0"/>
              <a:t>Gy</a:t>
            </a:r>
            <a:r>
              <a:rPr lang="en-US" dirty="0" smtClean="0"/>
              <a:t>)    : </a:t>
            </a:r>
            <a:r>
              <a:rPr lang="en-US" dirty="0" err="1" smtClean="0"/>
              <a:t>K_y</a:t>
            </a:r>
            <a:r>
              <a:rPr lang="en-US" dirty="0" smtClean="0"/>
              <a:t> =  </a:t>
            </a:r>
          </a:p>
          <a:p>
            <a:pPr marL="342900" indent="-342900" algn="l">
              <a:buFontTx/>
              <a:buChar char="-"/>
            </a:pPr>
            <a:endParaRPr lang="en-US" dirty="0"/>
          </a:p>
          <a:p>
            <a:pPr marL="342900" indent="-342900" algn="l">
              <a:buFontTx/>
              <a:buChar char="-"/>
            </a:pPr>
            <a:endParaRPr lang="en-US" dirty="0" smtClean="0"/>
          </a:p>
          <a:p>
            <a:pPr algn="l"/>
            <a:r>
              <a:rPr lang="en-US" dirty="0" smtClean="0"/>
              <a:t>2. Tính toàn Gradient:</a:t>
            </a:r>
          </a:p>
          <a:p>
            <a:pPr algn="l"/>
            <a:r>
              <a:rPr lang="en-US" b="0" dirty="0"/>
              <a:t>	</a:t>
            </a:r>
            <a:r>
              <a:rPr lang="en-US" b="0" dirty="0" smtClean="0"/>
              <a:t>	</a:t>
            </a:r>
            <a:r>
              <a:rPr lang="vi-VN" b="0" dirty="0" smtClean="0"/>
              <a:t>Gradient theo hướng (x): (G_x = I * K_x)</a:t>
            </a:r>
          </a:p>
          <a:p>
            <a:pPr algn="l"/>
            <a:r>
              <a:rPr lang="en-US" b="0" dirty="0"/>
              <a:t>	</a:t>
            </a:r>
            <a:r>
              <a:rPr lang="en-US" b="0" dirty="0" smtClean="0"/>
              <a:t>	</a:t>
            </a:r>
            <a:r>
              <a:rPr lang="vi-VN" b="0" dirty="0" smtClean="0"/>
              <a:t>Gradient </a:t>
            </a:r>
            <a:r>
              <a:rPr lang="vi-VN" b="0" dirty="0"/>
              <a:t>theo hướng (y): (G_y = I * K_y)</a:t>
            </a:r>
          </a:p>
          <a:p>
            <a:pPr algn="l"/>
            <a:r>
              <a:rPr lang="en-US" b="0" dirty="0"/>
              <a:t>	</a:t>
            </a:r>
            <a:r>
              <a:rPr lang="en-US" b="0" dirty="0" smtClean="0"/>
              <a:t>	(</a:t>
            </a:r>
            <a:r>
              <a:rPr lang="vi-VN" b="0" dirty="0" smtClean="0"/>
              <a:t>Ở </a:t>
            </a:r>
            <a:r>
              <a:rPr lang="vi-VN" b="0" dirty="0"/>
              <a:t>đây, (I) là ảnh đầu vào, và (*) là phép tích </a:t>
            </a:r>
            <a:r>
              <a:rPr lang="vi-VN" b="0" dirty="0" smtClean="0"/>
              <a:t>chập</a:t>
            </a:r>
            <a:r>
              <a:rPr lang="en-US" b="0" dirty="0" smtClean="0"/>
              <a:t> )</a:t>
            </a:r>
            <a:endParaRPr lang="vi-VN" b="0" dirty="0"/>
          </a:p>
          <a:p>
            <a:pPr lvl="0" algn="l" defTabSz="914400" eaLnBrk="0" fontAlgn="base">
              <a:spcBef>
                <a:spcPct val="0"/>
              </a:spcBef>
              <a:spcAft>
                <a:spcPct val="0"/>
              </a:spcAft>
            </a:pPr>
            <a:r>
              <a:rPr lang="en-US" altLang="en-US" dirty="0" smtClean="0">
                <a:solidFill>
                  <a:srgbClr val="1F1F1F"/>
                </a:solidFill>
              </a:rPr>
              <a:t>3.Độ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G</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Sau</a:t>
            </a:r>
            <a:r>
              <a:rPr lang="en-US" altLang="en-US" b="0" dirty="0">
                <a:solidFill>
                  <a:srgbClr val="1F1F1F"/>
                </a:solidFill>
              </a:rPr>
              <a:t> </a:t>
            </a:r>
            <a:r>
              <a:rPr lang="en-US" altLang="en-US" b="0" dirty="0" err="1">
                <a:solidFill>
                  <a:srgbClr val="1F1F1F"/>
                </a:solidFill>
              </a:rPr>
              <a:t>khi</a:t>
            </a:r>
            <a:r>
              <a:rPr lang="en-US" altLang="en-US" b="0" dirty="0">
                <a:solidFill>
                  <a:srgbClr val="1F1F1F"/>
                </a:solidFill>
              </a:rPr>
              <a:t>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tính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smtClean="0">
              <a:solidFill>
                <a:srgbClr val="1F1F1F"/>
              </a:solidFill>
            </a:endParaRPr>
          </a:p>
          <a:p>
            <a:pPr lvl="0" algn="l" defTabSz="914400" eaLnBrk="0" fontAlgn="base">
              <a:spcBef>
                <a:spcPct val="0"/>
              </a:spcBef>
              <a:spcAft>
                <a:spcPct val="0"/>
              </a:spcAft>
            </a:pPr>
            <a:r>
              <a:rPr lang="en-US" altLang="en-US" b="0" dirty="0" smtClean="0">
                <a:solidFill>
                  <a:srgbClr val="1F1F1F"/>
                </a:solidFill>
              </a:rPr>
              <a:t>(</a:t>
            </a:r>
            <a:r>
              <a:rPr lang="en-US" altLang="en-US" b="0" dirty="0" err="1">
                <a:solidFill>
                  <a:srgbClr val="1F1F1F"/>
                </a:solidFill>
              </a:rPr>
              <a:t>hoặc</a:t>
            </a:r>
            <a:r>
              <a:rPr lang="en-US" altLang="en-US" b="0" dirty="0">
                <a:solidFill>
                  <a:srgbClr val="1F1F1F"/>
                </a:solidFill>
              </a:rPr>
              <a:t> </a:t>
            </a:r>
            <a:r>
              <a:rPr lang="en-US" altLang="en-US" b="0" dirty="0" err="1">
                <a:solidFill>
                  <a:srgbClr val="1F1F1F"/>
                </a:solidFill>
              </a:rPr>
              <a:t>lấy</a:t>
            </a:r>
            <a:r>
              <a:rPr lang="en-US" altLang="en-US" b="0" dirty="0">
                <a:solidFill>
                  <a:srgbClr val="1F1F1F"/>
                </a:solidFill>
              </a:rPr>
              <a:t> </a:t>
            </a:r>
            <a:r>
              <a:rPr lang="en-US" altLang="en-US" b="0" dirty="0" err="1">
                <a:solidFill>
                  <a:srgbClr val="1F1F1F"/>
                </a:solidFill>
              </a:rPr>
              <a:t>gần</a:t>
            </a:r>
            <a:r>
              <a:rPr lang="en-US" altLang="en-US" b="0" dirty="0">
                <a:solidFill>
                  <a:srgbClr val="1F1F1F"/>
                </a:solidFill>
              </a:rPr>
              <a:t> </a:t>
            </a:r>
            <a:r>
              <a:rPr lang="en-US" altLang="en-US" b="0" dirty="0" err="1">
                <a:solidFill>
                  <a:srgbClr val="1F1F1F"/>
                </a:solidFill>
              </a:rPr>
              <a:t>đúng</a:t>
            </a:r>
            <a:r>
              <a:rPr lang="en-US" altLang="en-US" b="0" dirty="0">
                <a:solidFill>
                  <a:srgbClr val="1F1F1F"/>
                </a:solidFill>
              </a:rPr>
              <a:t> G=|</a:t>
            </a:r>
            <a:r>
              <a:rPr lang="en-US" altLang="en-US" b="0" dirty="0" err="1">
                <a:solidFill>
                  <a:srgbClr val="1F1F1F"/>
                </a:solidFill>
              </a:rPr>
              <a:t>Gx</a:t>
            </a:r>
            <a:r>
              <a:rPr lang="en-US" altLang="en-US" b="0" dirty="0">
                <a:solidFill>
                  <a:srgbClr val="1F1F1F"/>
                </a:solidFill>
              </a:rPr>
              <a:t>|+|</a:t>
            </a:r>
            <a:r>
              <a:rPr lang="en-US" altLang="en-US" b="0" dirty="0" err="1">
                <a:solidFill>
                  <a:srgbClr val="1F1F1F"/>
                </a:solidFill>
              </a:rPr>
              <a:t>Gy</a:t>
            </a:r>
            <a:r>
              <a:rPr lang="en-US" altLang="en-US" b="0" dirty="0" smtClean="0">
                <a:solidFill>
                  <a:srgbClr val="1F1F1F"/>
                </a:solidFill>
              </a:rPr>
              <a:t>|).</a:t>
            </a: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chemeClr val="tx1"/>
                </a:solidFill>
              </a:rPr>
              <a:t/>
            </a:r>
            <a:br>
              <a:rPr lang="en-US" altLang="en-US" b="0" dirty="0">
                <a:solidFill>
                  <a:schemeClr val="tx1"/>
                </a:solidFill>
              </a:rPr>
            </a:br>
            <a:endParaRPr lang="en-US" dirty="0" smtClean="0"/>
          </a:p>
        </p:txBody>
      </p:sp>
      <p:sp>
        <p:nvSpPr>
          <p:cNvPr id="9" name="Rectangle 4"/>
          <p:cNvSpPr>
            <a:spLocks noChangeArrowheads="1"/>
          </p:cNvSpPr>
          <p:nvPr/>
        </p:nvSpPr>
        <p:spPr bwMode="auto">
          <a:xfrm>
            <a:off x="304800" y="304800"/>
            <a:ext cx="13004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E3E3E3"/>
                </a:solidFill>
                <a:effectLst/>
                <a:latin typeface="Roboto"/>
              </a:rPr>
              <a:t>Hướng ngang (</a:t>
            </a:r>
            <a:r>
              <a:rPr kumimoji="0" lang="en-US" altLang="en-US" sz="1400" b="0" i="0" u="none" strike="noStrike" cap="none" normalizeH="0" baseline="0" smtClean="0">
                <a:ln>
                  <a:noFill/>
                </a:ln>
                <a:solidFill>
                  <a:srgbClr val="E3E3E3"/>
                </a:solidFill>
                <a:effectLst/>
                <a:latin typeface="MathJax_Math-italic"/>
              </a:rPr>
              <a:t>G</a:t>
            </a:r>
            <a:r>
              <a:rPr kumimoji="0" lang="en-US" altLang="en-US" sz="900" b="0" i="0" u="none" strike="noStrike" cap="none" normalizeH="0" baseline="0" smtClean="0">
                <a:ln>
                  <a:noFill/>
                </a:ln>
                <a:solidFill>
                  <a:srgbClr val="E3E3E3"/>
                </a:solidFill>
                <a:effectLst/>
                <a:latin typeface="MathJax_Math-italic"/>
              </a:rPr>
              <a:t>x</a:t>
            </a:r>
            <a:r>
              <a:rPr kumimoji="0" lang="en-US" altLang="en-US" sz="1200" b="0" i="0" u="none" strike="noStrike" cap="none" normalizeH="0" baseline="0" smtClean="0">
                <a:ln>
                  <a:noFill/>
                </a:ln>
                <a:solidFill>
                  <a:srgbClr val="E3E3E3"/>
                </a:solidFill>
                <a:effectLst/>
                <a:latin typeface="Roboto"/>
              </a:rPr>
              <a:t>): $$ K_x =</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7" name="Picture 16"/>
          <p:cNvPicPr>
            <a:picLocks noChangeAspect="1"/>
          </p:cNvPicPr>
          <p:nvPr/>
        </p:nvPicPr>
        <p:blipFill>
          <a:blip r:embed="rId2"/>
          <a:stretch>
            <a:fillRect/>
          </a:stretch>
        </p:blipFill>
        <p:spPr>
          <a:xfrm>
            <a:off x="5095968" y="7470168"/>
            <a:ext cx="1362265" cy="507053"/>
          </a:xfrm>
          <a:prstGeom prst="rect">
            <a:avLst/>
          </a:prstGeom>
        </p:spPr>
      </p:pic>
      <p:pic>
        <p:nvPicPr>
          <p:cNvPr id="2" name="Picture 1"/>
          <p:cNvPicPr>
            <a:picLocks noChangeAspect="1"/>
          </p:cNvPicPr>
          <p:nvPr/>
        </p:nvPicPr>
        <p:blipFill>
          <a:blip r:embed="rId3"/>
          <a:stretch>
            <a:fillRect/>
          </a:stretch>
        </p:blipFill>
        <p:spPr>
          <a:xfrm>
            <a:off x="5419864" y="3284592"/>
            <a:ext cx="724001" cy="533474"/>
          </a:xfrm>
          <a:prstGeom prst="rect">
            <a:avLst/>
          </a:prstGeom>
        </p:spPr>
      </p:pic>
      <p:pic>
        <p:nvPicPr>
          <p:cNvPr id="3" name="Picture 2"/>
          <p:cNvPicPr>
            <a:picLocks noChangeAspect="1"/>
          </p:cNvPicPr>
          <p:nvPr/>
        </p:nvPicPr>
        <p:blipFill>
          <a:blip r:embed="rId4"/>
          <a:stretch>
            <a:fillRect/>
          </a:stretch>
        </p:blipFill>
        <p:spPr>
          <a:xfrm>
            <a:off x="5419864" y="4549771"/>
            <a:ext cx="714475" cy="485843"/>
          </a:xfrm>
          <a:prstGeom prst="rect">
            <a:avLst/>
          </a:prstGeom>
        </p:spPr>
      </p:pic>
    </p:spTree>
    <p:extLst>
      <p:ext uri="{BB962C8B-B14F-4D97-AF65-F5344CB8AC3E}">
        <p14:creationId xmlns:p14="http://schemas.microsoft.com/office/powerpoint/2010/main" val="1227872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08309" y="129582"/>
            <a:ext cx="11888003" cy="1249767"/>
          </a:xfrm>
        </p:spPr>
        <p:txBody>
          <a:bodyPr>
            <a:normAutofit/>
          </a:bodyPr>
          <a:lstStyle/>
          <a:p>
            <a:r>
              <a:rPr lang="en-US" sz="6600" b="1" dirty="0" err="1" smtClean="0">
                <a:latin typeface="Constantia" panose="02030602050306030303" pitchFamily="18" charset="0"/>
              </a:rPr>
              <a:t>Các</a:t>
            </a:r>
            <a:r>
              <a:rPr lang="en-US" sz="6600" b="1" dirty="0" smtClean="0">
                <a:latin typeface="Constantia" panose="02030602050306030303" pitchFamily="18" charset="0"/>
              </a:rPr>
              <a:t> </a:t>
            </a:r>
            <a:r>
              <a:rPr lang="en-US" sz="6600" b="1" dirty="0" err="1" smtClean="0">
                <a:latin typeface="Constantia" panose="02030602050306030303" pitchFamily="18" charset="0"/>
              </a:rPr>
              <a:t>bước</a:t>
            </a:r>
            <a:r>
              <a:rPr lang="en-US" sz="6600" b="1" dirty="0" smtClean="0">
                <a:latin typeface="Constantia" panose="02030602050306030303" pitchFamily="18" charset="0"/>
              </a:rPr>
              <a:t> </a:t>
            </a:r>
            <a:r>
              <a:rPr lang="en-US" sz="6600" b="1" dirty="0" err="1" smtClean="0">
                <a:latin typeface="Constantia" panose="02030602050306030303" pitchFamily="18" charset="0"/>
              </a:rPr>
              <a:t>thực</a:t>
            </a:r>
            <a:r>
              <a:rPr lang="en-US" sz="6600" b="1" dirty="0" smtClean="0">
                <a:latin typeface="Constantia" panose="02030602050306030303" pitchFamily="18" charset="0"/>
              </a:rPr>
              <a:t> </a:t>
            </a:r>
            <a:r>
              <a:rPr lang="en-US" sz="6600" b="1" dirty="0" err="1" smtClean="0">
                <a:latin typeface="Constantia" panose="02030602050306030303" pitchFamily="18" charset="0"/>
              </a:rPr>
              <a:t>hiện</a:t>
            </a:r>
            <a:endParaRPr lang="en-US" sz="6600" b="1" dirty="0">
              <a:latin typeface="Constantia" panose="02030602050306030303" pitchFamily="18" charset="0"/>
            </a:endParaRPr>
          </a:p>
        </p:txBody>
      </p:sp>
      <p:sp>
        <p:nvSpPr>
          <p:cNvPr id="2" name="TextBox 1"/>
          <p:cNvSpPr txBox="1"/>
          <p:nvPr/>
        </p:nvSpPr>
        <p:spPr>
          <a:xfrm>
            <a:off x="1008309" y="2819400"/>
            <a:ext cx="10953750" cy="4893647"/>
          </a:xfrm>
          <a:prstGeom prst="rect">
            <a:avLst/>
          </a:prstGeom>
          <a:noFill/>
        </p:spPr>
        <p:txBody>
          <a:bodyPr wrap="square" rtlCol="0">
            <a:spAutoFit/>
          </a:bodyPr>
          <a:lstStyle/>
          <a:p>
            <a:pPr lvl="0" algn="l" defTabSz="914400" eaLnBrk="0" fontAlgn="base">
              <a:spcBef>
                <a:spcPct val="0"/>
              </a:spcBef>
              <a:spcAft>
                <a:spcPct val="0"/>
              </a:spcAft>
              <a:buFontTx/>
              <a:buAutoNum type="arabicPeriod"/>
            </a:pPr>
            <a:r>
              <a:rPr lang="en-US" altLang="en-US" dirty="0">
                <a:solidFill>
                  <a:srgbClr val="1F1F1F"/>
                </a:solidFill>
              </a:rPr>
              <a:t>Tiền </a:t>
            </a:r>
            <a:r>
              <a:rPr lang="en-US" altLang="en-US" dirty="0" err="1">
                <a:solidFill>
                  <a:srgbClr val="1F1F1F"/>
                </a:solidFill>
              </a:rPr>
              <a:t>xử</a:t>
            </a:r>
            <a:r>
              <a:rPr lang="en-US" altLang="en-US" dirty="0">
                <a:solidFill>
                  <a:srgbClr val="1F1F1F"/>
                </a:solidFill>
              </a:rPr>
              <a:t> </a:t>
            </a:r>
            <a:r>
              <a:rPr lang="en-US" altLang="en-US" dirty="0" err="1">
                <a:solidFill>
                  <a:srgbClr val="1F1F1F"/>
                </a:solidFill>
              </a:rPr>
              <a:t>lý</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Chuyển</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sang </a:t>
            </a:r>
            <a:r>
              <a:rPr lang="en-US" altLang="en-US" b="0" dirty="0" err="1">
                <a:solidFill>
                  <a:srgbClr val="1F1F1F"/>
                </a:solidFill>
              </a:rPr>
              <a:t>ảnh</a:t>
            </a:r>
            <a:r>
              <a:rPr lang="en-US" altLang="en-US" b="0" dirty="0">
                <a:solidFill>
                  <a:srgbClr val="1F1F1F"/>
                </a:solidFill>
              </a:rPr>
              <a:t> grayscale (</a:t>
            </a:r>
            <a:r>
              <a:rPr lang="en-US" altLang="en-US" b="0" dirty="0" err="1">
                <a:solidFill>
                  <a:srgbClr val="1F1F1F"/>
                </a:solidFill>
              </a:rPr>
              <a:t>nếu</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 đầu vào là RGB).</a:t>
            </a:r>
          </a:p>
          <a:p>
            <a:pPr marL="457200" lvl="1" indent="0" algn="l" defTabSz="914400" eaLnBrk="0" fontAlgn="base">
              <a:spcBef>
                <a:spcPct val="0"/>
              </a:spcBef>
              <a:spcAft>
                <a:spcPct val="0"/>
              </a:spcAft>
              <a:buFontTx/>
              <a:buChar char="•"/>
            </a:pPr>
            <a:r>
              <a:rPr lang="en-US" altLang="en-US" b="0" dirty="0" smtClean="0">
                <a:solidFill>
                  <a:srgbClr val="1F1F1F"/>
                </a:solidFill>
              </a:rPr>
              <a:t>Có </a:t>
            </a:r>
            <a:r>
              <a:rPr lang="en-US" altLang="en-US" b="0" dirty="0" err="1" smtClean="0">
                <a:solidFill>
                  <a:srgbClr val="1F1F1F"/>
                </a:solidFill>
              </a:rPr>
              <a:t>thể</a:t>
            </a:r>
            <a:r>
              <a:rPr lang="en-US" altLang="en-US" b="0" dirty="0" smtClean="0">
                <a:solidFill>
                  <a:srgbClr val="1F1F1F"/>
                </a:solidFill>
              </a:rPr>
              <a:t> </a:t>
            </a:r>
            <a:r>
              <a:rPr lang="vi-VN" b="0" dirty="0"/>
              <a:t>áp dụng lọc làm mịn (như Gaussian) để giảm nhiễu trước khi dùng bộ lọc.</a:t>
            </a:r>
            <a:endParaRPr lang="en-US" altLang="en-US" b="0" dirty="0">
              <a:solidFill>
                <a:schemeClr val="tx1"/>
              </a:solidFill>
            </a:endParaRPr>
          </a:p>
          <a:p>
            <a:pPr lvl="0" algn="l" defTabSz="914400" eaLnBrk="0" fontAlgn="base">
              <a:spcBef>
                <a:spcPct val="0"/>
              </a:spcBef>
              <a:spcAft>
                <a:spcPct val="0"/>
              </a:spcAft>
              <a:buFontTx/>
              <a:buAutoNum type="arabicPeriod" startAt="2"/>
            </a:pPr>
            <a:r>
              <a:rPr lang="en-US" altLang="en-US" dirty="0" err="1">
                <a:solidFill>
                  <a:srgbClr val="1F1F1F"/>
                </a:solidFill>
              </a:rPr>
              <a:t>Tích</a:t>
            </a:r>
            <a:r>
              <a:rPr lang="en-US" altLang="en-US" dirty="0">
                <a:solidFill>
                  <a:srgbClr val="1F1F1F"/>
                </a:solidFill>
              </a:rPr>
              <a:t> </a:t>
            </a:r>
            <a:r>
              <a:rPr lang="en-US" altLang="en-US" dirty="0" err="1" smtClean="0">
                <a:solidFill>
                  <a:srgbClr val="1F1F1F"/>
                </a:solidFill>
              </a:rPr>
              <a:t>chập</a:t>
            </a:r>
            <a:r>
              <a:rPr lang="en-US" altLang="en-US" dirty="0" smtClean="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Áp</a:t>
            </a:r>
            <a:r>
              <a:rPr lang="en-US" altLang="en-US" b="0" dirty="0">
                <a:solidFill>
                  <a:srgbClr val="1F1F1F"/>
                </a:solidFill>
              </a:rPr>
              <a:t> </a:t>
            </a:r>
            <a:r>
              <a:rPr lang="en-US" altLang="en-US" b="0" dirty="0" err="1">
                <a:solidFill>
                  <a:srgbClr val="1F1F1F"/>
                </a:solidFill>
              </a:rPr>
              <a:t>dụng</a:t>
            </a:r>
            <a:r>
              <a:rPr lang="en-US" altLang="en-US" b="0" dirty="0">
                <a:solidFill>
                  <a:srgbClr val="1F1F1F"/>
                </a:solidFill>
              </a:rPr>
              <a:t> </a:t>
            </a:r>
            <a:r>
              <a:rPr lang="en-US" altLang="en-US" b="0" dirty="0" err="1">
                <a:solidFill>
                  <a:srgbClr val="1F1F1F"/>
                </a:solidFill>
              </a:rPr>
              <a:t>Kx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Ky</a:t>
            </a:r>
            <a:r>
              <a:rPr lang="en-US" altLang="en-US" b="0" dirty="0">
                <a:solidFill>
                  <a:srgbClr val="1F1F1F"/>
                </a:solidFill>
              </a:rPr>
              <a:t> lên </a:t>
            </a:r>
            <a:r>
              <a:rPr lang="en-US" altLang="en-US" b="0" dirty="0" err="1">
                <a:solidFill>
                  <a:srgbClr val="1F1F1F"/>
                </a:solidFill>
              </a:rPr>
              <a:t>ảnh</a:t>
            </a:r>
            <a:r>
              <a:rPr lang="en-US" altLang="en-US" b="0" dirty="0">
                <a:solidFill>
                  <a:srgbClr val="1F1F1F"/>
                </a:solidFill>
              </a:rPr>
              <a:t> </a:t>
            </a:r>
            <a:r>
              <a:rPr lang="en-US" altLang="en-US" b="0" dirty="0" err="1">
                <a:solidFill>
                  <a:srgbClr val="1F1F1F"/>
                </a:solidFill>
              </a:rPr>
              <a:t>bằng</a:t>
            </a:r>
            <a:r>
              <a:rPr lang="en-US" altLang="en-US" b="0" dirty="0">
                <a:solidFill>
                  <a:srgbClr val="1F1F1F"/>
                </a:solidFill>
              </a:rPr>
              <a:t> </a:t>
            </a:r>
            <a:r>
              <a:rPr lang="en-US" altLang="en-US" b="0" dirty="0" err="1">
                <a:solidFill>
                  <a:srgbClr val="1F1F1F"/>
                </a:solidFill>
              </a:rPr>
              <a:t>tích</a:t>
            </a:r>
            <a:r>
              <a:rPr lang="en-US" altLang="en-US" b="0" dirty="0">
                <a:solidFill>
                  <a:srgbClr val="1F1F1F"/>
                </a:solidFill>
              </a:rPr>
              <a:t> </a:t>
            </a:r>
            <a:r>
              <a:rPr lang="en-US" altLang="en-US" b="0" dirty="0" err="1">
                <a:solidFill>
                  <a:srgbClr val="1F1F1F"/>
                </a:solidFill>
              </a:rPr>
              <a:t>chập</a:t>
            </a:r>
            <a:r>
              <a:rPr lang="en-US" altLang="en-US" b="0" dirty="0">
                <a:solidFill>
                  <a:srgbClr val="1F1F1F"/>
                </a:solidFill>
              </a:rPr>
              <a:t> để tính </a:t>
            </a:r>
            <a:r>
              <a:rPr lang="en-US" altLang="en-US" b="0" dirty="0" smtClean="0">
                <a:solidFill>
                  <a:srgbClr val="1F1F1F"/>
                </a:solidFill>
              </a:rPr>
              <a:t>Gradient.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3"/>
            </a:pPr>
            <a:r>
              <a:rPr lang="en-US" altLang="en-US" dirty="0">
                <a:solidFill>
                  <a:srgbClr val="1F1F1F"/>
                </a:solidFill>
              </a:rPr>
              <a:t>Tính </a:t>
            </a:r>
            <a:r>
              <a:rPr lang="en-US" altLang="en-US" dirty="0" err="1">
                <a:solidFill>
                  <a:srgbClr val="1F1F1F"/>
                </a:solidFill>
              </a:rPr>
              <a:t>độ</a:t>
            </a:r>
            <a:r>
              <a:rPr lang="en-US" altLang="en-US" dirty="0">
                <a:solidFill>
                  <a:srgbClr val="1F1F1F"/>
                </a:solidFill>
              </a:rPr>
              <a:t>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Kết</a:t>
            </a:r>
            <a:r>
              <a:rPr lang="en-US" altLang="en-US" b="0" dirty="0">
                <a:solidFill>
                  <a:srgbClr val="1F1F1F"/>
                </a:solidFill>
              </a:rPr>
              <a:t> </a:t>
            </a:r>
            <a:r>
              <a:rPr lang="en-US" altLang="en-US" b="0" dirty="0" err="1">
                <a:solidFill>
                  <a:srgbClr val="1F1F1F"/>
                </a:solidFill>
              </a:rPr>
              <a:t>hợp</a:t>
            </a:r>
            <a:r>
              <a:rPr lang="en-US" altLang="en-US" b="0" dirty="0">
                <a:solidFill>
                  <a:srgbClr val="1F1F1F"/>
                </a:solidFill>
              </a:rPr>
              <a:t>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để </a:t>
            </a:r>
            <a:r>
              <a:rPr lang="en-US" altLang="en-US" b="0" dirty="0" err="1">
                <a:solidFill>
                  <a:srgbClr val="1F1F1F"/>
                </a:solidFill>
              </a:rPr>
              <a:t>xác</a:t>
            </a:r>
            <a:r>
              <a:rPr lang="en-US" altLang="en-US" b="0" dirty="0">
                <a:solidFill>
                  <a:srgbClr val="1F1F1F"/>
                </a:solidFill>
              </a:rPr>
              <a:t> </a:t>
            </a:r>
            <a:r>
              <a:rPr lang="en-US" altLang="en-US" b="0" dirty="0" err="1">
                <a:solidFill>
                  <a:srgbClr val="1F1F1F"/>
                </a:solidFill>
              </a:rPr>
              <a:t>định</a:t>
            </a:r>
            <a:r>
              <a:rPr lang="en-US" altLang="en-US" b="0" dirty="0">
                <a:solidFill>
                  <a:srgbClr val="1F1F1F"/>
                </a:solidFill>
              </a:rPr>
              <a:t> </a:t>
            </a:r>
            <a:r>
              <a:rPr lang="en-US" altLang="en-US" b="0" dirty="0" err="1">
                <a:solidFill>
                  <a:srgbClr val="1F1F1F"/>
                </a:solidFill>
              </a:rPr>
              <a:t>biên</a:t>
            </a:r>
            <a:r>
              <a:rPr lang="en-US" altLang="en-US" b="0" dirty="0" smtClean="0">
                <a:solidFill>
                  <a:srgbClr val="1F1F1F"/>
                </a:solidFill>
              </a:rPr>
              <a:t>.</a:t>
            </a:r>
          </a:p>
          <a:p>
            <a:pPr marL="457200" lvl="1"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4"/>
            </a:pPr>
            <a:r>
              <a:rPr lang="en-US" altLang="en-US" dirty="0" err="1">
                <a:solidFill>
                  <a:srgbClr val="1F1F1F"/>
                </a:solidFill>
              </a:rPr>
              <a:t>Ngưỡng</a:t>
            </a:r>
            <a:r>
              <a:rPr lang="en-US" altLang="en-US" dirty="0">
                <a:solidFill>
                  <a:srgbClr val="1F1F1F"/>
                </a:solidFill>
              </a:rPr>
              <a:t> </a:t>
            </a:r>
            <a:r>
              <a:rPr lang="en-US" altLang="en-US" dirty="0" err="1">
                <a:solidFill>
                  <a:srgbClr val="1F1F1F"/>
                </a:solidFill>
              </a:rPr>
              <a:t>hóa</a:t>
            </a:r>
            <a:r>
              <a:rPr lang="en-US" altLang="en-US" dirty="0">
                <a:solidFill>
                  <a:srgbClr val="1F1F1F"/>
                </a:solidFill>
              </a:rPr>
              <a:t> (</a:t>
            </a:r>
            <a:r>
              <a:rPr lang="en-US" altLang="en-US" dirty="0" err="1">
                <a:solidFill>
                  <a:srgbClr val="1F1F1F"/>
                </a:solidFill>
              </a:rPr>
              <a:t>Thresholding</a:t>
            </a:r>
            <a:r>
              <a:rPr lang="en-US" altLang="en-US" dirty="0">
                <a:solidFill>
                  <a:srgbClr val="1F1F1F"/>
                </a:solidFill>
              </a:rPr>
              <a:t>):</a:t>
            </a: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smtClean="0">
                <a:solidFill>
                  <a:srgbClr val="1F1F1F"/>
                </a:solidFill>
              </a:rPr>
              <a:t>Chỉ</a:t>
            </a:r>
            <a:r>
              <a:rPr lang="en-US" altLang="en-US" b="0" dirty="0" smtClean="0">
                <a:solidFill>
                  <a:srgbClr val="1F1F1F"/>
                </a:solidFill>
              </a:rPr>
              <a:t> </a:t>
            </a:r>
            <a:r>
              <a:rPr lang="vi-VN" b="0" dirty="0" smtClean="0"/>
              <a:t>giữ </a:t>
            </a:r>
            <a:r>
              <a:rPr lang="vi-VN" b="0" dirty="0"/>
              <a:t>lại các điểm biên có độ lớn vượt qua một giá trị ngưỡng nhất định.</a:t>
            </a:r>
          </a:p>
          <a:p>
            <a:pPr marL="457200" lvl="1" indent="0" algn="l" defTabSz="914400" eaLnBrk="0" fontAlgn="base">
              <a:spcBef>
                <a:spcPct val="0"/>
              </a:spcBef>
              <a:spcAft>
                <a:spcPct val="0"/>
              </a:spcAft>
              <a:buFontTx/>
              <a:buChar char="•"/>
            </a:pPr>
            <a:endParaRPr lang="en-US" altLang="en-US" b="0" dirty="0">
              <a:solidFill>
                <a:srgbClr val="1F1F1F"/>
              </a:solidFill>
            </a:endParaRPr>
          </a:p>
        </p:txBody>
      </p:sp>
    </p:spTree>
    <p:extLst>
      <p:ext uri="{BB962C8B-B14F-4D97-AF65-F5344CB8AC3E}">
        <p14:creationId xmlns:p14="http://schemas.microsoft.com/office/powerpoint/2010/main" val="15074605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76450" y="190500"/>
            <a:ext cx="8172450" cy="9233297"/>
          </a:xfrm>
          <a:prstGeom prst="rect">
            <a:avLst/>
          </a:prstGeom>
        </p:spPr>
        <p:txBody>
          <a:bodyPr wrap="square">
            <a:spAutoFit/>
          </a:bodyPr>
          <a:lstStyle/>
          <a:p>
            <a:pPr algn="l"/>
            <a:r>
              <a:rPr lang="vi-VN" sz="5400" dirty="0">
                <a:solidFill>
                  <a:srgbClr val="1F1F1F"/>
                </a:solidFill>
              </a:rPr>
              <a:t>Ưu </a:t>
            </a:r>
            <a:r>
              <a:rPr lang="vi-VN" sz="5400" dirty="0" smtClean="0">
                <a:solidFill>
                  <a:srgbClr val="1F1F1F"/>
                </a:solidFill>
              </a:rPr>
              <a:t>điểm</a:t>
            </a:r>
            <a:endParaRPr lang="en-US" b="0" dirty="0">
              <a:solidFill>
                <a:srgbClr val="1F1F1F"/>
              </a:solidFill>
            </a:endParaRPr>
          </a:p>
          <a:p>
            <a:pPr algn="l"/>
            <a:r>
              <a:rPr lang="en-US" b="0" dirty="0" smtClean="0">
                <a:solidFill>
                  <a:srgbClr val="1F1F1F"/>
                </a:solidFill>
              </a:rPr>
              <a:t>-</a:t>
            </a:r>
            <a:r>
              <a:rPr lang="vi-VN" b="0" dirty="0" smtClean="0">
                <a:solidFill>
                  <a:srgbClr val="1F1F1F"/>
                </a:solidFill>
              </a:rPr>
              <a:t>Đơn giản</a:t>
            </a:r>
            <a:r>
              <a:rPr lang="en-US" b="0" dirty="0" smtClean="0">
                <a:solidFill>
                  <a:srgbClr val="1F1F1F"/>
                </a:solidFill>
              </a:rPr>
              <a:t> </a:t>
            </a:r>
            <a:r>
              <a:rPr lang="vi-VN" b="0" dirty="0" smtClean="0">
                <a:solidFill>
                  <a:srgbClr val="1F1F1F"/>
                </a:solidFill>
              </a:rPr>
              <a:t>và </a:t>
            </a:r>
            <a:r>
              <a:rPr lang="vi-VN" b="0" dirty="0">
                <a:solidFill>
                  <a:srgbClr val="1F1F1F"/>
                </a:solidFill>
              </a:rPr>
              <a:t>hiệu quả</a:t>
            </a:r>
            <a:r>
              <a:rPr lang="vi-VN" b="0" dirty="0" smtClean="0">
                <a:solidFill>
                  <a:srgbClr val="1F1F1F"/>
                </a:solidFill>
              </a:rPr>
              <a:t>.</a:t>
            </a:r>
            <a:endParaRPr lang="en-US" b="0" dirty="0" smtClean="0">
              <a:solidFill>
                <a:srgbClr val="1F1F1F"/>
              </a:solidFill>
            </a:endParaRPr>
          </a:p>
          <a:p>
            <a:pPr algn="l">
              <a:buFont typeface="Arial" panose="020B0604020202020204" pitchFamily="34" charset="0"/>
              <a:buChar char="•"/>
            </a:pPr>
            <a:endParaRPr lang="vi-VN" b="0" dirty="0">
              <a:solidFill>
                <a:srgbClr val="1F1F1F"/>
              </a:solidFill>
            </a:endParaRPr>
          </a:p>
          <a:p>
            <a:pPr algn="l"/>
            <a:r>
              <a:rPr lang="en-US" b="0" dirty="0" smtClean="0">
                <a:solidFill>
                  <a:srgbClr val="1F1F1F"/>
                </a:solidFill>
              </a:rPr>
              <a:t>-</a:t>
            </a:r>
            <a:r>
              <a:rPr lang="vi-VN" b="0" dirty="0"/>
              <a:t>Kernel nhỏ (2x2), tính toán nhanh hơn so với các phương pháp phức tạp hơn (Sobel hoặc Canny</a:t>
            </a:r>
            <a:r>
              <a:rPr lang="vi-VN" b="0" dirty="0" smtClean="0"/>
              <a:t>).</a:t>
            </a:r>
            <a:endParaRPr lang="en-US" b="0" dirty="0" smtClean="0"/>
          </a:p>
          <a:p>
            <a:pPr algn="l"/>
            <a:endParaRPr lang="vi-VN" b="0" dirty="0"/>
          </a:p>
          <a:p>
            <a:pPr algn="l"/>
            <a:r>
              <a:rPr lang="vi-VN" sz="5400" dirty="0" smtClean="0">
                <a:solidFill>
                  <a:srgbClr val="1F1F1F"/>
                </a:solidFill>
              </a:rPr>
              <a:t>Nhược điểm</a:t>
            </a:r>
            <a:endParaRPr lang="en-US" b="0" dirty="0">
              <a:solidFill>
                <a:srgbClr val="1F1F1F"/>
              </a:solidFill>
            </a:endParaRPr>
          </a:p>
          <a:p>
            <a:pPr algn="l"/>
            <a:r>
              <a:rPr lang="en-US" b="0" dirty="0" smtClean="0">
                <a:solidFill>
                  <a:srgbClr val="1F1F1F"/>
                </a:solidFill>
              </a:rPr>
              <a:t>-</a:t>
            </a:r>
            <a:r>
              <a:rPr lang="vi-VN" b="0" dirty="0"/>
              <a:t>Không làm mịn ảnh trước khi phát hiện biên, dẫn đến nhạy cảm với nhiễu</a:t>
            </a:r>
            <a:r>
              <a:rPr lang="vi-VN" b="0" dirty="0" smtClean="0"/>
              <a:t>.</a:t>
            </a:r>
            <a:endParaRPr lang="en-US" b="0" dirty="0" smtClean="0"/>
          </a:p>
          <a:p>
            <a:pPr algn="l"/>
            <a:endParaRPr lang="vi-VN" b="0" dirty="0"/>
          </a:p>
          <a:p>
            <a:pPr algn="l"/>
            <a:r>
              <a:rPr lang="en-US" b="0" dirty="0" smtClean="0"/>
              <a:t>-</a:t>
            </a:r>
            <a:r>
              <a:rPr lang="vi-VN" b="0" dirty="0" smtClean="0"/>
              <a:t>Không </a:t>
            </a:r>
            <a:r>
              <a:rPr lang="vi-VN" b="0" dirty="0"/>
              <a:t>phát hiện tốt các biên mờ hoặc biên cong phức tạp</a:t>
            </a:r>
            <a:r>
              <a:rPr lang="vi-VN" b="0" dirty="0" smtClean="0"/>
              <a:t>.</a:t>
            </a:r>
            <a:endParaRPr lang="en-US" b="0" dirty="0" smtClean="0"/>
          </a:p>
          <a:p>
            <a:pPr algn="l"/>
            <a:endParaRPr lang="vi-VN" b="0" dirty="0"/>
          </a:p>
          <a:p>
            <a:pPr algn="l"/>
            <a:r>
              <a:rPr lang="en-US" b="0" dirty="0" smtClean="0"/>
              <a:t>-</a:t>
            </a:r>
            <a:r>
              <a:rPr lang="vi-VN" b="0" dirty="0" smtClean="0"/>
              <a:t>Khó </a:t>
            </a:r>
            <a:r>
              <a:rPr lang="vi-VN" b="0" dirty="0"/>
              <a:t>xử lý ảnh kích thước lớn vì kernel quá nhỏ</a:t>
            </a:r>
            <a:r>
              <a:rPr lang="vi-VN" b="0" dirty="0" smtClean="0"/>
              <a:t>.</a:t>
            </a:r>
            <a:endParaRPr lang="en-US" b="0" dirty="0" smtClean="0"/>
          </a:p>
          <a:p>
            <a:pPr algn="l"/>
            <a:endParaRPr lang="vi-VN" b="0" dirty="0"/>
          </a:p>
          <a:p>
            <a:pPr algn="l"/>
            <a:r>
              <a:rPr lang="vi-VN" sz="5400" dirty="0" smtClean="0"/>
              <a:t>Ứng dụng</a:t>
            </a:r>
            <a:endParaRPr lang="en-US" sz="5400" b="0" dirty="0"/>
          </a:p>
          <a:p>
            <a:pPr algn="l"/>
            <a:r>
              <a:rPr lang="en-US" b="0" dirty="0" smtClean="0"/>
              <a:t>-</a:t>
            </a:r>
            <a:r>
              <a:rPr lang="vi-VN" b="0" dirty="0" smtClean="0"/>
              <a:t>Phát </a:t>
            </a:r>
            <a:r>
              <a:rPr lang="vi-VN" b="0" dirty="0"/>
              <a:t>hiện </a:t>
            </a:r>
            <a:r>
              <a:rPr lang="vi-VN" b="0" dirty="0" smtClean="0"/>
              <a:t>biên</a:t>
            </a:r>
            <a:r>
              <a:rPr lang="en-US" b="0" dirty="0" smtClean="0"/>
              <a:t> trong </a:t>
            </a:r>
            <a:r>
              <a:rPr lang="en-US" b="0" dirty="0" err="1" smtClean="0"/>
              <a:t>ảnh</a:t>
            </a:r>
            <a:r>
              <a:rPr lang="en-US" b="0" dirty="0" smtClean="0"/>
              <a:t> </a:t>
            </a:r>
            <a:r>
              <a:rPr lang="en-US" b="0" dirty="0" err="1" smtClean="0"/>
              <a:t>đơn</a:t>
            </a:r>
            <a:r>
              <a:rPr lang="en-US" b="0" dirty="0" smtClean="0"/>
              <a:t> </a:t>
            </a:r>
            <a:r>
              <a:rPr lang="en-US" b="0" dirty="0" err="1" smtClean="0"/>
              <a:t>giản</a:t>
            </a:r>
            <a:endParaRPr lang="en-US" b="0" dirty="0" smtClean="0"/>
          </a:p>
          <a:p>
            <a:pPr algn="l"/>
            <a:endParaRPr lang="vi-VN" b="0" dirty="0"/>
          </a:p>
          <a:p>
            <a:pPr algn="l"/>
            <a:r>
              <a:rPr lang="en-US" b="0" dirty="0" smtClean="0"/>
              <a:t>-</a:t>
            </a:r>
            <a:r>
              <a:rPr lang="vi-VN" b="0" dirty="0" smtClean="0"/>
              <a:t>Tiền </a:t>
            </a:r>
            <a:r>
              <a:rPr lang="vi-VN" b="0" dirty="0"/>
              <a:t>xử lý trong các bài </a:t>
            </a:r>
            <a:r>
              <a:rPr lang="vi-VN" b="0" dirty="0" smtClean="0"/>
              <a:t>to</a:t>
            </a:r>
            <a:r>
              <a:rPr lang="en-US" b="0" dirty="0" err="1" smtClean="0"/>
              <a:t>án</a:t>
            </a:r>
            <a:r>
              <a:rPr lang="en-US" b="0" dirty="0" smtClean="0"/>
              <a:t> </a:t>
            </a:r>
            <a:r>
              <a:rPr lang="en-US" b="0" dirty="0" err="1" smtClean="0"/>
              <a:t>xử</a:t>
            </a:r>
            <a:r>
              <a:rPr lang="en-US" b="0" dirty="0" smtClean="0"/>
              <a:t> </a:t>
            </a:r>
            <a:r>
              <a:rPr lang="en-US" b="0" dirty="0" err="1" smtClean="0"/>
              <a:t>lý</a:t>
            </a:r>
            <a:r>
              <a:rPr lang="en-US" b="0" dirty="0" smtClean="0"/>
              <a:t> </a:t>
            </a:r>
            <a:r>
              <a:rPr lang="en-US" b="0" dirty="0" err="1" smtClean="0"/>
              <a:t>ảnh</a:t>
            </a:r>
            <a:r>
              <a:rPr lang="en-US" b="0" dirty="0" smtClean="0"/>
              <a:t> </a:t>
            </a:r>
            <a:r>
              <a:rPr lang="en-US" b="0" dirty="0" err="1" smtClean="0"/>
              <a:t>cơ</a:t>
            </a:r>
            <a:r>
              <a:rPr lang="en-US" b="0" dirty="0" smtClean="0"/>
              <a:t> </a:t>
            </a:r>
            <a:r>
              <a:rPr lang="en-US" b="0" dirty="0" err="1" smtClean="0"/>
              <a:t>bản</a:t>
            </a:r>
            <a:r>
              <a:rPr lang="en-US" b="0" dirty="0" smtClean="0"/>
              <a:t> </a:t>
            </a:r>
            <a:r>
              <a:rPr lang="en-US" b="0" dirty="0" err="1" smtClean="0"/>
              <a:t>hoặc</a:t>
            </a:r>
            <a:r>
              <a:rPr lang="en-US" b="0" dirty="0" smtClean="0"/>
              <a:t> </a:t>
            </a:r>
            <a:r>
              <a:rPr lang="en-US" b="0" dirty="0" err="1" smtClean="0"/>
              <a:t>thời</a:t>
            </a:r>
            <a:r>
              <a:rPr lang="en-US" b="0" dirty="0" smtClean="0"/>
              <a:t> </a:t>
            </a:r>
            <a:r>
              <a:rPr lang="en-US" b="0" dirty="0" err="1" smtClean="0"/>
              <a:t>gian</a:t>
            </a:r>
            <a:r>
              <a:rPr lang="en-US" b="0" dirty="0" smtClean="0"/>
              <a:t> </a:t>
            </a:r>
            <a:r>
              <a:rPr lang="en-US" b="0" dirty="0" err="1" smtClean="0"/>
              <a:t>thực</a:t>
            </a:r>
            <a:endParaRPr lang="vi-VN" b="0" dirty="0"/>
          </a:p>
          <a:p>
            <a:pPr algn="l">
              <a:buFont typeface="Arial" panose="020B0604020202020204" pitchFamily="34" charset="0"/>
              <a:buChar char="•"/>
            </a:pPr>
            <a:endParaRPr lang="vi-VN" b="0" dirty="0">
              <a:solidFill>
                <a:srgbClr val="1F1F1F"/>
              </a:solidFill>
            </a:endParaRPr>
          </a:p>
        </p:txBody>
      </p:sp>
    </p:spTree>
    <p:extLst>
      <p:ext uri="{BB962C8B-B14F-4D97-AF65-F5344CB8AC3E}">
        <p14:creationId xmlns:p14="http://schemas.microsoft.com/office/powerpoint/2010/main" val="25769513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53250" y="1752600"/>
            <a:ext cx="5295900" cy="5632311"/>
          </a:xfrm>
          <a:prstGeom prst="rect">
            <a:avLst/>
          </a:prstGeom>
          <a:noFill/>
        </p:spPr>
        <p:txBody>
          <a:bodyPr wrap="square" rtlCol="0">
            <a:spAutoFit/>
          </a:body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US" sz="6000" b="1" i="0" u="none" strike="noStrike" kern="0" cap="none" spc="0" normalizeH="0" baseline="0" noProof="0" dirty="0" err="1" smtClean="0">
                <a:ln>
                  <a:noFill/>
                </a:ln>
                <a:solidFill>
                  <a:srgbClr val="000000"/>
                </a:solidFill>
                <a:effectLst/>
                <a:uLnTx/>
                <a:uFillTx/>
                <a:latin typeface="Helvetica Neue"/>
                <a:sym typeface="Helvetica Neue"/>
              </a:rPr>
              <a:t>Toán</a:t>
            </a:r>
            <a:r>
              <a:rPr kumimoji="0" lang="en-US" sz="6000" b="1" i="0" u="none" strike="noStrike" kern="0" cap="none" spc="0" normalizeH="0" baseline="0" noProof="0" dirty="0" smtClean="0">
                <a:ln>
                  <a:noFill/>
                </a:ln>
                <a:solidFill>
                  <a:srgbClr val="000000"/>
                </a:solidFill>
                <a:effectLst/>
                <a:uLnTx/>
                <a:uFillTx/>
                <a:latin typeface="Helvetica Neue"/>
                <a:sym typeface="Helvetica Neue"/>
              </a:rPr>
              <a:t> </a:t>
            </a:r>
            <a:r>
              <a:rPr kumimoji="0" lang="en-US" sz="6000" b="1" i="0" u="none" strike="noStrike" kern="0" cap="none" spc="0" normalizeH="0" baseline="0" noProof="0" dirty="0" err="1" smtClean="0">
                <a:ln>
                  <a:noFill/>
                </a:ln>
                <a:solidFill>
                  <a:srgbClr val="000000"/>
                </a:solidFill>
                <a:effectLst/>
                <a:uLnTx/>
                <a:uFillTx/>
                <a:latin typeface="Helvetica Neue"/>
                <a:sym typeface="Helvetica Neue"/>
              </a:rPr>
              <a:t>tử</a:t>
            </a:r>
            <a:r>
              <a:rPr kumimoji="0" lang="en-US" sz="6000" b="1" i="0" u="none" strike="noStrike" kern="0" cap="none" spc="0" normalizeH="0" baseline="0" noProof="0" dirty="0" smtClean="0">
                <a:ln>
                  <a:noFill/>
                </a:ln>
                <a:solidFill>
                  <a:srgbClr val="000000"/>
                </a:solidFill>
                <a:effectLst/>
                <a:uLnTx/>
                <a:uFillTx/>
                <a:latin typeface="Helvetica Neue"/>
                <a:sym typeface="Helvetica Neue"/>
              </a:rPr>
              <a:t> Prewitt</a:t>
            </a:r>
          </a:p>
          <a:p>
            <a:pPr marL="0" marR="0" lvl="0" indent="0" algn="l" defTabSz="584200" rtl="0" eaLnBrk="1" fontAlgn="auto" latinLnBrk="0" hangingPunct="0">
              <a:lnSpc>
                <a:spcPct val="100000"/>
              </a:lnSpc>
              <a:spcBef>
                <a:spcPts val="0"/>
              </a:spcBef>
              <a:spcAft>
                <a:spcPts val="0"/>
              </a:spcAft>
              <a:buClrTx/>
              <a:buSzTx/>
              <a:buFontTx/>
              <a:buNone/>
              <a:tabLst/>
              <a:defRPr/>
            </a:pPr>
            <a:endParaRPr kumimoji="0" lang="en-US" sz="2400" b="0" i="0" u="none" strike="noStrike" kern="0" cap="none" spc="0" normalizeH="0" baseline="0" noProof="0" dirty="0" smtClean="0">
              <a:ln>
                <a:noFill/>
              </a:ln>
              <a:solidFill>
                <a:srgbClr val="000000"/>
              </a:solidFill>
              <a:effectLst/>
              <a:uLnTx/>
              <a:uFillTx/>
              <a:latin typeface="Helvetica Neue"/>
              <a:sym typeface="Helvetica Neue"/>
            </a:endParaRPr>
          </a:p>
          <a:p>
            <a:pPr lvl="0" algn="l"/>
            <a:r>
              <a:rPr lang="vi-VN" b="0" dirty="0"/>
              <a:t>Bộ lọc Prewitt là một loại bộ lọc đạo hàm được sử dụng trong xử lý ảnh, nhằm phát hiện biên (edges) trong hình ảnh. </a:t>
            </a:r>
            <a:endParaRPr lang="en-US" b="0" dirty="0" smtClean="0"/>
          </a:p>
          <a:p>
            <a:pPr lvl="0" algn="l"/>
            <a:r>
              <a:rPr lang="vi-VN" b="0" dirty="0" smtClean="0"/>
              <a:t>Bộ </a:t>
            </a:r>
            <a:r>
              <a:rPr lang="vi-VN" b="0" dirty="0"/>
              <a:t>lọc này là một dạng của bộ lọc gradient, có nhiệm vụ làm nổi bật sự thay đổi cường độ sáng của pixel trong ảnh, giúp phát hiện các biên hoặc sự thay đổi trong hình ảnh</a:t>
            </a:r>
            <a:r>
              <a:rPr lang="vi-VN" b="0" dirty="0" smtClean="0"/>
              <a:t>.</a:t>
            </a:r>
            <a:endParaRPr kumimoji="0" lang="en-US" sz="2400" b="1" i="0" u="none" strike="noStrike" kern="0" cap="none" spc="0" normalizeH="0" baseline="0" noProof="0" dirty="0">
              <a:ln>
                <a:noFill/>
              </a:ln>
              <a:solidFill>
                <a:srgbClr val="000000"/>
              </a:solidFill>
              <a:effectLst/>
              <a:uLnTx/>
              <a:uFillTx/>
              <a:latin typeface="Helvetica Neue"/>
              <a:sym typeface="Helvetica Neue"/>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894" y="2019299"/>
            <a:ext cx="6181356" cy="5098911"/>
          </a:xfrm>
          <a:prstGeom prst="rect">
            <a:avLst/>
          </a:prstGeom>
        </p:spPr>
      </p:pic>
    </p:spTree>
    <p:extLst>
      <p:ext uri="{BB962C8B-B14F-4D97-AF65-F5344CB8AC3E}">
        <p14:creationId xmlns:p14="http://schemas.microsoft.com/office/powerpoint/2010/main" val="11031458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1008309" y="129582"/>
            <a:ext cx="11888003" cy="1249767"/>
          </a:xfrm>
        </p:spPr>
        <p:txBody>
          <a:bodyPr>
            <a:normAutofit fontScale="90000"/>
          </a:bodyPr>
          <a:lstStyle/>
          <a:p>
            <a:r>
              <a:rPr lang="en-US" sz="6600" b="1" dirty="0" smtClean="0">
                <a:latin typeface="Constantia" panose="02030602050306030303" pitchFamily="18" charset="0"/>
              </a:rPr>
              <a:t>Nguyên </a:t>
            </a:r>
            <a:r>
              <a:rPr lang="en-US" sz="6600" b="1" dirty="0" err="1" smtClean="0">
                <a:latin typeface="Constantia" panose="02030602050306030303" pitchFamily="18" charset="0"/>
              </a:rPr>
              <a:t>lý</a:t>
            </a:r>
            <a:r>
              <a:rPr lang="en-US" sz="6600" b="1" dirty="0" smtClean="0">
                <a:latin typeface="Constantia" panose="02030602050306030303" pitchFamily="18" charset="0"/>
              </a:rPr>
              <a:t> </a:t>
            </a:r>
            <a:r>
              <a:rPr lang="en-US" sz="6600" b="1" dirty="0" err="1" smtClean="0">
                <a:latin typeface="Constantia" panose="02030602050306030303" pitchFamily="18" charset="0"/>
              </a:rPr>
              <a:t>hoạt</a:t>
            </a:r>
            <a:r>
              <a:rPr lang="en-US" sz="6600" b="1" dirty="0" smtClean="0">
                <a:latin typeface="Constantia" panose="02030602050306030303" pitchFamily="18" charset="0"/>
              </a:rPr>
              <a:t> </a:t>
            </a:r>
            <a:r>
              <a:rPr lang="en-US" sz="6600" b="1" dirty="0" err="1" smtClean="0">
                <a:latin typeface="Constantia" panose="02030602050306030303" pitchFamily="18" charset="0"/>
              </a:rPr>
              <a:t>động</a:t>
            </a:r>
            <a:r>
              <a:rPr lang="en-US" sz="6600" b="1" dirty="0">
                <a:latin typeface="Constantia" panose="02030602050306030303" pitchFamily="18" charset="0"/>
              </a:rPr>
              <a:t/>
            </a:r>
            <a:br>
              <a:rPr lang="en-US" sz="6600" b="1" dirty="0">
                <a:latin typeface="Constantia" panose="02030602050306030303" pitchFamily="18" charset="0"/>
              </a:rPr>
            </a:br>
            <a:r>
              <a:rPr lang="en-US" sz="6600" b="1" dirty="0" smtClean="0">
                <a:latin typeface="Constantia" panose="02030602050306030303" pitchFamily="18" charset="0"/>
              </a:rPr>
              <a:t/>
            </a:r>
            <a:br>
              <a:rPr lang="en-US" sz="6600" b="1" dirty="0" smtClean="0">
                <a:latin typeface="Constantia" panose="02030602050306030303" pitchFamily="18" charset="0"/>
              </a:rPr>
            </a:br>
            <a:endParaRPr lang="en-US" sz="6600" b="1" dirty="0">
              <a:latin typeface="Constantia" panose="02030602050306030303" pitchFamily="18" charset="0"/>
            </a:endParaRPr>
          </a:p>
        </p:txBody>
      </p:sp>
      <p:sp>
        <p:nvSpPr>
          <p:cNvPr id="5" name="TextBox 4"/>
          <p:cNvSpPr txBox="1"/>
          <p:nvPr/>
        </p:nvSpPr>
        <p:spPr>
          <a:xfrm>
            <a:off x="1219200" y="1869355"/>
            <a:ext cx="10896600" cy="8586966"/>
          </a:xfrm>
          <a:prstGeom prst="rect">
            <a:avLst/>
          </a:prstGeom>
          <a:noFill/>
        </p:spPr>
        <p:txBody>
          <a:bodyPr wrap="square" rtlCol="0">
            <a:spAutoFit/>
          </a:bodyPr>
          <a:lstStyle/>
          <a:p>
            <a:pPr algn="l"/>
            <a:r>
              <a:rPr lang="vi-VN" b="0" dirty="0"/>
              <a:t>Bộ lọc Prewitt sử dụng hai ma trận (kernel) để tính toán gradient theo phương ngang (Gx) và phương dọc (Gy). Các ma trận này được áp dụng lên mỗi pixel trong ảnh, với mục đích tính toán sự thay đổi cường độ sáng theo hướng ngang và dọc</a:t>
            </a:r>
            <a:r>
              <a:rPr lang="vi-VN" b="0" dirty="0" smtClean="0"/>
              <a:t>.</a:t>
            </a:r>
            <a:endParaRPr lang="en-US" b="0" dirty="0" smtClean="0"/>
          </a:p>
          <a:p>
            <a:pPr algn="l"/>
            <a:r>
              <a:rPr lang="en-US" b="0" dirty="0" smtClean="0"/>
              <a:t>1.</a:t>
            </a:r>
            <a:r>
              <a:rPr lang="en-US" dirty="0" smtClean="0"/>
              <a:t>Kernel Prewitt:</a:t>
            </a:r>
          </a:p>
          <a:p>
            <a:pPr algn="l"/>
            <a:r>
              <a:rPr lang="en-US" dirty="0" smtClean="0"/>
              <a:t>- </a:t>
            </a:r>
            <a:r>
              <a:rPr lang="en-US" dirty="0" err="1" smtClean="0"/>
              <a:t>Hướng</a:t>
            </a:r>
            <a:r>
              <a:rPr lang="en-US" dirty="0" smtClean="0"/>
              <a:t> </a:t>
            </a:r>
            <a:r>
              <a:rPr lang="en-US" dirty="0" err="1" smtClean="0"/>
              <a:t>ngang</a:t>
            </a:r>
            <a:r>
              <a:rPr lang="en-US" dirty="0" smtClean="0"/>
              <a:t>(</a:t>
            </a:r>
            <a:r>
              <a:rPr lang="en-US" dirty="0" err="1" smtClean="0"/>
              <a:t>Gx</a:t>
            </a:r>
            <a:r>
              <a:rPr lang="en-US" dirty="0" smtClean="0"/>
              <a:t>): </a:t>
            </a:r>
            <a:r>
              <a:rPr lang="en-US" dirty="0" err="1" smtClean="0"/>
              <a:t>K_x</a:t>
            </a:r>
            <a:r>
              <a:rPr lang="en-US" dirty="0" smtClean="0"/>
              <a:t> = </a:t>
            </a:r>
          </a:p>
          <a:p>
            <a:pPr algn="l"/>
            <a:r>
              <a:rPr lang="en-US" dirty="0"/>
              <a:t>	</a:t>
            </a:r>
            <a:r>
              <a:rPr lang="en-US" dirty="0" smtClean="0"/>
              <a:t>							</a:t>
            </a:r>
          </a:p>
          <a:p>
            <a:pPr algn="l"/>
            <a:endParaRPr lang="en-US" dirty="0"/>
          </a:p>
          <a:p>
            <a:pPr algn="l"/>
            <a:r>
              <a:rPr lang="en-US" dirty="0" smtClean="0"/>
              <a:t>- </a:t>
            </a:r>
            <a:r>
              <a:rPr lang="en-US" dirty="0" err="1" smtClean="0"/>
              <a:t>Hướng</a:t>
            </a:r>
            <a:r>
              <a:rPr lang="en-US" dirty="0" smtClean="0"/>
              <a:t> </a:t>
            </a:r>
            <a:r>
              <a:rPr lang="en-US" dirty="0" err="1" smtClean="0"/>
              <a:t>dọc</a:t>
            </a:r>
            <a:r>
              <a:rPr lang="en-US" dirty="0" smtClean="0"/>
              <a:t>(</a:t>
            </a:r>
            <a:r>
              <a:rPr lang="en-US" dirty="0" err="1" smtClean="0"/>
              <a:t>Gy</a:t>
            </a:r>
            <a:r>
              <a:rPr lang="en-US" dirty="0" smtClean="0"/>
              <a:t>)    : </a:t>
            </a:r>
            <a:r>
              <a:rPr lang="en-US" dirty="0" err="1" smtClean="0"/>
              <a:t>K_y</a:t>
            </a:r>
            <a:r>
              <a:rPr lang="en-US" dirty="0" smtClean="0"/>
              <a:t> =  </a:t>
            </a:r>
          </a:p>
          <a:p>
            <a:pPr marL="342900" indent="-342900" algn="l">
              <a:buFontTx/>
              <a:buChar char="-"/>
            </a:pPr>
            <a:endParaRPr lang="en-US" dirty="0"/>
          </a:p>
          <a:p>
            <a:pPr marL="342900" indent="-342900" algn="l">
              <a:buFontTx/>
              <a:buChar char="-"/>
            </a:pPr>
            <a:endParaRPr lang="en-US" dirty="0" smtClean="0"/>
          </a:p>
          <a:p>
            <a:pPr algn="l"/>
            <a:r>
              <a:rPr lang="en-US" dirty="0" smtClean="0"/>
              <a:t>2. Tính toàn Gradient:</a:t>
            </a:r>
          </a:p>
          <a:p>
            <a:pPr algn="l"/>
            <a:r>
              <a:rPr lang="en-US" b="0" dirty="0"/>
              <a:t>	</a:t>
            </a:r>
            <a:r>
              <a:rPr lang="en-US" b="0" dirty="0" smtClean="0"/>
              <a:t>	</a:t>
            </a:r>
            <a:r>
              <a:rPr lang="vi-VN" b="0" dirty="0" smtClean="0"/>
              <a:t>Gradient theo hướng (x): (G_x = I * K_x)</a:t>
            </a:r>
          </a:p>
          <a:p>
            <a:pPr algn="l"/>
            <a:r>
              <a:rPr lang="en-US" b="0" dirty="0"/>
              <a:t>	</a:t>
            </a:r>
            <a:r>
              <a:rPr lang="en-US" b="0" dirty="0" smtClean="0"/>
              <a:t>	</a:t>
            </a:r>
            <a:r>
              <a:rPr lang="vi-VN" b="0" dirty="0" smtClean="0"/>
              <a:t>Gradient </a:t>
            </a:r>
            <a:r>
              <a:rPr lang="vi-VN" b="0" dirty="0"/>
              <a:t>theo hướng (y): (G_y = I * K_y)</a:t>
            </a:r>
          </a:p>
          <a:p>
            <a:pPr algn="l"/>
            <a:r>
              <a:rPr lang="en-US" b="0" dirty="0"/>
              <a:t>	</a:t>
            </a:r>
            <a:r>
              <a:rPr lang="en-US" b="0" dirty="0" smtClean="0"/>
              <a:t>	(</a:t>
            </a:r>
            <a:r>
              <a:rPr lang="vi-VN" b="0" dirty="0" smtClean="0"/>
              <a:t>Ở </a:t>
            </a:r>
            <a:r>
              <a:rPr lang="vi-VN" b="0" dirty="0"/>
              <a:t>đây, (I) là ảnh đầu vào, và (*) là phép tích </a:t>
            </a:r>
            <a:r>
              <a:rPr lang="vi-VN" b="0" dirty="0" smtClean="0"/>
              <a:t>chập</a:t>
            </a:r>
            <a:r>
              <a:rPr lang="en-US" b="0" dirty="0" smtClean="0"/>
              <a:t> )</a:t>
            </a:r>
          </a:p>
          <a:p>
            <a:pPr algn="l"/>
            <a:endParaRPr lang="vi-VN" b="0" dirty="0"/>
          </a:p>
          <a:p>
            <a:pPr lvl="0" algn="l" defTabSz="914400" eaLnBrk="0" fontAlgn="base">
              <a:spcBef>
                <a:spcPct val="0"/>
              </a:spcBef>
              <a:spcAft>
                <a:spcPct val="0"/>
              </a:spcAft>
            </a:pPr>
            <a:r>
              <a:rPr lang="en-US" altLang="en-US" dirty="0" smtClean="0">
                <a:solidFill>
                  <a:srgbClr val="1F1F1F"/>
                </a:solidFill>
              </a:rPr>
              <a:t>3.Độ </a:t>
            </a:r>
            <a:r>
              <a:rPr lang="en-US" altLang="en-US" dirty="0" err="1">
                <a:solidFill>
                  <a:srgbClr val="1F1F1F"/>
                </a:solidFill>
              </a:rPr>
              <a:t>lớn</a:t>
            </a:r>
            <a:r>
              <a:rPr lang="en-US" altLang="en-US" dirty="0">
                <a:solidFill>
                  <a:srgbClr val="1F1F1F"/>
                </a:solidFill>
              </a:rPr>
              <a:t> </a:t>
            </a:r>
            <a:r>
              <a:rPr lang="en-US" altLang="en-US" dirty="0" err="1">
                <a:solidFill>
                  <a:srgbClr val="1F1F1F"/>
                </a:solidFill>
              </a:rPr>
              <a:t>biên</a:t>
            </a:r>
            <a:r>
              <a:rPr lang="en-US" altLang="en-US" dirty="0">
                <a:solidFill>
                  <a:srgbClr val="1F1F1F"/>
                </a:solidFill>
              </a:rPr>
              <a:t> (</a:t>
            </a:r>
            <a:r>
              <a:rPr lang="en-US" altLang="en-US" b="0" dirty="0">
                <a:solidFill>
                  <a:srgbClr val="1F1F1F"/>
                </a:solidFill>
              </a:rPr>
              <a:t>G</a:t>
            </a:r>
            <a:r>
              <a:rPr lang="en-US" altLang="en-US" dirty="0">
                <a:solidFill>
                  <a:srgbClr val="1F1F1F"/>
                </a:solidFill>
              </a:rPr>
              <a:t>):</a:t>
            </a:r>
            <a:r>
              <a:rPr lang="en-US" altLang="en-US" b="0" dirty="0">
                <a:solidFill>
                  <a:srgbClr val="1F1F1F"/>
                </a:solidFill>
              </a:rPr>
              <a:t> </a:t>
            </a:r>
            <a:r>
              <a:rPr lang="en-US" altLang="en-US" b="0" dirty="0" err="1">
                <a:solidFill>
                  <a:srgbClr val="1F1F1F"/>
                </a:solidFill>
              </a:rPr>
              <a:t>Sau</a:t>
            </a:r>
            <a:r>
              <a:rPr lang="en-US" altLang="en-US" b="0" dirty="0">
                <a:solidFill>
                  <a:srgbClr val="1F1F1F"/>
                </a:solidFill>
              </a:rPr>
              <a:t> </a:t>
            </a:r>
            <a:r>
              <a:rPr lang="en-US" altLang="en-US" b="0" dirty="0" err="1">
                <a:solidFill>
                  <a:srgbClr val="1F1F1F"/>
                </a:solidFill>
              </a:rPr>
              <a:t>khi</a:t>
            </a:r>
            <a:r>
              <a:rPr lang="en-US" altLang="en-US" b="0" dirty="0">
                <a:solidFill>
                  <a:srgbClr val="1F1F1F"/>
                </a:solidFill>
              </a:rPr>
              <a:t> tính </a:t>
            </a:r>
            <a:r>
              <a:rPr lang="en-US" altLang="en-US" b="0" dirty="0" err="1">
                <a:solidFill>
                  <a:srgbClr val="1F1F1F"/>
                </a:solidFill>
              </a:rPr>
              <a:t>Gx</a:t>
            </a:r>
            <a:r>
              <a:rPr lang="en-US" altLang="en-US" b="0" dirty="0">
                <a:solidFill>
                  <a:srgbClr val="1F1F1F"/>
                </a:solidFill>
              </a:rPr>
              <a:t> </a:t>
            </a:r>
            <a:r>
              <a:rPr lang="en-US" altLang="en-US" b="0" dirty="0" err="1">
                <a:solidFill>
                  <a:srgbClr val="1F1F1F"/>
                </a:solidFill>
              </a:rPr>
              <a:t>và</a:t>
            </a:r>
            <a:r>
              <a:rPr lang="en-US" altLang="en-US" b="0" dirty="0">
                <a:solidFill>
                  <a:srgbClr val="1F1F1F"/>
                </a:solidFill>
              </a:rPr>
              <a:t> </a:t>
            </a:r>
            <a:r>
              <a:rPr lang="en-US" altLang="en-US" b="0" dirty="0" err="1">
                <a:solidFill>
                  <a:srgbClr val="1F1F1F"/>
                </a:solidFill>
              </a:rPr>
              <a:t>Gy</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biên</a:t>
            </a:r>
            <a:r>
              <a:rPr lang="en-US" altLang="en-US" b="0" dirty="0">
                <a:solidFill>
                  <a:srgbClr val="1F1F1F"/>
                </a:solidFill>
              </a:rPr>
              <a:t> </a:t>
            </a:r>
            <a:r>
              <a:rPr lang="en-US" altLang="en-US" b="0" dirty="0" err="1">
                <a:solidFill>
                  <a:srgbClr val="1F1F1F"/>
                </a:solidFill>
              </a:rPr>
              <a:t>được</a:t>
            </a:r>
            <a:r>
              <a:rPr lang="en-US" altLang="en-US" b="0" dirty="0">
                <a:solidFill>
                  <a:srgbClr val="1F1F1F"/>
                </a:solidFill>
              </a:rPr>
              <a:t> tính </a:t>
            </a:r>
            <a:r>
              <a:rPr lang="en-US" altLang="en-US" b="0" dirty="0" err="1">
                <a:solidFill>
                  <a:srgbClr val="1F1F1F"/>
                </a:solidFill>
              </a:rPr>
              <a:t>bằng</a:t>
            </a:r>
            <a:r>
              <a:rPr lang="en-US" altLang="en-US" b="0" dirty="0">
                <a:solidFill>
                  <a:srgbClr val="1F1F1F"/>
                </a:solidFill>
              </a:rPr>
              <a:t>:</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smtClean="0">
              <a:solidFill>
                <a:srgbClr val="1F1F1F"/>
              </a:solidFill>
            </a:endParaRPr>
          </a:p>
          <a:p>
            <a:pPr lvl="0" algn="l" defTabSz="914400" eaLnBrk="0" fontAlgn="base">
              <a:spcBef>
                <a:spcPct val="0"/>
              </a:spcBef>
              <a:spcAft>
                <a:spcPct val="0"/>
              </a:spcAft>
            </a:pPr>
            <a:r>
              <a:rPr lang="en-US" altLang="en-US" b="0" dirty="0" smtClean="0">
                <a:solidFill>
                  <a:srgbClr val="1F1F1F"/>
                </a:solidFill>
              </a:rPr>
              <a:t>(</a:t>
            </a:r>
            <a:r>
              <a:rPr lang="en-US" altLang="en-US" b="0" dirty="0" err="1">
                <a:solidFill>
                  <a:srgbClr val="1F1F1F"/>
                </a:solidFill>
              </a:rPr>
              <a:t>hoặc</a:t>
            </a:r>
            <a:r>
              <a:rPr lang="en-US" altLang="en-US" b="0" dirty="0">
                <a:solidFill>
                  <a:srgbClr val="1F1F1F"/>
                </a:solidFill>
              </a:rPr>
              <a:t> </a:t>
            </a:r>
            <a:r>
              <a:rPr lang="en-US" altLang="en-US" b="0" dirty="0" err="1">
                <a:solidFill>
                  <a:srgbClr val="1F1F1F"/>
                </a:solidFill>
              </a:rPr>
              <a:t>lấy</a:t>
            </a:r>
            <a:r>
              <a:rPr lang="en-US" altLang="en-US" b="0" dirty="0">
                <a:solidFill>
                  <a:srgbClr val="1F1F1F"/>
                </a:solidFill>
              </a:rPr>
              <a:t> </a:t>
            </a:r>
            <a:r>
              <a:rPr lang="en-US" altLang="en-US" b="0" dirty="0" err="1">
                <a:solidFill>
                  <a:srgbClr val="1F1F1F"/>
                </a:solidFill>
              </a:rPr>
              <a:t>gần</a:t>
            </a:r>
            <a:r>
              <a:rPr lang="en-US" altLang="en-US" b="0" dirty="0">
                <a:solidFill>
                  <a:srgbClr val="1F1F1F"/>
                </a:solidFill>
              </a:rPr>
              <a:t> </a:t>
            </a:r>
            <a:r>
              <a:rPr lang="en-US" altLang="en-US" b="0" dirty="0" err="1">
                <a:solidFill>
                  <a:srgbClr val="1F1F1F"/>
                </a:solidFill>
              </a:rPr>
              <a:t>đúng</a:t>
            </a:r>
            <a:r>
              <a:rPr lang="en-US" altLang="en-US" b="0" dirty="0">
                <a:solidFill>
                  <a:srgbClr val="1F1F1F"/>
                </a:solidFill>
              </a:rPr>
              <a:t> G=|</a:t>
            </a:r>
            <a:r>
              <a:rPr lang="en-US" altLang="en-US" b="0" dirty="0" err="1">
                <a:solidFill>
                  <a:srgbClr val="1F1F1F"/>
                </a:solidFill>
              </a:rPr>
              <a:t>Gx</a:t>
            </a:r>
            <a:r>
              <a:rPr lang="en-US" altLang="en-US" b="0" dirty="0">
                <a:solidFill>
                  <a:srgbClr val="1F1F1F"/>
                </a:solidFill>
              </a:rPr>
              <a:t>|+|</a:t>
            </a:r>
            <a:r>
              <a:rPr lang="en-US" altLang="en-US" b="0" dirty="0" err="1">
                <a:solidFill>
                  <a:srgbClr val="1F1F1F"/>
                </a:solidFill>
              </a:rPr>
              <a:t>Gy</a:t>
            </a:r>
            <a:r>
              <a:rPr lang="en-US" altLang="en-US" b="0" dirty="0" smtClean="0">
                <a:solidFill>
                  <a:srgbClr val="1F1F1F"/>
                </a:solidFill>
              </a:rPr>
              <a:t>|).</a:t>
            </a: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chemeClr val="tx1"/>
                </a:solidFill>
              </a:rPr>
              <a:t/>
            </a:r>
            <a:br>
              <a:rPr lang="en-US" altLang="en-US" b="0" dirty="0">
                <a:solidFill>
                  <a:schemeClr val="tx1"/>
                </a:solidFill>
              </a:rPr>
            </a:br>
            <a:endParaRPr lang="en-US" dirty="0" smtClean="0"/>
          </a:p>
        </p:txBody>
      </p:sp>
      <p:sp>
        <p:nvSpPr>
          <p:cNvPr id="9" name="Rectangle 4"/>
          <p:cNvSpPr>
            <a:spLocks noChangeArrowheads="1"/>
          </p:cNvSpPr>
          <p:nvPr/>
        </p:nvSpPr>
        <p:spPr bwMode="auto">
          <a:xfrm>
            <a:off x="304800" y="304800"/>
            <a:ext cx="130048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smtClean="0">
                <a:ln>
                  <a:noFill/>
                </a:ln>
                <a:solidFill>
                  <a:srgbClr val="E3E3E3"/>
                </a:solidFill>
                <a:effectLst/>
                <a:latin typeface="Roboto"/>
              </a:rPr>
              <a:t>Hướng ngang (</a:t>
            </a:r>
            <a:r>
              <a:rPr kumimoji="0" lang="en-US" altLang="en-US" sz="1400" b="0" i="0" u="none" strike="noStrike" cap="none" normalizeH="0" baseline="0" smtClean="0">
                <a:ln>
                  <a:noFill/>
                </a:ln>
                <a:solidFill>
                  <a:srgbClr val="E3E3E3"/>
                </a:solidFill>
                <a:effectLst/>
                <a:latin typeface="MathJax_Math-italic"/>
              </a:rPr>
              <a:t>G</a:t>
            </a:r>
            <a:r>
              <a:rPr kumimoji="0" lang="en-US" altLang="en-US" sz="900" b="0" i="0" u="none" strike="noStrike" cap="none" normalizeH="0" baseline="0" smtClean="0">
                <a:ln>
                  <a:noFill/>
                </a:ln>
                <a:solidFill>
                  <a:srgbClr val="E3E3E3"/>
                </a:solidFill>
                <a:effectLst/>
                <a:latin typeface="MathJax_Math-italic"/>
              </a:rPr>
              <a:t>x</a:t>
            </a:r>
            <a:r>
              <a:rPr kumimoji="0" lang="en-US" altLang="en-US" sz="1200" b="0" i="0" u="none" strike="noStrike" cap="none" normalizeH="0" baseline="0" smtClean="0">
                <a:ln>
                  <a:noFill/>
                </a:ln>
                <a:solidFill>
                  <a:srgbClr val="E3E3E3"/>
                </a:solidFill>
                <a:effectLst/>
                <a:latin typeface="Roboto"/>
              </a:rPr>
              <a:t>): $$ K_x =</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17" name="Picture 16"/>
          <p:cNvPicPr>
            <a:picLocks noChangeAspect="1"/>
          </p:cNvPicPr>
          <p:nvPr/>
        </p:nvPicPr>
        <p:blipFill>
          <a:blip r:embed="rId2"/>
          <a:stretch>
            <a:fillRect/>
          </a:stretch>
        </p:blipFill>
        <p:spPr>
          <a:xfrm>
            <a:off x="5164998" y="8344391"/>
            <a:ext cx="1362265" cy="507053"/>
          </a:xfrm>
          <a:prstGeom prst="rect">
            <a:avLst/>
          </a:prstGeom>
        </p:spPr>
      </p:pic>
      <p:pic>
        <p:nvPicPr>
          <p:cNvPr id="4" name="Picture 3"/>
          <p:cNvPicPr>
            <a:picLocks noChangeAspect="1"/>
          </p:cNvPicPr>
          <p:nvPr/>
        </p:nvPicPr>
        <p:blipFill>
          <a:blip r:embed="rId3"/>
          <a:stretch>
            <a:fillRect/>
          </a:stretch>
        </p:blipFill>
        <p:spPr>
          <a:xfrm>
            <a:off x="5294710" y="3850498"/>
            <a:ext cx="1890976" cy="819264"/>
          </a:xfrm>
          <a:prstGeom prst="rect">
            <a:avLst/>
          </a:prstGeom>
        </p:spPr>
      </p:pic>
      <p:pic>
        <p:nvPicPr>
          <p:cNvPr id="6" name="Picture 5"/>
          <p:cNvPicPr>
            <a:picLocks noChangeAspect="1"/>
          </p:cNvPicPr>
          <p:nvPr/>
        </p:nvPicPr>
        <p:blipFill>
          <a:blip r:embed="rId4"/>
          <a:stretch>
            <a:fillRect/>
          </a:stretch>
        </p:blipFill>
        <p:spPr>
          <a:xfrm>
            <a:off x="5194683" y="4936478"/>
            <a:ext cx="1991003" cy="847843"/>
          </a:xfrm>
          <a:prstGeom prst="rect">
            <a:avLst/>
          </a:prstGeom>
        </p:spPr>
      </p:pic>
    </p:spTree>
    <p:extLst>
      <p:ext uri="{BB962C8B-B14F-4D97-AF65-F5344CB8AC3E}">
        <p14:creationId xmlns:p14="http://schemas.microsoft.com/office/powerpoint/2010/main" val="399649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62200" y="1447800"/>
            <a:ext cx="8172450" cy="6647974"/>
          </a:xfrm>
          <a:prstGeom prst="rect">
            <a:avLst/>
          </a:prstGeom>
        </p:spPr>
        <p:txBody>
          <a:bodyPr wrap="square">
            <a:spAutoFit/>
          </a:bodyPr>
          <a:lstStyle/>
          <a:p>
            <a:pPr algn="l"/>
            <a:r>
              <a:rPr lang="vi-VN" sz="5400" dirty="0">
                <a:solidFill>
                  <a:srgbClr val="1F1F1F"/>
                </a:solidFill>
              </a:rPr>
              <a:t>Ưu </a:t>
            </a:r>
            <a:r>
              <a:rPr lang="vi-VN" sz="5400" dirty="0" smtClean="0">
                <a:solidFill>
                  <a:srgbClr val="1F1F1F"/>
                </a:solidFill>
              </a:rPr>
              <a:t>điểm</a:t>
            </a:r>
            <a:endParaRPr lang="en-US" b="0" dirty="0">
              <a:solidFill>
                <a:srgbClr val="1F1F1F"/>
              </a:solidFill>
            </a:endParaRPr>
          </a:p>
          <a:p>
            <a:pPr algn="l"/>
            <a:r>
              <a:rPr lang="en-US" b="0" dirty="0" smtClean="0">
                <a:solidFill>
                  <a:srgbClr val="1F1F1F"/>
                </a:solidFill>
              </a:rPr>
              <a:t>-</a:t>
            </a:r>
            <a:r>
              <a:rPr lang="vi-VN" b="0" dirty="0"/>
              <a:t>Tính toán đơn giản, nhanh hơn Sobel.</a:t>
            </a:r>
            <a:br>
              <a:rPr lang="vi-VN" b="0" dirty="0"/>
            </a:br>
            <a:r>
              <a:rPr lang="en-US" b="0" dirty="0"/>
              <a:t>-</a:t>
            </a:r>
            <a:r>
              <a:rPr lang="vi-VN" b="0" dirty="0" smtClean="0"/>
              <a:t>Nhạy </a:t>
            </a:r>
            <a:r>
              <a:rPr lang="vi-VN" b="0" dirty="0"/>
              <a:t>với biên ngang &amp; dọc, dễ triển khai.</a:t>
            </a:r>
            <a:br>
              <a:rPr lang="vi-VN" b="0" dirty="0"/>
            </a:br>
            <a:r>
              <a:rPr lang="en-US" b="0" dirty="0"/>
              <a:t>-</a:t>
            </a:r>
            <a:r>
              <a:rPr lang="vi-VN" b="0" dirty="0" smtClean="0"/>
              <a:t>Hoạt </a:t>
            </a:r>
            <a:r>
              <a:rPr lang="vi-VN" b="0" dirty="0"/>
              <a:t>động tốt với ảnh ít nhiễu.</a:t>
            </a:r>
          </a:p>
          <a:p>
            <a:pPr algn="l"/>
            <a:r>
              <a:rPr lang="vi-VN" sz="5400" dirty="0" smtClean="0">
                <a:solidFill>
                  <a:srgbClr val="1F1F1F"/>
                </a:solidFill>
              </a:rPr>
              <a:t>Nhược điểm</a:t>
            </a:r>
            <a:endParaRPr lang="en-US" b="0" dirty="0">
              <a:solidFill>
                <a:srgbClr val="1F1F1F"/>
              </a:solidFill>
            </a:endParaRPr>
          </a:p>
          <a:p>
            <a:pPr algn="l"/>
            <a:r>
              <a:rPr lang="en-US" b="0" dirty="0"/>
              <a:t>-</a:t>
            </a:r>
            <a:r>
              <a:rPr lang="vi-VN" b="0" dirty="0" smtClean="0"/>
              <a:t>Nhạy </a:t>
            </a:r>
            <a:r>
              <a:rPr lang="vi-VN" b="0" dirty="0"/>
              <a:t>cảm với nhiễu, không có bộ lọc làm mịn như Sobel.</a:t>
            </a:r>
            <a:br>
              <a:rPr lang="vi-VN" b="0" dirty="0"/>
            </a:br>
            <a:r>
              <a:rPr lang="en-US" b="0" dirty="0"/>
              <a:t>-</a:t>
            </a:r>
            <a:r>
              <a:rPr lang="vi-VN" b="0" dirty="0" smtClean="0"/>
              <a:t>Độ </a:t>
            </a:r>
            <a:r>
              <a:rPr lang="vi-VN" b="0" dirty="0"/>
              <a:t>chính xác thấp hơn Sobel, khó phát hiện biên rõ ràng.</a:t>
            </a:r>
            <a:br>
              <a:rPr lang="vi-VN" b="0" dirty="0"/>
            </a:br>
            <a:r>
              <a:rPr lang="en-US" b="0" dirty="0"/>
              <a:t>-</a:t>
            </a:r>
            <a:r>
              <a:rPr lang="vi-VN" b="0" dirty="0" smtClean="0"/>
              <a:t>Không </a:t>
            </a:r>
            <a:r>
              <a:rPr lang="vi-VN" b="0" dirty="0"/>
              <a:t>tối ưu cho ảnh có độ biến thiên cường độ cao.</a:t>
            </a:r>
          </a:p>
          <a:p>
            <a:pPr algn="l"/>
            <a:r>
              <a:rPr lang="vi-VN" sz="5400" dirty="0" smtClean="0"/>
              <a:t>Ứng dụng</a:t>
            </a:r>
            <a:endParaRPr lang="en-US" sz="5400" b="0" dirty="0"/>
          </a:p>
          <a:p>
            <a:pPr algn="l"/>
            <a:r>
              <a:rPr lang="en-US" b="0" dirty="0" smtClean="0"/>
              <a:t>-</a:t>
            </a:r>
            <a:r>
              <a:rPr lang="vi-VN" b="0" dirty="0"/>
              <a:t>Phát hiện biên cạnh trong ảnh y khoa (X-ray, MRI).</a:t>
            </a:r>
            <a:br>
              <a:rPr lang="vi-VN" b="0" dirty="0"/>
            </a:br>
            <a:r>
              <a:rPr lang="en-US" b="0" dirty="0"/>
              <a:t>-</a:t>
            </a:r>
            <a:r>
              <a:rPr lang="vi-VN" b="0" dirty="0" smtClean="0"/>
              <a:t>Nhận </a:t>
            </a:r>
            <a:r>
              <a:rPr lang="vi-VN" b="0" dirty="0"/>
              <a:t>diện vật thể trong ảnh số (camera giám sát, xử lý ảnh vệ tinh).</a:t>
            </a:r>
            <a:br>
              <a:rPr lang="vi-VN" b="0" dirty="0"/>
            </a:br>
            <a:r>
              <a:rPr lang="en-US" b="0" dirty="0"/>
              <a:t>-</a:t>
            </a:r>
            <a:r>
              <a:rPr lang="vi-VN" b="0" dirty="0" smtClean="0"/>
              <a:t>Tiền </a:t>
            </a:r>
            <a:r>
              <a:rPr lang="vi-VN" b="0" dirty="0"/>
              <a:t>xử lý ảnh trước khi nhận diện ký tự, khuôn </a:t>
            </a:r>
            <a:r>
              <a:rPr lang="vi-VN" b="0" dirty="0" smtClean="0"/>
              <a:t>mặt.</a:t>
            </a:r>
            <a:endParaRPr lang="en-US" b="0" dirty="0" smtClean="0"/>
          </a:p>
          <a:p>
            <a:pPr algn="l"/>
            <a:r>
              <a:rPr lang="en-US" b="0" dirty="0"/>
              <a:t>-</a:t>
            </a:r>
            <a:r>
              <a:rPr lang="vi-VN" b="0" dirty="0" smtClean="0"/>
              <a:t>Xử </a:t>
            </a:r>
            <a:r>
              <a:rPr lang="vi-VN" b="0" dirty="0"/>
              <a:t>lý ảnh công nghiệp (kiểm tra lỗi bề mặt sản phẩm).</a:t>
            </a:r>
            <a:endParaRPr lang="vi-VN" b="0" dirty="0">
              <a:solidFill>
                <a:srgbClr val="1F1F1F"/>
              </a:solidFill>
            </a:endParaRPr>
          </a:p>
        </p:txBody>
      </p:sp>
    </p:spTree>
    <p:extLst>
      <p:ext uri="{BB962C8B-B14F-4D97-AF65-F5344CB8AC3E}">
        <p14:creationId xmlns:p14="http://schemas.microsoft.com/office/powerpoint/2010/main" val="41035845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0" y="1905000"/>
            <a:ext cx="6910891" cy="1821710"/>
          </a:xfrm>
        </p:spPr>
        <p:txBody>
          <a:bodyPr>
            <a:normAutofit fontScale="90000"/>
          </a:bodyPr>
          <a:lstStyle/>
          <a:p>
            <a:r>
              <a:rPr lang="en-US" sz="6000" b="1" dirty="0" err="1" smtClean="0">
                <a:latin typeface="Helvetica Neue"/>
              </a:rPr>
              <a:t>Phương</a:t>
            </a:r>
            <a:r>
              <a:rPr lang="en-US" sz="6000" b="1" dirty="0" smtClean="0">
                <a:latin typeface="Helvetica Neue"/>
              </a:rPr>
              <a:t> </a:t>
            </a:r>
            <a:r>
              <a:rPr lang="en-US" sz="6000" b="1" dirty="0" err="1" smtClean="0">
                <a:latin typeface="Helvetica Neue"/>
              </a:rPr>
              <a:t>pháp</a:t>
            </a:r>
            <a:r>
              <a:rPr lang="en-US" sz="6000" b="1" dirty="0" smtClean="0">
                <a:latin typeface="Helvetica Neue"/>
              </a:rPr>
              <a:t> Canny</a:t>
            </a:r>
            <a:br>
              <a:rPr lang="en-US" sz="6000" b="1" dirty="0" smtClean="0">
                <a:latin typeface="Helvetica Neue"/>
              </a:rPr>
            </a:br>
            <a:r>
              <a:rPr lang="en-US" b="1" dirty="0" smtClean="0">
                <a:latin typeface="Helvetica Neue"/>
              </a:rPr>
              <a:t/>
            </a:r>
            <a:br>
              <a:rPr lang="en-US" b="1" dirty="0" smtClean="0">
                <a:latin typeface="Helvetica Neue"/>
              </a:rPr>
            </a:br>
            <a:r>
              <a:rPr lang="vi-VN" sz="2700" dirty="0"/>
              <a:t>Bộ dò cạnh Canny (Canny edge detector) là một toán tử phát hiện cạnh sử dụng thuật toán nhiều giai đoạn để phát hiện một loạt các cạnh trong hình ảnh. Nó được phát triển bởi John F. Canny vào năm 1986. Canny cũng đã đưa ra một lý thuyết tính toán về phát hiện cạnh, giải thích tại sao kỹ thuật này hoạt động hiệu quả.</a:t>
            </a:r>
            <a:r>
              <a:rPr lang="en-US" b="1" dirty="0" smtClean="0">
                <a:latin typeface="Helvetica Neue"/>
              </a:rPr>
              <a:t/>
            </a:r>
            <a:br>
              <a:rPr lang="en-US" b="1" dirty="0" smtClean="0">
                <a:latin typeface="Helvetica Neue"/>
              </a:rPr>
            </a:br>
            <a:endParaRPr lang="en-US" b="1" dirty="0">
              <a:latin typeface="Helvetica Neue"/>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1905000"/>
            <a:ext cx="5010150" cy="6286499"/>
          </a:xfrm>
          <a:prstGeom prst="rect">
            <a:avLst/>
          </a:prstGeom>
        </p:spPr>
      </p:pic>
    </p:spTree>
    <p:extLst>
      <p:ext uri="{BB962C8B-B14F-4D97-AF65-F5344CB8AC3E}">
        <p14:creationId xmlns:p14="http://schemas.microsoft.com/office/powerpoint/2010/main" val="10936189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08309" y="129582"/>
            <a:ext cx="11888003" cy="1249767"/>
          </a:xfrm>
        </p:spPr>
        <p:txBody>
          <a:bodyPr>
            <a:normAutofit/>
          </a:bodyPr>
          <a:lstStyle/>
          <a:p>
            <a:r>
              <a:rPr lang="en-US" sz="6600" b="1" dirty="0" err="1" smtClean="0">
                <a:latin typeface="Constantia" panose="02030602050306030303" pitchFamily="18" charset="0"/>
              </a:rPr>
              <a:t>Các</a:t>
            </a:r>
            <a:r>
              <a:rPr lang="en-US" sz="6600" b="1" dirty="0" smtClean="0">
                <a:latin typeface="Constantia" panose="02030602050306030303" pitchFamily="18" charset="0"/>
              </a:rPr>
              <a:t> </a:t>
            </a:r>
            <a:r>
              <a:rPr lang="en-US" sz="6600" b="1" dirty="0" err="1" smtClean="0">
                <a:latin typeface="Constantia" panose="02030602050306030303" pitchFamily="18" charset="0"/>
              </a:rPr>
              <a:t>bước</a:t>
            </a:r>
            <a:r>
              <a:rPr lang="en-US" sz="6600" b="1" dirty="0" smtClean="0">
                <a:latin typeface="Constantia" panose="02030602050306030303" pitchFamily="18" charset="0"/>
              </a:rPr>
              <a:t> </a:t>
            </a:r>
            <a:r>
              <a:rPr lang="en-US" sz="6600" b="1" dirty="0" err="1" smtClean="0">
                <a:latin typeface="Constantia" panose="02030602050306030303" pitchFamily="18" charset="0"/>
              </a:rPr>
              <a:t>thực</a:t>
            </a:r>
            <a:r>
              <a:rPr lang="en-US" sz="6600" b="1" dirty="0" smtClean="0">
                <a:latin typeface="Constantia" panose="02030602050306030303" pitchFamily="18" charset="0"/>
              </a:rPr>
              <a:t> </a:t>
            </a:r>
            <a:r>
              <a:rPr lang="en-US" sz="6600" b="1" dirty="0" err="1" smtClean="0">
                <a:latin typeface="Constantia" panose="02030602050306030303" pitchFamily="18" charset="0"/>
              </a:rPr>
              <a:t>hiện</a:t>
            </a:r>
            <a:endParaRPr lang="en-US" sz="6600" b="1" dirty="0">
              <a:latin typeface="Constantia" panose="02030602050306030303" pitchFamily="18" charset="0"/>
            </a:endParaRPr>
          </a:p>
        </p:txBody>
      </p:sp>
      <p:sp>
        <p:nvSpPr>
          <p:cNvPr id="2" name="TextBox 1"/>
          <p:cNvSpPr txBox="1"/>
          <p:nvPr/>
        </p:nvSpPr>
        <p:spPr>
          <a:xfrm>
            <a:off x="1008309" y="2057400"/>
            <a:ext cx="10953750" cy="7848302"/>
          </a:xfrm>
          <a:prstGeom prst="rect">
            <a:avLst/>
          </a:prstGeom>
          <a:noFill/>
        </p:spPr>
        <p:txBody>
          <a:bodyPr wrap="square" rtlCol="0">
            <a:spAutoFit/>
          </a:bodyPr>
          <a:lstStyle/>
          <a:p>
            <a:pPr algn="l"/>
            <a:r>
              <a:rPr lang="en-US" dirty="0" smtClean="0"/>
              <a:t>1.</a:t>
            </a:r>
            <a:r>
              <a:rPr lang="vi-VN" dirty="0" smtClean="0"/>
              <a:t>Làm </a:t>
            </a:r>
            <a:r>
              <a:rPr lang="vi-VN" dirty="0"/>
              <a:t>mịn hình ảnh bằng bộ lọc Gaussian</a:t>
            </a:r>
            <a:r>
              <a:rPr lang="vi-VN" b="0" dirty="0"/>
              <a:t/>
            </a:r>
            <a:br>
              <a:rPr lang="vi-VN" b="0" dirty="0"/>
            </a:br>
            <a:r>
              <a:rPr lang="en-US" b="0" dirty="0" smtClean="0"/>
              <a:t>-</a:t>
            </a:r>
            <a:r>
              <a:rPr lang="vi-VN" b="0" dirty="0" smtClean="0"/>
              <a:t>Áp </a:t>
            </a:r>
            <a:r>
              <a:rPr lang="vi-VN" b="0" dirty="0"/>
              <a:t>dụng bộ lọc Gaussian để làm mịn hình ảnh nhằm loại bỏ nhiễu</a:t>
            </a:r>
            <a:r>
              <a:rPr lang="vi-VN" b="0" dirty="0" smtClean="0"/>
              <a:t>.</a:t>
            </a:r>
            <a:endParaRPr lang="en-US" b="0" dirty="0" smtClean="0"/>
          </a:p>
          <a:p>
            <a:pPr algn="l"/>
            <a:endParaRPr lang="vi-VN" b="0" dirty="0"/>
          </a:p>
          <a:p>
            <a:pPr algn="l"/>
            <a:r>
              <a:rPr lang="en-US" dirty="0" smtClean="0"/>
              <a:t>2.</a:t>
            </a:r>
            <a:r>
              <a:rPr lang="vi-VN" dirty="0" smtClean="0"/>
              <a:t>Tính </a:t>
            </a:r>
            <a:r>
              <a:rPr lang="vi-VN" dirty="0"/>
              <a:t>gradient cường độ của hình ảnh</a:t>
            </a:r>
            <a:r>
              <a:rPr lang="vi-VN" b="0" dirty="0"/>
              <a:t/>
            </a:r>
            <a:br>
              <a:rPr lang="vi-VN" b="0" dirty="0"/>
            </a:br>
            <a:r>
              <a:rPr lang="en-US" b="0" dirty="0" smtClean="0"/>
              <a:t>-</a:t>
            </a:r>
            <a:r>
              <a:rPr lang="vi-VN" b="0" dirty="0" smtClean="0"/>
              <a:t>Tính </a:t>
            </a:r>
            <a:r>
              <a:rPr lang="vi-VN" b="0" dirty="0"/>
              <a:t>gradient cường độ để xác định sự thay đổi giá trị pixel trong hình ảnh</a:t>
            </a:r>
            <a:r>
              <a:rPr lang="vi-VN" b="0" dirty="0" smtClean="0"/>
              <a:t>.</a:t>
            </a:r>
            <a:endParaRPr lang="en-US" b="0" dirty="0" smtClean="0"/>
          </a:p>
          <a:p>
            <a:pPr algn="l"/>
            <a:endParaRPr lang="vi-VN" b="0" dirty="0"/>
          </a:p>
          <a:p>
            <a:pPr algn="l"/>
            <a:r>
              <a:rPr lang="en-US" dirty="0" smtClean="0"/>
              <a:t>3.</a:t>
            </a:r>
            <a:r>
              <a:rPr lang="vi-VN" dirty="0" smtClean="0"/>
              <a:t>Ngưỡng </a:t>
            </a:r>
            <a:r>
              <a:rPr lang="vi-VN" dirty="0"/>
              <a:t>độ lớn gradient</a:t>
            </a:r>
            <a:r>
              <a:rPr lang="vi-VN" b="0" dirty="0"/>
              <a:t/>
            </a:r>
            <a:br>
              <a:rPr lang="vi-VN" b="0" dirty="0"/>
            </a:br>
            <a:r>
              <a:rPr lang="en-US" b="0" dirty="0" smtClean="0"/>
              <a:t>-</a:t>
            </a:r>
            <a:r>
              <a:rPr lang="vi-VN" b="0" dirty="0" smtClean="0"/>
              <a:t>Áp </a:t>
            </a:r>
            <a:r>
              <a:rPr lang="vi-VN" b="0" dirty="0"/>
              <a:t>dụng ngưỡng độ lớn gradient hoặc loại bỏ các phản hồi sai để loại bỏ những kết quả không mong muốn trong việc phát hiện cạnh</a:t>
            </a:r>
            <a:r>
              <a:rPr lang="vi-VN" b="0" dirty="0" smtClean="0"/>
              <a:t>.</a:t>
            </a:r>
            <a:endParaRPr lang="en-US" b="0" dirty="0" smtClean="0"/>
          </a:p>
          <a:p>
            <a:pPr algn="l"/>
            <a:endParaRPr lang="vi-VN" b="0" dirty="0"/>
          </a:p>
          <a:p>
            <a:pPr algn="l"/>
            <a:r>
              <a:rPr lang="en-US" dirty="0" smtClean="0"/>
              <a:t>4.</a:t>
            </a:r>
            <a:r>
              <a:rPr lang="vi-VN" dirty="0" smtClean="0"/>
              <a:t>Áp </a:t>
            </a:r>
            <a:r>
              <a:rPr lang="vi-VN" dirty="0"/>
              <a:t>dụng ngưỡng kép (Double Threshold)</a:t>
            </a:r>
            <a:r>
              <a:rPr lang="vi-VN" b="0" dirty="0"/>
              <a:t/>
            </a:r>
            <a:br>
              <a:rPr lang="vi-VN" b="0" dirty="0"/>
            </a:br>
            <a:r>
              <a:rPr lang="en-US" b="0" dirty="0" smtClean="0"/>
              <a:t>-</a:t>
            </a:r>
            <a:r>
              <a:rPr lang="vi-VN" b="0" dirty="0" smtClean="0"/>
              <a:t>Xác </a:t>
            </a:r>
            <a:r>
              <a:rPr lang="vi-VN" b="0" dirty="0"/>
              <a:t>định các cạnh tiềm năng bằng cách áp dụng hai mức ngưỡng:</a:t>
            </a:r>
          </a:p>
          <a:p>
            <a:pPr lvl="1" algn="l"/>
            <a:r>
              <a:rPr lang="vi-VN" b="0" dirty="0"/>
              <a:t>Ngưỡng cao: Các cạnh mạnh.</a:t>
            </a:r>
          </a:p>
          <a:p>
            <a:pPr lvl="1" algn="l"/>
            <a:r>
              <a:rPr lang="vi-VN" b="0" dirty="0"/>
              <a:t>Ngưỡng thấp: Các cạnh yếu</a:t>
            </a:r>
            <a:r>
              <a:rPr lang="vi-VN" b="0" dirty="0" smtClean="0"/>
              <a:t>.</a:t>
            </a:r>
            <a:endParaRPr lang="en-US" b="0" dirty="0" smtClean="0"/>
          </a:p>
          <a:p>
            <a:pPr lvl="1" algn="l"/>
            <a:endParaRPr lang="vi-VN" b="0" dirty="0"/>
          </a:p>
          <a:p>
            <a:pPr algn="l"/>
            <a:r>
              <a:rPr lang="en-US" dirty="0" smtClean="0"/>
              <a:t>5.</a:t>
            </a:r>
            <a:r>
              <a:rPr lang="vi-VN" dirty="0" smtClean="0"/>
              <a:t>Theo </a:t>
            </a:r>
            <a:r>
              <a:rPr lang="vi-VN" dirty="0"/>
              <a:t>dõi cạnh bằng kỹ thuật hysteresis</a:t>
            </a:r>
            <a:r>
              <a:rPr lang="vi-VN" b="0" dirty="0"/>
              <a:t/>
            </a:r>
            <a:br>
              <a:rPr lang="vi-VN" b="0" dirty="0"/>
            </a:br>
            <a:r>
              <a:rPr lang="en-US" b="0" dirty="0" smtClean="0"/>
              <a:t>-</a:t>
            </a:r>
            <a:r>
              <a:rPr lang="vi-VN" b="0" dirty="0" smtClean="0"/>
              <a:t>Hoàn </a:t>
            </a:r>
            <a:r>
              <a:rPr lang="vi-VN" b="0" dirty="0"/>
              <a:t>tất việc phát hiện các cạnh bằng cách:</a:t>
            </a:r>
          </a:p>
          <a:p>
            <a:pPr lvl="1" algn="l"/>
            <a:r>
              <a:rPr lang="vi-VN" b="0" dirty="0"/>
              <a:t>Giữ lại các cạnh yếu nếu chúng kết nối với các cạnh mạnh.</a:t>
            </a:r>
          </a:p>
          <a:p>
            <a:pPr lvl="1" algn="l"/>
            <a:r>
              <a:rPr lang="vi-VN" b="0" dirty="0"/>
              <a:t>Loại bỏ các cạnh yếu không liên kết với cạnh mạnh.</a:t>
            </a:r>
          </a:p>
          <a:p>
            <a:pPr lvl="0" algn="l" defTabSz="914400" eaLnBrk="0" fontAlgn="base">
              <a:spcBef>
                <a:spcPct val="0"/>
              </a:spcBef>
              <a:spcAft>
                <a:spcPct val="0"/>
              </a:spcAft>
            </a:pPr>
            <a:endParaRPr lang="vi-VN" b="0" dirty="0"/>
          </a:p>
          <a:p>
            <a:pPr marL="457200" lvl="1" indent="0" algn="l" defTabSz="914400" eaLnBrk="0" fontAlgn="base">
              <a:spcBef>
                <a:spcPct val="0"/>
              </a:spcBef>
              <a:spcAft>
                <a:spcPct val="0"/>
              </a:spcAft>
              <a:buFontTx/>
              <a:buChar char="•"/>
            </a:pPr>
            <a:endParaRPr lang="en-US" altLang="en-US" b="0" dirty="0">
              <a:solidFill>
                <a:srgbClr val="1F1F1F"/>
              </a:solidFill>
            </a:endParaRPr>
          </a:p>
        </p:txBody>
      </p:sp>
    </p:spTree>
    <p:extLst>
      <p:ext uri="{BB962C8B-B14F-4D97-AF65-F5344CB8AC3E}">
        <p14:creationId xmlns:p14="http://schemas.microsoft.com/office/powerpoint/2010/main" val="37609598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08995" y="392323"/>
            <a:ext cx="10406855" cy="1821710"/>
          </a:xfrm>
        </p:spPr>
        <p:txBody>
          <a:bodyPr>
            <a:normAutofit fontScale="90000"/>
          </a:bodyPr>
          <a:lstStyle/>
          <a:p>
            <a:r>
              <a:rPr lang="vi-VN" sz="6000" b="1" dirty="0">
                <a:latin typeface="Helvetica Neue"/>
              </a:rPr>
              <a:t>Tính gradient cường độ của hình ảnh</a:t>
            </a:r>
            <a:r>
              <a:rPr lang="vi-VN" dirty="0"/>
              <a:t/>
            </a:r>
            <a:br>
              <a:rPr lang="vi-VN" dirty="0"/>
            </a:br>
            <a:endParaRPr lang="en-US" dirty="0"/>
          </a:p>
        </p:txBody>
      </p:sp>
      <p:sp>
        <p:nvSpPr>
          <p:cNvPr id="4" name="Rectangle 1"/>
          <p:cNvSpPr>
            <a:spLocks noGrp="1" noChangeArrowheads="1"/>
          </p:cNvSpPr>
          <p:nvPr>
            <p:ph idx="1"/>
          </p:nvPr>
        </p:nvSpPr>
        <p:spPr bwMode="auto">
          <a:xfrm>
            <a:off x="584496" y="2325237"/>
            <a:ext cx="12083754" cy="688516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79350" rIns="91440" bIns="7935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smtClean="0">
                <a:ln>
                  <a:noFill/>
                </a:ln>
                <a:solidFill>
                  <a:srgbClr val="1F1F1F"/>
                </a:solidFill>
                <a:effectLst/>
                <a:latin typeface="Helvetica Neue"/>
              </a:rPr>
              <a:t>Một</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cạnh</a:t>
            </a:r>
            <a:r>
              <a:rPr kumimoji="0" lang="en-US" altLang="en-US" sz="2400" b="0" i="0" u="none" strike="noStrike" cap="none" normalizeH="0" baseline="0" dirty="0" smtClean="0">
                <a:ln>
                  <a:noFill/>
                </a:ln>
                <a:solidFill>
                  <a:srgbClr val="1F1F1F"/>
                </a:solidFill>
                <a:effectLst/>
                <a:latin typeface="Helvetica Neue"/>
              </a:rPr>
              <a:t> trong </a:t>
            </a:r>
            <a:r>
              <a:rPr kumimoji="0" lang="en-US" altLang="en-US" sz="2400" b="0" i="0" u="none" strike="noStrike" cap="none" normalizeH="0" baseline="0" dirty="0" err="1" smtClean="0">
                <a:ln>
                  <a:noFill/>
                </a:ln>
                <a:solidFill>
                  <a:srgbClr val="1F1F1F"/>
                </a:solidFill>
                <a:effectLst/>
                <a:latin typeface="Helvetica Neue"/>
              </a:rPr>
              <a:t>hình</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ảnh</a:t>
            </a:r>
            <a:r>
              <a:rPr kumimoji="0" lang="en-US" altLang="en-US" sz="2400" b="0" i="0" u="none" strike="noStrike" cap="none" normalizeH="0" baseline="0" dirty="0" smtClean="0">
                <a:ln>
                  <a:noFill/>
                </a:ln>
                <a:solidFill>
                  <a:srgbClr val="1F1F1F"/>
                </a:solidFill>
                <a:effectLst/>
                <a:latin typeface="Helvetica Neue"/>
              </a:rPr>
              <a:t> có </a:t>
            </a:r>
            <a:r>
              <a:rPr kumimoji="0" lang="en-US" altLang="en-US" sz="2400" b="0" i="0" u="none" strike="noStrike" cap="none" normalizeH="0" baseline="0" dirty="0" err="1" smtClean="0">
                <a:ln>
                  <a:noFill/>
                </a:ln>
                <a:solidFill>
                  <a:srgbClr val="1F1F1F"/>
                </a:solidFill>
                <a:effectLst/>
                <a:latin typeface="Helvetica Neue"/>
              </a:rPr>
              <a:t>thể</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hướng</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theo</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nhiều</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hướng</a:t>
            </a:r>
            <a:r>
              <a:rPr kumimoji="0" lang="en-US" altLang="en-US" sz="2400" b="0" i="0" u="none" strike="noStrike" cap="none" normalizeH="0" baseline="0" dirty="0" smtClean="0">
                <a:ln>
                  <a:noFill/>
                </a:ln>
                <a:solidFill>
                  <a:srgbClr val="1F1F1F"/>
                </a:solidFill>
                <a:effectLst/>
                <a:latin typeface="Helvetica Neue"/>
              </a:rPr>
              <a:t> khác nhau, </a:t>
            </a:r>
            <a:r>
              <a:rPr kumimoji="0" lang="en-US" altLang="en-US" sz="2400" b="0" i="0" u="none" strike="noStrike" cap="none" normalizeH="0" baseline="0" dirty="0" err="1" smtClean="0">
                <a:ln>
                  <a:noFill/>
                </a:ln>
                <a:solidFill>
                  <a:srgbClr val="1F1F1F"/>
                </a:solidFill>
                <a:effectLst/>
                <a:latin typeface="Helvetica Neue"/>
              </a:rPr>
              <a:t>vì</a:t>
            </a:r>
            <a:r>
              <a:rPr kumimoji="0" lang="en-US" altLang="en-US" sz="2400" b="0" i="0" u="none" strike="noStrike" cap="none" normalizeH="0" baseline="0" dirty="0" smtClean="0">
                <a:ln>
                  <a:noFill/>
                </a:ln>
                <a:solidFill>
                  <a:srgbClr val="1F1F1F"/>
                </a:solidFill>
                <a:effectLst/>
                <a:latin typeface="Helvetica Neue"/>
              </a:rPr>
              <a:t> vậy </a:t>
            </a:r>
            <a:r>
              <a:rPr kumimoji="0" lang="en-US" altLang="en-US" sz="2400" b="0" i="0" u="none" strike="noStrike" cap="none" normalizeH="0" baseline="0" dirty="0" err="1" smtClean="0">
                <a:ln>
                  <a:noFill/>
                </a:ln>
                <a:solidFill>
                  <a:srgbClr val="1F1F1F"/>
                </a:solidFill>
                <a:effectLst/>
                <a:latin typeface="Helvetica Neue"/>
              </a:rPr>
              <a:t>thuật</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toán</a:t>
            </a:r>
            <a:r>
              <a:rPr kumimoji="0" lang="en-US" altLang="en-US" sz="2400" b="0" i="0" u="none" strike="noStrike" cap="none" normalizeH="0" baseline="0" dirty="0" smtClean="0">
                <a:ln>
                  <a:noFill/>
                </a:ln>
                <a:solidFill>
                  <a:srgbClr val="1F1F1F"/>
                </a:solidFill>
                <a:effectLst/>
                <a:latin typeface="Helvetica Neue"/>
              </a:rPr>
              <a:t> Canny </a:t>
            </a:r>
            <a:r>
              <a:rPr kumimoji="0" lang="en-US" altLang="en-US" sz="2400" b="0" i="0" u="none" strike="noStrike" cap="none" normalizeH="0" baseline="0" dirty="0" err="1" smtClean="0">
                <a:ln>
                  <a:noFill/>
                </a:ln>
                <a:solidFill>
                  <a:srgbClr val="1F1F1F"/>
                </a:solidFill>
                <a:effectLst/>
                <a:latin typeface="Helvetica Neue"/>
              </a:rPr>
              <a:t>sử</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dụng</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bốn</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bộ</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lọc</a:t>
            </a:r>
            <a:r>
              <a:rPr kumimoji="0" lang="en-US" altLang="en-US" sz="2400" b="0" i="0" u="none" strike="noStrike" cap="none" normalizeH="0" baseline="0" dirty="0" smtClean="0">
                <a:ln>
                  <a:noFill/>
                </a:ln>
                <a:solidFill>
                  <a:srgbClr val="1F1F1F"/>
                </a:solidFill>
                <a:effectLst/>
                <a:latin typeface="Helvetica Neue"/>
              </a:rPr>
              <a:t> để phát </a:t>
            </a:r>
            <a:r>
              <a:rPr kumimoji="0" lang="en-US" altLang="en-US" sz="2400" b="0" i="0" u="none" strike="noStrike" cap="none" normalizeH="0" baseline="0" dirty="0" err="1" smtClean="0">
                <a:ln>
                  <a:noFill/>
                </a:ln>
                <a:solidFill>
                  <a:srgbClr val="1F1F1F"/>
                </a:solidFill>
                <a:effectLst/>
                <a:latin typeface="Helvetica Neue"/>
              </a:rPr>
              <a:t>hiện</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các</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cạnh</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ngang</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dọc</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và</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chéo</a:t>
            </a:r>
            <a:r>
              <a:rPr kumimoji="0" lang="en-US" altLang="en-US" sz="2400" b="0" i="0" u="none" strike="noStrike" cap="none" normalizeH="0" baseline="0" dirty="0" smtClean="0">
                <a:ln>
                  <a:noFill/>
                </a:ln>
                <a:solidFill>
                  <a:srgbClr val="1F1F1F"/>
                </a:solidFill>
                <a:effectLst/>
                <a:latin typeface="Helvetica Neue"/>
              </a:rPr>
              <a:t> trong </a:t>
            </a:r>
            <a:r>
              <a:rPr kumimoji="0" lang="en-US" altLang="en-US" sz="2400" b="0" i="0" u="none" strike="noStrike" cap="none" normalizeH="0" baseline="0" dirty="0" err="1" smtClean="0">
                <a:ln>
                  <a:noFill/>
                </a:ln>
                <a:solidFill>
                  <a:srgbClr val="1F1F1F"/>
                </a:solidFill>
                <a:effectLst/>
                <a:latin typeface="Helvetica Neue"/>
              </a:rPr>
              <a:t>hình</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ảnh</a:t>
            </a:r>
            <a:r>
              <a:rPr kumimoji="0" lang="en-US" altLang="en-US" sz="2400" b="0" i="0" u="none" strike="noStrike" cap="none" normalizeH="0" baseline="0" dirty="0" smtClean="0">
                <a:ln>
                  <a:noFill/>
                </a:ln>
                <a:solidFill>
                  <a:srgbClr val="1F1F1F"/>
                </a:solidFill>
                <a:effectLst/>
                <a:latin typeface="Helvetica Neue"/>
              </a:rPr>
              <a:t> đã </a:t>
            </a:r>
            <a:r>
              <a:rPr kumimoji="0" lang="en-US" altLang="en-US" sz="2400" b="0" i="0" u="none" strike="noStrike" cap="none" normalizeH="0" baseline="0" dirty="0" err="1" smtClean="0">
                <a:ln>
                  <a:noFill/>
                </a:ln>
                <a:solidFill>
                  <a:srgbClr val="1F1F1F"/>
                </a:solidFill>
                <a:effectLst/>
                <a:latin typeface="Helvetica Neue"/>
              </a:rPr>
              <a:t>được</a:t>
            </a:r>
            <a:r>
              <a:rPr kumimoji="0" lang="en-US" altLang="en-US" sz="2400" b="0" i="0" u="none" strike="noStrike" cap="none" normalizeH="0" baseline="0" dirty="0" smtClean="0">
                <a:ln>
                  <a:noFill/>
                </a:ln>
                <a:solidFill>
                  <a:srgbClr val="1F1F1F"/>
                </a:solidFill>
                <a:effectLst/>
                <a:latin typeface="Helvetica Neue"/>
              </a:rPr>
              <a:t> làm </a:t>
            </a:r>
            <a:r>
              <a:rPr kumimoji="0" lang="en-US" altLang="en-US" sz="2400" b="0" i="0" u="none" strike="noStrike" cap="none" normalizeH="0" baseline="0" dirty="0" err="1" smtClean="0">
                <a:ln>
                  <a:noFill/>
                </a:ln>
                <a:solidFill>
                  <a:srgbClr val="1F1F1F"/>
                </a:solidFill>
                <a:effectLst/>
                <a:latin typeface="Helvetica Neue"/>
              </a:rPr>
              <a:t>mờ</a:t>
            </a:r>
            <a:r>
              <a:rPr kumimoji="0" lang="en-US" altLang="en-US" sz="2400" b="0" i="0" u="none" strike="noStrike" cap="none" normalizeH="0" baseline="0" dirty="0" smtClean="0">
                <a:ln>
                  <a:noFill/>
                </a:ln>
                <a:solidFill>
                  <a:srgbClr val="1F1F1F"/>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smtClean="0">
                <a:ln>
                  <a:noFill/>
                </a:ln>
                <a:solidFill>
                  <a:srgbClr val="1F1F1F"/>
                </a:solidFill>
                <a:effectLst/>
                <a:latin typeface="Helvetica Neue"/>
              </a:rPr>
              <a:t>Toán</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tử</a:t>
            </a:r>
            <a:r>
              <a:rPr kumimoji="0" lang="en-US" altLang="en-US" sz="2400" b="0" i="0" u="none" strike="noStrike" cap="none" normalizeH="0" baseline="0" dirty="0" smtClean="0">
                <a:ln>
                  <a:noFill/>
                </a:ln>
                <a:solidFill>
                  <a:srgbClr val="1F1F1F"/>
                </a:solidFill>
                <a:effectLst/>
                <a:latin typeface="Helvetica Neue"/>
              </a:rPr>
              <a:t> phát </a:t>
            </a:r>
            <a:r>
              <a:rPr kumimoji="0" lang="en-US" altLang="en-US" sz="2400" b="0" i="0" u="none" strike="noStrike" cap="none" normalizeH="0" baseline="0" dirty="0" err="1" smtClean="0">
                <a:ln>
                  <a:noFill/>
                </a:ln>
                <a:solidFill>
                  <a:srgbClr val="1F1F1F"/>
                </a:solidFill>
                <a:effectLst/>
                <a:latin typeface="Helvetica Neue"/>
              </a:rPr>
              <a:t>hiện</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cạnh</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chẳng</a:t>
            </a:r>
            <a:r>
              <a:rPr kumimoji="0" lang="en-US" altLang="en-US" sz="2400" b="0" i="0" u="none" strike="noStrike" cap="none" normalizeH="0" baseline="0" dirty="0" smtClean="0">
                <a:ln>
                  <a:noFill/>
                </a:ln>
                <a:solidFill>
                  <a:srgbClr val="1F1F1F"/>
                </a:solidFill>
                <a:effectLst/>
                <a:latin typeface="Helvetica Neue"/>
              </a:rPr>
              <a:t> hạn </a:t>
            </a:r>
            <a:r>
              <a:rPr kumimoji="0" lang="en-US" altLang="en-US" sz="2400" b="0" i="0" u="none" strike="noStrike" cap="none" normalizeH="0" baseline="0" dirty="0" err="1" smtClean="0">
                <a:ln>
                  <a:noFill/>
                </a:ln>
                <a:solidFill>
                  <a:srgbClr val="1F1F1F"/>
                </a:solidFill>
                <a:effectLst/>
                <a:latin typeface="Helvetica Neue"/>
              </a:rPr>
              <a:t>như</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smtClean="0">
                <a:ln>
                  <a:noFill/>
                </a:ln>
                <a:solidFill>
                  <a:srgbClr val="1F1F1F"/>
                </a:solidFill>
                <a:effectLst/>
                <a:latin typeface="Helvetica Neue"/>
              </a:rPr>
              <a:t>Roberts</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smtClean="0">
                <a:ln>
                  <a:noFill/>
                </a:ln>
                <a:solidFill>
                  <a:srgbClr val="1F1F1F"/>
                </a:solidFill>
                <a:effectLst/>
                <a:latin typeface="Helvetica Neue"/>
              </a:rPr>
              <a:t>Prewitt</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hoặc</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smtClean="0">
                <a:ln>
                  <a:noFill/>
                </a:ln>
                <a:solidFill>
                  <a:srgbClr val="1F1F1F"/>
                </a:solidFill>
                <a:effectLst/>
                <a:latin typeface="Helvetica Neue"/>
              </a:rPr>
              <a:t>Sobel</a:t>
            </a:r>
            <a:r>
              <a:rPr kumimoji="0" lang="en-US" altLang="en-US" sz="2400" b="0" i="0" u="none" strike="noStrike" cap="none" normalizeH="0" baseline="0" dirty="0" smtClean="0">
                <a:ln>
                  <a:noFill/>
                </a:ln>
                <a:solidFill>
                  <a:srgbClr val="1F1F1F"/>
                </a:solidFill>
                <a:effectLst/>
                <a:latin typeface="Helvetica Neue"/>
              </a:rPr>
              <a:t>) trả </a:t>
            </a:r>
            <a:r>
              <a:rPr kumimoji="0" lang="en-US" altLang="en-US" sz="2400" b="0" i="0" u="none" strike="noStrike" cap="none" normalizeH="0" baseline="0" dirty="0" err="1" smtClean="0">
                <a:ln>
                  <a:noFill/>
                </a:ln>
                <a:solidFill>
                  <a:srgbClr val="1F1F1F"/>
                </a:solidFill>
                <a:effectLst/>
                <a:latin typeface="Helvetica Neue"/>
              </a:rPr>
              <a:t>về</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giá</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trị</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cho</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đạo</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hàm</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bậc</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nhất</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theo</a:t>
            </a:r>
            <a:r>
              <a:rPr kumimoji="0" lang="en-US" altLang="en-US" sz="2400" b="0" i="0" u="none" strike="noStrike" cap="none" normalizeH="0" baseline="0" dirty="0" smtClean="0">
                <a:ln>
                  <a:noFill/>
                </a:ln>
                <a:solidFill>
                  <a:srgbClr val="1F1F1F"/>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rgbClr val="1F1F1F"/>
                </a:solidFill>
                <a:effectLst/>
                <a:latin typeface="Helvetica Neue"/>
              </a:rPr>
              <a:t>Hướng</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ngang</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G_x</a:t>
            </a:r>
            <a:r>
              <a:rPr kumimoji="0" lang="en-US" altLang="en-US" sz="2400" b="0" i="0" u="none" strike="noStrike" cap="none" normalizeH="0" baseline="0" dirty="0" smtClean="0">
                <a:ln>
                  <a:noFill/>
                </a:ln>
                <a:solidFill>
                  <a:srgbClr val="1F1F1F"/>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rgbClr val="1F1F1F"/>
                </a:solidFill>
                <a:effectLst/>
                <a:latin typeface="Helvetica Neue"/>
              </a:rPr>
              <a:t>Hướng</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dọc</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G_y</a:t>
            </a:r>
            <a:r>
              <a:rPr kumimoji="0" lang="en-US" altLang="en-US" sz="2400" b="0" i="0" u="none" strike="noStrike" cap="none" normalizeH="0" baseline="0" dirty="0" smtClean="0">
                <a:ln>
                  <a:noFill/>
                </a:ln>
                <a:solidFill>
                  <a:srgbClr val="1F1F1F"/>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rgbClr val="1F1F1F"/>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err="1" smtClean="0">
                <a:ln>
                  <a:noFill/>
                </a:ln>
                <a:solidFill>
                  <a:srgbClr val="1F1F1F"/>
                </a:solidFill>
                <a:effectLst/>
                <a:latin typeface="Helvetica Neue"/>
              </a:rPr>
              <a:t>Từ</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đó</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smtClean="0">
                <a:ln>
                  <a:noFill/>
                </a:ln>
                <a:solidFill>
                  <a:srgbClr val="1F1F1F"/>
                </a:solidFill>
                <a:effectLst/>
                <a:latin typeface="Helvetica Neue"/>
              </a:rPr>
              <a:t>gradient </a:t>
            </a:r>
            <a:r>
              <a:rPr kumimoji="0" lang="en-US" altLang="en-US" sz="2400" b="1" i="0" u="none" strike="noStrike" cap="none" normalizeH="0" baseline="0" dirty="0" err="1" smtClean="0">
                <a:ln>
                  <a:noFill/>
                </a:ln>
                <a:solidFill>
                  <a:srgbClr val="1F1F1F"/>
                </a:solidFill>
                <a:effectLst/>
                <a:latin typeface="Helvetica Neue"/>
              </a:rPr>
              <a:t>cạnh</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và</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hướng</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cạnh</a:t>
            </a:r>
            <a:r>
              <a:rPr kumimoji="0" lang="en-US" altLang="en-US" sz="2400" b="0" i="0" u="none" strike="noStrike" cap="none" normalizeH="0" baseline="0" dirty="0" smtClean="0">
                <a:ln>
                  <a:noFill/>
                </a:ln>
                <a:solidFill>
                  <a:srgbClr val="1F1F1F"/>
                </a:solidFill>
                <a:effectLst/>
                <a:latin typeface="Helvetica Neue"/>
              </a:rPr>
              <a:t> có </a:t>
            </a:r>
            <a:r>
              <a:rPr kumimoji="0" lang="en-US" altLang="en-US" sz="2400" b="0" i="0" u="none" strike="noStrike" cap="none" normalizeH="0" baseline="0" dirty="0" err="1" smtClean="0">
                <a:ln>
                  <a:noFill/>
                </a:ln>
                <a:solidFill>
                  <a:srgbClr val="1F1F1F"/>
                </a:solidFill>
                <a:effectLst/>
                <a:latin typeface="Helvetica Neue"/>
              </a:rPr>
              <a:t>thể</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được</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xác</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định</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như</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sau</a:t>
            </a:r>
            <a:r>
              <a:rPr kumimoji="0" lang="en-US" altLang="en-US" sz="2400" b="0" i="0" u="none" strike="noStrike" cap="none" normalizeH="0" baseline="0" dirty="0" smtClean="0">
                <a:ln>
                  <a:noFill/>
                </a:ln>
                <a:solidFill>
                  <a:srgbClr val="1F1F1F"/>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smtClean="0">
                <a:ln>
                  <a:noFill/>
                </a:ln>
                <a:solidFill>
                  <a:srgbClr val="1F1F1F"/>
                </a:solidFill>
                <a:effectLst/>
                <a:latin typeface="Helvetica Neue"/>
              </a:rPr>
              <a:t>Gradient (G)</a:t>
            </a:r>
            <a:r>
              <a:rPr kumimoji="0" lang="en-US" altLang="en-US" sz="2400" b="0" i="0" u="none" strike="noStrike" cap="none" normalizeH="0" baseline="0" dirty="0" smtClean="0">
                <a:ln>
                  <a:noFill/>
                </a:ln>
                <a:solidFill>
                  <a:srgbClr val="1F1F1F"/>
                </a:solidFill>
                <a:effectLst/>
                <a:latin typeface="Helvetica Neue"/>
              </a:rPr>
              <a:t> có </a:t>
            </a:r>
            <a:r>
              <a:rPr kumimoji="0" lang="en-US" altLang="en-US" sz="2400" b="0" i="0" u="none" strike="noStrike" cap="none" normalizeH="0" baseline="0" dirty="0" err="1" smtClean="0">
                <a:ln>
                  <a:noFill/>
                </a:ln>
                <a:solidFill>
                  <a:srgbClr val="1F1F1F"/>
                </a:solidFill>
                <a:effectLst/>
                <a:latin typeface="Helvetica Neue"/>
              </a:rPr>
              <a:t>thể</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được</a:t>
            </a:r>
            <a:r>
              <a:rPr kumimoji="0" lang="en-US" altLang="en-US" sz="2400" b="0" i="0" u="none" strike="noStrike" cap="none" normalizeH="0" baseline="0" dirty="0" smtClean="0">
                <a:ln>
                  <a:noFill/>
                </a:ln>
                <a:solidFill>
                  <a:srgbClr val="1F1F1F"/>
                </a:solidFill>
                <a:effectLst/>
                <a:latin typeface="Helvetica Neue"/>
              </a:rPr>
              <a:t> tính </a:t>
            </a:r>
            <a:r>
              <a:rPr kumimoji="0" lang="en-US" altLang="en-US" sz="2400" b="0" i="0" u="none" strike="noStrike" cap="none" normalizeH="0" baseline="0" dirty="0" err="1" smtClean="0">
                <a:ln>
                  <a:noFill/>
                </a:ln>
                <a:solidFill>
                  <a:srgbClr val="1F1F1F"/>
                </a:solidFill>
                <a:effectLst/>
                <a:latin typeface="Helvetica Neue"/>
              </a:rPr>
              <a:t>bằng</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hàm</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hypot</a:t>
            </a:r>
            <a:r>
              <a:rPr kumimoji="0" lang="en-US" altLang="en-US" sz="2400" b="0" i="0" u="none" strike="noStrike" cap="none" normalizeH="0" baseline="0" dirty="0" smtClean="0">
                <a:ln>
                  <a:noFill/>
                </a:ln>
                <a:solidFill>
                  <a:srgbClr val="1F1F1F"/>
                </a:solidFill>
                <a:effectLst/>
                <a:latin typeface="Helvetica Neue"/>
              </a:rPr>
              <a:t>:</a:t>
            </a:r>
            <a:br>
              <a:rPr kumimoji="0" lang="en-US" altLang="en-US" sz="2400" b="0" i="0" u="none" strike="noStrike" cap="none" normalizeH="0" baseline="0" dirty="0" smtClean="0">
                <a:ln>
                  <a:noFill/>
                </a:ln>
                <a:solidFill>
                  <a:srgbClr val="1F1F1F"/>
                </a:solidFill>
                <a:effectLst/>
                <a:latin typeface="Helvetica Neue"/>
              </a:rPr>
            </a:br>
            <a:r>
              <a:rPr kumimoji="0" lang="en-US" altLang="en-US" sz="2400" b="0" i="0" u="none" strike="noStrike" cap="none" normalizeH="0" baseline="0" dirty="0" smtClean="0">
                <a:ln>
                  <a:noFill/>
                </a:ln>
                <a:solidFill>
                  <a:srgbClr val="1F1F1F"/>
                </a:solidFill>
                <a:effectLst/>
                <a:latin typeface="Helvetica Neue"/>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err="1" smtClean="0">
                <a:ln>
                  <a:noFill/>
                </a:ln>
                <a:solidFill>
                  <a:srgbClr val="1F1F1F"/>
                </a:solidFill>
                <a:effectLst/>
                <a:latin typeface="Helvetica Neue"/>
              </a:rPr>
              <a:t>Góc</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hướng</a:t>
            </a:r>
            <a:r>
              <a:rPr kumimoji="0" lang="en-US" altLang="en-US" sz="2400" b="1" i="0" u="none" strike="noStrike" cap="none" normalizeH="0" baseline="0" dirty="0" smtClean="0">
                <a:ln>
                  <a:noFill/>
                </a:ln>
                <a:solidFill>
                  <a:srgbClr val="1F1F1F"/>
                </a:solidFill>
                <a:effectLst/>
                <a:latin typeface="Helvetica Neue"/>
              </a:rPr>
              <a:t> </a:t>
            </a:r>
            <a:r>
              <a:rPr kumimoji="0" lang="en-US" altLang="en-US" sz="2400" b="1" i="0" u="none" strike="noStrike" cap="none" normalizeH="0" baseline="0" dirty="0" err="1" smtClean="0">
                <a:ln>
                  <a:noFill/>
                </a:ln>
                <a:solidFill>
                  <a:srgbClr val="1F1F1F"/>
                </a:solidFill>
                <a:effectLst/>
                <a:latin typeface="Helvetica Neue"/>
              </a:rPr>
              <a:t>cạnh</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được</a:t>
            </a:r>
            <a:r>
              <a:rPr kumimoji="0" lang="en-US" altLang="en-US" sz="2400" b="0" i="0" u="none" strike="noStrike" cap="none" normalizeH="0" baseline="0" dirty="0" smtClean="0">
                <a:ln>
                  <a:noFill/>
                </a:ln>
                <a:solidFill>
                  <a:srgbClr val="1F1F1F"/>
                </a:solidFill>
                <a:effectLst/>
                <a:latin typeface="Helvetica Neue"/>
              </a:rPr>
              <a:t> tính </a:t>
            </a:r>
            <a:r>
              <a:rPr kumimoji="0" lang="en-US" altLang="en-US" sz="2400" b="0" i="0" u="none" strike="noStrike" cap="none" normalizeH="0" baseline="0" dirty="0" err="1" smtClean="0">
                <a:ln>
                  <a:noFill/>
                </a:ln>
                <a:solidFill>
                  <a:srgbClr val="1F1F1F"/>
                </a:solidFill>
                <a:effectLst/>
                <a:latin typeface="Helvetica Neue"/>
              </a:rPr>
              <a:t>bằng</a:t>
            </a:r>
            <a:r>
              <a:rPr kumimoji="0" lang="en-US" altLang="en-US" sz="2400" b="0" i="0" u="none" strike="noStrike" cap="none" normalizeH="0" baseline="0" dirty="0" smtClean="0">
                <a:ln>
                  <a:noFill/>
                </a:ln>
                <a:solidFill>
                  <a:srgbClr val="1F1F1F"/>
                </a:solidFill>
                <a:effectLst/>
                <a:latin typeface="Helvetica Neue"/>
              </a:rPr>
              <a:t> </a:t>
            </a:r>
            <a:r>
              <a:rPr kumimoji="0" lang="en-US" altLang="en-US" sz="2400" b="0" i="0" u="none" strike="noStrike" cap="none" normalizeH="0" baseline="0" dirty="0" err="1" smtClean="0">
                <a:ln>
                  <a:noFill/>
                </a:ln>
                <a:solidFill>
                  <a:srgbClr val="1F1F1F"/>
                </a:solidFill>
                <a:effectLst/>
                <a:latin typeface="Helvetica Neue"/>
              </a:rPr>
              <a:t>hàm</a:t>
            </a:r>
            <a:r>
              <a:rPr kumimoji="0" lang="en-US" altLang="en-US" sz="2400" b="0" i="0" u="none" strike="noStrike" cap="none" normalizeH="0" baseline="0" dirty="0" smtClean="0">
                <a:ln>
                  <a:noFill/>
                </a:ln>
                <a:solidFill>
                  <a:srgbClr val="1F1F1F"/>
                </a:solidFill>
                <a:effectLst/>
                <a:latin typeface="Helvetica Neue"/>
              </a:rPr>
              <a:t> atan2:</a:t>
            </a:r>
            <a:br>
              <a:rPr kumimoji="0" lang="en-US" altLang="en-US" sz="2400" b="0" i="0" u="none" strike="noStrike" cap="none" normalizeH="0" baseline="0" dirty="0" smtClean="0">
                <a:ln>
                  <a:noFill/>
                </a:ln>
                <a:solidFill>
                  <a:srgbClr val="1F1F1F"/>
                </a:solidFill>
                <a:effectLst/>
                <a:latin typeface="Helvetica Neue"/>
              </a:rPr>
            </a:br>
            <a:endParaRPr kumimoji="0" lang="en-US" altLang="en-US" sz="2400" b="0" i="0" u="none" strike="noStrike" cap="none" normalizeH="0" baseline="0" dirty="0" smtClean="0">
              <a:ln>
                <a:noFill/>
              </a:ln>
              <a:solidFill>
                <a:srgbClr val="1F1F1F"/>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rgbClr val="1F1F1F"/>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smtClean="0">
                <a:ln>
                  <a:noFill/>
                </a:ln>
                <a:solidFill>
                  <a:schemeClr val="tx1"/>
                </a:solidFill>
                <a:effectLst/>
              </a:rPr>
              <a:t/>
            </a:r>
            <a:br>
              <a:rPr kumimoji="0" lang="en-US" altLang="en-US" sz="1100" b="0" i="0" u="none" strike="noStrike" cap="none" normalizeH="0" baseline="0" dirty="0" smtClean="0">
                <a:ln>
                  <a:noFill/>
                </a:ln>
                <a:solidFill>
                  <a:schemeClr val="tx1"/>
                </a:solidFill>
                <a:effectLst/>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a:blip r:embed="rId2"/>
          <a:stretch>
            <a:fillRect/>
          </a:stretch>
        </p:blipFill>
        <p:spPr>
          <a:xfrm>
            <a:off x="7526240" y="6705600"/>
            <a:ext cx="1770160" cy="803195"/>
          </a:xfrm>
          <a:prstGeom prst="rect">
            <a:avLst/>
          </a:prstGeom>
        </p:spPr>
      </p:pic>
      <p:pic>
        <p:nvPicPr>
          <p:cNvPr id="6" name="Picture 5"/>
          <p:cNvPicPr>
            <a:picLocks noChangeAspect="1"/>
          </p:cNvPicPr>
          <p:nvPr/>
        </p:nvPicPr>
        <p:blipFill>
          <a:blip r:embed="rId3"/>
          <a:stretch>
            <a:fillRect/>
          </a:stretch>
        </p:blipFill>
        <p:spPr>
          <a:xfrm>
            <a:off x="7312422" y="7620000"/>
            <a:ext cx="1983978" cy="933449"/>
          </a:xfrm>
          <a:prstGeom prst="rect">
            <a:avLst/>
          </a:prstGeom>
        </p:spPr>
      </p:pic>
    </p:spTree>
    <p:extLst>
      <p:ext uri="{BB962C8B-B14F-4D97-AF65-F5344CB8AC3E}">
        <p14:creationId xmlns:p14="http://schemas.microsoft.com/office/powerpoint/2010/main" val="9866706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3109" y="468523"/>
            <a:ext cx="9635041" cy="1821710"/>
          </a:xfrm>
        </p:spPr>
        <p:txBody>
          <a:bodyPr>
            <a:normAutofit/>
          </a:bodyPr>
          <a:lstStyle/>
          <a:p>
            <a:r>
              <a:rPr lang="en-US" sz="5400" b="1" dirty="0" smtClean="0">
                <a:latin typeface="Helvetica Neue"/>
              </a:rPr>
              <a:t>Làm </a:t>
            </a:r>
            <a:r>
              <a:rPr lang="en-US" sz="5400" b="1" dirty="0" err="1" smtClean="0">
                <a:latin typeface="Helvetica Neue"/>
              </a:rPr>
              <a:t>tròn</a:t>
            </a:r>
            <a:r>
              <a:rPr lang="en-US" sz="5400" b="1" dirty="0" smtClean="0">
                <a:latin typeface="Helvetica Neue"/>
              </a:rPr>
              <a:t> </a:t>
            </a:r>
            <a:r>
              <a:rPr lang="en-US" sz="5400" b="1" dirty="0" err="1" smtClean="0">
                <a:latin typeface="Helvetica Neue"/>
              </a:rPr>
              <a:t>góc</a:t>
            </a:r>
            <a:r>
              <a:rPr lang="en-US" sz="5400" b="1" dirty="0" smtClean="0">
                <a:latin typeface="Helvetica Neue"/>
              </a:rPr>
              <a:t> </a:t>
            </a:r>
            <a:r>
              <a:rPr lang="en-US" sz="5400" b="1" dirty="0" err="1" smtClean="0">
                <a:latin typeface="Helvetica Neue"/>
              </a:rPr>
              <a:t>hướng</a:t>
            </a:r>
            <a:endParaRPr lang="en-US" sz="5400" b="1" dirty="0">
              <a:latin typeface="Helvetica Neue"/>
            </a:endParaRPr>
          </a:p>
        </p:txBody>
      </p:sp>
      <p:sp>
        <p:nvSpPr>
          <p:cNvPr id="3" name="Content Placeholder 2"/>
          <p:cNvSpPr>
            <a:spLocks noGrp="1"/>
          </p:cNvSpPr>
          <p:nvPr>
            <p:ph idx="1"/>
          </p:nvPr>
        </p:nvSpPr>
        <p:spPr>
          <a:xfrm>
            <a:off x="1143000" y="2133600"/>
            <a:ext cx="10994814" cy="6991350"/>
          </a:xfrm>
        </p:spPr>
        <p:txBody>
          <a:bodyPr>
            <a:normAutofit/>
          </a:bodyPr>
          <a:lstStyle/>
          <a:p>
            <a:pPr marL="0" indent="0">
              <a:buNone/>
            </a:pPr>
            <a:r>
              <a:rPr lang="vi-VN" dirty="0" smtClean="0"/>
              <a:t>Góc </a:t>
            </a:r>
            <a:r>
              <a:rPr lang="vi-VN" dirty="0"/>
              <a:t>hướng của cạnh ((\theta)) được làm tròn về một trong bốn giá trị đại diện cho các hướng:</a:t>
            </a:r>
          </a:p>
          <a:p>
            <a:pPr lvl="1"/>
            <a:r>
              <a:rPr lang="vi-VN" b="1" dirty="0"/>
              <a:t>0°</a:t>
            </a:r>
            <a:r>
              <a:rPr lang="vi-VN" dirty="0"/>
              <a:t>: Ngang.</a:t>
            </a:r>
          </a:p>
          <a:p>
            <a:pPr lvl="1"/>
            <a:r>
              <a:rPr lang="vi-VN" b="1" dirty="0"/>
              <a:t>45°</a:t>
            </a:r>
            <a:r>
              <a:rPr lang="vi-VN" dirty="0"/>
              <a:t>: Chéo phải lên.</a:t>
            </a:r>
          </a:p>
          <a:p>
            <a:pPr lvl="1"/>
            <a:r>
              <a:rPr lang="vi-VN" b="1" dirty="0"/>
              <a:t>90°</a:t>
            </a:r>
            <a:r>
              <a:rPr lang="vi-VN" dirty="0"/>
              <a:t>: Dọc.</a:t>
            </a:r>
          </a:p>
          <a:p>
            <a:pPr lvl="1"/>
            <a:r>
              <a:rPr lang="vi-VN" b="1" dirty="0"/>
              <a:t>135°</a:t>
            </a:r>
            <a:r>
              <a:rPr lang="vi-VN" dirty="0"/>
              <a:t>: Chéo phải xuống.</a:t>
            </a:r>
          </a:p>
          <a:p>
            <a:pPr marL="0" indent="0">
              <a:buNone/>
            </a:pPr>
            <a:r>
              <a:rPr lang="vi-VN" dirty="0" smtClean="0"/>
              <a:t>Ví </a:t>
            </a:r>
            <a:r>
              <a:rPr lang="vi-VN" dirty="0"/>
              <a:t>dụ:</a:t>
            </a:r>
          </a:p>
          <a:p>
            <a:pPr lvl="1"/>
            <a:r>
              <a:rPr lang="vi-VN" dirty="0"/>
              <a:t>Góc (\theta) trong khoảng ([0°, 22.5°]) hoặc ([157.5°, 180°]) được ánh xạ thành </a:t>
            </a:r>
            <a:r>
              <a:rPr lang="vi-VN" b="1" dirty="0"/>
              <a:t>0°</a:t>
            </a:r>
            <a:r>
              <a:rPr lang="vi-VN" dirty="0"/>
              <a:t>.</a:t>
            </a:r>
          </a:p>
          <a:p>
            <a:pPr lvl="1"/>
            <a:r>
              <a:rPr lang="vi-VN" dirty="0"/>
              <a:t>Các khoảng tương tự được xác định cho các góc </a:t>
            </a:r>
            <a:r>
              <a:rPr lang="vi-VN" b="1" dirty="0"/>
              <a:t>45°</a:t>
            </a:r>
            <a:r>
              <a:rPr lang="vi-VN" dirty="0"/>
              <a:t>, </a:t>
            </a:r>
            <a:r>
              <a:rPr lang="vi-VN" b="1" dirty="0"/>
              <a:t>90°</a:t>
            </a:r>
            <a:r>
              <a:rPr lang="vi-VN" dirty="0"/>
              <a:t>, và </a:t>
            </a:r>
            <a:r>
              <a:rPr lang="vi-VN" b="1" dirty="0" smtClean="0"/>
              <a:t>135°</a:t>
            </a:r>
            <a:r>
              <a:rPr lang="vi-VN" dirty="0" smtClean="0"/>
              <a:t>.</a:t>
            </a:r>
            <a:endParaRPr lang="en-US" dirty="0" smtClean="0"/>
          </a:p>
          <a:p>
            <a:pPr marL="650229" lvl="1" indent="0">
              <a:buNone/>
            </a:pPr>
            <a:endParaRPr lang="en-US" dirty="0" smtClean="0"/>
          </a:p>
          <a:p>
            <a:pPr marL="650229" lvl="1" indent="0">
              <a:buNone/>
            </a:pPr>
            <a:r>
              <a:rPr lang="vi-VN" dirty="0" smtClean="0"/>
              <a:t>Hướng gradient luôn vuông góc với các cạnh. Nó được làm tròn về một trong bốn góc đại diện cho các hướng dọc, ngang và hai hướng chéo</a:t>
            </a:r>
          </a:p>
          <a:p>
            <a:endParaRPr lang="en-US" dirty="0"/>
          </a:p>
        </p:txBody>
      </p:sp>
    </p:spTree>
    <p:extLst>
      <p:ext uri="{BB962C8B-B14F-4D97-AF65-F5344CB8AC3E}">
        <p14:creationId xmlns:p14="http://schemas.microsoft.com/office/powerpoint/2010/main" val="172779722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latin typeface="Helvetica Neue"/>
              </a:rPr>
              <a:t>Ứng</a:t>
            </a:r>
            <a:r>
              <a:rPr lang="en-US" b="1" dirty="0" smtClean="0">
                <a:latin typeface="Helvetica Neue"/>
              </a:rPr>
              <a:t> </a:t>
            </a:r>
            <a:r>
              <a:rPr lang="en-US" b="1" dirty="0" err="1" smtClean="0">
                <a:latin typeface="Helvetica Neue"/>
              </a:rPr>
              <a:t>dụng</a:t>
            </a:r>
            <a:r>
              <a:rPr lang="en-US" b="1" dirty="0" smtClean="0">
                <a:latin typeface="Helvetica Neue"/>
              </a:rPr>
              <a:t>:</a:t>
            </a:r>
            <a:endParaRPr lang="en-US" b="1" dirty="0">
              <a:latin typeface="Helvetica Neue"/>
            </a:endParaRPr>
          </a:p>
        </p:txBody>
      </p:sp>
      <p:sp>
        <p:nvSpPr>
          <p:cNvPr id="3" name="Content Placeholder 2"/>
          <p:cNvSpPr>
            <a:spLocks noGrp="1"/>
          </p:cNvSpPr>
          <p:nvPr>
            <p:ph idx="1"/>
          </p:nvPr>
        </p:nvSpPr>
        <p:spPr>
          <a:xfrm>
            <a:off x="2000546" y="2709333"/>
            <a:ext cx="9375268" cy="5372618"/>
          </a:xfrm>
        </p:spPr>
        <p:txBody>
          <a:bodyPr>
            <a:normAutofit fontScale="92500" lnSpcReduction="20000"/>
          </a:bodyPr>
          <a:lstStyle/>
          <a:p>
            <a:pPr marL="0" indent="0">
              <a:buNone/>
            </a:pPr>
            <a:r>
              <a:rPr lang="vi-VN" b="1" dirty="0" smtClean="0"/>
              <a:t>Thị </a:t>
            </a:r>
            <a:r>
              <a:rPr lang="vi-VN" b="1" dirty="0"/>
              <a:t>giác máy tính &amp; AI</a:t>
            </a:r>
          </a:p>
          <a:p>
            <a:pPr marL="0" indent="0">
              <a:buNone/>
            </a:pPr>
            <a:r>
              <a:rPr lang="en-US" dirty="0" smtClean="0"/>
              <a:t> -</a:t>
            </a:r>
            <a:r>
              <a:rPr lang="vi-VN" dirty="0" smtClean="0"/>
              <a:t>Nhận </a:t>
            </a:r>
            <a:r>
              <a:rPr lang="vi-VN" dirty="0"/>
              <a:t>diện đối tượng trong ảnh/video.</a:t>
            </a:r>
            <a:br>
              <a:rPr lang="vi-VN" dirty="0"/>
            </a:br>
            <a:r>
              <a:rPr lang="en-US" dirty="0" smtClean="0"/>
              <a:t> -</a:t>
            </a:r>
            <a:r>
              <a:rPr lang="vi-VN" dirty="0" smtClean="0"/>
              <a:t>Nhận </a:t>
            </a:r>
            <a:r>
              <a:rPr lang="vi-VN" dirty="0"/>
              <a:t>diện khuôn mặt, vân tay, biển số xe.</a:t>
            </a:r>
            <a:br>
              <a:rPr lang="vi-VN" dirty="0"/>
            </a:br>
            <a:r>
              <a:rPr lang="en-US" dirty="0" smtClean="0"/>
              <a:t> -</a:t>
            </a:r>
            <a:r>
              <a:rPr lang="vi-VN" dirty="0" smtClean="0"/>
              <a:t>Phát </a:t>
            </a:r>
            <a:r>
              <a:rPr lang="vi-VN" dirty="0"/>
              <a:t>hiện đường đi cho xe tự hành.</a:t>
            </a:r>
          </a:p>
          <a:p>
            <a:pPr marL="0" indent="0">
              <a:buNone/>
            </a:pPr>
            <a:r>
              <a:rPr lang="en-US" b="1" dirty="0" smtClean="0"/>
              <a:t> </a:t>
            </a:r>
            <a:r>
              <a:rPr lang="vi-VN" b="1" dirty="0"/>
              <a:t>Xử lý ảnh y tế</a:t>
            </a:r>
          </a:p>
          <a:p>
            <a:pPr marL="0" indent="0">
              <a:buNone/>
            </a:pPr>
            <a:r>
              <a:rPr lang="en-US" dirty="0" smtClean="0"/>
              <a:t> -</a:t>
            </a:r>
            <a:r>
              <a:rPr lang="vi-VN" dirty="0" smtClean="0"/>
              <a:t>Xác </a:t>
            </a:r>
            <a:r>
              <a:rPr lang="vi-VN" dirty="0"/>
              <a:t>định biên xương trong X-ray, CT scan.</a:t>
            </a:r>
            <a:br>
              <a:rPr lang="vi-VN" dirty="0"/>
            </a:br>
            <a:r>
              <a:rPr lang="en-US" dirty="0" smtClean="0"/>
              <a:t> -</a:t>
            </a:r>
            <a:r>
              <a:rPr lang="vi-VN" dirty="0" smtClean="0"/>
              <a:t>Nhận </a:t>
            </a:r>
            <a:r>
              <a:rPr lang="vi-VN" dirty="0"/>
              <a:t>diện tế bào trong ảnh sinh học.</a:t>
            </a:r>
          </a:p>
          <a:p>
            <a:pPr marL="0" indent="0">
              <a:buNone/>
            </a:pPr>
            <a:r>
              <a:rPr lang="en-US" b="1" dirty="0" smtClean="0"/>
              <a:t> </a:t>
            </a:r>
            <a:r>
              <a:rPr lang="vi-VN" b="1" dirty="0"/>
              <a:t>Robot &amp; Công nghiệp</a:t>
            </a:r>
          </a:p>
          <a:p>
            <a:pPr marL="0" indent="0">
              <a:buNone/>
            </a:pPr>
            <a:r>
              <a:rPr lang="en-US" dirty="0" smtClean="0"/>
              <a:t>-</a:t>
            </a:r>
            <a:r>
              <a:rPr lang="vi-VN" dirty="0" smtClean="0"/>
              <a:t>Hướng </a:t>
            </a:r>
            <a:r>
              <a:rPr lang="vi-VN" dirty="0"/>
              <a:t>dẫn robot nhận diện biên vật thể.</a:t>
            </a:r>
            <a:br>
              <a:rPr lang="vi-VN" dirty="0"/>
            </a:br>
            <a:r>
              <a:rPr lang="en-US" dirty="0" smtClean="0"/>
              <a:t>-</a:t>
            </a:r>
            <a:r>
              <a:rPr lang="vi-VN" dirty="0" smtClean="0"/>
              <a:t>Kiểm </a:t>
            </a:r>
            <a:r>
              <a:rPr lang="vi-VN" dirty="0"/>
              <a:t>tra chất lượng sản phẩm bằng hình ảnh.</a:t>
            </a:r>
          </a:p>
          <a:p>
            <a:pPr marL="0" indent="0">
              <a:buNone/>
            </a:pPr>
            <a:r>
              <a:rPr lang="vi-VN" b="1" dirty="0" smtClean="0"/>
              <a:t>Ứng </a:t>
            </a:r>
            <a:r>
              <a:rPr lang="vi-VN" b="1" dirty="0"/>
              <a:t>dụng nghệ thuật &amp; Hiệu ứng hình ảnh</a:t>
            </a:r>
          </a:p>
          <a:p>
            <a:pPr marL="0" indent="0">
              <a:buNone/>
            </a:pPr>
            <a:r>
              <a:rPr lang="en-US" dirty="0" smtClean="0"/>
              <a:t>-</a:t>
            </a:r>
            <a:r>
              <a:rPr lang="vi-VN" dirty="0" smtClean="0"/>
              <a:t>Chuyển </a:t>
            </a:r>
            <a:r>
              <a:rPr lang="vi-VN" dirty="0"/>
              <a:t>ảnh sang phong cách tranh vẽ bằng đường viền.</a:t>
            </a:r>
            <a:br>
              <a:rPr lang="vi-VN" dirty="0"/>
            </a:br>
            <a:r>
              <a:rPr lang="en-US" dirty="0" smtClean="0"/>
              <a:t>-</a:t>
            </a:r>
            <a:r>
              <a:rPr lang="vi-VN" dirty="0" smtClean="0"/>
              <a:t>Tạo </a:t>
            </a:r>
            <a:r>
              <a:rPr lang="vi-VN" dirty="0"/>
              <a:t>hiệu ứng hoạt hình từ ảnh thật.</a:t>
            </a:r>
          </a:p>
        </p:txBody>
      </p:sp>
    </p:spTree>
    <p:extLst>
      <p:ext uri="{BB962C8B-B14F-4D97-AF65-F5344CB8AC3E}">
        <p14:creationId xmlns:p14="http://schemas.microsoft.com/office/powerpoint/2010/main" val="6618805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smtClean="0">
                <a:latin typeface="Helvetica Neue"/>
              </a:rPr>
              <a:t>Nhận</a:t>
            </a:r>
            <a:r>
              <a:rPr lang="en-US" sz="5400" b="1" dirty="0" smtClean="0">
                <a:latin typeface="Helvetica Neue"/>
              </a:rPr>
              <a:t> </a:t>
            </a:r>
            <a:r>
              <a:rPr lang="en-US" sz="5400" b="1" dirty="0" err="1" smtClean="0">
                <a:latin typeface="Helvetica Neue"/>
              </a:rPr>
              <a:t>xét</a:t>
            </a:r>
            <a:endParaRPr lang="en-US" sz="5400" b="1" dirty="0">
              <a:latin typeface="Helvetica Neue"/>
            </a:endParaRPr>
          </a:p>
        </p:txBody>
      </p:sp>
      <p:sp>
        <p:nvSpPr>
          <p:cNvPr id="4" name="TextBox 3"/>
          <p:cNvSpPr txBox="1"/>
          <p:nvPr/>
        </p:nvSpPr>
        <p:spPr>
          <a:xfrm>
            <a:off x="2228850" y="2362200"/>
            <a:ext cx="9715500" cy="5632311"/>
          </a:xfrm>
          <a:prstGeom prst="rect">
            <a:avLst/>
          </a:prstGeom>
          <a:noFill/>
        </p:spPr>
        <p:txBody>
          <a:bodyPr wrap="square" rtlCol="0">
            <a:spAutoFit/>
          </a:bodyPr>
          <a:lstStyle/>
          <a:p>
            <a:pPr algn="l"/>
            <a:r>
              <a:rPr lang="en-US" b="0" dirty="0" smtClean="0"/>
              <a:t>-</a:t>
            </a:r>
            <a:r>
              <a:rPr lang="vi-VN" b="0" dirty="0" smtClean="0"/>
              <a:t>Các </a:t>
            </a:r>
            <a:r>
              <a:rPr lang="vi-VN" b="0" dirty="0"/>
              <a:t>toán tử đạo hàm bậc 1 (Roberts, Prewitt, Sobel) có tốc độ xử lý nhanh và dễ triển khai nhưng nhạy cảm với nhiễu và không phát hiện biên tốt bằng phương pháp Canny. Trong đó, Sobel là lựa chọn tốt nhất khi cần cân bằng giữa tốc độ và chất lượng</a:t>
            </a:r>
            <a:r>
              <a:rPr lang="vi-VN" b="0" dirty="0" smtClean="0"/>
              <a:t>.</a:t>
            </a:r>
            <a:endParaRPr lang="en-US" b="0" dirty="0" smtClean="0"/>
          </a:p>
          <a:p>
            <a:pPr algn="l"/>
            <a:endParaRPr lang="vi-VN" b="0" dirty="0"/>
          </a:p>
          <a:p>
            <a:pPr algn="l"/>
            <a:r>
              <a:rPr lang="en-US" b="0" dirty="0" smtClean="0"/>
              <a:t>-</a:t>
            </a:r>
            <a:r>
              <a:rPr lang="vi-VN" b="0" dirty="0" smtClean="0"/>
              <a:t>Trong </a:t>
            </a:r>
            <a:r>
              <a:rPr lang="vi-VN" b="0" dirty="0"/>
              <a:t>khi đó, Canny là thuật toán phát hiện biên chính xác nhất nhờ các bước làm mịn ảnh, tính gradient, và theo dõi biên. Tuy nhiên, nó có chi phí tính toán cao hơn và chậm hơn so với các toán tử bậc 1</a:t>
            </a:r>
            <a:r>
              <a:rPr lang="vi-VN" b="0" dirty="0" smtClean="0"/>
              <a:t>.</a:t>
            </a:r>
            <a:endParaRPr lang="en-US" b="0" dirty="0" smtClean="0"/>
          </a:p>
          <a:p>
            <a:pPr algn="l"/>
            <a:endParaRPr lang="vi-VN" b="0" dirty="0"/>
          </a:p>
          <a:p>
            <a:pPr algn="l"/>
            <a:r>
              <a:rPr lang="en-US" b="0" dirty="0" smtClean="0"/>
              <a:t>  </a:t>
            </a:r>
            <a:r>
              <a:rPr lang="vi-VN" dirty="0"/>
              <a:t>Lựa chọn phương pháp tùy thuộc vào ứng dụng cụ thể:</a:t>
            </a:r>
          </a:p>
          <a:p>
            <a:pPr algn="l"/>
            <a:r>
              <a:rPr lang="en-US" b="0" dirty="0" smtClean="0"/>
              <a:t>-</a:t>
            </a:r>
            <a:r>
              <a:rPr lang="vi-VN" b="0" dirty="0" smtClean="0"/>
              <a:t>Nếu </a:t>
            </a:r>
            <a:r>
              <a:rPr lang="vi-VN" b="0" dirty="0"/>
              <a:t>cần phát hiện biên nhanh trên ảnh ít nhiễu → Sobel hoặc Prewitt.</a:t>
            </a:r>
          </a:p>
          <a:p>
            <a:pPr algn="l"/>
            <a:r>
              <a:rPr lang="en-US" b="0" dirty="0" smtClean="0"/>
              <a:t>-</a:t>
            </a:r>
            <a:r>
              <a:rPr lang="vi-VN" b="0" dirty="0" smtClean="0"/>
              <a:t>Nếu </a:t>
            </a:r>
            <a:r>
              <a:rPr lang="vi-VN" b="0" dirty="0"/>
              <a:t>cần độ chính xác cao, biên sắc nét, ít nhiễu → Canny là phương pháp tối ưu.</a:t>
            </a:r>
          </a:p>
          <a:p>
            <a:pPr algn="l"/>
            <a:endParaRPr lang="en-US" b="0" dirty="0"/>
          </a:p>
        </p:txBody>
      </p:sp>
    </p:spTree>
    <p:extLst>
      <p:ext uri="{BB962C8B-B14F-4D97-AF65-F5344CB8AC3E}">
        <p14:creationId xmlns:p14="http://schemas.microsoft.com/office/powerpoint/2010/main" val="423955147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82773"/>
            <a:ext cx="11144249" cy="1821710"/>
          </a:xfrm>
        </p:spPr>
        <p:txBody>
          <a:bodyPr>
            <a:normAutofit/>
          </a:bodyPr>
          <a:lstStyle/>
          <a:p>
            <a:r>
              <a:rPr lang="en-US" sz="5400" b="1" dirty="0" err="1" smtClean="0">
                <a:latin typeface="Helvetica Neue"/>
              </a:rPr>
              <a:t>Các</a:t>
            </a:r>
            <a:r>
              <a:rPr lang="en-US" sz="5400" b="1" dirty="0" smtClean="0">
                <a:latin typeface="Helvetica Neue"/>
              </a:rPr>
              <a:t> </a:t>
            </a:r>
            <a:r>
              <a:rPr lang="en-US" sz="5400" b="1" dirty="0" err="1" smtClean="0">
                <a:latin typeface="Helvetica Neue"/>
              </a:rPr>
              <a:t>phương</a:t>
            </a:r>
            <a:r>
              <a:rPr lang="en-US" sz="5400" b="1" dirty="0" smtClean="0">
                <a:latin typeface="Helvetica Neue"/>
              </a:rPr>
              <a:t> </a:t>
            </a:r>
            <a:r>
              <a:rPr lang="en-US" sz="5400" b="1" dirty="0" err="1" smtClean="0">
                <a:latin typeface="Helvetica Neue"/>
              </a:rPr>
              <a:t>pháp</a:t>
            </a:r>
            <a:r>
              <a:rPr lang="en-US" sz="5400" b="1" dirty="0" smtClean="0">
                <a:latin typeface="Helvetica Neue"/>
              </a:rPr>
              <a:t> </a:t>
            </a:r>
            <a:r>
              <a:rPr lang="en-US" sz="5400" b="1" dirty="0" err="1" smtClean="0">
                <a:latin typeface="Helvetica Neue"/>
              </a:rPr>
              <a:t>đạo</a:t>
            </a:r>
            <a:r>
              <a:rPr lang="en-US" sz="5400" b="1" dirty="0" smtClean="0">
                <a:latin typeface="Helvetica Neue"/>
              </a:rPr>
              <a:t> </a:t>
            </a:r>
            <a:r>
              <a:rPr lang="en-US" sz="5400" b="1" dirty="0" err="1" smtClean="0">
                <a:latin typeface="Helvetica Neue"/>
              </a:rPr>
              <a:t>hàm</a:t>
            </a:r>
            <a:r>
              <a:rPr lang="en-US" sz="5400" b="1" dirty="0" smtClean="0">
                <a:latin typeface="Helvetica Neue"/>
              </a:rPr>
              <a:t> </a:t>
            </a:r>
            <a:r>
              <a:rPr lang="en-US" sz="5400" b="1" dirty="0" err="1" smtClean="0">
                <a:latin typeface="Helvetica Neue"/>
              </a:rPr>
              <a:t>bậc</a:t>
            </a:r>
            <a:r>
              <a:rPr lang="en-US" sz="5400" b="1" dirty="0" smtClean="0">
                <a:latin typeface="Helvetica Neue"/>
              </a:rPr>
              <a:t> 2</a:t>
            </a:r>
            <a:endParaRPr lang="en-US" sz="5400" b="1" dirty="0">
              <a:latin typeface="Helvetica Neue"/>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700" y="2724150"/>
            <a:ext cx="8686800" cy="6076949"/>
          </a:xfrm>
          <a:prstGeom prst="rect">
            <a:avLst/>
          </a:prstGeom>
        </p:spPr>
      </p:pic>
    </p:spTree>
    <p:extLst>
      <p:ext uri="{BB962C8B-B14F-4D97-AF65-F5344CB8AC3E}">
        <p14:creationId xmlns:p14="http://schemas.microsoft.com/office/powerpoint/2010/main" val="16486101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0" y="2101002"/>
                <a:ext cx="10382250" cy="6185747"/>
              </a:xfrm>
            </p:spPr>
            <p:txBody>
              <a:bodyPr>
                <a:normAutofit/>
              </a:bodyPr>
              <a:lstStyle/>
              <a:p>
                <a:pPr marL="0" indent="0">
                  <a:buNone/>
                </a:pPr>
                <a:r>
                  <a:rPr lang="en-US" sz="2400" b="1" dirty="0" smtClean="0">
                    <a:latin typeface="Helvetica Neue"/>
                  </a:rPr>
                  <a:t>1.Giới </a:t>
                </a:r>
                <a:r>
                  <a:rPr lang="en-US" sz="2400" b="1" dirty="0" err="1" smtClean="0">
                    <a:latin typeface="Helvetica Neue"/>
                  </a:rPr>
                  <a:t>thiệu</a:t>
                </a:r>
                <a:endParaRPr lang="en-US" sz="2400" b="1" dirty="0" smtClean="0">
                  <a:latin typeface="Helvetica Neue"/>
                </a:endParaRPr>
              </a:p>
              <a:p>
                <a:r>
                  <a:rPr lang="en-US" sz="2400" dirty="0" err="1">
                    <a:latin typeface="Helvetica Neue"/>
                  </a:rPr>
                  <a:t>Đạo</a:t>
                </a:r>
                <a:r>
                  <a:rPr lang="en-US" sz="2400" dirty="0">
                    <a:latin typeface="Helvetica Neue"/>
                  </a:rPr>
                  <a:t> </a:t>
                </a:r>
                <a:r>
                  <a:rPr lang="en-US" sz="2400" dirty="0" err="1">
                    <a:latin typeface="Helvetica Neue"/>
                  </a:rPr>
                  <a:t>hàm</a:t>
                </a:r>
                <a:r>
                  <a:rPr lang="en-US" sz="2400" dirty="0">
                    <a:latin typeface="Helvetica Neue"/>
                  </a:rPr>
                  <a:t> </a:t>
                </a:r>
                <a:r>
                  <a:rPr lang="en-US" sz="2400" dirty="0" err="1">
                    <a:latin typeface="Helvetica Neue"/>
                  </a:rPr>
                  <a:t>bậc</a:t>
                </a:r>
                <a:r>
                  <a:rPr lang="en-US" sz="2400" dirty="0">
                    <a:latin typeface="Helvetica Neue"/>
                  </a:rPr>
                  <a:t> </a:t>
                </a:r>
                <a:r>
                  <a:rPr lang="en-US" sz="2400" dirty="0" err="1">
                    <a:latin typeface="Helvetica Neue"/>
                  </a:rPr>
                  <a:t>hai</a:t>
                </a:r>
                <a:r>
                  <a:rPr lang="en-US" sz="2400" dirty="0">
                    <a:latin typeface="Helvetica Neue"/>
                  </a:rPr>
                  <a:t> là </a:t>
                </a:r>
                <a:r>
                  <a:rPr lang="en-US" sz="2400" dirty="0" err="1">
                    <a:latin typeface="Helvetica Neue"/>
                  </a:rPr>
                  <a:t>một</a:t>
                </a:r>
                <a:r>
                  <a:rPr lang="en-US" sz="2400" dirty="0">
                    <a:latin typeface="Helvetica Neue"/>
                  </a:rPr>
                  <a:t> </a:t>
                </a:r>
                <a:r>
                  <a:rPr lang="en-US" sz="2400" dirty="0" err="1">
                    <a:latin typeface="Helvetica Neue"/>
                  </a:rPr>
                  <a:t>công</a:t>
                </a:r>
                <a:r>
                  <a:rPr lang="en-US" sz="2400" dirty="0">
                    <a:latin typeface="Helvetica Neue"/>
                  </a:rPr>
                  <a:t> </a:t>
                </a:r>
                <a:r>
                  <a:rPr lang="en-US" sz="2400" dirty="0" err="1">
                    <a:latin typeface="Helvetica Neue"/>
                  </a:rPr>
                  <a:t>cụ</a:t>
                </a:r>
                <a:r>
                  <a:rPr lang="en-US" sz="2400" dirty="0">
                    <a:latin typeface="Helvetica Neue"/>
                  </a:rPr>
                  <a:t> </a:t>
                </a:r>
                <a:r>
                  <a:rPr lang="en-US" sz="2400" dirty="0" err="1">
                    <a:latin typeface="Helvetica Neue"/>
                  </a:rPr>
                  <a:t>quan</a:t>
                </a:r>
                <a:r>
                  <a:rPr lang="en-US" sz="2400" dirty="0">
                    <a:latin typeface="Helvetica Neue"/>
                  </a:rPr>
                  <a:t> </a:t>
                </a:r>
                <a:r>
                  <a:rPr lang="en-US" sz="2400" dirty="0" err="1">
                    <a:latin typeface="Helvetica Neue"/>
                  </a:rPr>
                  <a:t>trọng</a:t>
                </a:r>
                <a:r>
                  <a:rPr lang="en-US" sz="2400" dirty="0">
                    <a:latin typeface="Helvetica Neue"/>
                  </a:rPr>
                  <a:t> trong </a:t>
                </a:r>
                <a:r>
                  <a:rPr lang="en-US" sz="2400" dirty="0" err="1">
                    <a:latin typeface="Helvetica Neue"/>
                  </a:rPr>
                  <a:t>xử</a:t>
                </a:r>
                <a:r>
                  <a:rPr lang="en-US" sz="2400" dirty="0">
                    <a:latin typeface="Helvetica Neue"/>
                  </a:rPr>
                  <a:t> </a:t>
                </a:r>
                <a:r>
                  <a:rPr lang="en-US" sz="2400" dirty="0" err="1">
                    <a:latin typeface="Helvetica Neue"/>
                  </a:rPr>
                  <a:t>lý</a:t>
                </a:r>
                <a:r>
                  <a:rPr lang="en-US" sz="2400" dirty="0">
                    <a:latin typeface="Helvetica Neue"/>
                  </a:rPr>
                  <a:t> </a:t>
                </a:r>
                <a:r>
                  <a:rPr lang="en-US" sz="2400" dirty="0" err="1">
                    <a:latin typeface="Helvetica Neue"/>
                  </a:rPr>
                  <a:t>ảnh</a:t>
                </a:r>
                <a:r>
                  <a:rPr lang="en-US" sz="2400" dirty="0">
                    <a:latin typeface="Helvetica Neue"/>
                  </a:rPr>
                  <a:t> để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bằng</a:t>
                </a:r>
                <a:r>
                  <a:rPr lang="en-US" sz="2400" dirty="0">
                    <a:latin typeface="Helvetica Neue"/>
                  </a:rPr>
                  <a:t> </a:t>
                </a:r>
                <a:r>
                  <a:rPr lang="en-US" sz="2400" dirty="0" err="1">
                    <a:latin typeface="Helvetica Neue"/>
                  </a:rPr>
                  <a:t>cách</a:t>
                </a:r>
                <a:r>
                  <a:rPr lang="en-US" sz="2400" dirty="0">
                    <a:latin typeface="Helvetica Neue"/>
                  </a:rPr>
                  <a:t> </a:t>
                </a:r>
                <a:r>
                  <a:rPr lang="en-US" sz="2400" dirty="0" err="1">
                    <a:latin typeface="Helvetica Neue"/>
                  </a:rPr>
                  <a:t>xác</a:t>
                </a:r>
                <a:r>
                  <a:rPr lang="en-US" sz="2400" dirty="0">
                    <a:latin typeface="Helvetica Neue"/>
                  </a:rPr>
                  <a:t> </a:t>
                </a:r>
                <a:r>
                  <a:rPr lang="en-US" sz="2400" dirty="0" err="1">
                    <a:latin typeface="Helvetica Neue"/>
                  </a:rPr>
                  <a:t>định</a:t>
                </a:r>
                <a:r>
                  <a:rPr lang="en-US" sz="2400" dirty="0">
                    <a:latin typeface="Helvetica Neue"/>
                  </a:rPr>
                  <a:t> </a:t>
                </a:r>
                <a:r>
                  <a:rPr lang="en-US" sz="2400" dirty="0" err="1">
                    <a:latin typeface="Helvetica Neue"/>
                  </a:rPr>
                  <a:t>các</a:t>
                </a:r>
                <a:r>
                  <a:rPr lang="en-US" sz="2400" dirty="0">
                    <a:latin typeface="Helvetica Neue"/>
                  </a:rPr>
                  <a:t> </a:t>
                </a:r>
                <a:r>
                  <a:rPr lang="en-US" sz="2400" dirty="0" err="1">
                    <a:latin typeface="Helvetica Neue"/>
                  </a:rPr>
                  <a:t>vùng</a:t>
                </a:r>
                <a:r>
                  <a:rPr lang="en-US" sz="2400" dirty="0">
                    <a:latin typeface="Helvetica Neue"/>
                  </a:rPr>
                  <a:t> có </a:t>
                </a:r>
                <a:r>
                  <a:rPr lang="en-US" sz="2400" dirty="0" err="1">
                    <a:latin typeface="Helvetica Neue"/>
                  </a:rPr>
                  <a:t>sự</a:t>
                </a:r>
                <a:r>
                  <a:rPr lang="en-US" sz="2400" dirty="0">
                    <a:latin typeface="Helvetica Neue"/>
                  </a:rPr>
                  <a:t> </a:t>
                </a:r>
                <a:r>
                  <a:rPr lang="en-US" sz="2400" dirty="0" err="1">
                    <a:latin typeface="Helvetica Neue"/>
                  </a:rPr>
                  <a:t>thay</a:t>
                </a:r>
                <a:r>
                  <a:rPr lang="en-US" sz="2400" dirty="0">
                    <a:latin typeface="Helvetica Neue"/>
                  </a:rPr>
                  <a:t> </a:t>
                </a:r>
                <a:r>
                  <a:rPr lang="en-US" sz="2400" dirty="0" err="1">
                    <a:latin typeface="Helvetica Neue"/>
                  </a:rPr>
                  <a:t>đổi</a:t>
                </a:r>
                <a:r>
                  <a:rPr lang="en-US" sz="2400" dirty="0">
                    <a:latin typeface="Helvetica Neue"/>
                  </a:rPr>
                  <a:t> mạnh </a:t>
                </a:r>
                <a:r>
                  <a:rPr lang="en-US" sz="2400" dirty="0" err="1">
                    <a:latin typeface="Helvetica Neue"/>
                  </a:rPr>
                  <a:t>về</a:t>
                </a:r>
                <a:r>
                  <a:rPr lang="en-US" sz="2400" dirty="0">
                    <a:latin typeface="Helvetica Neue"/>
                  </a:rPr>
                  <a:t> </a:t>
                </a:r>
                <a:r>
                  <a:rPr lang="en-US" sz="2400" dirty="0" err="1">
                    <a:latin typeface="Helvetica Neue"/>
                  </a:rPr>
                  <a:t>cường</a:t>
                </a:r>
                <a:r>
                  <a:rPr lang="en-US" sz="2400" dirty="0">
                    <a:latin typeface="Helvetica Neue"/>
                  </a:rPr>
                  <a:t> </a:t>
                </a:r>
                <a:r>
                  <a:rPr lang="en-US" sz="2400" dirty="0" err="1">
                    <a:latin typeface="Helvetica Neue"/>
                  </a:rPr>
                  <a:t>độ</a:t>
                </a:r>
                <a:r>
                  <a:rPr lang="en-US" sz="2400" dirty="0">
                    <a:latin typeface="Helvetica Neue"/>
                  </a:rPr>
                  <a:t> sáng. </a:t>
                </a:r>
                <a:r>
                  <a:rPr lang="en-US" sz="2400" dirty="0" err="1">
                    <a:latin typeface="Helvetica Neue"/>
                  </a:rPr>
                  <a:t>Các</a:t>
                </a:r>
                <a:r>
                  <a:rPr lang="en-US" sz="2400" dirty="0">
                    <a:latin typeface="Helvetica Neue"/>
                  </a:rPr>
                  <a:t> </a:t>
                </a:r>
                <a:r>
                  <a:rPr lang="en-US" sz="2400" dirty="0" err="1">
                    <a:latin typeface="Helvetica Neue"/>
                  </a:rPr>
                  <a:t>phương</a:t>
                </a:r>
                <a:r>
                  <a:rPr lang="en-US" sz="2400" dirty="0">
                    <a:latin typeface="Helvetica Neue"/>
                  </a:rPr>
                  <a:t> </a:t>
                </a:r>
                <a:r>
                  <a:rPr lang="en-US" sz="2400" dirty="0" err="1">
                    <a:latin typeface="Helvetica Neue"/>
                  </a:rPr>
                  <a:t>pháp</a:t>
                </a:r>
                <a:r>
                  <a:rPr lang="en-US" sz="2400" dirty="0">
                    <a:latin typeface="Helvetica Neue"/>
                  </a:rPr>
                  <a:t> </a:t>
                </a:r>
                <a:r>
                  <a:rPr lang="en-US" sz="2400" dirty="0" err="1">
                    <a:latin typeface="Helvetica Neue"/>
                  </a:rPr>
                  <a:t>phổ</a:t>
                </a:r>
                <a:r>
                  <a:rPr lang="en-US" sz="2400" dirty="0">
                    <a:latin typeface="Helvetica Neue"/>
                  </a:rPr>
                  <a:t> </a:t>
                </a:r>
                <a:r>
                  <a:rPr lang="en-US" sz="2400" dirty="0" err="1">
                    <a:latin typeface="Helvetica Neue"/>
                  </a:rPr>
                  <a:t>biến</a:t>
                </a:r>
                <a:r>
                  <a:rPr lang="en-US" sz="2400" dirty="0">
                    <a:latin typeface="Helvetica Neue"/>
                  </a:rPr>
                  <a:t> </a:t>
                </a:r>
                <a:r>
                  <a:rPr lang="en-US" sz="2400" dirty="0" err="1">
                    <a:latin typeface="Helvetica Neue"/>
                  </a:rPr>
                  <a:t>bao</a:t>
                </a:r>
                <a:r>
                  <a:rPr lang="en-US" sz="2400" dirty="0">
                    <a:latin typeface="Helvetica Neue"/>
                  </a:rPr>
                  <a:t> </a:t>
                </a:r>
                <a:r>
                  <a:rPr lang="en-US" sz="2400" dirty="0" err="1">
                    <a:latin typeface="Helvetica Neue"/>
                  </a:rPr>
                  <a:t>gồm</a:t>
                </a:r>
                <a:r>
                  <a:rPr lang="en-US" sz="2400" dirty="0">
                    <a:latin typeface="Helvetica Neue"/>
                  </a:rPr>
                  <a:t>:</a:t>
                </a:r>
              </a:p>
              <a:p>
                <a:pPr lvl="0"/>
                <a:r>
                  <a:rPr lang="en-US" sz="2400" b="1" dirty="0" err="1">
                    <a:latin typeface="Helvetica Neue"/>
                  </a:rPr>
                  <a:t>Toán</a:t>
                </a:r>
                <a:r>
                  <a:rPr lang="en-US" sz="2400" b="1" dirty="0">
                    <a:latin typeface="Helvetica Neue"/>
                  </a:rPr>
                  <a:t> </a:t>
                </a:r>
                <a:r>
                  <a:rPr lang="en-US" sz="2400" b="1" dirty="0" err="1">
                    <a:latin typeface="Helvetica Neue"/>
                  </a:rPr>
                  <a:t>tử</a:t>
                </a:r>
                <a:r>
                  <a:rPr lang="en-US" sz="2400" b="1" dirty="0">
                    <a:latin typeface="Helvetica Neue"/>
                  </a:rPr>
                  <a:t> Laplacian</a:t>
                </a:r>
                <a:r>
                  <a:rPr lang="en-US" sz="2400" dirty="0">
                    <a:latin typeface="Helvetica Neue"/>
                  </a:rPr>
                  <a:t> – Tính </a:t>
                </a:r>
                <a:r>
                  <a:rPr lang="en-US" sz="2400" dirty="0" err="1">
                    <a:latin typeface="Helvetica Neue"/>
                  </a:rPr>
                  <a:t>tổng</a:t>
                </a:r>
                <a:r>
                  <a:rPr lang="en-US" sz="2400" dirty="0">
                    <a:latin typeface="Helvetica Neue"/>
                  </a:rPr>
                  <a:t> </a:t>
                </a:r>
                <a:r>
                  <a:rPr lang="en-US" sz="2400" dirty="0" err="1">
                    <a:latin typeface="Helvetica Neue"/>
                  </a:rPr>
                  <a:t>đạo</a:t>
                </a:r>
                <a:r>
                  <a:rPr lang="en-US" sz="2400" dirty="0">
                    <a:latin typeface="Helvetica Neue"/>
                  </a:rPr>
                  <a:t> </a:t>
                </a:r>
                <a:r>
                  <a:rPr lang="en-US" sz="2400" dirty="0" err="1">
                    <a:latin typeface="Helvetica Neue"/>
                  </a:rPr>
                  <a:t>hàm</a:t>
                </a:r>
                <a:r>
                  <a:rPr lang="en-US" sz="2400" dirty="0">
                    <a:latin typeface="Helvetica Neue"/>
                  </a:rPr>
                  <a:t> </a:t>
                </a:r>
                <a:r>
                  <a:rPr lang="en-US" sz="2400" dirty="0" err="1">
                    <a:latin typeface="Helvetica Neue"/>
                  </a:rPr>
                  <a:t>bậc</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theo</a:t>
                </a:r>
                <a:r>
                  <a:rPr lang="en-US" sz="2400" dirty="0">
                    <a:latin typeface="Helvetica Neue"/>
                  </a:rPr>
                  <a:t> </a:t>
                </a:r>
                <a:r>
                  <a:rPr lang="en-US" sz="2400" dirty="0" err="1">
                    <a:latin typeface="Helvetica Neue"/>
                  </a:rPr>
                  <a:t>hướng</a:t>
                </a:r>
                <a:r>
                  <a:rPr lang="en-US" sz="2400" dirty="0">
                    <a:latin typeface="Helvetica Neue"/>
                  </a:rPr>
                  <a:t> </a:t>
                </a:r>
                <a14:m>
                  <m:oMath xmlns:m="http://schemas.openxmlformats.org/officeDocument/2006/math">
                    <m:r>
                      <a:rPr lang="en-US" sz="2400" i="1">
                        <a:latin typeface="Cambria Math" panose="02040503050406030204" pitchFamily="18" charset="0"/>
                      </a:rPr>
                      <m:t>𝑥</m:t>
                    </m:r>
                  </m:oMath>
                </a14:m>
                <a:r>
                  <a:rPr lang="en-US" sz="2400" dirty="0">
                    <a:latin typeface="Helvetica Neue"/>
                  </a:rPr>
                  <a:t> </a:t>
                </a:r>
                <a:r>
                  <a:rPr lang="en-US" sz="2400" dirty="0" err="1">
                    <a:latin typeface="Helvetica Neue"/>
                  </a:rPr>
                  <a:t>và</a:t>
                </a:r>
                <a:r>
                  <a:rPr lang="en-US" sz="2400" dirty="0">
                    <a:latin typeface="Helvetica Neue"/>
                  </a:rPr>
                  <a:t> </a:t>
                </a:r>
                <a14:m>
                  <m:oMath xmlns:m="http://schemas.openxmlformats.org/officeDocument/2006/math">
                    <m:r>
                      <a:rPr lang="en-US" sz="2400" i="1">
                        <a:latin typeface="Cambria Math" panose="02040503050406030204" pitchFamily="18" charset="0"/>
                      </a:rPr>
                      <m:t>𝑦</m:t>
                    </m:r>
                  </m:oMath>
                </a14:m>
                <a:r>
                  <a:rPr lang="en-US" sz="2400" dirty="0">
                    <a:latin typeface="Helvetica Neue"/>
                  </a:rPr>
                  <a:t>.</a:t>
                </a:r>
              </a:p>
              <a:p>
                <a:pPr lvl="0"/>
                <a:r>
                  <a:rPr lang="en-US" sz="2400" b="1" dirty="0">
                    <a:latin typeface="Helvetica Neue"/>
                  </a:rPr>
                  <a:t>Ma </a:t>
                </a:r>
                <a:r>
                  <a:rPr lang="en-US" sz="2400" b="1" dirty="0" err="1">
                    <a:latin typeface="Helvetica Neue"/>
                  </a:rPr>
                  <a:t>trận</a:t>
                </a:r>
                <a:r>
                  <a:rPr lang="en-US" sz="2400" b="1" dirty="0">
                    <a:latin typeface="Helvetica Neue"/>
                  </a:rPr>
                  <a:t> Hessian</a:t>
                </a:r>
                <a:r>
                  <a:rPr lang="en-US" sz="2400" dirty="0">
                    <a:latin typeface="Helvetica Neue"/>
                  </a:rPr>
                  <a:t> – </a:t>
                </a:r>
                <a:r>
                  <a:rPr lang="en-US" sz="2400" dirty="0" err="1">
                    <a:latin typeface="Helvetica Neue"/>
                  </a:rPr>
                  <a:t>Dùng</a:t>
                </a:r>
                <a:r>
                  <a:rPr lang="en-US" sz="2400" dirty="0">
                    <a:latin typeface="Helvetica Neue"/>
                  </a:rPr>
                  <a:t> để phát </a:t>
                </a:r>
                <a:r>
                  <a:rPr lang="en-US" sz="2400" dirty="0" err="1">
                    <a:latin typeface="Helvetica Neue"/>
                  </a:rPr>
                  <a:t>hiện</a:t>
                </a:r>
                <a:r>
                  <a:rPr lang="en-US" sz="2400" dirty="0">
                    <a:latin typeface="Helvetica Neue"/>
                  </a:rPr>
                  <a:t> </a:t>
                </a:r>
                <a:r>
                  <a:rPr lang="en-US" sz="2400" dirty="0" err="1">
                    <a:latin typeface="Helvetica Neue"/>
                  </a:rPr>
                  <a:t>góc</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đặc</a:t>
                </a:r>
                <a:r>
                  <a:rPr lang="en-US" sz="2400" dirty="0">
                    <a:latin typeface="Helvetica Neue"/>
                  </a:rPr>
                  <a:t> </a:t>
                </a:r>
                <a:r>
                  <a:rPr lang="en-US" sz="2400" dirty="0" err="1">
                    <a:latin typeface="Helvetica Neue"/>
                  </a:rPr>
                  <a:t>trưng</a:t>
                </a:r>
                <a:r>
                  <a:rPr lang="en-US" sz="2400" dirty="0">
                    <a:latin typeface="Helvetica Neue"/>
                  </a:rPr>
                  <a:t> </a:t>
                </a:r>
                <a:r>
                  <a:rPr lang="en-US" sz="2400" dirty="0" err="1">
                    <a:latin typeface="Helvetica Neue"/>
                  </a:rPr>
                  <a:t>ảnh</a:t>
                </a:r>
                <a:r>
                  <a:rPr lang="en-US" sz="2400" dirty="0">
                    <a:latin typeface="Helvetica Neue"/>
                  </a:rPr>
                  <a:t>.</a:t>
                </a:r>
              </a:p>
              <a:p>
                <a:pPr lvl="0"/>
                <a:r>
                  <a:rPr lang="en-US" sz="2400" b="1" dirty="0">
                    <a:latin typeface="Helvetica Neue"/>
                  </a:rPr>
                  <a:t>Difference of Gaussians (</a:t>
                </a:r>
                <a:r>
                  <a:rPr lang="en-US" sz="2400" b="1" dirty="0" err="1">
                    <a:latin typeface="Helvetica Neue"/>
                  </a:rPr>
                  <a:t>DoG</a:t>
                </a:r>
                <a:r>
                  <a:rPr lang="en-US" sz="2400" b="1" dirty="0">
                    <a:latin typeface="Helvetica Neue"/>
                  </a:rPr>
                  <a:t>)</a:t>
                </a:r>
                <a:r>
                  <a:rPr lang="en-US" sz="2400" dirty="0">
                    <a:latin typeface="Helvetica Neue"/>
                  </a:rPr>
                  <a:t> – </a:t>
                </a:r>
                <a:r>
                  <a:rPr lang="en-US" sz="2400" dirty="0" err="1">
                    <a:latin typeface="Helvetica Neue"/>
                  </a:rPr>
                  <a:t>Xấp</a:t>
                </a:r>
                <a:r>
                  <a:rPr lang="en-US" sz="2400" dirty="0">
                    <a:latin typeface="Helvetica Neue"/>
                  </a:rPr>
                  <a:t> </a:t>
                </a:r>
                <a:r>
                  <a:rPr lang="en-US" sz="2400" dirty="0" err="1">
                    <a:latin typeface="Helvetica Neue"/>
                  </a:rPr>
                  <a:t>xỉ</a:t>
                </a:r>
                <a:r>
                  <a:rPr lang="en-US" sz="2400" dirty="0">
                    <a:latin typeface="Helvetica Neue"/>
                  </a:rPr>
                  <a:t> Laplacian để </a:t>
                </a:r>
                <a:r>
                  <a:rPr lang="en-US" sz="2400" dirty="0" err="1">
                    <a:latin typeface="Helvetica Neue"/>
                  </a:rPr>
                  <a:t>giảm</a:t>
                </a:r>
                <a:r>
                  <a:rPr lang="en-US" sz="2400" dirty="0">
                    <a:latin typeface="Helvetica Neue"/>
                  </a:rPr>
                  <a:t> </a:t>
                </a:r>
                <a:r>
                  <a:rPr lang="en-US" sz="2400" dirty="0" err="1">
                    <a:latin typeface="Helvetica Neue"/>
                  </a:rPr>
                  <a:t>nhiễu</a:t>
                </a:r>
                <a:r>
                  <a:rPr lang="en-US" sz="2400" dirty="0">
                    <a:latin typeface="Helvetica Neue"/>
                  </a:rPr>
                  <a:t>.</a:t>
                </a:r>
              </a:p>
              <a:p>
                <a:pPr lvl="0"/>
                <a:r>
                  <a:rPr lang="en-US" sz="2400" b="1" dirty="0">
                    <a:latin typeface="Helvetica Neue"/>
                  </a:rPr>
                  <a:t>Laplacian of Gaussian (</a:t>
                </a:r>
                <a:r>
                  <a:rPr lang="en-US" sz="2400" b="1" dirty="0" err="1">
                    <a:latin typeface="Helvetica Neue"/>
                  </a:rPr>
                  <a:t>LoG</a:t>
                </a:r>
                <a:r>
                  <a:rPr lang="en-US" sz="2400" b="1" dirty="0">
                    <a:latin typeface="Helvetica Neue"/>
                  </a:rPr>
                  <a:t>)</a:t>
                </a:r>
                <a:r>
                  <a:rPr lang="en-US" sz="2400" dirty="0">
                    <a:latin typeface="Helvetica Neue"/>
                  </a:rPr>
                  <a:t> – </a:t>
                </a:r>
                <a:r>
                  <a:rPr lang="en-US" sz="2400" dirty="0" err="1">
                    <a:latin typeface="Helvetica Neue"/>
                  </a:rPr>
                  <a:t>Kết</a:t>
                </a:r>
                <a:r>
                  <a:rPr lang="en-US" sz="2400" dirty="0">
                    <a:latin typeface="Helvetica Neue"/>
                  </a:rPr>
                  <a:t> </a:t>
                </a:r>
                <a:r>
                  <a:rPr lang="en-US" sz="2400" dirty="0" err="1">
                    <a:latin typeface="Helvetica Neue"/>
                  </a:rPr>
                  <a:t>hợp</a:t>
                </a:r>
                <a:r>
                  <a:rPr lang="en-US" sz="2400" dirty="0">
                    <a:latin typeface="Helvetica Neue"/>
                  </a:rPr>
                  <a:t> Gaussian </a:t>
                </a:r>
                <a:r>
                  <a:rPr lang="en-US" sz="2400" dirty="0" err="1">
                    <a:latin typeface="Helvetica Neue"/>
                  </a:rPr>
                  <a:t>và</a:t>
                </a:r>
                <a:r>
                  <a:rPr lang="en-US" sz="2400" dirty="0">
                    <a:latin typeface="Helvetica Neue"/>
                  </a:rPr>
                  <a:t> Laplacian để </a:t>
                </a:r>
                <a:r>
                  <a:rPr lang="en-US" sz="2400" dirty="0" err="1">
                    <a:latin typeface="Helvetica Neue"/>
                  </a:rPr>
                  <a:t>xử</a:t>
                </a:r>
                <a:r>
                  <a:rPr lang="en-US" sz="2400" dirty="0">
                    <a:latin typeface="Helvetica Neue"/>
                  </a:rPr>
                  <a:t> </a:t>
                </a:r>
                <a:r>
                  <a:rPr lang="en-US" sz="2400" dirty="0" err="1">
                    <a:latin typeface="Helvetica Neue"/>
                  </a:rPr>
                  <a:t>lý</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hiệu</a:t>
                </a:r>
                <a:r>
                  <a:rPr lang="en-US" sz="2400" dirty="0">
                    <a:latin typeface="Helvetica Neue"/>
                  </a:rPr>
                  <a:t> </a:t>
                </a:r>
                <a:r>
                  <a:rPr lang="en-US" sz="2400" dirty="0" err="1">
                    <a:latin typeface="Helvetica Neue"/>
                  </a:rPr>
                  <a:t>quả</a:t>
                </a:r>
                <a:r>
                  <a:rPr lang="en-US" sz="2400" dirty="0">
                    <a:latin typeface="Helvetica Neue"/>
                  </a:rPr>
                  <a:t> </a:t>
                </a:r>
                <a:r>
                  <a:rPr lang="en-US" sz="2400" dirty="0" err="1">
                    <a:latin typeface="Helvetica Neue"/>
                  </a:rPr>
                  <a:t>hơn</a:t>
                </a:r>
                <a:r>
                  <a:rPr lang="en-US" sz="2400" dirty="0">
                    <a:latin typeface="Helvetica Neue"/>
                  </a:rPr>
                  <a:t>.</a:t>
                </a:r>
              </a:p>
              <a:p>
                <a:pPr marL="0" indent="0">
                  <a:buNone/>
                </a:pPr>
                <a:endParaRPr lang="en-US"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0" y="2101002"/>
                <a:ext cx="10382250" cy="6185747"/>
              </a:xfrm>
              <a:blipFill>
                <a:blip r:embed="rId2"/>
                <a:stretch>
                  <a:fillRect l="-881" t="-690"/>
                </a:stretch>
              </a:blipFill>
            </p:spPr>
            <p:txBody>
              <a:bodyPr/>
              <a:lstStyle/>
              <a:p>
                <a:r>
                  <a:rPr lang="en-US">
                    <a:noFill/>
                  </a:rPr>
                  <a:t> </a:t>
                </a:r>
              </a:p>
            </p:txBody>
          </p:sp>
        </mc:Fallback>
      </mc:AlternateContent>
    </p:spTree>
    <p:extLst>
      <p:ext uri="{BB962C8B-B14F-4D97-AF65-F5344CB8AC3E}">
        <p14:creationId xmlns:p14="http://schemas.microsoft.com/office/powerpoint/2010/main" val="40299609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81396" y="2081952"/>
                <a:ext cx="10401004" cy="6700097"/>
              </a:xfrm>
            </p:spPr>
            <p:txBody>
              <a:bodyPr/>
              <a:lstStyle/>
              <a:p>
                <a:pPr marL="0" indent="0">
                  <a:buNone/>
                </a:pPr>
                <a:r>
                  <a:rPr lang="en-US" sz="2400" b="1" dirty="0">
                    <a:latin typeface="Helvetica Neue"/>
                  </a:rPr>
                  <a:t>2. TOÁN TỬ LAPLACIAN</a:t>
                </a:r>
              </a:p>
              <a:p>
                <a:pPr marL="0" indent="0">
                  <a:buNone/>
                </a:pPr>
                <a:r>
                  <a:rPr lang="en-US" sz="2400" dirty="0" smtClean="0">
                    <a:latin typeface="Helvetica Neue"/>
                  </a:rPr>
                  <a:t>2.1</a:t>
                </a:r>
                <a:r>
                  <a:rPr lang="en-US" sz="2400" dirty="0">
                    <a:latin typeface="Helvetica Neue"/>
                  </a:rPr>
                  <a:t>. Nguyên </a:t>
                </a:r>
                <a:r>
                  <a:rPr lang="en-US" sz="2400" dirty="0" err="1">
                    <a:latin typeface="Helvetica Neue"/>
                  </a:rPr>
                  <a:t>lý</a:t>
                </a:r>
                <a:r>
                  <a:rPr lang="en-US" sz="2400" dirty="0">
                    <a:latin typeface="Helvetica Neue"/>
                  </a:rPr>
                  <a:t> </a:t>
                </a:r>
                <a:r>
                  <a:rPr lang="en-US" sz="2400" dirty="0" err="1">
                    <a:latin typeface="Helvetica Neue"/>
                  </a:rPr>
                  <a:t>hoạt</a:t>
                </a:r>
                <a:r>
                  <a:rPr lang="en-US" sz="2400" dirty="0">
                    <a:latin typeface="Helvetica Neue"/>
                  </a:rPr>
                  <a:t> </a:t>
                </a:r>
                <a:r>
                  <a:rPr lang="en-US" sz="2400" dirty="0" err="1">
                    <a:latin typeface="Helvetica Neue"/>
                  </a:rPr>
                  <a:t>động</a:t>
                </a:r>
                <a:endParaRPr lang="en-US" sz="2400" dirty="0">
                  <a:latin typeface="Helvetica Neue"/>
                </a:endParaRPr>
              </a:p>
              <a:p>
                <a:pPr lvl="1"/>
                <a:r>
                  <a:rPr lang="en-US" sz="2400" dirty="0">
                    <a:latin typeface="Helvetica Neue"/>
                  </a:rPr>
                  <a:t>Tính </a:t>
                </a:r>
                <a:r>
                  <a:rPr lang="en-US" sz="2400" dirty="0" err="1">
                    <a:latin typeface="Helvetica Neue"/>
                  </a:rPr>
                  <a:t>toán</a:t>
                </a:r>
                <a:r>
                  <a:rPr lang="en-US" sz="2400" dirty="0">
                    <a:latin typeface="Helvetica Neue"/>
                  </a:rPr>
                  <a:t> </a:t>
                </a:r>
                <a:r>
                  <a:rPr lang="en-US" sz="2400" dirty="0" err="1">
                    <a:latin typeface="Helvetica Neue"/>
                  </a:rPr>
                  <a:t>đạo</a:t>
                </a:r>
                <a:r>
                  <a:rPr lang="en-US" sz="2400" dirty="0">
                    <a:latin typeface="Helvetica Neue"/>
                  </a:rPr>
                  <a:t> </a:t>
                </a:r>
                <a:r>
                  <a:rPr lang="en-US" sz="2400" dirty="0" err="1">
                    <a:latin typeface="Helvetica Neue"/>
                  </a:rPr>
                  <a:t>hàm</a:t>
                </a:r>
                <a:r>
                  <a:rPr lang="en-US" sz="2400" dirty="0">
                    <a:latin typeface="Helvetica Neue"/>
                  </a:rPr>
                  <a:t> </a:t>
                </a:r>
                <a:r>
                  <a:rPr lang="en-US" sz="2400" dirty="0" err="1">
                    <a:latin typeface="Helvetica Neue"/>
                  </a:rPr>
                  <a:t>bậc</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theo</a:t>
                </a:r>
                <a:r>
                  <a:rPr lang="en-US" sz="2400" dirty="0">
                    <a:latin typeface="Helvetica Neue"/>
                  </a:rPr>
                  <a:t> </a:t>
                </a:r>
                <a:r>
                  <a:rPr lang="en-US" sz="2400" dirty="0" err="1">
                    <a:latin typeface="Helvetica Neue"/>
                  </a:rPr>
                  <a:t>hướng</a:t>
                </a:r>
                <a:r>
                  <a:rPr lang="en-US" sz="2400" dirty="0">
                    <a:latin typeface="Helvetica Neue"/>
                  </a:rPr>
                  <a:t> </a:t>
                </a:r>
                <a14:m>
                  <m:oMath xmlns:m="http://schemas.openxmlformats.org/officeDocument/2006/math">
                    <m:r>
                      <a:rPr lang="en-US" sz="2400" b="0" i="1">
                        <a:latin typeface="Cambria Math" panose="02040503050406030204" pitchFamily="18" charset="0"/>
                      </a:rPr>
                      <m:t>𝑥</m:t>
                    </m:r>
                  </m:oMath>
                </a14:m>
                <a:r>
                  <a:rPr lang="en-US" sz="2400" dirty="0">
                    <a:latin typeface="Helvetica Neue"/>
                  </a:rPr>
                  <a:t> </a:t>
                </a:r>
                <a:r>
                  <a:rPr lang="en-US" sz="2400" dirty="0" err="1">
                    <a:latin typeface="Helvetica Neue"/>
                  </a:rPr>
                  <a:t>và</a:t>
                </a:r>
                <a:r>
                  <a:rPr lang="en-US" sz="2400" dirty="0">
                    <a:latin typeface="Helvetica Neue"/>
                  </a:rPr>
                  <a:t> </a:t>
                </a:r>
                <a14:m>
                  <m:oMath xmlns:m="http://schemas.openxmlformats.org/officeDocument/2006/math">
                    <m:r>
                      <a:rPr lang="en-US" sz="2400" b="0" i="1">
                        <a:latin typeface="Cambria Math" panose="02040503050406030204" pitchFamily="18" charset="0"/>
                      </a:rPr>
                      <m:t>𝑦</m:t>
                    </m:r>
                  </m:oMath>
                </a14:m>
                <a:r>
                  <a:rPr lang="en-US" sz="2400" dirty="0">
                    <a:latin typeface="Helvetica Neue"/>
                  </a:rPr>
                  <a:t>, </a:t>
                </a:r>
                <a:r>
                  <a:rPr lang="en-US" sz="2400" dirty="0" err="1">
                    <a:latin typeface="Helvetica Neue"/>
                  </a:rPr>
                  <a:t>giúp</a:t>
                </a:r>
                <a:r>
                  <a:rPr lang="en-US" sz="2400" dirty="0">
                    <a:latin typeface="Helvetica Neue"/>
                  </a:rPr>
                  <a:t> phát </a:t>
                </a:r>
                <a:r>
                  <a:rPr lang="en-US" sz="2400" dirty="0" err="1">
                    <a:latin typeface="Helvetica Neue"/>
                  </a:rPr>
                  <a:t>hiện</a:t>
                </a:r>
                <a:r>
                  <a:rPr lang="en-US" sz="2400" dirty="0">
                    <a:latin typeface="Helvetica Neue"/>
                  </a:rPr>
                  <a:t> </a:t>
                </a:r>
                <a:r>
                  <a:rPr lang="en-US" sz="2400" dirty="0" err="1">
                    <a:latin typeface="Helvetica Neue"/>
                  </a:rPr>
                  <a:t>vùng</a:t>
                </a:r>
                <a:r>
                  <a:rPr lang="en-US" sz="2400" dirty="0">
                    <a:latin typeface="Helvetica Neue"/>
                  </a:rPr>
                  <a:t> có </a:t>
                </a:r>
                <a:r>
                  <a:rPr lang="en-US" sz="2400" dirty="0" err="1">
                    <a:latin typeface="Helvetica Neue"/>
                  </a:rPr>
                  <a:t>sự</a:t>
                </a:r>
                <a:r>
                  <a:rPr lang="en-US" sz="2400" dirty="0">
                    <a:latin typeface="Helvetica Neue"/>
                  </a:rPr>
                  <a:t> </a:t>
                </a:r>
                <a:r>
                  <a:rPr lang="en-US" sz="2400" dirty="0" err="1">
                    <a:latin typeface="Helvetica Neue"/>
                  </a:rPr>
                  <a:t>thay</a:t>
                </a:r>
                <a:r>
                  <a:rPr lang="en-US" sz="2400" dirty="0">
                    <a:latin typeface="Helvetica Neue"/>
                  </a:rPr>
                  <a:t> </a:t>
                </a:r>
                <a:r>
                  <a:rPr lang="en-US" sz="2400" dirty="0" err="1">
                    <a:latin typeface="Helvetica Neue"/>
                  </a:rPr>
                  <a:t>đổi</a:t>
                </a:r>
                <a:r>
                  <a:rPr lang="en-US" sz="2400" dirty="0">
                    <a:latin typeface="Helvetica Neue"/>
                  </a:rPr>
                  <a:t> mạnh </a:t>
                </a:r>
                <a:r>
                  <a:rPr lang="en-US" sz="2400" dirty="0" err="1">
                    <a:latin typeface="Helvetica Neue"/>
                  </a:rPr>
                  <a:t>về</a:t>
                </a:r>
                <a:r>
                  <a:rPr lang="en-US" sz="2400" dirty="0">
                    <a:latin typeface="Helvetica Neue"/>
                  </a:rPr>
                  <a:t> </a:t>
                </a:r>
                <a:r>
                  <a:rPr lang="en-US" sz="2400" dirty="0" err="1">
                    <a:latin typeface="Helvetica Neue"/>
                  </a:rPr>
                  <a:t>cường</a:t>
                </a:r>
                <a:r>
                  <a:rPr lang="en-US" sz="2400" dirty="0">
                    <a:latin typeface="Helvetica Neue"/>
                  </a:rPr>
                  <a:t> </a:t>
                </a:r>
                <a:r>
                  <a:rPr lang="en-US" sz="2400" dirty="0" err="1">
                    <a:latin typeface="Helvetica Neue"/>
                  </a:rPr>
                  <a:t>độ</a:t>
                </a:r>
                <a:r>
                  <a:rPr lang="en-US" sz="2400" dirty="0">
                    <a:latin typeface="Helvetica Neue"/>
                  </a:rPr>
                  <a:t> sáng.</a:t>
                </a:r>
              </a:p>
              <a:p>
                <a:pPr lvl="1"/>
                <a:r>
                  <a:rPr lang="en-US" sz="2400" dirty="0" err="1">
                    <a:latin typeface="Helvetica Neue"/>
                  </a:rPr>
                  <a:t>Nhạy</a:t>
                </a:r>
                <a:r>
                  <a:rPr lang="en-US" sz="2400" dirty="0">
                    <a:latin typeface="Helvetica Neue"/>
                  </a:rPr>
                  <a:t> </a:t>
                </a:r>
                <a:r>
                  <a:rPr lang="en-US" sz="2400" dirty="0" err="1">
                    <a:latin typeface="Helvetica Neue"/>
                  </a:rPr>
                  <a:t>với</a:t>
                </a:r>
                <a:r>
                  <a:rPr lang="en-US" sz="2400" dirty="0">
                    <a:latin typeface="Helvetica Neue"/>
                  </a:rPr>
                  <a:t> </a:t>
                </a:r>
                <a:r>
                  <a:rPr lang="en-US" sz="2400" dirty="0" err="1">
                    <a:latin typeface="Helvetica Neue"/>
                  </a:rPr>
                  <a:t>tất</a:t>
                </a:r>
                <a:r>
                  <a:rPr lang="en-US" sz="2400" dirty="0">
                    <a:latin typeface="Helvetica Neue"/>
                  </a:rPr>
                  <a:t> cả </a:t>
                </a:r>
                <a:r>
                  <a:rPr lang="en-US" sz="2400" dirty="0" err="1">
                    <a:latin typeface="Helvetica Neue"/>
                  </a:rPr>
                  <a:t>các</a:t>
                </a:r>
                <a:r>
                  <a:rPr lang="en-US" sz="2400" dirty="0">
                    <a:latin typeface="Helvetica Neue"/>
                  </a:rPr>
                  <a:t> </a:t>
                </a:r>
                <a:r>
                  <a:rPr lang="en-US" sz="2400" dirty="0" err="1">
                    <a:latin typeface="Helvetica Neue"/>
                  </a:rPr>
                  <a:t>hướng</a:t>
                </a:r>
                <a:r>
                  <a:rPr lang="en-US" sz="2400" dirty="0">
                    <a:latin typeface="Helvetica Neue"/>
                  </a:rPr>
                  <a:t> </a:t>
                </a:r>
                <a:r>
                  <a:rPr lang="en-US" sz="2400" dirty="0" err="1">
                    <a:latin typeface="Helvetica Neue"/>
                  </a:rPr>
                  <a:t>thay</a:t>
                </a:r>
                <a:r>
                  <a:rPr lang="en-US" sz="2400" dirty="0">
                    <a:latin typeface="Helvetica Neue"/>
                  </a:rPr>
                  <a:t> </a:t>
                </a:r>
                <a:r>
                  <a:rPr lang="en-US" sz="2400" dirty="0" err="1">
                    <a:latin typeface="Helvetica Neue"/>
                  </a:rPr>
                  <a:t>vì</a:t>
                </a:r>
                <a:r>
                  <a:rPr lang="en-US" sz="2400" dirty="0">
                    <a:latin typeface="Helvetica Neue"/>
                  </a:rPr>
                  <a:t> </a:t>
                </a:r>
                <a:r>
                  <a:rPr lang="en-US" sz="2400" dirty="0" err="1">
                    <a:latin typeface="Helvetica Neue"/>
                  </a:rPr>
                  <a:t>chỉ</a:t>
                </a:r>
                <a:r>
                  <a:rPr lang="en-US" sz="2400" dirty="0">
                    <a:latin typeface="Helvetica Neue"/>
                  </a:rPr>
                  <a:t> </a:t>
                </a:r>
                <a:r>
                  <a:rPr lang="en-US" sz="2400" dirty="0" err="1">
                    <a:latin typeface="Helvetica Neue"/>
                  </a:rPr>
                  <a:t>theo</a:t>
                </a:r>
                <a:r>
                  <a:rPr lang="en-US" sz="2400" dirty="0">
                    <a:latin typeface="Helvetica Neue"/>
                  </a:rPr>
                  <a:t> </a:t>
                </a:r>
                <a:r>
                  <a:rPr lang="en-US" sz="2400" dirty="0" err="1">
                    <a:latin typeface="Helvetica Neue"/>
                  </a:rPr>
                  <a:t>phương</a:t>
                </a:r>
                <a:r>
                  <a:rPr lang="en-US" sz="2400" dirty="0">
                    <a:latin typeface="Helvetica Neue"/>
                  </a:rPr>
                  <a:t> </a:t>
                </a:r>
                <a:r>
                  <a:rPr lang="en-US" sz="2400" dirty="0" err="1">
                    <a:latin typeface="Helvetica Neue"/>
                  </a:rPr>
                  <a:t>ngang</a:t>
                </a:r>
                <a:r>
                  <a:rPr lang="en-US" sz="2400" dirty="0">
                    <a:latin typeface="Helvetica Neue"/>
                  </a:rPr>
                  <a:t> </a:t>
                </a:r>
                <a:r>
                  <a:rPr lang="en-US" sz="2400" dirty="0" err="1">
                    <a:latin typeface="Helvetica Neue"/>
                  </a:rPr>
                  <a:t>hoặc</a:t>
                </a:r>
                <a:r>
                  <a:rPr lang="en-US" sz="2400" dirty="0">
                    <a:latin typeface="Helvetica Neue"/>
                  </a:rPr>
                  <a:t> </a:t>
                </a:r>
                <a:r>
                  <a:rPr lang="en-US" sz="2400" dirty="0" err="1">
                    <a:latin typeface="Helvetica Neue"/>
                  </a:rPr>
                  <a:t>dọc</a:t>
                </a:r>
                <a:r>
                  <a:rPr lang="en-US" sz="2400" dirty="0">
                    <a:latin typeface="Helvetica Neue"/>
                  </a:rPr>
                  <a:t>.</a:t>
                </a:r>
              </a:p>
              <a:p>
                <a:pPr lvl="1"/>
                <a:r>
                  <a:rPr lang="en-US" sz="2400" dirty="0" err="1">
                    <a:latin typeface="Helvetica Neue"/>
                  </a:rPr>
                  <a:t>Nhược</a:t>
                </a:r>
                <a:r>
                  <a:rPr lang="en-US" sz="2400" dirty="0">
                    <a:latin typeface="Helvetica Neue"/>
                  </a:rPr>
                  <a:t> </a:t>
                </a:r>
                <a:r>
                  <a:rPr lang="en-US" sz="2400" dirty="0" err="1">
                    <a:latin typeface="Helvetica Neue"/>
                  </a:rPr>
                  <a:t>điểm</a:t>
                </a:r>
                <a:r>
                  <a:rPr lang="en-US" sz="2400" dirty="0">
                    <a:latin typeface="Helvetica Neue"/>
                  </a:rPr>
                  <a:t>: </a:t>
                </a:r>
                <a:r>
                  <a:rPr lang="en-US" sz="2400" dirty="0" err="1">
                    <a:latin typeface="Helvetica Neue"/>
                  </a:rPr>
                  <a:t>Rất</a:t>
                </a:r>
                <a:r>
                  <a:rPr lang="en-US" sz="2400" dirty="0">
                    <a:latin typeface="Helvetica Neue"/>
                  </a:rPr>
                  <a:t> </a:t>
                </a:r>
                <a:r>
                  <a:rPr lang="en-US" sz="2400" dirty="0" err="1">
                    <a:latin typeface="Helvetica Neue"/>
                  </a:rPr>
                  <a:t>nhạy</a:t>
                </a:r>
                <a:r>
                  <a:rPr lang="en-US" sz="2400" dirty="0">
                    <a:latin typeface="Helvetica Neue"/>
                  </a:rPr>
                  <a:t> </a:t>
                </a:r>
                <a:r>
                  <a:rPr lang="en-US" sz="2400" dirty="0" err="1">
                    <a:latin typeface="Helvetica Neue"/>
                  </a:rPr>
                  <a:t>với</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cần</a:t>
                </a:r>
                <a:r>
                  <a:rPr lang="en-US" sz="2400" dirty="0">
                    <a:latin typeface="Helvetica Neue"/>
                  </a:rPr>
                  <a:t> tiền </a:t>
                </a:r>
                <a:r>
                  <a:rPr lang="en-US" sz="2400" dirty="0" err="1">
                    <a:latin typeface="Helvetica Neue"/>
                  </a:rPr>
                  <a:t>xử</a:t>
                </a:r>
                <a:r>
                  <a:rPr lang="en-US" sz="2400" dirty="0">
                    <a:latin typeface="Helvetica Neue"/>
                  </a:rPr>
                  <a:t> </a:t>
                </a:r>
                <a:r>
                  <a:rPr lang="en-US" sz="2400" dirty="0" err="1">
                    <a:latin typeface="Helvetica Neue"/>
                  </a:rPr>
                  <a:t>lý</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bằng</a:t>
                </a:r>
                <a:r>
                  <a:rPr lang="en-US" sz="2400" dirty="0">
                    <a:latin typeface="Helvetica Neue"/>
                  </a:rPr>
                  <a:t> </a:t>
                </a:r>
                <a:r>
                  <a:rPr lang="en-US" sz="2400" dirty="0" smtClean="0">
                    <a:latin typeface="Helvetica Neue"/>
                  </a:rPr>
                  <a:t>Gaussian.</a:t>
                </a:r>
              </a:p>
              <a:p>
                <a:pPr marL="0" indent="0">
                  <a:buNone/>
                </a:pPr>
                <a:r>
                  <a:rPr lang="en-US" sz="2400" dirty="0">
                    <a:latin typeface="Helvetica Neue"/>
                  </a:rPr>
                  <a:t>2.2. </a:t>
                </a:r>
                <a:r>
                  <a:rPr lang="en-US" sz="2400" dirty="0" err="1">
                    <a:latin typeface="Helvetica Neue"/>
                  </a:rPr>
                  <a:t>Công</a:t>
                </a:r>
                <a:r>
                  <a:rPr lang="en-US" sz="2400" dirty="0">
                    <a:latin typeface="Helvetica Neue"/>
                  </a:rPr>
                  <a:t> </a:t>
                </a:r>
                <a:r>
                  <a:rPr lang="en-US" sz="2400" dirty="0" err="1">
                    <a:latin typeface="Helvetica Neue"/>
                  </a:rPr>
                  <a:t>thức</a:t>
                </a:r>
                <a:r>
                  <a:rPr lang="en-US" sz="2400" dirty="0">
                    <a:latin typeface="Helvetica Neue"/>
                  </a:rPr>
                  <a:t> </a:t>
                </a:r>
                <a:r>
                  <a:rPr lang="en-US" sz="2400" dirty="0" err="1">
                    <a:latin typeface="Helvetica Neue"/>
                  </a:rPr>
                  <a:t>toán</a:t>
                </a:r>
                <a:r>
                  <a:rPr lang="en-US" sz="2400" dirty="0">
                    <a:latin typeface="Helvetica Neue"/>
                  </a:rPr>
                  <a:t> học</a:t>
                </a:r>
              </a:p>
              <a:p>
                <a:pPr lvl="1"/>
                <a14:m>
                  <m:oMath xmlns:m="http://schemas.openxmlformats.org/officeDocument/2006/math">
                    <m:sSup>
                      <m:sSupPr>
                        <m:ctrlPr>
                          <a:rPr lang="en-US" sz="2400" i="1">
                            <a:latin typeface="Cambria Math" panose="02040503050406030204" pitchFamily="18" charset="0"/>
                          </a:rPr>
                        </m:ctrlPr>
                      </m:sSupPr>
                      <m:e>
                        <m:r>
                          <a:rPr lang="en-US" sz="2400" b="0">
                            <a:latin typeface="Cambria Math" panose="02040503050406030204" pitchFamily="18" charset="0"/>
                          </a:rPr>
                          <m:t>𝛻</m:t>
                        </m:r>
                      </m:e>
                      <m:sup>
                        <m:r>
                          <a:rPr lang="en-US" sz="2400" b="0" i="1">
                            <a:latin typeface="Cambria Math" panose="02040503050406030204" pitchFamily="18" charset="0"/>
                          </a:rPr>
                          <m:t>2</m:t>
                        </m:r>
                      </m:sup>
                    </m:sSup>
                    <m:r>
                      <a:rPr lang="en-US" sz="2400" b="0" i="1">
                        <a:latin typeface="Cambria Math" panose="02040503050406030204" pitchFamily="18" charset="0"/>
                      </a:rPr>
                      <m:t>𝐼</m:t>
                    </m:r>
                    <m:r>
                      <a:rPr lang="en-US" sz="2400" b="0">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b="0">
                                <a:latin typeface="Cambria Math" panose="02040503050406030204" pitchFamily="18" charset="0"/>
                              </a:rPr>
                              <m:t>𝜕</m:t>
                            </m:r>
                          </m:e>
                          <m:sup>
                            <m:r>
                              <a:rPr lang="en-US" sz="2400" b="0" i="1">
                                <a:latin typeface="Cambria Math" panose="02040503050406030204" pitchFamily="18" charset="0"/>
                              </a:rPr>
                              <m:t>2</m:t>
                            </m:r>
                          </m:sup>
                        </m:sSup>
                        <m:r>
                          <a:rPr lang="en-US" sz="2400" b="0" i="1">
                            <a:latin typeface="Cambria Math" panose="02040503050406030204" pitchFamily="18" charset="0"/>
                          </a:rPr>
                          <m:t>𝐼</m:t>
                        </m:r>
                      </m:num>
                      <m:den>
                        <m:r>
                          <a:rPr lang="en-US" sz="2400" b="0">
                            <a:latin typeface="Cambria Math" panose="02040503050406030204" pitchFamily="18" charset="0"/>
                          </a:rPr>
                          <m:t>𝜕</m:t>
                        </m:r>
                        <m:sSup>
                          <m:sSupPr>
                            <m:ctrlPr>
                              <a:rPr lang="en-US" sz="2400" i="1">
                                <a:latin typeface="Cambria Math" panose="02040503050406030204" pitchFamily="18" charset="0"/>
                              </a:rPr>
                            </m:ctrlPr>
                          </m:sSupPr>
                          <m:e>
                            <m:r>
                              <a:rPr lang="en-US" sz="2400" b="0" i="1">
                                <a:latin typeface="Cambria Math" panose="02040503050406030204" pitchFamily="18" charset="0"/>
                              </a:rPr>
                              <m:t>𝑥</m:t>
                            </m:r>
                          </m:e>
                          <m:sup>
                            <m:r>
                              <a:rPr lang="en-US" sz="2400" b="0" i="1">
                                <a:latin typeface="Cambria Math" panose="02040503050406030204" pitchFamily="18" charset="0"/>
                              </a:rPr>
                              <m:t>2</m:t>
                            </m:r>
                          </m:sup>
                        </m:sSup>
                      </m:den>
                    </m:f>
                    <m:r>
                      <a:rPr lang="en-US" sz="2400" b="0">
                        <a:latin typeface="Cambria Math" panose="02040503050406030204" pitchFamily="18" charset="0"/>
                      </a:rPr>
                      <m:t>+</m:t>
                    </m:r>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b="0">
                                <a:latin typeface="Cambria Math" panose="02040503050406030204" pitchFamily="18" charset="0"/>
                              </a:rPr>
                              <m:t>𝜕</m:t>
                            </m:r>
                          </m:e>
                          <m:sup>
                            <m:r>
                              <a:rPr lang="en-US" sz="2400" b="0" i="1">
                                <a:latin typeface="Cambria Math" panose="02040503050406030204" pitchFamily="18" charset="0"/>
                              </a:rPr>
                              <m:t>2</m:t>
                            </m:r>
                          </m:sup>
                        </m:sSup>
                        <m:r>
                          <a:rPr lang="en-US" sz="2400" b="0" i="1">
                            <a:latin typeface="Cambria Math" panose="02040503050406030204" pitchFamily="18" charset="0"/>
                          </a:rPr>
                          <m:t>𝐼</m:t>
                        </m:r>
                      </m:num>
                      <m:den>
                        <m:r>
                          <a:rPr lang="en-US" sz="2400" b="0">
                            <a:latin typeface="Cambria Math" panose="02040503050406030204" pitchFamily="18" charset="0"/>
                          </a:rPr>
                          <m:t>𝜕</m:t>
                        </m:r>
                        <m:sSup>
                          <m:sSupPr>
                            <m:ctrlPr>
                              <a:rPr lang="en-US" sz="2400" i="1">
                                <a:latin typeface="Cambria Math" panose="02040503050406030204" pitchFamily="18" charset="0"/>
                              </a:rPr>
                            </m:ctrlPr>
                          </m:sSupPr>
                          <m:e>
                            <m:r>
                              <a:rPr lang="en-US" sz="2400" b="0" i="1">
                                <a:latin typeface="Cambria Math" panose="02040503050406030204" pitchFamily="18" charset="0"/>
                              </a:rPr>
                              <m:t>𝑦</m:t>
                            </m:r>
                          </m:e>
                          <m:sup>
                            <m:r>
                              <a:rPr lang="en-US" sz="2400" b="0" i="1">
                                <a:latin typeface="Cambria Math" panose="02040503050406030204" pitchFamily="18" charset="0"/>
                              </a:rPr>
                              <m:t>2</m:t>
                            </m:r>
                          </m:sup>
                        </m:sSup>
                      </m:den>
                    </m:f>
                  </m:oMath>
                </a14:m>
                <a:endParaRPr lang="en-US" sz="2400" dirty="0">
                  <a:latin typeface="Helvetica Neue"/>
                </a:endParaRPr>
              </a:p>
              <a:p>
                <a:pPr marL="0" lv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81396" y="2081952"/>
                <a:ext cx="10401004" cy="6700097"/>
              </a:xfrm>
              <a:blipFill>
                <a:blip r:embed="rId2"/>
                <a:stretch>
                  <a:fillRect l="-938" t="-637"/>
                </a:stretch>
              </a:blipFill>
            </p:spPr>
            <p:txBody>
              <a:bodyPr/>
              <a:lstStyle/>
              <a:p>
                <a:r>
                  <a:rPr lang="en-US">
                    <a:noFill/>
                  </a:rPr>
                  <a:t> </a:t>
                </a:r>
              </a:p>
            </p:txBody>
          </p:sp>
        </mc:Fallback>
      </mc:AlternateContent>
    </p:spTree>
    <p:extLst>
      <p:ext uri="{BB962C8B-B14F-4D97-AF65-F5344CB8AC3E}">
        <p14:creationId xmlns:p14="http://schemas.microsoft.com/office/powerpoint/2010/main" val="32678088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48046" y="2158152"/>
                <a:ext cx="10953454" cy="7309697"/>
              </a:xfrm>
            </p:spPr>
            <p:txBody>
              <a:bodyPr/>
              <a:lstStyle/>
              <a:p>
                <a:r>
                  <a:rPr lang="en-US" sz="2400" b="1" dirty="0" smtClean="0">
                    <a:latin typeface="Helvetica Neue"/>
                  </a:rPr>
                  <a:t>2.3. </a:t>
                </a:r>
                <a:r>
                  <a:rPr lang="en-US" sz="2400" b="1" dirty="0" err="1">
                    <a:latin typeface="Helvetica Neue"/>
                  </a:rPr>
                  <a:t>Các</a:t>
                </a:r>
                <a:r>
                  <a:rPr lang="en-US" sz="2400" b="1" dirty="0">
                    <a:latin typeface="Helvetica Neue"/>
                  </a:rPr>
                  <a:t> </a:t>
                </a:r>
                <a:r>
                  <a:rPr lang="en-US" sz="2400" b="1" dirty="0" err="1">
                    <a:latin typeface="Helvetica Neue"/>
                  </a:rPr>
                  <a:t>mặt</a:t>
                </a:r>
                <a:r>
                  <a:rPr lang="en-US" sz="2400" b="1" dirty="0">
                    <a:latin typeface="Helvetica Neue"/>
                  </a:rPr>
                  <a:t> </a:t>
                </a:r>
                <a:r>
                  <a:rPr lang="en-US" sz="2400" b="1" dirty="0" err="1">
                    <a:latin typeface="Helvetica Neue"/>
                  </a:rPr>
                  <a:t>nạ</a:t>
                </a:r>
                <a:r>
                  <a:rPr lang="en-US" sz="2400" b="1" dirty="0">
                    <a:latin typeface="Helvetica Neue"/>
                  </a:rPr>
                  <a:t> Laplacian </a:t>
                </a:r>
                <a:r>
                  <a:rPr lang="en-US" sz="2400" b="1" dirty="0" err="1">
                    <a:latin typeface="Helvetica Neue"/>
                  </a:rPr>
                  <a:t>phổ</a:t>
                </a:r>
                <a:r>
                  <a:rPr lang="en-US" sz="2400" b="1" dirty="0">
                    <a:latin typeface="Helvetica Neue"/>
                  </a:rPr>
                  <a:t> </a:t>
                </a:r>
                <a:r>
                  <a:rPr lang="en-US" sz="2400" b="1" dirty="0" err="1">
                    <a:latin typeface="Helvetica Neue"/>
                  </a:rPr>
                  <a:t>biến</a:t>
                </a:r>
                <a:endParaRPr lang="en-US" sz="2400" b="1" dirty="0">
                  <a:latin typeface="Helvetica Neue"/>
                </a:endParaRPr>
              </a:p>
              <a:p>
                <a:pPr marL="0" indent="0">
                  <a:buNone/>
                </a:pPr>
                <a:r>
                  <a:rPr lang="en-US" sz="2400" dirty="0">
                    <a:latin typeface="Helvetica Neue"/>
                  </a:rPr>
                  <a:t> </a:t>
                </a:r>
                <a:r>
                  <a:rPr lang="en-US" sz="2400" dirty="0" err="1" smtClean="0">
                    <a:latin typeface="Helvetica Neue"/>
                  </a:rPr>
                  <a:t>Mặt</a:t>
                </a:r>
                <a:r>
                  <a:rPr lang="en-US" sz="2400" dirty="0" smtClean="0">
                    <a:latin typeface="Helvetica Neue"/>
                  </a:rPr>
                  <a:t> </a:t>
                </a:r>
                <a:r>
                  <a:rPr lang="en-US" sz="2400" dirty="0" err="1">
                    <a:latin typeface="Helvetica Neue"/>
                  </a:rPr>
                  <a:t>nạ</a:t>
                </a:r>
                <a:r>
                  <a:rPr lang="en-US" sz="2400" dirty="0">
                    <a:latin typeface="Helvetica Neue"/>
                  </a:rPr>
                  <a:t> (kernel) </a:t>
                </a:r>
                <a:r>
                  <a:rPr lang="en-US" sz="2400" dirty="0" err="1">
                    <a:latin typeface="Helvetica Neue"/>
                  </a:rPr>
                  <a:t>được</a:t>
                </a:r>
                <a:r>
                  <a:rPr lang="en-US" sz="2400" dirty="0">
                    <a:latin typeface="Helvetica Neue"/>
                  </a:rPr>
                  <a:t> </a:t>
                </a:r>
                <a:r>
                  <a:rPr lang="en-US" sz="2400" dirty="0" err="1">
                    <a:latin typeface="Helvetica Neue"/>
                  </a:rPr>
                  <a:t>sử</a:t>
                </a:r>
                <a:r>
                  <a:rPr lang="en-US" sz="2400" dirty="0">
                    <a:latin typeface="Helvetica Neue"/>
                  </a:rPr>
                  <a:t> </a:t>
                </a:r>
                <a:r>
                  <a:rPr lang="en-US" sz="2400" dirty="0" err="1">
                    <a:latin typeface="Helvetica Neue"/>
                  </a:rPr>
                  <a:t>dụng</a:t>
                </a:r>
                <a:r>
                  <a:rPr lang="en-US" sz="2400" dirty="0">
                    <a:latin typeface="Helvetica Neue"/>
                  </a:rPr>
                  <a:t> để </a:t>
                </a:r>
                <a:r>
                  <a:rPr lang="en-US" sz="2400" dirty="0" err="1">
                    <a:latin typeface="Helvetica Neue"/>
                  </a:rPr>
                  <a:t>tích</a:t>
                </a:r>
                <a:r>
                  <a:rPr lang="en-US" sz="2400" dirty="0">
                    <a:latin typeface="Helvetica Neue"/>
                  </a:rPr>
                  <a:t> </a:t>
                </a:r>
                <a:r>
                  <a:rPr lang="en-US" sz="2400" dirty="0" err="1">
                    <a:latin typeface="Helvetica Neue"/>
                  </a:rPr>
                  <a:t>chập</a:t>
                </a:r>
                <a:r>
                  <a:rPr lang="en-US" sz="2400" dirty="0">
                    <a:latin typeface="Helvetica Neue"/>
                  </a:rPr>
                  <a:t> </a:t>
                </a:r>
                <a:r>
                  <a:rPr lang="en-US" sz="2400" dirty="0" err="1">
                    <a:latin typeface="Helvetica Neue"/>
                  </a:rPr>
                  <a:t>với</a:t>
                </a:r>
                <a:r>
                  <a:rPr lang="en-US" sz="2400" dirty="0">
                    <a:latin typeface="Helvetica Neue"/>
                  </a:rPr>
                  <a:t> </a:t>
                </a:r>
                <a:r>
                  <a:rPr lang="en-US" sz="2400" dirty="0" err="1">
                    <a:latin typeface="Helvetica Neue"/>
                  </a:rPr>
                  <a:t>ảnh</a:t>
                </a:r>
                <a:r>
                  <a:rPr lang="en-US" sz="2400" dirty="0">
                    <a:latin typeface="Helvetica Neue"/>
                  </a:rPr>
                  <a:t>:</a:t>
                </a:r>
              </a:p>
              <a:p>
                <a:pPr lvl="1"/>
                <a:r>
                  <a:rPr lang="en-US" sz="2400" b="1" dirty="0">
                    <a:latin typeface="Helvetica Neue"/>
                  </a:rPr>
                  <a:t>Kernel 3×3</a:t>
                </a:r>
                <a:endParaRPr lang="en-US" sz="2400" dirty="0">
                  <a:latin typeface="Helvetica Neue"/>
                </a:endParaRPr>
              </a:p>
              <a:p>
                <a:pPr marL="0" indent="0">
                  <a:buNone/>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m>
                            <m:mPr>
                              <m:plcHide m:val="on"/>
                              <m:mcs>
                                <m:mc>
                                  <m:mcPr>
                                    <m:count m:val="3"/>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1</m:t>
                                </m:r>
                              </m:e>
                              <m:e>
                                <m:r>
                                  <a:rPr lang="en-US" sz="2400" i="1">
                                    <a:latin typeface="Cambria Math" panose="02040503050406030204" pitchFamily="18" charset="0"/>
                                  </a:rPr>
                                  <m:t>−4</m:t>
                                </m:r>
                              </m:e>
                              <m:e>
                                <m:r>
                                  <a:rPr lang="en-US" sz="2400" i="1">
                                    <a:latin typeface="Cambria Math" panose="02040503050406030204" pitchFamily="18" charset="0"/>
                                  </a:rPr>
                                  <m:t>1</m:t>
                                </m:r>
                              </m:e>
                            </m:mr>
                            <m:mr>
                              <m:e>
                                <m:r>
                                  <a:rPr lang="en-US" sz="2400" i="1">
                                    <a:latin typeface="Cambria Math" panose="02040503050406030204" pitchFamily="18" charset="0"/>
                                  </a:rPr>
                                  <m:t>0</m:t>
                                </m:r>
                              </m:e>
                              <m:e>
                                <m:r>
                                  <a:rPr lang="en-US" sz="2400" i="1">
                                    <a:latin typeface="Cambria Math" panose="02040503050406030204" pitchFamily="18" charset="0"/>
                                  </a:rPr>
                                  <m:t>1</m:t>
                                </m:r>
                              </m:e>
                              <m:e>
                                <m:r>
                                  <a:rPr lang="en-US" sz="2400" i="1">
                                    <a:latin typeface="Cambria Math" panose="02040503050406030204" pitchFamily="18" charset="0"/>
                                  </a:rPr>
                                  <m:t>0</m:t>
                                </m:r>
                              </m:e>
                            </m:mr>
                          </m:m>
                        </m:e>
                      </m:d>
                      <m:r>
                        <a:rPr lang="en-US" sz="2400" b="0" i="0" smtClean="0">
                          <a:latin typeface="Cambria Math" panose="02040503050406030204" pitchFamily="18" charset="0"/>
                        </a:rPr>
                        <m:t>                  </m:t>
                      </m:r>
                      <m:r>
                        <m:rPr>
                          <m:sty m:val="p"/>
                        </m:rPr>
                        <a:rPr lang="en-US" sz="2400" b="0" i="0" smtClean="0">
                          <a:latin typeface="Cambria Math" panose="02040503050406030204" pitchFamily="18" charset="0"/>
                        </a:rPr>
                        <m:t>ho</m:t>
                      </m:r>
                      <m:r>
                        <a:rPr lang="en-US" sz="2400" b="0" i="0" smtClean="0">
                          <a:latin typeface="Cambria Math" panose="02040503050406030204" pitchFamily="18" charset="0"/>
                        </a:rPr>
                        <m:t>ặ</m:t>
                      </m:r>
                      <m:r>
                        <m:rPr>
                          <m:sty m:val="p"/>
                        </m:rPr>
                        <a:rPr lang="en-US" sz="2400" b="0" i="0" smtClean="0">
                          <a:latin typeface="Cambria Math" panose="02040503050406030204" pitchFamily="18" charset="0"/>
                        </a:rPr>
                        <m:t>c</m:t>
                      </m:r>
                      <m:r>
                        <a:rPr lang="en-US" sz="2400" b="0" i="0" smtClean="0">
                          <a:latin typeface="Cambria Math" panose="02040503050406030204" pitchFamily="18" charset="0"/>
                        </a:rPr>
                        <m:t>                                          </m:t>
                      </m:r>
                      <m:d>
                        <m:dPr>
                          <m:begChr m:val="["/>
                          <m:endChr m:val="]"/>
                          <m:ctrlPr>
                            <a:rPr lang="en-US" sz="2400" i="1">
                              <a:latin typeface="Cambria Math" panose="02040503050406030204" pitchFamily="18" charset="0"/>
                            </a:rPr>
                          </m:ctrlPr>
                        </m:dPr>
                        <m:e>
                          <m:m>
                            <m:mPr>
                              <m:plcHide m:val="on"/>
                              <m:mcs>
                                <m:mc>
                                  <m:mcPr>
                                    <m:count m:val="3"/>
                                    <m:mcJc m:val="center"/>
                                  </m:mcPr>
                                </m:mc>
                              </m:mcs>
                              <m:ctrlPr>
                                <a:rPr lang="en-US" sz="2400" i="1">
                                  <a:latin typeface="Cambria Math" panose="02040503050406030204" pitchFamily="18" charset="0"/>
                                </a:rPr>
                              </m:ctrlPr>
                            </m:mPr>
                            <m:mr>
                              <m:e>
                                <m:r>
                                  <a:rPr lang="en-US" sz="2400" i="1">
                                    <a:latin typeface="Cambria Math" panose="02040503050406030204" pitchFamily="18" charset="0"/>
                                  </a:rPr>
                                  <m:t>1</m:t>
                                </m:r>
                              </m:e>
                              <m:e>
                                <m:r>
                                  <a:rPr lang="en-US" sz="2400" i="1">
                                    <a:latin typeface="Cambria Math" panose="02040503050406030204" pitchFamily="18" charset="0"/>
                                  </a:rPr>
                                  <m:t>1</m:t>
                                </m:r>
                              </m:e>
                              <m:e>
                                <m:r>
                                  <a:rPr lang="en-US" sz="2400" i="1">
                                    <a:latin typeface="Cambria Math" panose="02040503050406030204" pitchFamily="18" charset="0"/>
                                  </a:rPr>
                                  <m:t>1</m:t>
                                </m:r>
                              </m:e>
                            </m:mr>
                            <m:mr>
                              <m:e>
                                <m:r>
                                  <a:rPr lang="en-US" sz="2400" i="1">
                                    <a:latin typeface="Cambria Math" panose="02040503050406030204" pitchFamily="18" charset="0"/>
                                  </a:rPr>
                                  <m:t>1</m:t>
                                </m:r>
                              </m:e>
                              <m:e>
                                <m:r>
                                  <a:rPr lang="en-US" sz="2400" i="1">
                                    <a:latin typeface="Cambria Math" panose="02040503050406030204" pitchFamily="18" charset="0"/>
                                  </a:rPr>
                                  <m:t>−8</m:t>
                                </m:r>
                              </m:e>
                              <m:e>
                                <m:r>
                                  <a:rPr lang="en-US" sz="2400" i="1">
                                    <a:latin typeface="Cambria Math" panose="02040503050406030204" pitchFamily="18" charset="0"/>
                                  </a:rPr>
                                  <m:t>1</m:t>
                                </m:r>
                              </m:e>
                            </m:mr>
                            <m:mr>
                              <m:e>
                                <m:r>
                                  <a:rPr lang="en-US" sz="2400" i="1">
                                    <a:latin typeface="Cambria Math" panose="02040503050406030204" pitchFamily="18" charset="0"/>
                                  </a:rPr>
                                  <m:t>1</m:t>
                                </m:r>
                              </m:e>
                              <m:e>
                                <m:r>
                                  <a:rPr lang="en-US" sz="2400" i="1">
                                    <a:latin typeface="Cambria Math" panose="02040503050406030204" pitchFamily="18" charset="0"/>
                                  </a:rPr>
                                  <m:t>1</m:t>
                                </m:r>
                              </m:e>
                              <m:e>
                                <m:r>
                                  <a:rPr lang="en-US" sz="2400" i="1">
                                    <a:latin typeface="Cambria Math" panose="02040503050406030204" pitchFamily="18" charset="0"/>
                                  </a:rPr>
                                  <m:t>1</m:t>
                                </m:r>
                              </m:e>
                            </m:mr>
                          </m:m>
                        </m:e>
                      </m:d>
                    </m:oMath>
                  </m:oMathPara>
                </a14:m>
                <a:endParaRPr lang="en-US" sz="2400" dirty="0" smtClean="0">
                  <a:latin typeface="Helvetica Neue"/>
                </a:endParaRPr>
              </a:p>
              <a:p>
                <a:pPr marL="0" indent="0">
                  <a:buNone/>
                </a:pPr>
                <a:endParaRPr lang="en-US" sz="2400" dirty="0" smtClean="0">
                  <a:latin typeface="Helvetica Neue"/>
                </a:endParaRPr>
              </a:p>
              <a:p>
                <a:pPr marL="0" indent="0">
                  <a:buNone/>
                </a:pPr>
                <a:r>
                  <a:rPr lang="en-US" sz="2400" b="1" dirty="0" smtClean="0">
                    <a:latin typeface="Helvetica Neue"/>
                  </a:rPr>
                  <a:t>2.4</a:t>
                </a:r>
                <a:r>
                  <a:rPr lang="en-US" sz="2400" b="1" dirty="0">
                    <a:latin typeface="Helvetica Neue"/>
                  </a:rPr>
                  <a:t>. </a:t>
                </a:r>
                <a:r>
                  <a:rPr lang="en-US" sz="2400" b="1" dirty="0" err="1">
                    <a:latin typeface="Helvetica Neue"/>
                  </a:rPr>
                  <a:t>Các</a:t>
                </a:r>
                <a:r>
                  <a:rPr lang="en-US" sz="2400" b="1" dirty="0">
                    <a:latin typeface="Helvetica Neue"/>
                  </a:rPr>
                  <a:t> </a:t>
                </a:r>
                <a:r>
                  <a:rPr lang="en-US" sz="2400" b="1" dirty="0" err="1">
                    <a:latin typeface="Helvetica Neue"/>
                  </a:rPr>
                  <a:t>bước</a:t>
                </a:r>
                <a:r>
                  <a:rPr lang="en-US" sz="2400" b="1" dirty="0">
                    <a:latin typeface="Helvetica Neue"/>
                  </a:rPr>
                  <a:t> </a:t>
                </a:r>
                <a:r>
                  <a:rPr lang="en-US" sz="2400" b="1" dirty="0" err="1">
                    <a:latin typeface="Helvetica Neue"/>
                  </a:rPr>
                  <a:t>thực</a:t>
                </a:r>
                <a:r>
                  <a:rPr lang="en-US" sz="2400" b="1" dirty="0">
                    <a:latin typeface="Helvetica Neue"/>
                  </a:rPr>
                  <a:t> </a:t>
                </a:r>
                <a:r>
                  <a:rPr lang="en-US" sz="2400" b="1" dirty="0" err="1">
                    <a:latin typeface="Helvetica Neue"/>
                  </a:rPr>
                  <a:t>hiện</a:t>
                </a:r>
                <a:endParaRPr lang="en-US" sz="2400" b="1" dirty="0">
                  <a:latin typeface="Helvetica Neue"/>
                </a:endParaRPr>
              </a:p>
              <a:p>
                <a:pPr marL="0" indent="0">
                  <a:buNone/>
                </a:pPr>
                <a:r>
                  <a:rPr lang="en-US" sz="2400" dirty="0" smtClean="0">
                    <a:latin typeface="Helvetica Neue"/>
                  </a:rPr>
                  <a:t> 	</a:t>
                </a:r>
                <a:r>
                  <a:rPr lang="en-US" sz="2400" b="1" dirty="0" err="1" smtClean="0">
                    <a:latin typeface="Helvetica Neue"/>
                  </a:rPr>
                  <a:t>Bước</a:t>
                </a:r>
                <a:r>
                  <a:rPr lang="en-US" sz="2400" b="1" dirty="0" smtClean="0">
                    <a:latin typeface="Helvetica Neue"/>
                  </a:rPr>
                  <a:t> </a:t>
                </a:r>
                <a:r>
                  <a:rPr lang="en-US" sz="2400" b="1" dirty="0">
                    <a:latin typeface="Helvetica Neue"/>
                  </a:rPr>
                  <a:t>1</a:t>
                </a:r>
                <a:r>
                  <a:rPr lang="en-US" sz="2400" dirty="0">
                    <a:latin typeface="Helvetica Neue"/>
                  </a:rPr>
                  <a:t>: </a:t>
                </a:r>
                <a:r>
                  <a:rPr lang="en-US" sz="2400" dirty="0" err="1">
                    <a:latin typeface="Helvetica Neue"/>
                  </a:rPr>
                  <a:t>Đọc</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chuyển</a:t>
                </a:r>
                <a:r>
                  <a:rPr lang="en-US" sz="2400" dirty="0">
                    <a:latin typeface="Helvetica Neue"/>
                  </a:rPr>
                  <a:t> sang </a:t>
                </a:r>
                <a:r>
                  <a:rPr lang="en-US" sz="2400" dirty="0" err="1">
                    <a:latin typeface="Helvetica Neue"/>
                  </a:rPr>
                  <a:t>ảnh</a:t>
                </a:r>
                <a:r>
                  <a:rPr lang="en-US" sz="2400" dirty="0">
                    <a:latin typeface="Helvetica Neue"/>
                  </a:rPr>
                  <a:t> </a:t>
                </a:r>
                <a:r>
                  <a:rPr lang="en-US" sz="2400" dirty="0" err="1">
                    <a:latin typeface="Helvetica Neue"/>
                  </a:rPr>
                  <a:t>xám</a:t>
                </a:r>
                <a:r>
                  <a:rPr lang="en-US" sz="2400" dirty="0">
                    <a:latin typeface="Helvetica Neue"/>
                  </a:rPr>
                  <a:t>.</a:t>
                </a:r>
                <a:br>
                  <a:rPr lang="en-US" sz="2400" dirty="0">
                    <a:latin typeface="Helvetica Neue"/>
                  </a:rPr>
                </a:br>
                <a:r>
                  <a:rPr lang="en-US" sz="2400" dirty="0" smtClean="0">
                    <a:latin typeface="Helvetica Neue"/>
                  </a:rPr>
                  <a:t> 	</a:t>
                </a:r>
                <a:r>
                  <a:rPr lang="en-US" sz="2400" b="1" dirty="0" err="1" smtClean="0">
                    <a:latin typeface="Helvetica Neue"/>
                  </a:rPr>
                  <a:t>Bước</a:t>
                </a:r>
                <a:r>
                  <a:rPr lang="en-US" sz="2400" b="1" dirty="0" smtClean="0">
                    <a:latin typeface="Helvetica Neue"/>
                  </a:rPr>
                  <a:t> </a:t>
                </a:r>
                <a:r>
                  <a:rPr lang="en-US" sz="2400" b="1" dirty="0">
                    <a:latin typeface="Helvetica Neue"/>
                  </a:rPr>
                  <a:t>2</a:t>
                </a:r>
                <a:r>
                  <a:rPr lang="en-US" sz="2400" dirty="0">
                    <a:latin typeface="Helvetica Neue"/>
                  </a:rPr>
                  <a:t>: Làm </a:t>
                </a:r>
                <a:r>
                  <a:rPr lang="en-US" sz="2400" dirty="0" err="1">
                    <a:latin typeface="Helvetica Neue"/>
                  </a:rPr>
                  <a:t>mịn</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bằng</a:t>
                </a:r>
                <a:r>
                  <a:rPr lang="en-US" sz="2400" dirty="0">
                    <a:latin typeface="Helvetica Neue"/>
                  </a:rPr>
                  <a:t> Gaussian để </a:t>
                </a:r>
                <a:r>
                  <a:rPr lang="en-US" sz="2400" dirty="0" err="1">
                    <a:latin typeface="Helvetica Neue"/>
                  </a:rPr>
                  <a:t>giảm</a:t>
                </a:r>
                <a:r>
                  <a:rPr lang="en-US" sz="2400" dirty="0">
                    <a:latin typeface="Helvetica Neue"/>
                  </a:rPr>
                  <a:t> </a:t>
                </a:r>
                <a:r>
                  <a:rPr lang="en-US" sz="2400" dirty="0" err="1">
                    <a:latin typeface="Helvetica Neue"/>
                  </a:rPr>
                  <a:t>nhiễu</a:t>
                </a:r>
                <a:r>
                  <a:rPr lang="en-US" sz="2400" dirty="0">
                    <a:latin typeface="Helvetica Neue"/>
                  </a:rPr>
                  <a:t>.</a:t>
                </a:r>
                <a:br>
                  <a:rPr lang="en-US" sz="2400" dirty="0">
                    <a:latin typeface="Helvetica Neue"/>
                  </a:rPr>
                </a:br>
                <a:r>
                  <a:rPr lang="en-US" sz="2400" dirty="0" smtClean="0">
                    <a:latin typeface="Helvetica Neue"/>
                  </a:rPr>
                  <a:t> 	</a:t>
                </a:r>
                <a:r>
                  <a:rPr lang="en-US" sz="2400" b="1" dirty="0" err="1" smtClean="0">
                    <a:latin typeface="Helvetica Neue"/>
                  </a:rPr>
                  <a:t>Bước</a:t>
                </a:r>
                <a:r>
                  <a:rPr lang="en-US" sz="2400" b="1" dirty="0" smtClean="0">
                    <a:latin typeface="Helvetica Neue"/>
                  </a:rPr>
                  <a:t> </a:t>
                </a:r>
                <a:r>
                  <a:rPr lang="en-US" sz="2400" b="1" dirty="0">
                    <a:latin typeface="Helvetica Neue"/>
                  </a:rPr>
                  <a:t>3</a:t>
                </a:r>
                <a:r>
                  <a:rPr lang="en-US" sz="2400" dirty="0">
                    <a:latin typeface="Helvetica Neue"/>
                  </a:rPr>
                  <a:t>: </a:t>
                </a:r>
                <a:r>
                  <a:rPr lang="en-US" sz="2400" dirty="0" err="1">
                    <a:latin typeface="Helvetica Neue"/>
                  </a:rPr>
                  <a:t>Áp</a:t>
                </a:r>
                <a:r>
                  <a:rPr lang="en-US" sz="2400" dirty="0">
                    <a:latin typeface="Helvetica Neue"/>
                  </a:rPr>
                  <a:t> </a:t>
                </a:r>
                <a:r>
                  <a:rPr lang="en-US" sz="2400" dirty="0" err="1">
                    <a:latin typeface="Helvetica Neue"/>
                  </a:rPr>
                  <a:t>dụng</a:t>
                </a:r>
                <a:r>
                  <a:rPr lang="en-US" sz="2400" dirty="0">
                    <a:latin typeface="Helvetica Neue"/>
                  </a:rPr>
                  <a:t> </a:t>
                </a:r>
                <a:r>
                  <a:rPr lang="en-US" sz="2400" dirty="0" err="1">
                    <a:latin typeface="Helvetica Neue"/>
                  </a:rPr>
                  <a:t>toán</a:t>
                </a:r>
                <a:r>
                  <a:rPr lang="en-US" sz="2400" dirty="0">
                    <a:latin typeface="Helvetica Neue"/>
                  </a:rPr>
                  <a:t> </a:t>
                </a:r>
                <a:r>
                  <a:rPr lang="en-US" sz="2400" dirty="0" err="1">
                    <a:latin typeface="Helvetica Neue"/>
                  </a:rPr>
                  <a:t>tử</a:t>
                </a:r>
                <a:r>
                  <a:rPr lang="en-US" sz="2400" dirty="0">
                    <a:latin typeface="Helvetica Neue"/>
                  </a:rPr>
                  <a:t> Laplacian.</a:t>
                </a:r>
                <a:br>
                  <a:rPr lang="en-US" sz="2400" dirty="0">
                    <a:latin typeface="Helvetica Neue"/>
                  </a:rPr>
                </a:br>
                <a:r>
                  <a:rPr lang="en-US" sz="2400" dirty="0" smtClean="0">
                    <a:latin typeface="Helvetica Neue"/>
                  </a:rPr>
                  <a:t> 	</a:t>
                </a:r>
                <a:r>
                  <a:rPr lang="en-US" sz="2400" b="1" dirty="0" err="1" smtClean="0">
                    <a:latin typeface="Helvetica Neue"/>
                  </a:rPr>
                  <a:t>Bước</a:t>
                </a:r>
                <a:r>
                  <a:rPr lang="en-US" sz="2400" b="1" dirty="0" smtClean="0">
                    <a:latin typeface="Helvetica Neue"/>
                  </a:rPr>
                  <a:t> </a:t>
                </a:r>
                <a:r>
                  <a:rPr lang="en-US" sz="2400" b="1" dirty="0">
                    <a:latin typeface="Helvetica Neue"/>
                  </a:rPr>
                  <a:t>4</a:t>
                </a:r>
                <a:r>
                  <a:rPr lang="en-US" sz="2400" dirty="0">
                    <a:latin typeface="Helvetica Neue"/>
                  </a:rPr>
                  <a:t>: </a:t>
                </a:r>
                <a:r>
                  <a:rPr lang="en-US" sz="2400" dirty="0" err="1">
                    <a:latin typeface="Helvetica Neue"/>
                  </a:rPr>
                  <a:t>Xác</a:t>
                </a:r>
                <a:r>
                  <a:rPr lang="en-US" sz="2400" dirty="0">
                    <a:latin typeface="Helvetica Neue"/>
                  </a:rPr>
                  <a:t> </a:t>
                </a:r>
                <a:r>
                  <a:rPr lang="en-US" sz="2400" dirty="0" err="1">
                    <a:latin typeface="Helvetica Neue"/>
                  </a:rPr>
                  <a:t>định</a:t>
                </a:r>
                <a:r>
                  <a:rPr lang="en-US" sz="2400" dirty="0">
                    <a:latin typeface="Helvetica Neue"/>
                  </a:rPr>
                  <a:t> </a:t>
                </a:r>
                <a:r>
                  <a:rPr lang="en-US" sz="2400" dirty="0" err="1">
                    <a:latin typeface="Helvetica Neue"/>
                  </a:rPr>
                  <a:t>biên</a:t>
                </a:r>
                <a:r>
                  <a:rPr lang="en-US" sz="2400" dirty="0">
                    <a:latin typeface="Helvetica Neue"/>
                  </a:rPr>
                  <a:t> </a:t>
                </a:r>
                <a:r>
                  <a:rPr lang="en-US" sz="2400" dirty="0" err="1">
                    <a:latin typeface="Helvetica Neue"/>
                  </a:rPr>
                  <a:t>bằng</a:t>
                </a:r>
                <a:r>
                  <a:rPr lang="en-US" sz="2400" dirty="0">
                    <a:latin typeface="Helvetica Neue"/>
                  </a:rPr>
                  <a:t> Zero-Crossing.</a:t>
                </a:r>
                <a:br>
                  <a:rPr lang="en-US" sz="2400" dirty="0">
                    <a:latin typeface="Helvetica Neue"/>
                  </a:rPr>
                </a:br>
                <a:r>
                  <a:rPr lang="en-US" sz="2400" dirty="0" smtClean="0">
                    <a:latin typeface="Helvetica Neue"/>
                  </a:rPr>
                  <a:t> 	</a:t>
                </a:r>
                <a:r>
                  <a:rPr lang="en-US" sz="2400" b="1" dirty="0" err="1" smtClean="0">
                    <a:latin typeface="Helvetica Neue"/>
                  </a:rPr>
                  <a:t>Bước</a:t>
                </a:r>
                <a:r>
                  <a:rPr lang="en-US" sz="2400" b="1" dirty="0" smtClean="0">
                    <a:latin typeface="Helvetica Neue"/>
                  </a:rPr>
                  <a:t> </a:t>
                </a:r>
                <a:r>
                  <a:rPr lang="en-US" sz="2400" b="1" dirty="0">
                    <a:latin typeface="Helvetica Neue"/>
                  </a:rPr>
                  <a:t>5</a:t>
                </a:r>
                <a:r>
                  <a:rPr lang="en-US" sz="2400" dirty="0">
                    <a:latin typeface="Helvetica Neue"/>
                  </a:rPr>
                  <a:t>: </a:t>
                </a:r>
                <a:r>
                  <a:rPr lang="en-US" sz="2400" dirty="0" err="1">
                    <a:latin typeface="Helvetica Neue"/>
                  </a:rPr>
                  <a:t>Hiển</a:t>
                </a:r>
                <a:r>
                  <a:rPr lang="en-US" sz="2400" dirty="0">
                    <a:latin typeface="Helvetica Neue"/>
                  </a:rPr>
                  <a:t> </a:t>
                </a:r>
                <a:r>
                  <a:rPr lang="en-US" sz="2400" dirty="0" err="1">
                    <a:latin typeface="Helvetica Neue"/>
                  </a:rPr>
                  <a:t>thị</a:t>
                </a:r>
                <a:r>
                  <a:rPr lang="en-US" sz="2400" dirty="0">
                    <a:latin typeface="Helvetica Neue"/>
                  </a:rPr>
                  <a:t> </a:t>
                </a:r>
                <a:r>
                  <a:rPr lang="en-US" sz="2400" dirty="0" err="1">
                    <a:latin typeface="Helvetica Neue"/>
                  </a:rPr>
                  <a:t>kết</a:t>
                </a:r>
                <a:r>
                  <a:rPr lang="en-US" sz="2400" dirty="0">
                    <a:latin typeface="Helvetica Neue"/>
                  </a:rPr>
                  <a:t> </a:t>
                </a:r>
                <a:r>
                  <a:rPr lang="en-US" sz="2400" dirty="0" err="1">
                    <a:latin typeface="Helvetica Neue"/>
                  </a:rPr>
                  <a:t>quả</a:t>
                </a:r>
                <a:r>
                  <a:rPr lang="en-US" sz="2400" dirty="0">
                    <a:latin typeface="Helvetica Neue"/>
                  </a:rPr>
                  <a:t>.</a:t>
                </a:r>
              </a:p>
              <a:p>
                <a:pPr marL="0" indent="0">
                  <a:buNone/>
                </a:pPr>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48046" y="2158152"/>
                <a:ext cx="10953454" cy="7309697"/>
              </a:xfrm>
              <a:blipFill>
                <a:blip r:embed="rId2"/>
                <a:stretch>
                  <a:fillRect l="-890" t="-584"/>
                </a:stretch>
              </a:blipFill>
            </p:spPr>
            <p:txBody>
              <a:bodyPr/>
              <a:lstStyle/>
              <a:p>
                <a:r>
                  <a:rPr lang="en-US">
                    <a:noFill/>
                  </a:rPr>
                  <a:t> </a:t>
                </a:r>
              </a:p>
            </p:txBody>
          </p:sp>
        </mc:Fallback>
      </mc:AlternateContent>
    </p:spTree>
    <p:extLst>
      <p:ext uri="{BB962C8B-B14F-4D97-AF65-F5344CB8AC3E}">
        <p14:creationId xmlns:p14="http://schemas.microsoft.com/office/powerpoint/2010/main" val="8166728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09700" y="2076450"/>
                <a:ext cx="10191750" cy="5454321"/>
              </a:xfrm>
            </p:spPr>
            <p:txBody>
              <a:bodyPr>
                <a:noAutofit/>
              </a:bodyPr>
              <a:lstStyle/>
              <a:p>
                <a:pPr marL="0" indent="0">
                  <a:buNone/>
                </a:pPr>
                <a:r>
                  <a:rPr lang="en-US" sz="2400" b="1" dirty="0" smtClean="0">
                    <a:latin typeface="Helvetica Neue"/>
                  </a:rPr>
                  <a:t>3</a:t>
                </a:r>
                <a:r>
                  <a:rPr lang="en-US" sz="2400" b="1" dirty="0">
                    <a:latin typeface="Helvetica Neue"/>
                  </a:rPr>
                  <a:t>. DIFFERENCE OF GAUSSIANS (</a:t>
                </a:r>
                <a:r>
                  <a:rPr lang="en-US" sz="2400" b="1" dirty="0" err="1">
                    <a:latin typeface="Helvetica Neue"/>
                  </a:rPr>
                  <a:t>DoG</a:t>
                </a:r>
                <a:r>
                  <a:rPr lang="en-US" sz="2400" b="1" dirty="0">
                    <a:latin typeface="Helvetica Neue"/>
                  </a:rPr>
                  <a:t>)</a:t>
                </a:r>
              </a:p>
              <a:p>
                <a:pPr marL="0" indent="0">
                  <a:buNone/>
                </a:pPr>
                <a:r>
                  <a:rPr lang="en-US" sz="2400" dirty="0" smtClean="0">
                    <a:latin typeface="Helvetica Neue"/>
                  </a:rPr>
                  <a:t>3.1</a:t>
                </a:r>
                <a:r>
                  <a:rPr lang="en-US" sz="2400" dirty="0">
                    <a:latin typeface="Helvetica Neue"/>
                  </a:rPr>
                  <a:t>. Nguyên </a:t>
                </a:r>
                <a:r>
                  <a:rPr lang="en-US" sz="2400" dirty="0" err="1">
                    <a:latin typeface="Helvetica Neue"/>
                  </a:rPr>
                  <a:t>lý</a:t>
                </a:r>
                <a:r>
                  <a:rPr lang="en-US" sz="2400" dirty="0">
                    <a:latin typeface="Helvetica Neue"/>
                  </a:rPr>
                  <a:t> </a:t>
                </a:r>
                <a:r>
                  <a:rPr lang="en-US" sz="2400" dirty="0" err="1">
                    <a:latin typeface="Helvetica Neue"/>
                  </a:rPr>
                  <a:t>hoạt</a:t>
                </a:r>
                <a:r>
                  <a:rPr lang="en-US" sz="2400" dirty="0">
                    <a:latin typeface="Helvetica Neue"/>
                  </a:rPr>
                  <a:t> </a:t>
                </a:r>
                <a:r>
                  <a:rPr lang="en-US" sz="2400" dirty="0" err="1">
                    <a:latin typeface="Helvetica Neue"/>
                  </a:rPr>
                  <a:t>động</a:t>
                </a:r>
                <a:endParaRPr lang="en-US" sz="2400" dirty="0">
                  <a:latin typeface="Helvetica Neue"/>
                </a:endParaRPr>
              </a:p>
              <a:p>
                <a:pPr lvl="1"/>
                <a:r>
                  <a:rPr lang="en-US" sz="2400" dirty="0" err="1">
                    <a:latin typeface="Helvetica Neue"/>
                  </a:rPr>
                  <a:t>DoG</a:t>
                </a:r>
                <a:r>
                  <a:rPr lang="en-US" sz="2400" dirty="0">
                    <a:latin typeface="Helvetica Neue"/>
                  </a:rPr>
                  <a:t> là </a:t>
                </a:r>
                <a:r>
                  <a:rPr lang="en-US" sz="2400" dirty="0" err="1">
                    <a:latin typeface="Helvetica Neue"/>
                  </a:rPr>
                  <a:t>phương</a:t>
                </a:r>
                <a:r>
                  <a:rPr lang="en-US" sz="2400" dirty="0">
                    <a:latin typeface="Helvetica Neue"/>
                  </a:rPr>
                  <a:t> </a:t>
                </a:r>
                <a:r>
                  <a:rPr lang="en-US" sz="2400" dirty="0" err="1">
                    <a:latin typeface="Helvetica Neue"/>
                  </a:rPr>
                  <a:t>pháp</a:t>
                </a:r>
                <a:r>
                  <a:rPr lang="en-US" sz="2400" dirty="0">
                    <a:latin typeface="Helvetica Neue"/>
                  </a:rPr>
                  <a:t> </a:t>
                </a:r>
                <a:r>
                  <a:rPr lang="en-US" sz="2400" dirty="0" err="1">
                    <a:latin typeface="Helvetica Neue"/>
                  </a:rPr>
                  <a:t>xấp</a:t>
                </a:r>
                <a:r>
                  <a:rPr lang="en-US" sz="2400" dirty="0">
                    <a:latin typeface="Helvetica Neue"/>
                  </a:rPr>
                  <a:t> </a:t>
                </a:r>
                <a:r>
                  <a:rPr lang="en-US" sz="2400" dirty="0" err="1">
                    <a:latin typeface="Helvetica Neue"/>
                  </a:rPr>
                  <a:t>xỉ</a:t>
                </a:r>
                <a:r>
                  <a:rPr lang="en-US" sz="2400" dirty="0">
                    <a:latin typeface="Helvetica Neue"/>
                  </a:rPr>
                  <a:t> Laplacian </a:t>
                </a:r>
                <a:r>
                  <a:rPr lang="en-US" sz="2400" dirty="0" err="1">
                    <a:latin typeface="Helvetica Neue"/>
                  </a:rPr>
                  <a:t>bằng</a:t>
                </a:r>
                <a:r>
                  <a:rPr lang="en-US" sz="2400" dirty="0">
                    <a:latin typeface="Helvetica Neue"/>
                  </a:rPr>
                  <a:t> </a:t>
                </a:r>
                <a:r>
                  <a:rPr lang="en-US" sz="2400" dirty="0" err="1">
                    <a:latin typeface="Helvetica Neue"/>
                  </a:rPr>
                  <a:t>cách</a:t>
                </a:r>
                <a:r>
                  <a:rPr lang="en-US" sz="2400" dirty="0">
                    <a:latin typeface="Helvetica Neue"/>
                  </a:rPr>
                  <a:t> </a:t>
                </a:r>
                <a:r>
                  <a:rPr lang="en-US" sz="2400" dirty="0" err="1">
                    <a:latin typeface="Helvetica Neue"/>
                  </a:rPr>
                  <a:t>trừ</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ảnh</a:t>
                </a:r>
                <a:r>
                  <a:rPr lang="en-US" sz="2400" dirty="0">
                    <a:latin typeface="Helvetica Neue"/>
                  </a:rPr>
                  <a:t> Gaussian </a:t>
                </a:r>
                <a:r>
                  <a:rPr lang="en-US" sz="2400" dirty="0" err="1">
                    <a:latin typeface="Helvetica Neue"/>
                  </a:rPr>
                  <a:t>với</a:t>
                </a:r>
                <a:r>
                  <a:rPr lang="en-US" sz="2400" dirty="0">
                    <a:latin typeface="Helvetica Neue"/>
                  </a:rPr>
                  <a:t> </a:t>
                </a:r>
                <a:r>
                  <a:rPr lang="en-US" sz="2400" dirty="0" err="1">
                    <a:latin typeface="Helvetica Neue"/>
                  </a:rPr>
                  <a:t>độ</a:t>
                </a:r>
                <a:r>
                  <a:rPr lang="en-US" sz="2400" dirty="0">
                    <a:latin typeface="Helvetica Neue"/>
                  </a:rPr>
                  <a:t> </a:t>
                </a:r>
                <a:r>
                  <a:rPr lang="en-US" sz="2400" dirty="0" err="1">
                    <a:latin typeface="Helvetica Neue"/>
                  </a:rPr>
                  <a:t>mờ</a:t>
                </a:r>
                <a:r>
                  <a:rPr lang="en-US" sz="2400" dirty="0">
                    <a:latin typeface="Helvetica Neue"/>
                  </a:rPr>
                  <a:t> khác nhau.</a:t>
                </a:r>
              </a:p>
              <a:p>
                <a:pPr lvl="1"/>
                <a:r>
                  <a:rPr lang="en-US" sz="2400" dirty="0" err="1">
                    <a:latin typeface="Helvetica Neue"/>
                  </a:rPr>
                  <a:t>Giúp</a:t>
                </a:r>
                <a:r>
                  <a:rPr lang="en-US" sz="2400" dirty="0">
                    <a:latin typeface="Helvetica Neue"/>
                  </a:rPr>
                  <a:t> </a:t>
                </a:r>
                <a:r>
                  <a:rPr lang="en-US" sz="2400" dirty="0" err="1">
                    <a:latin typeface="Helvetica Neue"/>
                  </a:rPr>
                  <a:t>giảm</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tốt</a:t>
                </a:r>
                <a:r>
                  <a:rPr lang="en-US" sz="2400" dirty="0">
                    <a:latin typeface="Helvetica Neue"/>
                  </a:rPr>
                  <a:t> </a:t>
                </a:r>
                <a:r>
                  <a:rPr lang="en-US" sz="2400" dirty="0" err="1">
                    <a:latin typeface="Helvetica Neue"/>
                  </a:rPr>
                  <a:t>hơn</a:t>
                </a:r>
                <a:r>
                  <a:rPr lang="en-US" sz="2400" dirty="0">
                    <a:latin typeface="Helvetica Neue"/>
                  </a:rPr>
                  <a:t> so </a:t>
                </a:r>
                <a:r>
                  <a:rPr lang="en-US" sz="2400" dirty="0" err="1">
                    <a:latin typeface="Helvetica Neue"/>
                  </a:rPr>
                  <a:t>với</a:t>
                </a:r>
                <a:r>
                  <a:rPr lang="en-US" sz="2400" dirty="0">
                    <a:latin typeface="Helvetica Neue"/>
                  </a:rPr>
                  <a:t> Laplacian </a:t>
                </a:r>
                <a:r>
                  <a:rPr lang="en-US" sz="2400" dirty="0" err="1">
                    <a:latin typeface="Helvetica Neue"/>
                  </a:rPr>
                  <a:t>thuần</a:t>
                </a:r>
                <a:r>
                  <a:rPr lang="en-US" sz="2400" dirty="0">
                    <a:latin typeface="Helvetica Neue"/>
                  </a:rPr>
                  <a:t> </a:t>
                </a:r>
                <a:r>
                  <a:rPr lang="en-US" sz="2400" dirty="0" err="1">
                    <a:latin typeface="Helvetica Neue"/>
                  </a:rPr>
                  <a:t>túy</a:t>
                </a:r>
                <a:r>
                  <a:rPr lang="en-US" sz="2400" dirty="0">
                    <a:latin typeface="Helvetica Neue"/>
                  </a:rPr>
                  <a:t>.</a:t>
                </a:r>
              </a:p>
              <a:p>
                <a:pPr lvl="1"/>
                <a:r>
                  <a:rPr lang="en-US" sz="2400" dirty="0" err="1">
                    <a:latin typeface="Helvetica Neue"/>
                  </a:rPr>
                  <a:t>Ứng</a:t>
                </a:r>
                <a:r>
                  <a:rPr lang="en-US" sz="2400" dirty="0">
                    <a:latin typeface="Helvetica Neue"/>
                  </a:rPr>
                  <a:t> </a:t>
                </a:r>
                <a:r>
                  <a:rPr lang="en-US" sz="2400" dirty="0" err="1">
                    <a:latin typeface="Helvetica Neue"/>
                  </a:rPr>
                  <a:t>dụng</a:t>
                </a:r>
                <a:r>
                  <a:rPr lang="en-US" sz="2400" dirty="0">
                    <a:latin typeface="Helvetica Neue"/>
                  </a:rPr>
                  <a:t> chính: Phát </a:t>
                </a:r>
                <a:r>
                  <a:rPr lang="en-US" sz="2400" dirty="0" err="1">
                    <a:latin typeface="Helvetica Neue"/>
                  </a:rPr>
                  <a:t>hiện</a:t>
                </a:r>
                <a:r>
                  <a:rPr lang="en-US" sz="2400" dirty="0">
                    <a:latin typeface="Helvetica Neue"/>
                  </a:rPr>
                  <a:t> </a:t>
                </a:r>
                <a:r>
                  <a:rPr lang="en-US" sz="2400" dirty="0" err="1">
                    <a:latin typeface="Helvetica Neue"/>
                  </a:rPr>
                  <a:t>đặc</a:t>
                </a:r>
                <a:r>
                  <a:rPr lang="en-US" sz="2400" dirty="0">
                    <a:latin typeface="Helvetica Neue"/>
                  </a:rPr>
                  <a:t> </a:t>
                </a:r>
                <a:r>
                  <a:rPr lang="en-US" sz="2400" dirty="0" err="1">
                    <a:latin typeface="Helvetica Neue"/>
                  </a:rPr>
                  <a:t>trưng</a:t>
                </a:r>
                <a:r>
                  <a:rPr lang="en-US" sz="2400" dirty="0">
                    <a:latin typeface="Helvetica Neue"/>
                  </a:rPr>
                  <a:t> trong SIFT (Scale-Invariant Feature Transform).</a:t>
                </a:r>
              </a:p>
              <a:p>
                <a:pPr marL="0" indent="0">
                  <a:buNone/>
                </a:pPr>
                <a:r>
                  <a:rPr lang="en-US" sz="2400" dirty="0" smtClean="0">
                    <a:latin typeface="Helvetica Neue"/>
                  </a:rPr>
                  <a:t>3.2</a:t>
                </a:r>
                <a:r>
                  <a:rPr lang="en-US" sz="2400" dirty="0">
                    <a:latin typeface="Helvetica Neue"/>
                  </a:rPr>
                  <a:t>. </a:t>
                </a:r>
                <a:r>
                  <a:rPr lang="en-US" sz="2400" dirty="0" err="1">
                    <a:latin typeface="Helvetica Neue"/>
                  </a:rPr>
                  <a:t>Công</a:t>
                </a:r>
                <a:r>
                  <a:rPr lang="en-US" sz="2400" dirty="0">
                    <a:latin typeface="Helvetica Neue"/>
                  </a:rPr>
                  <a:t> </a:t>
                </a:r>
                <a:r>
                  <a:rPr lang="en-US" sz="2400" dirty="0" err="1">
                    <a:latin typeface="Helvetica Neue"/>
                  </a:rPr>
                  <a:t>thức</a:t>
                </a:r>
                <a:r>
                  <a:rPr lang="en-US" sz="2400" dirty="0">
                    <a:latin typeface="Helvetica Neue"/>
                  </a:rPr>
                  <a:t> </a:t>
                </a:r>
                <a:r>
                  <a:rPr lang="en-US" sz="2400" dirty="0" err="1">
                    <a:latin typeface="Helvetica Neue"/>
                  </a:rPr>
                  <a:t>toán</a:t>
                </a:r>
                <a:r>
                  <a:rPr lang="en-US" sz="2400" dirty="0">
                    <a:latin typeface="Helvetica Neue"/>
                  </a:rPr>
                  <a:t> học</a:t>
                </a:r>
              </a:p>
              <a:p>
                <a:pPr marL="0" indent="0">
                  <a:buNone/>
                </a:pPr>
                <a14:m>
                  <m:oMathPara xmlns:m="http://schemas.openxmlformats.org/officeDocument/2006/math">
                    <m:oMathParaPr>
                      <m:jc m:val="centerGroup"/>
                    </m:oMathParaPr>
                    <m:oMath xmlns:m="http://schemas.openxmlformats.org/officeDocument/2006/math">
                      <m:r>
                        <a:rPr lang="en-US" sz="2400" b="1" i="1">
                          <a:latin typeface="Cambria Math" panose="02040503050406030204" pitchFamily="18" charset="0"/>
                        </a:rPr>
                        <m:t>𝑫𝑶𝑮</m:t>
                      </m:r>
                      <m:r>
                        <a:rPr lang="en-US" sz="2400" b="1">
                          <a:latin typeface="Cambria Math" panose="02040503050406030204" pitchFamily="18" charset="0"/>
                        </a:rPr>
                        <m:t>=</m:t>
                      </m:r>
                      <m:r>
                        <a:rPr lang="en-US" sz="2400" b="1" i="1">
                          <a:latin typeface="Cambria Math" panose="02040503050406030204" pitchFamily="18" charset="0"/>
                        </a:rPr>
                        <m:t>𝑰</m:t>
                      </m:r>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𝑮</m:t>
                          </m:r>
                        </m:e>
                        <m:sub>
                          <m:sSub>
                            <m:sSubPr>
                              <m:ctrlPr>
                                <a:rPr lang="en-US" sz="2400" b="1" i="1">
                                  <a:latin typeface="Cambria Math" panose="02040503050406030204" pitchFamily="18" charset="0"/>
                                </a:rPr>
                              </m:ctrlPr>
                            </m:sSubPr>
                            <m:e>
                              <m:r>
                                <a:rPr lang="en-US" sz="2400" b="1" i="1">
                                  <a:latin typeface="Cambria Math" panose="02040503050406030204" pitchFamily="18" charset="0"/>
                                </a:rPr>
                                <m:t>𝝈</m:t>
                              </m:r>
                            </m:e>
                            <m:sub>
                              <m:r>
                                <a:rPr lang="en-US" sz="2400" b="1" i="1">
                                  <a:latin typeface="Cambria Math" panose="02040503050406030204" pitchFamily="18" charset="0"/>
                                </a:rPr>
                                <m:t>𝟏</m:t>
                              </m:r>
                            </m:sub>
                          </m:sSub>
                        </m:sub>
                      </m:sSub>
                      <m:r>
                        <a:rPr lang="en-US" sz="2400" b="1" i="1">
                          <a:latin typeface="Cambria Math" panose="02040503050406030204" pitchFamily="18" charset="0"/>
                        </a:rPr>
                        <m:t>−</m:t>
                      </m:r>
                      <m:r>
                        <a:rPr lang="en-US" sz="2400" b="1" i="1">
                          <a:latin typeface="Cambria Math" panose="02040503050406030204" pitchFamily="18" charset="0"/>
                        </a:rPr>
                        <m:t>𝑰</m:t>
                      </m:r>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𝑮</m:t>
                          </m:r>
                        </m:e>
                        <m:sub>
                          <m:sSub>
                            <m:sSubPr>
                              <m:ctrlPr>
                                <a:rPr lang="en-US" sz="2400" b="1" i="1">
                                  <a:latin typeface="Cambria Math" panose="02040503050406030204" pitchFamily="18" charset="0"/>
                                </a:rPr>
                              </m:ctrlPr>
                            </m:sSubPr>
                            <m:e>
                              <m:r>
                                <a:rPr lang="en-US" sz="2400" b="1" i="1">
                                  <a:latin typeface="Cambria Math" panose="02040503050406030204" pitchFamily="18" charset="0"/>
                                </a:rPr>
                                <m:t>𝝈</m:t>
                              </m:r>
                            </m:e>
                            <m:sub>
                              <m:r>
                                <a:rPr lang="en-US" sz="2400" b="1" i="1">
                                  <a:latin typeface="Cambria Math" panose="02040503050406030204" pitchFamily="18" charset="0"/>
                                </a:rPr>
                                <m:t>𝟐</m:t>
                              </m:r>
                            </m:sub>
                          </m:sSub>
                        </m:sub>
                      </m:sSub>
                    </m:oMath>
                  </m:oMathPara>
                </a14:m>
                <a:endParaRPr lang="en-US" sz="2400" b="1" dirty="0">
                  <a:latin typeface="Helvetica Neue"/>
                </a:endParaRPr>
              </a:p>
              <a:p>
                <a:pPr marL="0" indent="0">
                  <a:buNone/>
                </a:pPr>
                <a:r>
                  <a:rPr lang="en-US" sz="2400" dirty="0">
                    <a:latin typeface="Helvetica Neue"/>
                  </a:rPr>
                  <a:t>3.3. </a:t>
                </a:r>
                <a:r>
                  <a:rPr lang="en-US" sz="2400" dirty="0" err="1">
                    <a:latin typeface="Helvetica Neue"/>
                  </a:rPr>
                  <a:t>Các</a:t>
                </a:r>
                <a:r>
                  <a:rPr lang="en-US" sz="2400" dirty="0">
                    <a:latin typeface="Helvetica Neue"/>
                  </a:rPr>
                  <a:t> </a:t>
                </a:r>
                <a:r>
                  <a:rPr lang="en-US" sz="2400" dirty="0" err="1">
                    <a:latin typeface="Helvetica Neue"/>
                  </a:rPr>
                  <a:t>bước</a:t>
                </a:r>
                <a:r>
                  <a:rPr lang="en-US" sz="2400" dirty="0">
                    <a:latin typeface="Helvetica Neue"/>
                  </a:rPr>
                  <a:t> </a:t>
                </a:r>
                <a:r>
                  <a:rPr lang="en-US" sz="2400" dirty="0" err="1">
                    <a:latin typeface="Helvetica Neue"/>
                  </a:rPr>
                  <a:t>thực</a:t>
                </a:r>
                <a:r>
                  <a:rPr lang="en-US" sz="2400" dirty="0">
                    <a:latin typeface="Helvetica Neue"/>
                  </a:rPr>
                  <a:t> </a:t>
                </a:r>
                <a:r>
                  <a:rPr lang="en-US" sz="2400" dirty="0" err="1">
                    <a:latin typeface="Helvetica Neue"/>
                  </a:rPr>
                  <a:t>hiện</a:t>
                </a:r>
                <a:endParaRPr lang="en-US" sz="2400" dirty="0">
                  <a:latin typeface="Helvetica Neue"/>
                </a:endParaRPr>
              </a:p>
              <a:p>
                <a:pPr marL="0" indent="0">
                  <a:buNone/>
                </a:pPr>
                <a:r>
                  <a:rPr lang="en-US" sz="2400" dirty="0" smtClean="0">
                    <a:latin typeface="Helvetica Neue"/>
                  </a:rPr>
                  <a:t>	</a:t>
                </a:r>
                <a:r>
                  <a:rPr lang="en-US" sz="2400" dirty="0" err="1" smtClean="0">
                    <a:latin typeface="Helvetica Neue"/>
                  </a:rPr>
                  <a:t>Bước</a:t>
                </a:r>
                <a:r>
                  <a:rPr lang="en-US" sz="2400" dirty="0" smtClean="0">
                    <a:latin typeface="Helvetica Neue"/>
                  </a:rPr>
                  <a:t> </a:t>
                </a:r>
                <a:r>
                  <a:rPr lang="en-US" sz="2400" dirty="0">
                    <a:latin typeface="Helvetica Neue"/>
                  </a:rPr>
                  <a:t>1: </a:t>
                </a:r>
                <a:r>
                  <a:rPr lang="en-US" sz="2400" dirty="0" err="1">
                    <a:latin typeface="Helvetica Neue"/>
                  </a:rPr>
                  <a:t>Đọc</a:t>
                </a:r>
                <a:r>
                  <a:rPr lang="en-US" sz="2400" dirty="0">
                    <a:latin typeface="Helvetica Neue"/>
                  </a:rPr>
                  <a:t> </a:t>
                </a:r>
                <a:r>
                  <a:rPr lang="en-US" sz="2400" dirty="0" err="1">
                    <a:latin typeface="Helvetica Neue"/>
                  </a:rPr>
                  <a:t>ảnh</a:t>
                </a:r>
                <a:r>
                  <a:rPr lang="en-US" sz="2400" dirty="0">
                    <a:latin typeface="Helvetica Neue"/>
                  </a:rPr>
                  <a:t> </a:t>
                </a:r>
                <a:r>
                  <a:rPr lang="en-US" sz="2400" dirty="0" err="1">
                    <a:latin typeface="Helvetica Neue"/>
                  </a:rPr>
                  <a:t>và</a:t>
                </a:r>
                <a:r>
                  <a:rPr lang="en-US" sz="2400" dirty="0">
                    <a:latin typeface="Helvetica Neue"/>
                  </a:rPr>
                  <a:t> </a:t>
                </a:r>
                <a:r>
                  <a:rPr lang="en-US" sz="2400" dirty="0" err="1">
                    <a:latin typeface="Helvetica Neue"/>
                  </a:rPr>
                  <a:t>chuyển</a:t>
                </a:r>
                <a:r>
                  <a:rPr lang="en-US" sz="2400" dirty="0">
                    <a:latin typeface="Helvetica Neue"/>
                  </a:rPr>
                  <a:t> sang </a:t>
                </a:r>
                <a:r>
                  <a:rPr lang="en-US" sz="2400" dirty="0" err="1">
                    <a:latin typeface="Helvetica Neue"/>
                  </a:rPr>
                  <a:t>ảnh</a:t>
                </a:r>
                <a:r>
                  <a:rPr lang="en-US" sz="2400" dirty="0">
                    <a:latin typeface="Helvetica Neue"/>
                  </a:rPr>
                  <a:t> </a:t>
                </a:r>
                <a:r>
                  <a:rPr lang="en-US" sz="2400" dirty="0" err="1">
                    <a:latin typeface="Helvetica Neue"/>
                  </a:rPr>
                  <a:t>xám</a:t>
                </a:r>
                <a:r>
                  <a:rPr lang="en-US" sz="2400" dirty="0">
                    <a:latin typeface="Helvetica Neue"/>
                  </a:rPr>
                  <a:t>.</a:t>
                </a:r>
                <a:br>
                  <a:rPr lang="en-US" sz="2400" dirty="0">
                    <a:latin typeface="Helvetica Neue"/>
                  </a:rPr>
                </a:br>
                <a:r>
                  <a:rPr lang="en-US" sz="2400" dirty="0" smtClean="0">
                    <a:latin typeface="Helvetica Neue"/>
                  </a:rPr>
                  <a:t>	</a:t>
                </a:r>
                <a:r>
                  <a:rPr lang="en-US" sz="2400" dirty="0" err="1" smtClean="0">
                    <a:latin typeface="Helvetica Neue"/>
                  </a:rPr>
                  <a:t>Bước</a:t>
                </a:r>
                <a:r>
                  <a:rPr lang="en-US" sz="2400" dirty="0" smtClean="0">
                    <a:latin typeface="Helvetica Neue"/>
                  </a:rPr>
                  <a:t> </a:t>
                </a:r>
                <a:r>
                  <a:rPr lang="en-US" sz="2400" dirty="0">
                    <a:latin typeface="Helvetica Neue"/>
                  </a:rPr>
                  <a:t>2: </a:t>
                </a:r>
                <a:r>
                  <a:rPr lang="en-US" sz="2400" dirty="0" err="1">
                    <a:latin typeface="Helvetica Neue"/>
                  </a:rPr>
                  <a:t>Áp</a:t>
                </a:r>
                <a:r>
                  <a:rPr lang="en-US" sz="2400" dirty="0">
                    <a:latin typeface="Helvetica Neue"/>
                  </a:rPr>
                  <a:t> </a:t>
                </a:r>
                <a:r>
                  <a:rPr lang="en-US" sz="2400" dirty="0" err="1">
                    <a:latin typeface="Helvetica Neue"/>
                  </a:rPr>
                  <a:t>dụng</a:t>
                </a:r>
                <a:r>
                  <a:rPr lang="en-US" sz="2400" dirty="0">
                    <a:latin typeface="Helvetica Neue"/>
                  </a:rPr>
                  <a:t> Gaussian Blur </a:t>
                </a:r>
                <a:r>
                  <a:rPr lang="en-US" sz="2400" dirty="0" err="1">
                    <a:latin typeface="Helvetica Neue"/>
                  </a:rPr>
                  <a:t>với</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giá</a:t>
                </a:r>
                <a:r>
                  <a:rPr lang="en-US" sz="2400" dirty="0">
                    <a:latin typeface="Helvetica Neue"/>
                  </a:rPr>
                  <a:t> </a:t>
                </a:r>
                <a:r>
                  <a:rPr lang="en-US" sz="2400" dirty="0" err="1">
                    <a:latin typeface="Helvetica Neue"/>
                  </a:rPr>
                  <a:t>trị</a:t>
                </a:r>
                <a:r>
                  <a:rPr lang="en-US" sz="2400" dirty="0">
                    <a:latin typeface="Helvetica Neue"/>
                  </a:rPr>
                  <a:t> sigma khác nhau.</a:t>
                </a:r>
                <a:br>
                  <a:rPr lang="en-US" sz="2400" dirty="0">
                    <a:latin typeface="Helvetica Neue"/>
                  </a:rPr>
                </a:br>
                <a:r>
                  <a:rPr lang="en-US" sz="2400" dirty="0" smtClean="0">
                    <a:latin typeface="Helvetica Neue"/>
                  </a:rPr>
                  <a:t>	</a:t>
                </a:r>
                <a:r>
                  <a:rPr lang="en-US" sz="2400" dirty="0" err="1" smtClean="0">
                    <a:latin typeface="Helvetica Neue"/>
                  </a:rPr>
                  <a:t>Bước</a:t>
                </a:r>
                <a:r>
                  <a:rPr lang="en-US" sz="2400" dirty="0" smtClean="0">
                    <a:latin typeface="Helvetica Neue"/>
                  </a:rPr>
                  <a:t> </a:t>
                </a:r>
                <a:r>
                  <a:rPr lang="en-US" sz="2400" dirty="0">
                    <a:latin typeface="Helvetica Neue"/>
                  </a:rPr>
                  <a:t>3: </a:t>
                </a:r>
                <a:r>
                  <a:rPr lang="en-US" sz="2400" dirty="0" err="1">
                    <a:latin typeface="Helvetica Neue"/>
                  </a:rPr>
                  <a:t>Trừ</a:t>
                </a:r>
                <a:r>
                  <a:rPr lang="en-US" sz="2400" dirty="0">
                    <a:latin typeface="Helvetica Neue"/>
                  </a:rPr>
                  <a:t> </a:t>
                </a:r>
                <a:r>
                  <a:rPr lang="en-US" sz="2400" dirty="0" err="1">
                    <a:latin typeface="Helvetica Neue"/>
                  </a:rPr>
                  <a:t>ảnh</a:t>
                </a:r>
                <a:r>
                  <a:rPr lang="en-US" sz="2400" dirty="0">
                    <a:latin typeface="Helvetica Neue"/>
                  </a:rPr>
                  <a:t> Gaussian </a:t>
                </a:r>
                <a:r>
                  <a:rPr lang="en-US" sz="2400" dirty="0" err="1">
                    <a:latin typeface="Helvetica Neue"/>
                  </a:rPr>
                  <a:t>thứ</a:t>
                </a:r>
                <a:r>
                  <a:rPr lang="en-US" sz="2400" dirty="0">
                    <a:latin typeface="Helvetica Neue"/>
                  </a:rPr>
                  <a:t> </a:t>
                </a:r>
                <a:r>
                  <a:rPr lang="en-US" sz="2400" dirty="0" err="1">
                    <a:latin typeface="Helvetica Neue"/>
                  </a:rPr>
                  <a:t>hai</a:t>
                </a:r>
                <a:r>
                  <a:rPr lang="en-US" sz="2400" dirty="0">
                    <a:latin typeface="Helvetica Neue"/>
                  </a:rPr>
                  <a:t> </a:t>
                </a:r>
                <a:r>
                  <a:rPr lang="en-US" sz="2400" dirty="0" err="1">
                    <a:latin typeface="Helvetica Neue"/>
                  </a:rPr>
                  <a:t>khỏi</a:t>
                </a:r>
                <a:r>
                  <a:rPr lang="en-US" sz="2400" dirty="0">
                    <a:latin typeface="Helvetica Neue"/>
                  </a:rPr>
                  <a:t> </a:t>
                </a:r>
                <a:r>
                  <a:rPr lang="en-US" sz="2400" dirty="0" err="1">
                    <a:latin typeface="Helvetica Neue"/>
                  </a:rPr>
                  <a:t>ảnh</a:t>
                </a:r>
                <a:r>
                  <a:rPr lang="en-US" sz="2400" dirty="0">
                    <a:latin typeface="Helvetica Neue"/>
                  </a:rPr>
                  <a:t> Gaussian </a:t>
                </a:r>
                <a:r>
                  <a:rPr lang="en-US" sz="2400" dirty="0" err="1">
                    <a:latin typeface="Helvetica Neue"/>
                  </a:rPr>
                  <a:t>thứ</a:t>
                </a:r>
                <a:r>
                  <a:rPr lang="en-US" sz="2400" dirty="0">
                    <a:latin typeface="Helvetica Neue"/>
                  </a:rPr>
                  <a:t> </a:t>
                </a:r>
                <a:r>
                  <a:rPr lang="en-US" sz="2400" dirty="0" err="1">
                    <a:latin typeface="Helvetica Neue"/>
                  </a:rPr>
                  <a:t>nhất</a:t>
                </a:r>
                <a:r>
                  <a:rPr lang="en-US" sz="2400" dirty="0">
                    <a:latin typeface="Helvetica Neue"/>
                  </a:rPr>
                  <a:t>.</a:t>
                </a:r>
                <a:br>
                  <a:rPr lang="en-US" sz="2400" dirty="0">
                    <a:latin typeface="Helvetica Neue"/>
                  </a:rPr>
                </a:br>
                <a:r>
                  <a:rPr lang="en-US" sz="2400" dirty="0" smtClean="0">
                    <a:latin typeface="Helvetica Neue"/>
                  </a:rPr>
                  <a:t>	</a:t>
                </a:r>
                <a:r>
                  <a:rPr lang="en-US" sz="2400" dirty="0" err="1" smtClean="0">
                    <a:latin typeface="Helvetica Neue"/>
                  </a:rPr>
                  <a:t>Bước</a:t>
                </a:r>
                <a:r>
                  <a:rPr lang="en-US" sz="2400" dirty="0" smtClean="0">
                    <a:latin typeface="Helvetica Neue"/>
                  </a:rPr>
                  <a:t> </a:t>
                </a:r>
                <a:r>
                  <a:rPr lang="en-US" sz="2400" dirty="0">
                    <a:latin typeface="Helvetica Neue"/>
                  </a:rPr>
                  <a:t>4: </a:t>
                </a:r>
                <a:r>
                  <a:rPr lang="en-US" sz="2400" dirty="0" err="1">
                    <a:latin typeface="Helvetica Neue"/>
                  </a:rPr>
                  <a:t>Hiển</a:t>
                </a:r>
                <a:r>
                  <a:rPr lang="en-US" sz="2400" dirty="0">
                    <a:latin typeface="Helvetica Neue"/>
                  </a:rPr>
                  <a:t> </a:t>
                </a:r>
                <a:r>
                  <a:rPr lang="en-US" sz="2400" dirty="0" err="1">
                    <a:latin typeface="Helvetica Neue"/>
                  </a:rPr>
                  <a:t>thị</a:t>
                </a:r>
                <a:r>
                  <a:rPr lang="en-US" sz="2400" dirty="0">
                    <a:latin typeface="Helvetica Neue"/>
                  </a:rPr>
                  <a:t> </a:t>
                </a:r>
                <a:r>
                  <a:rPr lang="en-US" sz="2400" dirty="0" err="1">
                    <a:latin typeface="Helvetica Neue"/>
                  </a:rPr>
                  <a:t>kết</a:t>
                </a:r>
                <a:r>
                  <a:rPr lang="en-US" sz="2400" dirty="0">
                    <a:latin typeface="Helvetica Neue"/>
                  </a:rPr>
                  <a:t> </a:t>
                </a:r>
                <a:r>
                  <a:rPr lang="en-US" sz="2400" dirty="0" err="1">
                    <a:latin typeface="Helvetica Neue"/>
                  </a:rPr>
                  <a:t>quả</a:t>
                </a:r>
                <a:r>
                  <a:rPr lang="en-US" sz="2400" dirty="0">
                    <a:latin typeface="Helvetica Neue"/>
                  </a:rPr>
                  <a:t>.</a:t>
                </a:r>
              </a:p>
              <a:p>
                <a:pPr marL="0" indent="0">
                  <a:buNone/>
                </a:pPr>
                <a:endParaRPr lang="en-US" sz="2400" dirty="0">
                  <a:latin typeface="Helvetica Neue"/>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09700" y="2076450"/>
                <a:ext cx="10191750" cy="5454321"/>
              </a:xfrm>
              <a:blipFill>
                <a:blip r:embed="rId2"/>
                <a:stretch>
                  <a:fillRect l="-897" t="-783" r="-60" b="-21700"/>
                </a:stretch>
              </a:blipFill>
            </p:spPr>
            <p:txBody>
              <a:bodyPr/>
              <a:lstStyle/>
              <a:p>
                <a:r>
                  <a:rPr lang="en-US">
                    <a:noFill/>
                  </a:rPr>
                  <a:t> </a:t>
                </a:r>
              </a:p>
            </p:txBody>
          </p:sp>
        </mc:Fallback>
      </mc:AlternateContent>
    </p:spTree>
    <p:extLst>
      <p:ext uri="{BB962C8B-B14F-4D97-AF65-F5344CB8AC3E}">
        <p14:creationId xmlns:p14="http://schemas.microsoft.com/office/powerpoint/2010/main" val="195861784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486196" y="2234352"/>
                <a:ext cx="10820104" cy="6433397"/>
              </a:xfrm>
            </p:spPr>
            <p:txBody>
              <a:bodyPr>
                <a:normAutofit fontScale="40000" lnSpcReduction="20000"/>
              </a:bodyPr>
              <a:lstStyle/>
              <a:p>
                <a:pPr marL="0" indent="0">
                  <a:buNone/>
                </a:pPr>
                <a:r>
                  <a:rPr lang="en-US" sz="6000" b="1" dirty="0" smtClean="0">
                    <a:latin typeface="Helvetica Neue"/>
                  </a:rPr>
                  <a:t>4. Ma </a:t>
                </a:r>
                <a:r>
                  <a:rPr lang="en-US" sz="6000" b="1" dirty="0" err="1">
                    <a:latin typeface="Helvetica Neue"/>
                  </a:rPr>
                  <a:t>trận</a:t>
                </a:r>
                <a:r>
                  <a:rPr lang="en-US" sz="6000" b="1" dirty="0">
                    <a:latin typeface="Helvetica Neue"/>
                  </a:rPr>
                  <a:t> </a:t>
                </a:r>
                <a:r>
                  <a:rPr lang="en-US" sz="6000" b="1" dirty="0" smtClean="0">
                    <a:latin typeface="Helvetica Neue"/>
                  </a:rPr>
                  <a:t>Hessian</a:t>
                </a:r>
              </a:p>
              <a:p>
                <a:pPr marL="0" indent="0">
                  <a:buNone/>
                </a:pPr>
                <a:r>
                  <a:rPr lang="en-US" sz="6000" dirty="0">
                    <a:latin typeface="Helvetica Neue"/>
                  </a:rPr>
                  <a:t>4.1. Nguyên </a:t>
                </a:r>
                <a:r>
                  <a:rPr lang="en-US" sz="6000" dirty="0" err="1">
                    <a:latin typeface="Helvetica Neue"/>
                  </a:rPr>
                  <a:t>lý</a:t>
                </a:r>
                <a:r>
                  <a:rPr lang="en-US" sz="6000" dirty="0">
                    <a:latin typeface="Helvetica Neue"/>
                  </a:rPr>
                  <a:t> </a:t>
                </a:r>
                <a:r>
                  <a:rPr lang="en-US" sz="6000" dirty="0" err="1">
                    <a:latin typeface="Helvetica Neue"/>
                  </a:rPr>
                  <a:t>hoạt</a:t>
                </a:r>
                <a:r>
                  <a:rPr lang="en-US" sz="6000" dirty="0">
                    <a:latin typeface="Helvetica Neue"/>
                  </a:rPr>
                  <a:t> </a:t>
                </a:r>
                <a:r>
                  <a:rPr lang="en-US" sz="6000" dirty="0" err="1">
                    <a:latin typeface="Helvetica Neue"/>
                  </a:rPr>
                  <a:t>động</a:t>
                </a:r>
                <a:endParaRPr lang="en-US" sz="6000" dirty="0">
                  <a:latin typeface="Helvetica Neue"/>
                </a:endParaRPr>
              </a:p>
              <a:p>
                <a:pPr lvl="1"/>
                <a:r>
                  <a:rPr lang="en-US" sz="6000" dirty="0">
                    <a:latin typeface="Helvetica Neue"/>
                  </a:rPr>
                  <a:t>Ma </a:t>
                </a:r>
                <a:r>
                  <a:rPr lang="en-US" sz="6000" dirty="0" err="1">
                    <a:latin typeface="Helvetica Neue"/>
                  </a:rPr>
                  <a:t>trận</a:t>
                </a:r>
                <a:r>
                  <a:rPr lang="en-US" sz="6000" dirty="0">
                    <a:latin typeface="Helvetica Neue"/>
                  </a:rPr>
                  <a:t> Hessian </a:t>
                </a:r>
                <a:r>
                  <a:rPr lang="en-US" sz="6000" dirty="0" err="1">
                    <a:latin typeface="Helvetica Neue"/>
                  </a:rPr>
                  <a:t>sử</a:t>
                </a:r>
                <a:r>
                  <a:rPr lang="en-US" sz="6000" dirty="0">
                    <a:latin typeface="Helvetica Neue"/>
                  </a:rPr>
                  <a:t> </a:t>
                </a:r>
                <a:r>
                  <a:rPr lang="en-US" sz="6000" dirty="0" err="1">
                    <a:latin typeface="Helvetica Neue"/>
                  </a:rPr>
                  <a:t>dụng</a:t>
                </a:r>
                <a:r>
                  <a:rPr lang="en-US" sz="6000" dirty="0">
                    <a:latin typeface="Helvetica Neue"/>
                  </a:rPr>
                  <a:t> </a:t>
                </a:r>
                <a:r>
                  <a:rPr lang="en-US" sz="6000" dirty="0" err="1">
                    <a:latin typeface="Helvetica Neue"/>
                  </a:rPr>
                  <a:t>đạo</a:t>
                </a:r>
                <a:r>
                  <a:rPr lang="en-US" sz="6000" dirty="0">
                    <a:latin typeface="Helvetica Neue"/>
                  </a:rPr>
                  <a:t> </a:t>
                </a:r>
                <a:r>
                  <a:rPr lang="en-US" sz="6000" dirty="0" err="1">
                    <a:latin typeface="Helvetica Neue"/>
                  </a:rPr>
                  <a:t>hàm</a:t>
                </a:r>
                <a:r>
                  <a:rPr lang="en-US" sz="6000" dirty="0">
                    <a:latin typeface="Helvetica Neue"/>
                  </a:rPr>
                  <a:t> </a:t>
                </a:r>
                <a:r>
                  <a:rPr lang="en-US" sz="6000" dirty="0" err="1">
                    <a:latin typeface="Helvetica Neue"/>
                  </a:rPr>
                  <a:t>bậc</a:t>
                </a:r>
                <a:r>
                  <a:rPr lang="en-US" sz="6000" dirty="0">
                    <a:latin typeface="Helvetica Neue"/>
                  </a:rPr>
                  <a:t> </a:t>
                </a:r>
                <a:r>
                  <a:rPr lang="en-US" sz="6000" dirty="0" err="1">
                    <a:latin typeface="Helvetica Neue"/>
                  </a:rPr>
                  <a:t>hai</a:t>
                </a:r>
                <a:r>
                  <a:rPr lang="en-US" sz="6000" dirty="0">
                    <a:latin typeface="Helvetica Neue"/>
                  </a:rPr>
                  <a:t> để </a:t>
                </a:r>
                <a:r>
                  <a:rPr lang="en-US" sz="6000" dirty="0" err="1">
                    <a:latin typeface="Helvetica Neue"/>
                  </a:rPr>
                  <a:t>xác</a:t>
                </a:r>
                <a:r>
                  <a:rPr lang="en-US" sz="6000" dirty="0">
                    <a:latin typeface="Helvetica Neue"/>
                  </a:rPr>
                  <a:t> </a:t>
                </a:r>
                <a:r>
                  <a:rPr lang="en-US" sz="6000" dirty="0" err="1">
                    <a:latin typeface="Helvetica Neue"/>
                  </a:rPr>
                  <a:t>định</a:t>
                </a:r>
                <a:r>
                  <a:rPr lang="en-US" sz="6000" dirty="0">
                    <a:latin typeface="Helvetica Neue"/>
                  </a:rPr>
                  <a:t> </a:t>
                </a:r>
                <a:r>
                  <a:rPr lang="en-US" sz="6000" dirty="0" err="1">
                    <a:latin typeface="Helvetica Neue"/>
                  </a:rPr>
                  <a:t>góc</a:t>
                </a:r>
                <a:r>
                  <a:rPr lang="en-US" sz="6000" dirty="0">
                    <a:latin typeface="Helvetica Neue"/>
                  </a:rPr>
                  <a:t> </a:t>
                </a:r>
                <a:r>
                  <a:rPr lang="en-US" sz="6000" dirty="0" err="1">
                    <a:latin typeface="Helvetica Neue"/>
                  </a:rPr>
                  <a:t>và</a:t>
                </a:r>
                <a:r>
                  <a:rPr lang="en-US" sz="6000" dirty="0">
                    <a:latin typeface="Helvetica Neue"/>
                  </a:rPr>
                  <a:t> </a:t>
                </a:r>
                <a:r>
                  <a:rPr lang="en-US" sz="6000" dirty="0" err="1">
                    <a:latin typeface="Helvetica Neue"/>
                  </a:rPr>
                  <a:t>đặc</a:t>
                </a:r>
                <a:r>
                  <a:rPr lang="en-US" sz="6000" dirty="0">
                    <a:latin typeface="Helvetica Neue"/>
                  </a:rPr>
                  <a:t> </a:t>
                </a:r>
                <a:r>
                  <a:rPr lang="en-US" sz="6000" dirty="0" err="1">
                    <a:latin typeface="Helvetica Neue"/>
                  </a:rPr>
                  <a:t>trưng</a:t>
                </a:r>
                <a:r>
                  <a:rPr lang="en-US" sz="6000" dirty="0">
                    <a:latin typeface="Helvetica Neue"/>
                  </a:rPr>
                  <a:t> </a:t>
                </a:r>
                <a:r>
                  <a:rPr lang="en-US" sz="6000" dirty="0" err="1">
                    <a:latin typeface="Helvetica Neue"/>
                  </a:rPr>
                  <a:t>ảnh</a:t>
                </a:r>
                <a:r>
                  <a:rPr lang="en-US" sz="6000" dirty="0">
                    <a:latin typeface="Helvetica Neue"/>
                  </a:rPr>
                  <a:t>.</a:t>
                </a:r>
              </a:p>
              <a:p>
                <a:pPr lvl="1"/>
                <a:r>
                  <a:rPr lang="en-US" sz="6000" dirty="0" err="1">
                    <a:latin typeface="Helvetica Neue"/>
                  </a:rPr>
                  <a:t>Dựa</a:t>
                </a:r>
                <a:r>
                  <a:rPr lang="en-US" sz="6000" dirty="0">
                    <a:latin typeface="Helvetica Neue"/>
                  </a:rPr>
                  <a:t> vào </a:t>
                </a:r>
                <a:r>
                  <a:rPr lang="en-US" sz="6000" dirty="0" err="1">
                    <a:latin typeface="Helvetica Neue"/>
                  </a:rPr>
                  <a:t>giá</a:t>
                </a:r>
                <a:r>
                  <a:rPr lang="en-US" sz="6000" dirty="0">
                    <a:latin typeface="Helvetica Neue"/>
                  </a:rPr>
                  <a:t> </a:t>
                </a:r>
                <a:r>
                  <a:rPr lang="en-US" sz="6000" dirty="0" err="1">
                    <a:latin typeface="Helvetica Neue"/>
                  </a:rPr>
                  <a:t>trị</a:t>
                </a:r>
                <a:r>
                  <a:rPr lang="en-US" sz="6000" dirty="0">
                    <a:latin typeface="Helvetica Neue"/>
                  </a:rPr>
                  <a:t> </a:t>
                </a:r>
                <a:r>
                  <a:rPr lang="en-US" sz="6000" dirty="0" err="1">
                    <a:latin typeface="Helvetica Neue"/>
                  </a:rPr>
                  <a:t>riêng</a:t>
                </a:r>
                <a:r>
                  <a:rPr lang="en-US" sz="6000" dirty="0">
                    <a:latin typeface="Helvetica Neue"/>
                  </a:rPr>
                  <a:t> </a:t>
                </a:r>
                <a:r>
                  <a:rPr lang="en-US" sz="6000" dirty="0" err="1">
                    <a:latin typeface="Helvetica Neue"/>
                  </a:rPr>
                  <a:t>của</a:t>
                </a:r>
                <a:r>
                  <a:rPr lang="en-US" sz="6000" dirty="0">
                    <a:latin typeface="Helvetica Neue"/>
                  </a:rPr>
                  <a:t> ma </a:t>
                </a:r>
                <a:r>
                  <a:rPr lang="en-US" sz="6000" dirty="0" err="1">
                    <a:latin typeface="Helvetica Neue"/>
                  </a:rPr>
                  <a:t>trận</a:t>
                </a:r>
                <a:r>
                  <a:rPr lang="en-US" sz="6000" dirty="0">
                    <a:latin typeface="Helvetica Neue"/>
                  </a:rPr>
                  <a:t>, có </a:t>
                </a:r>
                <a:r>
                  <a:rPr lang="en-US" sz="6000" dirty="0" err="1">
                    <a:latin typeface="Helvetica Neue"/>
                  </a:rPr>
                  <a:t>thể</a:t>
                </a:r>
                <a:r>
                  <a:rPr lang="en-US" sz="6000" dirty="0">
                    <a:latin typeface="Helvetica Neue"/>
                  </a:rPr>
                  <a:t> phát </a:t>
                </a:r>
                <a:r>
                  <a:rPr lang="en-US" sz="6000" dirty="0" err="1">
                    <a:latin typeface="Helvetica Neue"/>
                  </a:rPr>
                  <a:t>hiện</a:t>
                </a:r>
                <a:r>
                  <a:rPr lang="en-US" sz="6000" dirty="0">
                    <a:latin typeface="Helvetica Neue"/>
                  </a:rPr>
                  <a:t> </a:t>
                </a:r>
                <a:r>
                  <a:rPr lang="en-US" sz="6000" dirty="0" err="1">
                    <a:latin typeface="Helvetica Neue"/>
                  </a:rPr>
                  <a:t>góc</a:t>
                </a:r>
                <a:r>
                  <a:rPr lang="en-US" sz="6000" dirty="0">
                    <a:latin typeface="Helvetica Neue"/>
                  </a:rPr>
                  <a:t> </a:t>
                </a:r>
                <a:r>
                  <a:rPr lang="en-US" sz="6000" dirty="0" err="1">
                    <a:latin typeface="Helvetica Neue"/>
                  </a:rPr>
                  <a:t>ảnh</a:t>
                </a:r>
                <a:r>
                  <a:rPr lang="en-US" sz="6000" dirty="0">
                    <a:latin typeface="Helvetica Neue"/>
                  </a:rPr>
                  <a:t>.</a:t>
                </a:r>
              </a:p>
              <a:p>
                <a:pPr marL="0" indent="0">
                  <a:buNone/>
                </a:pPr>
                <a:r>
                  <a:rPr lang="en-US" sz="6000" dirty="0" smtClean="0">
                    <a:latin typeface="Helvetica Neue"/>
                  </a:rPr>
                  <a:t>4.2</a:t>
                </a:r>
                <a:r>
                  <a:rPr lang="en-US" sz="6000" dirty="0">
                    <a:latin typeface="Helvetica Neue"/>
                  </a:rPr>
                  <a:t>. </a:t>
                </a:r>
                <a:r>
                  <a:rPr lang="en-US" sz="6000" dirty="0" err="1">
                    <a:latin typeface="Helvetica Neue"/>
                  </a:rPr>
                  <a:t>Công</a:t>
                </a:r>
                <a:r>
                  <a:rPr lang="en-US" sz="6000" dirty="0">
                    <a:latin typeface="Helvetica Neue"/>
                  </a:rPr>
                  <a:t> </a:t>
                </a:r>
                <a:r>
                  <a:rPr lang="en-US" sz="6000" dirty="0" err="1">
                    <a:latin typeface="Helvetica Neue"/>
                  </a:rPr>
                  <a:t>thức</a:t>
                </a:r>
                <a:r>
                  <a:rPr lang="en-US" sz="6000" dirty="0">
                    <a:latin typeface="Helvetica Neue"/>
                  </a:rPr>
                  <a:t> </a:t>
                </a:r>
                <a:r>
                  <a:rPr lang="en-US" sz="6000" dirty="0" err="1">
                    <a:latin typeface="Helvetica Neue"/>
                  </a:rPr>
                  <a:t>toán</a:t>
                </a:r>
                <a:r>
                  <a:rPr lang="en-US" sz="6000" dirty="0">
                    <a:latin typeface="Helvetica Neue"/>
                  </a:rPr>
                  <a:t> học</a:t>
                </a:r>
              </a:p>
              <a:p>
                <a:pPr marL="0" indent="0">
                  <a:buNone/>
                </a:pPr>
                <a14:m>
                  <m:oMathPara xmlns:m="http://schemas.openxmlformats.org/officeDocument/2006/math">
                    <m:oMathParaPr>
                      <m:jc m:val="centerGroup"/>
                    </m:oMathParaPr>
                    <m:oMath xmlns:m="http://schemas.openxmlformats.org/officeDocument/2006/math">
                      <m:r>
                        <a:rPr lang="en-US" sz="6000" i="1">
                          <a:latin typeface="Cambria Math" panose="02040503050406030204" pitchFamily="18" charset="0"/>
                        </a:rPr>
                        <m:t>𝐻</m:t>
                      </m:r>
                      <m:r>
                        <a:rPr lang="en-US" sz="6000">
                          <a:latin typeface="Cambria Math" panose="02040503050406030204" pitchFamily="18" charset="0"/>
                        </a:rPr>
                        <m:t>=</m:t>
                      </m:r>
                      <m:d>
                        <m:dPr>
                          <m:begChr m:val="["/>
                          <m:endChr m:val="]"/>
                          <m:ctrlPr>
                            <a:rPr lang="en-US" sz="6000" i="1">
                              <a:latin typeface="Cambria Math" panose="02040503050406030204" pitchFamily="18" charset="0"/>
                            </a:rPr>
                          </m:ctrlPr>
                        </m:dPr>
                        <m:e>
                          <m:m>
                            <m:mPr>
                              <m:plcHide m:val="on"/>
                              <m:mcs>
                                <m:mc>
                                  <m:mcPr>
                                    <m:count m:val="2"/>
                                    <m:mcJc m:val="center"/>
                                  </m:mcPr>
                                </m:mc>
                              </m:mcs>
                              <m:ctrlPr>
                                <a:rPr lang="en-US" sz="6000" i="1">
                                  <a:latin typeface="Cambria Math" panose="02040503050406030204" pitchFamily="18" charset="0"/>
                                </a:rPr>
                              </m:ctrlPr>
                            </m:mPr>
                            <m:mr>
                              <m:e>
                                <m:f>
                                  <m:fPr>
                                    <m:ctrlPr>
                                      <a:rPr lang="en-US" sz="6000" i="1">
                                        <a:latin typeface="Cambria Math" panose="02040503050406030204" pitchFamily="18" charset="0"/>
                                      </a:rPr>
                                    </m:ctrlPr>
                                  </m:fPr>
                                  <m:num>
                                    <m:sSup>
                                      <m:sSupPr>
                                        <m:ctrlPr>
                                          <a:rPr lang="en-US" sz="6000" i="1">
                                            <a:latin typeface="Cambria Math" panose="02040503050406030204" pitchFamily="18" charset="0"/>
                                          </a:rPr>
                                        </m:ctrlPr>
                                      </m:sSupPr>
                                      <m:e>
                                        <m:r>
                                          <a:rPr lang="en-US" sz="6000">
                                            <a:latin typeface="Cambria Math" panose="02040503050406030204" pitchFamily="18" charset="0"/>
                                          </a:rPr>
                                          <m:t>𝜕</m:t>
                                        </m:r>
                                      </m:e>
                                      <m:sup>
                                        <m:r>
                                          <a:rPr lang="en-US" sz="6000" i="1">
                                            <a:latin typeface="Cambria Math" panose="02040503050406030204" pitchFamily="18" charset="0"/>
                                          </a:rPr>
                                          <m:t>2</m:t>
                                        </m:r>
                                      </m:sup>
                                    </m:sSup>
                                    <m:r>
                                      <a:rPr lang="en-US" sz="6000" i="1">
                                        <a:latin typeface="Cambria Math" panose="02040503050406030204" pitchFamily="18" charset="0"/>
                                      </a:rPr>
                                      <m:t>𝐼</m:t>
                                    </m:r>
                                  </m:num>
                                  <m:den>
                                    <m:r>
                                      <a:rPr lang="en-US" sz="6000">
                                        <a:latin typeface="Cambria Math" panose="02040503050406030204" pitchFamily="18" charset="0"/>
                                      </a:rPr>
                                      <m:t>𝜕</m:t>
                                    </m:r>
                                    <m:sSup>
                                      <m:sSupPr>
                                        <m:ctrlPr>
                                          <a:rPr lang="en-US" sz="6000" i="1">
                                            <a:latin typeface="Cambria Math" panose="02040503050406030204" pitchFamily="18" charset="0"/>
                                          </a:rPr>
                                        </m:ctrlPr>
                                      </m:sSupPr>
                                      <m:e>
                                        <m:r>
                                          <a:rPr lang="en-US" sz="6000" i="1">
                                            <a:latin typeface="Cambria Math" panose="02040503050406030204" pitchFamily="18" charset="0"/>
                                          </a:rPr>
                                          <m:t>𝑥</m:t>
                                        </m:r>
                                      </m:e>
                                      <m:sup>
                                        <m:r>
                                          <a:rPr lang="en-US" sz="6000" i="1">
                                            <a:latin typeface="Cambria Math" panose="02040503050406030204" pitchFamily="18" charset="0"/>
                                          </a:rPr>
                                          <m:t>2</m:t>
                                        </m:r>
                                      </m:sup>
                                    </m:sSup>
                                  </m:den>
                                </m:f>
                              </m:e>
                              <m:e>
                                <m:f>
                                  <m:fPr>
                                    <m:ctrlPr>
                                      <a:rPr lang="en-US" sz="6000" i="1">
                                        <a:latin typeface="Cambria Math" panose="02040503050406030204" pitchFamily="18" charset="0"/>
                                      </a:rPr>
                                    </m:ctrlPr>
                                  </m:fPr>
                                  <m:num>
                                    <m:sSup>
                                      <m:sSupPr>
                                        <m:ctrlPr>
                                          <a:rPr lang="en-US" sz="6000" i="1">
                                            <a:latin typeface="Cambria Math" panose="02040503050406030204" pitchFamily="18" charset="0"/>
                                          </a:rPr>
                                        </m:ctrlPr>
                                      </m:sSupPr>
                                      <m:e>
                                        <m:r>
                                          <a:rPr lang="en-US" sz="6000">
                                            <a:latin typeface="Cambria Math" panose="02040503050406030204" pitchFamily="18" charset="0"/>
                                          </a:rPr>
                                          <m:t>𝜕</m:t>
                                        </m:r>
                                      </m:e>
                                      <m:sup>
                                        <m:r>
                                          <a:rPr lang="en-US" sz="6000" i="1">
                                            <a:latin typeface="Cambria Math" panose="02040503050406030204" pitchFamily="18" charset="0"/>
                                          </a:rPr>
                                          <m:t>2</m:t>
                                        </m:r>
                                      </m:sup>
                                    </m:sSup>
                                    <m:r>
                                      <a:rPr lang="en-US" sz="6000" i="1">
                                        <a:latin typeface="Cambria Math" panose="02040503050406030204" pitchFamily="18" charset="0"/>
                                      </a:rPr>
                                      <m:t>𝐼</m:t>
                                    </m:r>
                                  </m:num>
                                  <m:den>
                                    <m:r>
                                      <a:rPr lang="en-US" sz="6000">
                                        <a:latin typeface="Cambria Math" panose="02040503050406030204" pitchFamily="18" charset="0"/>
                                      </a:rPr>
                                      <m:t>𝜕</m:t>
                                    </m:r>
                                    <m:r>
                                      <a:rPr lang="en-US" sz="6000" i="1">
                                        <a:latin typeface="Cambria Math" panose="02040503050406030204" pitchFamily="18" charset="0"/>
                                      </a:rPr>
                                      <m:t>𝑥</m:t>
                                    </m:r>
                                    <m:r>
                                      <a:rPr lang="en-US" sz="6000">
                                        <a:latin typeface="Cambria Math" panose="02040503050406030204" pitchFamily="18" charset="0"/>
                                      </a:rPr>
                                      <m:t>𝜕</m:t>
                                    </m:r>
                                    <m:r>
                                      <a:rPr lang="en-US" sz="6000" i="1">
                                        <a:latin typeface="Cambria Math" panose="02040503050406030204" pitchFamily="18" charset="0"/>
                                      </a:rPr>
                                      <m:t>𝑦</m:t>
                                    </m:r>
                                  </m:den>
                                </m:f>
                              </m:e>
                            </m:mr>
                            <m:mr>
                              <m:e>
                                <m:f>
                                  <m:fPr>
                                    <m:ctrlPr>
                                      <a:rPr lang="en-US" sz="6000" i="1">
                                        <a:latin typeface="Cambria Math" panose="02040503050406030204" pitchFamily="18" charset="0"/>
                                      </a:rPr>
                                    </m:ctrlPr>
                                  </m:fPr>
                                  <m:num>
                                    <m:sSup>
                                      <m:sSupPr>
                                        <m:ctrlPr>
                                          <a:rPr lang="en-US" sz="6000" i="1">
                                            <a:latin typeface="Cambria Math" panose="02040503050406030204" pitchFamily="18" charset="0"/>
                                          </a:rPr>
                                        </m:ctrlPr>
                                      </m:sSupPr>
                                      <m:e>
                                        <m:r>
                                          <a:rPr lang="en-US" sz="6000">
                                            <a:latin typeface="Cambria Math" panose="02040503050406030204" pitchFamily="18" charset="0"/>
                                          </a:rPr>
                                          <m:t>𝜕</m:t>
                                        </m:r>
                                      </m:e>
                                      <m:sup>
                                        <m:r>
                                          <a:rPr lang="en-US" sz="6000" i="1">
                                            <a:latin typeface="Cambria Math" panose="02040503050406030204" pitchFamily="18" charset="0"/>
                                          </a:rPr>
                                          <m:t>2</m:t>
                                        </m:r>
                                      </m:sup>
                                    </m:sSup>
                                    <m:r>
                                      <a:rPr lang="en-US" sz="6000" i="1">
                                        <a:latin typeface="Cambria Math" panose="02040503050406030204" pitchFamily="18" charset="0"/>
                                      </a:rPr>
                                      <m:t>𝐼</m:t>
                                    </m:r>
                                  </m:num>
                                  <m:den>
                                    <m:r>
                                      <a:rPr lang="en-US" sz="6000">
                                        <a:latin typeface="Cambria Math" panose="02040503050406030204" pitchFamily="18" charset="0"/>
                                      </a:rPr>
                                      <m:t>𝜕</m:t>
                                    </m:r>
                                    <m:r>
                                      <a:rPr lang="en-US" sz="6000" i="1">
                                        <a:latin typeface="Cambria Math" panose="02040503050406030204" pitchFamily="18" charset="0"/>
                                      </a:rPr>
                                      <m:t>𝑦</m:t>
                                    </m:r>
                                    <m:r>
                                      <a:rPr lang="en-US" sz="6000">
                                        <a:latin typeface="Cambria Math" panose="02040503050406030204" pitchFamily="18" charset="0"/>
                                      </a:rPr>
                                      <m:t>𝜕</m:t>
                                    </m:r>
                                    <m:r>
                                      <a:rPr lang="en-US" sz="6000" i="1">
                                        <a:latin typeface="Cambria Math" panose="02040503050406030204" pitchFamily="18" charset="0"/>
                                      </a:rPr>
                                      <m:t>𝑥</m:t>
                                    </m:r>
                                  </m:den>
                                </m:f>
                              </m:e>
                              <m:e>
                                <m:f>
                                  <m:fPr>
                                    <m:ctrlPr>
                                      <a:rPr lang="en-US" sz="6000" i="1">
                                        <a:latin typeface="Cambria Math" panose="02040503050406030204" pitchFamily="18" charset="0"/>
                                      </a:rPr>
                                    </m:ctrlPr>
                                  </m:fPr>
                                  <m:num>
                                    <m:sSup>
                                      <m:sSupPr>
                                        <m:ctrlPr>
                                          <a:rPr lang="en-US" sz="6000" i="1">
                                            <a:latin typeface="Cambria Math" panose="02040503050406030204" pitchFamily="18" charset="0"/>
                                          </a:rPr>
                                        </m:ctrlPr>
                                      </m:sSupPr>
                                      <m:e>
                                        <m:r>
                                          <a:rPr lang="en-US" sz="6000">
                                            <a:latin typeface="Cambria Math" panose="02040503050406030204" pitchFamily="18" charset="0"/>
                                          </a:rPr>
                                          <m:t>𝜕</m:t>
                                        </m:r>
                                      </m:e>
                                      <m:sup>
                                        <m:r>
                                          <a:rPr lang="en-US" sz="6000" i="1">
                                            <a:latin typeface="Cambria Math" panose="02040503050406030204" pitchFamily="18" charset="0"/>
                                          </a:rPr>
                                          <m:t>2</m:t>
                                        </m:r>
                                      </m:sup>
                                    </m:sSup>
                                    <m:r>
                                      <a:rPr lang="en-US" sz="6000" i="1">
                                        <a:latin typeface="Cambria Math" panose="02040503050406030204" pitchFamily="18" charset="0"/>
                                      </a:rPr>
                                      <m:t>𝐼</m:t>
                                    </m:r>
                                  </m:num>
                                  <m:den>
                                    <m:r>
                                      <a:rPr lang="en-US" sz="6000">
                                        <a:latin typeface="Cambria Math" panose="02040503050406030204" pitchFamily="18" charset="0"/>
                                      </a:rPr>
                                      <m:t>𝜕</m:t>
                                    </m:r>
                                    <m:sSup>
                                      <m:sSupPr>
                                        <m:ctrlPr>
                                          <a:rPr lang="en-US" sz="6000" i="1">
                                            <a:latin typeface="Cambria Math" panose="02040503050406030204" pitchFamily="18" charset="0"/>
                                          </a:rPr>
                                        </m:ctrlPr>
                                      </m:sSupPr>
                                      <m:e>
                                        <m:r>
                                          <a:rPr lang="en-US" sz="6000" i="1">
                                            <a:latin typeface="Cambria Math" panose="02040503050406030204" pitchFamily="18" charset="0"/>
                                          </a:rPr>
                                          <m:t>𝑦</m:t>
                                        </m:r>
                                      </m:e>
                                      <m:sup>
                                        <m:r>
                                          <a:rPr lang="en-US" sz="6000" i="1">
                                            <a:latin typeface="Cambria Math" panose="02040503050406030204" pitchFamily="18" charset="0"/>
                                          </a:rPr>
                                          <m:t>2</m:t>
                                        </m:r>
                                      </m:sup>
                                    </m:sSup>
                                  </m:den>
                                </m:f>
                              </m:e>
                            </m:mr>
                          </m:m>
                        </m:e>
                      </m:d>
                    </m:oMath>
                  </m:oMathPara>
                </a14:m>
                <a:endParaRPr lang="en-US" sz="6000" dirty="0">
                  <a:latin typeface="Helvetica Neue"/>
                </a:endParaRPr>
              </a:p>
              <a:p>
                <a:pPr marL="0" indent="0">
                  <a:buNone/>
                </a:pPr>
                <a:endParaRPr lang="en-US" sz="6000" b="1" dirty="0" smtClean="0">
                  <a:latin typeface="Helvetica Neue"/>
                </a:endParaRPr>
              </a:p>
              <a:p>
                <a:pPr marL="0" indent="0">
                  <a:buNone/>
                </a:pPr>
                <a:r>
                  <a:rPr lang="en-US" sz="6000" dirty="0" smtClean="0">
                    <a:latin typeface="Helvetica Neue"/>
                  </a:rPr>
                  <a:t>4.3. </a:t>
                </a:r>
                <a:r>
                  <a:rPr lang="en-US" sz="6000" dirty="0" err="1">
                    <a:latin typeface="Helvetica Neue"/>
                  </a:rPr>
                  <a:t>Ứng</a:t>
                </a:r>
                <a:r>
                  <a:rPr lang="en-US" sz="6000" dirty="0">
                    <a:latin typeface="Helvetica Neue"/>
                  </a:rPr>
                  <a:t> </a:t>
                </a:r>
                <a:r>
                  <a:rPr lang="en-US" sz="6000" dirty="0" err="1">
                    <a:latin typeface="Helvetica Neue"/>
                  </a:rPr>
                  <a:t>dụng</a:t>
                </a:r>
                <a:endParaRPr lang="en-US" sz="6000" dirty="0">
                  <a:latin typeface="Helvetica Neue"/>
                </a:endParaRPr>
              </a:p>
              <a:p>
                <a:pPr lvl="1"/>
                <a:r>
                  <a:rPr lang="en-US" sz="6000" dirty="0">
                    <a:latin typeface="Helvetica Neue"/>
                  </a:rPr>
                  <a:t>Phát </a:t>
                </a:r>
                <a:r>
                  <a:rPr lang="en-US" sz="6000" dirty="0" err="1">
                    <a:latin typeface="Helvetica Neue"/>
                  </a:rPr>
                  <a:t>hiện</a:t>
                </a:r>
                <a:r>
                  <a:rPr lang="en-US" sz="6000" dirty="0">
                    <a:latin typeface="Helvetica Neue"/>
                  </a:rPr>
                  <a:t> </a:t>
                </a:r>
                <a:r>
                  <a:rPr lang="en-US" sz="6000" dirty="0" err="1">
                    <a:latin typeface="Helvetica Neue"/>
                  </a:rPr>
                  <a:t>góc</a:t>
                </a:r>
                <a:r>
                  <a:rPr lang="en-US" sz="6000" dirty="0">
                    <a:latin typeface="Helvetica Neue"/>
                  </a:rPr>
                  <a:t> </a:t>
                </a:r>
                <a:r>
                  <a:rPr lang="en-US" sz="6000" dirty="0" err="1">
                    <a:latin typeface="Helvetica Neue"/>
                  </a:rPr>
                  <a:t>ảnh</a:t>
                </a:r>
                <a:r>
                  <a:rPr lang="en-US" sz="6000" dirty="0">
                    <a:latin typeface="Helvetica Neue"/>
                  </a:rPr>
                  <a:t> (Harris Corner Detector).</a:t>
                </a:r>
              </a:p>
              <a:p>
                <a:pPr lvl="1"/>
                <a:r>
                  <a:rPr lang="en-US" sz="6000" dirty="0" err="1">
                    <a:latin typeface="Helvetica Neue"/>
                  </a:rPr>
                  <a:t>Xác</a:t>
                </a:r>
                <a:r>
                  <a:rPr lang="en-US" sz="6000" dirty="0">
                    <a:latin typeface="Helvetica Neue"/>
                  </a:rPr>
                  <a:t> </a:t>
                </a:r>
                <a:r>
                  <a:rPr lang="en-US" sz="6000" dirty="0" err="1">
                    <a:latin typeface="Helvetica Neue"/>
                  </a:rPr>
                  <a:t>định</a:t>
                </a:r>
                <a:r>
                  <a:rPr lang="en-US" sz="6000" dirty="0">
                    <a:latin typeface="Helvetica Neue"/>
                  </a:rPr>
                  <a:t> </a:t>
                </a:r>
                <a:r>
                  <a:rPr lang="en-US" sz="6000" dirty="0" err="1">
                    <a:latin typeface="Helvetica Neue"/>
                  </a:rPr>
                  <a:t>cấu</a:t>
                </a:r>
                <a:r>
                  <a:rPr lang="en-US" sz="6000" dirty="0">
                    <a:latin typeface="Helvetica Neue"/>
                  </a:rPr>
                  <a:t> </a:t>
                </a:r>
                <a:r>
                  <a:rPr lang="en-US" sz="6000" dirty="0" err="1">
                    <a:latin typeface="Helvetica Neue"/>
                  </a:rPr>
                  <a:t>trúc</a:t>
                </a:r>
                <a:r>
                  <a:rPr lang="en-US" sz="6000" dirty="0">
                    <a:latin typeface="Helvetica Neue"/>
                  </a:rPr>
                  <a:t> trong </a:t>
                </a:r>
                <a:r>
                  <a:rPr lang="en-US" sz="6000" dirty="0" err="1">
                    <a:latin typeface="Helvetica Neue"/>
                  </a:rPr>
                  <a:t>ảnh</a:t>
                </a:r>
                <a:r>
                  <a:rPr lang="en-US" sz="6000" dirty="0">
                    <a:latin typeface="Helvetica Neue"/>
                  </a:rPr>
                  <a:t> y </a:t>
                </a:r>
                <a:r>
                  <a:rPr lang="en-US" sz="6000" dirty="0" err="1">
                    <a:latin typeface="Helvetica Neue"/>
                  </a:rPr>
                  <a:t>khoa</a:t>
                </a:r>
                <a:r>
                  <a:rPr lang="en-US" sz="6000" dirty="0">
                    <a:latin typeface="Helvetica Neue"/>
                  </a:rPr>
                  <a:t>.</a:t>
                </a:r>
              </a:p>
              <a:p>
                <a:pPr marL="0" indent="0">
                  <a:buNone/>
                </a:pPr>
                <a:endParaRPr lang="en-US" b="1"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486196" y="2234352"/>
                <a:ext cx="10820104" cy="6433397"/>
              </a:xfrm>
              <a:blipFill>
                <a:blip r:embed="rId2"/>
                <a:stretch>
                  <a:fillRect l="-901" t="-1801"/>
                </a:stretch>
              </a:blipFill>
            </p:spPr>
            <p:txBody>
              <a:bodyPr/>
              <a:lstStyle/>
              <a:p>
                <a:r>
                  <a:rPr lang="en-US">
                    <a:noFill/>
                  </a:rPr>
                  <a:t> </a:t>
                </a:r>
              </a:p>
            </p:txBody>
          </p:sp>
        </mc:Fallback>
      </mc:AlternateContent>
    </p:spTree>
    <p:extLst>
      <p:ext uri="{BB962C8B-B14F-4D97-AF65-F5344CB8AC3E}">
        <p14:creationId xmlns:p14="http://schemas.microsoft.com/office/powerpoint/2010/main" val="39133905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657350" y="2228850"/>
                <a:ext cx="10480464" cy="7067549"/>
              </a:xfrm>
            </p:spPr>
            <p:txBody>
              <a:bodyPr>
                <a:normAutofit/>
              </a:bodyPr>
              <a:lstStyle/>
              <a:p>
                <a:pPr marL="0" indent="0">
                  <a:buNone/>
                </a:pPr>
                <a:r>
                  <a:rPr lang="en-US" b="1" dirty="0"/>
                  <a:t>5</a:t>
                </a:r>
                <a:r>
                  <a:rPr lang="en-US" sz="2400" b="1" dirty="0">
                    <a:latin typeface="Helvetica Neue"/>
                  </a:rPr>
                  <a:t>. LAPLACIAN OF GAUSSIAN (</a:t>
                </a:r>
                <a:r>
                  <a:rPr lang="en-US" sz="2400" b="1" dirty="0" err="1">
                    <a:latin typeface="Helvetica Neue"/>
                  </a:rPr>
                  <a:t>LoG</a:t>
                </a:r>
                <a:r>
                  <a:rPr lang="en-US" sz="2400" b="1" dirty="0">
                    <a:latin typeface="Helvetica Neue"/>
                  </a:rPr>
                  <a:t>)</a:t>
                </a:r>
              </a:p>
              <a:p>
                <a:pPr marL="0" indent="0">
                  <a:buNone/>
                </a:pPr>
                <a:r>
                  <a:rPr lang="en-US" sz="2400" dirty="0" smtClean="0">
                    <a:latin typeface="Helvetica Neue"/>
                  </a:rPr>
                  <a:t>5.1</a:t>
                </a:r>
                <a:r>
                  <a:rPr lang="en-US" sz="2400" dirty="0">
                    <a:latin typeface="Helvetica Neue"/>
                  </a:rPr>
                  <a:t>. Nguyên </a:t>
                </a:r>
                <a:r>
                  <a:rPr lang="en-US" sz="2400" dirty="0" err="1">
                    <a:latin typeface="Helvetica Neue"/>
                  </a:rPr>
                  <a:t>lý</a:t>
                </a:r>
                <a:r>
                  <a:rPr lang="en-US" sz="2400" dirty="0">
                    <a:latin typeface="Helvetica Neue"/>
                  </a:rPr>
                  <a:t> </a:t>
                </a:r>
                <a:r>
                  <a:rPr lang="en-US" sz="2400" dirty="0" err="1">
                    <a:latin typeface="Helvetica Neue"/>
                  </a:rPr>
                  <a:t>hoạt</a:t>
                </a:r>
                <a:r>
                  <a:rPr lang="en-US" sz="2400" dirty="0">
                    <a:latin typeface="Helvetica Neue"/>
                  </a:rPr>
                  <a:t> </a:t>
                </a:r>
                <a:r>
                  <a:rPr lang="en-US" sz="2400" dirty="0" err="1" smtClean="0">
                    <a:latin typeface="Helvetica Neue"/>
                  </a:rPr>
                  <a:t>động</a:t>
                </a:r>
                <a:endParaRPr lang="en-US" sz="2400" dirty="0">
                  <a:latin typeface="Helvetica Neue"/>
                </a:endParaRPr>
              </a:p>
              <a:p>
                <a:pPr marL="0" indent="0">
                  <a:buNone/>
                </a:pPr>
                <a:r>
                  <a:rPr lang="en-US" sz="2400" dirty="0">
                    <a:latin typeface="Helvetica Neue"/>
                  </a:rPr>
                  <a:t>	</a:t>
                </a:r>
                <a:r>
                  <a:rPr lang="en-US" sz="2400" dirty="0" err="1" smtClean="0">
                    <a:latin typeface="Helvetica Neue"/>
                  </a:rPr>
                  <a:t>LoG</a:t>
                </a:r>
                <a:r>
                  <a:rPr lang="en-US" sz="2400" dirty="0" smtClean="0">
                    <a:latin typeface="Helvetica Neue"/>
                  </a:rPr>
                  <a:t> </a:t>
                </a:r>
                <a:r>
                  <a:rPr lang="en-US" sz="2400" dirty="0" err="1">
                    <a:latin typeface="Helvetica Neue"/>
                  </a:rPr>
                  <a:t>kết</a:t>
                </a:r>
                <a:r>
                  <a:rPr lang="en-US" sz="2400" dirty="0">
                    <a:latin typeface="Helvetica Neue"/>
                  </a:rPr>
                  <a:t> </a:t>
                </a:r>
                <a:r>
                  <a:rPr lang="en-US" sz="2400" dirty="0" err="1">
                    <a:latin typeface="Helvetica Neue"/>
                  </a:rPr>
                  <a:t>hợp</a:t>
                </a:r>
                <a:r>
                  <a:rPr lang="en-US" sz="2400" dirty="0">
                    <a:latin typeface="Helvetica Neue"/>
                  </a:rPr>
                  <a:t> Gaussian </a:t>
                </a:r>
                <a:r>
                  <a:rPr lang="en-US" sz="2400" dirty="0" err="1">
                    <a:latin typeface="Helvetica Neue"/>
                  </a:rPr>
                  <a:t>với</a:t>
                </a:r>
                <a:r>
                  <a:rPr lang="en-US" sz="2400" dirty="0">
                    <a:latin typeface="Helvetica Neue"/>
                  </a:rPr>
                  <a:t> Laplacian để </a:t>
                </a:r>
                <a:r>
                  <a:rPr lang="en-US" sz="2400" dirty="0" err="1">
                    <a:latin typeface="Helvetica Neue"/>
                  </a:rPr>
                  <a:t>giảm</a:t>
                </a:r>
                <a:r>
                  <a:rPr lang="en-US" sz="2400" dirty="0">
                    <a:latin typeface="Helvetica Neue"/>
                  </a:rPr>
                  <a:t> </a:t>
                </a:r>
                <a:r>
                  <a:rPr lang="en-US" sz="2400" dirty="0" err="1">
                    <a:latin typeface="Helvetica Neue"/>
                  </a:rPr>
                  <a:t>nhiễu</a:t>
                </a:r>
                <a:r>
                  <a:rPr lang="en-US" sz="2400" dirty="0">
                    <a:latin typeface="Helvetica Neue"/>
                  </a:rPr>
                  <a:t> </a:t>
                </a:r>
                <a:r>
                  <a:rPr lang="en-US" sz="2400" dirty="0" err="1">
                    <a:latin typeface="Helvetica Neue"/>
                  </a:rPr>
                  <a:t>trước</a:t>
                </a:r>
                <a:r>
                  <a:rPr lang="en-US" sz="2400" dirty="0">
                    <a:latin typeface="Helvetica Neue"/>
                  </a:rPr>
                  <a:t> </a:t>
                </a:r>
                <a:r>
                  <a:rPr lang="en-US" sz="2400" dirty="0" err="1">
                    <a:latin typeface="Helvetica Neue"/>
                  </a:rPr>
                  <a:t>khi</a:t>
                </a:r>
                <a:r>
                  <a:rPr lang="en-US" sz="2400" dirty="0">
                    <a:latin typeface="Helvetica Neue"/>
                  </a:rPr>
                  <a:t> phát </a:t>
                </a:r>
                <a:r>
                  <a:rPr lang="en-US" sz="2400" dirty="0" err="1">
                    <a:latin typeface="Helvetica Neue"/>
                  </a:rPr>
                  <a:t>hiện</a:t>
                </a:r>
                <a:r>
                  <a:rPr lang="en-US" sz="2400" dirty="0">
                    <a:latin typeface="Helvetica Neue"/>
                  </a:rPr>
                  <a:t> </a:t>
                </a:r>
                <a:r>
                  <a:rPr lang="en-US" sz="2400" dirty="0" err="1">
                    <a:latin typeface="Helvetica Neue"/>
                  </a:rPr>
                  <a:t>biên</a:t>
                </a:r>
                <a:r>
                  <a:rPr lang="en-US" sz="2400" dirty="0">
                    <a:latin typeface="Helvetica Neue"/>
                  </a:rPr>
                  <a:t>.</a:t>
                </a:r>
              </a:p>
              <a:p>
                <a:pPr marL="0" indent="0">
                  <a:buNone/>
                </a:pPr>
                <a:r>
                  <a:rPr lang="en-US" sz="2400" dirty="0" smtClean="0">
                    <a:latin typeface="Helvetica Neue"/>
                  </a:rPr>
                  <a:t>5.2</a:t>
                </a:r>
                <a:r>
                  <a:rPr lang="en-US" sz="2400" dirty="0">
                    <a:latin typeface="Helvetica Neue"/>
                  </a:rPr>
                  <a:t>. </a:t>
                </a:r>
                <a:r>
                  <a:rPr lang="en-US" sz="2400" dirty="0" err="1">
                    <a:latin typeface="Helvetica Neue"/>
                  </a:rPr>
                  <a:t>Công</a:t>
                </a:r>
                <a:r>
                  <a:rPr lang="en-US" sz="2400" dirty="0">
                    <a:latin typeface="Helvetica Neue"/>
                  </a:rPr>
                  <a:t> </a:t>
                </a:r>
                <a:r>
                  <a:rPr lang="en-US" sz="2400" dirty="0" err="1">
                    <a:latin typeface="Helvetica Neue"/>
                  </a:rPr>
                  <a:t>thức</a:t>
                </a:r>
                <a:r>
                  <a:rPr lang="en-US" sz="2400" dirty="0">
                    <a:latin typeface="Helvetica Neue"/>
                  </a:rPr>
                  <a:t> </a:t>
                </a:r>
                <a:r>
                  <a:rPr lang="en-US" sz="2400" dirty="0" err="1">
                    <a:latin typeface="Helvetica Neue"/>
                  </a:rPr>
                  <a:t>toán</a:t>
                </a:r>
                <a:r>
                  <a:rPr lang="en-US" sz="2400" dirty="0">
                    <a:latin typeface="Helvetica Neue"/>
                  </a:rPr>
                  <a:t> học</a:t>
                </a:r>
              </a:p>
              <a:p>
                <a:pPr marL="0" indent="0">
                  <a:buNone/>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𝐿𝑜𝐺</m:t>
                      </m:r>
                      <m:r>
                        <a:rPr lang="en-US" sz="2400" b="0">
                          <a:latin typeface="Cambria Math" panose="02040503050406030204" pitchFamily="18" charset="0"/>
                        </a:rPr>
                        <m:t>=</m:t>
                      </m:r>
                      <m:sSup>
                        <m:sSupPr>
                          <m:ctrlPr>
                            <a:rPr lang="en-US" sz="2400" i="1">
                              <a:latin typeface="Cambria Math" panose="02040503050406030204" pitchFamily="18" charset="0"/>
                            </a:rPr>
                          </m:ctrlPr>
                        </m:sSupPr>
                        <m:e>
                          <m:r>
                            <a:rPr lang="en-US" sz="2400" b="0">
                              <a:latin typeface="Cambria Math" panose="02040503050406030204" pitchFamily="18" charset="0"/>
                            </a:rPr>
                            <m:t>𝛻</m:t>
                          </m:r>
                        </m:e>
                        <m:sup>
                          <m:r>
                            <a:rPr lang="en-US" sz="2400" b="0" i="1">
                              <a:latin typeface="Cambria Math" panose="02040503050406030204" pitchFamily="18" charset="0"/>
                            </a:rPr>
                            <m:t>2</m:t>
                          </m:r>
                        </m:sup>
                      </m:sSup>
                      <m:d>
                        <m:dPr>
                          <m:ctrlPr>
                            <a:rPr lang="en-US" sz="2400" i="1">
                              <a:latin typeface="Cambria Math" panose="02040503050406030204" pitchFamily="18" charset="0"/>
                            </a:rPr>
                          </m:ctrlPr>
                        </m:dPr>
                        <m:e>
                          <m:r>
                            <a:rPr lang="en-US" sz="2400" b="0" i="1">
                              <a:latin typeface="Cambria Math" panose="02040503050406030204" pitchFamily="18" charset="0"/>
                            </a:rPr>
                            <m:t>𝐺</m:t>
                          </m:r>
                          <m:d>
                            <m:dPr>
                              <m:ctrlPr>
                                <a:rPr lang="en-US" sz="2400" i="1">
                                  <a:latin typeface="Cambria Math" panose="02040503050406030204" pitchFamily="18" charset="0"/>
                                </a:rPr>
                              </m:ctrlPr>
                            </m:dPr>
                            <m:e>
                              <m:r>
                                <a:rPr lang="en-US" sz="2400" b="0" i="1">
                                  <a:latin typeface="Cambria Math" panose="02040503050406030204" pitchFamily="18" charset="0"/>
                                </a:rPr>
                                <m:t>𝑥</m:t>
                              </m:r>
                              <m:r>
                                <a:rPr lang="en-US" sz="2400" b="0">
                                  <a:latin typeface="Cambria Math" panose="02040503050406030204" pitchFamily="18" charset="0"/>
                                </a:rPr>
                                <m:t>,</m:t>
                              </m:r>
                              <m:r>
                                <a:rPr lang="en-US" sz="2400" b="0" i="1">
                                  <a:latin typeface="Cambria Math" panose="02040503050406030204" pitchFamily="18" charset="0"/>
                                </a:rPr>
                                <m:t>𝑦</m:t>
                              </m:r>
                            </m:e>
                          </m:d>
                          <m:r>
                            <a:rPr lang="en-US" sz="2400" b="0" i="1">
                              <a:latin typeface="Cambria Math" panose="02040503050406030204" pitchFamily="18" charset="0"/>
                            </a:rPr>
                            <m:t>∗</m:t>
                          </m:r>
                          <m:r>
                            <a:rPr lang="en-US" sz="2400" b="0" i="1">
                              <a:latin typeface="Cambria Math" panose="02040503050406030204" pitchFamily="18" charset="0"/>
                            </a:rPr>
                            <m:t>𝐼</m:t>
                          </m:r>
                          <m:d>
                            <m:dPr>
                              <m:ctrlPr>
                                <a:rPr lang="en-US" sz="2400" i="1">
                                  <a:latin typeface="Cambria Math" panose="02040503050406030204" pitchFamily="18" charset="0"/>
                                </a:rPr>
                              </m:ctrlPr>
                            </m:dPr>
                            <m:e>
                              <m:r>
                                <a:rPr lang="en-US" sz="2400" b="0" i="1">
                                  <a:latin typeface="Cambria Math" panose="02040503050406030204" pitchFamily="18" charset="0"/>
                                </a:rPr>
                                <m:t>𝑥</m:t>
                              </m:r>
                              <m:r>
                                <a:rPr lang="en-US" sz="2400" b="0">
                                  <a:latin typeface="Cambria Math" panose="02040503050406030204" pitchFamily="18" charset="0"/>
                                </a:rPr>
                                <m:t>,</m:t>
                              </m:r>
                              <m:r>
                                <a:rPr lang="en-US" sz="2400" b="0" i="1">
                                  <a:latin typeface="Cambria Math" panose="02040503050406030204" pitchFamily="18" charset="0"/>
                                </a:rPr>
                                <m:t>𝑦</m:t>
                              </m:r>
                            </m:e>
                          </m:d>
                        </m:e>
                      </m:d>
                    </m:oMath>
                  </m:oMathPara>
                </a14:m>
                <a:endParaRPr lang="en-US" sz="2400" dirty="0">
                  <a:latin typeface="Helvetica Neue"/>
                </a:endParaRPr>
              </a:p>
              <a:p>
                <a:pPr marL="0" indent="0">
                  <a:buNone/>
                </a:pPr>
                <a:r>
                  <a:rPr lang="en-US" sz="2400" dirty="0" smtClean="0">
                    <a:latin typeface="Helvetica Neue"/>
                  </a:rPr>
                  <a:t>5.3</a:t>
                </a:r>
                <a:r>
                  <a:rPr lang="en-US" sz="2400" dirty="0">
                    <a:latin typeface="Helvetica Neue"/>
                  </a:rPr>
                  <a:t>. </a:t>
                </a:r>
                <a:r>
                  <a:rPr lang="en-US" sz="2400" dirty="0" err="1">
                    <a:latin typeface="Helvetica Neue"/>
                  </a:rPr>
                  <a:t>Mặt</a:t>
                </a:r>
                <a:r>
                  <a:rPr lang="en-US" sz="2400" dirty="0">
                    <a:latin typeface="Helvetica Neue"/>
                  </a:rPr>
                  <a:t> </a:t>
                </a:r>
                <a:r>
                  <a:rPr lang="en-US" sz="2400" dirty="0" err="1">
                    <a:latin typeface="Helvetica Neue"/>
                  </a:rPr>
                  <a:t>nạ</a:t>
                </a:r>
                <a:r>
                  <a:rPr lang="en-US" sz="2400" dirty="0">
                    <a:latin typeface="Helvetica Neue"/>
                  </a:rPr>
                  <a:t> </a:t>
                </a:r>
                <a:r>
                  <a:rPr lang="en-US" sz="2400" dirty="0" err="1">
                    <a:latin typeface="Helvetica Neue"/>
                  </a:rPr>
                  <a:t>LoG</a:t>
                </a:r>
                <a:r>
                  <a:rPr lang="en-US" sz="2400" dirty="0">
                    <a:latin typeface="Helvetica Neue"/>
                  </a:rPr>
                  <a:t> 5×5</a:t>
                </a:r>
              </a:p>
              <a:p>
                <a:pPr marL="650229" lvl="1" indent="0">
                  <a:buNone/>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m>
                            <m:mPr>
                              <m:plcHide m:val="on"/>
                              <m:mcs>
                                <m:mc>
                                  <m:mcPr>
                                    <m:count m:val="5"/>
                                    <m:mcJc m:val="center"/>
                                  </m:mcPr>
                                </m:mc>
                              </m:mcs>
                              <m:ctrlPr>
                                <a:rPr lang="en-US" sz="2400" i="1">
                                  <a:latin typeface="Cambria Math" panose="02040503050406030204" pitchFamily="18" charset="0"/>
                                </a:rPr>
                              </m:ctrlPr>
                            </m:mPr>
                            <m:mr>
                              <m:e>
                                <m:r>
                                  <a:rPr lang="en-US" sz="2400" b="0" i="1">
                                    <a:latin typeface="Cambria Math" panose="02040503050406030204" pitchFamily="18" charset="0"/>
                                  </a:rPr>
                                  <m:t>0</m:t>
                                </m:r>
                              </m:e>
                              <m:e>
                                <m:r>
                                  <a:rPr lang="en-US" sz="2400" b="0" i="1">
                                    <a:latin typeface="Cambria Math" panose="02040503050406030204" pitchFamily="18" charset="0"/>
                                  </a:rPr>
                                  <m:t>0</m:t>
                                </m:r>
                              </m:e>
                              <m:e>
                                <m:r>
                                  <a:rPr lang="en-US" sz="2400" b="0" i="1">
                                    <a:latin typeface="Cambria Math" panose="02040503050406030204" pitchFamily="18" charset="0"/>
                                  </a:rPr>
                                  <m:t>1</m:t>
                                </m:r>
                              </m:e>
                              <m:e>
                                <m:r>
                                  <a:rPr lang="en-US" sz="2400" b="0" i="1">
                                    <a:latin typeface="Cambria Math" panose="02040503050406030204" pitchFamily="18" charset="0"/>
                                  </a:rPr>
                                  <m:t>0</m:t>
                                </m:r>
                              </m:e>
                              <m:e>
                                <m:r>
                                  <a:rPr lang="en-US" sz="2400" b="0" i="1">
                                    <a:latin typeface="Cambria Math" panose="02040503050406030204" pitchFamily="18" charset="0"/>
                                  </a:rPr>
                                  <m:t>0</m:t>
                                </m:r>
                              </m:e>
                            </m:mr>
                            <m:mr>
                              <m:e>
                                <m:r>
                                  <a:rPr lang="en-US" sz="2400" b="0" i="1">
                                    <a:latin typeface="Cambria Math" panose="02040503050406030204" pitchFamily="18" charset="0"/>
                                  </a:rPr>
                                  <m:t>0</m:t>
                                </m:r>
                              </m:e>
                              <m:e>
                                <m:r>
                                  <a:rPr lang="en-US" sz="2400" b="0" i="1">
                                    <a:latin typeface="Cambria Math" panose="02040503050406030204" pitchFamily="18" charset="0"/>
                                  </a:rPr>
                                  <m:t>1</m:t>
                                </m:r>
                              </m:e>
                              <m:e>
                                <m:r>
                                  <a:rPr lang="en-US" sz="2400" b="0" i="1">
                                    <a:latin typeface="Cambria Math" panose="02040503050406030204" pitchFamily="18" charset="0"/>
                                  </a:rPr>
                                  <m:t>2</m:t>
                                </m:r>
                              </m:e>
                              <m:e>
                                <m:r>
                                  <a:rPr lang="en-US" sz="2400" b="0" i="1">
                                    <a:latin typeface="Cambria Math" panose="02040503050406030204" pitchFamily="18" charset="0"/>
                                  </a:rPr>
                                  <m:t>1</m:t>
                                </m:r>
                              </m:e>
                              <m:e>
                                <m:r>
                                  <a:rPr lang="en-US" sz="2400" b="0" i="1">
                                    <a:latin typeface="Cambria Math" panose="02040503050406030204" pitchFamily="18" charset="0"/>
                                  </a:rPr>
                                  <m:t>0</m:t>
                                </m:r>
                              </m:e>
                            </m:mr>
                            <m:mr>
                              <m:e>
                                <m:r>
                                  <a:rPr lang="en-US" sz="2400" b="0" i="1">
                                    <a:latin typeface="Cambria Math" panose="02040503050406030204" pitchFamily="18" charset="0"/>
                                  </a:rPr>
                                  <m:t>1</m:t>
                                </m:r>
                              </m:e>
                              <m:e>
                                <m:r>
                                  <a:rPr lang="en-US" sz="2400" b="0" i="1">
                                    <a:latin typeface="Cambria Math" panose="02040503050406030204" pitchFamily="18" charset="0"/>
                                  </a:rPr>
                                  <m:t>2</m:t>
                                </m:r>
                              </m:e>
                              <m:e>
                                <m:r>
                                  <a:rPr lang="en-US" sz="2400" b="0" i="1">
                                    <a:latin typeface="Cambria Math" panose="02040503050406030204" pitchFamily="18" charset="0"/>
                                  </a:rPr>
                                  <m:t>−16</m:t>
                                </m:r>
                              </m:e>
                              <m:e>
                                <m:r>
                                  <a:rPr lang="en-US" sz="2400" b="0" i="1">
                                    <a:latin typeface="Cambria Math" panose="02040503050406030204" pitchFamily="18" charset="0"/>
                                  </a:rPr>
                                  <m:t>2</m:t>
                                </m:r>
                              </m:e>
                              <m:e>
                                <m:r>
                                  <a:rPr lang="en-US" sz="2400" b="0" i="1">
                                    <a:latin typeface="Cambria Math" panose="02040503050406030204" pitchFamily="18" charset="0"/>
                                  </a:rPr>
                                  <m:t>1</m:t>
                                </m:r>
                              </m:e>
                            </m:mr>
                            <m:mr>
                              <m:e>
                                <m:r>
                                  <a:rPr lang="en-US" sz="2400" b="0" i="1">
                                    <a:latin typeface="Cambria Math" panose="02040503050406030204" pitchFamily="18" charset="0"/>
                                  </a:rPr>
                                  <m:t>0</m:t>
                                </m:r>
                              </m:e>
                              <m:e>
                                <m:r>
                                  <a:rPr lang="en-US" sz="2400" b="0" i="1">
                                    <a:latin typeface="Cambria Math" panose="02040503050406030204" pitchFamily="18" charset="0"/>
                                  </a:rPr>
                                  <m:t>1</m:t>
                                </m:r>
                              </m:e>
                              <m:e>
                                <m:r>
                                  <a:rPr lang="en-US" sz="2400" b="0" i="1">
                                    <a:latin typeface="Cambria Math" panose="02040503050406030204" pitchFamily="18" charset="0"/>
                                  </a:rPr>
                                  <m:t>2</m:t>
                                </m:r>
                              </m:e>
                              <m:e>
                                <m:r>
                                  <a:rPr lang="en-US" sz="2400" b="0" i="1">
                                    <a:latin typeface="Cambria Math" panose="02040503050406030204" pitchFamily="18" charset="0"/>
                                  </a:rPr>
                                  <m:t>1</m:t>
                                </m:r>
                              </m:e>
                              <m:e>
                                <m:r>
                                  <a:rPr lang="en-US" sz="2400" b="0" i="1">
                                    <a:latin typeface="Cambria Math" panose="02040503050406030204" pitchFamily="18" charset="0"/>
                                  </a:rPr>
                                  <m:t>0</m:t>
                                </m:r>
                              </m:e>
                            </m:mr>
                            <m:mr>
                              <m:e>
                                <m:r>
                                  <a:rPr lang="en-US" sz="2400" b="0" i="1">
                                    <a:latin typeface="Cambria Math" panose="02040503050406030204" pitchFamily="18" charset="0"/>
                                  </a:rPr>
                                  <m:t>0</m:t>
                                </m:r>
                              </m:e>
                              <m:e>
                                <m:r>
                                  <a:rPr lang="en-US" sz="2400" b="0" i="1">
                                    <a:latin typeface="Cambria Math" panose="02040503050406030204" pitchFamily="18" charset="0"/>
                                  </a:rPr>
                                  <m:t>0</m:t>
                                </m:r>
                              </m:e>
                              <m:e>
                                <m:r>
                                  <a:rPr lang="en-US" sz="2400" b="0" i="1">
                                    <a:latin typeface="Cambria Math" panose="02040503050406030204" pitchFamily="18" charset="0"/>
                                  </a:rPr>
                                  <m:t>1</m:t>
                                </m:r>
                              </m:e>
                              <m:e>
                                <m:r>
                                  <a:rPr lang="en-US" sz="2400" b="0" i="1">
                                    <a:latin typeface="Cambria Math" panose="02040503050406030204" pitchFamily="18" charset="0"/>
                                  </a:rPr>
                                  <m:t>0</m:t>
                                </m:r>
                              </m:e>
                              <m:e>
                                <m:r>
                                  <a:rPr lang="en-US" sz="2400" b="0" i="1">
                                    <a:latin typeface="Cambria Math" panose="02040503050406030204" pitchFamily="18" charset="0"/>
                                  </a:rPr>
                                  <m:t>0</m:t>
                                </m:r>
                              </m:e>
                            </m:mr>
                          </m:m>
                        </m:e>
                      </m:d>
                    </m:oMath>
                  </m:oMathPara>
                </a14:m>
                <a:endParaRPr lang="en-US" sz="2400" dirty="0">
                  <a:latin typeface="Helvetica Neue"/>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657350" y="2228850"/>
                <a:ext cx="10480464" cy="7067549"/>
              </a:xfrm>
              <a:blipFill>
                <a:blip r:embed="rId2"/>
                <a:stretch>
                  <a:fillRect l="-1047" t="-777" r="-582"/>
                </a:stretch>
              </a:blipFill>
            </p:spPr>
            <p:txBody>
              <a:bodyPr/>
              <a:lstStyle/>
              <a:p>
                <a:r>
                  <a:rPr lang="en-US">
                    <a:noFill/>
                  </a:rPr>
                  <a:t> </a:t>
                </a:r>
              </a:p>
            </p:txBody>
          </p:sp>
        </mc:Fallback>
      </mc:AlternateContent>
    </p:spTree>
    <p:extLst>
      <p:ext uri="{BB962C8B-B14F-4D97-AF65-F5344CB8AC3E}">
        <p14:creationId xmlns:p14="http://schemas.microsoft.com/office/powerpoint/2010/main" val="2859818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08309" y="129583"/>
            <a:ext cx="11888003" cy="1187774"/>
          </a:xfrm>
        </p:spPr>
        <p:txBody>
          <a:bodyPr>
            <a:normAutofit/>
          </a:bodyPr>
          <a:lstStyle/>
          <a:p>
            <a:pPr algn="ctr"/>
            <a:r>
              <a:rPr lang="en-US" sz="5400" b="1" dirty="0" err="1" smtClean="0">
                <a:latin typeface="Helvetica Neue"/>
              </a:rPr>
              <a:t>Dò</a:t>
            </a:r>
            <a:r>
              <a:rPr lang="en-US" sz="5400" b="1" dirty="0" smtClean="0">
                <a:latin typeface="Helvetica Neue"/>
              </a:rPr>
              <a:t> </a:t>
            </a:r>
            <a:r>
              <a:rPr lang="en-US" sz="5400" b="1" dirty="0" err="1" smtClean="0">
                <a:latin typeface="Helvetica Neue"/>
              </a:rPr>
              <a:t>biên</a:t>
            </a:r>
            <a:r>
              <a:rPr lang="en-US" sz="5400" b="1" dirty="0" smtClean="0">
                <a:latin typeface="Helvetica Neue"/>
              </a:rPr>
              <a:t> </a:t>
            </a:r>
            <a:r>
              <a:rPr lang="en-US" sz="5400" b="1" dirty="0" err="1" smtClean="0">
                <a:latin typeface="Helvetica Neue"/>
              </a:rPr>
              <a:t>bằng</a:t>
            </a:r>
            <a:r>
              <a:rPr lang="en-US" sz="5400" b="1" dirty="0" smtClean="0">
                <a:latin typeface="Helvetica Neue"/>
              </a:rPr>
              <a:t> </a:t>
            </a:r>
            <a:r>
              <a:rPr lang="en-US" sz="5400" b="1" dirty="0" err="1" smtClean="0">
                <a:latin typeface="Helvetica Neue"/>
              </a:rPr>
              <a:t>quy</a:t>
            </a:r>
            <a:r>
              <a:rPr lang="en-US" sz="5400" b="1" dirty="0" smtClean="0">
                <a:latin typeface="Helvetica Neue"/>
              </a:rPr>
              <a:t> </a:t>
            </a:r>
            <a:r>
              <a:rPr lang="en-US" sz="5400" b="1" dirty="0" err="1" smtClean="0">
                <a:latin typeface="Helvetica Neue"/>
              </a:rPr>
              <a:t>hoạch</a:t>
            </a:r>
            <a:r>
              <a:rPr lang="en-US" sz="5400" b="1" dirty="0" smtClean="0">
                <a:latin typeface="Helvetica Neue"/>
              </a:rPr>
              <a:t> </a:t>
            </a:r>
            <a:r>
              <a:rPr lang="en-US" sz="5400" b="1" dirty="0" err="1" smtClean="0">
                <a:latin typeface="Helvetica Neue"/>
              </a:rPr>
              <a:t>động</a:t>
            </a:r>
            <a:endParaRPr lang="en-US" sz="5400" b="1" dirty="0">
              <a:latin typeface="Helvetica Neue"/>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9269" y="2419350"/>
            <a:ext cx="4821931" cy="5657850"/>
          </a:xfrm>
          <a:prstGeom prst="rect">
            <a:avLst/>
          </a:prstGeom>
        </p:spPr>
      </p:pic>
      <p:sp>
        <p:nvSpPr>
          <p:cNvPr id="3" name="TextBox 2"/>
          <p:cNvSpPr txBox="1"/>
          <p:nvPr/>
        </p:nvSpPr>
        <p:spPr>
          <a:xfrm>
            <a:off x="6610350" y="2247900"/>
            <a:ext cx="5943600" cy="6001643"/>
          </a:xfrm>
          <a:prstGeom prst="rect">
            <a:avLst/>
          </a:prstGeom>
          <a:noFill/>
        </p:spPr>
        <p:txBody>
          <a:bodyPr wrap="square" rtlCol="0">
            <a:spAutoFit/>
          </a:bodyPr>
          <a:lstStyle/>
          <a:p>
            <a:pPr algn="l"/>
            <a:r>
              <a:rPr lang="vi-VN" b="0" dirty="0"/>
              <a:t>Dò biên bằng quy hoạch động là một phương pháp tối ưu hóa giúp tìm đường biên của đối tượng trong ảnh bằng cách chia bài toán lớn thành các bài toán con nhỏ hơn và giải quyết chúng một cách hiệu quả. </a:t>
            </a:r>
            <a:endParaRPr lang="en-US" b="0" dirty="0" smtClean="0"/>
          </a:p>
          <a:p>
            <a:pPr algn="l"/>
            <a:endParaRPr lang="en-US" b="0" dirty="0" smtClean="0"/>
          </a:p>
          <a:p>
            <a:pPr algn="l"/>
            <a:r>
              <a:rPr lang="vi-VN" b="0" dirty="0" smtClean="0"/>
              <a:t>Phương </a:t>
            </a:r>
            <a:r>
              <a:rPr lang="vi-VN" b="0" dirty="0"/>
              <a:t>pháp này coi các điểm ảnh như các nút trong một đồ thị, trong đó trọng số cạnh giữa các nút được xác định dựa trên giá trị pixel hoặc gradient. </a:t>
            </a:r>
            <a:endParaRPr lang="en-US" b="0" dirty="0" smtClean="0"/>
          </a:p>
          <a:p>
            <a:pPr algn="l"/>
            <a:endParaRPr lang="en-US" b="0" dirty="0" smtClean="0"/>
          </a:p>
          <a:p>
            <a:pPr algn="l"/>
            <a:r>
              <a:rPr lang="vi-VN" b="0" dirty="0" smtClean="0"/>
              <a:t>Bằng </a:t>
            </a:r>
            <a:r>
              <a:rPr lang="vi-VN" b="0" dirty="0"/>
              <a:t>cách sử dụng một hàm chi phí, thuật toán sẽ tìm đường đi có tổng chi phí thấp nhất, giúp xác định biên của đối tượng một cách chính xác.</a:t>
            </a:r>
            <a:endParaRPr lang="en-US" b="0" dirty="0"/>
          </a:p>
        </p:txBody>
      </p:sp>
    </p:spTree>
    <p:extLst>
      <p:ext uri="{BB962C8B-B14F-4D97-AF65-F5344CB8AC3E}">
        <p14:creationId xmlns:p14="http://schemas.microsoft.com/office/powerpoint/2010/main" val="303338767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err="1" smtClean="0">
                <a:latin typeface="Helvetica Neue"/>
              </a:rPr>
              <a:t>Mô</a:t>
            </a:r>
            <a:r>
              <a:rPr lang="en-US" sz="5400" b="1" dirty="0" smtClean="0">
                <a:latin typeface="Helvetica Neue"/>
              </a:rPr>
              <a:t> </a:t>
            </a:r>
            <a:r>
              <a:rPr lang="en-US" sz="5400" b="1" dirty="0" err="1" smtClean="0">
                <a:latin typeface="Helvetica Neue"/>
              </a:rPr>
              <a:t>hình</a:t>
            </a:r>
            <a:r>
              <a:rPr lang="en-US" sz="5400" b="1" dirty="0" smtClean="0">
                <a:latin typeface="Helvetica Neue"/>
              </a:rPr>
              <a:t> bài </a:t>
            </a:r>
            <a:r>
              <a:rPr lang="en-US" sz="5400" b="1" dirty="0" err="1" smtClean="0">
                <a:latin typeface="Helvetica Neue"/>
              </a:rPr>
              <a:t>toán</a:t>
            </a:r>
            <a:endParaRPr lang="en-US" sz="5400" b="1" dirty="0">
              <a:latin typeface="Helvetica Neue"/>
            </a:endParaRPr>
          </a:p>
        </p:txBody>
      </p:sp>
      <p:sp>
        <p:nvSpPr>
          <p:cNvPr id="4" name="Rectangle 1"/>
          <p:cNvSpPr>
            <a:spLocks noGrp="1" noChangeArrowheads="1"/>
          </p:cNvSpPr>
          <p:nvPr>
            <p:ph idx="1"/>
          </p:nvPr>
        </p:nvSpPr>
        <p:spPr bwMode="auto">
          <a:xfrm>
            <a:off x="838497" y="2479673"/>
            <a:ext cx="12344104"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chemeClr val="tx1"/>
                </a:solidFill>
                <a:effectLst/>
                <a:latin typeface="Helvetica Neue"/>
              </a:rPr>
              <a:t>Ảnh</a:t>
            </a:r>
            <a:r>
              <a:rPr kumimoji="0" lang="en-US" altLang="en-US" sz="2400" b="0" i="0" u="none" strike="noStrike" cap="none" normalizeH="0" baseline="0" dirty="0" smtClean="0">
                <a:ln>
                  <a:noFill/>
                </a:ln>
                <a:solidFill>
                  <a:schemeClr val="tx1"/>
                </a:solidFill>
                <a:effectLst/>
                <a:latin typeface="Helvetica Neue"/>
              </a:rPr>
              <a:t> đầu vào là </a:t>
            </a:r>
            <a:r>
              <a:rPr kumimoji="0" lang="en-US" altLang="en-US" sz="2400" b="0" i="0" u="none" strike="noStrike" cap="none" normalizeH="0" baseline="0" dirty="0" err="1" smtClean="0">
                <a:ln>
                  <a:noFill/>
                </a:ln>
                <a:solidFill>
                  <a:schemeClr val="tx1"/>
                </a:solidFill>
                <a:effectLst/>
                <a:latin typeface="Helvetica Neue"/>
              </a:rPr>
              <a:t>ảnh</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xám</a:t>
            </a:r>
            <a:r>
              <a:rPr kumimoji="0" lang="en-US" altLang="en-US" sz="2400" b="0" i="0" u="none" strike="noStrike" cap="none" normalizeH="0" baseline="0" dirty="0" smtClean="0">
                <a:ln>
                  <a:noFill/>
                </a:ln>
                <a:solidFill>
                  <a:schemeClr val="tx1"/>
                </a:solidFill>
                <a:effectLst/>
                <a:latin typeface="Helvetica Neue"/>
              </a:rPr>
              <a:t> I(</a:t>
            </a:r>
            <a:r>
              <a:rPr kumimoji="0" lang="en-US" altLang="en-US" sz="2400" b="0" i="0" u="none" strike="noStrike" cap="none" normalizeH="0" baseline="0" dirty="0" err="1" smtClean="0">
                <a:ln>
                  <a:noFill/>
                </a:ln>
                <a:solidFill>
                  <a:schemeClr val="tx1"/>
                </a:solidFill>
                <a:effectLst/>
                <a:latin typeface="Helvetica Neue"/>
              </a:rPr>
              <a:t>x,y</a:t>
            </a:r>
            <a:r>
              <a:rPr kumimoji="0" lang="en-US" altLang="en-US" sz="2400" b="0" i="0" u="none" strike="noStrike" cap="none" normalizeH="0" baseline="0" dirty="0" smtClean="0">
                <a:ln>
                  <a:noFill/>
                </a:ln>
                <a:solidFill>
                  <a:schemeClr val="tx1"/>
                </a:solidFill>
                <a:effectLst/>
                <a:latin typeface="Helvetica Neue"/>
              </a:rPr>
              <a:t>)</a:t>
            </a:r>
            <a:r>
              <a:rPr lang="en-US" altLang="en-US" sz="2400" dirty="0">
                <a:solidFill>
                  <a:schemeClr val="tx1"/>
                </a:solidFill>
                <a:latin typeface="Helvetica Neue"/>
              </a:rPr>
              <a:t> </a:t>
            </a:r>
            <a:r>
              <a:rPr kumimoji="0" lang="en-US" altLang="en-US" sz="2400" b="0" i="0" u="none" strike="noStrike" cap="none" normalizeH="0" baseline="0" dirty="0" smtClean="0">
                <a:ln>
                  <a:noFill/>
                </a:ln>
                <a:solidFill>
                  <a:schemeClr val="tx1"/>
                </a:solidFill>
                <a:effectLst/>
                <a:latin typeface="Helvetica Neue"/>
              </a:rPr>
              <a:t>có </a:t>
            </a:r>
            <a:r>
              <a:rPr kumimoji="0" lang="en-US" altLang="en-US" sz="2400" b="0" i="0" u="none" strike="noStrike" cap="none" normalizeH="0" baseline="0" dirty="0" err="1" smtClean="0">
                <a:ln>
                  <a:noFill/>
                </a:ln>
                <a:solidFill>
                  <a:schemeClr val="tx1"/>
                </a:solidFill>
                <a:effectLst/>
                <a:latin typeface="Helvetica Neue"/>
              </a:rPr>
              <a:t>kích</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thước</a:t>
            </a:r>
            <a:r>
              <a:rPr kumimoji="0" lang="en-US" altLang="en-US" sz="2400" b="0" i="0" u="none" strike="noStrike" cap="none" normalizeH="0" baseline="0" dirty="0" smtClean="0">
                <a:ln>
                  <a:noFill/>
                </a:ln>
                <a:solidFill>
                  <a:schemeClr val="tx1"/>
                </a:solidFill>
                <a:effectLst/>
                <a:latin typeface="Helvetica Neue"/>
              </a:rPr>
              <a:t> M×N.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chemeClr val="tx1"/>
                </a:solidFill>
                <a:effectLst/>
                <a:latin typeface="Helvetica Neue"/>
              </a:rPr>
              <a:t>Mục</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tiêu</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Xác</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định</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đường</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biên</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từ</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cột</a:t>
            </a:r>
            <a:r>
              <a:rPr kumimoji="0" lang="en-US" altLang="en-US" sz="2400" b="0" i="0" u="none" strike="noStrike" cap="none" normalizeH="0" baseline="0" dirty="0" smtClean="0">
                <a:ln>
                  <a:noFill/>
                </a:ln>
                <a:solidFill>
                  <a:schemeClr val="tx1"/>
                </a:solidFill>
                <a:effectLst/>
                <a:latin typeface="Helvetica Neue"/>
              </a:rPr>
              <a:t> đầu tiên </a:t>
            </a:r>
            <a:r>
              <a:rPr kumimoji="0" lang="en-US" altLang="en-US" sz="2400" b="0" i="0" u="none" strike="noStrike" cap="none" normalizeH="0" baseline="0" dirty="0" err="1" smtClean="0">
                <a:ln>
                  <a:noFill/>
                </a:ln>
                <a:solidFill>
                  <a:schemeClr val="tx1"/>
                </a:solidFill>
                <a:effectLst/>
                <a:latin typeface="Helvetica Neue"/>
              </a:rPr>
              <a:t>đến</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cột</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cuối</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cùng</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sao</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cho</a:t>
            </a:r>
            <a:r>
              <a:rPr kumimoji="0" lang="en-US" altLang="en-US" sz="2400" b="0" i="0" u="none" strike="noStrike" cap="none" normalizeH="0" baseline="0" dirty="0" smtClean="0">
                <a:ln>
                  <a:noFill/>
                </a:ln>
                <a:solidFill>
                  <a:schemeClr val="tx1"/>
                </a:solidFill>
                <a:effectLst/>
                <a:latin typeface="Helvetica Neue"/>
              </a:rPr>
              <a:t> có </a:t>
            </a:r>
            <a:r>
              <a:rPr kumimoji="0" lang="en-US" altLang="en-US" sz="2400" b="0" i="0" u="none" strike="noStrike" cap="none" normalizeH="0" baseline="0" dirty="0" err="1" smtClean="0">
                <a:ln>
                  <a:noFill/>
                </a:ln>
                <a:solidFill>
                  <a:schemeClr val="tx1"/>
                </a:solidFill>
                <a:effectLst/>
                <a:latin typeface="Helvetica Neue"/>
              </a:rPr>
              <a:t>độ</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tương</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phản</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cao</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nhất</a:t>
            </a:r>
            <a:r>
              <a:rPr kumimoji="0" lang="en-US" altLang="en-US" sz="2400" b="0" i="0" u="none" strike="noStrike" cap="none" normalizeH="0" baseline="0" dirty="0" smtClean="0">
                <a:ln>
                  <a:noFill/>
                </a:ln>
                <a:solidFill>
                  <a:schemeClr val="tx1"/>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err="1" smtClean="0">
                <a:ln>
                  <a:noFill/>
                </a:ln>
                <a:solidFill>
                  <a:schemeClr val="tx1"/>
                </a:solidFill>
                <a:effectLst/>
                <a:latin typeface="Helvetica Neue"/>
              </a:rPr>
              <a:t>Hàm</a:t>
            </a:r>
            <a:r>
              <a:rPr kumimoji="0" lang="en-US" altLang="en-US" sz="2400" b="0" i="0" u="none" strike="noStrike" cap="none" normalizeH="0" baseline="0" dirty="0" smtClean="0">
                <a:ln>
                  <a:noFill/>
                </a:ln>
                <a:solidFill>
                  <a:schemeClr val="tx1"/>
                </a:solidFill>
                <a:effectLst/>
                <a:latin typeface="Helvetica Neue"/>
              </a:rPr>
              <a:t> chi </a:t>
            </a:r>
            <a:r>
              <a:rPr kumimoji="0" lang="en-US" altLang="en-US" sz="2400" b="0" i="0" u="none" strike="noStrike" cap="none" normalizeH="0" baseline="0" dirty="0" err="1" smtClean="0">
                <a:ln>
                  <a:noFill/>
                </a:ln>
                <a:solidFill>
                  <a:schemeClr val="tx1"/>
                </a:solidFill>
                <a:effectLst/>
                <a:latin typeface="Helvetica Neue"/>
              </a:rPr>
              <a:t>phí</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được</a:t>
            </a:r>
            <a:r>
              <a:rPr kumimoji="0" lang="en-US" altLang="en-US" sz="2400" b="0" i="0" u="none" strike="noStrike" cap="none" normalizeH="0" baseline="0" dirty="0" smtClean="0">
                <a:ln>
                  <a:noFill/>
                </a:ln>
                <a:solidFill>
                  <a:schemeClr val="tx1"/>
                </a:solidFill>
                <a:effectLst/>
                <a:latin typeface="Helvetica Neue"/>
              </a:rPr>
              <a:t> tính </a:t>
            </a:r>
            <a:r>
              <a:rPr kumimoji="0" lang="en-US" altLang="en-US" sz="2400" b="0" i="0" u="none" strike="noStrike" cap="none" normalizeH="0" baseline="0" dirty="0" err="1" smtClean="0">
                <a:ln>
                  <a:noFill/>
                </a:ln>
                <a:solidFill>
                  <a:schemeClr val="tx1"/>
                </a:solidFill>
                <a:effectLst/>
                <a:latin typeface="Helvetica Neue"/>
              </a:rPr>
              <a:t>theo</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công</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thức</a:t>
            </a:r>
            <a:r>
              <a:rPr kumimoji="0" lang="en-US" altLang="en-US" sz="2400" b="0" i="0" u="none" strike="noStrike" cap="none" normalizeH="0" baseline="0" dirty="0" smtClean="0">
                <a:ln>
                  <a:noFill/>
                </a:ln>
                <a:solidFill>
                  <a:schemeClr val="tx1"/>
                </a:solidFill>
                <a:effectLst/>
                <a:latin typeface="Helvetica Neue"/>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Helvetica Neue"/>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1" i="0" u="none" strike="noStrike" cap="none" normalizeH="0" baseline="0" dirty="0" smtClean="0">
                <a:ln>
                  <a:noFill/>
                </a:ln>
                <a:solidFill>
                  <a:schemeClr val="tx1"/>
                </a:solidFill>
                <a:effectLst/>
                <a:latin typeface="Helvetica Neue"/>
              </a:rPr>
              <a:t>C(</a:t>
            </a:r>
            <a:r>
              <a:rPr kumimoji="0" lang="en-US" altLang="en-US" sz="2400" b="1" i="0" u="none" strike="noStrike" cap="none" normalizeH="0" baseline="0" dirty="0" err="1" smtClean="0">
                <a:ln>
                  <a:noFill/>
                </a:ln>
                <a:solidFill>
                  <a:schemeClr val="tx1"/>
                </a:solidFill>
                <a:effectLst/>
                <a:latin typeface="Helvetica Neue"/>
              </a:rPr>
              <a:t>x,y</a:t>
            </a:r>
            <a:r>
              <a:rPr kumimoji="0" lang="en-US" altLang="en-US" sz="2400" b="1" i="0" u="none" strike="noStrike" cap="none" normalizeH="0" baseline="0" dirty="0" smtClean="0">
                <a:ln>
                  <a:noFill/>
                </a:ln>
                <a:solidFill>
                  <a:schemeClr val="tx1"/>
                </a:solidFill>
                <a:effectLst/>
                <a:latin typeface="Helvetica Neue"/>
              </a:rPr>
              <a:t>)=G(</a:t>
            </a:r>
            <a:r>
              <a:rPr kumimoji="0" lang="en-US" altLang="en-US" sz="2400" b="1" i="0" u="none" strike="noStrike" cap="none" normalizeH="0" baseline="0" dirty="0" err="1" smtClean="0">
                <a:ln>
                  <a:noFill/>
                </a:ln>
                <a:solidFill>
                  <a:schemeClr val="tx1"/>
                </a:solidFill>
                <a:effectLst/>
                <a:latin typeface="Helvetica Neue"/>
              </a:rPr>
              <a:t>x,y</a:t>
            </a:r>
            <a:r>
              <a:rPr kumimoji="0" lang="en-US" altLang="en-US" sz="2400" b="1" i="0" u="none" strike="noStrike" cap="none" normalizeH="0" baseline="0" dirty="0" smtClean="0">
                <a:ln>
                  <a:noFill/>
                </a:ln>
                <a:solidFill>
                  <a:schemeClr val="tx1"/>
                </a:solidFill>
                <a:effectLst/>
                <a:latin typeface="Helvetica Neue"/>
              </a:rPr>
              <a:t>)+min⁡{C(x−1,y−1),C(x−1,y),C(x−1,y+1)}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solidFill>
                  <a:schemeClr val="tx1"/>
                </a:solidFill>
                <a:latin typeface="Helvetica Neue"/>
              </a:rPr>
              <a:t> </a:t>
            </a:r>
            <a:r>
              <a:rPr lang="en-US" altLang="en-US" sz="2400" dirty="0" smtClean="0">
                <a:solidFill>
                  <a:schemeClr val="tx1"/>
                </a:solidFill>
                <a:latin typeface="Helvetica Neue"/>
              </a:rPr>
              <a:t> Trong </a:t>
            </a:r>
            <a:r>
              <a:rPr lang="en-US" altLang="en-US" sz="2400" dirty="0" err="1" smtClean="0">
                <a:solidFill>
                  <a:schemeClr val="tx1"/>
                </a:solidFill>
                <a:latin typeface="Helvetica Neue"/>
              </a:rPr>
              <a:t>đó</a:t>
            </a:r>
            <a:r>
              <a:rPr lang="en-US" altLang="en-US" sz="2400" dirty="0" smtClean="0">
                <a:solidFill>
                  <a:schemeClr val="tx1"/>
                </a:solidFill>
                <a:latin typeface="Helvetica Neue"/>
              </a:rPr>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smtClean="0">
              <a:ln>
                <a:noFill/>
              </a:ln>
              <a:solidFill>
                <a:schemeClr val="tx1"/>
              </a:solidFill>
              <a:effectLst/>
              <a:latin typeface="Helvetica Neue"/>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smtClean="0">
                <a:ln>
                  <a:noFill/>
                </a:ln>
                <a:solidFill>
                  <a:schemeClr val="tx1"/>
                </a:solidFill>
                <a:effectLst/>
                <a:latin typeface="Helvetica Neue"/>
              </a:rPr>
              <a:t>        G(</a:t>
            </a:r>
            <a:r>
              <a:rPr kumimoji="0" lang="en-US" altLang="en-US" sz="2400" b="0" i="0" u="none" strike="noStrike" cap="none" normalizeH="0" baseline="0" dirty="0" err="1" smtClean="0">
                <a:ln>
                  <a:noFill/>
                </a:ln>
                <a:solidFill>
                  <a:schemeClr val="tx1"/>
                </a:solidFill>
                <a:effectLst/>
                <a:latin typeface="Helvetica Neue"/>
              </a:rPr>
              <a:t>x,y</a:t>
            </a:r>
            <a:r>
              <a:rPr kumimoji="0" lang="en-US" altLang="en-US" sz="2400" b="0" i="0" u="none" strike="noStrike" cap="none" normalizeH="0" baseline="0" dirty="0" smtClean="0">
                <a:ln>
                  <a:noFill/>
                </a:ln>
                <a:solidFill>
                  <a:schemeClr val="tx1"/>
                </a:solidFill>
                <a:effectLst/>
                <a:latin typeface="Helvetica Neue"/>
              </a:rPr>
              <a:t>)</a:t>
            </a:r>
            <a:r>
              <a:rPr kumimoji="0" lang="en-US" altLang="en-US" sz="2400" b="0" i="0" u="none" strike="noStrike" cap="none" normalizeH="0" dirty="0" smtClean="0">
                <a:ln>
                  <a:noFill/>
                </a:ln>
                <a:solidFill>
                  <a:schemeClr val="tx1"/>
                </a:solidFill>
                <a:effectLst/>
                <a:latin typeface="Helvetica Neue"/>
              </a:rPr>
              <a:t> </a:t>
            </a:r>
            <a:r>
              <a:rPr kumimoji="0" lang="en-US" altLang="en-US" sz="2400" b="0" i="0" u="none" strike="noStrike" cap="none" normalizeH="0" baseline="0" dirty="0" smtClean="0">
                <a:ln>
                  <a:noFill/>
                </a:ln>
                <a:solidFill>
                  <a:schemeClr val="tx1"/>
                </a:solidFill>
                <a:effectLst/>
                <a:latin typeface="Helvetica Neue"/>
              </a:rPr>
              <a:t>là gradient </a:t>
            </a:r>
            <a:r>
              <a:rPr kumimoji="0" lang="en-US" altLang="en-US" sz="2400" b="0" i="0" u="none" strike="noStrike" cap="none" normalizeH="0" baseline="0" dirty="0" err="1" smtClean="0">
                <a:ln>
                  <a:noFill/>
                </a:ln>
                <a:solidFill>
                  <a:schemeClr val="tx1"/>
                </a:solidFill>
                <a:effectLst/>
                <a:latin typeface="Helvetica Neue"/>
              </a:rPr>
              <a:t>tại</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điểm</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ảnh</a:t>
            </a:r>
            <a:r>
              <a:rPr kumimoji="0" lang="en-US" altLang="en-US" sz="2400" b="0" i="0" u="none" strike="noStrike" cap="none" normalizeH="0" baseline="0" dirty="0" smtClean="0">
                <a:ln>
                  <a:noFill/>
                </a:ln>
                <a:solidFill>
                  <a:schemeClr val="tx1"/>
                </a:solidFill>
                <a:effectLst/>
                <a:latin typeface="Helvetica Neue"/>
              </a:rPr>
              <a:t>, có </a:t>
            </a:r>
            <a:r>
              <a:rPr kumimoji="0" lang="en-US" altLang="en-US" sz="2400" b="0" i="0" u="none" strike="noStrike" cap="none" normalizeH="0" baseline="0" dirty="0" err="1" smtClean="0">
                <a:ln>
                  <a:noFill/>
                </a:ln>
                <a:solidFill>
                  <a:schemeClr val="tx1"/>
                </a:solidFill>
                <a:effectLst/>
                <a:latin typeface="Helvetica Neue"/>
              </a:rPr>
              <a:t>thể</a:t>
            </a:r>
            <a:r>
              <a:rPr kumimoji="0" lang="en-US" altLang="en-US" sz="2400" b="0" i="0" u="none" strike="noStrike" cap="none" normalizeH="0" baseline="0" dirty="0" smtClean="0">
                <a:ln>
                  <a:noFill/>
                </a:ln>
                <a:solidFill>
                  <a:schemeClr val="tx1"/>
                </a:solidFill>
                <a:effectLst/>
                <a:latin typeface="Helvetica Neue"/>
              </a:rPr>
              <a:t> tính </a:t>
            </a:r>
            <a:r>
              <a:rPr kumimoji="0" lang="en-US" altLang="en-US" sz="2400" b="0" i="0" u="none" strike="noStrike" cap="none" normalizeH="0" baseline="0" dirty="0" err="1" smtClean="0">
                <a:ln>
                  <a:noFill/>
                </a:ln>
                <a:solidFill>
                  <a:schemeClr val="tx1"/>
                </a:solidFill>
                <a:effectLst/>
                <a:latin typeface="Helvetica Neue"/>
              </a:rPr>
              <a:t>bằng</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toán</a:t>
            </a:r>
            <a:r>
              <a:rPr kumimoji="0" lang="en-US" altLang="en-US" sz="2400" b="0" i="0" u="none" strike="noStrike" cap="none" normalizeH="0" baseline="0" dirty="0" smtClean="0">
                <a:ln>
                  <a:noFill/>
                </a:ln>
                <a:solidFill>
                  <a:schemeClr val="tx1"/>
                </a:solidFill>
                <a:effectLst/>
                <a:latin typeface="Helvetica Neue"/>
              </a:rPr>
              <a:t> </a:t>
            </a:r>
            <a:r>
              <a:rPr kumimoji="0" lang="en-US" altLang="en-US" sz="2400" b="0" i="0" u="none" strike="noStrike" cap="none" normalizeH="0" baseline="0" dirty="0" err="1" smtClean="0">
                <a:ln>
                  <a:noFill/>
                </a:ln>
                <a:solidFill>
                  <a:schemeClr val="tx1"/>
                </a:solidFill>
                <a:effectLst/>
                <a:latin typeface="Helvetica Neue"/>
              </a:rPr>
              <a:t>tử</a:t>
            </a:r>
            <a:r>
              <a:rPr kumimoji="0" lang="en-US" altLang="en-US" sz="2400" b="0" i="0" u="none" strike="noStrike" cap="none" normalizeH="0" baseline="0" dirty="0" smtClean="0">
                <a:ln>
                  <a:noFill/>
                </a:ln>
                <a:solidFill>
                  <a:schemeClr val="tx1"/>
                </a:solidFill>
                <a:effectLst/>
                <a:latin typeface="Helvetica Neue"/>
              </a:rPr>
              <a:t> Sobel </a:t>
            </a:r>
            <a:r>
              <a:rPr kumimoji="0" lang="en-US" altLang="en-US" sz="2400" b="0" i="0" u="none" strike="noStrike" cap="none" normalizeH="0" baseline="0" dirty="0" err="1" smtClean="0">
                <a:ln>
                  <a:noFill/>
                </a:ln>
                <a:solidFill>
                  <a:schemeClr val="tx1"/>
                </a:solidFill>
                <a:effectLst/>
                <a:latin typeface="Helvetica Neue"/>
              </a:rPr>
              <a:t>hoặc</a:t>
            </a:r>
            <a:r>
              <a:rPr kumimoji="0" lang="en-US" altLang="en-US" sz="2400" b="0" i="0" u="none" strike="noStrike" cap="none" normalizeH="0" baseline="0" dirty="0" smtClean="0">
                <a:ln>
                  <a:noFill/>
                </a:ln>
                <a:solidFill>
                  <a:schemeClr val="tx1"/>
                </a:solidFill>
                <a:effectLst/>
                <a:latin typeface="Helvetica Neue"/>
              </a:rPr>
              <a:t> Laplacian</a:t>
            </a:r>
          </a:p>
          <a:p>
            <a:pPr marR="0" lvl="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smtClean="0">
              <a:ln>
                <a:noFill/>
              </a:ln>
              <a:solidFill>
                <a:schemeClr val="tx1"/>
              </a:solidFill>
              <a:effectLst/>
              <a:latin typeface="Helvetica Neue"/>
            </a:endParaRPr>
          </a:p>
          <a:p>
            <a:pPr marL="0" lvl="0" indent="0" defTabSz="914400" eaLnBrk="0" fontAlgn="base" hangingPunct="0">
              <a:spcBef>
                <a:spcPct val="0"/>
              </a:spcBef>
              <a:spcAft>
                <a:spcPct val="0"/>
              </a:spcAft>
              <a:buClrTx/>
              <a:buNone/>
            </a:pPr>
            <a:r>
              <a:rPr lang="en-US" altLang="en-US" sz="2400" dirty="0" smtClean="0">
                <a:solidFill>
                  <a:schemeClr val="tx1"/>
                </a:solidFill>
                <a:latin typeface="Helvetica Neue"/>
              </a:rPr>
              <a:t> </a:t>
            </a:r>
            <a:r>
              <a:rPr kumimoji="0" lang="en-US" altLang="en-US" sz="2400" b="0" i="0" u="none" strike="noStrike" cap="none" normalizeH="0" baseline="0" dirty="0" smtClean="0">
                <a:ln>
                  <a:noFill/>
                </a:ln>
                <a:solidFill>
                  <a:schemeClr val="tx1"/>
                </a:solidFill>
                <a:effectLst/>
                <a:latin typeface="Helvetica Neue"/>
              </a:rPr>
              <a:t>       </a:t>
            </a:r>
            <a:r>
              <a:rPr lang="vi-VN" altLang="en-US" sz="2400" dirty="0" smtClean="0">
                <a:solidFill>
                  <a:schemeClr val="tx1"/>
                </a:solidFill>
                <a:latin typeface="Helvetica Neue"/>
              </a:rPr>
              <a:t>C(x</a:t>
            </a:r>
            <a:r>
              <a:rPr lang="vi-VN" altLang="en-US" sz="2400" dirty="0">
                <a:solidFill>
                  <a:schemeClr val="tx1"/>
                </a:solidFill>
                <a:latin typeface="Helvetica Neue"/>
              </a:rPr>
              <a:t>−1, y−1), C(x−1, y), C(x−1, y+1) giúp chọn hướng đi tốt nhất từ cột </a:t>
            </a:r>
            <a:r>
              <a:rPr lang="vi-VN" altLang="en-US" sz="2400" dirty="0" smtClean="0">
                <a:solidFill>
                  <a:schemeClr val="tx1"/>
                </a:solidFill>
                <a:latin typeface="Helvetica Neue"/>
              </a:rPr>
              <a:t>trước</a:t>
            </a:r>
            <a:endParaRPr kumimoji="0" lang="en-US" altLang="en-US" sz="1800" b="0" i="0" u="none" strike="noStrike" cap="none" normalizeH="0" baseline="0" dirty="0" smtClean="0">
              <a:ln>
                <a:noFill/>
              </a:ln>
              <a:solidFill>
                <a:schemeClr val="tx1"/>
              </a:solidFill>
              <a:effectLst/>
              <a:latin typeface="Helvetica Neue"/>
            </a:endParaRPr>
          </a:p>
        </p:txBody>
      </p:sp>
    </p:spTree>
    <p:extLst>
      <p:ext uri="{BB962C8B-B14F-4D97-AF65-F5344CB8AC3E}">
        <p14:creationId xmlns:p14="http://schemas.microsoft.com/office/powerpoint/2010/main" val="197961829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008309" y="129582"/>
            <a:ext cx="11888003" cy="1249767"/>
          </a:xfrm>
        </p:spPr>
        <p:txBody>
          <a:bodyPr>
            <a:normAutofit/>
          </a:bodyPr>
          <a:lstStyle/>
          <a:p>
            <a:r>
              <a:rPr lang="en-US" sz="6600" b="1" dirty="0" err="1" smtClean="0">
                <a:latin typeface="Constantia" panose="02030602050306030303" pitchFamily="18" charset="0"/>
              </a:rPr>
              <a:t>Các</a:t>
            </a:r>
            <a:r>
              <a:rPr lang="en-US" sz="6600" b="1" dirty="0" smtClean="0">
                <a:latin typeface="Constantia" panose="02030602050306030303" pitchFamily="18" charset="0"/>
              </a:rPr>
              <a:t> </a:t>
            </a:r>
            <a:r>
              <a:rPr lang="en-US" sz="6600" b="1" dirty="0" err="1" smtClean="0">
                <a:latin typeface="Constantia" panose="02030602050306030303" pitchFamily="18" charset="0"/>
              </a:rPr>
              <a:t>bước</a:t>
            </a:r>
            <a:r>
              <a:rPr lang="en-US" sz="6600" b="1" dirty="0" smtClean="0">
                <a:latin typeface="Constantia" panose="02030602050306030303" pitchFamily="18" charset="0"/>
              </a:rPr>
              <a:t> </a:t>
            </a:r>
            <a:r>
              <a:rPr lang="en-US" sz="6600" b="1" dirty="0" err="1" smtClean="0">
                <a:latin typeface="Constantia" panose="02030602050306030303" pitchFamily="18" charset="0"/>
              </a:rPr>
              <a:t>thực</a:t>
            </a:r>
            <a:r>
              <a:rPr lang="en-US" sz="6600" b="1" dirty="0" smtClean="0">
                <a:latin typeface="Constantia" panose="02030602050306030303" pitchFamily="18" charset="0"/>
              </a:rPr>
              <a:t> </a:t>
            </a:r>
            <a:r>
              <a:rPr lang="en-US" sz="6600" b="1" dirty="0" err="1" smtClean="0">
                <a:latin typeface="Constantia" panose="02030602050306030303" pitchFamily="18" charset="0"/>
              </a:rPr>
              <a:t>hiện</a:t>
            </a:r>
            <a:endParaRPr lang="en-US" sz="6600" b="1" dirty="0">
              <a:latin typeface="Constantia" panose="02030602050306030303" pitchFamily="18" charset="0"/>
            </a:endParaRPr>
          </a:p>
        </p:txBody>
      </p:sp>
      <p:sp>
        <p:nvSpPr>
          <p:cNvPr id="2" name="TextBox 1"/>
          <p:cNvSpPr txBox="1"/>
          <p:nvPr/>
        </p:nvSpPr>
        <p:spPr>
          <a:xfrm>
            <a:off x="1008309" y="2057400"/>
            <a:ext cx="10953750" cy="6740307"/>
          </a:xfrm>
          <a:prstGeom prst="rect">
            <a:avLst/>
          </a:prstGeom>
          <a:noFill/>
        </p:spPr>
        <p:txBody>
          <a:bodyPr wrap="square" rtlCol="0">
            <a:spAutoFit/>
          </a:bodyPr>
          <a:lstStyle/>
          <a:p>
            <a:pPr algn="l"/>
            <a:r>
              <a:rPr lang="vi-VN" dirty="0"/>
              <a:t>Bước 1: Tính toán ma trận </a:t>
            </a:r>
            <a:r>
              <a:rPr lang="vi-VN" dirty="0" smtClean="0"/>
              <a:t>gradient</a:t>
            </a:r>
            <a:endParaRPr lang="vi-VN" b="0" dirty="0"/>
          </a:p>
          <a:p>
            <a:pPr algn="l"/>
            <a:r>
              <a:rPr lang="en-US" b="0" dirty="0" smtClean="0"/>
              <a:t>-</a:t>
            </a:r>
            <a:r>
              <a:rPr lang="vi-VN" b="0" dirty="0" smtClean="0"/>
              <a:t>Dùng </a:t>
            </a:r>
            <a:r>
              <a:rPr lang="vi-VN" b="0" dirty="0"/>
              <a:t>toán tử Sobel hoặc Laplacian để tính toán ma trận gradient </a:t>
            </a:r>
            <a:r>
              <a:rPr lang="vi-VN" b="0" dirty="0" smtClean="0"/>
              <a:t>G(x,y)</a:t>
            </a:r>
            <a:r>
              <a:rPr lang="en-US" b="0" dirty="0" smtClean="0"/>
              <a:t>.</a:t>
            </a:r>
            <a:endParaRPr lang="vi-VN" b="0" dirty="0"/>
          </a:p>
          <a:p>
            <a:pPr algn="l"/>
            <a:r>
              <a:rPr lang="en-US" b="0" dirty="0" smtClean="0"/>
              <a:t>-</a:t>
            </a:r>
            <a:r>
              <a:rPr lang="vi-VN" b="0" dirty="0" smtClean="0"/>
              <a:t>Giá </a:t>
            </a:r>
            <a:r>
              <a:rPr lang="vi-VN" b="0" dirty="0"/>
              <a:t>trị gradient càng lớn, điểm ảnh càng có khả năng nằm trên đường biên</a:t>
            </a:r>
            <a:r>
              <a:rPr lang="vi-VN" b="0" dirty="0" smtClean="0"/>
              <a:t>.</a:t>
            </a:r>
            <a:endParaRPr lang="en-US" b="0" dirty="0" smtClean="0"/>
          </a:p>
          <a:p>
            <a:pPr algn="l"/>
            <a:endParaRPr lang="vi-VN" b="0" dirty="0"/>
          </a:p>
          <a:p>
            <a:pPr algn="l"/>
            <a:r>
              <a:rPr lang="vi-VN" dirty="0"/>
              <a:t>Bước 2: Xây dựng ma trận chi phí </a:t>
            </a:r>
            <a:r>
              <a:rPr lang="vi-VN" dirty="0" smtClean="0"/>
              <a:t>C(x,y)</a:t>
            </a:r>
            <a:endParaRPr lang="vi-VN" b="0" dirty="0"/>
          </a:p>
          <a:p>
            <a:pPr algn="l"/>
            <a:r>
              <a:rPr lang="en-US" b="0" dirty="0" smtClean="0"/>
              <a:t>-</a:t>
            </a:r>
            <a:r>
              <a:rPr lang="vi-VN" b="0" dirty="0" smtClean="0"/>
              <a:t>Khởi </a:t>
            </a:r>
            <a:r>
              <a:rPr lang="vi-VN" b="0" dirty="0"/>
              <a:t>tạo hàng đầu tiên: </a:t>
            </a:r>
            <a:endParaRPr lang="en-US" b="0" dirty="0" smtClean="0"/>
          </a:p>
          <a:p>
            <a:pPr algn="l"/>
            <a:r>
              <a:rPr lang="en-US" b="0" dirty="0"/>
              <a:t>	</a:t>
            </a:r>
            <a:r>
              <a:rPr lang="vi-VN" b="0" dirty="0" smtClean="0"/>
              <a:t>C(1,y</a:t>
            </a:r>
            <a:r>
              <a:rPr lang="vi-VN" b="0" dirty="0"/>
              <a:t>)=</a:t>
            </a:r>
            <a:r>
              <a:rPr lang="vi-VN" b="0" dirty="0" smtClean="0"/>
              <a:t>G(1,y)</a:t>
            </a:r>
            <a:endParaRPr lang="en-US" b="0" dirty="0" smtClean="0"/>
          </a:p>
          <a:p>
            <a:pPr algn="l"/>
            <a:r>
              <a:rPr lang="en-US" b="0" dirty="0" smtClean="0"/>
              <a:t>-</a:t>
            </a:r>
            <a:r>
              <a:rPr lang="vi-VN" b="0" dirty="0" smtClean="0"/>
              <a:t>Duyệt </a:t>
            </a:r>
            <a:r>
              <a:rPr lang="vi-VN" b="0" dirty="0"/>
              <a:t>qua các hàng từ </a:t>
            </a:r>
            <a:r>
              <a:rPr lang="vi-VN" b="0" dirty="0" smtClean="0"/>
              <a:t>x=2</a:t>
            </a:r>
            <a:r>
              <a:rPr lang="en-US" b="0" dirty="0" smtClean="0"/>
              <a:t> </a:t>
            </a:r>
            <a:r>
              <a:rPr lang="vi-VN" b="0" dirty="0" smtClean="0"/>
              <a:t>đến M, </a:t>
            </a:r>
            <a:r>
              <a:rPr lang="vi-VN" b="0" dirty="0"/>
              <a:t>cập nhật theo công thức quy hoạch </a:t>
            </a:r>
            <a:r>
              <a:rPr lang="vi-VN" b="0" dirty="0" smtClean="0"/>
              <a:t>động</a:t>
            </a:r>
            <a:r>
              <a:rPr lang="en-US" b="0" dirty="0" smtClean="0"/>
              <a:t>:</a:t>
            </a:r>
          </a:p>
          <a:p>
            <a:pPr algn="l"/>
            <a:endParaRPr lang="en-US" b="0" dirty="0" smtClean="0"/>
          </a:p>
          <a:p>
            <a:pPr lvl="0" algn="l"/>
            <a:r>
              <a:rPr lang="en-US" altLang="en-US" dirty="0" smtClean="0">
                <a:solidFill>
                  <a:schemeClr val="tx1"/>
                </a:solidFill>
              </a:rPr>
              <a:t>		C(</a:t>
            </a:r>
            <a:r>
              <a:rPr lang="en-US" altLang="en-US" dirty="0" err="1" smtClean="0">
                <a:solidFill>
                  <a:schemeClr val="tx1"/>
                </a:solidFill>
              </a:rPr>
              <a:t>x,y</a:t>
            </a:r>
            <a:r>
              <a:rPr lang="en-US" altLang="en-US" dirty="0">
                <a:solidFill>
                  <a:schemeClr val="tx1"/>
                </a:solidFill>
              </a:rPr>
              <a:t>)=G(</a:t>
            </a:r>
            <a:r>
              <a:rPr lang="en-US" altLang="en-US" dirty="0" err="1">
                <a:solidFill>
                  <a:schemeClr val="tx1"/>
                </a:solidFill>
              </a:rPr>
              <a:t>x,y</a:t>
            </a:r>
            <a:r>
              <a:rPr lang="en-US" altLang="en-US" dirty="0">
                <a:solidFill>
                  <a:schemeClr val="tx1"/>
                </a:solidFill>
              </a:rPr>
              <a:t>)+min⁡{C(x−1,y−1),C(x−1,y),C(x−1,y+1)} </a:t>
            </a:r>
          </a:p>
          <a:p>
            <a:pPr algn="l"/>
            <a:endParaRPr lang="vi-VN" b="0" dirty="0"/>
          </a:p>
          <a:p>
            <a:pPr algn="l"/>
            <a:r>
              <a:rPr lang="vi-VN" dirty="0"/>
              <a:t>Bước 3: Truy vết đường biên tối </a:t>
            </a:r>
            <a:r>
              <a:rPr lang="vi-VN" dirty="0" smtClean="0"/>
              <a:t>ưu</a:t>
            </a:r>
            <a:endParaRPr lang="vi-VN" dirty="0"/>
          </a:p>
          <a:p>
            <a:pPr algn="l"/>
            <a:r>
              <a:rPr lang="en-US" b="0" dirty="0" smtClean="0"/>
              <a:t>-</a:t>
            </a:r>
            <a:r>
              <a:rPr lang="vi-VN" b="0" dirty="0" smtClean="0"/>
              <a:t>Tìm </a:t>
            </a:r>
            <a:r>
              <a:rPr lang="vi-VN" b="0" dirty="0"/>
              <a:t>giá trị nhỏ nhất ở hàng cuối min</a:t>
            </a:r>
            <a:r>
              <a:rPr lang="vi-VN" b="0" dirty="0" smtClean="0"/>
              <a:t>⁡</a:t>
            </a:r>
            <a:r>
              <a:rPr lang="en-US" b="0" dirty="0" smtClean="0"/>
              <a:t>_y </a:t>
            </a:r>
            <a:r>
              <a:rPr lang="vi-VN" b="0" dirty="0" smtClean="0"/>
              <a:t>C(M,y)</a:t>
            </a:r>
            <a:r>
              <a:rPr lang="en-US" b="0" dirty="0" smtClean="0"/>
              <a:t> </a:t>
            </a:r>
            <a:r>
              <a:rPr lang="vi-VN" b="0" dirty="0" smtClean="0"/>
              <a:t>để </a:t>
            </a:r>
            <a:r>
              <a:rPr lang="vi-VN" b="0" dirty="0"/>
              <a:t>xác định điểm bắt đầu của đường biên.</a:t>
            </a:r>
          </a:p>
          <a:p>
            <a:pPr algn="l"/>
            <a:r>
              <a:rPr lang="en-US" b="0" dirty="0" smtClean="0"/>
              <a:t>-</a:t>
            </a:r>
            <a:r>
              <a:rPr lang="vi-VN" b="0" dirty="0" smtClean="0"/>
              <a:t>Dò </a:t>
            </a:r>
            <a:r>
              <a:rPr lang="vi-VN" b="0" dirty="0"/>
              <a:t>ngược từ hàng </a:t>
            </a:r>
            <a:r>
              <a:rPr lang="vi-VN" b="0" dirty="0" smtClean="0"/>
              <a:t>M </a:t>
            </a:r>
            <a:r>
              <a:rPr lang="vi-VN" b="0" dirty="0"/>
              <a:t>về hàng </a:t>
            </a:r>
            <a:r>
              <a:rPr lang="vi-VN" b="0" dirty="0" smtClean="0"/>
              <a:t>1, </a:t>
            </a:r>
            <a:r>
              <a:rPr lang="vi-VN" b="0" dirty="0"/>
              <a:t>chọn giá trị </a:t>
            </a:r>
            <a:r>
              <a:rPr lang="vi-VN" b="0" dirty="0" smtClean="0"/>
              <a:t>y </a:t>
            </a:r>
            <a:r>
              <a:rPr lang="vi-VN" b="0" dirty="0"/>
              <a:t>có chi phí thấp nhất từ ba ô trước đó.</a:t>
            </a:r>
          </a:p>
          <a:p>
            <a:pPr lvl="0" algn="l" defTabSz="914400" eaLnBrk="0" fontAlgn="base">
              <a:spcBef>
                <a:spcPct val="0"/>
              </a:spcBef>
              <a:spcAft>
                <a:spcPct val="0"/>
              </a:spcAft>
            </a:pPr>
            <a:endParaRPr lang="vi-VN" b="0" dirty="0"/>
          </a:p>
          <a:p>
            <a:pPr marL="457200" lvl="1" indent="0" algn="l" defTabSz="914400" eaLnBrk="0" fontAlgn="base">
              <a:spcBef>
                <a:spcPct val="0"/>
              </a:spcBef>
              <a:spcAft>
                <a:spcPct val="0"/>
              </a:spcAft>
              <a:buFontTx/>
              <a:buChar char="•"/>
            </a:pPr>
            <a:endParaRPr lang="en-US" altLang="en-US" b="0" dirty="0">
              <a:solidFill>
                <a:srgbClr val="1F1F1F"/>
              </a:solidFill>
            </a:endParaRPr>
          </a:p>
        </p:txBody>
      </p:sp>
    </p:spTree>
    <p:extLst>
      <p:ext uri="{BB962C8B-B14F-4D97-AF65-F5344CB8AC3E}">
        <p14:creationId xmlns:p14="http://schemas.microsoft.com/office/powerpoint/2010/main" val="30648185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err="1" smtClean="0">
                <a:latin typeface="Helvetica Neue"/>
              </a:rPr>
              <a:t>Ứng</a:t>
            </a:r>
            <a:r>
              <a:rPr lang="en-US" sz="5400" dirty="0" smtClean="0">
                <a:latin typeface="Helvetica Neue"/>
              </a:rPr>
              <a:t> </a:t>
            </a:r>
            <a:r>
              <a:rPr lang="en-US" sz="5400" dirty="0" err="1" smtClean="0">
                <a:latin typeface="Helvetica Neue"/>
              </a:rPr>
              <a:t>dụng</a:t>
            </a:r>
            <a:endParaRPr lang="en-US" sz="5400" dirty="0">
              <a:latin typeface="Helvetica Neue"/>
            </a:endParaRPr>
          </a:p>
        </p:txBody>
      </p:sp>
      <p:sp>
        <p:nvSpPr>
          <p:cNvPr id="3" name="Content Placeholder 2"/>
          <p:cNvSpPr>
            <a:spLocks noGrp="1"/>
          </p:cNvSpPr>
          <p:nvPr>
            <p:ph idx="1"/>
          </p:nvPr>
        </p:nvSpPr>
        <p:spPr>
          <a:xfrm>
            <a:off x="1504950" y="3034453"/>
            <a:ext cx="10632864" cy="5372618"/>
          </a:xfrm>
        </p:spPr>
        <p:txBody>
          <a:bodyPr>
            <a:normAutofit/>
          </a:bodyPr>
          <a:lstStyle/>
          <a:p>
            <a:r>
              <a:rPr lang="vi-VN" sz="2400" b="1" dirty="0">
                <a:latin typeface="Helvetica Neue"/>
              </a:rPr>
              <a:t>Nhận diện đường bao vật thể</a:t>
            </a:r>
            <a:r>
              <a:rPr lang="vi-VN" sz="2400" dirty="0">
                <a:latin typeface="Helvetica Neue"/>
              </a:rPr>
              <a:t> trong ảnh y khoa, ảnh vệ tinh</a:t>
            </a:r>
            <a:r>
              <a:rPr lang="vi-VN" sz="2400" dirty="0" smtClean="0">
                <a:latin typeface="Helvetica Neue"/>
              </a:rPr>
              <a:t>.</a:t>
            </a:r>
            <a:endParaRPr lang="en-US" sz="2400" dirty="0" smtClean="0">
              <a:latin typeface="Helvetica Neue"/>
            </a:endParaRPr>
          </a:p>
          <a:p>
            <a:pPr marL="0" indent="0">
              <a:buNone/>
            </a:pPr>
            <a:endParaRPr lang="vi-VN" sz="2400" dirty="0">
              <a:latin typeface="Helvetica Neue"/>
            </a:endParaRPr>
          </a:p>
          <a:p>
            <a:r>
              <a:rPr lang="vi-VN" sz="2400" b="1" dirty="0">
                <a:latin typeface="Helvetica Neue"/>
              </a:rPr>
              <a:t>Phát hiện đường trong ảnh giao thông</a:t>
            </a:r>
            <a:r>
              <a:rPr lang="vi-VN" sz="2400" dirty="0">
                <a:latin typeface="Helvetica Neue"/>
              </a:rPr>
              <a:t>, hỗ trợ các hệ thống xe tự hành</a:t>
            </a:r>
            <a:r>
              <a:rPr lang="vi-VN" sz="2400" dirty="0" smtClean="0">
                <a:latin typeface="Helvetica Neue"/>
              </a:rPr>
              <a:t>.</a:t>
            </a:r>
            <a:endParaRPr lang="en-US" sz="2400" dirty="0" smtClean="0">
              <a:latin typeface="Helvetica Neue"/>
            </a:endParaRPr>
          </a:p>
          <a:p>
            <a:pPr marL="0" indent="0">
              <a:buNone/>
            </a:pPr>
            <a:endParaRPr lang="vi-VN" sz="2400" dirty="0">
              <a:latin typeface="Helvetica Neue"/>
            </a:endParaRPr>
          </a:p>
          <a:p>
            <a:r>
              <a:rPr lang="vi-VN" sz="2400" b="1" dirty="0">
                <a:latin typeface="Helvetica Neue"/>
              </a:rPr>
              <a:t>Cải thiện chất lượng dò biên trong ảnh nhiễu</a:t>
            </a:r>
            <a:r>
              <a:rPr lang="vi-VN" sz="2400" dirty="0">
                <a:latin typeface="Helvetica Neue"/>
              </a:rPr>
              <a:t>, vì phương pháp này tìm đường tối ưu thay vì chỉ dựa vào ngưỡng cường độ đơn giản.</a:t>
            </a:r>
          </a:p>
        </p:txBody>
      </p:sp>
    </p:spTree>
    <p:extLst>
      <p:ext uri="{BB962C8B-B14F-4D97-AF65-F5344CB8AC3E}">
        <p14:creationId xmlns:p14="http://schemas.microsoft.com/office/powerpoint/2010/main" val="6275099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0790" y="1996066"/>
            <a:ext cx="12348302" cy="7426903"/>
          </a:xfrm>
        </p:spPr>
        <p:txBody>
          <a:bodyPr>
            <a:normAutofit/>
          </a:bodyPr>
          <a:lstStyle/>
          <a:p>
            <a:pPr marL="0" indent="0">
              <a:buNone/>
            </a:pPr>
            <a:r>
              <a:rPr lang="en-US" sz="2400" b="1" dirty="0" smtClean="0">
                <a:latin typeface="Helvetica Neue"/>
              </a:rPr>
              <a:t>1</a:t>
            </a:r>
            <a:r>
              <a:rPr lang="vi-VN" sz="2400" b="1" dirty="0" smtClean="0">
                <a:latin typeface="Helvetica Neue"/>
              </a:rPr>
              <a:t>. </a:t>
            </a:r>
            <a:r>
              <a:rPr lang="vi-VN" sz="2400" b="1" dirty="0">
                <a:latin typeface="Helvetica Neue"/>
              </a:rPr>
              <a:t>Active Contour Model (Snakes)</a:t>
            </a:r>
          </a:p>
          <a:p>
            <a:pPr marL="0" indent="0">
              <a:buNone/>
            </a:pPr>
            <a:r>
              <a:rPr lang="en-US" sz="2400" dirty="0">
                <a:latin typeface="Helvetica Neue"/>
              </a:rPr>
              <a:t>-</a:t>
            </a:r>
            <a:r>
              <a:rPr lang="vi-VN" sz="2400" dirty="0" smtClean="0">
                <a:latin typeface="Helvetica Neue"/>
              </a:rPr>
              <a:t>Là </a:t>
            </a:r>
            <a:r>
              <a:rPr lang="vi-VN" sz="2400" dirty="0">
                <a:latin typeface="Helvetica Neue"/>
              </a:rPr>
              <a:t>phương pháp tìm đường biên động dựa trên tối ưu hóa năng lượng, trong đó đường biên được mô hình hóa bằng một đường cong co giãn và uốn cong theo đối tượng.</a:t>
            </a:r>
          </a:p>
          <a:p>
            <a:pPr marL="0" indent="0">
              <a:buNone/>
            </a:pPr>
            <a:r>
              <a:rPr lang="en-US" sz="2400" b="1" dirty="0">
                <a:latin typeface="Helvetica Neue"/>
              </a:rPr>
              <a:t>-</a:t>
            </a:r>
            <a:r>
              <a:rPr lang="vi-VN" sz="2400" dirty="0" smtClean="0">
                <a:latin typeface="Helvetica Neue"/>
              </a:rPr>
              <a:t>Quy </a:t>
            </a:r>
            <a:r>
              <a:rPr lang="vi-VN" sz="2400" dirty="0">
                <a:latin typeface="Helvetica Neue"/>
              </a:rPr>
              <a:t>trình hoạt động:</a:t>
            </a:r>
          </a:p>
          <a:p>
            <a:pPr lvl="1"/>
            <a:r>
              <a:rPr lang="vi-VN" sz="2400" dirty="0">
                <a:latin typeface="Helvetica Neue"/>
              </a:rPr>
              <a:t>Khởi tạo một đường cong gần biên đối tượng.</a:t>
            </a:r>
          </a:p>
          <a:p>
            <a:pPr lvl="1"/>
            <a:r>
              <a:rPr lang="vi-VN" sz="2400" dirty="0">
                <a:latin typeface="Helvetica Neue"/>
              </a:rPr>
              <a:t>Tối ưu hóa năng lượng để đường cong di chuyển tới biên thực sự.</a:t>
            </a:r>
          </a:p>
          <a:p>
            <a:pPr lvl="1"/>
            <a:r>
              <a:rPr lang="vi-VN" sz="2400" dirty="0">
                <a:latin typeface="Helvetica Neue"/>
              </a:rPr>
              <a:t>Dừng khi đường biên hội tụ vào cạnh sắc nét của đối tượng.</a:t>
            </a:r>
          </a:p>
          <a:p>
            <a:pPr marL="0" indent="0">
              <a:buNone/>
            </a:pPr>
            <a:r>
              <a:rPr lang="vi-VN" sz="2400" dirty="0" smtClean="0">
                <a:latin typeface="Helvetica Neue"/>
              </a:rPr>
              <a:t>Ưu </a:t>
            </a:r>
            <a:r>
              <a:rPr lang="vi-VN" sz="2400" dirty="0">
                <a:latin typeface="Helvetica Neue"/>
              </a:rPr>
              <a:t>điểm: Mềm dẻo, phù hợp với biên liên tục.</a:t>
            </a:r>
          </a:p>
          <a:p>
            <a:pPr marL="0" indent="0">
              <a:buNone/>
            </a:pPr>
            <a:r>
              <a:rPr lang="vi-VN" sz="2400" dirty="0" smtClean="0">
                <a:latin typeface="Helvetica Neue"/>
              </a:rPr>
              <a:t>Nhược </a:t>
            </a:r>
            <a:r>
              <a:rPr lang="vi-VN" sz="2400" dirty="0">
                <a:latin typeface="Helvetica Neue"/>
              </a:rPr>
              <a:t>điểm: Nhạy cảm với vị trí khởi tạo, khó làm việc với ảnh nhiễu mạnh.</a:t>
            </a:r>
          </a:p>
          <a:p>
            <a:pPr lvl="1">
              <a:buFont typeface="Wingdings" panose="05000000000000000000" pitchFamily="2" charset="2"/>
              <a:buChar char="§"/>
            </a:pPr>
            <a:endParaRPr lang="en-US" sz="3316" dirty="0">
              <a:latin typeface="Constantia" panose="02030602050306030303" pitchFamily="18" charset="0"/>
            </a:endParaRPr>
          </a:p>
        </p:txBody>
      </p:sp>
      <p:sp>
        <p:nvSpPr>
          <p:cNvPr id="4" name="Title 1"/>
          <p:cNvSpPr>
            <a:spLocks noGrp="1"/>
          </p:cNvSpPr>
          <p:nvPr>
            <p:ph type="title"/>
          </p:nvPr>
        </p:nvSpPr>
        <p:spPr>
          <a:xfrm>
            <a:off x="853326" y="129583"/>
            <a:ext cx="11888003" cy="1187774"/>
          </a:xfrm>
        </p:spPr>
        <p:txBody>
          <a:bodyPr>
            <a:normAutofit/>
          </a:bodyPr>
          <a:lstStyle/>
          <a:p>
            <a:pPr algn="ctr"/>
            <a:r>
              <a:rPr lang="en-US" sz="5400" b="1" dirty="0" err="1" smtClean="0">
                <a:latin typeface="Helvetica Neue"/>
              </a:rPr>
              <a:t>Các</a:t>
            </a:r>
            <a:r>
              <a:rPr lang="en-US" sz="5400" b="1" dirty="0" smtClean="0">
                <a:latin typeface="Helvetica Neue"/>
              </a:rPr>
              <a:t> </a:t>
            </a:r>
            <a:r>
              <a:rPr lang="en-US" sz="5400" b="1" dirty="0" err="1" smtClean="0">
                <a:latin typeface="Helvetica Neue"/>
              </a:rPr>
              <a:t>phương</a:t>
            </a:r>
            <a:r>
              <a:rPr lang="en-US" sz="5400" b="1" dirty="0" smtClean="0">
                <a:latin typeface="Helvetica Neue"/>
              </a:rPr>
              <a:t> </a:t>
            </a:r>
            <a:r>
              <a:rPr lang="en-US" sz="5400" b="1" dirty="0" err="1" smtClean="0">
                <a:latin typeface="Helvetica Neue"/>
              </a:rPr>
              <a:t>pháp</a:t>
            </a:r>
            <a:r>
              <a:rPr lang="en-US" sz="5400" b="1" dirty="0" smtClean="0">
                <a:latin typeface="Helvetica Neue"/>
              </a:rPr>
              <a:t> khác</a:t>
            </a:r>
            <a:endParaRPr lang="en-US" sz="5400" b="1" dirty="0">
              <a:latin typeface="Helvetica Neue"/>
            </a:endParaRPr>
          </a:p>
        </p:txBody>
      </p:sp>
    </p:spTree>
    <p:extLst>
      <p:ext uri="{BB962C8B-B14F-4D97-AF65-F5344CB8AC3E}">
        <p14:creationId xmlns:p14="http://schemas.microsoft.com/office/powerpoint/2010/main" val="169951301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2050" y="2114550"/>
            <a:ext cx="11315700" cy="7181850"/>
          </a:xfrm>
        </p:spPr>
        <p:txBody>
          <a:bodyPr>
            <a:normAutofit/>
          </a:bodyPr>
          <a:lstStyle/>
          <a:p>
            <a:pPr marL="0" indent="0">
              <a:buNone/>
            </a:pPr>
            <a:r>
              <a:rPr lang="vi-VN" b="1" dirty="0"/>
              <a:t>2. Graph Cut</a:t>
            </a:r>
          </a:p>
          <a:p>
            <a:pPr marL="0" indent="0">
              <a:buNone/>
            </a:pPr>
            <a:r>
              <a:rPr lang="en-US" dirty="0" smtClean="0"/>
              <a:t>-</a:t>
            </a:r>
            <a:r>
              <a:rPr lang="vi-VN" dirty="0" smtClean="0"/>
              <a:t>Là </a:t>
            </a:r>
            <a:r>
              <a:rPr lang="vi-VN" dirty="0"/>
              <a:t>một phương pháp phân đoạn ảnh dựa trên lý thuyết đồ thị, trong đó mỗi pixel được coi là một nút và có liên kết với các pixel lân cận.</a:t>
            </a:r>
          </a:p>
          <a:p>
            <a:pPr marL="0" indent="0">
              <a:buNone/>
            </a:pPr>
            <a:r>
              <a:rPr lang="en-US" dirty="0" smtClean="0"/>
              <a:t>-</a:t>
            </a:r>
            <a:r>
              <a:rPr lang="vi-VN" dirty="0" smtClean="0"/>
              <a:t>Quy </a:t>
            </a:r>
            <a:r>
              <a:rPr lang="vi-VN" dirty="0"/>
              <a:t>trình hoạt động:</a:t>
            </a:r>
          </a:p>
          <a:p>
            <a:pPr lvl="1"/>
            <a:r>
              <a:rPr lang="vi-VN" dirty="0"/>
              <a:t>Xây dựng đồ thị dựa trên giá trị màu sắc, cường độ hoặc gradient.</a:t>
            </a:r>
          </a:p>
          <a:p>
            <a:pPr lvl="1"/>
            <a:r>
              <a:rPr lang="vi-VN" dirty="0"/>
              <a:t>Xác định điểm nền và điểm đối tượng thông qua gán nhãn sơ bộ.</a:t>
            </a:r>
          </a:p>
          <a:p>
            <a:pPr lvl="1"/>
            <a:r>
              <a:rPr lang="vi-VN" dirty="0"/>
              <a:t>Dùng thuật toán cắt đồ thị (Max-Flow/Min-Cut) để phân đoạn ảnh.</a:t>
            </a:r>
          </a:p>
          <a:p>
            <a:pPr marL="0" indent="0">
              <a:buNone/>
            </a:pPr>
            <a:r>
              <a:rPr lang="en-US" dirty="0" smtClean="0"/>
              <a:t>-</a:t>
            </a:r>
            <a:r>
              <a:rPr lang="vi-VN" dirty="0" smtClean="0"/>
              <a:t>Ưu </a:t>
            </a:r>
            <a:r>
              <a:rPr lang="vi-VN" dirty="0"/>
              <a:t>điểm: Chính xác cao, hoạt động tốt với ảnh có nhiễu.</a:t>
            </a:r>
          </a:p>
          <a:p>
            <a:pPr marL="0" indent="0">
              <a:buNone/>
            </a:pPr>
            <a:r>
              <a:rPr lang="en-US" dirty="0" smtClean="0"/>
              <a:t>-</a:t>
            </a:r>
            <a:r>
              <a:rPr lang="vi-VN" dirty="0" smtClean="0"/>
              <a:t>Nhược </a:t>
            </a:r>
            <a:r>
              <a:rPr lang="vi-VN" dirty="0"/>
              <a:t>điểm: Cần gán nhãn sơ bộ, thuật toán phức tạp.</a:t>
            </a:r>
          </a:p>
          <a:p>
            <a:endParaRPr lang="en-US" dirty="0"/>
          </a:p>
        </p:txBody>
      </p:sp>
    </p:spTree>
    <p:extLst>
      <p:ext uri="{BB962C8B-B14F-4D97-AF65-F5344CB8AC3E}">
        <p14:creationId xmlns:p14="http://schemas.microsoft.com/office/powerpoint/2010/main" val="6544346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2050" y="2114550"/>
            <a:ext cx="11315700" cy="7181850"/>
          </a:xfrm>
        </p:spPr>
        <p:txBody>
          <a:bodyPr>
            <a:normAutofit/>
          </a:bodyPr>
          <a:lstStyle/>
          <a:p>
            <a:pPr marL="0" indent="0">
              <a:buNone/>
            </a:pPr>
            <a:r>
              <a:rPr lang="en-US" b="1" dirty="0" smtClean="0"/>
              <a:t>3</a:t>
            </a:r>
            <a:r>
              <a:rPr lang="vi-VN" b="1" dirty="0" smtClean="0"/>
              <a:t>. </a:t>
            </a:r>
            <a:r>
              <a:rPr lang="en-US" b="1" dirty="0" smtClean="0"/>
              <a:t>Deep Learning trong </a:t>
            </a:r>
            <a:r>
              <a:rPr lang="en-US" b="1" dirty="0" err="1" smtClean="0"/>
              <a:t>xử</a:t>
            </a:r>
            <a:r>
              <a:rPr lang="en-US" b="1" dirty="0" smtClean="0"/>
              <a:t> </a:t>
            </a:r>
            <a:r>
              <a:rPr lang="en-US" b="1" dirty="0" err="1" smtClean="0"/>
              <a:t>lý</a:t>
            </a:r>
            <a:r>
              <a:rPr lang="en-US" b="1" dirty="0" smtClean="0"/>
              <a:t> </a:t>
            </a:r>
            <a:r>
              <a:rPr lang="en-US" b="1" dirty="0" err="1" smtClean="0"/>
              <a:t>ảnh</a:t>
            </a:r>
            <a:endParaRPr lang="en-US" b="1" dirty="0" smtClean="0"/>
          </a:p>
          <a:p>
            <a:pPr marL="0" indent="0">
              <a:buNone/>
            </a:pPr>
            <a:endParaRPr lang="vi-VN" b="1" dirty="0"/>
          </a:p>
          <a:p>
            <a:pPr marL="0" lvl="0" indent="0" defTabSz="914400" eaLnBrk="0" fontAlgn="base" hangingPunct="0">
              <a:spcBef>
                <a:spcPct val="0"/>
              </a:spcBef>
              <a:spcAft>
                <a:spcPct val="0"/>
              </a:spcAft>
              <a:buClrTx/>
              <a:buNone/>
            </a:pPr>
            <a:r>
              <a:rPr lang="en-US" altLang="en-US" sz="2400" dirty="0" smtClean="0">
                <a:solidFill>
                  <a:schemeClr val="tx1"/>
                </a:solidFill>
                <a:latin typeface="Helvetica Neue"/>
              </a:rPr>
              <a:t>-</a:t>
            </a:r>
            <a:r>
              <a:rPr lang="en-US" altLang="en-US" sz="2400" dirty="0" err="1" smtClean="0">
                <a:solidFill>
                  <a:schemeClr val="tx1"/>
                </a:solidFill>
                <a:latin typeface="Helvetica Neue"/>
              </a:rPr>
              <a:t>Sử</a:t>
            </a:r>
            <a:r>
              <a:rPr lang="en-US" altLang="en-US" sz="2400" dirty="0" smtClean="0">
                <a:solidFill>
                  <a:schemeClr val="tx1"/>
                </a:solidFill>
                <a:latin typeface="Helvetica Neue"/>
              </a:rPr>
              <a:t> </a:t>
            </a:r>
            <a:r>
              <a:rPr lang="en-US" altLang="en-US" sz="2400" dirty="0" err="1">
                <a:solidFill>
                  <a:schemeClr val="tx1"/>
                </a:solidFill>
                <a:latin typeface="Helvetica Neue"/>
              </a:rPr>
              <a:t>dụng</a:t>
            </a:r>
            <a:r>
              <a:rPr lang="en-US" altLang="en-US" sz="2400" dirty="0">
                <a:solidFill>
                  <a:schemeClr val="tx1"/>
                </a:solidFill>
                <a:latin typeface="Helvetica Neue"/>
              </a:rPr>
              <a:t> </a:t>
            </a:r>
            <a:r>
              <a:rPr lang="en-US" altLang="en-US" sz="2400" dirty="0" err="1">
                <a:solidFill>
                  <a:schemeClr val="tx1"/>
                </a:solidFill>
                <a:latin typeface="Helvetica Neue"/>
              </a:rPr>
              <a:t>các</a:t>
            </a:r>
            <a:r>
              <a:rPr lang="en-US" altLang="en-US" sz="2400" dirty="0">
                <a:solidFill>
                  <a:schemeClr val="tx1"/>
                </a:solidFill>
                <a:latin typeface="Helvetica Neue"/>
              </a:rPr>
              <a:t> </a:t>
            </a:r>
            <a:r>
              <a:rPr lang="en-US" altLang="en-US" sz="2400" dirty="0" err="1">
                <a:solidFill>
                  <a:schemeClr val="tx1"/>
                </a:solidFill>
                <a:latin typeface="Helvetica Neue"/>
              </a:rPr>
              <a:t>mô</a:t>
            </a:r>
            <a:r>
              <a:rPr lang="en-US" altLang="en-US" sz="2400" dirty="0">
                <a:solidFill>
                  <a:schemeClr val="tx1"/>
                </a:solidFill>
                <a:latin typeface="Helvetica Neue"/>
              </a:rPr>
              <a:t> </a:t>
            </a:r>
            <a:r>
              <a:rPr lang="en-US" altLang="en-US" sz="2400" dirty="0" err="1">
                <a:solidFill>
                  <a:schemeClr val="tx1"/>
                </a:solidFill>
                <a:latin typeface="Helvetica Neue"/>
              </a:rPr>
              <a:t>hình</a:t>
            </a:r>
            <a:r>
              <a:rPr lang="en-US" altLang="en-US" sz="2400" dirty="0">
                <a:solidFill>
                  <a:schemeClr val="tx1"/>
                </a:solidFill>
                <a:latin typeface="Helvetica Neue"/>
              </a:rPr>
              <a:t> </a:t>
            </a:r>
            <a:r>
              <a:rPr lang="en-US" altLang="en-US" sz="2400" dirty="0" err="1">
                <a:solidFill>
                  <a:schemeClr val="tx1"/>
                </a:solidFill>
                <a:latin typeface="Helvetica Neue"/>
              </a:rPr>
              <a:t>mạng</a:t>
            </a:r>
            <a:r>
              <a:rPr lang="en-US" altLang="en-US" sz="2400" dirty="0">
                <a:solidFill>
                  <a:schemeClr val="tx1"/>
                </a:solidFill>
                <a:latin typeface="Helvetica Neue"/>
              </a:rPr>
              <a:t> </a:t>
            </a:r>
            <a:r>
              <a:rPr lang="en-US" altLang="en-US" sz="2400" dirty="0" err="1">
                <a:solidFill>
                  <a:schemeClr val="tx1"/>
                </a:solidFill>
                <a:latin typeface="Helvetica Neue"/>
              </a:rPr>
              <a:t>nơ-ron</a:t>
            </a:r>
            <a:r>
              <a:rPr lang="en-US" altLang="en-US" sz="2400" dirty="0">
                <a:solidFill>
                  <a:schemeClr val="tx1"/>
                </a:solidFill>
                <a:latin typeface="Helvetica Neue"/>
              </a:rPr>
              <a:t> </a:t>
            </a:r>
            <a:r>
              <a:rPr lang="en-US" altLang="en-US" sz="2400" dirty="0" err="1">
                <a:solidFill>
                  <a:schemeClr val="tx1"/>
                </a:solidFill>
                <a:latin typeface="Helvetica Neue"/>
              </a:rPr>
              <a:t>nhân</a:t>
            </a:r>
            <a:r>
              <a:rPr lang="en-US" altLang="en-US" sz="2400" dirty="0">
                <a:solidFill>
                  <a:schemeClr val="tx1"/>
                </a:solidFill>
                <a:latin typeface="Helvetica Neue"/>
              </a:rPr>
              <a:t> </a:t>
            </a:r>
            <a:r>
              <a:rPr lang="en-US" altLang="en-US" sz="2400" dirty="0" err="1">
                <a:solidFill>
                  <a:schemeClr val="tx1"/>
                </a:solidFill>
                <a:latin typeface="Helvetica Neue"/>
              </a:rPr>
              <a:t>tạo</a:t>
            </a:r>
            <a:r>
              <a:rPr lang="en-US" altLang="en-US" sz="2400" dirty="0">
                <a:solidFill>
                  <a:schemeClr val="tx1"/>
                </a:solidFill>
                <a:latin typeface="Helvetica Neue"/>
              </a:rPr>
              <a:t> (CNNs) để </a:t>
            </a:r>
            <a:r>
              <a:rPr lang="en-US" altLang="en-US" sz="2400" dirty="0" err="1">
                <a:solidFill>
                  <a:schemeClr val="tx1"/>
                </a:solidFill>
                <a:latin typeface="Helvetica Neue"/>
              </a:rPr>
              <a:t>tự</a:t>
            </a:r>
            <a:r>
              <a:rPr lang="en-US" altLang="en-US" sz="2400" dirty="0">
                <a:solidFill>
                  <a:schemeClr val="tx1"/>
                </a:solidFill>
                <a:latin typeface="Helvetica Neue"/>
              </a:rPr>
              <a:t> </a:t>
            </a:r>
            <a:r>
              <a:rPr lang="en-US" altLang="en-US" sz="2400" dirty="0" err="1">
                <a:solidFill>
                  <a:schemeClr val="tx1"/>
                </a:solidFill>
                <a:latin typeface="Helvetica Neue"/>
              </a:rPr>
              <a:t>động</a:t>
            </a:r>
            <a:r>
              <a:rPr lang="en-US" altLang="en-US" sz="2400" dirty="0">
                <a:solidFill>
                  <a:schemeClr val="tx1"/>
                </a:solidFill>
                <a:latin typeface="Helvetica Neue"/>
              </a:rPr>
              <a:t> học </a:t>
            </a:r>
            <a:r>
              <a:rPr lang="en-US" altLang="en-US" sz="2400" dirty="0" err="1">
                <a:solidFill>
                  <a:schemeClr val="tx1"/>
                </a:solidFill>
                <a:latin typeface="Helvetica Neue"/>
              </a:rPr>
              <a:t>đặc</a:t>
            </a:r>
            <a:r>
              <a:rPr lang="en-US" altLang="en-US" sz="2400" dirty="0">
                <a:solidFill>
                  <a:schemeClr val="tx1"/>
                </a:solidFill>
                <a:latin typeface="Helvetica Neue"/>
              </a:rPr>
              <a:t> </a:t>
            </a:r>
            <a:r>
              <a:rPr lang="en-US" altLang="en-US" sz="2400" dirty="0" err="1">
                <a:solidFill>
                  <a:schemeClr val="tx1"/>
                </a:solidFill>
                <a:latin typeface="Helvetica Neue"/>
              </a:rPr>
              <a:t>trưng</a:t>
            </a:r>
            <a:r>
              <a:rPr lang="en-US" altLang="en-US" sz="2400" dirty="0">
                <a:solidFill>
                  <a:schemeClr val="tx1"/>
                </a:solidFill>
                <a:latin typeface="Helvetica Neue"/>
              </a:rPr>
              <a:t> </a:t>
            </a:r>
            <a:r>
              <a:rPr lang="en-US" altLang="en-US" sz="2400" dirty="0" err="1">
                <a:solidFill>
                  <a:schemeClr val="tx1"/>
                </a:solidFill>
                <a:latin typeface="Helvetica Neue"/>
              </a:rPr>
              <a:t>và</a:t>
            </a:r>
            <a:r>
              <a:rPr lang="en-US" altLang="en-US" sz="2400" dirty="0">
                <a:solidFill>
                  <a:schemeClr val="tx1"/>
                </a:solidFill>
                <a:latin typeface="Helvetica Neue"/>
              </a:rPr>
              <a:t> </a:t>
            </a:r>
            <a:r>
              <a:rPr lang="en-US" altLang="en-US" sz="2400" dirty="0" err="1">
                <a:solidFill>
                  <a:schemeClr val="tx1"/>
                </a:solidFill>
                <a:latin typeface="Helvetica Neue"/>
              </a:rPr>
              <a:t>thực</a:t>
            </a:r>
            <a:r>
              <a:rPr lang="en-US" altLang="en-US" sz="2400" dirty="0">
                <a:solidFill>
                  <a:schemeClr val="tx1"/>
                </a:solidFill>
                <a:latin typeface="Helvetica Neue"/>
              </a:rPr>
              <a:t> </a:t>
            </a:r>
            <a:r>
              <a:rPr lang="en-US" altLang="en-US" sz="2400" dirty="0" err="1">
                <a:solidFill>
                  <a:schemeClr val="tx1"/>
                </a:solidFill>
                <a:latin typeface="Helvetica Neue"/>
              </a:rPr>
              <a:t>hiện</a:t>
            </a:r>
            <a:r>
              <a:rPr lang="en-US" altLang="en-US" sz="2400" dirty="0">
                <a:solidFill>
                  <a:schemeClr val="tx1"/>
                </a:solidFill>
                <a:latin typeface="Helvetica Neue"/>
              </a:rPr>
              <a:t> </a:t>
            </a:r>
            <a:r>
              <a:rPr lang="en-US" altLang="en-US" sz="2400" dirty="0" err="1">
                <a:solidFill>
                  <a:schemeClr val="tx1"/>
                </a:solidFill>
                <a:latin typeface="Helvetica Neue"/>
              </a:rPr>
              <a:t>phân</a:t>
            </a:r>
            <a:r>
              <a:rPr lang="en-US" altLang="en-US" sz="2400" dirty="0">
                <a:solidFill>
                  <a:schemeClr val="tx1"/>
                </a:solidFill>
                <a:latin typeface="Helvetica Neue"/>
              </a:rPr>
              <a:t> </a:t>
            </a:r>
            <a:r>
              <a:rPr lang="en-US" altLang="en-US" sz="2400" dirty="0" err="1">
                <a:solidFill>
                  <a:schemeClr val="tx1"/>
                </a:solidFill>
                <a:latin typeface="Helvetica Neue"/>
              </a:rPr>
              <a:t>đoạn</a:t>
            </a:r>
            <a:r>
              <a:rPr lang="en-US" altLang="en-US" sz="2400" dirty="0">
                <a:solidFill>
                  <a:schemeClr val="tx1"/>
                </a:solidFill>
                <a:latin typeface="Helvetica Neue"/>
              </a:rPr>
              <a:t> </a:t>
            </a:r>
            <a:r>
              <a:rPr lang="en-US" altLang="en-US" sz="2400" dirty="0" err="1">
                <a:solidFill>
                  <a:schemeClr val="tx1"/>
                </a:solidFill>
                <a:latin typeface="Helvetica Neue"/>
              </a:rPr>
              <a:t>ảnh</a:t>
            </a:r>
            <a:r>
              <a:rPr lang="en-US" altLang="en-US" sz="2400" dirty="0">
                <a:solidFill>
                  <a:schemeClr val="tx1"/>
                </a:solidFill>
                <a:latin typeface="Helvetica Neue"/>
              </a:rPr>
              <a:t> chính </a:t>
            </a:r>
            <a:r>
              <a:rPr lang="en-US" altLang="en-US" sz="2400" dirty="0" err="1">
                <a:solidFill>
                  <a:schemeClr val="tx1"/>
                </a:solidFill>
                <a:latin typeface="Helvetica Neue"/>
              </a:rPr>
              <a:t>xác</a:t>
            </a:r>
            <a:r>
              <a:rPr lang="en-US" altLang="en-US" sz="2400" dirty="0" smtClean="0">
                <a:solidFill>
                  <a:schemeClr val="tx1"/>
                </a:solidFill>
                <a:latin typeface="Helvetica Neue"/>
              </a:rPr>
              <a:t>.</a:t>
            </a:r>
          </a:p>
          <a:p>
            <a:pPr marL="0" lvl="0" indent="0" defTabSz="914400" eaLnBrk="0" fontAlgn="base" hangingPunct="0">
              <a:spcBef>
                <a:spcPct val="0"/>
              </a:spcBef>
              <a:spcAft>
                <a:spcPct val="0"/>
              </a:spcAft>
              <a:buClrTx/>
              <a:buNone/>
            </a:pPr>
            <a:endParaRPr lang="en-US" altLang="en-US" sz="2400" dirty="0">
              <a:solidFill>
                <a:schemeClr val="tx1"/>
              </a:solidFill>
              <a:latin typeface="Helvetica Neue"/>
            </a:endParaRPr>
          </a:p>
          <a:p>
            <a:pPr marL="0" lvl="0" indent="0" defTabSz="914400" eaLnBrk="0" fontAlgn="base" hangingPunct="0">
              <a:spcBef>
                <a:spcPct val="0"/>
              </a:spcBef>
              <a:spcAft>
                <a:spcPct val="0"/>
              </a:spcAft>
              <a:buClrTx/>
              <a:buNone/>
            </a:pPr>
            <a:r>
              <a:rPr lang="en-US" altLang="en-US" sz="2400" dirty="0" smtClean="0">
                <a:solidFill>
                  <a:schemeClr val="tx1"/>
                </a:solidFill>
                <a:latin typeface="Helvetica Neue"/>
              </a:rPr>
              <a:t>-</a:t>
            </a:r>
            <a:r>
              <a:rPr lang="en-US" altLang="en-US" sz="2400" dirty="0" err="1" smtClean="0">
                <a:solidFill>
                  <a:schemeClr val="tx1"/>
                </a:solidFill>
                <a:latin typeface="Helvetica Neue"/>
              </a:rPr>
              <a:t>Các</a:t>
            </a:r>
            <a:r>
              <a:rPr lang="en-US" altLang="en-US" sz="2400" dirty="0" smtClean="0">
                <a:solidFill>
                  <a:schemeClr val="tx1"/>
                </a:solidFill>
                <a:latin typeface="Helvetica Neue"/>
              </a:rPr>
              <a:t> </a:t>
            </a:r>
            <a:r>
              <a:rPr lang="en-US" altLang="en-US" sz="2400" dirty="0" err="1">
                <a:solidFill>
                  <a:schemeClr val="tx1"/>
                </a:solidFill>
                <a:latin typeface="Helvetica Neue"/>
              </a:rPr>
              <a:t>mô</a:t>
            </a:r>
            <a:r>
              <a:rPr lang="en-US" altLang="en-US" sz="2400" dirty="0">
                <a:solidFill>
                  <a:schemeClr val="tx1"/>
                </a:solidFill>
                <a:latin typeface="Helvetica Neue"/>
              </a:rPr>
              <a:t> </a:t>
            </a:r>
            <a:r>
              <a:rPr lang="en-US" altLang="en-US" sz="2400" dirty="0" err="1">
                <a:solidFill>
                  <a:schemeClr val="tx1"/>
                </a:solidFill>
                <a:latin typeface="Helvetica Neue"/>
              </a:rPr>
              <a:t>hình</a:t>
            </a:r>
            <a:r>
              <a:rPr lang="en-US" altLang="en-US" sz="2400" dirty="0">
                <a:solidFill>
                  <a:schemeClr val="tx1"/>
                </a:solidFill>
                <a:latin typeface="Helvetica Neue"/>
              </a:rPr>
              <a:t> </a:t>
            </a:r>
            <a:r>
              <a:rPr lang="en-US" altLang="en-US" sz="2400" dirty="0" err="1">
                <a:solidFill>
                  <a:schemeClr val="tx1"/>
                </a:solidFill>
                <a:latin typeface="Helvetica Neue"/>
              </a:rPr>
              <a:t>phổ</a:t>
            </a:r>
            <a:r>
              <a:rPr lang="en-US" altLang="en-US" sz="2400" dirty="0">
                <a:solidFill>
                  <a:schemeClr val="tx1"/>
                </a:solidFill>
                <a:latin typeface="Helvetica Neue"/>
              </a:rPr>
              <a:t> </a:t>
            </a:r>
            <a:r>
              <a:rPr lang="en-US" altLang="en-US" sz="2400" dirty="0" err="1">
                <a:solidFill>
                  <a:schemeClr val="tx1"/>
                </a:solidFill>
                <a:latin typeface="Helvetica Neue"/>
              </a:rPr>
              <a:t>biến</a:t>
            </a:r>
            <a:r>
              <a:rPr lang="en-US" altLang="en-US" sz="2400" dirty="0">
                <a:solidFill>
                  <a:schemeClr val="tx1"/>
                </a:solidFill>
                <a:latin typeface="Helvetica Neue"/>
              </a:rPr>
              <a:t>:</a:t>
            </a:r>
          </a:p>
          <a:p>
            <a:pPr marL="568951" lvl="1" indent="0" defTabSz="914400" eaLnBrk="0" fontAlgn="base" hangingPunct="0">
              <a:spcBef>
                <a:spcPct val="0"/>
              </a:spcBef>
              <a:spcAft>
                <a:spcPct val="0"/>
              </a:spcAft>
              <a:buClrTx/>
              <a:buFontTx/>
              <a:buChar char="•"/>
            </a:pPr>
            <a:r>
              <a:rPr lang="en-US" altLang="en-US" sz="2400" dirty="0">
                <a:solidFill>
                  <a:schemeClr val="tx1"/>
                </a:solidFill>
                <a:latin typeface="Helvetica Neue"/>
              </a:rPr>
              <a:t>U-Net: </a:t>
            </a:r>
            <a:r>
              <a:rPr lang="en-US" altLang="en-US" sz="2400" dirty="0" err="1">
                <a:solidFill>
                  <a:schemeClr val="tx1"/>
                </a:solidFill>
                <a:latin typeface="Helvetica Neue"/>
              </a:rPr>
              <a:t>Hiệu</a:t>
            </a:r>
            <a:r>
              <a:rPr lang="en-US" altLang="en-US" sz="2400" dirty="0">
                <a:solidFill>
                  <a:schemeClr val="tx1"/>
                </a:solidFill>
                <a:latin typeface="Helvetica Neue"/>
              </a:rPr>
              <a:t> </a:t>
            </a:r>
            <a:r>
              <a:rPr lang="en-US" altLang="en-US" sz="2400" dirty="0" err="1">
                <a:solidFill>
                  <a:schemeClr val="tx1"/>
                </a:solidFill>
                <a:latin typeface="Helvetica Neue"/>
              </a:rPr>
              <a:t>quả</a:t>
            </a:r>
            <a:r>
              <a:rPr lang="en-US" altLang="en-US" sz="2400" dirty="0">
                <a:solidFill>
                  <a:schemeClr val="tx1"/>
                </a:solidFill>
                <a:latin typeface="Helvetica Neue"/>
              </a:rPr>
              <a:t> </a:t>
            </a:r>
            <a:r>
              <a:rPr lang="en-US" altLang="en-US" sz="2400" dirty="0" err="1">
                <a:solidFill>
                  <a:schemeClr val="tx1"/>
                </a:solidFill>
                <a:latin typeface="Helvetica Neue"/>
              </a:rPr>
              <a:t>cho</a:t>
            </a:r>
            <a:r>
              <a:rPr lang="en-US" altLang="en-US" sz="2400" dirty="0">
                <a:solidFill>
                  <a:schemeClr val="tx1"/>
                </a:solidFill>
                <a:latin typeface="Helvetica Neue"/>
              </a:rPr>
              <a:t> </a:t>
            </a:r>
            <a:r>
              <a:rPr lang="en-US" altLang="en-US" sz="2400" dirty="0" err="1">
                <a:solidFill>
                  <a:schemeClr val="tx1"/>
                </a:solidFill>
                <a:latin typeface="Helvetica Neue"/>
              </a:rPr>
              <a:t>phân</a:t>
            </a:r>
            <a:r>
              <a:rPr lang="en-US" altLang="en-US" sz="2400" dirty="0">
                <a:solidFill>
                  <a:schemeClr val="tx1"/>
                </a:solidFill>
                <a:latin typeface="Helvetica Neue"/>
              </a:rPr>
              <a:t> </a:t>
            </a:r>
            <a:r>
              <a:rPr lang="en-US" altLang="en-US" sz="2400" dirty="0" err="1">
                <a:solidFill>
                  <a:schemeClr val="tx1"/>
                </a:solidFill>
                <a:latin typeface="Helvetica Neue"/>
              </a:rPr>
              <a:t>đoạn</a:t>
            </a:r>
            <a:r>
              <a:rPr lang="en-US" altLang="en-US" sz="2400" dirty="0">
                <a:solidFill>
                  <a:schemeClr val="tx1"/>
                </a:solidFill>
                <a:latin typeface="Helvetica Neue"/>
              </a:rPr>
              <a:t> </a:t>
            </a:r>
            <a:r>
              <a:rPr lang="en-US" altLang="en-US" sz="2400" dirty="0" err="1">
                <a:solidFill>
                  <a:schemeClr val="tx1"/>
                </a:solidFill>
                <a:latin typeface="Helvetica Neue"/>
              </a:rPr>
              <a:t>ảnh</a:t>
            </a:r>
            <a:r>
              <a:rPr lang="en-US" altLang="en-US" sz="2400" dirty="0">
                <a:solidFill>
                  <a:schemeClr val="tx1"/>
                </a:solidFill>
                <a:latin typeface="Helvetica Neue"/>
              </a:rPr>
              <a:t> y </a:t>
            </a:r>
            <a:r>
              <a:rPr lang="en-US" altLang="en-US" sz="2400" dirty="0" err="1">
                <a:solidFill>
                  <a:schemeClr val="tx1"/>
                </a:solidFill>
                <a:latin typeface="Helvetica Neue"/>
              </a:rPr>
              <a:t>khoa</a:t>
            </a:r>
            <a:r>
              <a:rPr lang="en-US" altLang="en-US" sz="2400" dirty="0">
                <a:solidFill>
                  <a:schemeClr val="tx1"/>
                </a:solidFill>
                <a:latin typeface="Helvetica Neue"/>
              </a:rPr>
              <a:t>.</a:t>
            </a:r>
          </a:p>
          <a:p>
            <a:pPr marL="568951" lvl="1" indent="0" defTabSz="914400" eaLnBrk="0" fontAlgn="base" hangingPunct="0">
              <a:spcBef>
                <a:spcPct val="0"/>
              </a:spcBef>
              <a:spcAft>
                <a:spcPct val="0"/>
              </a:spcAft>
              <a:buClrTx/>
              <a:buFontTx/>
              <a:buChar char="•"/>
            </a:pPr>
            <a:r>
              <a:rPr lang="en-US" altLang="en-US" sz="2400" dirty="0">
                <a:solidFill>
                  <a:schemeClr val="tx1"/>
                </a:solidFill>
                <a:latin typeface="Helvetica Neue"/>
              </a:rPr>
              <a:t>DeepLabV3+: </a:t>
            </a:r>
            <a:r>
              <a:rPr lang="en-US" altLang="en-US" sz="2400" dirty="0" err="1">
                <a:solidFill>
                  <a:schemeClr val="tx1"/>
                </a:solidFill>
                <a:latin typeface="Helvetica Neue"/>
              </a:rPr>
              <a:t>Phù</a:t>
            </a:r>
            <a:r>
              <a:rPr lang="en-US" altLang="en-US" sz="2400" dirty="0">
                <a:solidFill>
                  <a:schemeClr val="tx1"/>
                </a:solidFill>
                <a:latin typeface="Helvetica Neue"/>
              </a:rPr>
              <a:t> </a:t>
            </a:r>
            <a:r>
              <a:rPr lang="en-US" altLang="en-US" sz="2400" dirty="0" err="1">
                <a:solidFill>
                  <a:schemeClr val="tx1"/>
                </a:solidFill>
                <a:latin typeface="Helvetica Neue"/>
              </a:rPr>
              <a:t>hợp</a:t>
            </a:r>
            <a:r>
              <a:rPr lang="en-US" altLang="en-US" sz="2400" dirty="0">
                <a:solidFill>
                  <a:schemeClr val="tx1"/>
                </a:solidFill>
                <a:latin typeface="Helvetica Neue"/>
              </a:rPr>
              <a:t> </a:t>
            </a:r>
            <a:r>
              <a:rPr lang="en-US" altLang="en-US" sz="2400" dirty="0" err="1">
                <a:solidFill>
                  <a:schemeClr val="tx1"/>
                </a:solidFill>
                <a:latin typeface="Helvetica Neue"/>
              </a:rPr>
              <a:t>với</a:t>
            </a:r>
            <a:r>
              <a:rPr lang="en-US" altLang="en-US" sz="2400" dirty="0">
                <a:solidFill>
                  <a:schemeClr val="tx1"/>
                </a:solidFill>
                <a:latin typeface="Helvetica Neue"/>
              </a:rPr>
              <a:t> </a:t>
            </a:r>
            <a:r>
              <a:rPr lang="en-US" altLang="en-US" sz="2400" dirty="0" err="1">
                <a:solidFill>
                  <a:schemeClr val="tx1"/>
                </a:solidFill>
                <a:latin typeface="Helvetica Neue"/>
              </a:rPr>
              <a:t>phân</a:t>
            </a:r>
            <a:r>
              <a:rPr lang="en-US" altLang="en-US" sz="2400" dirty="0">
                <a:solidFill>
                  <a:schemeClr val="tx1"/>
                </a:solidFill>
                <a:latin typeface="Helvetica Neue"/>
              </a:rPr>
              <a:t> </a:t>
            </a:r>
            <a:r>
              <a:rPr lang="en-US" altLang="en-US" sz="2400" dirty="0" err="1">
                <a:solidFill>
                  <a:schemeClr val="tx1"/>
                </a:solidFill>
                <a:latin typeface="Helvetica Neue"/>
              </a:rPr>
              <a:t>đoạn</a:t>
            </a:r>
            <a:r>
              <a:rPr lang="en-US" altLang="en-US" sz="2400" dirty="0">
                <a:solidFill>
                  <a:schemeClr val="tx1"/>
                </a:solidFill>
                <a:latin typeface="Helvetica Neue"/>
              </a:rPr>
              <a:t> </a:t>
            </a:r>
            <a:r>
              <a:rPr lang="en-US" altLang="en-US" sz="2400" dirty="0" err="1">
                <a:solidFill>
                  <a:schemeClr val="tx1"/>
                </a:solidFill>
                <a:latin typeface="Helvetica Neue"/>
              </a:rPr>
              <a:t>ảnh</a:t>
            </a:r>
            <a:r>
              <a:rPr lang="en-US" altLang="en-US" sz="2400" dirty="0">
                <a:solidFill>
                  <a:schemeClr val="tx1"/>
                </a:solidFill>
                <a:latin typeface="Helvetica Neue"/>
              </a:rPr>
              <a:t> </a:t>
            </a:r>
            <a:r>
              <a:rPr lang="en-US" altLang="en-US" sz="2400" dirty="0" err="1">
                <a:solidFill>
                  <a:schemeClr val="tx1"/>
                </a:solidFill>
                <a:latin typeface="Helvetica Neue"/>
              </a:rPr>
              <a:t>phức</a:t>
            </a:r>
            <a:r>
              <a:rPr lang="en-US" altLang="en-US" sz="2400" dirty="0">
                <a:solidFill>
                  <a:schemeClr val="tx1"/>
                </a:solidFill>
                <a:latin typeface="Helvetica Neue"/>
              </a:rPr>
              <a:t> </a:t>
            </a:r>
            <a:r>
              <a:rPr lang="en-US" altLang="en-US" sz="2400" dirty="0" err="1">
                <a:solidFill>
                  <a:schemeClr val="tx1"/>
                </a:solidFill>
                <a:latin typeface="Helvetica Neue"/>
              </a:rPr>
              <a:t>tạp</a:t>
            </a:r>
            <a:r>
              <a:rPr lang="en-US" altLang="en-US" sz="2400" dirty="0">
                <a:solidFill>
                  <a:schemeClr val="tx1"/>
                </a:solidFill>
                <a:latin typeface="Helvetica Neue"/>
              </a:rPr>
              <a:t>.</a:t>
            </a:r>
          </a:p>
          <a:p>
            <a:pPr marL="568951" lvl="1" indent="0" defTabSz="914400" eaLnBrk="0" fontAlgn="base" hangingPunct="0">
              <a:spcBef>
                <a:spcPct val="0"/>
              </a:spcBef>
              <a:spcAft>
                <a:spcPct val="0"/>
              </a:spcAft>
              <a:buClrTx/>
              <a:buFontTx/>
              <a:buChar char="•"/>
            </a:pPr>
            <a:r>
              <a:rPr lang="en-US" altLang="en-US" sz="2400" dirty="0">
                <a:solidFill>
                  <a:schemeClr val="tx1"/>
                </a:solidFill>
                <a:latin typeface="Helvetica Neue"/>
              </a:rPr>
              <a:t>Mask R-CNN: </a:t>
            </a:r>
            <a:r>
              <a:rPr lang="en-US" altLang="en-US" sz="2400" dirty="0" err="1">
                <a:solidFill>
                  <a:schemeClr val="tx1"/>
                </a:solidFill>
                <a:latin typeface="Helvetica Neue"/>
              </a:rPr>
              <a:t>Tốt</a:t>
            </a:r>
            <a:r>
              <a:rPr lang="en-US" altLang="en-US" sz="2400" dirty="0">
                <a:solidFill>
                  <a:schemeClr val="tx1"/>
                </a:solidFill>
                <a:latin typeface="Helvetica Neue"/>
              </a:rPr>
              <a:t> </a:t>
            </a:r>
            <a:r>
              <a:rPr lang="en-US" altLang="en-US" sz="2400" dirty="0" err="1">
                <a:solidFill>
                  <a:schemeClr val="tx1"/>
                </a:solidFill>
                <a:latin typeface="Helvetica Neue"/>
              </a:rPr>
              <a:t>cho</a:t>
            </a:r>
            <a:r>
              <a:rPr lang="en-US" altLang="en-US" sz="2400" dirty="0">
                <a:solidFill>
                  <a:schemeClr val="tx1"/>
                </a:solidFill>
                <a:latin typeface="Helvetica Neue"/>
              </a:rPr>
              <a:t> </a:t>
            </a:r>
            <a:r>
              <a:rPr lang="en-US" altLang="en-US" sz="2400" dirty="0" err="1">
                <a:solidFill>
                  <a:schemeClr val="tx1"/>
                </a:solidFill>
                <a:latin typeface="Helvetica Neue"/>
              </a:rPr>
              <a:t>nhận</a:t>
            </a:r>
            <a:r>
              <a:rPr lang="en-US" altLang="en-US" sz="2400" dirty="0">
                <a:solidFill>
                  <a:schemeClr val="tx1"/>
                </a:solidFill>
                <a:latin typeface="Helvetica Neue"/>
              </a:rPr>
              <a:t> </a:t>
            </a:r>
            <a:r>
              <a:rPr lang="en-US" altLang="en-US" sz="2400" dirty="0" err="1">
                <a:solidFill>
                  <a:schemeClr val="tx1"/>
                </a:solidFill>
                <a:latin typeface="Helvetica Neue"/>
              </a:rPr>
              <a:t>diện</a:t>
            </a:r>
            <a:r>
              <a:rPr lang="en-US" altLang="en-US" sz="2400" dirty="0">
                <a:solidFill>
                  <a:schemeClr val="tx1"/>
                </a:solidFill>
                <a:latin typeface="Helvetica Neue"/>
              </a:rPr>
              <a:t> </a:t>
            </a:r>
            <a:r>
              <a:rPr lang="en-US" altLang="en-US" sz="2400" dirty="0" err="1">
                <a:solidFill>
                  <a:schemeClr val="tx1"/>
                </a:solidFill>
                <a:latin typeface="Helvetica Neue"/>
              </a:rPr>
              <a:t>đối</a:t>
            </a:r>
            <a:r>
              <a:rPr lang="en-US" altLang="en-US" sz="2400" dirty="0">
                <a:solidFill>
                  <a:schemeClr val="tx1"/>
                </a:solidFill>
                <a:latin typeface="Helvetica Neue"/>
              </a:rPr>
              <a:t> </a:t>
            </a:r>
            <a:r>
              <a:rPr lang="en-US" altLang="en-US" sz="2400" dirty="0" err="1">
                <a:solidFill>
                  <a:schemeClr val="tx1"/>
                </a:solidFill>
                <a:latin typeface="Helvetica Neue"/>
              </a:rPr>
              <a:t>tượng</a:t>
            </a:r>
            <a:r>
              <a:rPr lang="en-US" altLang="en-US" sz="2400" dirty="0" smtClean="0">
                <a:solidFill>
                  <a:schemeClr val="tx1"/>
                </a:solidFill>
                <a:latin typeface="Helvetica Neue"/>
              </a:rPr>
              <a:t>.</a:t>
            </a:r>
          </a:p>
          <a:p>
            <a:pPr marL="568951" lvl="1" indent="0" defTabSz="914400" eaLnBrk="0" fontAlgn="base" hangingPunct="0">
              <a:spcBef>
                <a:spcPct val="0"/>
              </a:spcBef>
              <a:spcAft>
                <a:spcPct val="0"/>
              </a:spcAft>
              <a:buClrTx/>
              <a:buFontTx/>
              <a:buChar char="•"/>
            </a:pPr>
            <a:endParaRPr lang="en-US" altLang="en-US" sz="2400" dirty="0">
              <a:solidFill>
                <a:schemeClr val="tx1"/>
              </a:solidFill>
              <a:latin typeface="Helvetica Neue"/>
            </a:endParaRPr>
          </a:p>
          <a:p>
            <a:pPr marL="0" lvl="0" indent="0" defTabSz="914400" eaLnBrk="0" fontAlgn="base" hangingPunct="0">
              <a:spcBef>
                <a:spcPct val="0"/>
              </a:spcBef>
              <a:spcAft>
                <a:spcPct val="0"/>
              </a:spcAft>
              <a:buClrTx/>
              <a:buNone/>
            </a:pPr>
            <a:r>
              <a:rPr lang="en-US" altLang="en-US" sz="2400" dirty="0" smtClean="0">
                <a:solidFill>
                  <a:schemeClr val="tx1"/>
                </a:solidFill>
                <a:latin typeface="Helvetica Neue"/>
              </a:rPr>
              <a:t>-</a:t>
            </a:r>
            <a:r>
              <a:rPr lang="en-US" altLang="en-US" sz="2400" dirty="0" err="1" smtClean="0">
                <a:solidFill>
                  <a:schemeClr val="tx1"/>
                </a:solidFill>
                <a:latin typeface="Helvetica Neue"/>
              </a:rPr>
              <a:t>Ưu</a:t>
            </a:r>
            <a:r>
              <a:rPr lang="en-US" altLang="en-US" sz="2400" dirty="0" smtClean="0">
                <a:solidFill>
                  <a:schemeClr val="tx1"/>
                </a:solidFill>
                <a:latin typeface="Helvetica Neue"/>
              </a:rPr>
              <a:t> </a:t>
            </a:r>
            <a:r>
              <a:rPr lang="en-US" altLang="en-US" sz="2400" dirty="0" err="1">
                <a:solidFill>
                  <a:schemeClr val="tx1"/>
                </a:solidFill>
                <a:latin typeface="Helvetica Neue"/>
              </a:rPr>
              <a:t>điểm</a:t>
            </a:r>
            <a:r>
              <a:rPr lang="en-US" altLang="en-US" sz="2400" dirty="0">
                <a:solidFill>
                  <a:schemeClr val="tx1"/>
                </a:solidFill>
                <a:latin typeface="Helvetica Neue"/>
              </a:rPr>
              <a:t>: Chính </a:t>
            </a:r>
            <a:r>
              <a:rPr lang="en-US" altLang="en-US" sz="2400" dirty="0" err="1">
                <a:solidFill>
                  <a:schemeClr val="tx1"/>
                </a:solidFill>
                <a:latin typeface="Helvetica Neue"/>
              </a:rPr>
              <a:t>xác</a:t>
            </a:r>
            <a:r>
              <a:rPr lang="en-US" altLang="en-US" sz="2400" dirty="0">
                <a:solidFill>
                  <a:schemeClr val="tx1"/>
                </a:solidFill>
                <a:latin typeface="Helvetica Neue"/>
              </a:rPr>
              <a:t> </a:t>
            </a:r>
            <a:r>
              <a:rPr lang="en-US" altLang="en-US" sz="2400" dirty="0" err="1">
                <a:solidFill>
                  <a:schemeClr val="tx1"/>
                </a:solidFill>
                <a:latin typeface="Helvetica Neue"/>
              </a:rPr>
              <a:t>cao</a:t>
            </a:r>
            <a:r>
              <a:rPr lang="en-US" altLang="en-US" sz="2400" dirty="0">
                <a:solidFill>
                  <a:schemeClr val="tx1"/>
                </a:solidFill>
                <a:latin typeface="Helvetica Neue"/>
              </a:rPr>
              <a:t>, </a:t>
            </a:r>
            <a:r>
              <a:rPr lang="en-US" altLang="en-US" sz="2400" dirty="0" err="1">
                <a:solidFill>
                  <a:schemeClr val="tx1"/>
                </a:solidFill>
                <a:latin typeface="Helvetica Neue"/>
              </a:rPr>
              <a:t>tự</a:t>
            </a:r>
            <a:r>
              <a:rPr lang="en-US" altLang="en-US" sz="2400" dirty="0">
                <a:solidFill>
                  <a:schemeClr val="tx1"/>
                </a:solidFill>
                <a:latin typeface="Helvetica Neue"/>
              </a:rPr>
              <a:t> </a:t>
            </a:r>
            <a:r>
              <a:rPr lang="en-US" altLang="en-US" sz="2400" dirty="0" err="1">
                <a:solidFill>
                  <a:schemeClr val="tx1"/>
                </a:solidFill>
                <a:latin typeface="Helvetica Neue"/>
              </a:rPr>
              <a:t>động</a:t>
            </a:r>
            <a:r>
              <a:rPr lang="en-US" altLang="en-US" sz="2400" dirty="0">
                <a:solidFill>
                  <a:schemeClr val="tx1"/>
                </a:solidFill>
                <a:latin typeface="Helvetica Neue"/>
              </a:rPr>
              <a:t> học </a:t>
            </a:r>
            <a:r>
              <a:rPr lang="en-US" altLang="en-US" sz="2400" dirty="0" err="1">
                <a:solidFill>
                  <a:schemeClr val="tx1"/>
                </a:solidFill>
                <a:latin typeface="Helvetica Neue"/>
              </a:rPr>
              <a:t>đặc</a:t>
            </a:r>
            <a:r>
              <a:rPr lang="en-US" altLang="en-US" sz="2400" dirty="0">
                <a:solidFill>
                  <a:schemeClr val="tx1"/>
                </a:solidFill>
                <a:latin typeface="Helvetica Neue"/>
              </a:rPr>
              <a:t> </a:t>
            </a:r>
            <a:r>
              <a:rPr lang="en-US" altLang="en-US" sz="2400" dirty="0" err="1">
                <a:solidFill>
                  <a:schemeClr val="tx1"/>
                </a:solidFill>
                <a:latin typeface="Helvetica Neue"/>
              </a:rPr>
              <a:t>trưng</a:t>
            </a:r>
            <a:r>
              <a:rPr lang="en-US" altLang="en-US" sz="2400" dirty="0">
                <a:solidFill>
                  <a:schemeClr val="tx1"/>
                </a:solidFill>
                <a:latin typeface="Helvetica Neue"/>
              </a:rPr>
              <a:t> </a:t>
            </a:r>
            <a:r>
              <a:rPr lang="en-US" altLang="en-US" sz="2400" dirty="0" err="1">
                <a:solidFill>
                  <a:schemeClr val="tx1"/>
                </a:solidFill>
                <a:latin typeface="Helvetica Neue"/>
              </a:rPr>
              <a:t>từ</a:t>
            </a:r>
            <a:r>
              <a:rPr lang="en-US" altLang="en-US" sz="2400" dirty="0">
                <a:solidFill>
                  <a:schemeClr val="tx1"/>
                </a:solidFill>
                <a:latin typeface="Helvetica Neue"/>
              </a:rPr>
              <a:t> </a:t>
            </a:r>
            <a:r>
              <a:rPr lang="en-US" altLang="en-US" sz="2400" dirty="0" err="1">
                <a:solidFill>
                  <a:schemeClr val="tx1"/>
                </a:solidFill>
                <a:latin typeface="Helvetica Neue"/>
              </a:rPr>
              <a:t>dữ</a:t>
            </a:r>
            <a:r>
              <a:rPr lang="en-US" altLang="en-US" sz="2400" dirty="0">
                <a:solidFill>
                  <a:schemeClr val="tx1"/>
                </a:solidFill>
                <a:latin typeface="Helvetica Neue"/>
              </a:rPr>
              <a:t> </a:t>
            </a:r>
            <a:r>
              <a:rPr lang="en-US" altLang="en-US" sz="2400" dirty="0" err="1">
                <a:solidFill>
                  <a:schemeClr val="tx1"/>
                </a:solidFill>
                <a:latin typeface="Helvetica Neue"/>
              </a:rPr>
              <a:t>liệu</a:t>
            </a:r>
            <a:r>
              <a:rPr lang="en-US" altLang="en-US" sz="2400" dirty="0" smtClean="0">
                <a:solidFill>
                  <a:schemeClr val="tx1"/>
                </a:solidFill>
                <a:latin typeface="Helvetica Neue"/>
              </a:rPr>
              <a:t>.</a:t>
            </a:r>
          </a:p>
          <a:p>
            <a:pPr marL="0" lvl="0" indent="0" defTabSz="914400" eaLnBrk="0" fontAlgn="base" hangingPunct="0">
              <a:spcBef>
                <a:spcPct val="0"/>
              </a:spcBef>
              <a:spcAft>
                <a:spcPct val="0"/>
              </a:spcAft>
              <a:buClrTx/>
              <a:buNone/>
            </a:pPr>
            <a:endParaRPr lang="en-US" altLang="en-US" sz="2400" dirty="0">
              <a:solidFill>
                <a:schemeClr val="tx1"/>
              </a:solidFill>
              <a:latin typeface="Helvetica Neue"/>
            </a:endParaRPr>
          </a:p>
          <a:p>
            <a:pPr marL="0" lvl="0" indent="0" defTabSz="914400" eaLnBrk="0" fontAlgn="base" hangingPunct="0">
              <a:spcBef>
                <a:spcPct val="0"/>
              </a:spcBef>
              <a:spcAft>
                <a:spcPct val="0"/>
              </a:spcAft>
              <a:buClrTx/>
              <a:buNone/>
            </a:pPr>
            <a:r>
              <a:rPr lang="en-US" altLang="en-US" sz="2400" dirty="0" smtClean="0">
                <a:solidFill>
                  <a:schemeClr val="tx1"/>
                </a:solidFill>
                <a:latin typeface="Helvetica Neue"/>
              </a:rPr>
              <a:t>-</a:t>
            </a:r>
            <a:r>
              <a:rPr lang="en-US" altLang="en-US" sz="2400" dirty="0" err="1" smtClean="0">
                <a:solidFill>
                  <a:schemeClr val="tx1"/>
                </a:solidFill>
                <a:latin typeface="Helvetica Neue"/>
              </a:rPr>
              <a:t>Nhược</a:t>
            </a:r>
            <a:r>
              <a:rPr lang="en-US" altLang="en-US" sz="2400" dirty="0" smtClean="0">
                <a:solidFill>
                  <a:schemeClr val="tx1"/>
                </a:solidFill>
                <a:latin typeface="Helvetica Neue"/>
              </a:rPr>
              <a:t> </a:t>
            </a:r>
            <a:r>
              <a:rPr lang="en-US" altLang="en-US" sz="2400" dirty="0" err="1">
                <a:solidFill>
                  <a:schemeClr val="tx1"/>
                </a:solidFill>
                <a:latin typeface="Helvetica Neue"/>
              </a:rPr>
              <a:t>điểm</a:t>
            </a:r>
            <a:r>
              <a:rPr lang="en-US" altLang="en-US" sz="2400" dirty="0">
                <a:solidFill>
                  <a:schemeClr val="tx1"/>
                </a:solidFill>
                <a:latin typeface="Helvetica Neue"/>
              </a:rPr>
              <a:t>: </a:t>
            </a:r>
            <a:r>
              <a:rPr lang="en-US" altLang="en-US" sz="2400" dirty="0" err="1">
                <a:solidFill>
                  <a:schemeClr val="tx1"/>
                </a:solidFill>
                <a:latin typeface="Helvetica Neue"/>
              </a:rPr>
              <a:t>Cần</a:t>
            </a:r>
            <a:r>
              <a:rPr lang="en-US" altLang="en-US" sz="2400" dirty="0">
                <a:solidFill>
                  <a:schemeClr val="tx1"/>
                </a:solidFill>
                <a:latin typeface="Helvetica Neue"/>
              </a:rPr>
              <a:t> </a:t>
            </a:r>
            <a:r>
              <a:rPr lang="en-US" altLang="en-US" sz="2400" dirty="0" err="1">
                <a:solidFill>
                  <a:schemeClr val="tx1"/>
                </a:solidFill>
                <a:latin typeface="Helvetica Neue"/>
              </a:rPr>
              <a:t>lượng</a:t>
            </a:r>
            <a:r>
              <a:rPr lang="en-US" altLang="en-US" sz="2400" dirty="0">
                <a:solidFill>
                  <a:schemeClr val="tx1"/>
                </a:solidFill>
                <a:latin typeface="Helvetica Neue"/>
              </a:rPr>
              <a:t> </a:t>
            </a:r>
            <a:r>
              <a:rPr lang="en-US" altLang="en-US" sz="2400" dirty="0" err="1">
                <a:solidFill>
                  <a:schemeClr val="tx1"/>
                </a:solidFill>
                <a:latin typeface="Helvetica Neue"/>
              </a:rPr>
              <a:t>dữ</a:t>
            </a:r>
            <a:r>
              <a:rPr lang="en-US" altLang="en-US" sz="2400" dirty="0">
                <a:solidFill>
                  <a:schemeClr val="tx1"/>
                </a:solidFill>
                <a:latin typeface="Helvetica Neue"/>
              </a:rPr>
              <a:t> </a:t>
            </a:r>
            <a:r>
              <a:rPr lang="en-US" altLang="en-US" sz="2400" dirty="0" err="1">
                <a:solidFill>
                  <a:schemeClr val="tx1"/>
                </a:solidFill>
                <a:latin typeface="Helvetica Neue"/>
              </a:rPr>
              <a:t>liệu</a:t>
            </a:r>
            <a:r>
              <a:rPr lang="en-US" altLang="en-US" sz="2400" dirty="0">
                <a:solidFill>
                  <a:schemeClr val="tx1"/>
                </a:solidFill>
                <a:latin typeface="Helvetica Neue"/>
              </a:rPr>
              <a:t> </a:t>
            </a:r>
            <a:r>
              <a:rPr lang="en-US" altLang="en-US" sz="2400" dirty="0" err="1">
                <a:solidFill>
                  <a:schemeClr val="tx1"/>
                </a:solidFill>
                <a:latin typeface="Helvetica Neue"/>
              </a:rPr>
              <a:t>lớn</a:t>
            </a:r>
            <a:r>
              <a:rPr lang="en-US" altLang="en-US" sz="2400" dirty="0">
                <a:solidFill>
                  <a:schemeClr val="tx1"/>
                </a:solidFill>
                <a:latin typeface="Helvetica Neue"/>
              </a:rPr>
              <a:t>, </a:t>
            </a:r>
            <a:r>
              <a:rPr lang="en-US" altLang="en-US" sz="2400" dirty="0" err="1">
                <a:solidFill>
                  <a:schemeClr val="tx1"/>
                </a:solidFill>
                <a:latin typeface="Helvetica Neue"/>
              </a:rPr>
              <a:t>yêu</a:t>
            </a:r>
            <a:r>
              <a:rPr lang="en-US" altLang="en-US" sz="2400" dirty="0">
                <a:solidFill>
                  <a:schemeClr val="tx1"/>
                </a:solidFill>
                <a:latin typeface="Helvetica Neue"/>
              </a:rPr>
              <a:t> </a:t>
            </a:r>
            <a:r>
              <a:rPr lang="en-US" altLang="en-US" sz="2400" dirty="0" err="1">
                <a:solidFill>
                  <a:schemeClr val="tx1"/>
                </a:solidFill>
                <a:latin typeface="Helvetica Neue"/>
              </a:rPr>
              <a:t>cầu</a:t>
            </a:r>
            <a:r>
              <a:rPr lang="en-US" altLang="en-US" sz="2400" dirty="0">
                <a:solidFill>
                  <a:schemeClr val="tx1"/>
                </a:solidFill>
                <a:latin typeface="Helvetica Neue"/>
              </a:rPr>
              <a:t> </a:t>
            </a:r>
            <a:r>
              <a:rPr lang="en-US" altLang="en-US" sz="2400" dirty="0" err="1">
                <a:solidFill>
                  <a:schemeClr val="tx1"/>
                </a:solidFill>
                <a:latin typeface="Helvetica Neue"/>
              </a:rPr>
              <a:t>phần</a:t>
            </a:r>
            <a:r>
              <a:rPr lang="en-US" altLang="en-US" sz="2400" dirty="0">
                <a:solidFill>
                  <a:schemeClr val="tx1"/>
                </a:solidFill>
                <a:latin typeface="Helvetica Neue"/>
              </a:rPr>
              <a:t> </a:t>
            </a:r>
            <a:r>
              <a:rPr lang="en-US" altLang="en-US" sz="2400" dirty="0" err="1">
                <a:solidFill>
                  <a:schemeClr val="tx1"/>
                </a:solidFill>
                <a:latin typeface="Helvetica Neue"/>
              </a:rPr>
              <a:t>cứng</a:t>
            </a:r>
            <a:r>
              <a:rPr lang="en-US" altLang="en-US" sz="2400" dirty="0">
                <a:solidFill>
                  <a:schemeClr val="tx1"/>
                </a:solidFill>
                <a:latin typeface="Helvetica Neue"/>
              </a:rPr>
              <a:t> mạnh (GPU). </a:t>
            </a:r>
          </a:p>
          <a:p>
            <a:pPr marL="0" indent="0">
              <a:buNone/>
            </a:pPr>
            <a:endParaRPr lang="en-US" dirty="0"/>
          </a:p>
        </p:txBody>
      </p:sp>
    </p:spTree>
    <p:extLst>
      <p:ext uri="{BB962C8B-B14F-4D97-AF65-F5344CB8AC3E}">
        <p14:creationId xmlns:p14="http://schemas.microsoft.com/office/powerpoint/2010/main" val="375794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0690767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429046" y="2101003"/>
            <a:ext cx="9375268" cy="5372618"/>
          </a:xfrm>
        </p:spPr>
        <p:txBody>
          <a:bodyPr/>
          <a:lstStyle/>
          <a:p>
            <a:pPr marL="0" indent="0">
              <a:buNone/>
            </a:pPr>
            <a:r>
              <a:rPr lang="vi-VN" sz="5400" b="1" dirty="0">
                <a:latin typeface="Helvetica Neue"/>
              </a:rPr>
              <a:t>Gradient là gì</a:t>
            </a:r>
            <a:r>
              <a:rPr lang="vi-VN" sz="5400" b="1" dirty="0" smtClean="0">
                <a:latin typeface="Helvetica Neue"/>
              </a:rPr>
              <a:t>?</a:t>
            </a:r>
            <a:endParaRPr lang="en-US" sz="5400" b="1" dirty="0" smtClean="0">
              <a:latin typeface="Helvetica Neue"/>
            </a:endParaRPr>
          </a:p>
          <a:p>
            <a:pPr marL="0" indent="0">
              <a:buNone/>
            </a:pPr>
            <a:endParaRPr lang="vi-VN" sz="5400" b="1" dirty="0">
              <a:latin typeface="Helvetica Neue"/>
            </a:endParaRPr>
          </a:p>
          <a:p>
            <a:pPr marL="0" indent="0">
              <a:buNone/>
            </a:pPr>
            <a:r>
              <a:rPr lang="vi-VN" sz="2400" dirty="0">
                <a:latin typeface="Helvetica Neue"/>
              </a:rPr>
              <a:t>Gradient là một khái niệm trong toán học và xử lý ảnh, dùng để biểu diễn sự thay đổi của một đại lượng trong không gian. Trong ngữ cảnh của hình ảnh, </a:t>
            </a:r>
            <a:r>
              <a:rPr lang="vi-VN" sz="2400" b="1" dirty="0">
                <a:latin typeface="Helvetica Neue"/>
              </a:rPr>
              <a:t>gradient</a:t>
            </a:r>
            <a:r>
              <a:rPr lang="vi-VN" sz="2400" dirty="0">
                <a:latin typeface="Helvetica Neue"/>
              </a:rPr>
              <a:t> mô tả </a:t>
            </a:r>
            <a:r>
              <a:rPr lang="vi-VN" sz="2400" b="1" dirty="0">
                <a:latin typeface="Helvetica Neue"/>
              </a:rPr>
              <a:t>mức độ thay đổi cường độ sáng</a:t>
            </a:r>
            <a:r>
              <a:rPr lang="vi-VN" sz="2400" dirty="0">
                <a:latin typeface="Helvetica Neue"/>
              </a:rPr>
              <a:t> (intensity) giữa các pixel lân cận. Nó là một công cụ quan trọng để phát hiện các cạnh (edges) trong hình ảnh.</a:t>
            </a:r>
          </a:p>
          <a:p>
            <a:pPr marL="0" indent="0">
              <a:buNone/>
            </a:pPr>
            <a:endParaRPr lang="en-US" dirty="0"/>
          </a:p>
        </p:txBody>
      </p:sp>
    </p:spTree>
    <p:extLst>
      <p:ext uri="{BB962C8B-B14F-4D97-AF65-F5344CB8AC3E}">
        <p14:creationId xmlns:p14="http://schemas.microsoft.com/office/powerpoint/2010/main" val="302086870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00150" y="2000250"/>
            <a:ext cx="9582150" cy="7109639"/>
          </a:xfrm>
          <a:prstGeom prst="rect">
            <a:avLst/>
          </a:prstGeom>
          <a:noFill/>
        </p:spPr>
        <p:txBody>
          <a:bodyPr wrap="square" rtlCol="0">
            <a:spAutoFit/>
          </a:bodyPr>
          <a:lstStyle/>
          <a:p>
            <a:pPr lvl="0" algn="l" defTabSz="914400" eaLnBrk="0" fontAlgn="base">
              <a:spcBef>
                <a:spcPct val="0"/>
              </a:spcBef>
              <a:spcAft>
                <a:spcPct val="0"/>
              </a:spcAft>
            </a:pPr>
            <a:r>
              <a:rPr lang="en-US" altLang="en-US" dirty="0">
                <a:solidFill>
                  <a:srgbClr val="1F1F1F"/>
                </a:solidFill>
              </a:rPr>
              <a:t>Ý </a:t>
            </a:r>
            <a:r>
              <a:rPr lang="en-US" altLang="en-US" dirty="0" err="1">
                <a:solidFill>
                  <a:srgbClr val="1F1F1F"/>
                </a:solidFill>
              </a:rPr>
              <a:t>nghĩa</a:t>
            </a:r>
            <a:r>
              <a:rPr lang="en-US" altLang="en-US" dirty="0">
                <a:solidFill>
                  <a:srgbClr val="1F1F1F"/>
                </a:solidFill>
              </a:rPr>
              <a:t> </a:t>
            </a:r>
            <a:r>
              <a:rPr lang="en-US" altLang="en-US" dirty="0" err="1">
                <a:solidFill>
                  <a:srgbClr val="1F1F1F"/>
                </a:solidFill>
              </a:rPr>
              <a:t>của</a:t>
            </a:r>
            <a:r>
              <a:rPr lang="en-US" altLang="en-US" dirty="0">
                <a:solidFill>
                  <a:srgbClr val="1F1F1F"/>
                </a:solidFill>
              </a:rPr>
              <a:t> Gradient trong </a:t>
            </a:r>
            <a:r>
              <a:rPr lang="en-US" altLang="en-US" dirty="0" err="1">
                <a:solidFill>
                  <a:srgbClr val="1F1F1F"/>
                </a:solidFill>
              </a:rPr>
              <a:t>hình</a:t>
            </a:r>
            <a:r>
              <a:rPr lang="en-US" altLang="en-US" dirty="0">
                <a:solidFill>
                  <a:srgbClr val="1F1F1F"/>
                </a:solidFill>
              </a:rPr>
              <a:t> </a:t>
            </a:r>
            <a:r>
              <a:rPr lang="en-US" altLang="en-US" dirty="0" err="1" smtClean="0">
                <a:solidFill>
                  <a:srgbClr val="1F1F1F"/>
                </a:solidFill>
              </a:rPr>
              <a:t>ảnh</a:t>
            </a:r>
            <a:endParaRPr lang="en-US" altLang="en-US" dirty="0" smtClean="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buFontTx/>
              <a:buAutoNum type="arabicPeriod"/>
            </a:pPr>
            <a:r>
              <a:rPr lang="en-US" altLang="en-US" b="0" dirty="0" err="1">
                <a:solidFill>
                  <a:srgbClr val="1F1F1F"/>
                </a:solidFill>
              </a:rPr>
              <a:t>Cường</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Gradient (Gradient Magnitude):</a:t>
            </a:r>
          </a:p>
          <a:p>
            <a:pPr marL="457200" lvl="1" indent="0" algn="l" defTabSz="914400" eaLnBrk="0" fontAlgn="base">
              <a:spcBef>
                <a:spcPct val="0"/>
              </a:spcBef>
              <a:spcAft>
                <a:spcPct val="0"/>
              </a:spcAft>
              <a:buFontTx/>
              <a:buChar char="•"/>
            </a:pPr>
            <a:r>
              <a:rPr lang="en-US" altLang="en-US" b="0" dirty="0">
                <a:solidFill>
                  <a:srgbClr val="1F1F1F"/>
                </a:solidFill>
              </a:rPr>
              <a:t>Là </a:t>
            </a:r>
            <a:r>
              <a:rPr lang="en-US" altLang="en-US" b="0" dirty="0" err="1">
                <a:solidFill>
                  <a:srgbClr val="1F1F1F"/>
                </a:solidFill>
              </a:rPr>
              <a:t>độ</a:t>
            </a:r>
            <a:r>
              <a:rPr lang="en-US" altLang="en-US" b="0" dirty="0">
                <a:solidFill>
                  <a:srgbClr val="1F1F1F"/>
                </a:solidFill>
              </a:rPr>
              <a:t> </a:t>
            </a:r>
            <a:r>
              <a:rPr lang="en-US" altLang="en-US" b="0" dirty="0" err="1">
                <a:solidFill>
                  <a:srgbClr val="1F1F1F"/>
                </a:solidFill>
              </a:rPr>
              <a:t>lớn</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a:t>
            </a:r>
            <a:r>
              <a:rPr lang="en-US" altLang="en-US" b="0" dirty="0" err="1">
                <a:solidFill>
                  <a:srgbClr val="1F1F1F"/>
                </a:solidFill>
              </a:rPr>
              <a:t>cường</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sáng </a:t>
            </a:r>
            <a:r>
              <a:rPr lang="en-US" altLang="en-US" b="0" dirty="0" err="1">
                <a:solidFill>
                  <a:srgbClr val="1F1F1F"/>
                </a:solidFill>
              </a:rPr>
              <a:t>tại</a:t>
            </a:r>
            <a:r>
              <a:rPr lang="en-US" altLang="en-US" b="0" dirty="0">
                <a:solidFill>
                  <a:srgbClr val="1F1F1F"/>
                </a:solidFill>
              </a:rPr>
              <a:t> </a:t>
            </a:r>
            <a:r>
              <a:rPr lang="en-US" altLang="en-US" b="0" dirty="0" err="1">
                <a:solidFill>
                  <a:srgbClr val="1F1F1F"/>
                </a:solidFill>
              </a:rPr>
              <a:t>một</a:t>
            </a:r>
            <a:r>
              <a:rPr lang="en-US" altLang="en-US" b="0" dirty="0">
                <a:solidFill>
                  <a:srgbClr val="1F1F1F"/>
                </a:solidFill>
              </a:rPr>
              <a:t> pixel.</a:t>
            </a:r>
          </a:p>
          <a:p>
            <a:pPr marL="457200" lvl="1" indent="0" algn="l" defTabSz="914400" eaLnBrk="0" fontAlgn="base">
              <a:spcBef>
                <a:spcPct val="0"/>
              </a:spcBef>
              <a:spcAft>
                <a:spcPct val="0"/>
              </a:spcAft>
              <a:buFontTx/>
              <a:buChar char="•"/>
            </a:pPr>
            <a:r>
              <a:rPr lang="en-US" altLang="en-US" b="0" dirty="0" err="1">
                <a:solidFill>
                  <a:srgbClr val="1F1F1F"/>
                </a:solidFill>
              </a:rPr>
              <a:t>Nếu</a:t>
            </a:r>
            <a:r>
              <a:rPr lang="en-US" altLang="en-US" b="0" dirty="0">
                <a:solidFill>
                  <a:srgbClr val="1F1F1F"/>
                </a:solidFill>
              </a:rPr>
              <a:t> </a:t>
            </a:r>
            <a:r>
              <a:rPr lang="en-US" altLang="en-US" b="0" dirty="0" err="1">
                <a:solidFill>
                  <a:srgbClr val="1F1F1F"/>
                </a:solidFill>
              </a:rPr>
              <a:t>cường</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gradient </a:t>
            </a:r>
            <a:r>
              <a:rPr lang="en-US" altLang="en-US" b="0" dirty="0" err="1">
                <a:solidFill>
                  <a:srgbClr val="1F1F1F"/>
                </a:solidFill>
              </a:rPr>
              <a:t>lớn</a:t>
            </a:r>
            <a:r>
              <a:rPr lang="en-US" altLang="en-US" b="0" dirty="0">
                <a:solidFill>
                  <a:srgbClr val="1F1F1F"/>
                </a:solidFill>
              </a:rPr>
              <a:t>, có </a:t>
            </a:r>
            <a:r>
              <a:rPr lang="en-US" altLang="en-US" b="0" dirty="0" err="1">
                <a:solidFill>
                  <a:srgbClr val="1F1F1F"/>
                </a:solidFill>
              </a:rPr>
              <a:t>nghĩa</a:t>
            </a:r>
            <a:r>
              <a:rPr lang="en-US" altLang="en-US" b="0" dirty="0">
                <a:solidFill>
                  <a:srgbClr val="1F1F1F"/>
                </a:solidFill>
              </a:rPr>
              <a:t> là </a:t>
            </a:r>
            <a:r>
              <a:rPr lang="en-US" altLang="en-US" b="0" dirty="0" err="1">
                <a:solidFill>
                  <a:srgbClr val="1F1F1F"/>
                </a:solidFill>
              </a:rPr>
              <a:t>tại</a:t>
            </a:r>
            <a:r>
              <a:rPr lang="en-US" altLang="en-US" b="0" dirty="0">
                <a:solidFill>
                  <a:srgbClr val="1F1F1F"/>
                </a:solidFill>
              </a:rPr>
              <a:t> </a:t>
            </a:r>
            <a:r>
              <a:rPr lang="en-US" altLang="en-US" b="0" dirty="0" err="1">
                <a:solidFill>
                  <a:srgbClr val="1F1F1F"/>
                </a:solidFill>
              </a:rPr>
              <a:t>đó</a:t>
            </a:r>
            <a:r>
              <a:rPr lang="en-US" altLang="en-US" b="0" dirty="0">
                <a:solidFill>
                  <a:srgbClr val="1F1F1F"/>
                </a:solidFill>
              </a:rPr>
              <a:t> có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mạnh </a:t>
            </a:r>
            <a:r>
              <a:rPr lang="en-US" altLang="en-US" b="0" dirty="0" err="1">
                <a:solidFill>
                  <a:srgbClr val="1F1F1F"/>
                </a:solidFill>
              </a:rPr>
              <a:t>về</a:t>
            </a:r>
            <a:r>
              <a:rPr lang="en-US" altLang="en-US" b="0" dirty="0">
                <a:solidFill>
                  <a:srgbClr val="1F1F1F"/>
                </a:solidFill>
              </a:rPr>
              <a:t> </a:t>
            </a:r>
            <a:r>
              <a:rPr lang="en-US" altLang="en-US" b="0" dirty="0" err="1">
                <a:solidFill>
                  <a:srgbClr val="1F1F1F"/>
                </a:solidFill>
              </a:rPr>
              <a:t>màu</a:t>
            </a:r>
            <a:r>
              <a:rPr lang="en-US" altLang="en-US" b="0" dirty="0">
                <a:solidFill>
                  <a:srgbClr val="1F1F1F"/>
                </a:solidFill>
              </a:rPr>
              <a:t> </a:t>
            </a:r>
            <a:r>
              <a:rPr lang="en-US" altLang="en-US" b="0" dirty="0" err="1">
                <a:solidFill>
                  <a:srgbClr val="1F1F1F"/>
                </a:solidFill>
              </a:rPr>
              <a:t>sắc</a:t>
            </a:r>
            <a:r>
              <a:rPr lang="en-US" altLang="en-US" b="0" dirty="0">
                <a:solidFill>
                  <a:srgbClr val="1F1F1F"/>
                </a:solidFill>
              </a:rPr>
              <a:t> </a:t>
            </a:r>
            <a:r>
              <a:rPr lang="en-US" altLang="en-US" b="0" dirty="0" err="1">
                <a:solidFill>
                  <a:srgbClr val="1F1F1F"/>
                </a:solidFill>
              </a:rPr>
              <a:t>hoặc</a:t>
            </a:r>
            <a:r>
              <a:rPr lang="en-US" altLang="en-US" b="0" dirty="0">
                <a:solidFill>
                  <a:srgbClr val="1F1F1F"/>
                </a:solidFill>
              </a:rPr>
              <a:t> sáng tối (thường là </a:t>
            </a:r>
            <a:r>
              <a:rPr lang="en-US" altLang="en-US" b="0" dirty="0" err="1">
                <a:solidFill>
                  <a:srgbClr val="1F1F1F"/>
                </a:solidFill>
              </a:rPr>
              <a:t>một</a:t>
            </a:r>
            <a:r>
              <a:rPr lang="en-US" altLang="en-US" b="0" dirty="0">
                <a:solidFill>
                  <a:srgbClr val="1F1F1F"/>
                </a:solidFill>
              </a:rPr>
              <a:t> </a:t>
            </a:r>
            <a:r>
              <a:rPr lang="en-US" altLang="en-US" b="0" dirty="0" err="1">
                <a:solidFill>
                  <a:srgbClr val="1F1F1F"/>
                </a:solidFill>
              </a:rPr>
              <a:t>cạnh</a:t>
            </a:r>
            <a:r>
              <a:rPr lang="en-US" altLang="en-US" b="0" dirty="0">
                <a:solidFill>
                  <a:srgbClr val="1F1F1F"/>
                </a:solidFill>
              </a:rPr>
              <a:t>).</a:t>
            </a:r>
          </a:p>
          <a:p>
            <a:pPr marL="457200" lvl="1" indent="0" algn="l" defTabSz="914400" eaLnBrk="0" fontAlgn="base">
              <a:spcBef>
                <a:spcPct val="0"/>
              </a:spcBef>
              <a:spcAft>
                <a:spcPct val="0"/>
              </a:spcAft>
              <a:buFontTx/>
              <a:buChar char="•"/>
            </a:pPr>
            <a:r>
              <a:rPr lang="en-US" altLang="en-US" b="0" dirty="0" err="1">
                <a:solidFill>
                  <a:srgbClr val="1F1F1F"/>
                </a:solidFill>
              </a:rPr>
              <a:t>Công</a:t>
            </a:r>
            <a:r>
              <a:rPr lang="en-US" altLang="en-US" b="0" dirty="0">
                <a:solidFill>
                  <a:srgbClr val="1F1F1F"/>
                </a:solidFill>
              </a:rPr>
              <a:t> </a:t>
            </a:r>
            <a:r>
              <a:rPr lang="en-US" altLang="en-US" b="0" dirty="0" err="1">
                <a:solidFill>
                  <a:srgbClr val="1F1F1F"/>
                </a:solidFill>
              </a:rPr>
              <a:t>thức</a:t>
            </a:r>
            <a:r>
              <a:rPr lang="en-US" altLang="en-US" b="0" dirty="0">
                <a:solidFill>
                  <a:srgbClr val="1F1F1F"/>
                </a:solidFill>
              </a:rPr>
              <a:t> tính:</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r>
              <a:rPr lang="en-US" altLang="en-US" b="0" dirty="0">
                <a:solidFill>
                  <a:srgbClr val="1F1F1F"/>
                </a:solidFill>
              </a:rPr>
              <a:t>Trong </a:t>
            </a:r>
            <a:r>
              <a:rPr lang="en-US" altLang="en-US" b="0" dirty="0" err="1">
                <a:solidFill>
                  <a:srgbClr val="1F1F1F"/>
                </a:solidFill>
              </a:rPr>
              <a:t>đó</a:t>
            </a:r>
            <a:r>
              <a:rPr lang="en-US" altLang="en-US" b="0" dirty="0">
                <a:solidFill>
                  <a:srgbClr val="1F1F1F"/>
                </a:solidFill>
              </a:rPr>
              <a:t>:</a:t>
            </a:r>
          </a:p>
          <a:p>
            <a:pPr marL="914400" lvl="2" indent="0" algn="l" defTabSz="914400" eaLnBrk="0" fontAlgn="base">
              <a:spcBef>
                <a:spcPct val="0"/>
              </a:spcBef>
              <a:spcAft>
                <a:spcPct val="0"/>
              </a:spcAft>
              <a:buFontTx/>
              <a:buChar char="•"/>
            </a:pPr>
            <a:r>
              <a:rPr lang="en-US" altLang="en-US" b="0" dirty="0">
                <a:solidFill>
                  <a:srgbClr val="1F1F1F"/>
                </a:solidFill>
              </a:rPr>
              <a:t>( </a:t>
            </a:r>
            <a:r>
              <a:rPr lang="en-US" altLang="en-US" b="0" dirty="0" err="1">
                <a:solidFill>
                  <a:srgbClr val="1F1F1F"/>
                </a:solidFill>
              </a:rPr>
              <a:t>G_x</a:t>
            </a:r>
            <a:r>
              <a:rPr lang="en-US" altLang="en-US" b="0" dirty="0">
                <a:solidFill>
                  <a:srgbClr val="1F1F1F"/>
                </a:solidFill>
              </a:rPr>
              <a:t> ):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chiều </a:t>
            </a:r>
            <a:r>
              <a:rPr lang="en-US" altLang="en-US" b="0" dirty="0" err="1">
                <a:solidFill>
                  <a:srgbClr val="1F1F1F"/>
                </a:solidFill>
              </a:rPr>
              <a:t>ngang</a:t>
            </a:r>
            <a:r>
              <a:rPr lang="en-US" altLang="en-US" b="0" dirty="0">
                <a:solidFill>
                  <a:srgbClr val="1F1F1F"/>
                </a:solidFill>
              </a:rPr>
              <a:t> (</a:t>
            </a:r>
            <a:r>
              <a:rPr lang="en-US" altLang="en-US" b="0" dirty="0" err="1">
                <a:solidFill>
                  <a:srgbClr val="1F1F1F"/>
                </a:solidFill>
              </a:rPr>
              <a:t>trục</a:t>
            </a:r>
            <a:r>
              <a:rPr lang="en-US" altLang="en-US" b="0" dirty="0">
                <a:solidFill>
                  <a:srgbClr val="1F1F1F"/>
                </a:solidFill>
              </a:rPr>
              <a:t> x).</a:t>
            </a:r>
          </a:p>
          <a:p>
            <a:pPr marL="914400" lvl="2" indent="0" algn="l" defTabSz="914400" eaLnBrk="0" fontAlgn="base">
              <a:spcBef>
                <a:spcPct val="0"/>
              </a:spcBef>
              <a:spcAft>
                <a:spcPct val="0"/>
              </a:spcAft>
              <a:buFontTx/>
              <a:buChar char="•"/>
            </a:pPr>
            <a:r>
              <a:rPr lang="en-US" altLang="en-US" b="0" dirty="0">
                <a:solidFill>
                  <a:srgbClr val="1F1F1F"/>
                </a:solidFill>
              </a:rPr>
              <a:t>( </a:t>
            </a:r>
            <a:r>
              <a:rPr lang="en-US" altLang="en-US" b="0" dirty="0" err="1">
                <a:solidFill>
                  <a:srgbClr val="1F1F1F"/>
                </a:solidFill>
              </a:rPr>
              <a:t>G_y</a:t>
            </a:r>
            <a:r>
              <a:rPr lang="en-US" altLang="en-US" b="0" dirty="0">
                <a:solidFill>
                  <a:srgbClr val="1F1F1F"/>
                </a:solidFill>
              </a:rPr>
              <a:t> ):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a:t>
            </a:r>
            <a:r>
              <a:rPr lang="en-US" altLang="en-US" b="0" dirty="0" err="1">
                <a:solidFill>
                  <a:srgbClr val="1F1F1F"/>
                </a:solidFill>
              </a:rPr>
              <a:t>theo</a:t>
            </a:r>
            <a:r>
              <a:rPr lang="en-US" altLang="en-US" b="0" dirty="0">
                <a:solidFill>
                  <a:srgbClr val="1F1F1F"/>
                </a:solidFill>
              </a:rPr>
              <a:t> chiều </a:t>
            </a:r>
            <a:r>
              <a:rPr lang="en-US" altLang="en-US" b="0" dirty="0" err="1">
                <a:solidFill>
                  <a:srgbClr val="1F1F1F"/>
                </a:solidFill>
              </a:rPr>
              <a:t>dọc</a:t>
            </a:r>
            <a:r>
              <a:rPr lang="en-US" altLang="en-US" b="0" dirty="0">
                <a:solidFill>
                  <a:srgbClr val="1F1F1F"/>
                </a:solidFill>
              </a:rPr>
              <a:t> (</a:t>
            </a:r>
            <a:r>
              <a:rPr lang="en-US" altLang="en-US" b="0" dirty="0" err="1">
                <a:solidFill>
                  <a:srgbClr val="1F1F1F"/>
                </a:solidFill>
              </a:rPr>
              <a:t>trục</a:t>
            </a:r>
            <a:r>
              <a:rPr lang="en-US" altLang="en-US" b="0" dirty="0">
                <a:solidFill>
                  <a:srgbClr val="1F1F1F"/>
                </a:solidFill>
              </a:rPr>
              <a:t> y</a:t>
            </a:r>
            <a:r>
              <a:rPr lang="en-US" altLang="en-US" b="0" dirty="0" smtClean="0">
                <a:solidFill>
                  <a:srgbClr val="1F1F1F"/>
                </a:solidFill>
              </a:rPr>
              <a:t>).</a:t>
            </a:r>
          </a:p>
          <a:p>
            <a:pPr marL="914400" lvl="2" indent="0" algn="l" defTabSz="914400" eaLnBrk="0" fontAlgn="base">
              <a:spcBef>
                <a:spcPct val="0"/>
              </a:spcBef>
              <a:spcAft>
                <a:spcPct val="0"/>
              </a:spcAft>
              <a:buFontTx/>
              <a:buChar char="•"/>
            </a:pPr>
            <a:endParaRPr lang="en-US" altLang="en-US" b="0" dirty="0">
              <a:solidFill>
                <a:srgbClr val="1F1F1F"/>
              </a:solidFill>
            </a:endParaRPr>
          </a:p>
          <a:p>
            <a:pPr lvl="0" algn="l" defTabSz="914400" eaLnBrk="0" fontAlgn="base">
              <a:spcBef>
                <a:spcPct val="0"/>
              </a:spcBef>
              <a:spcAft>
                <a:spcPct val="0"/>
              </a:spcAft>
              <a:buFontTx/>
              <a:buAutoNum type="arabicPeriod" startAt="2"/>
            </a:pPr>
            <a:r>
              <a:rPr lang="en-US" altLang="en-US" b="0" dirty="0" err="1">
                <a:solidFill>
                  <a:srgbClr val="1F1F1F"/>
                </a:solidFill>
              </a:rPr>
              <a:t>Hướng</a:t>
            </a:r>
            <a:r>
              <a:rPr lang="en-US" altLang="en-US" b="0" dirty="0">
                <a:solidFill>
                  <a:srgbClr val="1F1F1F"/>
                </a:solidFill>
              </a:rPr>
              <a:t> Gradient (Gradient Direction):</a:t>
            </a:r>
          </a:p>
          <a:p>
            <a:pPr marL="457200" lvl="1" indent="0" algn="l" defTabSz="914400" eaLnBrk="0" fontAlgn="base">
              <a:spcBef>
                <a:spcPct val="0"/>
              </a:spcBef>
              <a:spcAft>
                <a:spcPct val="0"/>
              </a:spcAft>
              <a:buFontTx/>
              <a:buChar char="•"/>
            </a:pPr>
            <a:r>
              <a:rPr lang="en-US" altLang="en-US" b="0" dirty="0">
                <a:solidFill>
                  <a:srgbClr val="1F1F1F"/>
                </a:solidFill>
              </a:rPr>
              <a:t>Là </a:t>
            </a:r>
            <a:r>
              <a:rPr lang="en-US" altLang="en-US" b="0" dirty="0" err="1">
                <a:solidFill>
                  <a:srgbClr val="1F1F1F"/>
                </a:solidFill>
              </a:rPr>
              <a:t>hướng</a:t>
            </a:r>
            <a:r>
              <a:rPr lang="en-US" altLang="en-US" b="0" dirty="0">
                <a:solidFill>
                  <a:srgbClr val="1F1F1F"/>
                </a:solidFill>
              </a:rPr>
              <a:t> </a:t>
            </a:r>
            <a:r>
              <a:rPr lang="en-US" altLang="en-US" b="0" dirty="0" err="1">
                <a:solidFill>
                  <a:srgbClr val="1F1F1F"/>
                </a:solidFill>
              </a:rPr>
              <a:t>của</a:t>
            </a:r>
            <a:r>
              <a:rPr lang="en-US" altLang="en-US" b="0" dirty="0">
                <a:solidFill>
                  <a:srgbClr val="1F1F1F"/>
                </a:solidFill>
              </a:rPr>
              <a:t> </a:t>
            </a:r>
            <a:r>
              <a:rPr lang="en-US" altLang="en-US" b="0" dirty="0" err="1">
                <a:solidFill>
                  <a:srgbClr val="1F1F1F"/>
                </a:solidFill>
              </a:rPr>
              <a:t>sự</a:t>
            </a:r>
            <a:r>
              <a:rPr lang="en-US" altLang="en-US" b="0" dirty="0">
                <a:solidFill>
                  <a:srgbClr val="1F1F1F"/>
                </a:solidFill>
              </a:rPr>
              <a:t> </a:t>
            </a:r>
            <a:r>
              <a:rPr lang="en-US" altLang="en-US" b="0" dirty="0" err="1">
                <a:solidFill>
                  <a:srgbClr val="1F1F1F"/>
                </a:solidFill>
              </a:rPr>
              <a:t>thay</a:t>
            </a:r>
            <a:r>
              <a:rPr lang="en-US" altLang="en-US" b="0" dirty="0">
                <a:solidFill>
                  <a:srgbClr val="1F1F1F"/>
                </a:solidFill>
              </a:rPr>
              <a:t> </a:t>
            </a:r>
            <a:r>
              <a:rPr lang="en-US" altLang="en-US" b="0" dirty="0" err="1">
                <a:solidFill>
                  <a:srgbClr val="1F1F1F"/>
                </a:solidFill>
              </a:rPr>
              <a:t>đổi</a:t>
            </a:r>
            <a:r>
              <a:rPr lang="en-US" altLang="en-US" b="0" dirty="0">
                <a:solidFill>
                  <a:srgbClr val="1F1F1F"/>
                </a:solidFill>
              </a:rPr>
              <a:t> mạnh </a:t>
            </a:r>
            <a:r>
              <a:rPr lang="en-US" altLang="en-US" b="0" dirty="0" err="1">
                <a:solidFill>
                  <a:srgbClr val="1F1F1F"/>
                </a:solidFill>
              </a:rPr>
              <a:t>nhất</a:t>
            </a:r>
            <a:r>
              <a:rPr lang="en-US" altLang="en-US" b="0" dirty="0">
                <a:solidFill>
                  <a:srgbClr val="1F1F1F"/>
                </a:solidFill>
              </a:rPr>
              <a:t> trong </a:t>
            </a:r>
            <a:r>
              <a:rPr lang="en-US" altLang="en-US" b="0" dirty="0" err="1">
                <a:solidFill>
                  <a:srgbClr val="1F1F1F"/>
                </a:solidFill>
              </a:rPr>
              <a:t>cường</a:t>
            </a:r>
            <a:r>
              <a:rPr lang="en-US" altLang="en-US" b="0" dirty="0">
                <a:solidFill>
                  <a:srgbClr val="1F1F1F"/>
                </a:solidFill>
              </a:rPr>
              <a:t> </a:t>
            </a:r>
            <a:r>
              <a:rPr lang="en-US" altLang="en-US" b="0" dirty="0" err="1">
                <a:solidFill>
                  <a:srgbClr val="1F1F1F"/>
                </a:solidFill>
              </a:rPr>
              <a:t>độ</a:t>
            </a:r>
            <a:r>
              <a:rPr lang="en-US" altLang="en-US" b="0" dirty="0">
                <a:solidFill>
                  <a:srgbClr val="1F1F1F"/>
                </a:solidFill>
              </a:rPr>
              <a:t> sáng.</a:t>
            </a:r>
          </a:p>
          <a:p>
            <a:pPr marL="457200" lvl="1" indent="0" algn="l" defTabSz="914400" eaLnBrk="0" fontAlgn="base">
              <a:spcBef>
                <a:spcPct val="0"/>
              </a:spcBef>
              <a:spcAft>
                <a:spcPct val="0"/>
              </a:spcAft>
              <a:buFontTx/>
              <a:buChar char="•"/>
            </a:pPr>
            <a:r>
              <a:rPr lang="en-US" altLang="en-US" b="0" dirty="0" err="1">
                <a:solidFill>
                  <a:srgbClr val="1F1F1F"/>
                </a:solidFill>
              </a:rPr>
              <a:t>Công</a:t>
            </a:r>
            <a:r>
              <a:rPr lang="en-US" altLang="en-US" b="0" dirty="0">
                <a:solidFill>
                  <a:srgbClr val="1F1F1F"/>
                </a:solidFill>
              </a:rPr>
              <a:t> </a:t>
            </a:r>
            <a:r>
              <a:rPr lang="en-US" altLang="en-US" b="0" dirty="0" err="1">
                <a:solidFill>
                  <a:srgbClr val="1F1F1F"/>
                </a:solidFill>
              </a:rPr>
              <a:t>thức</a:t>
            </a:r>
            <a:r>
              <a:rPr lang="en-US" altLang="en-US" b="0" dirty="0">
                <a:solidFill>
                  <a:srgbClr val="1F1F1F"/>
                </a:solidFill>
              </a:rPr>
              <a:t> tính:</a:t>
            </a:r>
          </a:p>
          <a:p>
            <a:pPr lvl="0" algn="l" defTabSz="914400" eaLnBrk="0" fontAlgn="base">
              <a:spcBef>
                <a:spcPct val="0"/>
              </a:spcBef>
              <a:spcAft>
                <a:spcPct val="0"/>
              </a:spcAft>
            </a:pPr>
            <a:endParaRPr lang="en-US" altLang="en-US" b="0" dirty="0">
              <a:solidFill>
                <a:srgbClr val="1F1F1F"/>
              </a:solidFill>
            </a:endParaRPr>
          </a:p>
          <a:p>
            <a:pPr lvl="0" algn="l" defTabSz="914400" eaLnBrk="0" fontAlgn="base">
              <a:spcBef>
                <a:spcPct val="0"/>
              </a:spcBef>
              <a:spcAft>
                <a:spcPct val="0"/>
              </a:spcAft>
            </a:pPr>
            <a:endParaRPr lang="en-US" altLang="en-US" b="0" dirty="0">
              <a:solidFill>
                <a:srgbClr val="1F1F1F"/>
              </a:solidFill>
            </a:endParaRPr>
          </a:p>
          <a:p>
            <a:pPr marL="457200" lvl="1" indent="0" algn="l" defTabSz="914400" eaLnBrk="0" fontAlgn="base">
              <a:spcBef>
                <a:spcPct val="0"/>
              </a:spcBef>
              <a:spcAft>
                <a:spcPct val="0"/>
              </a:spcAft>
              <a:buFontTx/>
              <a:buChar char="•"/>
            </a:pPr>
            <a:r>
              <a:rPr lang="en-US" altLang="en-US" b="0" dirty="0" err="1">
                <a:solidFill>
                  <a:srgbClr val="1F1F1F"/>
                </a:solidFill>
              </a:rPr>
              <a:t>Hướng</a:t>
            </a:r>
            <a:r>
              <a:rPr lang="en-US" altLang="en-US" b="0" dirty="0">
                <a:solidFill>
                  <a:srgbClr val="1F1F1F"/>
                </a:solidFill>
              </a:rPr>
              <a:t> gradient luôn </a:t>
            </a:r>
            <a:r>
              <a:rPr lang="en-US" altLang="en-US" b="0" dirty="0" err="1">
                <a:solidFill>
                  <a:srgbClr val="1F1F1F"/>
                </a:solidFill>
              </a:rPr>
              <a:t>vuông</a:t>
            </a:r>
            <a:r>
              <a:rPr lang="en-US" altLang="en-US" b="0" dirty="0">
                <a:solidFill>
                  <a:srgbClr val="1F1F1F"/>
                </a:solidFill>
              </a:rPr>
              <a:t> </a:t>
            </a:r>
            <a:r>
              <a:rPr lang="en-US" altLang="en-US" b="0" dirty="0" err="1">
                <a:solidFill>
                  <a:srgbClr val="1F1F1F"/>
                </a:solidFill>
              </a:rPr>
              <a:t>góc</a:t>
            </a:r>
            <a:r>
              <a:rPr lang="en-US" altLang="en-US" b="0" dirty="0">
                <a:solidFill>
                  <a:srgbClr val="1F1F1F"/>
                </a:solidFill>
              </a:rPr>
              <a:t> </a:t>
            </a:r>
            <a:r>
              <a:rPr lang="en-US" altLang="en-US" b="0" dirty="0" err="1">
                <a:solidFill>
                  <a:srgbClr val="1F1F1F"/>
                </a:solidFill>
              </a:rPr>
              <a:t>với</a:t>
            </a:r>
            <a:r>
              <a:rPr lang="en-US" altLang="en-US" b="0" dirty="0">
                <a:solidFill>
                  <a:srgbClr val="1F1F1F"/>
                </a:solidFill>
              </a:rPr>
              <a:t> </a:t>
            </a:r>
            <a:r>
              <a:rPr lang="en-US" altLang="en-US" b="0" dirty="0" err="1">
                <a:solidFill>
                  <a:srgbClr val="1F1F1F"/>
                </a:solidFill>
              </a:rPr>
              <a:t>cạnh</a:t>
            </a:r>
            <a:r>
              <a:rPr lang="en-US" altLang="en-US" b="0" dirty="0">
                <a:solidFill>
                  <a:srgbClr val="1F1F1F"/>
                </a:solidFill>
              </a:rPr>
              <a:t> trong </a:t>
            </a:r>
            <a:r>
              <a:rPr lang="en-US" altLang="en-US" b="0" dirty="0" err="1">
                <a:solidFill>
                  <a:srgbClr val="1F1F1F"/>
                </a:solidFill>
              </a:rPr>
              <a:t>hình</a:t>
            </a:r>
            <a:r>
              <a:rPr lang="en-US" altLang="en-US" b="0" dirty="0">
                <a:solidFill>
                  <a:srgbClr val="1F1F1F"/>
                </a:solidFill>
              </a:rPr>
              <a:t> </a:t>
            </a:r>
            <a:r>
              <a:rPr lang="en-US" altLang="en-US" b="0" dirty="0" err="1">
                <a:solidFill>
                  <a:srgbClr val="1F1F1F"/>
                </a:solidFill>
              </a:rPr>
              <a:t>ảnh</a:t>
            </a:r>
            <a:r>
              <a:rPr lang="en-US" altLang="en-US" b="0" dirty="0">
                <a:solidFill>
                  <a:srgbClr val="1F1F1F"/>
                </a:solidFill>
              </a:rPr>
              <a:t>.</a:t>
            </a:r>
          </a:p>
        </p:txBody>
      </p:sp>
      <p:pic>
        <p:nvPicPr>
          <p:cNvPr id="8" name="Picture 7"/>
          <p:cNvPicPr>
            <a:picLocks noChangeAspect="1"/>
          </p:cNvPicPr>
          <p:nvPr/>
        </p:nvPicPr>
        <p:blipFill>
          <a:blip r:embed="rId2"/>
          <a:stretch>
            <a:fillRect/>
          </a:stretch>
        </p:blipFill>
        <p:spPr>
          <a:xfrm>
            <a:off x="4438452" y="4586260"/>
            <a:ext cx="1419423" cy="690590"/>
          </a:xfrm>
          <a:prstGeom prst="rect">
            <a:avLst/>
          </a:prstGeom>
        </p:spPr>
      </p:pic>
      <p:pic>
        <p:nvPicPr>
          <p:cNvPr id="9" name="Picture 8"/>
          <p:cNvPicPr>
            <a:picLocks noChangeAspect="1"/>
          </p:cNvPicPr>
          <p:nvPr/>
        </p:nvPicPr>
        <p:blipFill>
          <a:blip r:embed="rId3"/>
          <a:stretch>
            <a:fillRect/>
          </a:stretch>
        </p:blipFill>
        <p:spPr>
          <a:xfrm>
            <a:off x="4352715" y="7658100"/>
            <a:ext cx="1505160" cy="866811"/>
          </a:xfrm>
          <a:prstGeom prst="rect">
            <a:avLst/>
          </a:prstGeom>
        </p:spPr>
      </p:pic>
    </p:spTree>
    <p:extLst>
      <p:ext uri="{BB962C8B-B14F-4D97-AF65-F5344CB8AC3E}">
        <p14:creationId xmlns:p14="http://schemas.microsoft.com/office/powerpoint/2010/main" val="58282551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5900" y="2114550"/>
            <a:ext cx="10651914" cy="6292521"/>
          </a:xfrm>
        </p:spPr>
        <p:txBody>
          <a:bodyPr>
            <a:normAutofit/>
          </a:bodyPr>
          <a:lstStyle/>
          <a:p>
            <a:pPr marL="0" indent="0">
              <a:buNone/>
            </a:pPr>
            <a:r>
              <a:rPr lang="vi-VN" sz="2400" b="1" dirty="0">
                <a:latin typeface="Helvetica Neue"/>
              </a:rPr>
              <a:t>Ứng dụng của Gradient</a:t>
            </a:r>
            <a:endParaRPr lang="vi-VN" sz="2400" dirty="0">
              <a:latin typeface="Helvetica Neue"/>
            </a:endParaRPr>
          </a:p>
          <a:p>
            <a:pPr lvl="1"/>
            <a:r>
              <a:rPr lang="vi-VN" sz="2400" b="1" dirty="0">
                <a:latin typeface="Helvetica Neue"/>
              </a:rPr>
              <a:t>Phát hiện cạnh (Edge Detection)</a:t>
            </a:r>
            <a:r>
              <a:rPr lang="vi-VN" sz="2400" dirty="0">
                <a:latin typeface="Helvetica Neue"/>
              </a:rPr>
              <a:t>:</a:t>
            </a:r>
          </a:p>
          <a:p>
            <a:pPr marL="650229" lvl="1" indent="0">
              <a:buNone/>
            </a:pPr>
            <a:r>
              <a:rPr lang="vi-VN" sz="2400" dirty="0" smtClean="0">
                <a:latin typeface="Helvetica Neue"/>
              </a:rPr>
              <a:t>Gradient </a:t>
            </a:r>
            <a:r>
              <a:rPr lang="vi-VN" sz="2400" dirty="0">
                <a:latin typeface="Helvetica Neue"/>
              </a:rPr>
              <a:t>được sử dụng để xác định vị trí các cạnh trong hình ảnh (những nơi có sự thay đổi mạnh về cường độ sáng).</a:t>
            </a:r>
          </a:p>
          <a:p>
            <a:pPr marL="650229" lvl="1" indent="0">
              <a:buNone/>
            </a:pPr>
            <a:r>
              <a:rPr lang="vi-VN" sz="2400" dirty="0" smtClean="0">
                <a:latin typeface="Helvetica Neue"/>
              </a:rPr>
              <a:t>Ví </a:t>
            </a:r>
            <a:r>
              <a:rPr lang="vi-VN" sz="2400" dirty="0">
                <a:latin typeface="Helvetica Neue"/>
              </a:rPr>
              <a:t>dụ: Thuật toán Canny, Sobel, Prewitt.</a:t>
            </a:r>
          </a:p>
          <a:p>
            <a:pPr lvl="1"/>
            <a:r>
              <a:rPr lang="vi-VN" sz="2116" b="1" dirty="0">
                <a:latin typeface="Helvetica Neue"/>
              </a:rPr>
              <a:t>Phân tích hình ảnh</a:t>
            </a:r>
            <a:r>
              <a:rPr lang="vi-VN" sz="2116" dirty="0">
                <a:latin typeface="Helvetica Neue"/>
              </a:rPr>
              <a:t>:</a:t>
            </a:r>
          </a:p>
          <a:p>
            <a:pPr marL="650229" lvl="1" indent="0">
              <a:buNone/>
            </a:pPr>
            <a:r>
              <a:rPr lang="vi-VN" sz="2400" dirty="0">
                <a:latin typeface="Helvetica Neue"/>
              </a:rPr>
              <a:t>Gradient giúp hiểu rõ hơn về cấu trúc của hình ảnh, như hình dạng, biên, và chi tiết.</a:t>
            </a:r>
          </a:p>
          <a:p>
            <a:pPr lvl="1"/>
            <a:r>
              <a:rPr lang="vi-VN" sz="2116" b="1" dirty="0">
                <a:latin typeface="Helvetica Neue"/>
              </a:rPr>
              <a:t>Làm nổi bật các đặc trưng (Feature Extraction)</a:t>
            </a:r>
            <a:r>
              <a:rPr lang="vi-VN" sz="2116" dirty="0">
                <a:latin typeface="Helvetica Neue"/>
              </a:rPr>
              <a:t>:</a:t>
            </a:r>
          </a:p>
          <a:p>
            <a:pPr marL="650229" lvl="1" indent="0">
              <a:buNone/>
            </a:pPr>
            <a:r>
              <a:rPr lang="vi-VN" sz="2400" dirty="0">
                <a:latin typeface="Helvetica Neue"/>
              </a:rPr>
              <a:t>Gradient được sử dụng trong các mô hình học máy hoặc học sâu để trích xuất đặc trưng từ hình ảnh.</a:t>
            </a:r>
          </a:p>
          <a:p>
            <a:pPr marL="0" indent="0">
              <a:buNone/>
            </a:pPr>
            <a:endParaRPr lang="en-US" sz="2400" dirty="0">
              <a:latin typeface="Helvetica Neue"/>
            </a:endParaRPr>
          </a:p>
        </p:txBody>
      </p:sp>
    </p:spTree>
    <p:extLst>
      <p:ext uri="{BB962C8B-B14F-4D97-AF65-F5344CB8AC3E}">
        <p14:creationId xmlns:p14="http://schemas.microsoft.com/office/powerpoint/2010/main" val="134034748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853326" y="129583"/>
            <a:ext cx="11888003" cy="1187774"/>
          </a:xfrm>
        </p:spPr>
        <p:txBody>
          <a:bodyPr>
            <a:normAutofit/>
          </a:bodyPr>
          <a:lstStyle/>
          <a:p>
            <a:pPr algn="ctr"/>
            <a:r>
              <a:rPr lang="en-US" sz="6600" b="1">
                <a:latin typeface="Constantia" panose="02030602050306030303" pitchFamily="18" charset="0"/>
              </a:rPr>
              <a:t>Thuật toán Canny</a:t>
            </a:r>
          </a:p>
        </p:txBody>
      </p:sp>
      <p:sp>
        <p:nvSpPr>
          <p:cNvPr id="5" name="Rounded Rectangle 4"/>
          <p:cNvSpPr/>
          <p:nvPr/>
        </p:nvSpPr>
        <p:spPr>
          <a:xfrm>
            <a:off x="366710" y="1847133"/>
            <a:ext cx="7545390" cy="65754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0">
                <a:solidFill>
                  <a:srgbClr val="FFFF99"/>
                </a:solidFill>
                <a:latin typeface="Constantia" panose="02030602050306030303" pitchFamily="18" charset="0"/>
              </a:rPr>
              <a:t>Tính biên độ và hướng của Gradient</a:t>
            </a:r>
          </a:p>
        </p:txBody>
      </p:sp>
      <p:grpSp>
        <p:nvGrpSpPr>
          <p:cNvPr id="10" name="Group 9"/>
          <p:cNvGrpSpPr/>
          <p:nvPr/>
        </p:nvGrpSpPr>
        <p:grpSpPr>
          <a:xfrm>
            <a:off x="1402122" y="2833293"/>
            <a:ext cx="3614900" cy="3717335"/>
            <a:chOff x="4537209" y="2630093"/>
            <a:chExt cx="3614900" cy="3717335"/>
          </a:xfrm>
        </p:grpSpPr>
        <p:pic>
          <p:nvPicPr>
            <p:cNvPr id="2" name="Picture 1"/>
            <p:cNvPicPr>
              <a:picLocks noChangeAspect="1"/>
            </p:cNvPicPr>
            <p:nvPr/>
          </p:nvPicPr>
          <p:blipFill>
            <a:blip r:embed="rId2"/>
            <a:stretch>
              <a:fillRect/>
            </a:stretch>
          </p:blipFill>
          <p:spPr>
            <a:xfrm>
              <a:off x="4537209" y="2630093"/>
              <a:ext cx="3614900" cy="3009449"/>
            </a:xfrm>
            <a:prstGeom prst="rect">
              <a:avLst/>
            </a:prstGeom>
          </p:spPr>
        </p:pic>
        <p:sp>
          <p:nvSpPr>
            <p:cNvPr id="9" name="TextBox 8"/>
            <p:cNvSpPr txBox="1"/>
            <p:nvPr/>
          </p:nvSpPr>
          <p:spPr>
            <a:xfrm>
              <a:off x="5936344" y="5639542"/>
              <a:ext cx="1103086" cy="707886"/>
            </a:xfrm>
            <a:prstGeom prst="rect">
              <a:avLst/>
            </a:prstGeom>
            <a:noFill/>
          </p:spPr>
          <p:txBody>
            <a:bodyPr wrap="square" rtlCol="0">
              <a:spAutoFit/>
            </a:bodyPr>
            <a:lstStyle/>
            <a:p>
              <a:r>
                <a:rPr lang="en-US" sz="4000">
                  <a:latin typeface="Times New Roman" panose="02020603050405020304" pitchFamily="18" charset="0"/>
                  <a:cs typeface="Times New Roman" panose="02020603050405020304" pitchFamily="18" charset="0"/>
                </a:rPr>
                <a:t>G</a:t>
              </a:r>
              <a:r>
                <a:rPr lang="en-US" sz="4000" baseline="-25000">
                  <a:latin typeface="Times New Roman" panose="02020603050405020304" pitchFamily="18" charset="0"/>
                  <a:cs typeface="Times New Roman" panose="02020603050405020304" pitchFamily="18" charset="0"/>
                </a:rPr>
                <a:t>x</a:t>
              </a:r>
            </a:p>
          </p:txBody>
        </p:sp>
      </p:grpSp>
      <p:sp>
        <p:nvSpPr>
          <p:cNvPr id="11" name="TextBox 10"/>
          <p:cNvSpPr txBox="1"/>
          <p:nvPr/>
        </p:nvSpPr>
        <p:spPr>
          <a:xfrm>
            <a:off x="8548499" y="5818083"/>
            <a:ext cx="1103086" cy="707886"/>
          </a:xfrm>
          <a:prstGeom prst="rect">
            <a:avLst/>
          </a:prstGeom>
          <a:noFill/>
        </p:spPr>
        <p:txBody>
          <a:bodyPr wrap="square" rtlCol="0">
            <a:spAutoFit/>
          </a:bodyPr>
          <a:lstStyle/>
          <a:p>
            <a:r>
              <a:rPr lang="en-US" sz="4000">
                <a:latin typeface="Times New Roman" panose="02020603050405020304" pitchFamily="18" charset="0"/>
                <a:cs typeface="Times New Roman" panose="02020603050405020304" pitchFamily="18" charset="0"/>
              </a:rPr>
              <a:t>G</a:t>
            </a:r>
            <a:r>
              <a:rPr lang="en-US" sz="4000" baseline="-25000">
                <a:latin typeface="Times New Roman" panose="02020603050405020304" pitchFamily="18" charset="0"/>
                <a:cs typeface="Times New Roman" panose="02020603050405020304" pitchFamily="18" charset="0"/>
              </a:rPr>
              <a:t>y</a:t>
            </a:r>
          </a:p>
        </p:txBody>
      </p:sp>
      <mc:AlternateContent xmlns:mc="http://schemas.openxmlformats.org/markup-compatibility/2006" xmlns:a14="http://schemas.microsoft.com/office/drawing/2010/main">
        <mc:Choice Requires="a14">
          <p:sp>
            <p:nvSpPr>
              <p:cNvPr id="13" name="TextBox 12"/>
              <p:cNvSpPr txBox="1"/>
              <p:nvPr/>
            </p:nvSpPr>
            <p:spPr>
              <a:xfrm>
                <a:off x="1522491" y="7230720"/>
                <a:ext cx="3660617" cy="1219693"/>
              </a:xfrm>
              <a:prstGeom prst="rect">
                <a:avLst/>
              </a:prstGeom>
              <a:noFill/>
              <a:ln w="28575">
                <a:solidFill>
                  <a:srgbClr val="51C564"/>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𝑰</m:t>
                          </m:r>
                        </m:e>
                        <m:sub>
                          <m:r>
                            <a:rPr lang="en-US" sz="3600" b="1" i="1" smtClean="0">
                              <a:latin typeface="Cambria Math" panose="02040503050406030204" pitchFamily="18" charset="0"/>
                            </a:rPr>
                            <m:t>𝒇</m:t>
                          </m:r>
                        </m:sub>
                      </m:sSub>
                      <m:r>
                        <a:rPr lang="en-US" sz="3600" b="1" i="1" smtClean="0">
                          <a:latin typeface="Cambria Math" panose="02040503050406030204" pitchFamily="18" charset="0"/>
                        </a:rPr>
                        <m:t>=</m:t>
                      </m:r>
                      <m:rad>
                        <m:radPr>
                          <m:degHide m:val="on"/>
                          <m:ctrlPr>
                            <a:rPr lang="en-US" sz="3600" b="1" i="1" smtClean="0">
                              <a:latin typeface="Cambria Math" panose="02040503050406030204" pitchFamily="18" charset="0"/>
                            </a:rPr>
                          </m:ctrlPr>
                        </m:radPr>
                        <m:deg/>
                        <m:e>
                          <m:sSubSup>
                            <m:sSubSupPr>
                              <m:ctrlPr>
                                <a:rPr lang="en-US" sz="3600" i="1">
                                  <a:latin typeface="Cambria Math" panose="02040503050406030204" pitchFamily="18" charset="0"/>
                                </a:rPr>
                              </m:ctrlPr>
                            </m:sSubSupPr>
                            <m:e>
                              <m:r>
                                <a:rPr lang="en-US" sz="3600" i="1">
                                  <a:latin typeface="Cambria Math" panose="02040503050406030204" pitchFamily="18" charset="0"/>
                                </a:rPr>
                                <m:t>𝑰</m:t>
                              </m:r>
                            </m:e>
                            <m:sub>
                              <m:r>
                                <a:rPr lang="en-US" sz="3600" b="1" i="1" smtClean="0">
                                  <a:latin typeface="Cambria Math" panose="02040503050406030204" pitchFamily="18" charset="0"/>
                                </a:rPr>
                                <m:t>𝒙</m:t>
                              </m:r>
                            </m:sub>
                            <m:sup>
                              <m:r>
                                <a:rPr lang="en-US" sz="3600" i="1">
                                  <a:latin typeface="Cambria Math" panose="02040503050406030204" pitchFamily="18" charset="0"/>
                                </a:rPr>
                                <m:t>𝟐</m:t>
                              </m:r>
                            </m:sup>
                          </m:sSubSup>
                          <m:r>
                            <a:rPr lang="en-US" sz="3600" b="1" i="1" smtClean="0">
                              <a:latin typeface="Cambria Math" panose="02040503050406030204" pitchFamily="18" charset="0"/>
                            </a:rPr>
                            <m:t>+</m:t>
                          </m:r>
                          <m:sSubSup>
                            <m:sSubSupPr>
                              <m:ctrlPr>
                                <a:rPr lang="en-US" sz="3600" i="1">
                                  <a:latin typeface="Cambria Math" panose="02040503050406030204" pitchFamily="18" charset="0"/>
                                </a:rPr>
                              </m:ctrlPr>
                            </m:sSubSupPr>
                            <m:e>
                              <m:r>
                                <a:rPr lang="en-US" sz="3600" i="1">
                                  <a:latin typeface="Cambria Math" panose="02040503050406030204" pitchFamily="18" charset="0"/>
                                </a:rPr>
                                <m:t>𝑰</m:t>
                              </m:r>
                            </m:e>
                            <m:sub>
                              <m:r>
                                <a:rPr lang="en-US" sz="3600" i="1">
                                  <a:latin typeface="Cambria Math" panose="02040503050406030204" pitchFamily="18" charset="0"/>
                                </a:rPr>
                                <m:t>𝒚</m:t>
                              </m:r>
                            </m:sub>
                            <m:sup>
                              <m:r>
                                <a:rPr lang="en-US" sz="3600" i="1">
                                  <a:latin typeface="Cambria Math" panose="02040503050406030204" pitchFamily="18" charset="0"/>
                                </a:rPr>
                                <m:t>𝟐</m:t>
                              </m:r>
                            </m:sup>
                          </m:sSubSup>
                        </m:e>
                      </m:rad>
                    </m:oMath>
                  </m:oMathPara>
                </a14:m>
                <a:endParaRPr lang="en-US" sz="3600"/>
              </a:p>
            </p:txBody>
          </p:sp>
        </mc:Choice>
        <mc:Fallback xmlns="">
          <p:sp>
            <p:nvSpPr>
              <p:cNvPr id="13" name="TextBox 12"/>
              <p:cNvSpPr txBox="1">
                <a:spLocks noRot="1" noChangeAspect="1" noMove="1" noResize="1" noEditPoints="1" noAdjustHandles="1" noChangeArrowheads="1" noChangeShapeType="1" noTextEdit="1"/>
              </p:cNvSpPr>
              <p:nvPr/>
            </p:nvSpPr>
            <p:spPr>
              <a:xfrm>
                <a:off x="1522491" y="7230720"/>
                <a:ext cx="3660617" cy="1219693"/>
              </a:xfrm>
              <a:prstGeom prst="rect">
                <a:avLst/>
              </a:prstGeom>
              <a:blipFill>
                <a:blip r:embed="rId4"/>
                <a:stretch>
                  <a:fillRect/>
                </a:stretch>
              </a:blipFill>
              <a:ln w="28575">
                <a:solidFill>
                  <a:srgbClr val="51C564"/>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7286783" y="7208022"/>
                <a:ext cx="3660617" cy="1242391"/>
              </a:xfrm>
              <a:prstGeom prst="rect">
                <a:avLst/>
              </a:prstGeom>
              <a:noFill/>
              <a:ln w="28575">
                <a:solidFill>
                  <a:srgbClr val="51C564"/>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3600" b="1" i="1" smtClean="0">
                          <a:latin typeface="Cambria Math" panose="02040503050406030204" pitchFamily="18" charset="0"/>
                          <a:ea typeface="Cambria Math" panose="02040503050406030204" pitchFamily="18" charset="0"/>
                        </a:rPr>
                        <m:t>𝜶</m:t>
                      </m:r>
                      <m:r>
                        <a:rPr lang="en-US" sz="3600" b="1" i="1" smtClean="0">
                          <a:latin typeface="Cambria Math" panose="02040503050406030204" pitchFamily="18" charset="0"/>
                        </a:rPr>
                        <m:t>=</m:t>
                      </m:r>
                      <m:r>
                        <a:rPr lang="en-US" sz="3600" b="1" i="1" smtClean="0">
                          <a:latin typeface="Cambria Math" panose="02040503050406030204" pitchFamily="18" charset="0"/>
                        </a:rPr>
                        <m:t>𝒂𝒓𝒄𝒕𝒈</m:t>
                      </m:r>
                      <m:f>
                        <m:fPr>
                          <m:ctrlPr>
                            <a:rPr lang="en-US" sz="3600" b="1" i="1" smtClean="0">
                              <a:latin typeface="Cambria Math" panose="02040503050406030204" pitchFamily="18" charset="0"/>
                            </a:rPr>
                          </m:ctrlPr>
                        </m:fPr>
                        <m:num>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𝑰</m:t>
                              </m:r>
                            </m:e>
                            <m:sub>
                              <m:r>
                                <a:rPr lang="en-US" sz="3600" b="1" i="1" smtClean="0">
                                  <a:latin typeface="Cambria Math" panose="02040503050406030204" pitchFamily="18" charset="0"/>
                                </a:rPr>
                                <m:t>𝒚</m:t>
                              </m:r>
                            </m:sub>
                          </m:sSub>
                        </m:num>
                        <m:den>
                          <m:sSub>
                            <m:sSubPr>
                              <m:ctrlPr>
                                <a:rPr lang="en-US" sz="3600" b="1" i="1" smtClean="0">
                                  <a:latin typeface="Cambria Math" panose="02040503050406030204" pitchFamily="18" charset="0"/>
                                </a:rPr>
                              </m:ctrlPr>
                            </m:sSubPr>
                            <m:e>
                              <m:r>
                                <a:rPr lang="en-US" sz="3600" b="1" i="1" smtClean="0">
                                  <a:latin typeface="Cambria Math" panose="02040503050406030204" pitchFamily="18" charset="0"/>
                                </a:rPr>
                                <m:t>𝑰</m:t>
                              </m:r>
                            </m:e>
                            <m:sub>
                              <m:r>
                                <a:rPr lang="en-US" sz="3600" b="1" i="1" smtClean="0">
                                  <a:latin typeface="Cambria Math" panose="02040503050406030204" pitchFamily="18" charset="0"/>
                                </a:rPr>
                                <m:t>𝒙</m:t>
                              </m:r>
                            </m:sub>
                          </m:sSub>
                        </m:den>
                      </m:f>
                    </m:oMath>
                  </m:oMathPara>
                </a14:m>
                <a:endParaRPr lang="en-US" sz="3600"/>
              </a:p>
            </p:txBody>
          </p:sp>
        </mc:Choice>
        <mc:Fallback xmlns="">
          <p:sp>
            <p:nvSpPr>
              <p:cNvPr id="14" name="TextBox 13"/>
              <p:cNvSpPr txBox="1">
                <a:spLocks noRot="1" noChangeAspect="1" noMove="1" noResize="1" noEditPoints="1" noAdjustHandles="1" noChangeArrowheads="1" noChangeShapeType="1" noTextEdit="1"/>
              </p:cNvSpPr>
              <p:nvPr/>
            </p:nvSpPr>
            <p:spPr>
              <a:xfrm>
                <a:off x="7286783" y="7208022"/>
                <a:ext cx="3660617" cy="1242391"/>
              </a:xfrm>
              <a:prstGeom prst="rect">
                <a:avLst/>
              </a:prstGeom>
              <a:blipFill>
                <a:blip r:embed="rId5"/>
                <a:stretch>
                  <a:fillRect/>
                </a:stretch>
              </a:blipFill>
              <a:ln w="28575">
                <a:solidFill>
                  <a:srgbClr val="51C564"/>
                </a:solidFill>
              </a:ln>
            </p:spPr>
            <p:txBody>
              <a:bodyPr/>
              <a:lstStyle/>
              <a:p>
                <a:r>
                  <a:rPr lang="en-US">
                    <a:noFill/>
                  </a:rPr>
                  <a:t> </a:t>
                </a:r>
              </a:p>
            </p:txBody>
          </p:sp>
        </mc:Fallback>
      </mc:AlternateContent>
      <p:pic>
        <p:nvPicPr>
          <p:cNvPr id="8" name="Picture 7"/>
          <p:cNvPicPr>
            <a:picLocks noChangeAspect="1"/>
          </p:cNvPicPr>
          <p:nvPr/>
        </p:nvPicPr>
        <p:blipFill>
          <a:blip r:embed="rId6"/>
          <a:stretch>
            <a:fillRect/>
          </a:stretch>
        </p:blipFill>
        <p:spPr>
          <a:xfrm>
            <a:off x="7305164" y="2833292"/>
            <a:ext cx="3642236" cy="3009449"/>
          </a:xfrm>
          <a:prstGeom prst="rect">
            <a:avLst/>
          </a:prstGeom>
        </p:spPr>
      </p:pic>
    </p:spTree>
    <p:extLst>
      <p:ext uri="{BB962C8B-B14F-4D97-AF65-F5344CB8AC3E}">
        <p14:creationId xmlns:p14="http://schemas.microsoft.com/office/powerpoint/2010/main" val="307712385"/>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157E1A5D3B7924CA35C3F67B9BE6836" ma:contentTypeVersion="14" ma:contentTypeDescription="Create a new document." ma:contentTypeScope="" ma:versionID="cad63b9dfd7b06e8a58d6f1d8cd96428">
  <xsd:schema xmlns:xsd="http://www.w3.org/2001/XMLSchema" xmlns:xs="http://www.w3.org/2001/XMLSchema" xmlns:p="http://schemas.microsoft.com/office/2006/metadata/properties" xmlns:ns2="71dd2c63-3f01-4569-91c2-295b22e7c09d" xmlns:ns3="58282856-7444-4258-9459-a816c44d1ff7" targetNamespace="http://schemas.microsoft.com/office/2006/metadata/properties" ma:root="true" ma:fieldsID="a9aec6a5807f7e4e0228c53d7da7df2f" ns2:_="" ns3:_="">
    <xsd:import namespace="71dd2c63-3f01-4569-91c2-295b22e7c09d"/>
    <xsd:import namespace="58282856-7444-4258-9459-a816c44d1ff7"/>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dd2c63-3f01-4569-91c2-295b22e7c09d"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158d9f12-b085-4db2-abbf-1ae4638ef84d"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282856-7444-4258-9459-a816c44d1ff7"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d98c2c24-f2e5-4a58-acd9-dc01051e8075}" ma:internalName="TaxCatchAll" ma:showField="CatchAllData" ma:web="58282856-7444-4258-9459-a816c44d1ff7">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1A18A9-D001-4725-AEA1-B79C0212C60B}">
  <ds:schemaRefs>
    <ds:schemaRef ds:uri="http://schemas.microsoft.com/sharepoint/v3/contenttype/forms"/>
  </ds:schemaRefs>
</ds:datastoreItem>
</file>

<file path=customXml/itemProps2.xml><?xml version="1.0" encoding="utf-8"?>
<ds:datastoreItem xmlns:ds="http://schemas.openxmlformats.org/officeDocument/2006/customXml" ds:itemID="{BA48A05E-06E6-4800-846F-35512E904E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dd2c63-3f01-4569-91c2-295b22e7c09d"/>
    <ds:schemaRef ds:uri="58282856-7444-4258-9459-a816c44d1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Wisp</Template>
  <TotalTime>7504</TotalTime>
  <Words>2644</Words>
  <Application>Microsoft Office PowerPoint</Application>
  <PresentationFormat>Custom</PresentationFormat>
  <Paragraphs>407</Paragraphs>
  <Slides>43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43</vt:i4>
      </vt:variant>
    </vt:vector>
  </HeadingPairs>
  <TitlesOfParts>
    <vt:vector size="56" baseType="lpstr">
      <vt:lpstr>Arial</vt:lpstr>
      <vt:lpstr>Cambria Math</vt:lpstr>
      <vt:lpstr>Century Gothic</vt:lpstr>
      <vt:lpstr>Constantia</vt:lpstr>
      <vt:lpstr>Helvetica Neue</vt:lpstr>
      <vt:lpstr>Helvetica Neue Thin</vt:lpstr>
      <vt:lpstr>MathJax_Math-italic</vt:lpstr>
      <vt:lpstr>Roboto</vt:lpstr>
      <vt:lpstr>Tahoma</vt:lpstr>
      <vt:lpstr>Times New Roman</vt:lpstr>
      <vt:lpstr>Wingdings</vt:lpstr>
      <vt:lpstr>Wingdings 3</vt:lpstr>
      <vt:lpstr>Wisp</vt:lpstr>
      <vt:lpstr>PowerPoint Presentation</vt:lpstr>
      <vt:lpstr>Báo cáo nhóm 5:</vt:lpstr>
      <vt:lpstr>Phát hiện biên trong xử lý ảnh số</vt:lpstr>
      <vt:lpstr>Vai trò và vị trí của tách biên ảnh trong hệ thống xử lý ảnh</vt:lpstr>
      <vt:lpstr>Khái niệm biên ảnh</vt:lpstr>
      <vt:lpstr>Các phương pháp phát hiện biên ảnh</vt:lpstr>
      <vt:lpstr>Phương pháp đạo hàm bậc nhất</vt:lpstr>
      <vt:lpstr>PowerPoint Presentation</vt:lpstr>
      <vt:lpstr>Nguyên lý hoạt động  </vt:lpstr>
      <vt:lpstr>Các bước thực hiện</vt:lpstr>
      <vt:lpstr>PowerPoint Presentation</vt:lpstr>
      <vt:lpstr>PowerPoint Presentation</vt:lpstr>
      <vt:lpstr>Nguyên lý hoạt động  </vt:lpstr>
      <vt:lpstr>Các bước thực hiện</vt:lpstr>
      <vt:lpstr>PowerPoint Presentation</vt:lpstr>
      <vt:lpstr>PowerPoint Presentation</vt:lpstr>
      <vt:lpstr>Nguyên lý hoạt động  </vt:lpstr>
      <vt:lpstr>PowerPoint Presentation</vt:lpstr>
      <vt:lpstr>Phương pháp Canny  Bộ dò cạnh Canny (Canny edge detector) là một toán tử phát hiện cạnh sử dụng thuật toán nhiều giai đoạn để phát hiện một loạt các cạnh trong hình ảnh. Nó được phát triển bởi John F. Canny vào năm 1986. Canny cũng đã đưa ra một lý thuyết tính toán về phát hiện cạnh, giải thích tại sao kỹ thuật này hoạt động hiệu quả. </vt:lpstr>
      <vt:lpstr>Các bước thực hiện</vt:lpstr>
      <vt:lpstr>Tính gradient cường độ của hình ảnh </vt:lpstr>
      <vt:lpstr>Làm tròn góc hướng</vt:lpstr>
      <vt:lpstr>Ứng dụng:</vt:lpstr>
      <vt:lpstr>Nhận xét</vt:lpstr>
      <vt:lpstr>Các phương pháp đạo hàm bậc 2</vt:lpstr>
      <vt:lpstr>PowerPoint Presentation</vt:lpstr>
      <vt:lpstr>PowerPoint Presentation</vt:lpstr>
      <vt:lpstr>PowerPoint Presentation</vt:lpstr>
      <vt:lpstr>PowerPoint Presentation</vt:lpstr>
      <vt:lpstr>PowerPoint Presentation</vt:lpstr>
      <vt:lpstr>PowerPoint Presentation</vt:lpstr>
      <vt:lpstr>Dò biên bằng quy hoạch động</vt:lpstr>
      <vt:lpstr>Mô hình bài toán</vt:lpstr>
      <vt:lpstr>Các bước thực hiện</vt:lpstr>
      <vt:lpstr>Ứng dụng</vt:lpstr>
      <vt:lpstr>Các phương pháp khác</vt:lpstr>
      <vt:lpstr>PowerPoint Presentation</vt:lpstr>
      <vt:lpstr>PowerPoint Presentation</vt:lpstr>
      <vt:lpstr>PowerPoint Presentation</vt:lpstr>
      <vt:lpstr>PowerPoint Presentation</vt:lpstr>
      <vt:lpstr>PowerPoint Presentation</vt:lpstr>
      <vt:lpstr>PowerPoint Presentation</vt:lpstr>
      <vt:lpstr>Thuật toán Canny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Minh Hồ</cp:lastModifiedBy>
  <cp:revision>344</cp:revision>
  <cp:lastPrinted>2022-08-13T11:14:32Z</cp:lastPrinted>
  <dcterms:modified xsi:type="dcterms:W3CDTF">2025-02-12T01:32:01Z</dcterms:modified>
</cp:coreProperties>
</file>