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8"/>
  </p:notesMasterIdLst>
  <p:sldIdLst>
    <p:sldId id="256" r:id="rId2"/>
    <p:sldId id="257" r:id="rId3"/>
    <p:sldId id="327" r:id="rId4"/>
    <p:sldId id="329" r:id="rId5"/>
    <p:sldId id="330" r:id="rId6"/>
    <p:sldId id="331" r:id="rId7"/>
    <p:sldId id="332" r:id="rId8"/>
    <p:sldId id="333" r:id="rId9"/>
    <p:sldId id="334" r:id="rId10"/>
    <p:sldId id="335" r:id="rId11"/>
    <p:sldId id="336" r:id="rId12"/>
    <p:sldId id="337" r:id="rId13"/>
    <p:sldId id="338" r:id="rId14"/>
    <p:sldId id="339" r:id="rId15"/>
    <p:sldId id="340" r:id="rId16"/>
    <p:sldId id="341" r:id="rId17"/>
    <p:sldId id="342"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 id="300" r:id="rId58"/>
    <p:sldId id="301" r:id="rId59"/>
    <p:sldId id="302" r:id="rId60"/>
    <p:sldId id="303" r:id="rId61"/>
    <p:sldId id="304" r:id="rId62"/>
    <p:sldId id="305" r:id="rId63"/>
    <p:sldId id="306" r:id="rId64"/>
    <p:sldId id="307" r:id="rId65"/>
    <p:sldId id="308" r:id="rId66"/>
    <p:sldId id="309" r:id="rId67"/>
    <p:sldId id="310" r:id="rId68"/>
    <p:sldId id="311" r:id="rId69"/>
    <p:sldId id="312" r:id="rId70"/>
    <p:sldId id="313" r:id="rId71"/>
    <p:sldId id="314" r:id="rId72"/>
    <p:sldId id="315" r:id="rId73"/>
    <p:sldId id="316" r:id="rId74"/>
    <p:sldId id="317" r:id="rId75"/>
    <p:sldId id="318" r:id="rId76"/>
    <p:sldId id="319" r:id="rId77"/>
    <p:sldId id="320" r:id="rId78"/>
    <p:sldId id="321" r:id="rId79"/>
    <p:sldId id="360" r:id="rId80"/>
    <p:sldId id="361" r:id="rId81"/>
    <p:sldId id="362" r:id="rId82"/>
    <p:sldId id="363" r:id="rId83"/>
    <p:sldId id="364" r:id="rId84"/>
    <p:sldId id="365" r:id="rId85"/>
    <p:sldId id="366" r:id="rId86"/>
    <p:sldId id="324" r:id="rId87"/>
  </p:sldIdLst>
  <p:sldSz cx="9753600" cy="7315200"/>
  <p:notesSz cx="6858000" cy="9144000"/>
  <p:embeddedFontLst>
    <p:embeddedFont>
      <p:font typeface="Arial Bold" panose="020B0704020202020204" pitchFamily="34" charset="0"/>
      <p:regular r:id="rId89"/>
      <p:bold r:id="rId9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4" d="100"/>
          <a:sy n="74" d="100"/>
        </p:scale>
        <p:origin x="157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1.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2.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17.03.2025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550302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144049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932286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202347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8593371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629439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1546794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0224261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527371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1904591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2610345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312788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029558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91321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7289528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71548352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78514879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16643401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94991052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54475748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22358772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34568371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jp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0.jp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4.jp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5.jp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4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4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4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5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5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5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6.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5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5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9.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6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1.xml"/><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6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47.png"/><Relationship Id="rId2" Type="http://schemas.openxmlformats.org/officeDocument/2006/relationships/notesSlide" Target="../notesSlides/notesSlide64.xml"/><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6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8.xml"/><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6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0.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7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1.xml"/><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7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4.xml"/><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7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5.xml"/><Relationship Id="rId1" Type="http://schemas.openxmlformats.org/officeDocument/2006/relationships/slideLayout" Target="../slideLayouts/slideLayout7.xml"/><Relationship Id="rId5" Type="http://schemas.openxmlformats.org/officeDocument/2006/relationships/image" Target="../media/image53.png"/><Relationship Id="rId4" Type="http://schemas.openxmlformats.org/officeDocument/2006/relationships/image" Target="../media/image52.png"/></Relationships>
</file>

<file path=ppt/slides/_rels/slide7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8.xml"/><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7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0.xml"/><Relationship Id="rId1" Type="http://schemas.openxmlformats.org/officeDocument/2006/relationships/slideLayout" Target="../slideLayouts/slideLayout7.xml"/><Relationship Id="rId5" Type="http://schemas.openxmlformats.org/officeDocument/2006/relationships/image" Target="../media/image56.png"/><Relationship Id="rId4" Type="http://schemas.openxmlformats.org/officeDocument/2006/relationships/image" Target="../media/image55.png"/></Relationships>
</file>

<file path=ppt/slides/_rels/slide8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1.xml"/><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8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2.xml"/><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8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3.xml"/><Relationship Id="rId1" Type="http://schemas.openxmlformats.org/officeDocument/2006/relationships/slideLayout" Target="../slideLayouts/slideLayout7.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8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4.xml"/><Relationship Id="rId1" Type="http://schemas.openxmlformats.org/officeDocument/2006/relationships/slideLayout" Target="../slideLayouts/slideLayout7.xml"/><Relationship Id="rId4" Type="http://schemas.openxmlformats.org/officeDocument/2006/relationships/image" Target="../media/image64.png"/></Relationships>
</file>

<file path=ppt/slides/_rels/slide8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5.xml"/><Relationship Id="rId1" Type="http://schemas.openxmlformats.org/officeDocument/2006/relationships/slideLayout" Target="../slideLayouts/slideLayout7.xml"/><Relationship Id="rId4" Type="http://schemas.openxmlformats.org/officeDocument/2006/relationships/image" Target="../media/image65.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1556053" y="347678"/>
            <a:ext cx="6374674" cy="581474"/>
            <a:chOff x="0" y="0"/>
            <a:chExt cx="8499566" cy="775298"/>
          </a:xfrm>
        </p:grpSpPr>
        <p:sp>
          <p:nvSpPr>
            <p:cNvPr id="4" name="Freeform 4"/>
            <p:cNvSpPr/>
            <p:nvPr/>
          </p:nvSpPr>
          <p:spPr>
            <a:xfrm>
              <a:off x="0" y="0"/>
              <a:ext cx="8499566" cy="775298"/>
            </a:xfrm>
            <a:custGeom>
              <a:avLst/>
              <a:gdLst/>
              <a:ahLst/>
              <a:cxnLst/>
              <a:rect l="l" t="t" r="r" b="b"/>
              <a:pathLst>
                <a:path w="8499566" h="775298">
                  <a:moveTo>
                    <a:pt x="0" y="0"/>
                  </a:moveTo>
                  <a:lnTo>
                    <a:pt x="8499566" y="0"/>
                  </a:lnTo>
                  <a:lnTo>
                    <a:pt x="8499566" y="775298"/>
                  </a:lnTo>
                  <a:lnTo>
                    <a:pt x="0" y="775298"/>
                  </a:lnTo>
                  <a:close/>
                </a:path>
              </a:pathLst>
            </a:custGeom>
            <a:solidFill>
              <a:srgbClr val="000000">
                <a:alpha val="0"/>
              </a:srgbClr>
            </a:solidFill>
          </p:spPr>
          <p:txBody>
            <a:bodyPr/>
            <a:lstStyle/>
            <a:p>
              <a:endParaRPr lang="en-US"/>
            </a:p>
          </p:txBody>
        </p:sp>
        <p:sp>
          <p:nvSpPr>
            <p:cNvPr id="5" name="TextBox 5"/>
            <p:cNvSpPr txBox="1"/>
            <p:nvPr/>
          </p:nvSpPr>
          <p:spPr>
            <a:xfrm>
              <a:off x="0" y="-66675"/>
              <a:ext cx="8499566" cy="841973"/>
            </a:xfrm>
            <a:prstGeom prst="rect">
              <a:avLst/>
            </a:prstGeom>
          </p:spPr>
          <p:txBody>
            <a:bodyPr lIns="0" tIns="0" rIns="0" bIns="0" rtlCol="0" anchor="t"/>
            <a:lstStyle/>
            <a:p>
              <a:pPr algn="ctr">
                <a:lnSpc>
                  <a:spcPts val="3824"/>
                </a:lnSpc>
              </a:pPr>
              <a:r>
                <a:rPr lang="en-US" sz="3186" b="1">
                  <a:solidFill>
                    <a:srgbClr val="FFFF00"/>
                  </a:solidFill>
                  <a:latin typeface="Arial Bold"/>
                  <a:ea typeface="Arial Bold"/>
                  <a:cs typeface="Arial Bold"/>
                  <a:sym typeface="Arial Bold"/>
                </a:rPr>
                <a:t>CƠ SỞ DỮ LIỆU PHÂN TÁN</a:t>
              </a:r>
            </a:p>
          </p:txBody>
        </p:sp>
      </p:grpSp>
      <p:grpSp>
        <p:nvGrpSpPr>
          <p:cNvPr id="6" name="Group 6"/>
          <p:cNvGrpSpPr/>
          <p:nvPr/>
        </p:nvGrpSpPr>
        <p:grpSpPr>
          <a:xfrm>
            <a:off x="6990080" y="6780108"/>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1</a:t>
              </a:r>
            </a:p>
          </p:txBody>
        </p:sp>
      </p:grpSp>
      <p:grpSp>
        <p:nvGrpSpPr>
          <p:cNvPr id="9" name="Group 9"/>
          <p:cNvGrpSpPr/>
          <p:nvPr/>
        </p:nvGrpSpPr>
        <p:grpSpPr>
          <a:xfrm>
            <a:off x="1663731" y="1720139"/>
            <a:ext cx="6426139" cy="707843"/>
            <a:chOff x="0" y="0"/>
            <a:chExt cx="8568185" cy="943791"/>
          </a:xfrm>
        </p:grpSpPr>
        <p:sp>
          <p:nvSpPr>
            <p:cNvPr id="10" name="Freeform 10"/>
            <p:cNvSpPr/>
            <p:nvPr/>
          </p:nvSpPr>
          <p:spPr>
            <a:xfrm>
              <a:off x="0" y="0"/>
              <a:ext cx="8568186" cy="943791"/>
            </a:xfrm>
            <a:custGeom>
              <a:avLst/>
              <a:gdLst/>
              <a:ahLst/>
              <a:cxnLst/>
              <a:rect l="l" t="t" r="r" b="b"/>
              <a:pathLst>
                <a:path w="8568186" h="943791">
                  <a:moveTo>
                    <a:pt x="0" y="0"/>
                  </a:moveTo>
                  <a:lnTo>
                    <a:pt x="8568186" y="0"/>
                  </a:lnTo>
                  <a:lnTo>
                    <a:pt x="8568186" y="943791"/>
                  </a:lnTo>
                  <a:lnTo>
                    <a:pt x="0" y="943791"/>
                  </a:lnTo>
                  <a:close/>
                </a:path>
              </a:pathLst>
            </a:custGeom>
            <a:solidFill>
              <a:srgbClr val="000000">
                <a:alpha val="0"/>
              </a:srgbClr>
            </a:solidFill>
          </p:spPr>
          <p:txBody>
            <a:bodyPr/>
            <a:lstStyle/>
            <a:p>
              <a:endParaRPr lang="en-US"/>
            </a:p>
          </p:txBody>
        </p:sp>
        <p:sp>
          <p:nvSpPr>
            <p:cNvPr id="11" name="TextBox 11"/>
            <p:cNvSpPr txBox="1"/>
            <p:nvPr/>
          </p:nvSpPr>
          <p:spPr>
            <a:xfrm>
              <a:off x="0" y="-85725"/>
              <a:ext cx="8568185" cy="1029516"/>
            </a:xfrm>
            <a:prstGeom prst="rect">
              <a:avLst/>
            </a:prstGeom>
          </p:spPr>
          <p:txBody>
            <a:bodyPr lIns="0" tIns="0" rIns="0" bIns="0" rtlCol="0" anchor="t"/>
            <a:lstStyle/>
            <a:p>
              <a:pPr algn="just">
                <a:lnSpc>
                  <a:spcPts val="4608"/>
                </a:lnSpc>
              </a:pPr>
              <a:r>
                <a:rPr lang="en-US" sz="3840" b="1">
                  <a:solidFill>
                    <a:srgbClr val="000000"/>
                  </a:solidFill>
                  <a:latin typeface="Arial Bold"/>
                  <a:ea typeface="Arial Bold"/>
                  <a:cs typeface="Arial Bold"/>
                  <a:sym typeface="Arial Bold"/>
                </a:rPr>
                <a:t>Chương 5: Coordination</a:t>
              </a:r>
            </a:p>
          </p:txBody>
        </p:sp>
      </p:grpSp>
      <p:grpSp>
        <p:nvGrpSpPr>
          <p:cNvPr id="12" name="Group 12"/>
          <p:cNvGrpSpPr/>
          <p:nvPr/>
        </p:nvGrpSpPr>
        <p:grpSpPr>
          <a:xfrm>
            <a:off x="1952785" y="2701968"/>
            <a:ext cx="5581210" cy="442299"/>
            <a:chOff x="0" y="0"/>
            <a:chExt cx="7441614" cy="589731"/>
          </a:xfrm>
        </p:grpSpPr>
        <p:sp>
          <p:nvSpPr>
            <p:cNvPr id="13" name="Freeform 13"/>
            <p:cNvSpPr/>
            <p:nvPr/>
          </p:nvSpPr>
          <p:spPr>
            <a:xfrm>
              <a:off x="0" y="0"/>
              <a:ext cx="7441614" cy="589731"/>
            </a:xfrm>
            <a:custGeom>
              <a:avLst/>
              <a:gdLst/>
              <a:ahLst/>
              <a:cxnLst/>
              <a:rect l="l" t="t" r="r" b="b"/>
              <a:pathLst>
                <a:path w="7441614" h="589731">
                  <a:moveTo>
                    <a:pt x="0" y="0"/>
                  </a:moveTo>
                  <a:lnTo>
                    <a:pt x="7441614" y="0"/>
                  </a:lnTo>
                  <a:lnTo>
                    <a:pt x="7441614" y="589731"/>
                  </a:lnTo>
                  <a:lnTo>
                    <a:pt x="0" y="589731"/>
                  </a:lnTo>
                  <a:close/>
                </a:path>
              </a:pathLst>
            </a:custGeom>
            <a:solidFill>
              <a:srgbClr val="000000">
                <a:alpha val="0"/>
              </a:srgbClr>
            </a:solidFill>
          </p:spPr>
          <p:txBody>
            <a:bodyPr/>
            <a:lstStyle/>
            <a:p>
              <a:endParaRPr lang="en-US"/>
            </a:p>
          </p:txBody>
        </p:sp>
        <p:sp>
          <p:nvSpPr>
            <p:cNvPr id="14" name="TextBox 14"/>
            <p:cNvSpPr txBox="1"/>
            <p:nvPr/>
          </p:nvSpPr>
          <p:spPr>
            <a:xfrm>
              <a:off x="0" y="-57150"/>
              <a:ext cx="7441614" cy="646881"/>
            </a:xfrm>
            <a:prstGeom prst="rect">
              <a:avLst/>
            </a:prstGeom>
          </p:spPr>
          <p:txBody>
            <a:bodyPr lIns="0" tIns="0" rIns="0" bIns="0" rtlCol="0" anchor="t"/>
            <a:lstStyle/>
            <a:p>
              <a:pPr algn="l">
                <a:lnSpc>
                  <a:spcPts val="2919"/>
                </a:lnSpc>
              </a:pPr>
              <a:r>
                <a:rPr lang="en-US" sz="2433">
                  <a:solidFill>
                    <a:srgbClr val="000000"/>
                  </a:solidFill>
                  <a:latin typeface="Arial"/>
                  <a:ea typeface="Arial"/>
                  <a:cs typeface="Arial"/>
                  <a:sym typeface="Arial"/>
                </a:rPr>
                <a:t>Giảng viên hướng dẫn: Nguyễn Kim Sao  </a:t>
              </a:r>
            </a:p>
          </p:txBody>
        </p:sp>
      </p:grpSp>
      <p:grpSp>
        <p:nvGrpSpPr>
          <p:cNvPr id="15" name="Group 15"/>
          <p:cNvGrpSpPr/>
          <p:nvPr/>
        </p:nvGrpSpPr>
        <p:grpSpPr>
          <a:xfrm>
            <a:off x="1556053" y="3657600"/>
            <a:ext cx="2970341" cy="429031"/>
            <a:chOff x="0" y="0"/>
            <a:chExt cx="3960455" cy="572041"/>
          </a:xfrm>
        </p:grpSpPr>
        <p:sp>
          <p:nvSpPr>
            <p:cNvPr id="16" name="Freeform 16"/>
            <p:cNvSpPr/>
            <p:nvPr/>
          </p:nvSpPr>
          <p:spPr>
            <a:xfrm>
              <a:off x="0" y="0"/>
              <a:ext cx="3960455" cy="572041"/>
            </a:xfrm>
            <a:custGeom>
              <a:avLst/>
              <a:gdLst/>
              <a:ahLst/>
              <a:cxnLst/>
              <a:rect l="l" t="t" r="r" b="b"/>
              <a:pathLst>
                <a:path w="3960455" h="572041">
                  <a:moveTo>
                    <a:pt x="0" y="0"/>
                  </a:moveTo>
                  <a:lnTo>
                    <a:pt x="3960455" y="0"/>
                  </a:lnTo>
                  <a:lnTo>
                    <a:pt x="3960455" y="572041"/>
                  </a:lnTo>
                  <a:lnTo>
                    <a:pt x="0" y="572041"/>
                  </a:lnTo>
                  <a:close/>
                </a:path>
              </a:pathLst>
            </a:custGeom>
            <a:solidFill>
              <a:srgbClr val="000000">
                <a:alpha val="0"/>
              </a:srgbClr>
            </a:solidFill>
          </p:spPr>
          <p:txBody>
            <a:bodyPr/>
            <a:lstStyle/>
            <a:p>
              <a:endParaRPr lang="en-US"/>
            </a:p>
          </p:txBody>
        </p:sp>
        <p:sp>
          <p:nvSpPr>
            <p:cNvPr id="17" name="TextBox 17"/>
            <p:cNvSpPr txBox="1"/>
            <p:nvPr/>
          </p:nvSpPr>
          <p:spPr>
            <a:xfrm>
              <a:off x="0" y="-47625"/>
              <a:ext cx="3960455" cy="619666"/>
            </a:xfrm>
            <a:prstGeom prst="rect">
              <a:avLst/>
            </a:prstGeom>
          </p:spPr>
          <p:txBody>
            <a:bodyPr lIns="0" tIns="0" rIns="0" bIns="0" rtlCol="0" anchor="t"/>
            <a:lstStyle/>
            <a:p>
              <a:pPr algn="l">
                <a:lnSpc>
                  <a:spcPts val="2783"/>
                </a:lnSpc>
              </a:pPr>
              <a:r>
                <a:rPr lang="en-US" sz="2319" b="1">
                  <a:solidFill>
                    <a:srgbClr val="000000"/>
                  </a:solidFill>
                  <a:latin typeface="Arial Bold"/>
                  <a:ea typeface="Arial Bold"/>
                  <a:cs typeface="Arial Bold"/>
                  <a:sym typeface="Arial Bold"/>
                </a:rPr>
                <a:t>Thành viên nhóm 2</a:t>
              </a:r>
            </a:p>
          </p:txBody>
        </p:sp>
      </p:grpSp>
      <p:grpSp>
        <p:nvGrpSpPr>
          <p:cNvPr id="18" name="Group 18"/>
          <p:cNvGrpSpPr/>
          <p:nvPr/>
        </p:nvGrpSpPr>
        <p:grpSpPr>
          <a:xfrm>
            <a:off x="1556053" y="4184918"/>
            <a:ext cx="4398991" cy="1486306"/>
            <a:chOff x="0" y="0"/>
            <a:chExt cx="5865321" cy="1981741"/>
          </a:xfrm>
        </p:grpSpPr>
        <p:sp>
          <p:nvSpPr>
            <p:cNvPr id="19" name="Freeform 19"/>
            <p:cNvSpPr/>
            <p:nvPr/>
          </p:nvSpPr>
          <p:spPr>
            <a:xfrm>
              <a:off x="0" y="0"/>
              <a:ext cx="5865321" cy="1981741"/>
            </a:xfrm>
            <a:custGeom>
              <a:avLst/>
              <a:gdLst/>
              <a:ahLst/>
              <a:cxnLst/>
              <a:rect l="l" t="t" r="r" b="b"/>
              <a:pathLst>
                <a:path w="5865321" h="1981741">
                  <a:moveTo>
                    <a:pt x="0" y="0"/>
                  </a:moveTo>
                  <a:lnTo>
                    <a:pt x="5865321" y="0"/>
                  </a:lnTo>
                  <a:lnTo>
                    <a:pt x="5865321" y="1981741"/>
                  </a:lnTo>
                  <a:lnTo>
                    <a:pt x="0" y="1981741"/>
                  </a:lnTo>
                  <a:close/>
                </a:path>
              </a:pathLst>
            </a:custGeom>
            <a:solidFill>
              <a:srgbClr val="000000">
                <a:alpha val="0"/>
              </a:srgbClr>
            </a:solidFill>
          </p:spPr>
          <p:txBody>
            <a:bodyPr/>
            <a:lstStyle/>
            <a:p>
              <a:endParaRPr lang="en-US"/>
            </a:p>
          </p:txBody>
        </p:sp>
        <p:sp>
          <p:nvSpPr>
            <p:cNvPr id="20" name="TextBox 20"/>
            <p:cNvSpPr txBox="1"/>
            <p:nvPr/>
          </p:nvSpPr>
          <p:spPr>
            <a:xfrm>
              <a:off x="0" y="-47625"/>
              <a:ext cx="5865321" cy="2029366"/>
            </a:xfrm>
            <a:prstGeom prst="rect">
              <a:avLst/>
            </a:prstGeom>
          </p:spPr>
          <p:txBody>
            <a:bodyPr lIns="0" tIns="0" rIns="0" bIns="0" rtlCol="0" anchor="t"/>
            <a:lstStyle/>
            <a:p>
              <a:pPr algn="l">
                <a:lnSpc>
                  <a:spcPts val="2783"/>
                </a:lnSpc>
              </a:pPr>
              <a:r>
                <a:rPr lang="en-US" sz="2319">
                  <a:solidFill>
                    <a:srgbClr val="000000"/>
                  </a:solidFill>
                  <a:latin typeface="Arial"/>
                  <a:ea typeface="Arial"/>
                  <a:cs typeface="Arial"/>
                  <a:sym typeface="Arial"/>
                </a:rPr>
                <a:t>Chu Văn Dũng - 211210740 </a:t>
              </a:r>
            </a:p>
            <a:p>
              <a:pPr algn="l">
                <a:lnSpc>
                  <a:spcPts val="2783"/>
                </a:lnSpc>
              </a:pPr>
              <a:r>
                <a:rPr lang="en-US" sz="2319">
                  <a:solidFill>
                    <a:srgbClr val="000000"/>
                  </a:solidFill>
                  <a:latin typeface="Arial"/>
                  <a:ea typeface="Arial"/>
                  <a:cs typeface="Arial"/>
                  <a:sym typeface="Arial"/>
                </a:rPr>
                <a:t>Chu Thị Quyên - 211202203</a:t>
              </a:r>
            </a:p>
            <a:p>
              <a:pPr algn="l">
                <a:lnSpc>
                  <a:spcPts val="2783"/>
                </a:lnSpc>
              </a:pPr>
              <a:r>
                <a:rPr lang="en-US" sz="2319">
                  <a:solidFill>
                    <a:srgbClr val="000000"/>
                  </a:solidFill>
                  <a:latin typeface="Arial"/>
                  <a:ea typeface="Arial"/>
                  <a:cs typeface="Arial"/>
                  <a:sym typeface="Arial"/>
                </a:rPr>
                <a:t>Dương Xuân Bách - 211210614</a:t>
              </a:r>
            </a:p>
            <a:p>
              <a:pPr algn="l">
                <a:lnSpc>
                  <a:spcPts val="2783"/>
                </a:lnSpc>
              </a:pPr>
              <a:r>
                <a:rPr lang="en-US" sz="2319">
                  <a:solidFill>
                    <a:srgbClr val="000000"/>
                  </a:solidFill>
                  <a:latin typeface="Arial"/>
                  <a:ea typeface="Arial"/>
                  <a:cs typeface="Arial"/>
                  <a:sym typeface="Arial"/>
                </a:rPr>
                <a:t>Phạm Hải Nhi - 211203484</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487680" y="81280"/>
            <a:ext cx="7965440" cy="1056640"/>
            <a:chOff x="0" y="0"/>
            <a:chExt cx="10620587" cy="1408853"/>
          </a:xfrm>
        </p:grpSpPr>
        <p:sp>
          <p:nvSpPr>
            <p:cNvPr id="4" name="Freeform 4"/>
            <p:cNvSpPr/>
            <p:nvPr/>
          </p:nvSpPr>
          <p:spPr>
            <a:xfrm>
              <a:off x="0" y="0"/>
              <a:ext cx="10620587" cy="1408853"/>
            </a:xfrm>
            <a:custGeom>
              <a:avLst/>
              <a:gdLst/>
              <a:ahLst/>
              <a:cxnLst/>
              <a:rect l="l" t="t" r="r" b="b"/>
              <a:pathLst>
                <a:path w="10620587" h="1408853">
                  <a:moveTo>
                    <a:pt x="0" y="0"/>
                  </a:moveTo>
                  <a:lnTo>
                    <a:pt x="10620587" y="0"/>
                  </a:lnTo>
                  <a:lnTo>
                    <a:pt x="10620587" y="1408853"/>
                  </a:lnTo>
                  <a:lnTo>
                    <a:pt x="0" y="1408853"/>
                  </a:lnTo>
                  <a:close/>
                </a:path>
              </a:pathLst>
            </a:custGeom>
            <a:solidFill>
              <a:srgbClr val="000000">
                <a:alpha val="0"/>
              </a:srgbClr>
            </a:solidFill>
          </p:spPr>
          <p:txBody>
            <a:bodyPr/>
            <a:lstStyle/>
            <a:p>
              <a:endParaRPr lang="en-US"/>
            </a:p>
          </p:txBody>
        </p:sp>
        <p:sp>
          <p:nvSpPr>
            <p:cNvPr id="5" name="TextBox 5"/>
            <p:cNvSpPr txBox="1"/>
            <p:nvPr/>
          </p:nvSpPr>
          <p:spPr>
            <a:xfrm>
              <a:off x="0" y="-66675"/>
              <a:ext cx="10620587" cy="1475528"/>
            </a:xfrm>
            <a:prstGeom prst="rect">
              <a:avLst/>
            </a:prstGeom>
          </p:spPr>
          <p:txBody>
            <a:bodyPr lIns="0" tIns="0" rIns="0" bIns="0" rtlCol="0" anchor="ctr"/>
            <a:lstStyle/>
            <a:p>
              <a:pPr algn="l">
                <a:lnSpc>
                  <a:spcPts val="3840"/>
                </a:lnSpc>
              </a:pPr>
              <a:r>
                <a:rPr lang="en-US" sz="3200" b="1">
                  <a:solidFill>
                    <a:srgbClr val="FFFF00"/>
                  </a:solidFill>
                  <a:latin typeface="Arial Bold"/>
                  <a:ea typeface="Arial Bold"/>
                  <a:cs typeface="Arial Bold"/>
                  <a:sym typeface="Arial Bold"/>
                </a:rPr>
                <a:t>MỤC LỤC</a:t>
              </a:r>
            </a:p>
          </p:txBody>
        </p:sp>
      </p:grpSp>
      <p:grpSp>
        <p:nvGrpSpPr>
          <p:cNvPr id="6" name="Group 6"/>
          <p:cNvGrpSpPr/>
          <p:nvPr/>
        </p:nvGrpSpPr>
        <p:grpSpPr>
          <a:xfrm>
            <a:off x="6990080" y="6780108"/>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9" name="TextBox 8">
            <a:extLst>
              <a:ext uri="{FF2B5EF4-FFF2-40B4-BE49-F238E27FC236}">
                <a16:creationId xmlns:a16="http://schemas.microsoft.com/office/drawing/2014/main" id="{CDA5B1CC-8454-418C-9502-BE1EC1FE4491}"/>
              </a:ext>
            </a:extLst>
          </p:cNvPr>
          <p:cNvSpPr txBox="1"/>
          <p:nvPr/>
        </p:nvSpPr>
        <p:spPr>
          <a:xfrm>
            <a:off x="1889148" y="1828800"/>
            <a:ext cx="5162504" cy="3539430"/>
          </a:xfrm>
          <a:prstGeom prst="rect">
            <a:avLst/>
          </a:prstGeom>
          <a:noFill/>
        </p:spPr>
        <p:txBody>
          <a:bodyPr wrap="none" rtlCol="0">
            <a:spAutoFit/>
          </a:bodyPr>
          <a:lstStyle/>
          <a:p>
            <a:pPr marL="342900" indent="-342900">
              <a:buAutoNum type="arabicPeriod"/>
            </a:pPr>
            <a:r>
              <a:rPr lang="en-US" sz="3200" b="1" dirty="0"/>
              <a:t>Clock synchronization</a:t>
            </a:r>
          </a:p>
          <a:p>
            <a:pPr marL="342900" indent="-342900">
              <a:buAutoNum type="arabicPeriod"/>
            </a:pPr>
            <a:r>
              <a:rPr lang="en-US" sz="3200" b="1" dirty="0"/>
              <a:t>Logical clocks</a:t>
            </a:r>
          </a:p>
          <a:p>
            <a:pPr marL="342900" indent="-342900">
              <a:buAutoNum type="arabicPeriod"/>
            </a:pPr>
            <a:r>
              <a:rPr lang="en-US" sz="3200" b="1" dirty="0"/>
              <a:t>Mutual exclusion</a:t>
            </a:r>
          </a:p>
          <a:p>
            <a:pPr marL="342900" indent="-342900">
              <a:buAutoNum type="arabicPeriod"/>
            </a:pPr>
            <a:r>
              <a:rPr lang="en-US" sz="3200" b="1" dirty="0"/>
              <a:t>4. Election algorithms</a:t>
            </a:r>
          </a:p>
          <a:p>
            <a:pPr marL="342900" indent="-342900">
              <a:buAutoNum type="arabicPeriod"/>
            </a:pPr>
            <a:r>
              <a:rPr lang="en-US" sz="3200" b="1" dirty="0"/>
              <a:t>Gossip-based coordination</a:t>
            </a:r>
          </a:p>
          <a:p>
            <a:pPr marL="342900" indent="-342900">
              <a:buAutoNum type="arabicPeriod"/>
            </a:pPr>
            <a:r>
              <a:rPr lang="en-US" sz="3200" b="1" dirty="0"/>
              <a:t>Distributed event matching</a:t>
            </a:r>
          </a:p>
          <a:p>
            <a:pPr marL="342900" indent="-342900">
              <a:buAutoNum type="arabicPeriod"/>
            </a:pPr>
            <a:r>
              <a:rPr lang="en-US" sz="3200" b="1" dirty="0"/>
              <a:t>Location systems</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110659" y="284315"/>
            <a:ext cx="6521529" cy="409536"/>
          </a:xfrm>
          <a:prstGeom prst="rect">
            <a:avLst/>
          </a:prstGeom>
        </p:spPr>
        <p:txBody>
          <a:bodyPr lIns="0" tIns="0" rIns="0" bIns="0" rtlCol="0" anchor="t">
            <a:spAutoFit/>
          </a:bodyPr>
          <a:lstStyle/>
          <a:p>
            <a:pPr>
              <a:lnSpc>
                <a:spcPts val="3393"/>
              </a:lnSpc>
              <a:spcBef>
                <a:spcPct val="0"/>
              </a:spcBef>
            </a:pPr>
            <a:r>
              <a:rPr lang="en-US" sz="2827" b="1" dirty="0" err="1">
                <a:solidFill>
                  <a:srgbClr val="FFFF00"/>
                </a:solidFill>
                <a:latin typeface="Arial Bold"/>
                <a:ea typeface="Arial Bold"/>
                <a:cs typeface="Arial Bold"/>
                <a:sym typeface="Arial Bold"/>
              </a:rPr>
              <a:t>Đồng</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bộ</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đồng</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hồ</a:t>
            </a:r>
            <a:endParaRPr lang="en-US" sz="2827" b="1" dirty="0">
              <a:solidFill>
                <a:srgbClr val="FFFF00"/>
              </a:solidFill>
              <a:latin typeface="Arial Bold"/>
              <a:ea typeface="Arial Bold"/>
              <a:cs typeface="Arial Bold"/>
              <a:sym typeface="Arial Bold"/>
            </a:endParaRPr>
          </a:p>
        </p:txBody>
      </p:sp>
      <p:sp>
        <p:nvSpPr>
          <p:cNvPr id="7" name="TextBox 7"/>
          <p:cNvSpPr txBox="1"/>
          <p:nvPr/>
        </p:nvSpPr>
        <p:spPr>
          <a:xfrm>
            <a:off x="182880" y="1490622"/>
            <a:ext cx="9570720" cy="3693319"/>
          </a:xfrm>
          <a:prstGeom prst="rect">
            <a:avLst/>
          </a:prstGeom>
        </p:spPr>
        <p:txBody>
          <a:bodyPr lIns="0" tIns="0" rIns="0" bIns="0" rtlCol="0" anchor="t">
            <a:spAutoFit/>
          </a:bodyPr>
          <a:lstStyle/>
          <a:p>
            <a:r>
              <a:rPr lang="vi-VN" sz="2000" b="1" dirty="0"/>
              <a:t>Vấn đề</a:t>
            </a:r>
          </a:p>
          <a:p>
            <a:r>
              <a:rPr lang="vi-VN" sz="2000" dirty="0"/>
              <a:t>Đôi khi, chúng ta cần thời gian chính xác, không chỉ đơn thuần là thứ tự sắp xếp.</a:t>
            </a:r>
          </a:p>
          <a:p>
            <a:r>
              <a:rPr lang="vi-VN" sz="2000" b="1" dirty="0"/>
              <a:t>Giải pháp: Giờ Phối hợp Quốc tế (UTC)</a:t>
            </a:r>
          </a:p>
          <a:p>
            <a:pPr>
              <a:buFont typeface="Arial" panose="020B0604020202020204" pitchFamily="34" charset="0"/>
              <a:buChar char="•"/>
            </a:pPr>
            <a:r>
              <a:rPr lang="vi-VN" sz="2000" dirty="0"/>
              <a:t>Dựa trên số lần chuyển trạng thái mỗi giây của nguyên tử cesium-133 (rất chính xác).</a:t>
            </a:r>
          </a:p>
          <a:p>
            <a:pPr>
              <a:buFont typeface="Arial" panose="020B0604020202020204" pitchFamily="34" charset="0"/>
              <a:buChar char="•"/>
            </a:pPr>
            <a:r>
              <a:rPr lang="vi-VN" sz="2000" dirty="0"/>
              <a:t>Hiện tại, thời gian thực được xác định bằng cách lấy trung bình từ khoảng 50 đồng hồ cesium trên khắp thế giới.</a:t>
            </a:r>
          </a:p>
          <a:p>
            <a:pPr>
              <a:buFont typeface="Arial" panose="020B0604020202020204" pitchFamily="34" charset="0"/>
              <a:buChar char="•"/>
            </a:pPr>
            <a:r>
              <a:rPr lang="vi-VN" sz="2000" dirty="0"/>
              <a:t>Thỉnh thoảng, một giây nhuận được thêm vào để bù đắp cho việc ngày càng dài ra theo thời gian.</a:t>
            </a:r>
          </a:p>
          <a:p>
            <a:r>
              <a:rPr lang="vi-VN" sz="2000" b="1" dirty="0"/>
              <a:t>Lưu ý</a:t>
            </a:r>
          </a:p>
          <a:p>
            <a:pPr>
              <a:buFont typeface="Arial" panose="020B0604020202020204" pitchFamily="34" charset="0"/>
              <a:buChar char="•"/>
            </a:pPr>
            <a:r>
              <a:rPr lang="vi-VN" sz="2000" dirty="0"/>
              <a:t>UTC được phát qua sóng vô tuyến ngắn và vệ tinh.</a:t>
            </a:r>
          </a:p>
          <a:p>
            <a:pPr>
              <a:buFont typeface="Arial" panose="020B0604020202020204" pitchFamily="34" charset="0"/>
              <a:buChar char="•"/>
            </a:pPr>
            <a:r>
              <a:rPr lang="vi-VN" sz="2000" dirty="0"/>
              <a:t>Vệ tinh có thể cung cấp độ chính xác khoảng ±0,5 mili-giây.</a:t>
            </a:r>
          </a:p>
        </p:txBody>
      </p:sp>
    </p:spTree>
    <p:extLst>
      <p:ext uri="{BB962C8B-B14F-4D97-AF65-F5344CB8AC3E}">
        <p14:creationId xmlns:p14="http://schemas.microsoft.com/office/powerpoint/2010/main" val="128666796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110659" y="284315"/>
            <a:ext cx="6521529" cy="409536"/>
          </a:xfrm>
          <a:prstGeom prst="rect">
            <a:avLst/>
          </a:prstGeom>
        </p:spPr>
        <p:txBody>
          <a:bodyPr lIns="0" tIns="0" rIns="0" bIns="0" rtlCol="0" anchor="t">
            <a:spAutoFit/>
          </a:bodyPr>
          <a:lstStyle/>
          <a:p>
            <a:pPr>
              <a:lnSpc>
                <a:spcPts val="3393"/>
              </a:lnSpc>
              <a:spcBef>
                <a:spcPct val="0"/>
              </a:spcBef>
            </a:pPr>
            <a:r>
              <a:rPr lang="en-US" sz="2827" b="1" dirty="0" err="1">
                <a:solidFill>
                  <a:srgbClr val="FFFF00"/>
                </a:solidFill>
                <a:latin typeface="Arial Bold"/>
                <a:ea typeface="Arial Bold"/>
                <a:cs typeface="Arial Bold"/>
                <a:sym typeface="Arial Bold"/>
              </a:rPr>
              <a:t>Đồng</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bộ</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đồng</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hồ</a:t>
            </a:r>
            <a:endParaRPr lang="en-US" sz="2827" b="1" dirty="0">
              <a:solidFill>
                <a:srgbClr val="FFFF00"/>
              </a:solidFill>
              <a:latin typeface="Arial Bold"/>
              <a:ea typeface="Arial Bold"/>
              <a:cs typeface="Arial Bold"/>
              <a:sym typeface="Arial Bold"/>
            </a:endParaRPr>
          </a:p>
        </p:txBody>
      </p:sp>
      <p:pic>
        <p:nvPicPr>
          <p:cNvPr id="9" name="Picture 8">
            <a:extLst>
              <a:ext uri="{FF2B5EF4-FFF2-40B4-BE49-F238E27FC236}">
                <a16:creationId xmlns:a16="http://schemas.microsoft.com/office/drawing/2014/main" id="{7E57E151-CBD1-4F97-BF42-7A4938E1ADDA}"/>
              </a:ext>
            </a:extLst>
          </p:cNvPr>
          <p:cNvPicPr>
            <a:picLocks noChangeAspect="1"/>
          </p:cNvPicPr>
          <p:nvPr/>
        </p:nvPicPr>
        <p:blipFill>
          <a:blip r:embed="rId4"/>
          <a:stretch>
            <a:fillRect/>
          </a:stretch>
        </p:blipFill>
        <p:spPr>
          <a:xfrm>
            <a:off x="1042180" y="1295400"/>
            <a:ext cx="8221563" cy="3271407"/>
          </a:xfrm>
          <a:prstGeom prst="rect">
            <a:avLst/>
          </a:prstGeom>
        </p:spPr>
      </p:pic>
      <p:pic>
        <p:nvPicPr>
          <p:cNvPr id="11" name="Picture 10">
            <a:extLst>
              <a:ext uri="{FF2B5EF4-FFF2-40B4-BE49-F238E27FC236}">
                <a16:creationId xmlns:a16="http://schemas.microsoft.com/office/drawing/2014/main" id="{C77E57E1-2460-475F-A089-158783E62B87}"/>
              </a:ext>
            </a:extLst>
          </p:cNvPr>
          <p:cNvPicPr>
            <a:picLocks noChangeAspect="1"/>
          </p:cNvPicPr>
          <p:nvPr/>
        </p:nvPicPr>
        <p:blipFill>
          <a:blip r:embed="rId5"/>
          <a:stretch>
            <a:fillRect/>
          </a:stretch>
        </p:blipFill>
        <p:spPr>
          <a:xfrm>
            <a:off x="1192210" y="4566807"/>
            <a:ext cx="7369179" cy="2370025"/>
          </a:xfrm>
          <a:prstGeom prst="rect">
            <a:avLst/>
          </a:prstGeom>
        </p:spPr>
      </p:pic>
    </p:spTree>
    <p:extLst>
      <p:ext uri="{BB962C8B-B14F-4D97-AF65-F5344CB8AC3E}">
        <p14:creationId xmlns:p14="http://schemas.microsoft.com/office/powerpoint/2010/main" val="348674505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110659" y="284315"/>
            <a:ext cx="6521529" cy="409536"/>
          </a:xfrm>
          <a:prstGeom prst="rect">
            <a:avLst/>
          </a:prstGeom>
        </p:spPr>
        <p:txBody>
          <a:bodyPr lIns="0" tIns="0" rIns="0" bIns="0" rtlCol="0" anchor="t">
            <a:spAutoFit/>
          </a:bodyPr>
          <a:lstStyle/>
          <a:p>
            <a:pPr>
              <a:lnSpc>
                <a:spcPts val="3393"/>
              </a:lnSpc>
              <a:spcBef>
                <a:spcPct val="0"/>
              </a:spcBef>
            </a:pPr>
            <a:r>
              <a:rPr lang="en-US" sz="2827" b="1" dirty="0" err="1">
                <a:solidFill>
                  <a:srgbClr val="FFFF00"/>
                </a:solidFill>
                <a:latin typeface="Arial Bold"/>
                <a:ea typeface="Arial Bold"/>
                <a:cs typeface="Arial Bold"/>
                <a:sym typeface="Arial Bold"/>
              </a:rPr>
              <a:t>Đồng</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bộ</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đồng</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hồ</a:t>
            </a:r>
            <a:endParaRPr lang="en-US" sz="2827" b="1" dirty="0">
              <a:solidFill>
                <a:srgbClr val="FFFF00"/>
              </a:solidFill>
              <a:latin typeface="Arial Bold"/>
              <a:ea typeface="Arial Bold"/>
              <a:cs typeface="Arial Bold"/>
              <a:sym typeface="Arial Bold"/>
            </a:endParaRPr>
          </a:p>
        </p:txBody>
      </p:sp>
      <p:sp>
        <p:nvSpPr>
          <p:cNvPr id="7" name="TextBox 7"/>
          <p:cNvSpPr txBox="1"/>
          <p:nvPr/>
        </p:nvSpPr>
        <p:spPr>
          <a:xfrm>
            <a:off x="304800" y="1850089"/>
            <a:ext cx="8427720" cy="2154436"/>
          </a:xfrm>
          <a:prstGeom prst="rect">
            <a:avLst/>
          </a:prstGeom>
        </p:spPr>
        <p:txBody>
          <a:bodyPr wrap="square" lIns="0" tIns="0" rIns="0" bIns="0" rtlCol="0" anchor="t">
            <a:spAutoFit/>
          </a:bodyPr>
          <a:lstStyle/>
          <a:p>
            <a:r>
              <a:rPr lang="vi-VN" sz="2000" b="1" dirty="0"/>
              <a:t>Đồng Bộ Hóa (Synchronization)</a:t>
            </a:r>
            <a:endParaRPr lang="en-US" sz="2000" b="1" dirty="0"/>
          </a:p>
          <a:p>
            <a:endParaRPr lang="vi-VN" sz="2000" b="1" dirty="0"/>
          </a:p>
          <a:p>
            <a:pPr>
              <a:buFont typeface="Arial" panose="020B0604020202020204" pitchFamily="34" charset="0"/>
              <a:buChar char="•"/>
            </a:pPr>
            <a:r>
              <a:rPr lang="vi-VN" sz="2000" b="1" dirty="0"/>
              <a:t>Đồng bộ hóa nội bộ (Internal synchronization):</a:t>
            </a:r>
            <a:r>
              <a:rPr lang="vi-VN" sz="2000" dirty="0"/>
              <a:t> Giữ cho các đồng hồ chính xác với nhau (tức là sai số giữa các đồng hồ không vượt quá </a:t>
            </a:r>
            <a:r>
              <a:rPr lang="el-GR" sz="2000" b="1" dirty="0"/>
              <a:t>π</a:t>
            </a:r>
            <a:r>
              <a:rPr lang="el-GR" sz="2000" dirty="0"/>
              <a:t>).</a:t>
            </a:r>
            <a:endParaRPr lang="en-US" sz="2000" dirty="0"/>
          </a:p>
          <a:p>
            <a:pPr>
              <a:buFont typeface="Arial" panose="020B0604020202020204" pitchFamily="34" charset="0"/>
              <a:buChar char="•"/>
            </a:pPr>
            <a:endParaRPr lang="el-GR" sz="2000" dirty="0"/>
          </a:p>
          <a:p>
            <a:pPr>
              <a:buFont typeface="Arial" panose="020B0604020202020204" pitchFamily="34" charset="0"/>
              <a:buChar char="•"/>
            </a:pPr>
            <a:r>
              <a:rPr lang="vi-VN" sz="2000" b="1" dirty="0"/>
              <a:t>Đồng bộ hóa bên ngoài (External synchronization):</a:t>
            </a:r>
            <a:r>
              <a:rPr lang="vi-VN" sz="2000" dirty="0"/>
              <a:t> Giữ cho các đồng hồ chính xác so với thời gian thực UTC (tức là sai số không vượt quá </a:t>
            </a:r>
            <a:r>
              <a:rPr lang="el-GR" sz="2000" b="1" dirty="0"/>
              <a:t>α</a:t>
            </a:r>
            <a:r>
              <a:rPr lang="el-GR" sz="2000" dirty="0"/>
              <a:t>).</a:t>
            </a:r>
          </a:p>
        </p:txBody>
      </p:sp>
    </p:spTree>
    <p:extLst>
      <p:ext uri="{BB962C8B-B14F-4D97-AF65-F5344CB8AC3E}">
        <p14:creationId xmlns:p14="http://schemas.microsoft.com/office/powerpoint/2010/main" val="337234717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110659" y="284315"/>
            <a:ext cx="6521529" cy="409536"/>
          </a:xfrm>
          <a:prstGeom prst="rect">
            <a:avLst/>
          </a:prstGeom>
        </p:spPr>
        <p:txBody>
          <a:bodyPr lIns="0" tIns="0" rIns="0" bIns="0" rtlCol="0" anchor="t">
            <a:spAutoFit/>
          </a:bodyPr>
          <a:lstStyle/>
          <a:p>
            <a:pPr>
              <a:lnSpc>
                <a:spcPts val="3393"/>
              </a:lnSpc>
              <a:spcBef>
                <a:spcPct val="0"/>
              </a:spcBef>
            </a:pPr>
            <a:r>
              <a:rPr lang="en-US" sz="2827" b="1" dirty="0" err="1">
                <a:solidFill>
                  <a:srgbClr val="FFFF00"/>
                </a:solidFill>
                <a:latin typeface="Arial Bold"/>
                <a:ea typeface="Arial Bold"/>
                <a:cs typeface="Arial Bold"/>
                <a:sym typeface="Arial Bold"/>
              </a:rPr>
              <a:t>Độ</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trôi</a:t>
            </a:r>
            <a:endParaRPr lang="en-US" sz="2827" b="1" dirty="0">
              <a:solidFill>
                <a:srgbClr val="FFFF00"/>
              </a:solidFill>
              <a:latin typeface="Arial Bold"/>
              <a:ea typeface="Arial Bold"/>
              <a:cs typeface="Arial Bold"/>
              <a:sym typeface="Arial Bold"/>
            </a:endParaRPr>
          </a:p>
        </p:txBody>
      </p:sp>
      <p:sp>
        <p:nvSpPr>
          <p:cNvPr id="7" name="TextBox 7"/>
          <p:cNvSpPr txBox="1"/>
          <p:nvPr/>
        </p:nvSpPr>
        <p:spPr>
          <a:xfrm>
            <a:off x="182880" y="1490622"/>
            <a:ext cx="9570720" cy="1846659"/>
          </a:xfrm>
          <a:prstGeom prst="rect">
            <a:avLst/>
          </a:prstGeom>
        </p:spPr>
        <p:txBody>
          <a:bodyPr lIns="0" tIns="0" rIns="0" bIns="0" rtlCol="0" anchor="t">
            <a:spAutoFit/>
          </a:bodyPr>
          <a:lstStyle/>
          <a:p>
            <a:r>
              <a:rPr lang="vi-VN" sz="2000" b="1" dirty="0"/>
              <a:t>Thông Số Kỹ Thuật Của Đồng Hồ </a:t>
            </a:r>
            <a:endParaRPr lang="en-US" sz="2000" b="1" dirty="0"/>
          </a:p>
          <a:p>
            <a:r>
              <a:rPr lang="vi-VN" sz="2000" dirty="0"/>
              <a:t>Một đồng hồ được xác định bằng </a:t>
            </a:r>
            <a:r>
              <a:rPr lang="vi-VN" sz="2000" b="1" dirty="0"/>
              <a:t>tỷ lệ trôi tối đa</a:t>
            </a:r>
            <a:r>
              <a:rPr lang="vi-VN" sz="2000" dirty="0"/>
              <a:t> của nó, ký hiệu là </a:t>
            </a:r>
            <a:r>
              <a:rPr lang="el-GR" sz="2000" b="1" dirty="0"/>
              <a:t>ρ</a:t>
            </a:r>
            <a:r>
              <a:rPr lang="el-GR" sz="2000" dirty="0"/>
              <a:t>.</a:t>
            </a:r>
          </a:p>
          <a:p>
            <a:pPr>
              <a:buFont typeface="Arial" panose="020B0604020202020204" pitchFamily="34" charset="0"/>
              <a:buChar char="•"/>
            </a:pPr>
            <a:r>
              <a:rPr lang="vi-VN" sz="2000" b="1" dirty="0"/>
              <a:t>F(t)</a:t>
            </a:r>
            <a:r>
              <a:rPr lang="vi-VN" sz="2000" dirty="0"/>
              <a:t> biểu thị tần số dao động của đồng hồ phần cứng tại thời điểm </a:t>
            </a:r>
            <a:r>
              <a:rPr lang="vi-VN" sz="2000" b="1" dirty="0"/>
              <a:t>t</a:t>
            </a:r>
            <a:r>
              <a:rPr lang="vi-VN" sz="2000" dirty="0"/>
              <a:t>.</a:t>
            </a:r>
          </a:p>
          <a:p>
            <a:pPr>
              <a:buFont typeface="Arial" panose="020B0604020202020204" pitchFamily="34" charset="0"/>
              <a:buChar char="•"/>
            </a:pPr>
            <a:r>
              <a:rPr lang="vi-VN" sz="2000" b="1" dirty="0"/>
              <a:t>F</a:t>
            </a:r>
            <a:r>
              <a:rPr lang="vi-VN" sz="2000" dirty="0"/>
              <a:t> là tần số lý tưởng (hằng số) của đồng hồ.</a:t>
            </a:r>
          </a:p>
          <a:p>
            <a:pPr>
              <a:buFont typeface="Arial" panose="020B0604020202020204" pitchFamily="34" charset="0"/>
              <a:buChar char="•"/>
            </a:pPr>
            <a:r>
              <a:rPr lang="vi-VN" sz="2000" dirty="0"/>
              <a:t>Một đồng hồ đáp ứng đúng thông số kỹ thuật nếu nó duy trì tần số trong giới hạn cho phép.</a:t>
            </a:r>
          </a:p>
        </p:txBody>
      </p:sp>
      <p:pic>
        <p:nvPicPr>
          <p:cNvPr id="9" name="Picture 8">
            <a:extLst>
              <a:ext uri="{FF2B5EF4-FFF2-40B4-BE49-F238E27FC236}">
                <a16:creationId xmlns:a16="http://schemas.microsoft.com/office/drawing/2014/main" id="{66FEDBF9-56F8-4BD7-8C8B-66BA416BB3C6}"/>
              </a:ext>
            </a:extLst>
          </p:cNvPr>
          <p:cNvPicPr>
            <a:picLocks noChangeAspect="1"/>
          </p:cNvPicPr>
          <p:nvPr/>
        </p:nvPicPr>
        <p:blipFill>
          <a:blip r:embed="rId4"/>
          <a:stretch>
            <a:fillRect/>
          </a:stretch>
        </p:blipFill>
        <p:spPr>
          <a:xfrm>
            <a:off x="3213348" y="3093495"/>
            <a:ext cx="3326904" cy="861082"/>
          </a:xfrm>
          <a:prstGeom prst="rect">
            <a:avLst/>
          </a:prstGeom>
        </p:spPr>
      </p:pic>
      <p:sp>
        <p:nvSpPr>
          <p:cNvPr id="10" name="TextBox 9">
            <a:extLst>
              <a:ext uri="{FF2B5EF4-FFF2-40B4-BE49-F238E27FC236}">
                <a16:creationId xmlns:a16="http://schemas.microsoft.com/office/drawing/2014/main" id="{C75A6332-985F-4250-815E-649F328D18AC}"/>
              </a:ext>
            </a:extLst>
          </p:cNvPr>
          <p:cNvSpPr txBox="1"/>
          <p:nvPr/>
        </p:nvSpPr>
        <p:spPr>
          <a:xfrm>
            <a:off x="110659" y="3807938"/>
            <a:ext cx="9217412" cy="923330"/>
          </a:xfrm>
          <a:prstGeom prst="rect">
            <a:avLst/>
          </a:prstGeom>
          <a:noFill/>
        </p:spPr>
        <p:txBody>
          <a:bodyPr wrap="square" rtlCol="0">
            <a:spAutoFit/>
          </a:bodyPr>
          <a:lstStyle/>
          <a:p>
            <a:pPr algn="just"/>
            <a:r>
              <a:rPr lang="vi-VN" dirty="0"/>
              <a:t>Bằng cách sử dụng </a:t>
            </a:r>
            <a:r>
              <a:rPr lang="vi-VN" b="1" dirty="0"/>
              <a:t>ngắt phần cứng (hardware interrupts)</a:t>
            </a:r>
            <a:r>
              <a:rPr lang="vi-VN" dirty="0"/>
              <a:t>, chúng ta liên kết </a:t>
            </a:r>
            <a:r>
              <a:rPr lang="vi-VN" b="1" dirty="0"/>
              <a:t>đồng hồ phần mềm (software clock)</a:t>
            </a:r>
            <a:r>
              <a:rPr lang="vi-VN" dirty="0"/>
              <a:t> với </a:t>
            </a:r>
            <a:r>
              <a:rPr lang="vi-VN" b="1" dirty="0"/>
              <a:t>đồng hồ phần cứng (hardware clock)</a:t>
            </a:r>
            <a:r>
              <a:rPr lang="vi-VN" dirty="0"/>
              <a:t>, và do đó cũng chịu ảnh hưởng bởi </a:t>
            </a:r>
            <a:r>
              <a:rPr lang="vi-VN" b="1" dirty="0"/>
              <a:t>tỷ lệ trôi của đồng hồ (clock drift rate)</a:t>
            </a:r>
            <a:r>
              <a:rPr lang="vi-VN" dirty="0"/>
              <a:t>.</a:t>
            </a:r>
            <a:endParaRPr lang="en-US" dirty="0"/>
          </a:p>
        </p:txBody>
      </p:sp>
      <p:pic>
        <p:nvPicPr>
          <p:cNvPr id="11" name="object 25">
            <a:extLst>
              <a:ext uri="{FF2B5EF4-FFF2-40B4-BE49-F238E27FC236}">
                <a16:creationId xmlns:a16="http://schemas.microsoft.com/office/drawing/2014/main" id="{40459B51-D67C-43C6-822E-E16E46148361}"/>
              </a:ext>
            </a:extLst>
          </p:cNvPr>
          <p:cNvPicPr/>
          <p:nvPr/>
        </p:nvPicPr>
        <p:blipFill>
          <a:blip r:embed="rId5" cstate="print"/>
          <a:stretch>
            <a:fillRect/>
          </a:stretch>
        </p:blipFill>
        <p:spPr>
          <a:xfrm>
            <a:off x="5883236" y="4724661"/>
            <a:ext cx="3657600" cy="2343009"/>
          </a:xfrm>
          <a:prstGeom prst="rect">
            <a:avLst/>
          </a:prstGeom>
        </p:spPr>
      </p:pic>
      <p:pic>
        <p:nvPicPr>
          <p:cNvPr id="14" name="Picture 13">
            <a:extLst>
              <a:ext uri="{FF2B5EF4-FFF2-40B4-BE49-F238E27FC236}">
                <a16:creationId xmlns:a16="http://schemas.microsoft.com/office/drawing/2014/main" id="{6A965671-8973-4563-8F80-6C8931BAA314}"/>
              </a:ext>
            </a:extLst>
          </p:cNvPr>
          <p:cNvPicPr>
            <a:picLocks noChangeAspect="1"/>
          </p:cNvPicPr>
          <p:nvPr/>
        </p:nvPicPr>
        <p:blipFill>
          <a:blip r:embed="rId6"/>
          <a:stretch>
            <a:fillRect/>
          </a:stretch>
        </p:blipFill>
        <p:spPr>
          <a:xfrm>
            <a:off x="247598" y="4709236"/>
            <a:ext cx="5274135" cy="2190794"/>
          </a:xfrm>
          <a:prstGeom prst="rect">
            <a:avLst/>
          </a:prstGeom>
        </p:spPr>
      </p:pic>
    </p:spTree>
    <p:extLst>
      <p:ext uri="{BB962C8B-B14F-4D97-AF65-F5344CB8AC3E}">
        <p14:creationId xmlns:p14="http://schemas.microsoft.com/office/powerpoint/2010/main" val="338951926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dirty="0"/>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110659" y="284315"/>
            <a:ext cx="6442541" cy="872034"/>
          </a:xfrm>
          <a:prstGeom prst="rect">
            <a:avLst/>
          </a:prstGeom>
        </p:spPr>
        <p:txBody>
          <a:bodyPr wrap="square" lIns="0" tIns="0" rIns="0" bIns="0" rtlCol="0" anchor="t">
            <a:spAutoFit/>
          </a:bodyPr>
          <a:lstStyle/>
          <a:p>
            <a:pPr>
              <a:lnSpc>
                <a:spcPts val="3393"/>
              </a:lnSpc>
              <a:spcBef>
                <a:spcPct val="0"/>
              </a:spcBef>
            </a:pPr>
            <a:r>
              <a:rPr lang="en-US" sz="3200" b="1" dirty="0" err="1">
                <a:solidFill>
                  <a:srgbClr val="FFFF00"/>
                </a:solidFill>
              </a:rPr>
              <a:t>Phát</a:t>
            </a:r>
            <a:r>
              <a:rPr lang="en-US" sz="3200" b="1" dirty="0">
                <a:solidFill>
                  <a:srgbClr val="FFFF00"/>
                </a:solidFill>
              </a:rPr>
              <a:t> </a:t>
            </a:r>
            <a:r>
              <a:rPr lang="en-US" sz="3200" b="1" dirty="0" err="1">
                <a:solidFill>
                  <a:srgbClr val="FFFF00"/>
                </a:solidFill>
              </a:rPr>
              <a:t>Hiện</a:t>
            </a:r>
            <a:r>
              <a:rPr lang="en-US" sz="3200" b="1" dirty="0">
                <a:solidFill>
                  <a:srgbClr val="FFFF00"/>
                </a:solidFill>
              </a:rPr>
              <a:t> </a:t>
            </a:r>
            <a:r>
              <a:rPr lang="en-US" sz="3200" b="1" dirty="0" err="1">
                <a:solidFill>
                  <a:srgbClr val="FFFF00"/>
                </a:solidFill>
              </a:rPr>
              <a:t>và</a:t>
            </a:r>
            <a:r>
              <a:rPr lang="en-US" sz="3200" b="1" dirty="0">
                <a:solidFill>
                  <a:srgbClr val="FFFF00"/>
                </a:solidFill>
              </a:rPr>
              <a:t> </a:t>
            </a:r>
            <a:r>
              <a:rPr lang="en-US" sz="3200" b="1" dirty="0" err="1">
                <a:solidFill>
                  <a:srgbClr val="FFFF00"/>
                </a:solidFill>
              </a:rPr>
              <a:t>Điều</a:t>
            </a:r>
            <a:r>
              <a:rPr lang="en-US" sz="3200" b="1" dirty="0">
                <a:solidFill>
                  <a:srgbClr val="FFFF00"/>
                </a:solidFill>
              </a:rPr>
              <a:t> </a:t>
            </a:r>
            <a:r>
              <a:rPr lang="en-US" sz="3200" b="1" dirty="0" err="1">
                <a:solidFill>
                  <a:srgbClr val="FFFF00"/>
                </a:solidFill>
              </a:rPr>
              <a:t>Chỉnh</a:t>
            </a:r>
            <a:r>
              <a:rPr lang="en-US" sz="3200" b="1" dirty="0">
                <a:solidFill>
                  <a:srgbClr val="FFFF00"/>
                </a:solidFill>
              </a:rPr>
              <a:t> </a:t>
            </a:r>
            <a:r>
              <a:rPr lang="en-US" sz="3200" b="1" dirty="0" err="1">
                <a:solidFill>
                  <a:srgbClr val="FFFF00"/>
                </a:solidFill>
              </a:rPr>
              <a:t>Thời</a:t>
            </a:r>
            <a:r>
              <a:rPr lang="en-US" sz="3200" b="1" dirty="0">
                <a:solidFill>
                  <a:srgbClr val="FFFF00"/>
                </a:solidFill>
              </a:rPr>
              <a:t> Gian </a:t>
            </a:r>
            <a:r>
              <a:rPr lang="en-US" sz="3200" b="1" dirty="0" err="1">
                <a:solidFill>
                  <a:srgbClr val="FFFF00"/>
                </a:solidFill>
              </a:rPr>
              <a:t>Không</a:t>
            </a:r>
            <a:r>
              <a:rPr lang="en-US" sz="3200" b="1" dirty="0">
                <a:solidFill>
                  <a:srgbClr val="FFFF00"/>
                </a:solidFill>
              </a:rPr>
              <a:t> </a:t>
            </a:r>
            <a:r>
              <a:rPr lang="en-US" sz="3200" b="1" dirty="0" err="1">
                <a:solidFill>
                  <a:srgbClr val="FFFF00"/>
                </a:solidFill>
              </a:rPr>
              <a:t>Chính</a:t>
            </a:r>
            <a:r>
              <a:rPr lang="en-US" sz="3200" b="1" dirty="0">
                <a:solidFill>
                  <a:srgbClr val="FFFF00"/>
                </a:solidFill>
              </a:rPr>
              <a:t> </a:t>
            </a:r>
            <a:r>
              <a:rPr lang="en-US" sz="3200" b="1" dirty="0" err="1">
                <a:solidFill>
                  <a:srgbClr val="FFFF00"/>
                </a:solidFill>
              </a:rPr>
              <a:t>Xác</a:t>
            </a:r>
            <a:endParaRPr lang="en-US" sz="2827" b="1" dirty="0">
              <a:solidFill>
                <a:srgbClr val="FFFF00"/>
              </a:solidFill>
              <a:latin typeface="Arial Bold"/>
              <a:ea typeface="Arial Bold"/>
              <a:cs typeface="Arial Bold"/>
              <a:sym typeface="Arial Bold"/>
            </a:endParaRPr>
          </a:p>
        </p:txBody>
      </p:sp>
      <p:sp>
        <p:nvSpPr>
          <p:cNvPr id="7" name="TextBox 7"/>
          <p:cNvSpPr txBox="1"/>
          <p:nvPr/>
        </p:nvSpPr>
        <p:spPr>
          <a:xfrm>
            <a:off x="182880" y="4043739"/>
            <a:ext cx="9570720" cy="307777"/>
          </a:xfrm>
          <a:prstGeom prst="rect">
            <a:avLst/>
          </a:prstGeom>
        </p:spPr>
        <p:txBody>
          <a:bodyPr lIns="0" tIns="0" rIns="0" bIns="0" rtlCol="0" anchor="t">
            <a:spAutoFit/>
          </a:bodyPr>
          <a:lstStyle/>
          <a:p>
            <a:r>
              <a:rPr lang="vi-VN" sz="2000" dirty="0"/>
              <a:t>Tính Toán Độ Lệch Tương Đối (</a:t>
            </a:r>
            <a:r>
              <a:rPr lang="el-GR" sz="2000" dirty="0"/>
              <a:t>θ) </a:t>
            </a:r>
            <a:r>
              <a:rPr lang="vi-VN" sz="2000" dirty="0"/>
              <a:t>và Độ Trễ (</a:t>
            </a:r>
            <a:r>
              <a:rPr lang="el-GR" sz="2000" dirty="0"/>
              <a:t>δ)</a:t>
            </a:r>
            <a:endParaRPr lang="vi-VN" sz="2000" dirty="0"/>
          </a:p>
        </p:txBody>
      </p:sp>
      <p:pic>
        <p:nvPicPr>
          <p:cNvPr id="8" name="object 6">
            <a:extLst>
              <a:ext uri="{FF2B5EF4-FFF2-40B4-BE49-F238E27FC236}">
                <a16:creationId xmlns:a16="http://schemas.microsoft.com/office/drawing/2014/main" id="{79D260C2-952D-43E8-83D4-96C7C69C7BA1}"/>
              </a:ext>
            </a:extLst>
          </p:cNvPr>
          <p:cNvPicPr/>
          <p:nvPr/>
        </p:nvPicPr>
        <p:blipFill>
          <a:blip r:embed="rId4" cstate="print"/>
          <a:stretch>
            <a:fillRect/>
          </a:stretch>
        </p:blipFill>
        <p:spPr>
          <a:xfrm>
            <a:off x="3079542" y="1408007"/>
            <a:ext cx="4235657" cy="2303803"/>
          </a:xfrm>
          <a:prstGeom prst="rect">
            <a:avLst/>
          </a:prstGeom>
        </p:spPr>
      </p:pic>
      <p:pic>
        <p:nvPicPr>
          <p:cNvPr id="10" name="Picture 9">
            <a:extLst>
              <a:ext uri="{FF2B5EF4-FFF2-40B4-BE49-F238E27FC236}">
                <a16:creationId xmlns:a16="http://schemas.microsoft.com/office/drawing/2014/main" id="{44D9FA13-6FAD-4F71-B32B-2F4181519742}"/>
              </a:ext>
            </a:extLst>
          </p:cNvPr>
          <p:cNvPicPr>
            <a:picLocks noChangeAspect="1"/>
          </p:cNvPicPr>
          <p:nvPr/>
        </p:nvPicPr>
        <p:blipFill>
          <a:blip r:embed="rId5"/>
          <a:stretch>
            <a:fillRect/>
          </a:stretch>
        </p:blipFill>
        <p:spPr>
          <a:xfrm>
            <a:off x="685800" y="4779714"/>
            <a:ext cx="8083040" cy="1836467"/>
          </a:xfrm>
          <a:prstGeom prst="rect">
            <a:avLst/>
          </a:prstGeom>
        </p:spPr>
      </p:pic>
    </p:spTree>
    <p:extLst>
      <p:ext uri="{BB962C8B-B14F-4D97-AF65-F5344CB8AC3E}">
        <p14:creationId xmlns:p14="http://schemas.microsoft.com/office/powerpoint/2010/main" val="138288901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110659" y="284315"/>
            <a:ext cx="7356941" cy="445315"/>
          </a:xfrm>
          <a:prstGeom prst="rect">
            <a:avLst/>
          </a:prstGeom>
        </p:spPr>
        <p:txBody>
          <a:bodyPr wrap="square" lIns="0" tIns="0" rIns="0" bIns="0" rtlCol="0" anchor="t">
            <a:spAutoFit/>
          </a:bodyPr>
          <a:lstStyle/>
          <a:p>
            <a:pPr>
              <a:lnSpc>
                <a:spcPts val="3393"/>
              </a:lnSpc>
              <a:spcBef>
                <a:spcPct val="0"/>
              </a:spcBef>
            </a:pPr>
            <a:r>
              <a:rPr lang="en-US" sz="3600" b="1" dirty="0">
                <a:solidFill>
                  <a:srgbClr val="FFFF00"/>
                </a:solidFill>
              </a:rPr>
              <a:t>Reference</a:t>
            </a:r>
            <a:r>
              <a:rPr lang="en-US" sz="3600" b="1" spc="-35" dirty="0">
                <a:solidFill>
                  <a:srgbClr val="FFFF00"/>
                </a:solidFill>
              </a:rPr>
              <a:t> </a:t>
            </a:r>
            <a:r>
              <a:rPr lang="en-US" sz="3600" b="1" dirty="0">
                <a:solidFill>
                  <a:srgbClr val="FFFF00"/>
                </a:solidFill>
              </a:rPr>
              <a:t>broadcast</a:t>
            </a:r>
            <a:r>
              <a:rPr lang="en-US" sz="3600" b="1" spc="-35" dirty="0">
                <a:solidFill>
                  <a:srgbClr val="FFFF00"/>
                </a:solidFill>
              </a:rPr>
              <a:t> </a:t>
            </a:r>
            <a:r>
              <a:rPr lang="en-US" sz="3600" b="1" spc="-10" dirty="0">
                <a:solidFill>
                  <a:srgbClr val="FFFF00"/>
                </a:solidFill>
              </a:rPr>
              <a:t>synchronization</a:t>
            </a:r>
            <a:endParaRPr lang="en-US" sz="3600" b="1" dirty="0">
              <a:solidFill>
                <a:srgbClr val="FFFF00"/>
              </a:solidFill>
              <a:latin typeface="Arial Bold"/>
              <a:ea typeface="Arial Bold"/>
              <a:cs typeface="Arial Bold"/>
              <a:sym typeface="Arial Bold"/>
            </a:endParaRPr>
          </a:p>
        </p:txBody>
      </p:sp>
      <p:sp>
        <p:nvSpPr>
          <p:cNvPr id="7" name="TextBox 7"/>
          <p:cNvSpPr txBox="1"/>
          <p:nvPr/>
        </p:nvSpPr>
        <p:spPr>
          <a:xfrm>
            <a:off x="182880" y="1490622"/>
            <a:ext cx="9570720" cy="2462213"/>
          </a:xfrm>
          <a:prstGeom prst="rect">
            <a:avLst/>
          </a:prstGeom>
        </p:spPr>
        <p:txBody>
          <a:bodyPr lIns="0" tIns="0" rIns="0" bIns="0" rtlCol="0" anchor="t">
            <a:spAutoFit/>
          </a:bodyPr>
          <a:lstStyle/>
          <a:p>
            <a:r>
              <a:rPr lang="vi-VN" sz="2000" b="1" dirty="0"/>
              <a:t>Bản Chất Của RBS</a:t>
            </a:r>
            <a:endParaRPr lang="en-US" sz="2000" b="1" dirty="0"/>
          </a:p>
          <a:p>
            <a:r>
              <a:rPr lang="vi-VN" sz="2000" dirty="0"/>
              <a:t>Một </a:t>
            </a:r>
            <a:r>
              <a:rPr lang="vi-VN" sz="2000" b="1" dirty="0"/>
              <a:t>nút</a:t>
            </a:r>
            <a:r>
              <a:rPr lang="vi-VN" sz="2000" dirty="0"/>
              <a:t> sẽ phát </a:t>
            </a:r>
            <a:r>
              <a:rPr lang="vi-VN" sz="2000" b="1" dirty="0"/>
              <a:t>tin nhắn tham chiếu (m)</a:t>
            </a:r>
            <a:r>
              <a:rPr lang="vi-VN" sz="2000" dirty="0"/>
              <a:t> đến tất cả các nút nhận.</a:t>
            </a:r>
          </a:p>
          <a:p>
            <a:pPr>
              <a:buFont typeface="Arial" panose="020B0604020202020204" pitchFamily="34" charset="0"/>
              <a:buChar char="•"/>
            </a:pPr>
            <a:r>
              <a:rPr lang="vi-VN" sz="2000" dirty="0"/>
              <a:t>Mỗi nút nhận </a:t>
            </a:r>
            <a:r>
              <a:rPr lang="vi-VN" sz="2000" b="1" dirty="0"/>
              <a:t>p</a:t>
            </a:r>
            <a:r>
              <a:rPr lang="vi-VN" sz="2000" dirty="0"/>
              <a:t> ghi lại </a:t>
            </a:r>
            <a:r>
              <a:rPr lang="vi-VN" sz="2000" b="1" dirty="0"/>
              <a:t>thời điểm Tₚ,ₘ</a:t>
            </a:r>
            <a:r>
              <a:rPr lang="vi-VN" sz="2000" dirty="0"/>
              <a:t> khi nó nhận được </a:t>
            </a:r>
            <a:r>
              <a:rPr lang="vi-VN" sz="2000" b="1" dirty="0"/>
              <a:t>m</a:t>
            </a:r>
            <a:r>
              <a:rPr lang="vi-VN" sz="2000" dirty="0"/>
              <a:t>.</a:t>
            </a:r>
          </a:p>
          <a:p>
            <a:pPr>
              <a:buFont typeface="Arial" panose="020B0604020202020204" pitchFamily="34" charset="0"/>
              <a:buChar char="•"/>
            </a:pPr>
            <a:r>
              <a:rPr lang="vi-VN" sz="2000" b="1" dirty="0"/>
              <a:t>Lưu ý:</a:t>
            </a:r>
            <a:r>
              <a:rPr lang="vi-VN" sz="2000" dirty="0"/>
              <a:t> </a:t>
            </a:r>
            <a:r>
              <a:rPr lang="vi-VN" sz="2000" b="1" dirty="0"/>
              <a:t>Tₚ,ₘ</a:t>
            </a:r>
            <a:r>
              <a:rPr lang="vi-VN" sz="2000" dirty="0"/>
              <a:t> được lấy từ đồng hồ cục bộ của nút </a:t>
            </a:r>
            <a:r>
              <a:rPr lang="vi-VN" sz="2000" b="1" dirty="0"/>
              <a:t>p</a:t>
            </a:r>
            <a:r>
              <a:rPr lang="vi-VN" sz="2000" dirty="0"/>
              <a:t>.</a:t>
            </a:r>
          </a:p>
          <a:p>
            <a:r>
              <a:rPr lang="vi-VN" sz="2000" b="1" dirty="0"/>
              <a:t>Vấn đề:</a:t>
            </a:r>
          </a:p>
          <a:p>
            <a:pPr>
              <a:buFont typeface="Arial" panose="020B0604020202020204" pitchFamily="34" charset="0"/>
              <a:buChar char="•"/>
            </a:pPr>
            <a:r>
              <a:rPr lang="vi-VN" sz="2000" dirty="0"/>
              <a:t>Trung bình cộng đơn thuần không thể loại bỏ sai lệch thời gian hiệu quả.</a:t>
            </a:r>
          </a:p>
          <a:p>
            <a:pPr>
              <a:buFont typeface="Arial" panose="020B0604020202020204" pitchFamily="34" charset="0"/>
              <a:buChar char="•"/>
            </a:pPr>
            <a:r>
              <a:rPr lang="vi-VN" sz="2000" b="1" dirty="0"/>
              <a:t>RBS giảm thiểu sai lệch đường truyền chính</a:t>
            </a:r>
            <a:r>
              <a:rPr lang="vi-VN" sz="2000" dirty="0"/>
              <a:t> bằng cách sử dụng </a:t>
            </a:r>
            <a:r>
              <a:rPr lang="vi-VN" sz="2000" b="1" dirty="0"/>
              <a:t>hồi quy tuyến tính (linear regression)</a:t>
            </a:r>
            <a:r>
              <a:rPr lang="vi-VN" sz="2000" dirty="0"/>
              <a:t> để ước tính độ trôi của đồng hồ.</a:t>
            </a:r>
          </a:p>
        </p:txBody>
      </p:sp>
      <p:pic>
        <p:nvPicPr>
          <p:cNvPr id="9" name="Picture 8">
            <a:extLst>
              <a:ext uri="{FF2B5EF4-FFF2-40B4-BE49-F238E27FC236}">
                <a16:creationId xmlns:a16="http://schemas.microsoft.com/office/drawing/2014/main" id="{5B1E26D7-6A87-4664-A30D-886ABAE5B4CF}"/>
              </a:ext>
            </a:extLst>
          </p:cNvPr>
          <p:cNvPicPr>
            <a:picLocks noChangeAspect="1"/>
          </p:cNvPicPr>
          <p:nvPr/>
        </p:nvPicPr>
        <p:blipFill>
          <a:blip r:embed="rId4"/>
          <a:stretch>
            <a:fillRect/>
          </a:stretch>
        </p:blipFill>
        <p:spPr>
          <a:xfrm>
            <a:off x="304800" y="4368224"/>
            <a:ext cx="4495800" cy="1456354"/>
          </a:xfrm>
          <a:prstGeom prst="rect">
            <a:avLst/>
          </a:prstGeom>
        </p:spPr>
      </p:pic>
      <p:pic>
        <p:nvPicPr>
          <p:cNvPr id="10" name="object 13">
            <a:extLst>
              <a:ext uri="{FF2B5EF4-FFF2-40B4-BE49-F238E27FC236}">
                <a16:creationId xmlns:a16="http://schemas.microsoft.com/office/drawing/2014/main" id="{31D6849E-032D-47DD-89DB-10237CB270C1}"/>
              </a:ext>
            </a:extLst>
          </p:cNvPr>
          <p:cNvPicPr/>
          <p:nvPr/>
        </p:nvPicPr>
        <p:blipFill>
          <a:blip r:embed="rId5" cstate="print"/>
          <a:stretch>
            <a:fillRect/>
          </a:stretch>
        </p:blipFill>
        <p:spPr>
          <a:xfrm>
            <a:off x="5516880" y="4042747"/>
            <a:ext cx="3931920" cy="2611730"/>
          </a:xfrm>
          <a:prstGeom prst="rect">
            <a:avLst/>
          </a:prstGeom>
        </p:spPr>
      </p:pic>
    </p:spTree>
    <p:extLst>
      <p:ext uri="{BB962C8B-B14F-4D97-AF65-F5344CB8AC3E}">
        <p14:creationId xmlns:p14="http://schemas.microsoft.com/office/powerpoint/2010/main" val="158309243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110659" y="284315"/>
            <a:ext cx="6521529" cy="409536"/>
          </a:xfrm>
          <a:prstGeom prst="rect">
            <a:avLst/>
          </a:prstGeom>
        </p:spPr>
        <p:txBody>
          <a:bodyPr lIns="0" tIns="0" rIns="0" bIns="0" rtlCol="0" anchor="t">
            <a:spAutoFit/>
          </a:bodyPr>
          <a:lstStyle/>
          <a:p>
            <a:pPr>
              <a:lnSpc>
                <a:spcPts val="3393"/>
              </a:lnSpc>
              <a:spcBef>
                <a:spcPct val="0"/>
              </a:spcBef>
            </a:pPr>
            <a:r>
              <a:rPr lang="en-US" sz="2827" b="1" dirty="0" err="1">
                <a:solidFill>
                  <a:srgbClr val="FFFF00"/>
                </a:solidFill>
                <a:latin typeface="Arial Bold"/>
                <a:ea typeface="Arial Bold"/>
                <a:cs typeface="Arial Bold"/>
                <a:sym typeface="Arial Bold"/>
              </a:rPr>
              <a:t>Đồng</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hồ</a:t>
            </a:r>
            <a:r>
              <a:rPr lang="en-US" sz="2827" b="1" dirty="0">
                <a:solidFill>
                  <a:srgbClr val="FFFF00"/>
                </a:solidFill>
                <a:latin typeface="Arial Bold"/>
                <a:ea typeface="Arial Bold"/>
                <a:cs typeface="Arial Bold"/>
                <a:sym typeface="Arial Bold"/>
              </a:rPr>
              <a:t> logic </a:t>
            </a:r>
            <a:r>
              <a:rPr lang="en-US" sz="2827" b="1" dirty="0" err="1">
                <a:solidFill>
                  <a:srgbClr val="FFFF00"/>
                </a:solidFill>
                <a:latin typeface="Arial Bold"/>
                <a:ea typeface="Arial Bold"/>
                <a:cs typeface="Arial Bold"/>
                <a:sym typeface="Arial Bold"/>
              </a:rPr>
              <a:t>và</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giải</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pháp</a:t>
            </a:r>
            <a:endParaRPr lang="en-US" sz="2827" b="1" dirty="0">
              <a:solidFill>
                <a:srgbClr val="FFFF00"/>
              </a:solidFill>
              <a:latin typeface="Arial Bold"/>
              <a:ea typeface="Arial Bold"/>
              <a:cs typeface="Arial Bold"/>
              <a:sym typeface="Arial Bold"/>
            </a:endParaRPr>
          </a:p>
        </p:txBody>
      </p:sp>
      <p:sp>
        <p:nvSpPr>
          <p:cNvPr id="7" name="TextBox 7"/>
          <p:cNvSpPr txBox="1"/>
          <p:nvPr/>
        </p:nvSpPr>
        <p:spPr>
          <a:xfrm>
            <a:off x="0" y="1203758"/>
            <a:ext cx="9601200" cy="2492990"/>
          </a:xfrm>
          <a:prstGeom prst="rect">
            <a:avLst/>
          </a:prstGeom>
        </p:spPr>
        <p:txBody>
          <a:bodyPr wrap="square" lIns="0" tIns="0" rIns="0" bIns="0" rtlCol="0" anchor="t">
            <a:spAutoFit/>
          </a:bodyPr>
          <a:lstStyle/>
          <a:p>
            <a:r>
              <a:rPr lang="vi-VN" dirty="0"/>
              <a:t>Làm thế nào để duy trì một cái nhìn tổng thể về hành vi của hệ thống sao cho phù hợp với quan hệ </a:t>
            </a:r>
            <a:r>
              <a:rPr lang="vi-VN" b="1" dirty="0"/>
              <a:t>"đã xảy ra trước" (happened-before relation)</a:t>
            </a:r>
            <a:r>
              <a:rPr lang="vi-VN" dirty="0"/>
              <a:t>?</a:t>
            </a:r>
          </a:p>
          <a:p>
            <a:endParaRPr lang="en-US" dirty="0"/>
          </a:p>
          <a:p>
            <a:r>
              <a:rPr lang="vi-VN" dirty="0"/>
              <a:t>Gán một </a:t>
            </a:r>
            <a:r>
              <a:rPr lang="vi-VN" b="1" dirty="0"/>
              <a:t>dấu thời gian C(e)</a:t>
            </a:r>
            <a:r>
              <a:rPr lang="vi-VN" dirty="0"/>
              <a:t> cho mỗi sự kiện </a:t>
            </a:r>
            <a:r>
              <a:rPr lang="vi-VN" b="1" dirty="0"/>
              <a:t>e</a:t>
            </a:r>
            <a:r>
              <a:rPr lang="vi-VN" dirty="0"/>
              <a:t>, đảm bảo thỏa mãn các điều kiện sau:</a:t>
            </a:r>
          </a:p>
          <a:p>
            <a:pPr>
              <a:buFont typeface="Arial" panose="020B0604020202020204" pitchFamily="34" charset="0"/>
              <a:buChar char="•"/>
            </a:pPr>
            <a:r>
              <a:rPr lang="vi-VN" b="1" dirty="0"/>
              <a:t>P1:</a:t>
            </a:r>
            <a:r>
              <a:rPr lang="vi-VN" dirty="0"/>
              <a:t> Nếu </a:t>
            </a:r>
            <a:r>
              <a:rPr lang="vi-VN" b="1" dirty="0"/>
              <a:t>a</a:t>
            </a:r>
            <a:r>
              <a:rPr lang="vi-VN" dirty="0"/>
              <a:t> và </a:t>
            </a:r>
            <a:r>
              <a:rPr lang="vi-VN" b="1" dirty="0"/>
              <a:t>b</a:t>
            </a:r>
            <a:r>
              <a:rPr lang="vi-VN" dirty="0"/>
              <a:t> là hai sự kiện trong cùng một tiến trình, và </a:t>
            </a:r>
            <a:r>
              <a:rPr lang="vi-VN" b="1" dirty="0"/>
              <a:t>a xảy ra trước b</a:t>
            </a:r>
            <a:r>
              <a:rPr lang="vi-VN" dirty="0"/>
              <a:t>, thì:</a:t>
            </a:r>
            <a:br>
              <a:rPr lang="vi-VN" dirty="0"/>
            </a:br>
            <a:r>
              <a:rPr lang="vi-VN" b="1" dirty="0"/>
              <a:t>C(a) &lt; C(b)</a:t>
            </a:r>
            <a:endParaRPr lang="vi-VN" dirty="0"/>
          </a:p>
          <a:p>
            <a:pPr>
              <a:buFont typeface="Arial" panose="020B0604020202020204" pitchFamily="34" charset="0"/>
              <a:buChar char="•"/>
            </a:pPr>
            <a:r>
              <a:rPr lang="vi-VN" b="1" dirty="0"/>
              <a:t>P2:</a:t>
            </a:r>
            <a:r>
              <a:rPr lang="vi-VN" dirty="0"/>
              <a:t> Nếu </a:t>
            </a:r>
            <a:r>
              <a:rPr lang="vi-VN" b="1" dirty="0"/>
              <a:t>a</a:t>
            </a:r>
            <a:r>
              <a:rPr lang="vi-VN" dirty="0"/>
              <a:t> là sự kiện </a:t>
            </a:r>
            <a:r>
              <a:rPr lang="vi-VN" b="1" dirty="0"/>
              <a:t>gửi một tin nhắn m</a:t>
            </a:r>
            <a:r>
              <a:rPr lang="vi-VN" dirty="0"/>
              <a:t>, và </a:t>
            </a:r>
            <a:r>
              <a:rPr lang="vi-VN" b="1" dirty="0"/>
              <a:t>b</a:t>
            </a:r>
            <a:r>
              <a:rPr lang="vi-VN" dirty="0"/>
              <a:t> là sự kiện </a:t>
            </a:r>
            <a:r>
              <a:rPr lang="vi-VN" b="1" dirty="0"/>
              <a:t>nhận tin nhắn đó</a:t>
            </a:r>
            <a:r>
              <a:rPr lang="vi-VN" dirty="0"/>
              <a:t>, thì cũng phải đảm bảo:</a:t>
            </a:r>
            <a:br>
              <a:rPr lang="vi-VN" dirty="0"/>
            </a:br>
            <a:r>
              <a:rPr lang="vi-VN" b="1" dirty="0"/>
              <a:t>C(a) &lt; C(b)</a:t>
            </a:r>
            <a:endParaRPr lang="vi-VN" dirty="0"/>
          </a:p>
        </p:txBody>
      </p:sp>
      <p:pic>
        <p:nvPicPr>
          <p:cNvPr id="9" name="Picture 8">
            <a:extLst>
              <a:ext uri="{FF2B5EF4-FFF2-40B4-BE49-F238E27FC236}">
                <a16:creationId xmlns:a16="http://schemas.microsoft.com/office/drawing/2014/main" id="{B448E5DC-A4D3-42B8-9DF8-4C2542518925}"/>
              </a:ext>
            </a:extLst>
          </p:cNvPr>
          <p:cNvPicPr>
            <a:picLocks noChangeAspect="1"/>
          </p:cNvPicPr>
          <p:nvPr/>
        </p:nvPicPr>
        <p:blipFill>
          <a:blip r:embed="rId4"/>
          <a:stretch>
            <a:fillRect/>
          </a:stretch>
        </p:blipFill>
        <p:spPr>
          <a:xfrm>
            <a:off x="1066800" y="3785250"/>
            <a:ext cx="8034741" cy="3165201"/>
          </a:xfrm>
          <a:prstGeom prst="rect">
            <a:avLst/>
          </a:prstGeom>
        </p:spPr>
      </p:pic>
    </p:spTree>
    <p:extLst>
      <p:ext uri="{BB962C8B-B14F-4D97-AF65-F5344CB8AC3E}">
        <p14:creationId xmlns:p14="http://schemas.microsoft.com/office/powerpoint/2010/main" val="390744981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110659" y="284315"/>
            <a:ext cx="6521529" cy="409536"/>
          </a:xfrm>
          <a:prstGeom prst="rect">
            <a:avLst/>
          </a:prstGeom>
        </p:spPr>
        <p:txBody>
          <a:bodyPr lIns="0" tIns="0" rIns="0" bIns="0" rtlCol="0" anchor="t">
            <a:spAutoFit/>
          </a:bodyPr>
          <a:lstStyle/>
          <a:p>
            <a:pPr>
              <a:lnSpc>
                <a:spcPts val="3393"/>
              </a:lnSpc>
              <a:spcBef>
                <a:spcPct val="0"/>
              </a:spcBef>
            </a:pPr>
            <a:r>
              <a:rPr lang="en-US" sz="2827" b="1" dirty="0">
                <a:solidFill>
                  <a:srgbClr val="FFFF00"/>
                </a:solidFill>
                <a:latin typeface="Arial Bold"/>
                <a:ea typeface="Arial Bold"/>
                <a:cs typeface="Arial Bold"/>
                <a:sym typeface="Arial Bold"/>
              </a:rPr>
              <a:t>Minh </a:t>
            </a:r>
            <a:r>
              <a:rPr lang="en-US" sz="2827" b="1" dirty="0" err="1">
                <a:solidFill>
                  <a:srgbClr val="FFFF00"/>
                </a:solidFill>
                <a:latin typeface="Arial Bold"/>
                <a:ea typeface="Arial Bold"/>
                <a:cs typeface="Arial Bold"/>
                <a:sym typeface="Arial Bold"/>
              </a:rPr>
              <a:t>họa</a:t>
            </a:r>
            <a:endParaRPr lang="en-US" sz="2827" b="1" dirty="0">
              <a:solidFill>
                <a:srgbClr val="FFFF00"/>
              </a:solidFill>
              <a:latin typeface="Arial Bold"/>
              <a:ea typeface="Arial Bold"/>
              <a:cs typeface="Arial Bold"/>
              <a:sym typeface="Arial Bold"/>
            </a:endParaRPr>
          </a:p>
        </p:txBody>
      </p:sp>
      <p:pic>
        <p:nvPicPr>
          <p:cNvPr id="8" name="object 6">
            <a:extLst>
              <a:ext uri="{FF2B5EF4-FFF2-40B4-BE49-F238E27FC236}">
                <a16:creationId xmlns:a16="http://schemas.microsoft.com/office/drawing/2014/main" id="{8037D758-E7EC-4147-ACE3-1647C5A0A69E}"/>
              </a:ext>
            </a:extLst>
          </p:cNvPr>
          <p:cNvPicPr/>
          <p:nvPr/>
        </p:nvPicPr>
        <p:blipFill>
          <a:blip r:embed="rId4" cstate="print"/>
          <a:stretch>
            <a:fillRect/>
          </a:stretch>
        </p:blipFill>
        <p:spPr>
          <a:xfrm>
            <a:off x="3227341" y="1371600"/>
            <a:ext cx="2785115" cy="2538463"/>
          </a:xfrm>
          <a:prstGeom prst="rect">
            <a:avLst/>
          </a:prstGeom>
        </p:spPr>
      </p:pic>
      <p:pic>
        <p:nvPicPr>
          <p:cNvPr id="9" name="object 7">
            <a:extLst>
              <a:ext uri="{FF2B5EF4-FFF2-40B4-BE49-F238E27FC236}">
                <a16:creationId xmlns:a16="http://schemas.microsoft.com/office/drawing/2014/main" id="{E640D173-E2FE-467B-BEDE-CDD10EA2F2B7}"/>
              </a:ext>
            </a:extLst>
          </p:cNvPr>
          <p:cNvPicPr/>
          <p:nvPr/>
        </p:nvPicPr>
        <p:blipFill>
          <a:blip r:embed="rId5" cstate="print"/>
          <a:stretch>
            <a:fillRect/>
          </a:stretch>
        </p:blipFill>
        <p:spPr>
          <a:xfrm>
            <a:off x="6510064" y="1371600"/>
            <a:ext cx="2785115" cy="2538463"/>
          </a:xfrm>
          <a:prstGeom prst="rect">
            <a:avLst/>
          </a:prstGeom>
        </p:spPr>
      </p:pic>
      <p:pic>
        <p:nvPicPr>
          <p:cNvPr id="10" name="object 6">
            <a:extLst>
              <a:ext uri="{FF2B5EF4-FFF2-40B4-BE49-F238E27FC236}">
                <a16:creationId xmlns:a16="http://schemas.microsoft.com/office/drawing/2014/main" id="{FE71C19E-9BA5-40B5-8143-35E514197E5E}"/>
              </a:ext>
            </a:extLst>
          </p:cNvPr>
          <p:cNvPicPr/>
          <p:nvPr/>
        </p:nvPicPr>
        <p:blipFill>
          <a:blip r:embed="rId6" cstate="print"/>
          <a:stretch>
            <a:fillRect/>
          </a:stretch>
        </p:blipFill>
        <p:spPr>
          <a:xfrm>
            <a:off x="3314405" y="4130000"/>
            <a:ext cx="4991395" cy="2538463"/>
          </a:xfrm>
          <a:prstGeom prst="rect">
            <a:avLst/>
          </a:prstGeom>
        </p:spPr>
      </p:pic>
      <p:sp>
        <p:nvSpPr>
          <p:cNvPr id="11" name="TextBox 10">
            <a:extLst>
              <a:ext uri="{FF2B5EF4-FFF2-40B4-BE49-F238E27FC236}">
                <a16:creationId xmlns:a16="http://schemas.microsoft.com/office/drawing/2014/main" id="{CD194CFD-3351-426F-885A-5D486CC6299B}"/>
              </a:ext>
            </a:extLst>
          </p:cNvPr>
          <p:cNvSpPr txBox="1"/>
          <p:nvPr/>
        </p:nvSpPr>
        <p:spPr>
          <a:xfrm>
            <a:off x="182880" y="1676400"/>
            <a:ext cx="2883803" cy="369332"/>
          </a:xfrm>
          <a:prstGeom prst="rect">
            <a:avLst/>
          </a:prstGeom>
          <a:noFill/>
        </p:spPr>
        <p:txBody>
          <a:bodyPr wrap="none" rtlCol="0">
            <a:spAutoFit/>
          </a:bodyPr>
          <a:lstStyle/>
          <a:p>
            <a:r>
              <a:rPr lang="en-US" dirty="0" err="1"/>
              <a:t>Điều</a:t>
            </a:r>
            <a:r>
              <a:rPr lang="en-US" dirty="0"/>
              <a:t> </a:t>
            </a:r>
            <a:r>
              <a:rPr lang="en-US" dirty="0" err="1"/>
              <a:t>chỉnh</a:t>
            </a:r>
            <a:r>
              <a:rPr lang="en-US" dirty="0"/>
              <a:t> </a:t>
            </a:r>
            <a:r>
              <a:rPr lang="en-US" dirty="0" err="1"/>
              <a:t>giữacác</a:t>
            </a:r>
            <a:r>
              <a:rPr lang="en-US" dirty="0"/>
              <a:t> </a:t>
            </a:r>
            <a:r>
              <a:rPr lang="en-US" dirty="0" err="1"/>
              <a:t>tiến</a:t>
            </a:r>
            <a:r>
              <a:rPr lang="en-US" dirty="0"/>
              <a:t> </a:t>
            </a:r>
            <a:r>
              <a:rPr lang="en-US" dirty="0" err="1"/>
              <a:t>trình</a:t>
            </a:r>
            <a:endParaRPr lang="en-US" dirty="0"/>
          </a:p>
        </p:txBody>
      </p:sp>
      <p:sp>
        <p:nvSpPr>
          <p:cNvPr id="12" name="TextBox 11">
            <a:extLst>
              <a:ext uri="{FF2B5EF4-FFF2-40B4-BE49-F238E27FC236}">
                <a16:creationId xmlns:a16="http://schemas.microsoft.com/office/drawing/2014/main" id="{DAF0F3A6-3FD3-494C-B51D-2A98D138621A}"/>
              </a:ext>
            </a:extLst>
          </p:cNvPr>
          <p:cNvSpPr txBox="1"/>
          <p:nvPr/>
        </p:nvSpPr>
        <p:spPr>
          <a:xfrm>
            <a:off x="182880" y="4130000"/>
            <a:ext cx="2658164" cy="369332"/>
          </a:xfrm>
          <a:prstGeom prst="rect">
            <a:avLst/>
          </a:prstGeom>
          <a:noFill/>
        </p:spPr>
        <p:txBody>
          <a:bodyPr wrap="none" rtlCol="0">
            <a:spAutoFit/>
          </a:bodyPr>
          <a:lstStyle/>
          <a:p>
            <a:r>
              <a:rPr lang="en-US" dirty="0" err="1"/>
              <a:t>Điều</a:t>
            </a:r>
            <a:r>
              <a:rPr lang="en-US" dirty="0"/>
              <a:t> </a:t>
            </a:r>
            <a:r>
              <a:rPr lang="en-US" dirty="0" err="1"/>
              <a:t>chỉnh</a:t>
            </a:r>
            <a:r>
              <a:rPr lang="en-US" dirty="0"/>
              <a:t> </a:t>
            </a:r>
            <a:r>
              <a:rPr lang="en-US" dirty="0" err="1"/>
              <a:t>tại</a:t>
            </a:r>
            <a:r>
              <a:rPr lang="en-US" dirty="0"/>
              <a:t> Middleware</a:t>
            </a:r>
          </a:p>
        </p:txBody>
      </p:sp>
    </p:spTree>
    <p:extLst>
      <p:ext uri="{BB962C8B-B14F-4D97-AF65-F5344CB8AC3E}">
        <p14:creationId xmlns:p14="http://schemas.microsoft.com/office/powerpoint/2010/main" val="356037965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110659" y="284315"/>
            <a:ext cx="6521529" cy="409536"/>
          </a:xfrm>
          <a:prstGeom prst="rect">
            <a:avLst/>
          </a:prstGeom>
        </p:spPr>
        <p:txBody>
          <a:bodyPr lIns="0" tIns="0" rIns="0" bIns="0" rtlCol="0" anchor="t">
            <a:spAutoFit/>
          </a:bodyPr>
          <a:lstStyle/>
          <a:p>
            <a:pPr>
              <a:lnSpc>
                <a:spcPts val="3393"/>
              </a:lnSpc>
              <a:spcBef>
                <a:spcPct val="0"/>
              </a:spcBef>
            </a:pPr>
            <a:r>
              <a:rPr lang="en-US" sz="2827" b="1" dirty="0" err="1">
                <a:solidFill>
                  <a:srgbClr val="FFFF00"/>
                </a:solidFill>
                <a:latin typeface="Arial Bold"/>
                <a:ea typeface="Arial Bold"/>
                <a:cs typeface="Arial Bold"/>
                <a:sym typeface="Arial Bold"/>
              </a:rPr>
              <a:t>Ví</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dụ</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bất</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đồng</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bộ</a:t>
            </a:r>
            <a:endParaRPr lang="en-US" sz="2827" b="1" dirty="0">
              <a:solidFill>
                <a:srgbClr val="FFFF00"/>
              </a:solidFill>
              <a:latin typeface="Arial Bold"/>
              <a:ea typeface="Arial Bold"/>
              <a:cs typeface="Arial Bold"/>
              <a:sym typeface="Arial Bold"/>
            </a:endParaRPr>
          </a:p>
        </p:txBody>
      </p:sp>
      <p:sp>
        <p:nvSpPr>
          <p:cNvPr id="7" name="TextBox 7"/>
          <p:cNvSpPr txBox="1"/>
          <p:nvPr/>
        </p:nvSpPr>
        <p:spPr>
          <a:xfrm>
            <a:off x="182880" y="3686585"/>
            <a:ext cx="9570720" cy="2769989"/>
          </a:xfrm>
          <a:prstGeom prst="rect">
            <a:avLst/>
          </a:prstGeom>
        </p:spPr>
        <p:txBody>
          <a:bodyPr lIns="0" tIns="0" rIns="0" bIns="0" rtlCol="0" anchor="t">
            <a:spAutoFit/>
          </a:bodyPr>
          <a:lstStyle/>
          <a:p>
            <a:r>
              <a:rPr lang="vi-VN" sz="2000" b="1" dirty="0"/>
              <a:t>Vấn đề:</a:t>
            </a:r>
          </a:p>
          <a:p>
            <a:pPr>
              <a:buFont typeface="Arial" panose="020B0604020202020204" pitchFamily="34" charset="0"/>
              <a:buChar char="•"/>
            </a:pPr>
            <a:r>
              <a:rPr lang="vi-VN" sz="2000" dirty="0"/>
              <a:t>Nếu </a:t>
            </a:r>
            <a:r>
              <a:rPr lang="vi-VN" sz="2000" b="1" dirty="0"/>
              <a:t>mỗi bản sao áp dụng các cập nhật theo thứ tự khác nhau</a:t>
            </a:r>
            <a:r>
              <a:rPr lang="vi-VN" sz="2000" dirty="0"/>
              <a:t>, ta có </a:t>
            </a:r>
            <a:r>
              <a:rPr lang="vi-VN" sz="2000" b="1" dirty="0"/>
              <a:t>giá trị cuối cùng khác nhau</a:t>
            </a:r>
            <a:r>
              <a:rPr lang="vi-VN" sz="2000" dirty="0"/>
              <a:t> ($1110 và $1111).</a:t>
            </a:r>
          </a:p>
          <a:p>
            <a:pPr>
              <a:buFont typeface="Arial" panose="020B0604020202020204" pitchFamily="34" charset="0"/>
              <a:buChar char="•"/>
            </a:pPr>
            <a:r>
              <a:rPr lang="vi-VN" sz="2000" dirty="0"/>
              <a:t>Điều này gây </a:t>
            </a:r>
            <a:r>
              <a:rPr lang="vi-VN" sz="2000" b="1" dirty="0"/>
              <a:t>mất đồng bộ giữa các bản sao</a:t>
            </a:r>
            <a:r>
              <a:rPr lang="vi-VN" sz="2000" dirty="0"/>
              <a:t>.</a:t>
            </a:r>
            <a:endParaRPr lang="en-US" sz="2000" dirty="0"/>
          </a:p>
          <a:p>
            <a:pPr>
              <a:buFont typeface="Arial" panose="020B0604020202020204" pitchFamily="34" charset="0"/>
              <a:buChar char="•"/>
            </a:pPr>
            <a:endParaRPr lang="vi-VN" sz="2000" dirty="0"/>
          </a:p>
          <a:p>
            <a:r>
              <a:rPr lang="vi-VN" sz="2000" b="1" dirty="0"/>
              <a:t>Giải pháp: Multicast có thứ tự hoàn toàn</a:t>
            </a:r>
          </a:p>
          <a:p>
            <a:pPr>
              <a:buFont typeface="Arial" panose="020B0604020202020204" pitchFamily="34" charset="0"/>
              <a:buChar char="•"/>
            </a:pPr>
            <a:r>
              <a:rPr lang="vi-VN" sz="2000" b="1" dirty="0"/>
              <a:t>Tất cả các tiến trình phải xử lý các cập nhật theo cùng một thứ tự</a:t>
            </a:r>
            <a:r>
              <a:rPr lang="vi-VN" sz="2000" dirty="0"/>
              <a:t>.</a:t>
            </a:r>
          </a:p>
          <a:p>
            <a:pPr>
              <a:buFont typeface="Arial" panose="020B0604020202020204" pitchFamily="34" charset="0"/>
              <a:buChar char="•"/>
            </a:pPr>
            <a:r>
              <a:rPr lang="vi-VN" sz="2000" dirty="0"/>
              <a:t>Sử dụng </a:t>
            </a:r>
            <a:r>
              <a:rPr lang="vi-VN" sz="2000" b="1" dirty="0"/>
              <a:t>đồng hồ logic (Logical Clocks) hoặc thuật toán phân tán</a:t>
            </a:r>
            <a:r>
              <a:rPr lang="vi-VN" sz="2000" dirty="0"/>
              <a:t> như </a:t>
            </a:r>
            <a:r>
              <a:rPr lang="vi-VN" sz="2000" b="1" dirty="0"/>
              <a:t>Total Order Multicast</a:t>
            </a:r>
            <a:r>
              <a:rPr lang="vi-VN" sz="2000" dirty="0"/>
              <a:t> để đảm bảo thứ tự này.</a:t>
            </a:r>
          </a:p>
        </p:txBody>
      </p:sp>
      <p:pic>
        <p:nvPicPr>
          <p:cNvPr id="8" name="object 6">
            <a:extLst>
              <a:ext uri="{FF2B5EF4-FFF2-40B4-BE49-F238E27FC236}">
                <a16:creationId xmlns:a16="http://schemas.microsoft.com/office/drawing/2014/main" id="{4F4757D5-5037-49F8-986B-340CF0CF4500}"/>
              </a:ext>
            </a:extLst>
          </p:cNvPr>
          <p:cNvPicPr/>
          <p:nvPr/>
        </p:nvPicPr>
        <p:blipFill>
          <a:blip r:embed="rId4" cstate="print"/>
          <a:stretch>
            <a:fillRect/>
          </a:stretch>
        </p:blipFill>
        <p:spPr>
          <a:xfrm>
            <a:off x="4695190" y="1312470"/>
            <a:ext cx="4589780" cy="2358193"/>
          </a:xfrm>
          <a:prstGeom prst="rect">
            <a:avLst/>
          </a:prstGeom>
        </p:spPr>
      </p:pic>
      <p:sp>
        <p:nvSpPr>
          <p:cNvPr id="9" name="TextBox 8">
            <a:extLst>
              <a:ext uri="{FF2B5EF4-FFF2-40B4-BE49-F238E27FC236}">
                <a16:creationId xmlns:a16="http://schemas.microsoft.com/office/drawing/2014/main" id="{76ABE584-BDEB-4749-8FF8-68A9DF656992}"/>
              </a:ext>
            </a:extLst>
          </p:cNvPr>
          <p:cNvSpPr txBox="1"/>
          <p:nvPr/>
        </p:nvSpPr>
        <p:spPr>
          <a:xfrm>
            <a:off x="134608" y="1475903"/>
            <a:ext cx="3921760" cy="2031325"/>
          </a:xfrm>
          <a:prstGeom prst="rect">
            <a:avLst/>
          </a:prstGeom>
          <a:noFill/>
        </p:spPr>
        <p:txBody>
          <a:bodyPr wrap="square" rtlCol="0">
            <a:spAutoFit/>
          </a:bodyPr>
          <a:lstStyle/>
          <a:p>
            <a:pPr algn="just"/>
            <a:r>
              <a:rPr lang="vi-VN" b="1" dirty="0"/>
              <a:t>Tình huống minh họa:</a:t>
            </a:r>
          </a:p>
          <a:p>
            <a:pPr algn="just">
              <a:buFont typeface="Arial" panose="020B0604020202020204" pitchFamily="34" charset="0"/>
              <a:buChar char="•"/>
            </a:pPr>
            <a:r>
              <a:rPr lang="vi-VN" b="1" dirty="0"/>
              <a:t>P1</a:t>
            </a:r>
            <a:r>
              <a:rPr lang="vi-VN" dirty="0"/>
              <a:t>: Thêm </a:t>
            </a:r>
            <a:r>
              <a:rPr lang="vi-VN" b="1" dirty="0"/>
              <a:t>$100</a:t>
            </a:r>
            <a:r>
              <a:rPr lang="vi-VN" dirty="0"/>
              <a:t> vào tài khoản (</a:t>
            </a:r>
            <a:r>
              <a:rPr lang="vi-VN" b="1" dirty="0"/>
              <a:t>giá trị ban đầu: $1000</a:t>
            </a:r>
            <a:r>
              <a:rPr lang="vi-VN" dirty="0"/>
              <a:t>)</a:t>
            </a:r>
          </a:p>
          <a:p>
            <a:pPr algn="just">
              <a:buFont typeface="Arial" panose="020B0604020202020204" pitchFamily="34" charset="0"/>
              <a:buChar char="•"/>
            </a:pPr>
            <a:r>
              <a:rPr lang="vi-VN" b="1" dirty="0"/>
              <a:t>P2</a:t>
            </a:r>
            <a:r>
              <a:rPr lang="vi-VN" dirty="0"/>
              <a:t>: Tăng tài khoản lên </a:t>
            </a:r>
            <a:r>
              <a:rPr lang="vi-VN" b="1" dirty="0"/>
              <a:t>1%</a:t>
            </a:r>
            <a:endParaRPr lang="vi-VN" dirty="0"/>
          </a:p>
          <a:p>
            <a:pPr algn="just">
              <a:buFont typeface="Arial" panose="020B0604020202020204" pitchFamily="34" charset="0"/>
              <a:buChar char="•"/>
            </a:pPr>
            <a:r>
              <a:rPr lang="vi-VN" dirty="0"/>
              <a:t>Có </a:t>
            </a:r>
            <a:r>
              <a:rPr lang="vi-VN" b="1" dirty="0"/>
              <a:t>hai bản sao (replicas)</a:t>
            </a:r>
            <a:r>
              <a:rPr lang="vi-VN" dirty="0"/>
              <a:t> của cơ sở dữ liệu</a:t>
            </a:r>
          </a:p>
          <a:p>
            <a:pPr algn="just"/>
            <a:endParaRPr lang="en-US" dirty="0"/>
          </a:p>
        </p:txBody>
      </p:sp>
    </p:spTree>
    <p:extLst>
      <p:ext uri="{BB962C8B-B14F-4D97-AF65-F5344CB8AC3E}">
        <p14:creationId xmlns:p14="http://schemas.microsoft.com/office/powerpoint/2010/main" val="352814696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110659" y="284315"/>
            <a:ext cx="6521529" cy="409536"/>
          </a:xfrm>
          <a:prstGeom prst="rect">
            <a:avLst/>
          </a:prstGeom>
        </p:spPr>
        <p:txBody>
          <a:bodyPr lIns="0" tIns="0" rIns="0" bIns="0" rtlCol="0" anchor="t">
            <a:spAutoFit/>
          </a:bodyPr>
          <a:lstStyle/>
          <a:p>
            <a:pPr>
              <a:lnSpc>
                <a:spcPts val="3393"/>
              </a:lnSpc>
              <a:spcBef>
                <a:spcPct val="0"/>
              </a:spcBef>
            </a:pPr>
            <a:r>
              <a:rPr lang="en-US" sz="2827" b="1" dirty="0" err="1">
                <a:solidFill>
                  <a:srgbClr val="FFFF00"/>
                </a:solidFill>
                <a:latin typeface="Arial Bold"/>
                <a:ea typeface="Arial Bold"/>
                <a:cs typeface="Arial Bold"/>
                <a:sym typeface="Arial Bold"/>
              </a:rPr>
              <a:t>Giải</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pháp</a:t>
            </a:r>
            <a:endParaRPr lang="en-US" sz="2827" b="1" dirty="0">
              <a:solidFill>
                <a:srgbClr val="FFFF00"/>
              </a:solidFill>
              <a:latin typeface="Arial Bold"/>
              <a:ea typeface="Arial Bold"/>
              <a:cs typeface="Arial Bold"/>
              <a:sym typeface="Arial Bold"/>
            </a:endParaRPr>
          </a:p>
        </p:txBody>
      </p:sp>
      <p:sp>
        <p:nvSpPr>
          <p:cNvPr id="7" name="TextBox 7"/>
          <p:cNvSpPr txBox="1"/>
          <p:nvPr/>
        </p:nvSpPr>
        <p:spPr>
          <a:xfrm>
            <a:off x="182880" y="1490622"/>
            <a:ext cx="9570720" cy="1231106"/>
          </a:xfrm>
          <a:prstGeom prst="rect">
            <a:avLst/>
          </a:prstGeom>
        </p:spPr>
        <p:txBody>
          <a:bodyPr lIns="0" tIns="0" rIns="0" bIns="0" rtlCol="0" anchor="t">
            <a:spAutoFit/>
          </a:bodyPr>
          <a:lstStyle/>
          <a:p>
            <a:r>
              <a:rPr lang="vi-VN" sz="2000" b="1" dirty="0"/>
              <a:t>Giải pháp: Multicast có thứ tự hoàn toàn</a:t>
            </a:r>
          </a:p>
          <a:p>
            <a:r>
              <a:rPr lang="vi-VN" sz="2000" dirty="0"/>
              <a:t>Để đảm bảo tất cả tiến trình xử lý các cập nhật theo </a:t>
            </a:r>
            <a:r>
              <a:rPr lang="vi-VN" sz="2000" b="1" dirty="0"/>
              <a:t>cùng một thứ tự</a:t>
            </a:r>
            <a:r>
              <a:rPr lang="vi-VN" sz="2000" dirty="0"/>
              <a:t>, ta sử dụng một cơ chế dựa trên </a:t>
            </a:r>
            <a:r>
              <a:rPr lang="vi-VN" sz="2000" b="1" dirty="0"/>
              <a:t>dấu thời gian (timestamped messages) và hàng đợi (queue)</a:t>
            </a:r>
            <a:r>
              <a:rPr lang="vi-VN" sz="2000" dirty="0"/>
              <a:t>.</a:t>
            </a:r>
          </a:p>
        </p:txBody>
      </p:sp>
      <p:pic>
        <p:nvPicPr>
          <p:cNvPr id="9" name="Picture 8">
            <a:extLst>
              <a:ext uri="{FF2B5EF4-FFF2-40B4-BE49-F238E27FC236}">
                <a16:creationId xmlns:a16="http://schemas.microsoft.com/office/drawing/2014/main" id="{8368B75F-8EAF-45B0-B3D7-FB2457098EF6}"/>
              </a:ext>
            </a:extLst>
          </p:cNvPr>
          <p:cNvPicPr>
            <a:picLocks noChangeAspect="1"/>
          </p:cNvPicPr>
          <p:nvPr/>
        </p:nvPicPr>
        <p:blipFill>
          <a:blip r:embed="rId4"/>
          <a:stretch>
            <a:fillRect/>
          </a:stretch>
        </p:blipFill>
        <p:spPr>
          <a:xfrm>
            <a:off x="30480" y="2825059"/>
            <a:ext cx="8686800" cy="4205826"/>
          </a:xfrm>
          <a:prstGeom prst="rect">
            <a:avLst/>
          </a:prstGeom>
        </p:spPr>
      </p:pic>
    </p:spTree>
    <p:extLst>
      <p:ext uri="{BB962C8B-B14F-4D97-AF65-F5344CB8AC3E}">
        <p14:creationId xmlns:p14="http://schemas.microsoft.com/office/powerpoint/2010/main" val="220344449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110659" y="284315"/>
            <a:ext cx="6521529" cy="409536"/>
          </a:xfrm>
          <a:prstGeom prst="rect">
            <a:avLst/>
          </a:prstGeom>
        </p:spPr>
        <p:txBody>
          <a:bodyPr lIns="0" tIns="0" rIns="0" bIns="0" rtlCol="0" anchor="t">
            <a:spAutoFit/>
          </a:bodyPr>
          <a:lstStyle/>
          <a:p>
            <a:pPr>
              <a:lnSpc>
                <a:spcPts val="3393"/>
              </a:lnSpc>
              <a:spcBef>
                <a:spcPct val="0"/>
              </a:spcBef>
            </a:pPr>
            <a:r>
              <a:rPr lang="en-US" sz="2827" b="1" dirty="0" err="1">
                <a:solidFill>
                  <a:srgbClr val="FFFF00"/>
                </a:solidFill>
                <a:latin typeface="Arial Bold"/>
                <a:ea typeface="Arial Bold"/>
                <a:cs typeface="Arial Bold"/>
                <a:sym typeface="Arial Bold"/>
              </a:rPr>
              <a:t>Đồng</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hồ</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Lamport</a:t>
            </a:r>
            <a:endParaRPr lang="en-US" sz="2827" b="1" dirty="0">
              <a:solidFill>
                <a:srgbClr val="FFFF00"/>
              </a:solidFill>
              <a:latin typeface="Arial Bold"/>
              <a:ea typeface="Arial Bold"/>
              <a:cs typeface="Arial Bold"/>
              <a:sym typeface="Arial Bold"/>
            </a:endParaRPr>
          </a:p>
        </p:txBody>
      </p:sp>
      <p:sp>
        <p:nvSpPr>
          <p:cNvPr id="7" name="TextBox 7"/>
          <p:cNvSpPr txBox="1"/>
          <p:nvPr/>
        </p:nvSpPr>
        <p:spPr>
          <a:xfrm>
            <a:off x="145143" y="1335785"/>
            <a:ext cx="9083040" cy="5262979"/>
          </a:xfrm>
          <a:prstGeom prst="rect">
            <a:avLst/>
          </a:prstGeom>
        </p:spPr>
        <p:txBody>
          <a:bodyPr wrap="square" lIns="0" tIns="0" rIns="0" bIns="0" rtlCol="0" anchor="t">
            <a:spAutoFit/>
          </a:bodyPr>
          <a:lstStyle/>
          <a:p>
            <a:r>
              <a:rPr lang="vi-VN" b="1" dirty="0"/>
              <a:t>Tương tự với Multicast có thứ tự hoàn toàn</a:t>
            </a:r>
          </a:p>
          <a:p>
            <a:pPr>
              <a:buFont typeface="+mj-lt"/>
              <a:buAutoNum type="arabicPeriod"/>
            </a:pPr>
            <a:r>
              <a:rPr lang="vi-VN" b="1" dirty="0"/>
              <a:t>Multicast có thứ tự hoàn toàn đảm bảo rằng</a:t>
            </a:r>
            <a:r>
              <a:rPr lang="vi-VN" dirty="0"/>
              <a:t>:</a:t>
            </a:r>
          </a:p>
          <a:p>
            <a:pPr marL="742950" lvl="1" indent="-285750">
              <a:buFont typeface="+mj-lt"/>
              <a:buAutoNum type="arabicPeriod"/>
            </a:pPr>
            <a:r>
              <a:rPr lang="vi-VN" b="1" dirty="0"/>
              <a:t>Mọi tiến trình duy trì cùng một hàng đợi tin nhắn</a:t>
            </a:r>
            <a:r>
              <a:rPr lang="vi-VN" dirty="0"/>
              <a:t>.</a:t>
            </a:r>
          </a:p>
          <a:p>
            <a:pPr marL="742950" lvl="1" indent="-285750">
              <a:buFont typeface="+mj-lt"/>
              <a:buAutoNum type="arabicPeriod"/>
            </a:pPr>
            <a:r>
              <a:rPr lang="vi-VN" b="1" dirty="0"/>
              <a:t>Các tin nhắn được xử lý theo cùng một thứ tự trên tất cả các tiến trình</a:t>
            </a:r>
            <a:r>
              <a:rPr lang="vi-VN" dirty="0"/>
              <a:t>.</a:t>
            </a:r>
          </a:p>
          <a:p>
            <a:pPr marL="742950" lvl="1" indent="-285750">
              <a:buFont typeface="+mj-lt"/>
              <a:buAutoNum type="arabicPeriod"/>
            </a:pPr>
            <a:r>
              <a:rPr lang="vi-VN" dirty="0"/>
              <a:t>Điều này giúp </a:t>
            </a:r>
            <a:r>
              <a:rPr lang="vi-VN" b="1" dirty="0"/>
              <a:t>đồng bộ hóa trạng thái giữa các tiến trình</a:t>
            </a:r>
            <a:r>
              <a:rPr lang="vi-VN" dirty="0"/>
              <a:t> trong hệ thống phân tán.</a:t>
            </a:r>
            <a:endParaRPr lang="en-US" dirty="0"/>
          </a:p>
          <a:p>
            <a:pPr marL="742950" lvl="1" indent="-285750">
              <a:buFont typeface="+mj-lt"/>
              <a:buAutoNum type="arabicPeriod"/>
            </a:pPr>
            <a:endParaRPr lang="vi-VN" dirty="0"/>
          </a:p>
          <a:p>
            <a:pPr>
              <a:buFont typeface="+mj-lt"/>
              <a:buAutoNum type="arabicPeriod"/>
            </a:pPr>
            <a:r>
              <a:rPr lang="vi-VN" b="1" dirty="0"/>
              <a:t>Loại trừ tương hỗ (Mutual Exclusion) có cùng nguyên tắc</a:t>
            </a:r>
            <a:r>
              <a:rPr lang="vi-VN" dirty="0"/>
              <a:t>:</a:t>
            </a:r>
          </a:p>
          <a:p>
            <a:pPr marL="742950" lvl="1" indent="-285750">
              <a:buFont typeface="+mj-lt"/>
              <a:buAutoNum type="arabicPeriod"/>
            </a:pPr>
            <a:r>
              <a:rPr lang="vi-VN" dirty="0"/>
              <a:t>Cần </a:t>
            </a:r>
            <a:r>
              <a:rPr lang="vi-VN" b="1" dirty="0"/>
              <a:t>thống nhất thứ tự mà các tiến trình được phép truy cập vào vùng tới hạn (critical region)</a:t>
            </a:r>
            <a:r>
              <a:rPr lang="vi-VN" dirty="0"/>
              <a:t>.</a:t>
            </a:r>
          </a:p>
          <a:p>
            <a:pPr marL="742950" lvl="1" indent="-285750">
              <a:buFont typeface="+mj-lt"/>
              <a:buAutoNum type="arabicPeriod"/>
            </a:pPr>
            <a:r>
              <a:rPr lang="vi-VN" dirty="0"/>
              <a:t>Có thể xem </a:t>
            </a:r>
            <a:r>
              <a:rPr lang="vi-VN" b="1" dirty="0"/>
              <a:t>quyền truy cập vào vùng tới hạn như một tin nhắn</a:t>
            </a:r>
            <a:r>
              <a:rPr lang="vi-VN" dirty="0"/>
              <a:t>, được xử lý </a:t>
            </a:r>
            <a:r>
              <a:rPr lang="vi-VN" b="1" dirty="0"/>
              <a:t>theo thứ tự giống nhau trên tất cả các tiến trình</a:t>
            </a:r>
            <a:r>
              <a:rPr lang="vi-VN" dirty="0"/>
              <a:t>.</a:t>
            </a:r>
          </a:p>
          <a:p>
            <a:pPr marL="742950" lvl="1" indent="-285750">
              <a:buFont typeface="+mj-lt"/>
              <a:buAutoNum type="arabicPeriod"/>
            </a:pPr>
            <a:r>
              <a:rPr lang="vi-VN" dirty="0"/>
              <a:t>Điều này đảm bảo </a:t>
            </a:r>
            <a:r>
              <a:rPr lang="vi-VN" b="1" dirty="0"/>
              <a:t>chỉ một tiến trình có thể truy cập vào vùng tới hạn tại một thời điểm</a:t>
            </a:r>
            <a:r>
              <a:rPr lang="vi-VN" dirty="0"/>
              <a:t>, tránh xung đột dữ liệu.</a:t>
            </a:r>
            <a:endParaRPr lang="en-US" dirty="0"/>
          </a:p>
          <a:p>
            <a:pPr marL="742950" lvl="1" indent="-285750">
              <a:buFont typeface="+mj-lt"/>
              <a:buAutoNum type="arabicPeriod"/>
            </a:pPr>
            <a:endParaRPr lang="vi-VN" dirty="0"/>
          </a:p>
          <a:p>
            <a:r>
              <a:rPr lang="vi-VN" b="1" dirty="0"/>
              <a:t>Kết luận</a:t>
            </a:r>
          </a:p>
          <a:p>
            <a:r>
              <a:rPr lang="vi-VN" dirty="0"/>
              <a:t>Cả </a:t>
            </a:r>
            <a:r>
              <a:rPr lang="vi-VN" b="1" dirty="0"/>
              <a:t>multicast có thứ tự hoàn toàn</a:t>
            </a:r>
            <a:r>
              <a:rPr lang="vi-VN" dirty="0"/>
              <a:t> và </a:t>
            </a:r>
            <a:r>
              <a:rPr lang="vi-VN" b="1" dirty="0"/>
              <a:t>loại trừ tương hỗ</a:t>
            </a:r>
            <a:r>
              <a:rPr lang="vi-VN" dirty="0"/>
              <a:t> đều dựa trên nguyên tắc </a:t>
            </a:r>
            <a:r>
              <a:rPr lang="vi-VN" b="1" dirty="0"/>
              <a:t>thống nhất thứ tự xử lý sự kiện giữa các tiến trình</a:t>
            </a:r>
            <a:r>
              <a:rPr lang="vi-VN" dirty="0"/>
              <a:t>, giúp đảm bảo tính toàn vẹn của dữ liệu trong hệ thống phân tán.</a:t>
            </a:r>
          </a:p>
        </p:txBody>
      </p:sp>
    </p:spTree>
    <p:extLst>
      <p:ext uri="{BB962C8B-B14F-4D97-AF65-F5344CB8AC3E}">
        <p14:creationId xmlns:p14="http://schemas.microsoft.com/office/powerpoint/2010/main" val="203813953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110659" y="284315"/>
            <a:ext cx="6521529" cy="409536"/>
          </a:xfrm>
          <a:prstGeom prst="rect">
            <a:avLst/>
          </a:prstGeom>
        </p:spPr>
        <p:txBody>
          <a:bodyPr lIns="0" tIns="0" rIns="0" bIns="0" rtlCol="0" anchor="t">
            <a:spAutoFit/>
          </a:bodyPr>
          <a:lstStyle/>
          <a:p>
            <a:pPr>
              <a:lnSpc>
                <a:spcPts val="3393"/>
              </a:lnSpc>
              <a:spcBef>
                <a:spcPct val="0"/>
              </a:spcBef>
            </a:pPr>
            <a:r>
              <a:rPr lang="en-US" sz="2827" b="1" dirty="0" err="1">
                <a:solidFill>
                  <a:srgbClr val="FFFF00"/>
                </a:solidFill>
                <a:latin typeface="Arial Bold"/>
                <a:ea typeface="Arial Bold"/>
                <a:cs typeface="Arial Bold"/>
                <a:sym typeface="Arial Bold"/>
              </a:rPr>
              <a:t>Đồng</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hồ</a:t>
            </a:r>
            <a:r>
              <a:rPr lang="en-US" sz="2827" b="1" dirty="0">
                <a:solidFill>
                  <a:srgbClr val="FFFF00"/>
                </a:solidFill>
                <a:latin typeface="Arial Bold"/>
                <a:ea typeface="Arial Bold"/>
                <a:cs typeface="Arial Bold"/>
                <a:sym typeface="Arial Bold"/>
              </a:rPr>
              <a:t> Vector</a:t>
            </a:r>
          </a:p>
        </p:txBody>
      </p:sp>
      <p:sp>
        <p:nvSpPr>
          <p:cNvPr id="7" name="TextBox 7"/>
          <p:cNvSpPr txBox="1"/>
          <p:nvPr/>
        </p:nvSpPr>
        <p:spPr>
          <a:xfrm>
            <a:off x="182880" y="1490622"/>
            <a:ext cx="9083040" cy="2154436"/>
          </a:xfrm>
          <a:prstGeom prst="rect">
            <a:avLst/>
          </a:prstGeom>
        </p:spPr>
        <p:txBody>
          <a:bodyPr wrap="square" lIns="0" tIns="0" rIns="0" bIns="0" rtlCol="0" anchor="t">
            <a:spAutoFit/>
          </a:bodyPr>
          <a:lstStyle/>
          <a:p>
            <a:r>
              <a:rPr lang="vi-VN" sz="2000" b="1" dirty="0"/>
              <a:t>Hạn chế của Đồng hồ Lamport</a:t>
            </a:r>
            <a:endParaRPr lang="en-US" sz="2000" b="1" dirty="0"/>
          </a:p>
          <a:p>
            <a:r>
              <a:rPr lang="vi-VN" sz="2000" dirty="0"/>
              <a:t>Đồng hồ logic của Lamport đảm bảo rằng:</a:t>
            </a:r>
            <a:endParaRPr lang="en-US" sz="2000" dirty="0"/>
          </a:p>
          <a:p>
            <a:r>
              <a:rPr lang="vi-VN" sz="2000" dirty="0"/>
              <a:t>Nếu sự kiện a xảy ra trước sự kiện b theo quan hệ happened-before (a → b), thì </a:t>
            </a:r>
            <a:r>
              <a:rPr lang="en-US" sz="2000" dirty="0"/>
              <a:t> </a:t>
            </a:r>
            <a:r>
              <a:rPr lang="vi-VN" sz="2000" dirty="0"/>
              <a:t>C(a) &lt; C(b).</a:t>
            </a:r>
            <a:endParaRPr lang="en-US" sz="2000" dirty="0"/>
          </a:p>
          <a:p>
            <a:r>
              <a:rPr lang="vi-VN" sz="2000" dirty="0"/>
              <a:t>Tuy nhiên, điều ngược lại không đúng: Nếu C(a) &lt; C(b), chưa chắc a đã xảy ra trước b.</a:t>
            </a:r>
            <a:endParaRPr lang="en-US" sz="2000" dirty="0"/>
          </a:p>
          <a:p>
            <a:pPr>
              <a:buFont typeface="Arial" panose="020B0604020202020204" pitchFamily="34" charset="0"/>
              <a:buChar char="•"/>
            </a:pPr>
            <a:endParaRPr lang="vi-VN" sz="2000" dirty="0"/>
          </a:p>
        </p:txBody>
      </p:sp>
      <p:pic>
        <p:nvPicPr>
          <p:cNvPr id="10" name="object 7">
            <a:extLst>
              <a:ext uri="{FF2B5EF4-FFF2-40B4-BE49-F238E27FC236}">
                <a16:creationId xmlns:a16="http://schemas.microsoft.com/office/drawing/2014/main" id="{00DE16DD-74E2-42C2-9D41-E19412C70D50}"/>
              </a:ext>
            </a:extLst>
          </p:cNvPr>
          <p:cNvPicPr/>
          <p:nvPr/>
        </p:nvPicPr>
        <p:blipFill>
          <a:blip r:embed="rId4" cstate="print"/>
          <a:stretch>
            <a:fillRect/>
          </a:stretch>
        </p:blipFill>
        <p:spPr>
          <a:xfrm>
            <a:off x="2133600" y="3645058"/>
            <a:ext cx="3200400" cy="2520831"/>
          </a:xfrm>
          <a:prstGeom prst="rect">
            <a:avLst/>
          </a:prstGeom>
        </p:spPr>
      </p:pic>
    </p:spTree>
    <p:extLst>
      <p:ext uri="{BB962C8B-B14F-4D97-AF65-F5344CB8AC3E}">
        <p14:creationId xmlns:p14="http://schemas.microsoft.com/office/powerpoint/2010/main" val="40806325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110659" y="284315"/>
            <a:ext cx="6521529" cy="409536"/>
          </a:xfrm>
          <a:prstGeom prst="rect">
            <a:avLst/>
          </a:prstGeom>
        </p:spPr>
        <p:txBody>
          <a:bodyPr lIns="0" tIns="0" rIns="0" bIns="0" rtlCol="0" anchor="t">
            <a:spAutoFit/>
          </a:bodyPr>
          <a:lstStyle/>
          <a:p>
            <a:pPr>
              <a:lnSpc>
                <a:spcPts val="3393"/>
              </a:lnSpc>
              <a:spcBef>
                <a:spcPct val="0"/>
              </a:spcBef>
            </a:pPr>
            <a:r>
              <a:rPr lang="en-US" sz="2827" b="1" dirty="0" err="1">
                <a:solidFill>
                  <a:srgbClr val="FFFF00"/>
                </a:solidFill>
                <a:latin typeface="Arial Bold"/>
                <a:ea typeface="Arial Bold"/>
                <a:cs typeface="Arial Bold"/>
                <a:sym typeface="Arial Bold"/>
              </a:rPr>
              <a:t>Giải</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pháp</a:t>
            </a:r>
            <a:endParaRPr lang="en-US" sz="2827" b="1" dirty="0">
              <a:solidFill>
                <a:srgbClr val="FFFF00"/>
              </a:solidFill>
              <a:latin typeface="Arial Bold"/>
              <a:ea typeface="Arial Bold"/>
              <a:cs typeface="Arial Bold"/>
              <a:sym typeface="Arial Bold"/>
            </a:endParaRPr>
          </a:p>
        </p:txBody>
      </p:sp>
      <p:sp>
        <p:nvSpPr>
          <p:cNvPr id="7" name="TextBox 7"/>
          <p:cNvSpPr txBox="1"/>
          <p:nvPr/>
        </p:nvSpPr>
        <p:spPr>
          <a:xfrm>
            <a:off x="182880" y="1297990"/>
            <a:ext cx="9570720" cy="1538883"/>
          </a:xfrm>
          <a:prstGeom prst="rect">
            <a:avLst/>
          </a:prstGeom>
        </p:spPr>
        <p:txBody>
          <a:bodyPr lIns="0" tIns="0" rIns="0" bIns="0" rtlCol="0" anchor="t">
            <a:spAutoFit/>
          </a:bodyPr>
          <a:lstStyle/>
          <a:p>
            <a:r>
              <a:rPr lang="vi-VN" sz="2000" b="1" dirty="0"/>
              <a:t>Giải pháp: </a:t>
            </a:r>
            <a:endParaRPr lang="en-US" sz="2000" b="1" dirty="0"/>
          </a:p>
          <a:p>
            <a:r>
              <a:rPr lang="vi-VN" sz="2000" b="1" dirty="0"/>
              <a:t>Sử dụng Đồng hồ Vector (Vector Clocks)</a:t>
            </a:r>
          </a:p>
          <a:p>
            <a:pPr>
              <a:buFont typeface="Arial" panose="020B0604020202020204" pitchFamily="34" charset="0"/>
              <a:buChar char="•"/>
            </a:pPr>
            <a:r>
              <a:rPr lang="vi-VN" sz="2000" b="1" dirty="0"/>
              <a:t>Mỗi tiến trình Pi duy trì một vector VCi</a:t>
            </a:r>
            <a:r>
              <a:rPr lang="vi-VN" sz="2000" dirty="0"/>
              <a:t> để theo dõi số lượng sự kiện đã xảy ra.</a:t>
            </a:r>
          </a:p>
          <a:p>
            <a:pPr>
              <a:buFont typeface="Arial" panose="020B0604020202020204" pitchFamily="34" charset="0"/>
              <a:buChar char="•"/>
            </a:pPr>
            <a:r>
              <a:rPr lang="vi-VN" sz="2000" b="1" dirty="0"/>
              <a:t>VCi[i]</a:t>
            </a:r>
            <a:r>
              <a:rPr lang="vi-VN" sz="2000" dirty="0"/>
              <a:t> là giá trị đồng hồ logic cục bộ của tiến trình </a:t>
            </a:r>
            <a:r>
              <a:rPr lang="vi-VN" sz="2000" b="1" dirty="0"/>
              <a:t>Pi</a:t>
            </a:r>
            <a:r>
              <a:rPr lang="vi-VN" sz="2000" dirty="0"/>
              <a:t>.</a:t>
            </a:r>
          </a:p>
          <a:p>
            <a:pPr>
              <a:buFont typeface="Arial" panose="020B0604020202020204" pitchFamily="34" charset="0"/>
              <a:buChar char="•"/>
            </a:pPr>
            <a:r>
              <a:rPr lang="vi-VN" sz="2000" dirty="0"/>
              <a:t>Nếu </a:t>
            </a:r>
            <a:r>
              <a:rPr lang="vi-VN" sz="2000" b="1" dirty="0"/>
              <a:t>VCi[j] = k</a:t>
            </a:r>
            <a:r>
              <a:rPr lang="vi-VN" sz="2000" dirty="0"/>
              <a:t>, nghĩa là </a:t>
            </a:r>
            <a:r>
              <a:rPr lang="vi-VN" sz="2000" b="1" dirty="0"/>
              <a:t>Pi biết rằng đã có k sự kiện xảy ra tại Pj</a:t>
            </a:r>
            <a:r>
              <a:rPr lang="vi-VN" sz="2000" dirty="0"/>
              <a:t>.</a:t>
            </a:r>
          </a:p>
        </p:txBody>
      </p:sp>
      <p:pic>
        <p:nvPicPr>
          <p:cNvPr id="9" name="Picture 8">
            <a:extLst>
              <a:ext uri="{FF2B5EF4-FFF2-40B4-BE49-F238E27FC236}">
                <a16:creationId xmlns:a16="http://schemas.microsoft.com/office/drawing/2014/main" id="{D30C5C8F-D655-4FF5-8996-6BF88173A63C}"/>
              </a:ext>
            </a:extLst>
          </p:cNvPr>
          <p:cNvPicPr>
            <a:picLocks noChangeAspect="1"/>
          </p:cNvPicPr>
          <p:nvPr/>
        </p:nvPicPr>
        <p:blipFill>
          <a:blip r:embed="rId4"/>
          <a:stretch>
            <a:fillRect/>
          </a:stretch>
        </p:blipFill>
        <p:spPr>
          <a:xfrm>
            <a:off x="195943" y="2901383"/>
            <a:ext cx="7703780" cy="4203682"/>
          </a:xfrm>
          <a:prstGeom prst="rect">
            <a:avLst/>
          </a:prstGeom>
        </p:spPr>
      </p:pic>
    </p:spTree>
    <p:extLst>
      <p:ext uri="{BB962C8B-B14F-4D97-AF65-F5344CB8AC3E}">
        <p14:creationId xmlns:p14="http://schemas.microsoft.com/office/powerpoint/2010/main" val="70511466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110659" y="284315"/>
            <a:ext cx="6521529" cy="409536"/>
          </a:xfrm>
          <a:prstGeom prst="rect">
            <a:avLst/>
          </a:prstGeom>
        </p:spPr>
        <p:txBody>
          <a:bodyPr lIns="0" tIns="0" rIns="0" bIns="0" rtlCol="0" anchor="t">
            <a:spAutoFit/>
          </a:bodyPr>
          <a:lstStyle/>
          <a:p>
            <a:pPr>
              <a:lnSpc>
                <a:spcPts val="3393"/>
              </a:lnSpc>
              <a:spcBef>
                <a:spcPct val="0"/>
              </a:spcBef>
            </a:pPr>
            <a:r>
              <a:rPr lang="en-US" sz="2827" b="1" dirty="0" err="1">
                <a:solidFill>
                  <a:srgbClr val="FFFF00"/>
                </a:solidFill>
                <a:latin typeface="Arial Bold"/>
                <a:ea typeface="Arial Bold"/>
                <a:cs typeface="Arial Bold"/>
                <a:sym typeface="Arial Bold"/>
              </a:rPr>
              <a:t>Đồng</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bộ</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đồng</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hồ</a:t>
            </a:r>
            <a:endParaRPr lang="en-US" sz="2827" b="1" dirty="0">
              <a:solidFill>
                <a:srgbClr val="FFFF00"/>
              </a:solidFill>
              <a:latin typeface="Arial Bold"/>
              <a:ea typeface="Arial Bold"/>
              <a:cs typeface="Arial Bold"/>
              <a:sym typeface="Arial Bold"/>
            </a:endParaRPr>
          </a:p>
        </p:txBody>
      </p:sp>
      <p:sp>
        <p:nvSpPr>
          <p:cNvPr id="7" name="TextBox 7"/>
          <p:cNvSpPr txBox="1"/>
          <p:nvPr/>
        </p:nvSpPr>
        <p:spPr>
          <a:xfrm>
            <a:off x="182880" y="4267200"/>
            <a:ext cx="9570720" cy="307777"/>
          </a:xfrm>
          <a:prstGeom prst="rect">
            <a:avLst/>
          </a:prstGeom>
        </p:spPr>
        <p:txBody>
          <a:bodyPr lIns="0" tIns="0" rIns="0" bIns="0" rtlCol="0" anchor="t">
            <a:spAutoFit/>
          </a:bodyPr>
          <a:lstStyle/>
          <a:p>
            <a:r>
              <a:rPr lang="en-US" sz="2000" b="1" dirty="0" err="1"/>
              <a:t>Phân</a:t>
            </a:r>
            <a:r>
              <a:rPr lang="en-US" sz="2000" b="1" dirty="0"/>
              <a:t> </a:t>
            </a:r>
            <a:r>
              <a:rPr lang="en-US" sz="2000" b="1" dirty="0" err="1"/>
              <a:t>tích</a:t>
            </a:r>
            <a:endParaRPr lang="vi-VN" sz="2000" dirty="0"/>
          </a:p>
        </p:txBody>
      </p:sp>
      <p:pic>
        <p:nvPicPr>
          <p:cNvPr id="8" name="object 6">
            <a:extLst>
              <a:ext uri="{FF2B5EF4-FFF2-40B4-BE49-F238E27FC236}">
                <a16:creationId xmlns:a16="http://schemas.microsoft.com/office/drawing/2014/main" id="{AADA26CB-B513-447B-A13B-4026E650F2AF}"/>
              </a:ext>
            </a:extLst>
          </p:cNvPr>
          <p:cNvPicPr/>
          <p:nvPr/>
        </p:nvPicPr>
        <p:blipFill>
          <a:blip r:embed="rId4" cstate="print"/>
          <a:stretch>
            <a:fillRect/>
          </a:stretch>
        </p:blipFill>
        <p:spPr>
          <a:xfrm>
            <a:off x="609600" y="1567839"/>
            <a:ext cx="4067130" cy="2436686"/>
          </a:xfrm>
          <a:prstGeom prst="rect">
            <a:avLst/>
          </a:prstGeom>
        </p:spPr>
      </p:pic>
      <p:pic>
        <p:nvPicPr>
          <p:cNvPr id="9" name="object 7">
            <a:extLst>
              <a:ext uri="{FF2B5EF4-FFF2-40B4-BE49-F238E27FC236}">
                <a16:creationId xmlns:a16="http://schemas.microsoft.com/office/drawing/2014/main" id="{22C475C8-B93C-40C7-8814-CDD99CB1DD6B}"/>
              </a:ext>
            </a:extLst>
          </p:cNvPr>
          <p:cNvPicPr/>
          <p:nvPr/>
        </p:nvPicPr>
        <p:blipFill>
          <a:blip r:embed="rId5" cstate="print"/>
          <a:stretch>
            <a:fillRect/>
          </a:stretch>
        </p:blipFill>
        <p:spPr>
          <a:xfrm>
            <a:off x="5008880" y="1541713"/>
            <a:ext cx="4067130" cy="2436686"/>
          </a:xfrm>
          <a:prstGeom prst="rect">
            <a:avLst/>
          </a:prstGeom>
        </p:spPr>
      </p:pic>
      <p:pic>
        <p:nvPicPr>
          <p:cNvPr id="11" name="Picture 10">
            <a:extLst>
              <a:ext uri="{FF2B5EF4-FFF2-40B4-BE49-F238E27FC236}">
                <a16:creationId xmlns:a16="http://schemas.microsoft.com/office/drawing/2014/main" id="{1051D4E7-6DA6-404A-A328-36B4480CDA59}"/>
              </a:ext>
            </a:extLst>
          </p:cNvPr>
          <p:cNvPicPr>
            <a:picLocks noChangeAspect="1"/>
          </p:cNvPicPr>
          <p:nvPr/>
        </p:nvPicPr>
        <p:blipFill>
          <a:blip r:embed="rId6"/>
          <a:stretch>
            <a:fillRect/>
          </a:stretch>
        </p:blipFill>
        <p:spPr>
          <a:xfrm>
            <a:off x="313602" y="4961051"/>
            <a:ext cx="9309275" cy="2106981"/>
          </a:xfrm>
          <a:prstGeom prst="rect">
            <a:avLst/>
          </a:prstGeom>
        </p:spPr>
      </p:pic>
    </p:spTree>
    <p:extLst>
      <p:ext uri="{BB962C8B-B14F-4D97-AF65-F5344CB8AC3E}">
        <p14:creationId xmlns:p14="http://schemas.microsoft.com/office/powerpoint/2010/main" val="10713918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endParaRPr lang="en-US" sz="1920" dirty="0">
                <a:solidFill>
                  <a:srgbClr val="0000FF"/>
                </a:solidFill>
                <a:latin typeface="Arial"/>
                <a:ea typeface="Arial"/>
                <a:cs typeface="Arial"/>
                <a:sym typeface="Arial"/>
              </a:endParaRPr>
            </a:p>
          </p:txBody>
        </p:sp>
      </p:grpSp>
      <p:sp>
        <p:nvSpPr>
          <p:cNvPr id="6" name="TextBox 6"/>
          <p:cNvSpPr txBox="1"/>
          <p:nvPr/>
        </p:nvSpPr>
        <p:spPr>
          <a:xfrm>
            <a:off x="110659" y="284315"/>
            <a:ext cx="6521529" cy="872034"/>
          </a:xfrm>
          <a:prstGeom prst="rect">
            <a:avLst/>
          </a:prstGeom>
        </p:spPr>
        <p:txBody>
          <a:bodyPr lIns="0" tIns="0" rIns="0" bIns="0" rtlCol="0" anchor="t">
            <a:spAutoFit/>
          </a:bodyPr>
          <a:lstStyle/>
          <a:p>
            <a:pPr>
              <a:lnSpc>
                <a:spcPts val="3393"/>
              </a:lnSpc>
              <a:spcBef>
                <a:spcPct val="0"/>
              </a:spcBef>
            </a:pPr>
            <a:r>
              <a:rPr lang="vi-VN" sz="3200" b="1" dirty="0">
                <a:solidFill>
                  <a:srgbClr val="FFFF00"/>
                </a:solidFill>
              </a:rPr>
              <a:t>Giao thức phát đa hướng theo thứ tự nhân quả</a:t>
            </a:r>
            <a:endParaRPr lang="en-US" sz="2827" b="1" dirty="0">
              <a:solidFill>
                <a:srgbClr val="FFFF00"/>
              </a:solidFill>
              <a:latin typeface="Arial Bold"/>
              <a:ea typeface="Arial Bold"/>
              <a:cs typeface="Arial Bold"/>
              <a:sym typeface="Arial Bold"/>
            </a:endParaRPr>
          </a:p>
        </p:txBody>
      </p:sp>
      <p:pic>
        <p:nvPicPr>
          <p:cNvPr id="9" name="Picture 8">
            <a:extLst>
              <a:ext uri="{FF2B5EF4-FFF2-40B4-BE49-F238E27FC236}">
                <a16:creationId xmlns:a16="http://schemas.microsoft.com/office/drawing/2014/main" id="{0B4C4FE5-5A35-4A27-8B23-5F600334F862}"/>
              </a:ext>
            </a:extLst>
          </p:cNvPr>
          <p:cNvPicPr>
            <a:picLocks noChangeAspect="1"/>
          </p:cNvPicPr>
          <p:nvPr/>
        </p:nvPicPr>
        <p:blipFill>
          <a:blip r:embed="rId4"/>
          <a:stretch>
            <a:fillRect/>
          </a:stretch>
        </p:blipFill>
        <p:spPr>
          <a:xfrm>
            <a:off x="0" y="3900430"/>
            <a:ext cx="9753600" cy="3050021"/>
          </a:xfrm>
          <a:prstGeom prst="rect">
            <a:avLst/>
          </a:prstGeom>
        </p:spPr>
      </p:pic>
      <p:pic>
        <p:nvPicPr>
          <p:cNvPr id="10" name="object 6">
            <a:extLst>
              <a:ext uri="{FF2B5EF4-FFF2-40B4-BE49-F238E27FC236}">
                <a16:creationId xmlns:a16="http://schemas.microsoft.com/office/drawing/2014/main" id="{DA7256A9-96A9-44AF-983E-EFB85428D779}"/>
              </a:ext>
            </a:extLst>
          </p:cNvPr>
          <p:cNvPicPr/>
          <p:nvPr/>
        </p:nvPicPr>
        <p:blipFill>
          <a:blip r:embed="rId5" cstate="print"/>
          <a:stretch>
            <a:fillRect/>
          </a:stretch>
        </p:blipFill>
        <p:spPr>
          <a:xfrm>
            <a:off x="3200400" y="1305418"/>
            <a:ext cx="4038600" cy="2449388"/>
          </a:xfrm>
          <a:prstGeom prst="rect">
            <a:avLst/>
          </a:prstGeom>
        </p:spPr>
      </p:pic>
    </p:spTree>
    <p:extLst>
      <p:ext uri="{BB962C8B-B14F-4D97-AF65-F5344CB8AC3E}">
        <p14:creationId xmlns:p14="http://schemas.microsoft.com/office/powerpoint/2010/main" val="332821100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110659" y="284315"/>
            <a:ext cx="6521529" cy="476408"/>
          </a:xfrm>
          <a:prstGeom prst="rect">
            <a:avLst/>
          </a:prstGeom>
        </p:spPr>
        <p:txBody>
          <a:bodyPr lIns="0" tIns="0" rIns="0" bIns="0" rtlCol="0" anchor="t">
            <a:spAutoFit/>
          </a:bodyPr>
          <a:lstStyle/>
          <a:p>
            <a:pPr algn="ctr">
              <a:lnSpc>
                <a:spcPts val="3393"/>
              </a:lnSpc>
              <a:spcBef>
                <a:spcPct val="0"/>
              </a:spcBef>
            </a:pPr>
            <a:r>
              <a:rPr lang="en-US" sz="2827" b="1">
                <a:solidFill>
                  <a:srgbClr val="FFFF00"/>
                </a:solidFill>
                <a:latin typeface="Arial Bold"/>
                <a:ea typeface="Arial Bold"/>
                <a:cs typeface="Arial Bold"/>
                <a:sym typeface="Arial Bold"/>
              </a:rPr>
              <a:t>Loại trừ Tương Hỗ (Mutual Exclusion)</a:t>
            </a:r>
          </a:p>
        </p:txBody>
      </p:sp>
      <p:sp>
        <p:nvSpPr>
          <p:cNvPr id="7" name="TextBox 7"/>
          <p:cNvSpPr txBox="1"/>
          <p:nvPr/>
        </p:nvSpPr>
        <p:spPr>
          <a:xfrm>
            <a:off x="182880" y="1490622"/>
            <a:ext cx="9570720" cy="4048125"/>
          </a:xfrm>
          <a:prstGeom prst="rect">
            <a:avLst/>
          </a:prstGeom>
        </p:spPr>
        <p:txBody>
          <a:bodyPr lIns="0" tIns="0" rIns="0" bIns="0" rtlCol="0" anchor="t">
            <a:spAutoFit/>
          </a:bodyPr>
          <a:lstStyle/>
          <a:p>
            <a:pPr algn="just">
              <a:lnSpc>
                <a:spcPts val="2304"/>
              </a:lnSpc>
              <a:spcBef>
                <a:spcPct val="0"/>
              </a:spcBef>
            </a:pPr>
            <a:r>
              <a:rPr lang="en-US" sz="1920" b="1">
                <a:solidFill>
                  <a:srgbClr val="000000"/>
                </a:solidFill>
                <a:latin typeface="Arial Bold"/>
                <a:ea typeface="Arial Bold"/>
                <a:cs typeface="Arial Bold"/>
                <a:sym typeface="Arial Bold"/>
              </a:rPr>
              <a:t>Vấn đề</a:t>
            </a:r>
          </a:p>
          <a:p>
            <a:pPr algn="just">
              <a:lnSpc>
                <a:spcPts val="2304"/>
              </a:lnSpc>
              <a:spcBef>
                <a:spcPct val="0"/>
              </a:spcBef>
            </a:pPr>
            <a:r>
              <a:rPr lang="en-US" sz="1920">
                <a:solidFill>
                  <a:srgbClr val="000000"/>
                </a:solidFill>
                <a:latin typeface="Arial"/>
                <a:ea typeface="Arial"/>
                <a:cs typeface="Arial"/>
                <a:sym typeface="Arial"/>
              </a:rPr>
              <a:t>Loại trừ tương hỗ (Mutual Exclusion)</a:t>
            </a:r>
          </a:p>
          <a:p>
            <a:pPr algn="just">
              <a:lnSpc>
                <a:spcPts val="2304"/>
              </a:lnSpc>
              <a:spcBef>
                <a:spcPct val="0"/>
              </a:spcBef>
            </a:pPr>
            <a:r>
              <a:rPr lang="en-US" sz="1920">
                <a:solidFill>
                  <a:srgbClr val="000000"/>
                </a:solidFill>
                <a:latin typeface="Arial"/>
                <a:ea typeface="Arial"/>
                <a:cs typeface="Arial"/>
                <a:sym typeface="Arial"/>
              </a:rPr>
              <a:t>Trong một hệ thống phân tán, nhiều tiến trình muốn truy cập độc quyền vào một tài nguyên dùng chung.</a:t>
            </a:r>
          </a:p>
          <a:p>
            <a:pPr algn="just">
              <a:lnSpc>
                <a:spcPts val="2304"/>
              </a:lnSpc>
              <a:spcBef>
                <a:spcPct val="0"/>
              </a:spcBef>
            </a:pPr>
            <a:endParaRPr lang="en-US" sz="1920">
              <a:solidFill>
                <a:srgbClr val="000000"/>
              </a:solidFill>
              <a:latin typeface="Arial"/>
              <a:ea typeface="Arial"/>
              <a:cs typeface="Arial"/>
              <a:sym typeface="Arial"/>
            </a:endParaRPr>
          </a:p>
          <a:p>
            <a:pPr algn="just">
              <a:lnSpc>
                <a:spcPts val="2304"/>
              </a:lnSpc>
              <a:spcBef>
                <a:spcPct val="0"/>
              </a:spcBef>
            </a:pPr>
            <a:endParaRPr lang="en-US" sz="1920">
              <a:solidFill>
                <a:srgbClr val="000000"/>
              </a:solidFill>
              <a:latin typeface="Arial"/>
              <a:ea typeface="Arial"/>
              <a:cs typeface="Arial"/>
              <a:sym typeface="Arial"/>
            </a:endParaRPr>
          </a:p>
          <a:p>
            <a:pPr algn="just">
              <a:lnSpc>
                <a:spcPts val="2304"/>
              </a:lnSpc>
              <a:spcBef>
                <a:spcPct val="0"/>
              </a:spcBef>
            </a:pPr>
            <a:r>
              <a:rPr lang="en-US" sz="1920" b="1">
                <a:solidFill>
                  <a:srgbClr val="000000"/>
                </a:solidFill>
                <a:latin typeface="Arial Bold"/>
                <a:ea typeface="Arial Bold"/>
                <a:cs typeface="Arial Bold"/>
                <a:sym typeface="Arial Bold"/>
              </a:rPr>
              <a:t>Các giải pháp cơ bản</a:t>
            </a:r>
          </a:p>
          <a:p>
            <a:pPr algn="just">
              <a:lnSpc>
                <a:spcPts val="2304"/>
              </a:lnSpc>
              <a:spcBef>
                <a:spcPct val="0"/>
              </a:spcBef>
            </a:pPr>
            <a:endParaRPr lang="en-US" sz="1920" b="1">
              <a:solidFill>
                <a:srgbClr val="000000"/>
              </a:solidFill>
              <a:latin typeface="Arial Bold"/>
              <a:ea typeface="Arial Bold"/>
              <a:cs typeface="Arial Bold"/>
              <a:sym typeface="Arial Bold"/>
            </a:endParaRPr>
          </a:p>
          <a:p>
            <a:pPr algn="just">
              <a:lnSpc>
                <a:spcPts val="2304"/>
              </a:lnSpc>
              <a:spcBef>
                <a:spcPct val="0"/>
              </a:spcBef>
            </a:pPr>
            <a:r>
              <a:rPr lang="en-US" sz="1920" b="1">
                <a:solidFill>
                  <a:srgbClr val="000000"/>
                </a:solidFill>
                <a:latin typeface="Arial Bold"/>
                <a:ea typeface="Arial Bold"/>
                <a:cs typeface="Arial Bold"/>
                <a:sym typeface="Arial Bold"/>
              </a:rPr>
              <a:t>Dựa trên quyền (Permission-based):</a:t>
            </a:r>
            <a:r>
              <a:rPr lang="en-US" sz="1920">
                <a:solidFill>
                  <a:srgbClr val="000000"/>
                </a:solidFill>
                <a:latin typeface="Arial"/>
                <a:ea typeface="Arial"/>
                <a:cs typeface="Arial"/>
                <a:sym typeface="Arial"/>
              </a:rPr>
              <a:t> Một tiến trình muốn vào vùng quan trọng (critical region) hoặc truy cập tài nguyên cần xin phép từ các tiến trình khác.</a:t>
            </a:r>
          </a:p>
          <a:p>
            <a:pPr algn="just">
              <a:lnSpc>
                <a:spcPts val="2304"/>
              </a:lnSpc>
              <a:spcBef>
                <a:spcPct val="0"/>
              </a:spcBef>
            </a:pPr>
            <a:endParaRPr lang="en-US" sz="1920">
              <a:solidFill>
                <a:srgbClr val="000000"/>
              </a:solidFill>
              <a:latin typeface="Arial"/>
              <a:ea typeface="Arial"/>
              <a:cs typeface="Arial"/>
              <a:sym typeface="Arial"/>
            </a:endParaRPr>
          </a:p>
          <a:p>
            <a:pPr algn="just">
              <a:lnSpc>
                <a:spcPts val="2304"/>
              </a:lnSpc>
              <a:spcBef>
                <a:spcPct val="0"/>
              </a:spcBef>
            </a:pPr>
            <a:r>
              <a:rPr lang="en-US" sz="1920" b="1">
                <a:solidFill>
                  <a:srgbClr val="000000"/>
                </a:solidFill>
                <a:latin typeface="Arial Bold"/>
                <a:ea typeface="Arial Bold"/>
                <a:cs typeface="Arial Bold"/>
                <a:sym typeface="Arial Bold"/>
              </a:rPr>
              <a:t>Dựa trên token (Token-based):</a:t>
            </a:r>
            <a:r>
              <a:rPr lang="en-US" sz="1920">
                <a:solidFill>
                  <a:srgbClr val="000000"/>
                </a:solidFill>
                <a:latin typeface="Arial"/>
                <a:ea typeface="Arial"/>
                <a:cs typeface="Arial"/>
                <a:sym typeface="Arial"/>
              </a:rPr>
              <a:t> Một token được truyền giữa các tiến trình. Tiến trình nào giữ token thì có quyền vào vùng quan trọng. Nếu không có nhu cầu sử dụng, tiến trình có thể chuyển token cho tiến trình khác.</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Freeform 6"/>
          <p:cNvSpPr/>
          <p:nvPr/>
        </p:nvSpPr>
        <p:spPr>
          <a:xfrm>
            <a:off x="571054" y="2172891"/>
            <a:ext cx="7638364" cy="2339249"/>
          </a:xfrm>
          <a:custGeom>
            <a:avLst/>
            <a:gdLst/>
            <a:ahLst/>
            <a:cxnLst/>
            <a:rect l="l" t="t" r="r" b="b"/>
            <a:pathLst>
              <a:path w="7638364" h="2339249">
                <a:moveTo>
                  <a:pt x="0" y="0"/>
                </a:moveTo>
                <a:lnTo>
                  <a:pt x="7638364" y="0"/>
                </a:lnTo>
                <a:lnTo>
                  <a:pt x="7638364" y="2339249"/>
                </a:lnTo>
                <a:lnTo>
                  <a:pt x="0" y="2339249"/>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154487" y="215569"/>
            <a:ext cx="8309015" cy="352425"/>
          </a:xfrm>
          <a:prstGeom prst="rect">
            <a:avLst/>
          </a:prstGeom>
        </p:spPr>
        <p:txBody>
          <a:bodyPr lIns="0" tIns="0" rIns="0" bIns="0" rtlCol="0" anchor="t">
            <a:spAutoFit/>
          </a:bodyPr>
          <a:lstStyle/>
          <a:p>
            <a:pPr algn="l">
              <a:lnSpc>
                <a:spcPts val="2423"/>
              </a:lnSpc>
              <a:spcBef>
                <a:spcPct val="0"/>
              </a:spcBef>
            </a:pPr>
            <a:r>
              <a:rPr lang="en-US" sz="2019" b="1">
                <a:solidFill>
                  <a:srgbClr val="FFFF00"/>
                </a:solidFill>
                <a:latin typeface="Arial Bold"/>
                <a:ea typeface="Arial Bold"/>
                <a:cs typeface="Arial Bold"/>
                <a:sym typeface="Arial Bold"/>
              </a:rPr>
              <a:t>Giải pháp tập trung dựa trên quyền (Permission-based, Centralized)</a:t>
            </a:r>
          </a:p>
        </p:txBody>
      </p:sp>
      <p:sp>
        <p:nvSpPr>
          <p:cNvPr id="8" name="TextBox 8"/>
          <p:cNvSpPr txBox="1"/>
          <p:nvPr/>
        </p:nvSpPr>
        <p:spPr>
          <a:xfrm>
            <a:off x="243840" y="1414198"/>
            <a:ext cx="9022080" cy="619125"/>
          </a:xfrm>
          <a:prstGeom prst="rect">
            <a:avLst/>
          </a:prstGeom>
        </p:spPr>
        <p:txBody>
          <a:bodyPr lIns="0" tIns="0" rIns="0" bIns="0" rtlCol="0" anchor="t">
            <a:spAutoFit/>
          </a:bodyPr>
          <a:lstStyle/>
          <a:p>
            <a:pPr algn="just">
              <a:lnSpc>
                <a:spcPts val="2304"/>
              </a:lnSpc>
              <a:spcBef>
                <a:spcPct val="0"/>
              </a:spcBef>
            </a:pPr>
            <a:r>
              <a:rPr lang="en-US" sz="1920" b="1">
                <a:solidFill>
                  <a:srgbClr val="000000"/>
                </a:solidFill>
                <a:latin typeface="Arial Bold"/>
                <a:ea typeface="Arial Bold"/>
                <a:cs typeface="Arial Bold"/>
                <a:sym typeface="Arial Bold"/>
              </a:rPr>
              <a:t>Chỉ cần sử dụng một bộ điều phối (coordinator) để đảm bảo loại trừ tương hỗ (mutual exclusion).</a:t>
            </a:r>
          </a:p>
        </p:txBody>
      </p:sp>
      <p:sp>
        <p:nvSpPr>
          <p:cNvPr id="9" name="TextBox 9"/>
          <p:cNvSpPr txBox="1"/>
          <p:nvPr/>
        </p:nvSpPr>
        <p:spPr>
          <a:xfrm>
            <a:off x="121920" y="4464515"/>
            <a:ext cx="9509760" cy="2333625"/>
          </a:xfrm>
          <a:prstGeom prst="rect">
            <a:avLst/>
          </a:prstGeom>
        </p:spPr>
        <p:txBody>
          <a:bodyPr lIns="0" tIns="0" rIns="0" bIns="0" rtlCol="0" anchor="t">
            <a:spAutoFit/>
          </a:bodyPr>
          <a:lstStyle/>
          <a:p>
            <a:pPr algn="l">
              <a:lnSpc>
                <a:spcPts val="2304"/>
              </a:lnSpc>
              <a:spcBef>
                <a:spcPct val="0"/>
              </a:spcBef>
            </a:pPr>
            <a:r>
              <a:rPr lang="en-US" sz="1920" b="1">
                <a:solidFill>
                  <a:srgbClr val="000000"/>
                </a:solidFill>
                <a:latin typeface="Arial Bold"/>
                <a:ea typeface="Arial Bold"/>
                <a:cs typeface="Arial Bold"/>
                <a:sym typeface="Arial Bold"/>
              </a:rPr>
              <a:t>(a)</a:t>
            </a:r>
            <a:r>
              <a:rPr lang="en-US" sz="1920">
                <a:solidFill>
                  <a:srgbClr val="000000"/>
                </a:solidFill>
                <a:latin typeface="Arial"/>
                <a:ea typeface="Arial"/>
                <a:cs typeface="Arial"/>
                <a:sym typeface="Arial"/>
              </a:rPr>
              <a:t> Tiến trình </a:t>
            </a:r>
            <a:r>
              <a:rPr lang="en-US" sz="1920" b="1">
                <a:solidFill>
                  <a:srgbClr val="000000"/>
                </a:solidFill>
                <a:latin typeface="Arial Bold"/>
                <a:ea typeface="Arial Bold"/>
                <a:cs typeface="Arial Bold"/>
                <a:sym typeface="Arial Bold"/>
              </a:rPr>
              <a:t>P1 gửi yêu cầu đến bộ điều phối </a:t>
            </a:r>
            <a:r>
              <a:rPr lang="en-US" sz="1920">
                <a:solidFill>
                  <a:srgbClr val="000000"/>
                </a:solidFill>
                <a:latin typeface="Arial"/>
                <a:ea typeface="Arial"/>
                <a:cs typeface="Arial"/>
                <a:sym typeface="Arial"/>
              </a:rPr>
              <a:t>để xin quyền truy cập vào tài nguyên chung.</a:t>
            </a:r>
            <a:r>
              <a:rPr lang="en-US" sz="1920" b="1">
                <a:solidFill>
                  <a:srgbClr val="000000"/>
                </a:solidFill>
                <a:latin typeface="Arial Bold"/>
                <a:ea typeface="Arial Bold"/>
                <a:cs typeface="Arial Bold"/>
                <a:sym typeface="Arial Bold"/>
              </a:rPr>
              <a:t> Bộ điều phối chấp nhận và cấp quyền.</a:t>
            </a:r>
          </a:p>
          <a:p>
            <a:pPr algn="l">
              <a:lnSpc>
                <a:spcPts val="2304"/>
              </a:lnSpc>
              <a:spcBef>
                <a:spcPct val="0"/>
              </a:spcBef>
            </a:pPr>
            <a:endParaRPr lang="en-US" sz="1920" b="1">
              <a:solidFill>
                <a:srgbClr val="000000"/>
              </a:solidFill>
              <a:latin typeface="Arial Bold"/>
              <a:ea typeface="Arial Bold"/>
              <a:cs typeface="Arial Bold"/>
              <a:sym typeface="Arial Bold"/>
            </a:endParaRPr>
          </a:p>
          <a:p>
            <a:pPr algn="l">
              <a:lnSpc>
                <a:spcPts val="2304"/>
              </a:lnSpc>
              <a:spcBef>
                <a:spcPct val="0"/>
              </a:spcBef>
            </a:pPr>
            <a:r>
              <a:rPr lang="en-US" sz="1920" b="1">
                <a:solidFill>
                  <a:srgbClr val="000000"/>
                </a:solidFill>
                <a:latin typeface="Arial Bold"/>
                <a:ea typeface="Arial Bold"/>
                <a:cs typeface="Arial Bold"/>
                <a:sym typeface="Arial Bold"/>
              </a:rPr>
              <a:t>(b)</a:t>
            </a:r>
            <a:r>
              <a:rPr lang="en-US" sz="1920">
                <a:solidFill>
                  <a:srgbClr val="000000"/>
                </a:solidFill>
                <a:latin typeface="Arial"/>
                <a:ea typeface="Arial"/>
                <a:cs typeface="Arial"/>
                <a:sym typeface="Arial"/>
              </a:rPr>
              <a:t> Tiến trình </a:t>
            </a:r>
            <a:r>
              <a:rPr lang="en-US" sz="1920" b="1">
                <a:solidFill>
                  <a:srgbClr val="000000"/>
                </a:solidFill>
                <a:latin typeface="Arial Bold"/>
                <a:ea typeface="Arial Bold"/>
                <a:cs typeface="Arial Bold"/>
                <a:sym typeface="Arial Bold"/>
              </a:rPr>
              <a:t>P2 cũng gửi yêu cầu để truy cập cùng tài nguyên</a:t>
            </a:r>
            <a:r>
              <a:rPr lang="en-US" sz="1920">
                <a:solidFill>
                  <a:srgbClr val="000000"/>
                </a:solidFill>
                <a:latin typeface="Arial"/>
                <a:ea typeface="Arial"/>
                <a:cs typeface="Arial"/>
                <a:sym typeface="Arial"/>
              </a:rPr>
              <a:t>. </a:t>
            </a:r>
            <a:r>
              <a:rPr lang="en-US" sz="1920" b="1">
                <a:solidFill>
                  <a:srgbClr val="000000"/>
                </a:solidFill>
                <a:latin typeface="Arial Bold"/>
                <a:ea typeface="Arial Bold"/>
                <a:cs typeface="Arial Bold"/>
                <a:sym typeface="Arial Bold"/>
              </a:rPr>
              <a:t>Bộ điều phối không phản hồi</a:t>
            </a:r>
            <a:r>
              <a:rPr lang="en-US" sz="1920">
                <a:solidFill>
                  <a:srgbClr val="000000"/>
                </a:solidFill>
                <a:latin typeface="Arial"/>
                <a:ea typeface="Arial"/>
                <a:cs typeface="Arial"/>
                <a:sym typeface="Arial"/>
              </a:rPr>
              <a:t>, khiến P2 phải chờ.</a:t>
            </a:r>
          </a:p>
          <a:p>
            <a:pPr algn="l">
              <a:lnSpc>
                <a:spcPts val="2304"/>
              </a:lnSpc>
              <a:spcBef>
                <a:spcPct val="0"/>
              </a:spcBef>
            </a:pPr>
            <a:endParaRPr lang="en-US" sz="1920">
              <a:solidFill>
                <a:srgbClr val="000000"/>
              </a:solidFill>
              <a:latin typeface="Arial"/>
              <a:ea typeface="Arial"/>
              <a:cs typeface="Arial"/>
              <a:sym typeface="Arial"/>
            </a:endParaRPr>
          </a:p>
          <a:p>
            <a:pPr algn="l">
              <a:lnSpc>
                <a:spcPts val="2304"/>
              </a:lnSpc>
              <a:spcBef>
                <a:spcPct val="0"/>
              </a:spcBef>
            </a:pPr>
            <a:r>
              <a:rPr lang="en-US" sz="1920" b="1">
                <a:solidFill>
                  <a:srgbClr val="000000"/>
                </a:solidFill>
                <a:latin typeface="Arial Bold"/>
                <a:ea typeface="Arial Bold"/>
                <a:cs typeface="Arial Bold"/>
                <a:sym typeface="Arial Bold"/>
              </a:rPr>
              <a:t>(c)</a:t>
            </a:r>
            <a:r>
              <a:rPr lang="en-US" sz="1920">
                <a:solidFill>
                  <a:srgbClr val="000000"/>
                </a:solidFill>
                <a:latin typeface="Arial"/>
                <a:ea typeface="Arial"/>
                <a:cs typeface="Arial"/>
                <a:sym typeface="Arial"/>
              </a:rPr>
              <a:t> Khi</a:t>
            </a:r>
            <a:r>
              <a:rPr lang="en-US" sz="1920" b="1">
                <a:solidFill>
                  <a:srgbClr val="000000"/>
                </a:solidFill>
                <a:latin typeface="Arial Bold"/>
                <a:ea typeface="Arial Bold"/>
                <a:cs typeface="Arial Bold"/>
                <a:sym typeface="Arial Bold"/>
              </a:rPr>
              <a:t> P1 giải phóng tài nguyên,</a:t>
            </a:r>
            <a:r>
              <a:rPr lang="en-US" sz="1920">
                <a:solidFill>
                  <a:srgbClr val="000000"/>
                </a:solidFill>
                <a:latin typeface="Arial"/>
                <a:ea typeface="Arial"/>
                <a:cs typeface="Arial"/>
                <a:sym typeface="Arial"/>
              </a:rPr>
              <a:t> nó thông báo cho bộ điều phối. Bộ điều phối sau đó gửi phản hồi cho P2, cho phép tiến trình này truy cập tài nguyên.</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303380" y="1584992"/>
            <a:ext cx="9450220" cy="3476625"/>
          </a:xfrm>
          <a:prstGeom prst="rect">
            <a:avLst/>
          </a:prstGeom>
        </p:spPr>
        <p:txBody>
          <a:bodyPr lIns="0" tIns="0" rIns="0" bIns="0" rtlCol="0" anchor="t">
            <a:spAutoFit/>
          </a:bodyPr>
          <a:lstStyle/>
          <a:p>
            <a:pPr algn="just">
              <a:lnSpc>
                <a:spcPts val="2304"/>
              </a:lnSpc>
              <a:spcBef>
                <a:spcPct val="0"/>
              </a:spcBef>
            </a:pPr>
            <a:r>
              <a:rPr lang="en-US" sz="1920" b="1">
                <a:solidFill>
                  <a:srgbClr val="000000"/>
                </a:solidFill>
                <a:latin typeface="Arial Bold"/>
                <a:ea typeface="Arial Bold"/>
                <a:cs typeface="Arial Bold"/>
                <a:sym typeface="Arial Bold"/>
              </a:rPr>
              <a:t>Giống như Lamport, ngoại trừ việc không gửi xác nhận.</a:t>
            </a:r>
          </a:p>
          <a:p>
            <a:pPr algn="just">
              <a:lnSpc>
                <a:spcPts val="2304"/>
              </a:lnSpc>
              <a:spcBef>
                <a:spcPct val="0"/>
              </a:spcBef>
            </a:pPr>
            <a:endParaRPr lang="en-US" sz="1920" b="1">
              <a:solidFill>
                <a:srgbClr val="000000"/>
              </a:solidFill>
              <a:latin typeface="Arial Bold"/>
              <a:ea typeface="Arial Bold"/>
              <a:cs typeface="Arial Bold"/>
              <a:sym typeface="Arial Bold"/>
            </a:endParaRPr>
          </a:p>
          <a:p>
            <a:pPr algn="just">
              <a:lnSpc>
                <a:spcPts val="2304"/>
              </a:lnSpc>
              <a:spcBef>
                <a:spcPct val="0"/>
              </a:spcBef>
            </a:pPr>
            <a:endParaRPr lang="en-US" sz="1920" b="1">
              <a:solidFill>
                <a:srgbClr val="000000"/>
              </a:solidFill>
              <a:latin typeface="Arial Bold"/>
              <a:ea typeface="Arial Bold"/>
              <a:cs typeface="Arial Bold"/>
              <a:sym typeface="Arial Bold"/>
            </a:endParaRPr>
          </a:p>
          <a:p>
            <a:pPr algn="just">
              <a:lnSpc>
                <a:spcPts val="2304"/>
              </a:lnSpc>
              <a:spcBef>
                <a:spcPct val="0"/>
              </a:spcBef>
            </a:pPr>
            <a:r>
              <a:rPr lang="en-US" sz="1920">
                <a:solidFill>
                  <a:srgbClr val="000000"/>
                </a:solidFill>
                <a:latin typeface="Arial"/>
                <a:ea typeface="Arial"/>
                <a:cs typeface="Arial"/>
                <a:sym typeface="Arial"/>
              </a:rPr>
              <a:t>Trả lời một yêu cầu chỉ khi:</a:t>
            </a:r>
          </a:p>
          <a:p>
            <a:pPr marL="414528" lvl="1" indent="-207264" algn="just">
              <a:lnSpc>
                <a:spcPts val="2304"/>
              </a:lnSpc>
              <a:buFont typeface="Arial"/>
              <a:buChar char="•"/>
            </a:pPr>
            <a:r>
              <a:rPr lang="en-US" sz="1920">
                <a:solidFill>
                  <a:srgbClr val="000000"/>
                </a:solidFill>
                <a:latin typeface="Arial"/>
                <a:ea typeface="Arial"/>
                <a:cs typeface="Arial"/>
                <a:sym typeface="Arial"/>
              </a:rPr>
              <a:t> Tiến trình nhận không có nhu cầu sử dụng tài nguyên dùng chung</a:t>
            </a:r>
          </a:p>
          <a:p>
            <a:pPr algn="just">
              <a:lnSpc>
                <a:spcPts val="2304"/>
              </a:lnSpc>
            </a:pPr>
            <a:endParaRPr lang="en-US" sz="1920">
              <a:solidFill>
                <a:srgbClr val="000000"/>
              </a:solidFill>
              <a:latin typeface="Arial"/>
              <a:ea typeface="Arial"/>
              <a:cs typeface="Arial"/>
              <a:sym typeface="Arial"/>
            </a:endParaRPr>
          </a:p>
          <a:p>
            <a:pPr marL="414528" lvl="1" indent="-207264" algn="just">
              <a:lnSpc>
                <a:spcPts val="2304"/>
              </a:lnSpc>
              <a:buFont typeface="Arial"/>
              <a:buChar char="•"/>
            </a:pPr>
            <a:r>
              <a:rPr lang="en-US" sz="1920">
                <a:solidFill>
                  <a:srgbClr val="000000"/>
                </a:solidFill>
                <a:latin typeface="Arial"/>
                <a:ea typeface="Arial"/>
                <a:cs typeface="Arial"/>
                <a:sym typeface="Arial"/>
              </a:rPr>
              <a:t> Tiến trình nhận đang chờ tài nguyên nhưng có mức độ ưu tiên thấp hơn (được xác định thông qua so sánh dấu thời gian).</a:t>
            </a:r>
          </a:p>
          <a:p>
            <a:pPr algn="just">
              <a:lnSpc>
                <a:spcPts val="2304"/>
              </a:lnSpc>
            </a:pPr>
            <a:endParaRPr lang="en-US" sz="1920">
              <a:solidFill>
                <a:srgbClr val="000000"/>
              </a:solidFill>
              <a:latin typeface="Arial"/>
              <a:ea typeface="Arial"/>
              <a:cs typeface="Arial"/>
              <a:sym typeface="Arial"/>
            </a:endParaRPr>
          </a:p>
          <a:p>
            <a:pPr algn="just">
              <a:lnSpc>
                <a:spcPts val="2304"/>
              </a:lnSpc>
              <a:spcBef>
                <a:spcPct val="0"/>
              </a:spcBef>
            </a:pPr>
            <a:r>
              <a:rPr lang="en-US" sz="1920" b="1">
                <a:solidFill>
                  <a:srgbClr val="000000"/>
                </a:solidFill>
                <a:latin typeface="Arial Bold"/>
                <a:ea typeface="Arial Bold"/>
                <a:cs typeface="Arial Bold"/>
                <a:sym typeface="Arial Bold"/>
              </a:rPr>
              <a:t>Trong tất cả các trường hợp khác, phản hồi sẽ bị hoãn lại, điều này đòi hỏi thêm một số quản lý cục bộ.</a:t>
            </a:r>
          </a:p>
          <a:p>
            <a:pPr algn="just">
              <a:lnSpc>
                <a:spcPts val="2304"/>
              </a:lnSpc>
              <a:spcBef>
                <a:spcPct val="0"/>
              </a:spcBef>
            </a:pPr>
            <a:endParaRPr lang="en-US" sz="1920" b="1">
              <a:solidFill>
                <a:srgbClr val="000000"/>
              </a:solidFill>
              <a:latin typeface="Arial Bold"/>
              <a:ea typeface="Arial Bold"/>
              <a:cs typeface="Arial Bold"/>
              <a:sym typeface="Arial Bold"/>
            </a:endParaRPr>
          </a:p>
        </p:txBody>
      </p:sp>
      <p:sp>
        <p:nvSpPr>
          <p:cNvPr id="7" name="TextBox 7"/>
          <p:cNvSpPr txBox="1"/>
          <p:nvPr/>
        </p:nvSpPr>
        <p:spPr>
          <a:xfrm>
            <a:off x="303380" y="216147"/>
            <a:ext cx="6686700" cy="429599"/>
          </a:xfrm>
          <a:prstGeom prst="rect">
            <a:avLst/>
          </a:prstGeom>
        </p:spPr>
        <p:txBody>
          <a:bodyPr lIns="0" tIns="0" rIns="0" bIns="0" rtlCol="0" anchor="t">
            <a:spAutoFit/>
          </a:bodyPr>
          <a:lstStyle/>
          <a:p>
            <a:pPr algn="ctr">
              <a:lnSpc>
                <a:spcPts val="3003"/>
              </a:lnSpc>
              <a:spcBef>
                <a:spcPct val="0"/>
              </a:spcBef>
            </a:pPr>
            <a:r>
              <a:rPr lang="en-US" sz="2502">
                <a:solidFill>
                  <a:srgbClr val="FFFF00"/>
                </a:solidFill>
                <a:latin typeface="Arial"/>
                <a:ea typeface="Arial"/>
                <a:cs typeface="Arial"/>
                <a:sym typeface="Arial"/>
              </a:rPr>
              <a:t>Loại trừ tương hỗ: Giải thuật Ricart &amp; Agrawala</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473099" y="4199778"/>
            <a:ext cx="8792821" cy="2489895"/>
          </a:xfrm>
          <a:prstGeom prst="rect">
            <a:avLst/>
          </a:prstGeom>
        </p:spPr>
        <p:txBody>
          <a:bodyPr lIns="0" tIns="0" rIns="0" bIns="0" rtlCol="0" anchor="t">
            <a:spAutoFit/>
          </a:bodyPr>
          <a:lstStyle/>
          <a:p>
            <a:pPr algn="l">
              <a:lnSpc>
                <a:spcPts val="2439"/>
              </a:lnSpc>
              <a:spcBef>
                <a:spcPct val="0"/>
              </a:spcBef>
            </a:pPr>
            <a:r>
              <a:rPr lang="en-US" sz="2032" b="1">
                <a:solidFill>
                  <a:srgbClr val="000000"/>
                </a:solidFill>
                <a:latin typeface="Arial Bold"/>
                <a:ea typeface="Arial Bold"/>
                <a:cs typeface="Arial Bold"/>
                <a:sym typeface="Arial Bold"/>
              </a:rPr>
              <a:t>Ví dụ với ba tiến trình</a:t>
            </a:r>
          </a:p>
          <a:p>
            <a:pPr algn="l">
              <a:lnSpc>
                <a:spcPts val="2439"/>
              </a:lnSpc>
              <a:spcBef>
                <a:spcPct val="0"/>
              </a:spcBef>
            </a:pPr>
            <a:r>
              <a:rPr lang="en-US" sz="2032">
                <a:solidFill>
                  <a:srgbClr val="000000"/>
                </a:solidFill>
                <a:latin typeface="Arial"/>
                <a:ea typeface="Arial"/>
                <a:cs typeface="Arial"/>
                <a:sym typeface="Arial"/>
              </a:rPr>
              <a:t> </a:t>
            </a:r>
          </a:p>
          <a:p>
            <a:pPr algn="l">
              <a:lnSpc>
                <a:spcPts val="2439"/>
              </a:lnSpc>
              <a:spcBef>
                <a:spcPct val="0"/>
              </a:spcBef>
            </a:pPr>
            <a:r>
              <a:rPr lang="en-US" sz="2032">
                <a:solidFill>
                  <a:srgbClr val="000000"/>
                </a:solidFill>
                <a:latin typeface="Arial"/>
                <a:ea typeface="Arial"/>
                <a:cs typeface="Arial"/>
                <a:sym typeface="Arial"/>
              </a:rPr>
              <a:t>(a) Hai tiến trình muốn truy cập cùng một tài nguyên tại cùng một thời điểm.</a:t>
            </a:r>
          </a:p>
          <a:p>
            <a:pPr algn="l">
              <a:lnSpc>
                <a:spcPts val="2439"/>
              </a:lnSpc>
              <a:spcBef>
                <a:spcPct val="0"/>
              </a:spcBef>
            </a:pPr>
            <a:endParaRPr lang="en-US" sz="2032">
              <a:solidFill>
                <a:srgbClr val="000000"/>
              </a:solidFill>
              <a:latin typeface="Arial"/>
              <a:ea typeface="Arial"/>
              <a:cs typeface="Arial"/>
              <a:sym typeface="Arial"/>
            </a:endParaRPr>
          </a:p>
          <a:p>
            <a:pPr algn="l">
              <a:lnSpc>
                <a:spcPts val="2439"/>
              </a:lnSpc>
              <a:spcBef>
                <a:spcPct val="0"/>
              </a:spcBef>
            </a:pPr>
            <a:r>
              <a:rPr lang="en-US" sz="2032">
                <a:solidFill>
                  <a:srgbClr val="000000"/>
                </a:solidFill>
                <a:latin typeface="Arial"/>
                <a:ea typeface="Arial"/>
                <a:cs typeface="Arial"/>
                <a:sym typeface="Arial"/>
              </a:rPr>
              <a:t>(b) Tiến trình P0 có dấu thời gian nhỏ hơn, nên nó được quyền truy cập trước.</a:t>
            </a:r>
          </a:p>
          <a:p>
            <a:pPr algn="l">
              <a:lnSpc>
                <a:spcPts val="2439"/>
              </a:lnSpc>
              <a:spcBef>
                <a:spcPct val="0"/>
              </a:spcBef>
            </a:pPr>
            <a:endParaRPr lang="en-US" sz="2032">
              <a:solidFill>
                <a:srgbClr val="000000"/>
              </a:solidFill>
              <a:latin typeface="Arial"/>
              <a:ea typeface="Arial"/>
              <a:cs typeface="Arial"/>
              <a:sym typeface="Arial"/>
            </a:endParaRPr>
          </a:p>
          <a:p>
            <a:pPr algn="l">
              <a:lnSpc>
                <a:spcPts val="2439"/>
              </a:lnSpc>
              <a:spcBef>
                <a:spcPct val="0"/>
              </a:spcBef>
            </a:pPr>
            <a:r>
              <a:rPr lang="en-US" sz="2032">
                <a:solidFill>
                  <a:srgbClr val="000000"/>
                </a:solidFill>
                <a:latin typeface="Arial"/>
                <a:ea typeface="Arial"/>
                <a:cs typeface="Arial"/>
                <a:sym typeface="Arial"/>
              </a:rPr>
              <a:t>(c) Khi P0 hoàn thành, nó gửi OK cho P2, cho phép P2 truy cập tài nguyên</a:t>
            </a:r>
          </a:p>
        </p:txBody>
      </p:sp>
      <p:sp>
        <p:nvSpPr>
          <p:cNvPr id="7" name="Freeform 7"/>
          <p:cNvSpPr/>
          <p:nvPr/>
        </p:nvSpPr>
        <p:spPr>
          <a:xfrm>
            <a:off x="1279718" y="1399386"/>
            <a:ext cx="7604191" cy="2698599"/>
          </a:xfrm>
          <a:custGeom>
            <a:avLst/>
            <a:gdLst/>
            <a:ahLst/>
            <a:cxnLst/>
            <a:rect l="l" t="t" r="r" b="b"/>
            <a:pathLst>
              <a:path w="7604191" h="2698599">
                <a:moveTo>
                  <a:pt x="0" y="0"/>
                </a:moveTo>
                <a:lnTo>
                  <a:pt x="7604190" y="0"/>
                </a:lnTo>
                <a:lnTo>
                  <a:pt x="7604190" y="2698598"/>
                </a:lnTo>
                <a:lnTo>
                  <a:pt x="0" y="2698598"/>
                </a:lnTo>
                <a:lnTo>
                  <a:pt x="0" y="0"/>
                </a:lnTo>
                <a:close/>
              </a:path>
            </a:pathLst>
          </a:custGeom>
          <a:blipFill>
            <a:blip r:embed="rId4"/>
            <a:stretch>
              <a:fillRect/>
            </a:stretch>
          </a:blipFill>
        </p:spPr>
        <p:txBody>
          <a:bodyPr/>
          <a:lstStyle/>
          <a:p>
            <a:endParaRPr lang="en-US"/>
          </a:p>
        </p:txBody>
      </p:sp>
      <p:sp>
        <p:nvSpPr>
          <p:cNvPr id="8" name="TextBox 8"/>
          <p:cNvSpPr txBox="1"/>
          <p:nvPr/>
        </p:nvSpPr>
        <p:spPr>
          <a:xfrm>
            <a:off x="303380" y="216147"/>
            <a:ext cx="6686700" cy="429599"/>
          </a:xfrm>
          <a:prstGeom prst="rect">
            <a:avLst/>
          </a:prstGeom>
        </p:spPr>
        <p:txBody>
          <a:bodyPr lIns="0" tIns="0" rIns="0" bIns="0" rtlCol="0" anchor="t">
            <a:spAutoFit/>
          </a:bodyPr>
          <a:lstStyle/>
          <a:p>
            <a:pPr algn="ctr">
              <a:lnSpc>
                <a:spcPts val="3003"/>
              </a:lnSpc>
              <a:spcBef>
                <a:spcPct val="0"/>
              </a:spcBef>
            </a:pPr>
            <a:r>
              <a:rPr lang="en-US" sz="2502">
                <a:solidFill>
                  <a:srgbClr val="FFFF00"/>
                </a:solidFill>
                <a:latin typeface="Arial"/>
                <a:ea typeface="Arial"/>
                <a:cs typeface="Arial"/>
                <a:sym typeface="Arial"/>
              </a:rPr>
              <a:t>Loại trừ tương hỗ: Giải thuật Ricart &amp; Agrawala</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Freeform 6"/>
          <p:cNvSpPr/>
          <p:nvPr/>
        </p:nvSpPr>
        <p:spPr>
          <a:xfrm>
            <a:off x="1053550" y="3821382"/>
            <a:ext cx="7646500" cy="2762298"/>
          </a:xfrm>
          <a:custGeom>
            <a:avLst/>
            <a:gdLst/>
            <a:ahLst/>
            <a:cxnLst/>
            <a:rect l="l" t="t" r="r" b="b"/>
            <a:pathLst>
              <a:path w="7646500" h="2762298">
                <a:moveTo>
                  <a:pt x="0" y="0"/>
                </a:moveTo>
                <a:lnTo>
                  <a:pt x="7646500" y="0"/>
                </a:lnTo>
                <a:lnTo>
                  <a:pt x="7646500" y="2762298"/>
                </a:lnTo>
                <a:lnTo>
                  <a:pt x="0" y="2762298"/>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265782" y="236220"/>
            <a:ext cx="7268766" cy="495300"/>
          </a:xfrm>
          <a:prstGeom prst="rect">
            <a:avLst/>
          </a:prstGeom>
        </p:spPr>
        <p:txBody>
          <a:bodyPr lIns="0" tIns="0" rIns="0" bIns="0" rtlCol="0" anchor="t">
            <a:spAutoFit/>
          </a:bodyPr>
          <a:lstStyle/>
          <a:p>
            <a:pPr algn="ctr">
              <a:lnSpc>
                <a:spcPts val="3518"/>
              </a:lnSpc>
              <a:spcBef>
                <a:spcPct val="0"/>
              </a:spcBef>
            </a:pPr>
            <a:r>
              <a:rPr lang="en-US" sz="2931" b="1">
                <a:solidFill>
                  <a:srgbClr val="FFFF00"/>
                </a:solidFill>
                <a:latin typeface="Arial Bold"/>
                <a:ea typeface="Arial Bold"/>
                <a:cs typeface="Arial Bold"/>
                <a:sym typeface="Arial Bold"/>
              </a:rPr>
              <a:t>Loại trừ tương hỗ: Giải thuật vòng token</a:t>
            </a:r>
          </a:p>
        </p:txBody>
      </p:sp>
      <p:sp>
        <p:nvSpPr>
          <p:cNvPr id="8" name="TextBox 8"/>
          <p:cNvSpPr txBox="1"/>
          <p:nvPr/>
        </p:nvSpPr>
        <p:spPr>
          <a:xfrm>
            <a:off x="365760" y="1609725"/>
            <a:ext cx="9022080" cy="2047875"/>
          </a:xfrm>
          <a:prstGeom prst="rect">
            <a:avLst/>
          </a:prstGeom>
        </p:spPr>
        <p:txBody>
          <a:bodyPr lIns="0" tIns="0" rIns="0" bIns="0" rtlCol="0" anchor="t">
            <a:spAutoFit/>
          </a:bodyPr>
          <a:lstStyle/>
          <a:p>
            <a:pPr algn="l">
              <a:lnSpc>
                <a:spcPts val="2304"/>
              </a:lnSpc>
              <a:spcBef>
                <a:spcPct val="0"/>
              </a:spcBef>
            </a:pPr>
            <a:r>
              <a:rPr lang="en-US" sz="1920" b="1" dirty="0" err="1">
                <a:solidFill>
                  <a:srgbClr val="000000"/>
                </a:solidFill>
                <a:latin typeface="Arial Bold"/>
                <a:ea typeface="Arial Bold"/>
                <a:cs typeface="Arial Bold"/>
                <a:sym typeface="Arial Bold"/>
              </a:rPr>
              <a:t>Bản</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chất</a:t>
            </a:r>
            <a:r>
              <a:rPr lang="en-US" sz="1920" b="1" dirty="0">
                <a:solidFill>
                  <a:srgbClr val="000000"/>
                </a:solidFill>
                <a:latin typeface="Arial Bold"/>
                <a:ea typeface="Arial Bold"/>
                <a:cs typeface="Arial Bold"/>
                <a:sym typeface="Arial Bold"/>
              </a:rPr>
              <a:t>:</a:t>
            </a:r>
          </a:p>
          <a:p>
            <a:pPr marL="414528" lvl="1" indent="-207264" algn="l">
              <a:lnSpc>
                <a:spcPts val="2304"/>
              </a:lnSpc>
              <a:buFont typeface="Arial"/>
              <a:buChar char="•"/>
            </a:pPr>
            <a:r>
              <a:rPr lang="en-US" sz="1920" dirty="0" err="1">
                <a:solidFill>
                  <a:srgbClr val="000000"/>
                </a:solidFill>
                <a:latin typeface="Arial"/>
                <a:ea typeface="Arial"/>
                <a:cs typeface="Arial"/>
                <a:sym typeface="Arial"/>
              </a:rPr>
              <a:t>Tổ</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chức</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các</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tiến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trình</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thành</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một</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vòng</a:t>
            </a:r>
            <a:r>
              <a:rPr lang="en-US" sz="1920" dirty="0">
                <a:solidFill>
                  <a:srgbClr val="000000"/>
                </a:solidFill>
                <a:latin typeface="Arial"/>
                <a:ea typeface="Arial"/>
                <a:cs typeface="Arial"/>
                <a:sym typeface="Arial"/>
              </a:rPr>
              <a:t> logic.</a:t>
            </a:r>
          </a:p>
          <a:p>
            <a:pPr marL="414528" lvl="1" indent="-207264" algn="l">
              <a:lnSpc>
                <a:spcPts val="2304"/>
              </a:lnSpc>
              <a:buFont typeface="Arial"/>
              <a:buChar char="•"/>
            </a:pPr>
            <a:r>
              <a:rPr lang="en-US" sz="1920" dirty="0" err="1">
                <a:solidFill>
                  <a:srgbClr val="000000"/>
                </a:solidFill>
                <a:latin typeface="Arial"/>
                <a:ea typeface="Arial"/>
                <a:cs typeface="Arial"/>
                <a:sym typeface="Arial"/>
              </a:rPr>
              <a:t>Một</a:t>
            </a:r>
            <a:r>
              <a:rPr lang="en-US" sz="1920" dirty="0">
                <a:solidFill>
                  <a:srgbClr val="000000"/>
                </a:solidFill>
                <a:latin typeface="Arial"/>
                <a:ea typeface="Arial"/>
                <a:cs typeface="Arial"/>
                <a:sym typeface="Arial"/>
              </a:rPr>
              <a:t> token (</a:t>
            </a:r>
            <a:r>
              <a:rPr lang="en-US" sz="1920" dirty="0" err="1">
                <a:solidFill>
                  <a:srgbClr val="000000"/>
                </a:solidFill>
                <a:latin typeface="Arial"/>
                <a:ea typeface="Arial"/>
                <a:cs typeface="Arial"/>
                <a:sym typeface="Arial"/>
              </a:rPr>
              <a:t>thẻ</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đặc</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quyền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được</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truyền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giữa</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các</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tiến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trình</a:t>
            </a:r>
            <a:r>
              <a:rPr lang="en-US" sz="1920" dirty="0">
                <a:solidFill>
                  <a:srgbClr val="000000"/>
                </a:solidFill>
                <a:latin typeface="Arial"/>
                <a:ea typeface="Arial"/>
                <a:cs typeface="Arial"/>
                <a:sym typeface="Arial"/>
              </a:rPr>
              <a:t>.</a:t>
            </a:r>
          </a:p>
          <a:p>
            <a:pPr marL="414528" lvl="1" indent="-207264" algn="l">
              <a:lnSpc>
                <a:spcPts val="2304"/>
              </a:lnSpc>
              <a:buFont typeface="Arial"/>
              <a:buChar char="•"/>
            </a:pPr>
            <a:r>
              <a:rPr lang="en-US" sz="1920" dirty="0">
                <a:solidFill>
                  <a:srgbClr val="000000"/>
                </a:solidFill>
                <a:latin typeface="Arial"/>
                <a:ea typeface="Arial"/>
                <a:cs typeface="Arial"/>
                <a:sym typeface="Arial"/>
              </a:rPr>
              <a:t>Tiến </a:t>
            </a:r>
            <a:r>
              <a:rPr lang="en-US" sz="1920" dirty="0" err="1">
                <a:solidFill>
                  <a:srgbClr val="000000"/>
                </a:solidFill>
                <a:latin typeface="Arial"/>
                <a:ea typeface="Arial"/>
                <a:cs typeface="Arial"/>
                <a:sym typeface="Arial"/>
              </a:rPr>
              <a:t>trình</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đang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giữ</a:t>
            </a:r>
            <a:r>
              <a:rPr lang="en-US" sz="1920" dirty="0">
                <a:solidFill>
                  <a:srgbClr val="000000"/>
                </a:solidFill>
                <a:latin typeface="Arial"/>
                <a:ea typeface="Arial"/>
                <a:cs typeface="Arial"/>
                <a:sym typeface="Arial"/>
              </a:rPr>
              <a:t> token </a:t>
            </a:r>
            <a:r>
              <a:rPr lang="en-US" sz="1920" dirty="0" err="1">
                <a:solidFill>
                  <a:srgbClr val="000000"/>
                </a:solidFill>
                <a:latin typeface="Arial"/>
                <a:ea typeface="Arial"/>
                <a:cs typeface="Arial"/>
                <a:sym typeface="Arial"/>
              </a:rPr>
              <a:t>được</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phép</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vào</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vùng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quan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trọng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nếu</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nó</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muốn</a:t>
            </a:r>
            <a:r>
              <a:rPr lang="en-US" sz="1920" dirty="0">
                <a:solidFill>
                  <a:srgbClr val="000000"/>
                </a:solidFill>
                <a:latin typeface="Arial"/>
                <a:ea typeface="Arial"/>
                <a:cs typeface="Arial"/>
                <a:sym typeface="Arial"/>
              </a:rPr>
              <a:t>).</a:t>
            </a:r>
          </a:p>
          <a:p>
            <a:pPr algn="l">
              <a:lnSpc>
                <a:spcPts val="2304"/>
              </a:lnSpc>
            </a:pPr>
            <a:endParaRPr lang="en-US" sz="1920" dirty="0">
              <a:solidFill>
                <a:srgbClr val="000000"/>
              </a:solidFill>
              <a:latin typeface="Arial"/>
              <a:ea typeface="Arial"/>
              <a:cs typeface="Arial"/>
              <a:sym typeface="Arial"/>
            </a:endParaRPr>
          </a:p>
          <a:p>
            <a:pPr algn="l">
              <a:lnSpc>
                <a:spcPts val="2304"/>
              </a:lnSpc>
            </a:pPr>
            <a:r>
              <a:rPr lang="en-US" sz="1920" b="1" dirty="0" err="1">
                <a:solidFill>
                  <a:srgbClr val="000000"/>
                </a:solidFill>
                <a:latin typeface="Arial Bold"/>
                <a:ea typeface="Arial Bold"/>
                <a:cs typeface="Arial Bold"/>
                <a:sym typeface="Arial Bold"/>
              </a:rPr>
              <a:t>Mạng</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phủ</a:t>
            </a:r>
            <a:r>
              <a:rPr lang="en-US" sz="1920" b="1" dirty="0">
                <a:solidFill>
                  <a:srgbClr val="000000"/>
                </a:solidFill>
                <a:latin typeface="Arial Bold"/>
                <a:ea typeface="Arial Bold"/>
                <a:cs typeface="Arial Bold"/>
                <a:sym typeface="Arial Bold"/>
              </a:rPr>
              <a:t> (Overlay Network) </a:t>
            </a:r>
            <a:r>
              <a:rPr lang="en-US" sz="1920" b="1" dirty="0" err="1">
                <a:solidFill>
                  <a:srgbClr val="000000"/>
                </a:solidFill>
                <a:latin typeface="Arial Bold"/>
                <a:ea typeface="Arial Bold"/>
                <a:cs typeface="Arial Bold"/>
                <a:sym typeface="Arial Bold"/>
              </a:rPr>
              <a:t>được</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xây</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dựng</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dưới</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dạng</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một</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vòng</a:t>
            </a:r>
            <a:r>
              <a:rPr lang="en-US" sz="1920" b="1" dirty="0">
                <a:solidFill>
                  <a:srgbClr val="000000"/>
                </a:solidFill>
                <a:latin typeface="Arial Bold"/>
                <a:ea typeface="Arial Bold"/>
                <a:cs typeface="Arial Bold"/>
                <a:sym typeface="Arial Bold"/>
              </a:rPr>
              <a:t> logic </a:t>
            </a:r>
            <a:r>
              <a:rPr lang="en-US" sz="1920" b="1" dirty="0" err="1">
                <a:solidFill>
                  <a:srgbClr val="000000"/>
                </a:solidFill>
                <a:latin typeface="Arial Bold"/>
                <a:ea typeface="Arial Bold"/>
                <a:cs typeface="Arial Bold"/>
                <a:sym typeface="Arial Bold"/>
              </a:rPr>
              <a:t>với</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một</a:t>
            </a:r>
            <a:r>
              <a:rPr lang="en-US" sz="1920" b="1" dirty="0">
                <a:solidFill>
                  <a:srgbClr val="000000"/>
                </a:solidFill>
                <a:latin typeface="Arial Bold"/>
                <a:ea typeface="Arial Bold"/>
                <a:cs typeface="Arial Bold"/>
                <a:sym typeface="Arial Bold"/>
              </a:rPr>
              <a:t> token </a:t>
            </a:r>
            <a:r>
              <a:rPr lang="en-US" sz="1920" b="1" dirty="0" err="1">
                <a:solidFill>
                  <a:srgbClr val="000000"/>
                </a:solidFill>
                <a:latin typeface="Arial Bold"/>
                <a:ea typeface="Arial Bold"/>
                <a:cs typeface="Arial Bold"/>
                <a:sym typeface="Arial Bold"/>
              </a:rPr>
              <a:t>luân</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chuyển</a:t>
            </a:r>
            <a:r>
              <a:rPr lang="en-US" sz="1920" b="1" dirty="0">
                <a:solidFill>
                  <a:srgbClr val="000000"/>
                </a:solidFill>
                <a:latin typeface="Arial Bold"/>
                <a:ea typeface="Arial Bold"/>
                <a:cs typeface="Arial Bold"/>
                <a:sym typeface="Arial Bold"/>
              </a:rPr>
              <a:t>.</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366368" y="264795"/>
            <a:ext cx="5091112" cy="466725"/>
          </a:xfrm>
          <a:prstGeom prst="rect">
            <a:avLst/>
          </a:prstGeom>
        </p:spPr>
        <p:txBody>
          <a:bodyPr lIns="0" tIns="0" rIns="0" bIns="0" rtlCol="0" anchor="t">
            <a:spAutoFit/>
          </a:bodyPr>
          <a:lstStyle/>
          <a:p>
            <a:pPr algn="ctr">
              <a:lnSpc>
                <a:spcPts val="3263"/>
              </a:lnSpc>
              <a:spcBef>
                <a:spcPct val="0"/>
              </a:spcBef>
            </a:pPr>
            <a:r>
              <a:rPr lang="en-US" sz="2719" b="1">
                <a:solidFill>
                  <a:srgbClr val="FFFF00"/>
                </a:solidFill>
                <a:latin typeface="Arial Bold"/>
                <a:ea typeface="Arial Bold"/>
                <a:cs typeface="Arial Bold"/>
                <a:sym typeface="Arial Bold"/>
              </a:rPr>
              <a:t>Loại trừ lẫn nhau phi tập trung</a:t>
            </a:r>
          </a:p>
        </p:txBody>
      </p:sp>
      <p:sp>
        <p:nvSpPr>
          <p:cNvPr id="7" name="TextBox 7"/>
          <p:cNvSpPr txBox="1"/>
          <p:nvPr/>
        </p:nvSpPr>
        <p:spPr>
          <a:xfrm>
            <a:off x="230007" y="1885060"/>
            <a:ext cx="9293585" cy="3023578"/>
          </a:xfrm>
          <a:prstGeom prst="rect">
            <a:avLst/>
          </a:prstGeom>
        </p:spPr>
        <p:txBody>
          <a:bodyPr lIns="0" tIns="0" rIns="0" bIns="0" rtlCol="0" anchor="t">
            <a:spAutoFit/>
          </a:bodyPr>
          <a:lstStyle/>
          <a:p>
            <a:pPr algn="just">
              <a:lnSpc>
                <a:spcPts val="2195"/>
              </a:lnSpc>
              <a:spcBef>
                <a:spcPct val="0"/>
              </a:spcBef>
            </a:pPr>
            <a:r>
              <a:rPr lang="en-US" sz="1829" b="1" dirty="0">
                <a:solidFill>
                  <a:srgbClr val="000000"/>
                </a:solidFill>
                <a:latin typeface="Arial Bold"/>
                <a:ea typeface="Arial Bold"/>
                <a:cs typeface="Arial Bold"/>
                <a:sym typeface="Arial Bold"/>
              </a:rPr>
              <a:t>Nguyên </a:t>
            </a:r>
            <a:r>
              <a:rPr lang="en-US" sz="1829" b="1" dirty="0" err="1">
                <a:solidFill>
                  <a:srgbClr val="000000"/>
                </a:solidFill>
                <a:latin typeface="Arial Bold"/>
                <a:ea typeface="Arial Bold"/>
                <a:cs typeface="Arial Bold"/>
                <a:sym typeface="Arial Bold"/>
              </a:rPr>
              <a:t>tắc</a:t>
            </a:r>
            <a:endParaRPr lang="en-US" sz="1829" b="1" dirty="0">
              <a:solidFill>
                <a:srgbClr val="000000"/>
              </a:solidFill>
              <a:latin typeface="Arial Bold"/>
              <a:ea typeface="Arial Bold"/>
              <a:cs typeface="Arial Bold"/>
              <a:sym typeface="Arial Bold"/>
            </a:endParaRPr>
          </a:p>
          <a:p>
            <a:pPr algn="just">
              <a:lnSpc>
                <a:spcPts val="2195"/>
              </a:lnSpc>
            </a:pPr>
            <a:endParaRPr lang="en-US" sz="1829" b="1" dirty="0">
              <a:solidFill>
                <a:srgbClr val="000000"/>
              </a:solidFill>
              <a:latin typeface="Arial Bold"/>
              <a:ea typeface="Arial Bold"/>
              <a:cs typeface="Arial Bold"/>
              <a:sym typeface="Arial Bold"/>
            </a:endParaRPr>
          </a:p>
          <a:p>
            <a:pPr algn="just">
              <a:lnSpc>
                <a:spcPts val="2195"/>
              </a:lnSpc>
              <a:spcBef>
                <a:spcPct val="0"/>
              </a:spcBef>
            </a:pPr>
            <a:r>
              <a:rPr lang="en-US" sz="1829" dirty="0" err="1">
                <a:solidFill>
                  <a:srgbClr val="000000"/>
                </a:solidFill>
                <a:latin typeface="Arial"/>
                <a:ea typeface="Arial"/>
                <a:cs typeface="Arial"/>
                <a:sym typeface="Arial"/>
              </a:rPr>
              <a:t>Giả</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sử</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mỗi</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tài</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nguyên</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được</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sao</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chép</a:t>
            </a:r>
            <a:r>
              <a:rPr lang="en-US" sz="1829" dirty="0">
                <a:solidFill>
                  <a:srgbClr val="000000"/>
                </a:solidFill>
                <a:latin typeface="Arial"/>
                <a:ea typeface="Arial"/>
                <a:cs typeface="Arial"/>
                <a:sym typeface="Arial"/>
              </a:rPr>
              <a:t> N </a:t>
            </a:r>
            <a:r>
              <a:rPr lang="en-US" sz="1829" dirty="0" err="1">
                <a:solidFill>
                  <a:srgbClr val="000000"/>
                </a:solidFill>
                <a:latin typeface="Arial"/>
                <a:ea typeface="Arial"/>
                <a:cs typeface="Arial"/>
                <a:sym typeface="Arial"/>
              </a:rPr>
              <a:t>lần</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và</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mỗi</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bản</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sao</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có</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một</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bộ</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điều</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phối</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riêng</a:t>
            </a:r>
            <a:r>
              <a:rPr lang="en-US" sz="1829" dirty="0">
                <a:solidFill>
                  <a:srgbClr val="000000"/>
                </a:solidFill>
                <a:latin typeface="Arial"/>
                <a:ea typeface="Arial"/>
                <a:cs typeface="Arial"/>
                <a:sym typeface="Arial"/>
              </a:rPr>
              <a:t>.</a:t>
            </a:r>
          </a:p>
          <a:p>
            <a:pPr algn="just">
              <a:lnSpc>
                <a:spcPts val="2195"/>
              </a:lnSpc>
              <a:spcBef>
                <a:spcPct val="0"/>
              </a:spcBef>
            </a:pPr>
            <a:r>
              <a:rPr lang="en-US" sz="1829" dirty="0">
                <a:solidFill>
                  <a:srgbClr val="000000"/>
                </a:solidFill>
                <a:latin typeface="Arial"/>
                <a:ea typeface="Arial"/>
                <a:cs typeface="Arial"/>
                <a:sym typeface="Arial"/>
              </a:rPr>
              <a:t> ⇒ </a:t>
            </a:r>
            <a:r>
              <a:rPr lang="en-US" sz="1829" dirty="0" err="1">
                <a:solidFill>
                  <a:srgbClr val="000000"/>
                </a:solidFill>
                <a:latin typeface="Arial"/>
                <a:ea typeface="Arial"/>
                <a:cs typeface="Arial"/>
                <a:sym typeface="Arial"/>
              </a:rPr>
              <a:t>Để</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truy</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cập</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tài</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nguyên</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tiến</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trình</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phải</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nhận</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được</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đa</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số</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phiếu</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từ</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ít</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nhất</a:t>
            </a:r>
            <a:r>
              <a:rPr lang="en-US" sz="1829" dirty="0">
                <a:solidFill>
                  <a:srgbClr val="000000"/>
                </a:solidFill>
                <a:latin typeface="Arial"/>
                <a:ea typeface="Arial"/>
                <a:cs typeface="Arial"/>
                <a:sym typeface="Arial"/>
              </a:rPr>
              <a:t> m &gt; N/2 </a:t>
            </a:r>
            <a:r>
              <a:rPr lang="en-US" sz="1829" dirty="0" err="1">
                <a:solidFill>
                  <a:srgbClr val="000000"/>
                </a:solidFill>
                <a:latin typeface="Arial"/>
                <a:ea typeface="Arial"/>
                <a:cs typeface="Arial"/>
                <a:sym typeface="Arial"/>
              </a:rPr>
              <a:t>bộ</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điều</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phối</a:t>
            </a:r>
            <a:r>
              <a:rPr lang="en-US" sz="1829" dirty="0">
                <a:solidFill>
                  <a:srgbClr val="000000"/>
                </a:solidFill>
                <a:latin typeface="Arial"/>
                <a:ea typeface="Arial"/>
                <a:cs typeface="Arial"/>
                <a:sym typeface="Arial"/>
              </a:rPr>
              <a:t>. </a:t>
            </a:r>
          </a:p>
          <a:p>
            <a:pPr algn="just">
              <a:lnSpc>
                <a:spcPts val="2195"/>
              </a:lnSpc>
              <a:spcBef>
                <a:spcPct val="0"/>
              </a:spcBef>
            </a:pPr>
            <a:r>
              <a:rPr lang="en-US" sz="1829" dirty="0" err="1">
                <a:solidFill>
                  <a:srgbClr val="000000"/>
                </a:solidFill>
                <a:latin typeface="Arial"/>
                <a:ea typeface="Arial"/>
                <a:cs typeface="Arial"/>
                <a:sym typeface="Arial"/>
              </a:rPr>
              <a:t>Mỗi</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bộ</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điều</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phối</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luôn</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phản</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hồi</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ngay</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lập</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tức</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khi</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nhận</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được</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yêu</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cầu</a:t>
            </a:r>
            <a:r>
              <a:rPr lang="en-US" sz="1829" dirty="0">
                <a:solidFill>
                  <a:srgbClr val="000000"/>
                </a:solidFill>
                <a:latin typeface="Arial"/>
                <a:ea typeface="Arial"/>
                <a:cs typeface="Arial"/>
                <a:sym typeface="Arial"/>
              </a:rPr>
              <a:t>.</a:t>
            </a:r>
          </a:p>
          <a:p>
            <a:pPr algn="just">
              <a:lnSpc>
                <a:spcPts val="2195"/>
              </a:lnSpc>
              <a:spcBef>
                <a:spcPct val="0"/>
              </a:spcBef>
            </a:pPr>
            <a:endParaRPr lang="en-US" sz="1829" dirty="0">
              <a:solidFill>
                <a:srgbClr val="000000"/>
              </a:solidFill>
              <a:latin typeface="Arial"/>
              <a:ea typeface="Arial"/>
              <a:cs typeface="Arial"/>
              <a:sym typeface="Arial"/>
            </a:endParaRPr>
          </a:p>
          <a:p>
            <a:pPr algn="just">
              <a:lnSpc>
                <a:spcPts val="2195"/>
              </a:lnSpc>
              <a:spcBef>
                <a:spcPct val="0"/>
              </a:spcBef>
            </a:pPr>
            <a:endParaRPr lang="en-US" sz="1829" dirty="0">
              <a:solidFill>
                <a:srgbClr val="000000"/>
              </a:solidFill>
              <a:latin typeface="Arial"/>
              <a:ea typeface="Arial"/>
              <a:cs typeface="Arial"/>
              <a:sym typeface="Arial"/>
            </a:endParaRPr>
          </a:p>
          <a:p>
            <a:pPr algn="just">
              <a:lnSpc>
                <a:spcPts val="2195"/>
              </a:lnSpc>
              <a:spcBef>
                <a:spcPct val="0"/>
              </a:spcBef>
            </a:pPr>
            <a:r>
              <a:rPr lang="en-US" sz="1829" b="1" dirty="0" err="1">
                <a:solidFill>
                  <a:srgbClr val="000000"/>
                </a:solidFill>
                <a:latin typeface="Arial Bold"/>
                <a:ea typeface="Arial Bold"/>
                <a:cs typeface="Arial Bold"/>
                <a:sym typeface="Arial Bold"/>
              </a:rPr>
              <a:t>Giả</a:t>
            </a:r>
            <a:r>
              <a:rPr lang="en-US" sz="1829" b="1" dirty="0">
                <a:solidFill>
                  <a:srgbClr val="000000"/>
                </a:solidFill>
                <a:latin typeface="Arial Bold"/>
                <a:ea typeface="Arial Bold"/>
                <a:cs typeface="Arial Bold"/>
                <a:sym typeface="Arial Bold"/>
              </a:rPr>
              <a:t> </a:t>
            </a:r>
            <a:r>
              <a:rPr lang="en-US" sz="1829" b="1" dirty="0" err="1">
                <a:solidFill>
                  <a:srgbClr val="000000"/>
                </a:solidFill>
                <a:latin typeface="Arial Bold"/>
                <a:ea typeface="Arial Bold"/>
                <a:cs typeface="Arial Bold"/>
                <a:sym typeface="Arial Bold"/>
              </a:rPr>
              <a:t>định</a:t>
            </a:r>
            <a:endParaRPr lang="en-US" sz="1829" b="1" dirty="0">
              <a:solidFill>
                <a:srgbClr val="000000"/>
              </a:solidFill>
              <a:latin typeface="Arial Bold"/>
              <a:ea typeface="Arial Bold"/>
              <a:cs typeface="Arial Bold"/>
              <a:sym typeface="Arial Bold"/>
            </a:endParaRPr>
          </a:p>
          <a:p>
            <a:pPr algn="just">
              <a:lnSpc>
                <a:spcPts val="2195"/>
              </a:lnSpc>
              <a:spcBef>
                <a:spcPct val="0"/>
              </a:spcBef>
            </a:pPr>
            <a:r>
              <a:rPr lang="en-US" sz="1829" dirty="0">
                <a:solidFill>
                  <a:srgbClr val="000000"/>
                </a:solidFill>
                <a:latin typeface="Arial"/>
                <a:ea typeface="Arial"/>
                <a:cs typeface="Arial"/>
                <a:sym typeface="Arial"/>
              </a:rPr>
              <a:t>Khi </a:t>
            </a:r>
            <a:r>
              <a:rPr lang="en-US" sz="1829" dirty="0" err="1">
                <a:solidFill>
                  <a:srgbClr val="000000"/>
                </a:solidFill>
                <a:latin typeface="Arial"/>
                <a:ea typeface="Arial"/>
                <a:cs typeface="Arial"/>
                <a:sym typeface="Arial"/>
              </a:rPr>
              <a:t>một</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bộ</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điều</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phối</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gặp</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sự</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cố</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nó</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sẽ</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khôi</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phục</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nhanh</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chóng</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nhưng</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sẽ</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quên</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tất</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cả</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các</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quyền</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truy</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cập</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mà</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nó</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đã</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cấp</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trước</a:t>
            </a:r>
            <a:r>
              <a:rPr lang="en-US" sz="1829" dirty="0">
                <a:solidFill>
                  <a:srgbClr val="000000"/>
                </a:solidFill>
                <a:latin typeface="Arial"/>
                <a:ea typeface="Arial"/>
                <a:cs typeface="Arial"/>
                <a:sym typeface="Arial"/>
              </a:rPr>
              <a:t> </a:t>
            </a:r>
            <a:r>
              <a:rPr lang="en-US" sz="1829" dirty="0" err="1">
                <a:solidFill>
                  <a:srgbClr val="000000"/>
                </a:solidFill>
                <a:latin typeface="Arial"/>
                <a:ea typeface="Arial"/>
                <a:cs typeface="Arial"/>
                <a:sym typeface="Arial"/>
              </a:rPr>
              <a:t>đó</a:t>
            </a:r>
            <a:r>
              <a:rPr lang="en-US" sz="1829" dirty="0">
                <a:solidFill>
                  <a:srgbClr val="000000"/>
                </a:solidFill>
                <a:latin typeface="Arial"/>
                <a:ea typeface="Arial"/>
                <a:cs typeface="Arial"/>
                <a:sym typeface="Arial"/>
              </a:rPr>
              <a:t>.</a:t>
            </a: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181356" y="1525566"/>
            <a:ext cx="9391382" cy="4412772"/>
          </a:xfrm>
          <a:prstGeom prst="rect">
            <a:avLst/>
          </a:prstGeom>
        </p:spPr>
        <p:txBody>
          <a:bodyPr lIns="0" tIns="0" rIns="0" bIns="0" rtlCol="0" anchor="t">
            <a:spAutoFit/>
          </a:bodyPr>
          <a:lstStyle/>
          <a:p>
            <a:pPr algn="just">
              <a:lnSpc>
                <a:spcPts val="3000"/>
              </a:lnSpc>
              <a:spcBef>
                <a:spcPct val="0"/>
              </a:spcBef>
            </a:pPr>
            <a:r>
              <a:rPr lang="en-US" sz="2500" b="1">
                <a:solidFill>
                  <a:srgbClr val="000000"/>
                </a:solidFill>
                <a:latin typeface="Arial Bold"/>
                <a:ea typeface="Arial Bold"/>
                <a:cs typeface="Arial Bold"/>
                <a:sym typeface="Arial Bold"/>
              </a:rPr>
              <a:t>Hệ thống này có độ tin cậy như thế nào?</a:t>
            </a:r>
          </a:p>
          <a:p>
            <a:pPr algn="just">
              <a:lnSpc>
                <a:spcPts val="2307"/>
              </a:lnSpc>
              <a:spcBef>
                <a:spcPct val="0"/>
              </a:spcBef>
            </a:pPr>
            <a:endParaRPr lang="en-US" sz="2500" b="1">
              <a:solidFill>
                <a:srgbClr val="000000"/>
              </a:solidFill>
              <a:latin typeface="Arial Bold"/>
              <a:ea typeface="Arial Bold"/>
              <a:cs typeface="Arial Bold"/>
              <a:sym typeface="Arial Bold"/>
            </a:endParaRPr>
          </a:p>
          <a:p>
            <a:pPr marL="415218" lvl="1" indent="-207609" algn="just">
              <a:lnSpc>
                <a:spcPts val="2307"/>
              </a:lnSpc>
              <a:buFont typeface="Arial"/>
              <a:buChar char="•"/>
            </a:pPr>
            <a:r>
              <a:rPr lang="en-US" sz="1923">
                <a:solidFill>
                  <a:srgbClr val="000000"/>
                </a:solidFill>
                <a:latin typeface="Arial"/>
                <a:ea typeface="Arial"/>
                <a:cs typeface="Arial"/>
                <a:sym typeface="Arial"/>
              </a:rPr>
              <a:t>Gọi p = </a:t>
            </a:r>
            <a:r>
              <a:rPr lang="en-US" sz="1923" b="1">
                <a:solidFill>
                  <a:srgbClr val="000000"/>
                </a:solidFill>
                <a:latin typeface="Arial Bold"/>
                <a:ea typeface="Arial Bold"/>
                <a:cs typeface="Arial Bold"/>
                <a:sym typeface="Arial Bold"/>
              </a:rPr>
              <a:t>∆t / T</a:t>
            </a:r>
            <a:r>
              <a:rPr lang="en-US" sz="1923">
                <a:solidFill>
                  <a:srgbClr val="000000"/>
                </a:solidFill>
                <a:latin typeface="Arial"/>
                <a:ea typeface="Arial"/>
                <a:cs typeface="Arial"/>
                <a:sym typeface="Arial"/>
              </a:rPr>
              <a:t> là xác suất một bộ điều phối bị reset trong khoảng thời gian ∆t, với T là thời gian tồn tại trung bình của nó.</a:t>
            </a:r>
          </a:p>
          <a:p>
            <a:pPr algn="just">
              <a:lnSpc>
                <a:spcPts val="2307"/>
              </a:lnSpc>
            </a:pPr>
            <a:endParaRPr lang="en-US" sz="1923">
              <a:solidFill>
                <a:srgbClr val="000000"/>
              </a:solidFill>
              <a:latin typeface="Arial"/>
              <a:ea typeface="Arial"/>
              <a:cs typeface="Arial"/>
              <a:sym typeface="Arial"/>
            </a:endParaRPr>
          </a:p>
          <a:p>
            <a:pPr marL="415218" lvl="1" indent="-207609" algn="just">
              <a:lnSpc>
                <a:spcPts val="2307"/>
              </a:lnSpc>
              <a:buFont typeface="Arial"/>
              <a:buChar char="•"/>
            </a:pPr>
            <a:r>
              <a:rPr lang="en-US" sz="1923">
                <a:solidFill>
                  <a:srgbClr val="000000"/>
                </a:solidFill>
                <a:latin typeface="Arial"/>
                <a:ea typeface="Arial"/>
                <a:cs typeface="Arial"/>
                <a:sym typeface="Arial"/>
              </a:rPr>
              <a:t>Xác suất P[k] có k trong số m bộ điều phối bị reset trong cùng một khoảng thời gian được tính theo công thức: </a:t>
            </a:r>
          </a:p>
          <a:p>
            <a:pPr algn="just">
              <a:lnSpc>
                <a:spcPts val="2307"/>
              </a:lnSpc>
            </a:pPr>
            <a:endParaRPr lang="en-US" sz="1923">
              <a:solidFill>
                <a:srgbClr val="000000"/>
              </a:solidFill>
              <a:latin typeface="Arial"/>
              <a:ea typeface="Arial"/>
              <a:cs typeface="Arial"/>
              <a:sym typeface="Arial"/>
            </a:endParaRPr>
          </a:p>
          <a:p>
            <a:pPr algn="just">
              <a:lnSpc>
                <a:spcPts val="2307"/>
              </a:lnSpc>
            </a:pPr>
            <a:endParaRPr lang="en-US" sz="1923">
              <a:solidFill>
                <a:srgbClr val="000000"/>
              </a:solidFill>
              <a:latin typeface="Arial"/>
              <a:ea typeface="Arial"/>
              <a:cs typeface="Arial"/>
              <a:sym typeface="Arial"/>
            </a:endParaRPr>
          </a:p>
          <a:p>
            <a:pPr algn="just">
              <a:lnSpc>
                <a:spcPts val="2307"/>
              </a:lnSpc>
              <a:spcBef>
                <a:spcPct val="0"/>
              </a:spcBef>
            </a:pPr>
            <a:r>
              <a:rPr lang="en-US" sz="1923">
                <a:solidFill>
                  <a:srgbClr val="000000"/>
                </a:solidFill>
                <a:latin typeface="Arial"/>
                <a:ea typeface="Arial"/>
                <a:cs typeface="Arial"/>
                <a:sym typeface="Arial"/>
              </a:rPr>
              <a:t> </a:t>
            </a:r>
          </a:p>
          <a:p>
            <a:pPr algn="just">
              <a:lnSpc>
                <a:spcPts val="2307"/>
              </a:lnSpc>
              <a:spcBef>
                <a:spcPct val="0"/>
              </a:spcBef>
            </a:pPr>
            <a:endParaRPr lang="en-US" sz="1923">
              <a:solidFill>
                <a:srgbClr val="000000"/>
              </a:solidFill>
              <a:latin typeface="Arial"/>
              <a:ea typeface="Arial"/>
              <a:cs typeface="Arial"/>
              <a:sym typeface="Arial"/>
            </a:endParaRPr>
          </a:p>
          <a:p>
            <a:pPr algn="just">
              <a:lnSpc>
                <a:spcPts val="2307"/>
              </a:lnSpc>
              <a:spcBef>
                <a:spcPct val="0"/>
              </a:spcBef>
            </a:pPr>
            <a:endParaRPr lang="en-US" sz="1923">
              <a:solidFill>
                <a:srgbClr val="000000"/>
              </a:solidFill>
              <a:latin typeface="Arial"/>
              <a:ea typeface="Arial"/>
              <a:cs typeface="Arial"/>
              <a:sym typeface="Arial"/>
            </a:endParaRPr>
          </a:p>
          <a:p>
            <a:pPr algn="just">
              <a:lnSpc>
                <a:spcPts val="2307"/>
              </a:lnSpc>
              <a:spcBef>
                <a:spcPct val="0"/>
              </a:spcBef>
            </a:pPr>
            <a:endParaRPr lang="en-US" sz="1923">
              <a:solidFill>
                <a:srgbClr val="000000"/>
              </a:solidFill>
              <a:latin typeface="Arial"/>
              <a:ea typeface="Arial"/>
              <a:cs typeface="Arial"/>
              <a:sym typeface="Arial"/>
            </a:endParaRPr>
          </a:p>
          <a:p>
            <a:pPr algn="just">
              <a:lnSpc>
                <a:spcPts val="2307"/>
              </a:lnSpc>
              <a:spcBef>
                <a:spcPct val="0"/>
              </a:spcBef>
            </a:pPr>
            <a:endParaRPr lang="en-US" sz="1923">
              <a:solidFill>
                <a:srgbClr val="000000"/>
              </a:solidFill>
              <a:latin typeface="Arial"/>
              <a:ea typeface="Arial"/>
              <a:cs typeface="Arial"/>
              <a:sym typeface="Arial"/>
            </a:endParaRPr>
          </a:p>
          <a:p>
            <a:pPr algn="just">
              <a:lnSpc>
                <a:spcPts val="2307"/>
              </a:lnSpc>
              <a:spcBef>
                <a:spcPct val="0"/>
              </a:spcBef>
            </a:pPr>
            <a:r>
              <a:rPr lang="en-US" sz="1923">
                <a:solidFill>
                  <a:srgbClr val="000000"/>
                </a:solidFill>
                <a:latin typeface="Arial"/>
                <a:ea typeface="Arial"/>
                <a:cs typeface="Arial"/>
                <a:sym typeface="Arial"/>
              </a:rPr>
              <a:t> </a:t>
            </a:r>
          </a:p>
        </p:txBody>
      </p:sp>
      <p:sp>
        <p:nvSpPr>
          <p:cNvPr id="7" name="Freeform 7"/>
          <p:cNvSpPr/>
          <p:nvPr/>
        </p:nvSpPr>
        <p:spPr>
          <a:xfrm>
            <a:off x="1431485" y="4043853"/>
            <a:ext cx="5116728" cy="1408537"/>
          </a:xfrm>
          <a:custGeom>
            <a:avLst/>
            <a:gdLst/>
            <a:ahLst/>
            <a:cxnLst/>
            <a:rect l="l" t="t" r="r" b="b"/>
            <a:pathLst>
              <a:path w="5116728" h="1408537">
                <a:moveTo>
                  <a:pt x="0" y="0"/>
                </a:moveTo>
                <a:lnTo>
                  <a:pt x="5116728" y="0"/>
                </a:lnTo>
                <a:lnTo>
                  <a:pt x="5116728" y="1408537"/>
                </a:lnTo>
                <a:lnTo>
                  <a:pt x="0" y="1408537"/>
                </a:lnTo>
                <a:lnTo>
                  <a:pt x="0" y="0"/>
                </a:lnTo>
                <a:close/>
              </a:path>
            </a:pathLst>
          </a:custGeom>
          <a:blipFill>
            <a:blip r:embed="rId4"/>
            <a:stretch>
              <a:fillRect/>
            </a:stretch>
          </a:blipFill>
        </p:spPr>
        <p:txBody>
          <a:bodyPr/>
          <a:lstStyle/>
          <a:p>
            <a:endParaRPr lang="en-US"/>
          </a:p>
        </p:txBody>
      </p:sp>
      <p:sp>
        <p:nvSpPr>
          <p:cNvPr id="8" name="TextBox 8"/>
          <p:cNvSpPr txBox="1"/>
          <p:nvPr/>
        </p:nvSpPr>
        <p:spPr>
          <a:xfrm>
            <a:off x="366368" y="264795"/>
            <a:ext cx="5091112" cy="466725"/>
          </a:xfrm>
          <a:prstGeom prst="rect">
            <a:avLst/>
          </a:prstGeom>
        </p:spPr>
        <p:txBody>
          <a:bodyPr lIns="0" tIns="0" rIns="0" bIns="0" rtlCol="0" anchor="t">
            <a:spAutoFit/>
          </a:bodyPr>
          <a:lstStyle/>
          <a:p>
            <a:pPr algn="ctr">
              <a:lnSpc>
                <a:spcPts val="3263"/>
              </a:lnSpc>
              <a:spcBef>
                <a:spcPct val="0"/>
              </a:spcBef>
            </a:pPr>
            <a:r>
              <a:rPr lang="en-US" sz="2719" b="1">
                <a:solidFill>
                  <a:srgbClr val="FFFF00"/>
                </a:solidFill>
                <a:latin typeface="Arial Bold"/>
                <a:ea typeface="Arial Bold"/>
                <a:cs typeface="Arial Bold"/>
                <a:sym typeface="Arial Bold"/>
              </a:rPr>
              <a:t>Loại trừ lẫn nhau phi tập trung</a:t>
            </a: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Freeform 6"/>
          <p:cNvSpPr/>
          <p:nvPr/>
        </p:nvSpPr>
        <p:spPr>
          <a:xfrm>
            <a:off x="2601676" y="4497766"/>
            <a:ext cx="2855804" cy="1423614"/>
          </a:xfrm>
          <a:custGeom>
            <a:avLst/>
            <a:gdLst/>
            <a:ahLst/>
            <a:cxnLst/>
            <a:rect l="l" t="t" r="r" b="b"/>
            <a:pathLst>
              <a:path w="2855804" h="1423614">
                <a:moveTo>
                  <a:pt x="0" y="0"/>
                </a:moveTo>
                <a:lnTo>
                  <a:pt x="2855804" y="0"/>
                </a:lnTo>
                <a:lnTo>
                  <a:pt x="2855804" y="1423614"/>
                </a:lnTo>
                <a:lnTo>
                  <a:pt x="0" y="1423614"/>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181356" y="1516041"/>
            <a:ext cx="9379667" cy="1969798"/>
          </a:xfrm>
          <a:prstGeom prst="rect">
            <a:avLst/>
          </a:prstGeom>
        </p:spPr>
        <p:txBody>
          <a:bodyPr lIns="0" tIns="0" rIns="0" bIns="0" rtlCol="0" anchor="t">
            <a:spAutoFit/>
          </a:bodyPr>
          <a:lstStyle/>
          <a:p>
            <a:pPr algn="just">
              <a:lnSpc>
                <a:spcPts val="3416"/>
              </a:lnSpc>
              <a:spcBef>
                <a:spcPct val="0"/>
              </a:spcBef>
            </a:pPr>
            <a:r>
              <a:rPr lang="en-US" sz="2846" b="1">
                <a:solidFill>
                  <a:srgbClr val="000000"/>
                </a:solidFill>
                <a:latin typeface="Arial Bold"/>
                <a:ea typeface="Arial Bold"/>
                <a:cs typeface="Arial Bold"/>
                <a:sym typeface="Arial Bold"/>
              </a:rPr>
              <a:t>Hệ thống này có độ tin cậy như thế nào?</a:t>
            </a:r>
          </a:p>
          <a:p>
            <a:pPr algn="just">
              <a:lnSpc>
                <a:spcPts val="2627"/>
              </a:lnSpc>
              <a:spcBef>
                <a:spcPct val="0"/>
              </a:spcBef>
            </a:pPr>
            <a:endParaRPr lang="en-US" sz="2846" b="1">
              <a:solidFill>
                <a:srgbClr val="000000"/>
              </a:solidFill>
              <a:latin typeface="Arial Bold"/>
              <a:ea typeface="Arial Bold"/>
              <a:cs typeface="Arial Bold"/>
              <a:sym typeface="Arial Bold"/>
            </a:endParaRPr>
          </a:p>
          <a:p>
            <a:pPr marL="546384" lvl="1" indent="-273192" algn="just">
              <a:lnSpc>
                <a:spcPts val="3036"/>
              </a:lnSpc>
              <a:spcBef>
                <a:spcPct val="0"/>
              </a:spcBef>
              <a:buFont typeface="Arial"/>
              <a:buChar char="•"/>
            </a:pPr>
            <a:r>
              <a:rPr lang="en-US" sz="2530">
                <a:solidFill>
                  <a:srgbClr val="000000"/>
                </a:solidFill>
                <a:latin typeface="Arial"/>
                <a:ea typeface="Arial"/>
                <a:cs typeface="Arial"/>
                <a:sym typeface="Arial"/>
              </a:rPr>
              <a:t>Khi f bộ điều phối bị reset, tính đúng đắn sẽ bị vi phạm nếu số bộ điều phối không bị lỗi trở thành thiểu số, tức là khi: </a:t>
            </a:r>
          </a:p>
          <a:p>
            <a:pPr algn="ctr">
              <a:lnSpc>
                <a:spcPts val="3036"/>
              </a:lnSpc>
              <a:spcBef>
                <a:spcPct val="0"/>
              </a:spcBef>
            </a:pPr>
            <a:r>
              <a:rPr lang="en-US" sz="2530">
                <a:solidFill>
                  <a:srgbClr val="FF0000"/>
                </a:solidFill>
                <a:latin typeface="Arial"/>
                <a:ea typeface="Arial"/>
                <a:cs typeface="Arial"/>
                <a:sym typeface="Arial"/>
              </a:rPr>
              <a:t>N −(m−f) ≥ m,</a:t>
            </a:r>
            <a:r>
              <a:rPr lang="en-US" sz="2530">
                <a:solidFill>
                  <a:srgbClr val="000000"/>
                </a:solidFill>
                <a:latin typeface="Arial"/>
                <a:ea typeface="Arial"/>
                <a:cs typeface="Arial"/>
                <a:sym typeface="Arial"/>
              </a:rPr>
              <a:t> hay, </a:t>
            </a:r>
            <a:r>
              <a:rPr lang="en-US" sz="2530">
                <a:solidFill>
                  <a:srgbClr val="FF0000"/>
                </a:solidFill>
                <a:latin typeface="Arial"/>
                <a:ea typeface="Arial"/>
                <a:cs typeface="Arial"/>
                <a:sym typeface="Arial"/>
              </a:rPr>
              <a:t>f ≥2m−N</a:t>
            </a:r>
            <a:r>
              <a:rPr lang="en-US" sz="2530">
                <a:solidFill>
                  <a:srgbClr val="000000"/>
                </a:solidFill>
                <a:latin typeface="Arial"/>
                <a:ea typeface="Arial"/>
                <a:cs typeface="Arial"/>
                <a:sym typeface="Arial"/>
              </a:rPr>
              <a:t>.</a:t>
            </a:r>
          </a:p>
        </p:txBody>
      </p:sp>
      <p:sp>
        <p:nvSpPr>
          <p:cNvPr id="8" name="TextBox 8"/>
          <p:cNvSpPr txBox="1"/>
          <p:nvPr/>
        </p:nvSpPr>
        <p:spPr>
          <a:xfrm>
            <a:off x="366368" y="264795"/>
            <a:ext cx="5091112" cy="466725"/>
          </a:xfrm>
          <a:prstGeom prst="rect">
            <a:avLst/>
          </a:prstGeom>
        </p:spPr>
        <p:txBody>
          <a:bodyPr lIns="0" tIns="0" rIns="0" bIns="0" rtlCol="0" anchor="t">
            <a:spAutoFit/>
          </a:bodyPr>
          <a:lstStyle/>
          <a:p>
            <a:pPr algn="ctr">
              <a:lnSpc>
                <a:spcPts val="3263"/>
              </a:lnSpc>
              <a:spcBef>
                <a:spcPct val="0"/>
              </a:spcBef>
            </a:pPr>
            <a:r>
              <a:rPr lang="en-US" sz="2719" b="1">
                <a:solidFill>
                  <a:srgbClr val="FFFF00"/>
                </a:solidFill>
                <a:latin typeface="Arial Bold"/>
                <a:ea typeface="Arial Bold"/>
                <a:cs typeface="Arial Bold"/>
                <a:sym typeface="Arial Bold"/>
              </a:rPr>
              <a:t>Loại trừ lẫn nhau phi tập trung</a:t>
            </a:r>
          </a:p>
        </p:txBody>
      </p:sp>
      <p:sp>
        <p:nvSpPr>
          <p:cNvPr id="9" name="TextBox 9"/>
          <p:cNvSpPr txBox="1"/>
          <p:nvPr/>
        </p:nvSpPr>
        <p:spPr>
          <a:xfrm>
            <a:off x="366368" y="4002066"/>
            <a:ext cx="4941213" cy="371475"/>
          </a:xfrm>
          <a:prstGeom prst="rect">
            <a:avLst/>
          </a:prstGeom>
        </p:spPr>
        <p:txBody>
          <a:bodyPr lIns="0" tIns="0" rIns="0" bIns="0" rtlCol="0" anchor="t">
            <a:spAutoFit/>
          </a:bodyPr>
          <a:lstStyle/>
          <a:p>
            <a:pPr algn="ctr">
              <a:lnSpc>
                <a:spcPts val="2663"/>
              </a:lnSpc>
              <a:spcBef>
                <a:spcPct val="0"/>
              </a:spcBef>
            </a:pPr>
            <a:r>
              <a:rPr lang="en-US" sz="2219">
                <a:solidFill>
                  <a:srgbClr val="000000"/>
                </a:solidFill>
                <a:latin typeface="Arial"/>
                <a:ea typeface="Arial"/>
                <a:cs typeface="Arial"/>
                <a:sym typeface="Arial"/>
              </a:rPr>
              <a:t>Xác suất vi phạm được tính bằng tổng: </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Freeform 6"/>
          <p:cNvSpPr/>
          <p:nvPr/>
        </p:nvSpPr>
        <p:spPr>
          <a:xfrm>
            <a:off x="352776" y="1855917"/>
            <a:ext cx="9048048" cy="3132887"/>
          </a:xfrm>
          <a:custGeom>
            <a:avLst/>
            <a:gdLst/>
            <a:ahLst/>
            <a:cxnLst/>
            <a:rect l="l" t="t" r="r" b="b"/>
            <a:pathLst>
              <a:path w="9048048" h="3132887">
                <a:moveTo>
                  <a:pt x="0" y="0"/>
                </a:moveTo>
                <a:lnTo>
                  <a:pt x="9048048" y="0"/>
                </a:lnTo>
                <a:lnTo>
                  <a:pt x="9048048" y="3132887"/>
                </a:lnTo>
                <a:lnTo>
                  <a:pt x="0" y="3132887"/>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373285" y="255125"/>
            <a:ext cx="4868639" cy="644587"/>
          </a:xfrm>
          <a:prstGeom prst="rect">
            <a:avLst/>
          </a:prstGeom>
        </p:spPr>
        <p:txBody>
          <a:bodyPr lIns="0" tIns="0" rIns="0" bIns="0" rtlCol="0" anchor="t">
            <a:spAutoFit/>
          </a:bodyPr>
          <a:lstStyle/>
          <a:p>
            <a:pPr algn="ctr">
              <a:lnSpc>
                <a:spcPts val="4541"/>
              </a:lnSpc>
              <a:spcBef>
                <a:spcPct val="0"/>
              </a:spcBef>
            </a:pPr>
            <a:r>
              <a:rPr lang="en-US" sz="3784">
                <a:solidFill>
                  <a:srgbClr val="FFFF00"/>
                </a:solidFill>
                <a:latin typeface="Arial"/>
                <a:ea typeface="Arial"/>
                <a:cs typeface="Arial"/>
                <a:sym typeface="Arial"/>
              </a:rPr>
              <a:t>Bảng xác suất vi phạm</a:t>
            </a: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Freeform 6"/>
          <p:cNvSpPr/>
          <p:nvPr/>
        </p:nvSpPr>
        <p:spPr>
          <a:xfrm>
            <a:off x="325688" y="1312382"/>
            <a:ext cx="8593869" cy="2524449"/>
          </a:xfrm>
          <a:custGeom>
            <a:avLst/>
            <a:gdLst/>
            <a:ahLst/>
            <a:cxnLst/>
            <a:rect l="l" t="t" r="r" b="b"/>
            <a:pathLst>
              <a:path w="8593869" h="2524449">
                <a:moveTo>
                  <a:pt x="0" y="0"/>
                </a:moveTo>
                <a:lnTo>
                  <a:pt x="8593870" y="0"/>
                </a:lnTo>
                <a:lnTo>
                  <a:pt x="8593870" y="2524450"/>
                </a:lnTo>
                <a:lnTo>
                  <a:pt x="0" y="2524450"/>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325688" y="254757"/>
            <a:ext cx="6227710" cy="476763"/>
          </a:xfrm>
          <a:prstGeom prst="rect">
            <a:avLst/>
          </a:prstGeom>
        </p:spPr>
        <p:txBody>
          <a:bodyPr lIns="0" tIns="0" rIns="0" bIns="0" rtlCol="0" anchor="t">
            <a:spAutoFit/>
          </a:bodyPr>
          <a:lstStyle/>
          <a:p>
            <a:pPr algn="ctr">
              <a:lnSpc>
                <a:spcPts val="3314"/>
              </a:lnSpc>
              <a:spcBef>
                <a:spcPct val="0"/>
              </a:spcBef>
            </a:pPr>
            <a:r>
              <a:rPr lang="en-US" sz="2762">
                <a:solidFill>
                  <a:srgbClr val="FFFF00"/>
                </a:solidFill>
                <a:latin typeface="Arial"/>
                <a:ea typeface="Arial"/>
                <a:cs typeface="Arial"/>
                <a:sym typeface="Arial"/>
              </a:rPr>
              <a:t>So sánh các thuật toán loại trừ lẫn nhau</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236730" y="174071"/>
            <a:ext cx="6849870" cy="641201"/>
          </a:xfrm>
          <a:prstGeom prst="rect">
            <a:avLst/>
          </a:prstGeom>
        </p:spPr>
        <p:txBody>
          <a:bodyPr wrap="square" lIns="0" tIns="0" rIns="0" bIns="0" rtlCol="0" anchor="t">
            <a:spAutoFit/>
          </a:bodyPr>
          <a:lstStyle/>
          <a:p>
            <a:pPr algn="ctr">
              <a:lnSpc>
                <a:spcPts val="5049"/>
              </a:lnSpc>
              <a:spcBef>
                <a:spcPct val="0"/>
              </a:spcBef>
            </a:pPr>
            <a:r>
              <a:rPr lang="en-US" sz="4207" dirty="0" err="1">
                <a:solidFill>
                  <a:srgbClr val="FFFF00"/>
                </a:solidFill>
                <a:latin typeface="Arial"/>
                <a:ea typeface="Arial"/>
                <a:cs typeface="Arial"/>
                <a:sym typeface="Arial"/>
              </a:rPr>
              <a:t>Ví</a:t>
            </a:r>
            <a:r>
              <a:rPr lang="en-US" sz="4207" dirty="0">
                <a:solidFill>
                  <a:srgbClr val="FFFF00"/>
                </a:solidFill>
                <a:latin typeface="Arial"/>
                <a:ea typeface="Arial"/>
                <a:cs typeface="Arial"/>
                <a:sym typeface="Arial"/>
              </a:rPr>
              <a:t> </a:t>
            </a:r>
            <a:r>
              <a:rPr lang="en-US" sz="4207" dirty="0" err="1">
                <a:solidFill>
                  <a:srgbClr val="FFFF00"/>
                </a:solidFill>
                <a:latin typeface="Arial"/>
                <a:ea typeface="Arial"/>
                <a:cs typeface="Arial"/>
                <a:sym typeface="Arial"/>
              </a:rPr>
              <a:t>dụ</a:t>
            </a:r>
            <a:r>
              <a:rPr lang="en-US" sz="4207" dirty="0">
                <a:solidFill>
                  <a:srgbClr val="FFFF00"/>
                </a:solidFill>
                <a:latin typeface="Arial"/>
                <a:ea typeface="Arial"/>
                <a:cs typeface="Arial"/>
                <a:sym typeface="Arial"/>
              </a:rPr>
              <a:t>: </a:t>
            </a:r>
            <a:r>
              <a:rPr lang="en-US" sz="4207" dirty="0" err="1">
                <a:solidFill>
                  <a:srgbClr val="FFFF00"/>
                </a:solidFill>
                <a:latin typeface="Arial"/>
                <a:ea typeface="Arial"/>
                <a:cs typeface="Arial"/>
                <a:sym typeface="Arial"/>
              </a:rPr>
              <a:t>ZooKeeper</a:t>
            </a:r>
            <a:endParaRPr lang="en-US" sz="4207" dirty="0">
              <a:solidFill>
                <a:srgbClr val="FFFF00"/>
              </a:solidFill>
              <a:latin typeface="Arial"/>
              <a:ea typeface="Arial"/>
              <a:cs typeface="Arial"/>
              <a:sym typeface="Arial"/>
            </a:endParaRPr>
          </a:p>
        </p:txBody>
      </p:sp>
      <p:sp>
        <p:nvSpPr>
          <p:cNvPr id="7" name="TextBox 7"/>
          <p:cNvSpPr txBox="1"/>
          <p:nvPr/>
        </p:nvSpPr>
        <p:spPr>
          <a:xfrm>
            <a:off x="91440" y="1494916"/>
            <a:ext cx="9570720" cy="3257550"/>
          </a:xfrm>
          <a:prstGeom prst="rect">
            <a:avLst/>
          </a:prstGeom>
        </p:spPr>
        <p:txBody>
          <a:bodyPr lIns="0" tIns="0" rIns="0" bIns="0" rtlCol="0" anchor="t">
            <a:spAutoFit/>
          </a:bodyPr>
          <a:lstStyle/>
          <a:p>
            <a:pPr algn="just">
              <a:lnSpc>
                <a:spcPts val="2783"/>
              </a:lnSpc>
              <a:spcBef>
                <a:spcPct val="0"/>
              </a:spcBef>
            </a:pPr>
            <a:r>
              <a:rPr lang="en-US" sz="2319" b="1" dirty="0" err="1">
                <a:solidFill>
                  <a:srgbClr val="000000"/>
                </a:solidFill>
                <a:latin typeface="Arial Bold"/>
                <a:ea typeface="Arial Bold"/>
                <a:cs typeface="Arial Bold"/>
                <a:sym typeface="Arial Bold"/>
              </a:rPr>
              <a:t>Cơ</a:t>
            </a:r>
            <a:r>
              <a:rPr lang="en-US" sz="2319" b="1" dirty="0">
                <a:solidFill>
                  <a:srgbClr val="000000"/>
                </a:solidFill>
                <a:latin typeface="Arial Bold"/>
                <a:ea typeface="Arial Bold"/>
                <a:cs typeface="Arial Bold"/>
                <a:sym typeface="Arial Bold"/>
              </a:rPr>
              <a:t> </a:t>
            </a:r>
            <a:r>
              <a:rPr lang="en-US" sz="2319" b="1" dirty="0" err="1">
                <a:solidFill>
                  <a:srgbClr val="000000"/>
                </a:solidFill>
                <a:latin typeface="Arial Bold"/>
                <a:ea typeface="Arial Bold"/>
                <a:cs typeface="Arial Bold"/>
                <a:sym typeface="Arial Bold"/>
              </a:rPr>
              <a:t>bản</a:t>
            </a:r>
            <a:r>
              <a:rPr lang="en-US" sz="2319" b="1" dirty="0">
                <a:solidFill>
                  <a:srgbClr val="000000"/>
                </a:solidFill>
                <a:latin typeface="Arial Bold"/>
                <a:ea typeface="Arial Bold"/>
                <a:cs typeface="Arial Bold"/>
                <a:sym typeface="Arial Bold"/>
              </a:rPr>
              <a:t> (</a:t>
            </a:r>
            <a:r>
              <a:rPr lang="en-US" sz="2319" b="1" dirty="0" err="1">
                <a:solidFill>
                  <a:srgbClr val="000000"/>
                </a:solidFill>
                <a:latin typeface="Arial Bold"/>
                <a:ea typeface="Arial Bold"/>
                <a:cs typeface="Arial Bold"/>
                <a:sym typeface="Arial Bold"/>
              </a:rPr>
              <a:t>và</a:t>
            </a:r>
            <a:r>
              <a:rPr lang="en-US" sz="2319" b="1" dirty="0">
                <a:solidFill>
                  <a:srgbClr val="000000"/>
                </a:solidFill>
                <a:latin typeface="Arial Bold"/>
                <a:ea typeface="Arial Bold"/>
                <a:cs typeface="Arial Bold"/>
                <a:sym typeface="Arial Bold"/>
              </a:rPr>
              <a:t> </a:t>
            </a:r>
            <a:r>
              <a:rPr lang="en-US" sz="2319" b="1" dirty="0" err="1">
                <a:solidFill>
                  <a:srgbClr val="000000"/>
                </a:solidFill>
                <a:latin typeface="Arial Bold"/>
                <a:ea typeface="Arial Bold"/>
                <a:cs typeface="Arial Bold"/>
                <a:sym typeface="Arial Bold"/>
              </a:rPr>
              <a:t>đơn</a:t>
            </a:r>
            <a:r>
              <a:rPr lang="en-US" sz="2319" b="1" dirty="0">
                <a:solidFill>
                  <a:srgbClr val="000000"/>
                </a:solidFill>
                <a:latin typeface="Arial Bold"/>
                <a:ea typeface="Arial Bold"/>
                <a:cs typeface="Arial Bold"/>
                <a:sym typeface="Arial Bold"/>
              </a:rPr>
              <a:t> </a:t>
            </a:r>
            <a:r>
              <a:rPr lang="en-US" sz="2319" b="1" dirty="0" err="1">
                <a:solidFill>
                  <a:srgbClr val="000000"/>
                </a:solidFill>
                <a:latin typeface="Arial Bold"/>
                <a:ea typeface="Arial Bold"/>
                <a:cs typeface="Arial Bold"/>
                <a:sym typeface="Arial Bold"/>
              </a:rPr>
              <a:t>giản</a:t>
            </a:r>
            <a:r>
              <a:rPr lang="en-US" sz="2319" b="1" dirty="0">
                <a:solidFill>
                  <a:srgbClr val="000000"/>
                </a:solidFill>
                <a:latin typeface="Arial Bold"/>
                <a:ea typeface="Arial Bold"/>
                <a:cs typeface="Arial Bold"/>
                <a:sym typeface="Arial Bold"/>
              </a:rPr>
              <a:t> </a:t>
            </a:r>
            <a:r>
              <a:rPr lang="en-US" sz="2319" b="1" dirty="0" err="1">
                <a:solidFill>
                  <a:srgbClr val="000000"/>
                </a:solidFill>
                <a:latin typeface="Arial Bold"/>
                <a:ea typeface="Arial Bold"/>
                <a:cs typeface="Arial Bold"/>
                <a:sym typeface="Arial Bold"/>
              </a:rPr>
              <a:t>hóa</a:t>
            </a:r>
            <a:r>
              <a:rPr lang="en-US" sz="2319" b="1" dirty="0">
                <a:solidFill>
                  <a:srgbClr val="000000"/>
                </a:solidFill>
                <a:latin typeface="Arial Bold"/>
                <a:ea typeface="Arial Bold"/>
                <a:cs typeface="Arial Bold"/>
                <a:sym typeface="Arial Bold"/>
              </a:rPr>
              <a:t>)</a:t>
            </a:r>
          </a:p>
          <a:p>
            <a:pPr algn="just">
              <a:lnSpc>
                <a:spcPts val="2304"/>
              </a:lnSpc>
              <a:spcBef>
                <a:spcPct val="0"/>
              </a:spcBef>
            </a:pPr>
            <a:endParaRPr lang="en-US" sz="2319" b="1" dirty="0">
              <a:solidFill>
                <a:srgbClr val="000000"/>
              </a:solidFill>
              <a:latin typeface="Arial Bold"/>
              <a:ea typeface="Arial Bold"/>
              <a:cs typeface="Arial Bold"/>
              <a:sym typeface="Arial Bold"/>
            </a:endParaRPr>
          </a:p>
          <a:p>
            <a:pPr marL="414528" lvl="1" indent="-207264" algn="just">
              <a:lnSpc>
                <a:spcPts val="2304"/>
              </a:lnSpc>
              <a:buFont typeface="Arial"/>
              <a:buChar char="•"/>
            </a:pPr>
            <a:r>
              <a:rPr lang="en-US" sz="1920" dirty="0" err="1">
                <a:solidFill>
                  <a:srgbClr val="000000"/>
                </a:solidFill>
                <a:latin typeface="Arial"/>
                <a:ea typeface="Arial"/>
                <a:cs typeface="Arial"/>
                <a:sym typeface="Arial"/>
              </a:rPr>
              <a:t>Hệ</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thống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được</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thiết</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lập</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theo</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mô</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hình</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máy</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chủ</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tập</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trung</a:t>
            </a:r>
            <a:r>
              <a:rPr lang="en-US" sz="1920" dirty="0">
                <a:solidFill>
                  <a:srgbClr val="000000"/>
                </a:solidFill>
                <a:latin typeface="Arial"/>
                <a:ea typeface="Arial"/>
                <a:cs typeface="Arial"/>
                <a:sym typeface="Arial"/>
              </a:rPr>
              <a:t>.</a:t>
            </a:r>
          </a:p>
          <a:p>
            <a:pPr algn="just">
              <a:lnSpc>
                <a:spcPts val="2304"/>
              </a:lnSpc>
            </a:pPr>
            <a:endParaRPr lang="en-US" sz="1920" dirty="0">
              <a:solidFill>
                <a:srgbClr val="000000"/>
              </a:solidFill>
              <a:latin typeface="Arial"/>
              <a:ea typeface="Arial"/>
              <a:cs typeface="Arial"/>
              <a:sym typeface="Arial"/>
            </a:endParaRPr>
          </a:p>
          <a:p>
            <a:pPr marL="414528" lvl="1" indent="-207264" algn="just">
              <a:lnSpc>
                <a:spcPts val="2304"/>
              </a:lnSpc>
              <a:buFont typeface="Arial"/>
              <a:buChar char="•"/>
            </a:pPr>
            <a:r>
              <a:rPr lang="en-US" sz="1920" dirty="0" err="1">
                <a:solidFill>
                  <a:srgbClr val="000000"/>
                </a:solidFill>
                <a:latin typeface="Arial"/>
                <a:ea typeface="Arial"/>
                <a:cs typeface="Arial"/>
                <a:sym typeface="Arial"/>
              </a:rPr>
              <a:t>Tất</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cả</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giao</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tiếp</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giữa</a:t>
            </a:r>
            <a:r>
              <a:rPr lang="en-US" sz="1920" dirty="0">
                <a:solidFill>
                  <a:srgbClr val="000000"/>
                </a:solidFill>
                <a:latin typeface="Arial"/>
                <a:ea typeface="Arial"/>
                <a:cs typeface="Arial"/>
                <a:sym typeface="Arial"/>
              </a:rPr>
              <a:t> client </a:t>
            </a:r>
            <a:r>
              <a:rPr lang="en-US" sz="1920" dirty="0" err="1">
                <a:solidFill>
                  <a:srgbClr val="000000"/>
                </a:solidFill>
                <a:latin typeface="Arial"/>
                <a:ea typeface="Arial"/>
                <a:cs typeface="Arial"/>
                <a:sym typeface="Arial"/>
              </a:rPr>
              <a:t>và</a:t>
            </a:r>
            <a:r>
              <a:rPr lang="en-US" sz="1920" dirty="0">
                <a:solidFill>
                  <a:srgbClr val="000000"/>
                </a:solidFill>
                <a:latin typeface="Arial"/>
                <a:ea typeface="Arial"/>
                <a:cs typeface="Arial"/>
                <a:sym typeface="Arial"/>
              </a:rPr>
              <a:t> server </a:t>
            </a:r>
            <a:r>
              <a:rPr lang="en-US" sz="1920" dirty="0" err="1">
                <a:solidFill>
                  <a:srgbClr val="000000"/>
                </a:solidFill>
                <a:latin typeface="Arial"/>
                <a:ea typeface="Arial"/>
                <a:cs typeface="Arial"/>
                <a:sym typeface="Arial"/>
              </a:rPr>
              <a:t>đều</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không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bị</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chặn</a:t>
            </a:r>
            <a:r>
              <a:rPr lang="en-US" sz="1920" dirty="0">
                <a:solidFill>
                  <a:srgbClr val="000000"/>
                </a:solidFill>
                <a:latin typeface="Arial"/>
                <a:ea typeface="Arial"/>
                <a:cs typeface="Arial"/>
                <a:sym typeface="Arial"/>
              </a:rPr>
              <a:t>: Client </a:t>
            </a:r>
            <a:r>
              <a:rPr lang="en-US" sz="1920" dirty="0" err="1">
                <a:solidFill>
                  <a:srgbClr val="000000"/>
                </a:solidFill>
                <a:latin typeface="Arial"/>
                <a:ea typeface="Arial"/>
                <a:cs typeface="Arial"/>
                <a:sym typeface="Arial"/>
              </a:rPr>
              <a:t>luôn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nhận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phản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hồi</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ngay</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lập</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tức</a:t>
            </a:r>
            <a:r>
              <a:rPr lang="en-US" sz="1920" dirty="0">
                <a:solidFill>
                  <a:srgbClr val="000000"/>
                </a:solidFill>
                <a:latin typeface="Arial"/>
                <a:ea typeface="Arial"/>
                <a:cs typeface="Arial"/>
                <a:sym typeface="Arial"/>
              </a:rPr>
              <a:t>.</a:t>
            </a:r>
          </a:p>
          <a:p>
            <a:pPr algn="just">
              <a:lnSpc>
                <a:spcPts val="2304"/>
              </a:lnSpc>
            </a:pPr>
            <a:endParaRPr lang="en-US" sz="1920" dirty="0">
              <a:solidFill>
                <a:srgbClr val="000000"/>
              </a:solidFill>
              <a:latin typeface="Arial"/>
              <a:ea typeface="Arial"/>
              <a:cs typeface="Arial"/>
              <a:sym typeface="Arial"/>
            </a:endParaRPr>
          </a:p>
          <a:p>
            <a:pPr marL="414528" lvl="1" indent="-207264" algn="just">
              <a:lnSpc>
                <a:spcPts val="2304"/>
              </a:lnSpc>
              <a:buFont typeface="Arial"/>
              <a:buChar char="•"/>
            </a:pPr>
            <a:r>
              <a:rPr lang="en-US" sz="1920" dirty="0" err="1">
                <a:solidFill>
                  <a:srgbClr val="000000"/>
                </a:solidFill>
                <a:latin typeface="Arial"/>
                <a:ea typeface="Arial"/>
                <a:cs typeface="Arial"/>
                <a:sym typeface="Arial"/>
              </a:rPr>
              <a:t>ZooKeeper</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duy</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trì</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một</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không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gian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tên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dạng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cây</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tương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tự</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như</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hệ</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thống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tệp</a:t>
            </a:r>
            <a:r>
              <a:rPr lang="en-US" sz="1920" dirty="0">
                <a:solidFill>
                  <a:srgbClr val="000000"/>
                </a:solidFill>
                <a:latin typeface="Arial"/>
                <a:ea typeface="Arial"/>
                <a:cs typeface="Arial"/>
                <a:sym typeface="Arial"/>
              </a:rPr>
              <a:t> tin.</a:t>
            </a:r>
          </a:p>
          <a:p>
            <a:pPr algn="just">
              <a:lnSpc>
                <a:spcPts val="2304"/>
              </a:lnSpc>
            </a:pPr>
            <a:endParaRPr lang="en-US" sz="1920" dirty="0">
              <a:solidFill>
                <a:srgbClr val="000000"/>
              </a:solidFill>
              <a:latin typeface="Arial"/>
              <a:ea typeface="Arial"/>
              <a:cs typeface="Arial"/>
              <a:sym typeface="Arial"/>
            </a:endParaRPr>
          </a:p>
          <a:p>
            <a:pPr marL="414528" lvl="1" indent="-207264" algn="just">
              <a:lnSpc>
                <a:spcPts val="2304"/>
              </a:lnSpc>
              <a:buFont typeface="Arial"/>
              <a:buChar char="•"/>
            </a:pPr>
            <a:r>
              <a:rPr lang="en-US" sz="1920" dirty="0">
                <a:solidFill>
                  <a:srgbClr val="000000"/>
                </a:solidFill>
                <a:latin typeface="Arial"/>
                <a:ea typeface="Arial"/>
                <a:cs typeface="Arial"/>
                <a:sym typeface="Arial"/>
              </a:rPr>
              <a:t>Client </a:t>
            </a:r>
            <a:r>
              <a:rPr lang="en-US" sz="1920" dirty="0" err="1">
                <a:solidFill>
                  <a:srgbClr val="000000"/>
                </a:solidFill>
                <a:latin typeface="Arial"/>
                <a:ea typeface="Arial"/>
                <a:cs typeface="Arial"/>
                <a:sym typeface="Arial"/>
              </a:rPr>
              <a:t>có</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thể</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thực</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hiện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các</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thao</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tác</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Tạo</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Xóa</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Cập</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nhật</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Kiểm</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tra</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sự</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tồn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tại</a:t>
            </a:r>
            <a:r>
              <a:rPr lang="en-US" sz="1920" dirty="0">
                <a:solidFill>
                  <a:srgbClr val="000000"/>
                </a:solidFill>
                <a:latin typeface="Arial"/>
                <a:ea typeface="Arial"/>
                <a:cs typeface="Arial"/>
                <a:sym typeface="Arial"/>
              </a:rPr>
              <a:t> (check existence) </a:t>
            </a:r>
            <a:r>
              <a:rPr lang="en-US" sz="1920" dirty="0" err="1">
                <a:solidFill>
                  <a:srgbClr val="000000"/>
                </a:solidFill>
                <a:latin typeface="Arial"/>
                <a:ea typeface="Arial"/>
                <a:cs typeface="Arial"/>
                <a:sym typeface="Arial"/>
              </a:rPr>
              <a:t>của</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một</a:t>
            </a:r>
            <a:r>
              <a:rPr lang="en-US" sz="1920" dirty="0">
                <a:solidFill>
                  <a:srgbClr val="000000"/>
                </a:solidFill>
                <a:latin typeface="Arial"/>
                <a:ea typeface="Arial"/>
                <a:cs typeface="Arial"/>
                <a:sym typeface="Arial"/>
              </a:rPr>
              <a:t> node.</a:t>
            </a: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157362" y="360045"/>
            <a:ext cx="8237200" cy="371475"/>
          </a:xfrm>
          <a:prstGeom prst="rect">
            <a:avLst/>
          </a:prstGeom>
        </p:spPr>
        <p:txBody>
          <a:bodyPr lIns="0" tIns="0" rIns="0" bIns="0" rtlCol="0" anchor="t">
            <a:spAutoFit/>
          </a:bodyPr>
          <a:lstStyle/>
          <a:p>
            <a:pPr algn="just">
              <a:lnSpc>
                <a:spcPts val="2663"/>
              </a:lnSpc>
              <a:spcBef>
                <a:spcPct val="0"/>
              </a:spcBef>
            </a:pPr>
            <a:r>
              <a:rPr lang="en-US" sz="2219" b="1">
                <a:solidFill>
                  <a:srgbClr val="FFFF00"/>
                </a:solidFill>
                <a:latin typeface="Arial Bold"/>
                <a:ea typeface="Arial Bold"/>
                <a:cs typeface="Arial Bold"/>
                <a:sym typeface="Arial Bold"/>
              </a:rPr>
              <a:t>Điều kiện tranh chấp (Race Condition) trong ZooKeeper</a:t>
            </a:r>
          </a:p>
        </p:txBody>
      </p:sp>
      <p:sp>
        <p:nvSpPr>
          <p:cNvPr id="7" name="TextBox 7"/>
          <p:cNvSpPr txBox="1"/>
          <p:nvPr/>
        </p:nvSpPr>
        <p:spPr>
          <a:xfrm>
            <a:off x="365760" y="1295182"/>
            <a:ext cx="9144644" cy="4905375"/>
          </a:xfrm>
          <a:prstGeom prst="rect">
            <a:avLst/>
          </a:prstGeom>
        </p:spPr>
        <p:txBody>
          <a:bodyPr lIns="0" tIns="0" rIns="0" bIns="0" rtlCol="0" anchor="t">
            <a:spAutoFit/>
          </a:bodyPr>
          <a:lstStyle/>
          <a:p>
            <a:pPr algn="just">
              <a:lnSpc>
                <a:spcPts val="2304"/>
              </a:lnSpc>
              <a:spcBef>
                <a:spcPct val="0"/>
              </a:spcBef>
            </a:pPr>
            <a:r>
              <a:rPr lang="en-US" sz="1920" b="1" dirty="0" err="1">
                <a:solidFill>
                  <a:srgbClr val="000000"/>
                </a:solidFill>
                <a:latin typeface="Arial Bold"/>
                <a:ea typeface="Arial Bold"/>
                <a:cs typeface="Arial Bold"/>
                <a:sym typeface="Arial Bold"/>
              </a:rPr>
              <a:t>Vấn</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đề</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xảy</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ra</a:t>
            </a:r>
            <a:endParaRPr lang="en-US" sz="1920" b="1" dirty="0">
              <a:solidFill>
                <a:srgbClr val="000000"/>
              </a:solidFill>
              <a:latin typeface="Arial Bold"/>
              <a:ea typeface="Arial Bold"/>
              <a:cs typeface="Arial Bold"/>
              <a:sym typeface="Arial Bold"/>
            </a:endParaRPr>
          </a:p>
          <a:p>
            <a:pPr algn="just">
              <a:lnSpc>
                <a:spcPts val="2304"/>
              </a:lnSpc>
              <a:spcBef>
                <a:spcPct val="0"/>
              </a:spcBef>
            </a:pPr>
            <a:r>
              <a:rPr lang="en-US" sz="1920" dirty="0" err="1">
                <a:solidFill>
                  <a:srgbClr val="000000"/>
                </a:solidFill>
                <a:latin typeface="Arial"/>
                <a:ea typeface="Arial"/>
                <a:cs typeface="Arial"/>
                <a:sym typeface="Arial"/>
              </a:rPr>
              <a:t>ZooKeeper</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cho</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phép</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một</a:t>
            </a:r>
            <a:r>
              <a:rPr lang="en-US" sz="1920" dirty="0">
                <a:solidFill>
                  <a:srgbClr val="000000"/>
                </a:solidFill>
                <a:latin typeface="Arial"/>
                <a:ea typeface="Arial"/>
                <a:cs typeface="Arial"/>
                <a:sym typeface="Arial"/>
              </a:rPr>
              <a:t> client </a:t>
            </a:r>
            <a:r>
              <a:rPr lang="en-US" sz="1920" dirty="0" err="1">
                <a:solidFill>
                  <a:srgbClr val="000000"/>
                </a:solidFill>
                <a:latin typeface="Arial"/>
                <a:ea typeface="Arial"/>
                <a:cs typeface="Arial"/>
                <a:sym typeface="Arial"/>
              </a:rPr>
              <a:t>nhận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thông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báo</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khi</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một</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nút</a:t>
            </a:r>
            <a:r>
              <a:rPr lang="en-US" sz="1920" dirty="0">
                <a:solidFill>
                  <a:srgbClr val="000000"/>
                </a:solidFill>
                <a:latin typeface="Arial"/>
                <a:ea typeface="Arial"/>
                <a:cs typeface="Arial"/>
                <a:sym typeface="Arial"/>
              </a:rPr>
              <a:t> (node) </a:t>
            </a:r>
            <a:r>
              <a:rPr lang="en-US" sz="1920" dirty="0" err="1">
                <a:solidFill>
                  <a:srgbClr val="000000"/>
                </a:solidFill>
                <a:latin typeface="Arial"/>
                <a:ea typeface="Arial"/>
                <a:cs typeface="Arial"/>
                <a:sym typeface="Arial"/>
              </a:rPr>
              <a:t>hoặc</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nhánh</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trong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cây</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bị</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thay</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đổi</a:t>
            </a:r>
            <a:r>
              <a:rPr lang="en-US" sz="1920" dirty="0">
                <a:solidFill>
                  <a:srgbClr val="000000"/>
                </a:solidFill>
                <a:latin typeface="Arial"/>
                <a:ea typeface="Arial"/>
                <a:cs typeface="Arial"/>
                <a:sym typeface="Arial"/>
              </a:rPr>
              <a:t>. Tuy </a:t>
            </a:r>
            <a:r>
              <a:rPr lang="en-US" sz="1920" dirty="0" err="1">
                <a:solidFill>
                  <a:srgbClr val="000000"/>
                </a:solidFill>
                <a:latin typeface="Arial"/>
                <a:ea typeface="Arial"/>
                <a:cs typeface="Arial"/>
                <a:sym typeface="Arial"/>
              </a:rPr>
              <a:t>nhiên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điều</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này</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có</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thể</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dẫn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đến</a:t>
            </a:r>
            <a:r>
              <a:rPr lang="en-US" sz="1920" dirty="0">
                <a:solidFill>
                  <a:srgbClr val="000000"/>
                </a:solidFill>
                <a:latin typeface="Arial"/>
                <a:ea typeface="Arial"/>
                <a:cs typeface="Arial"/>
                <a:sym typeface="Arial"/>
              </a:rPr>
              <a:t> race condition </a:t>
            </a:r>
            <a:r>
              <a:rPr lang="en-US" sz="1920" dirty="0" err="1">
                <a:solidFill>
                  <a:srgbClr val="000000"/>
                </a:solidFill>
                <a:latin typeface="Arial"/>
                <a:ea typeface="Arial"/>
                <a:cs typeface="Arial"/>
                <a:sym typeface="Arial"/>
              </a:rPr>
              <a:t>trong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cơ</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chế</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khóa</a:t>
            </a:r>
            <a:r>
              <a:rPr lang="en-US" sz="1920" dirty="0">
                <a:solidFill>
                  <a:srgbClr val="000000"/>
                </a:solidFill>
                <a:latin typeface="Arial"/>
                <a:ea typeface="Arial"/>
                <a:cs typeface="Arial"/>
                <a:sym typeface="Arial"/>
              </a:rPr>
              <a:t>.</a:t>
            </a:r>
          </a:p>
          <a:p>
            <a:pPr algn="just">
              <a:lnSpc>
                <a:spcPts val="2304"/>
              </a:lnSpc>
              <a:spcBef>
                <a:spcPct val="0"/>
              </a:spcBef>
            </a:pPr>
            <a:endParaRPr lang="en-US" sz="1920" dirty="0">
              <a:solidFill>
                <a:srgbClr val="000000"/>
              </a:solidFill>
              <a:latin typeface="Arial"/>
              <a:ea typeface="Arial"/>
              <a:cs typeface="Arial"/>
              <a:sym typeface="Arial"/>
            </a:endParaRPr>
          </a:p>
          <a:p>
            <a:pPr marL="414528" lvl="1" indent="-207264" algn="just">
              <a:lnSpc>
                <a:spcPts val="2304"/>
              </a:lnSpc>
              <a:buFont typeface="Arial"/>
              <a:buChar char="•"/>
            </a:pPr>
            <a:r>
              <a:rPr lang="en-US" sz="1920" b="1" dirty="0" err="1">
                <a:solidFill>
                  <a:srgbClr val="000000"/>
                </a:solidFill>
                <a:latin typeface="Arial Bold"/>
                <a:ea typeface="Arial Bold"/>
                <a:cs typeface="Arial Bold"/>
                <a:sym typeface="Arial Bold"/>
              </a:rPr>
              <a:t>Xét</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một</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tình</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huống</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đơn</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giản</a:t>
            </a:r>
            <a:r>
              <a:rPr lang="en-US" sz="1920" b="1" dirty="0">
                <a:solidFill>
                  <a:srgbClr val="000000"/>
                </a:solidFill>
                <a:latin typeface="Arial Bold"/>
                <a:ea typeface="Arial Bold"/>
                <a:cs typeface="Arial Bold"/>
                <a:sym typeface="Arial Bold"/>
              </a:rPr>
              <a:t>:</a:t>
            </a:r>
          </a:p>
          <a:p>
            <a:pPr marL="414528" lvl="1" indent="-207264" algn="just">
              <a:lnSpc>
                <a:spcPts val="2304"/>
              </a:lnSpc>
              <a:buAutoNum type="arabicPeriod"/>
            </a:pPr>
            <a:r>
              <a:rPr lang="en-US" sz="1920" dirty="0">
                <a:solidFill>
                  <a:srgbClr val="000000"/>
                </a:solidFill>
                <a:latin typeface="Arial"/>
                <a:ea typeface="Arial"/>
                <a:cs typeface="Arial"/>
                <a:sym typeface="Arial"/>
              </a:rPr>
              <a:t>Client C1 </a:t>
            </a:r>
            <a:r>
              <a:rPr lang="en-US" sz="1920" dirty="0" err="1">
                <a:solidFill>
                  <a:srgbClr val="000000"/>
                </a:solidFill>
                <a:latin typeface="Arial"/>
                <a:ea typeface="Arial"/>
                <a:cs typeface="Arial"/>
                <a:sym typeface="Arial"/>
              </a:rPr>
              <a:t>tạo</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nút</a:t>
            </a:r>
            <a:r>
              <a:rPr lang="en-US" sz="1920" dirty="0">
                <a:solidFill>
                  <a:srgbClr val="000000"/>
                </a:solidFill>
                <a:latin typeface="Arial"/>
                <a:ea typeface="Arial"/>
                <a:cs typeface="Arial"/>
                <a:sym typeface="Arial"/>
              </a:rPr>
              <a:t> /lock, </a:t>
            </a:r>
            <a:r>
              <a:rPr lang="en-US" sz="1920" dirty="0" err="1">
                <a:solidFill>
                  <a:srgbClr val="000000"/>
                </a:solidFill>
                <a:latin typeface="Arial"/>
                <a:ea typeface="Arial"/>
                <a:cs typeface="Arial"/>
                <a:sym typeface="Arial"/>
              </a:rPr>
              <a:t>nghĩa</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là</a:t>
            </a:r>
            <a:r>
              <a:rPr lang="en-US" sz="1920" dirty="0">
                <a:solidFill>
                  <a:srgbClr val="000000"/>
                </a:solidFill>
                <a:latin typeface="Arial"/>
                <a:ea typeface="Arial"/>
                <a:cs typeface="Arial"/>
                <a:sym typeface="Arial"/>
              </a:rPr>
              <a:t> C1 </a:t>
            </a:r>
            <a:r>
              <a:rPr lang="en-US" sz="1920" dirty="0" err="1">
                <a:solidFill>
                  <a:srgbClr val="000000"/>
                </a:solidFill>
                <a:latin typeface="Arial"/>
                <a:ea typeface="Arial"/>
                <a:cs typeface="Arial"/>
                <a:sym typeface="Arial"/>
              </a:rPr>
              <a:t>đã</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chiếm</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quyền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khóa</a:t>
            </a:r>
            <a:r>
              <a:rPr lang="en-US" sz="1920" dirty="0">
                <a:solidFill>
                  <a:srgbClr val="000000"/>
                </a:solidFill>
                <a:latin typeface="Arial"/>
                <a:ea typeface="Arial"/>
                <a:cs typeface="Arial"/>
                <a:sym typeface="Arial"/>
              </a:rPr>
              <a:t>.</a:t>
            </a:r>
          </a:p>
          <a:p>
            <a:pPr marL="414528" lvl="1" indent="-207264" algn="just">
              <a:lnSpc>
                <a:spcPts val="2304"/>
              </a:lnSpc>
              <a:buAutoNum type="arabicPeriod"/>
            </a:pPr>
            <a:r>
              <a:rPr lang="en-US" sz="1920" dirty="0">
                <a:solidFill>
                  <a:srgbClr val="000000"/>
                </a:solidFill>
                <a:latin typeface="Arial"/>
                <a:ea typeface="Arial"/>
                <a:cs typeface="Arial"/>
                <a:sym typeface="Arial"/>
              </a:rPr>
              <a:t>Client C2 </a:t>
            </a:r>
            <a:r>
              <a:rPr lang="en-US" sz="1920" dirty="0" err="1">
                <a:solidFill>
                  <a:srgbClr val="000000"/>
                </a:solidFill>
                <a:latin typeface="Arial"/>
                <a:ea typeface="Arial"/>
                <a:cs typeface="Arial"/>
                <a:sym typeface="Arial"/>
              </a:rPr>
              <a:t>muốn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lấy</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khóa</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nhưng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nhận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thông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báo</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rằng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nút</a:t>
            </a:r>
            <a:r>
              <a:rPr lang="en-US" sz="1920" dirty="0">
                <a:solidFill>
                  <a:srgbClr val="000000"/>
                </a:solidFill>
                <a:latin typeface="Arial"/>
                <a:ea typeface="Arial"/>
                <a:cs typeface="Arial"/>
                <a:sym typeface="Arial"/>
              </a:rPr>
              <a:t> /lock </a:t>
            </a:r>
            <a:r>
              <a:rPr lang="en-US" sz="1920" dirty="0" err="1">
                <a:solidFill>
                  <a:srgbClr val="000000"/>
                </a:solidFill>
                <a:latin typeface="Arial"/>
                <a:ea typeface="Arial"/>
                <a:cs typeface="Arial"/>
                <a:sym typeface="Arial"/>
              </a:rPr>
              <a:t>đã</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tồn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tại</a:t>
            </a:r>
            <a:r>
              <a:rPr lang="en-US" sz="1920" dirty="0">
                <a:solidFill>
                  <a:srgbClr val="000000"/>
                </a:solidFill>
                <a:latin typeface="Arial"/>
                <a:ea typeface="Arial"/>
                <a:cs typeface="Arial"/>
                <a:sym typeface="Arial"/>
              </a:rPr>
              <a:t>.</a:t>
            </a:r>
          </a:p>
          <a:p>
            <a:pPr marL="414528" lvl="1" indent="-207264" algn="just">
              <a:lnSpc>
                <a:spcPts val="2304"/>
              </a:lnSpc>
              <a:buAutoNum type="arabicPeriod"/>
            </a:pPr>
            <a:r>
              <a:rPr lang="en-US" sz="1920" dirty="0" err="1">
                <a:solidFill>
                  <a:srgbClr val="000000"/>
                </a:solidFill>
                <a:latin typeface="Arial"/>
                <a:ea typeface="Arial"/>
                <a:cs typeface="Arial"/>
                <a:sym typeface="Arial"/>
              </a:rPr>
              <a:t>Trước</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khi</a:t>
            </a:r>
            <a:r>
              <a:rPr lang="en-US" sz="1920" dirty="0">
                <a:solidFill>
                  <a:srgbClr val="000000"/>
                </a:solidFill>
                <a:latin typeface="Arial"/>
                <a:ea typeface="Arial"/>
                <a:cs typeface="Arial"/>
                <a:sym typeface="Arial"/>
              </a:rPr>
              <a:t> C2 </a:t>
            </a:r>
            <a:r>
              <a:rPr lang="en-US" sz="1920" dirty="0" err="1">
                <a:solidFill>
                  <a:srgbClr val="000000"/>
                </a:solidFill>
                <a:latin typeface="Arial"/>
                <a:ea typeface="Arial"/>
                <a:cs typeface="Arial"/>
                <a:sym typeface="Arial"/>
              </a:rPr>
              <a:t>kịp</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đăng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ký</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nhận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thông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báo</a:t>
            </a:r>
            <a:r>
              <a:rPr lang="en-US" sz="1920" dirty="0">
                <a:solidFill>
                  <a:srgbClr val="000000"/>
                </a:solidFill>
                <a:latin typeface="Arial"/>
                <a:ea typeface="Arial"/>
                <a:cs typeface="Arial"/>
                <a:sym typeface="Arial"/>
              </a:rPr>
              <a:t>, C1 </a:t>
            </a:r>
            <a:r>
              <a:rPr lang="en-US" sz="1920" dirty="0" err="1">
                <a:solidFill>
                  <a:srgbClr val="000000"/>
                </a:solidFill>
                <a:latin typeface="Arial"/>
                <a:ea typeface="Arial"/>
                <a:cs typeface="Arial"/>
                <a:sym typeface="Arial"/>
              </a:rPr>
              <a:t>giải</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phóng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khóa</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bằng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cách</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xóa</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nút</a:t>
            </a:r>
            <a:r>
              <a:rPr lang="en-US" sz="1920" dirty="0">
                <a:solidFill>
                  <a:srgbClr val="000000"/>
                </a:solidFill>
                <a:latin typeface="Arial"/>
                <a:ea typeface="Arial"/>
                <a:cs typeface="Arial"/>
                <a:sym typeface="Arial"/>
              </a:rPr>
              <a:t> /lock.</a:t>
            </a:r>
          </a:p>
          <a:p>
            <a:pPr marL="414528" lvl="1" indent="-207264" algn="just">
              <a:lnSpc>
                <a:spcPts val="2304"/>
              </a:lnSpc>
              <a:buAutoNum type="arabicPeriod"/>
            </a:pPr>
            <a:r>
              <a:rPr lang="en-US" sz="1920" dirty="0">
                <a:solidFill>
                  <a:srgbClr val="000000"/>
                </a:solidFill>
                <a:latin typeface="Arial"/>
                <a:ea typeface="Arial"/>
                <a:cs typeface="Arial"/>
                <a:sym typeface="Arial"/>
              </a:rPr>
              <a:t>Sau </a:t>
            </a:r>
            <a:r>
              <a:rPr lang="en-US" sz="1920" dirty="0" err="1">
                <a:solidFill>
                  <a:srgbClr val="000000"/>
                </a:solidFill>
                <a:latin typeface="Arial"/>
                <a:ea typeface="Arial"/>
                <a:cs typeface="Arial"/>
                <a:sym typeface="Arial"/>
              </a:rPr>
              <a:t>đó</a:t>
            </a:r>
            <a:r>
              <a:rPr lang="en-US" sz="1920" dirty="0">
                <a:solidFill>
                  <a:srgbClr val="000000"/>
                </a:solidFill>
                <a:latin typeface="Arial"/>
                <a:ea typeface="Arial"/>
                <a:cs typeface="Arial"/>
                <a:sym typeface="Arial"/>
              </a:rPr>
              <a:t>, C2 </a:t>
            </a:r>
            <a:r>
              <a:rPr lang="en-US" sz="1920" dirty="0" err="1">
                <a:solidFill>
                  <a:srgbClr val="000000"/>
                </a:solidFill>
                <a:latin typeface="Arial"/>
                <a:ea typeface="Arial"/>
                <a:cs typeface="Arial"/>
                <a:sym typeface="Arial"/>
              </a:rPr>
              <a:t>mới</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đăng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ký</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nhận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thông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báo</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về</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thay</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đổi</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của</a:t>
            </a:r>
            <a:r>
              <a:rPr lang="en-US" sz="1920" dirty="0">
                <a:solidFill>
                  <a:srgbClr val="000000"/>
                </a:solidFill>
                <a:latin typeface="Arial"/>
                <a:ea typeface="Arial"/>
                <a:cs typeface="Arial"/>
                <a:sym typeface="Arial"/>
              </a:rPr>
              <a:t> /lock </a:t>
            </a:r>
            <a:r>
              <a:rPr lang="en-US" sz="1920" dirty="0" err="1">
                <a:solidFill>
                  <a:srgbClr val="000000"/>
                </a:solidFill>
                <a:latin typeface="Arial"/>
                <a:ea typeface="Arial"/>
                <a:cs typeface="Arial"/>
                <a:sym typeface="Arial"/>
              </a:rPr>
              <a:t>và</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bị</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kẹt</a:t>
            </a:r>
            <a:r>
              <a:rPr lang="en-US" sz="1920" dirty="0">
                <a:solidFill>
                  <a:srgbClr val="000000"/>
                </a:solidFill>
                <a:latin typeface="Arial"/>
                <a:ea typeface="Arial"/>
                <a:cs typeface="Arial"/>
                <a:sym typeface="Arial"/>
              </a:rPr>
              <a:t> do </a:t>
            </a:r>
            <a:r>
              <a:rPr lang="en-US" sz="1920" dirty="0" err="1">
                <a:solidFill>
                  <a:srgbClr val="000000"/>
                </a:solidFill>
                <a:latin typeface="Arial"/>
                <a:ea typeface="Arial"/>
                <a:cs typeface="Arial"/>
                <a:sym typeface="Arial"/>
              </a:rPr>
              <a:t>không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biết</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rằng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nút</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đã</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bị</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xóa</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trước</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đó</a:t>
            </a:r>
            <a:r>
              <a:rPr lang="en-US" sz="1920" dirty="0">
                <a:solidFill>
                  <a:srgbClr val="000000"/>
                </a:solidFill>
                <a:latin typeface="Arial"/>
                <a:ea typeface="Arial"/>
                <a:cs typeface="Arial"/>
                <a:sym typeface="Arial"/>
              </a:rPr>
              <a:t>.</a:t>
            </a:r>
          </a:p>
          <a:p>
            <a:pPr algn="just">
              <a:lnSpc>
                <a:spcPts val="2304"/>
              </a:lnSpc>
            </a:pPr>
            <a:endParaRPr lang="en-US" sz="1920" dirty="0">
              <a:solidFill>
                <a:srgbClr val="000000"/>
              </a:solidFill>
              <a:latin typeface="Arial"/>
              <a:ea typeface="Arial"/>
              <a:cs typeface="Arial"/>
              <a:sym typeface="Arial"/>
            </a:endParaRPr>
          </a:p>
          <a:p>
            <a:pPr algn="just">
              <a:lnSpc>
                <a:spcPts val="2304"/>
              </a:lnSpc>
              <a:spcBef>
                <a:spcPct val="0"/>
              </a:spcBef>
            </a:pPr>
            <a:r>
              <a:rPr lang="en-US" sz="1920" b="1" dirty="0" err="1">
                <a:solidFill>
                  <a:srgbClr val="000000"/>
                </a:solidFill>
                <a:latin typeface="Arial Bold"/>
                <a:ea typeface="Arial Bold"/>
                <a:cs typeface="Arial Bold"/>
                <a:sym typeface="Arial Bold"/>
              </a:rPr>
              <a:t>Giải</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pháp</a:t>
            </a:r>
            <a:endParaRPr lang="en-US" sz="1920" b="1" dirty="0">
              <a:solidFill>
                <a:srgbClr val="000000"/>
              </a:solidFill>
              <a:latin typeface="Arial Bold"/>
              <a:ea typeface="Arial Bold"/>
              <a:cs typeface="Arial Bold"/>
              <a:sym typeface="Arial Bold"/>
            </a:endParaRPr>
          </a:p>
          <a:p>
            <a:pPr algn="just">
              <a:lnSpc>
                <a:spcPts val="2304"/>
              </a:lnSpc>
              <a:spcBef>
                <a:spcPct val="0"/>
              </a:spcBef>
            </a:pPr>
            <a:r>
              <a:rPr lang="en-US" sz="1920" dirty="0" err="1">
                <a:solidFill>
                  <a:srgbClr val="000000"/>
                </a:solidFill>
                <a:latin typeface="Arial"/>
                <a:ea typeface="Arial"/>
                <a:cs typeface="Arial"/>
                <a:sym typeface="Arial"/>
              </a:rPr>
              <a:t>Sử</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dụng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số</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phiên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bản</a:t>
            </a:r>
            <a:r>
              <a:rPr lang="en-US" sz="1920" dirty="0">
                <a:solidFill>
                  <a:srgbClr val="000000"/>
                </a:solidFill>
                <a:latin typeface="Arial"/>
                <a:ea typeface="Arial"/>
                <a:cs typeface="Arial"/>
                <a:sym typeface="Arial"/>
              </a:rPr>
              <a:t> (version numbers) </a:t>
            </a:r>
            <a:r>
              <a:rPr lang="en-US" sz="1920" dirty="0" err="1">
                <a:solidFill>
                  <a:srgbClr val="000000"/>
                </a:solidFill>
                <a:latin typeface="Arial"/>
                <a:ea typeface="Arial"/>
                <a:cs typeface="Arial"/>
                <a:sym typeface="Arial"/>
              </a:rPr>
              <a:t>để</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đảm</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bảo</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rằng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khi</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một</a:t>
            </a:r>
            <a:r>
              <a:rPr lang="en-US" sz="1920" dirty="0">
                <a:solidFill>
                  <a:srgbClr val="000000"/>
                </a:solidFill>
                <a:latin typeface="Arial"/>
                <a:ea typeface="Arial"/>
                <a:cs typeface="Arial"/>
                <a:sym typeface="Arial"/>
              </a:rPr>
              <a:t> client </a:t>
            </a:r>
            <a:r>
              <a:rPr lang="en-US" sz="1920" dirty="0" err="1">
                <a:solidFill>
                  <a:srgbClr val="000000"/>
                </a:solidFill>
                <a:latin typeface="Arial"/>
                <a:ea typeface="Arial"/>
                <a:cs typeface="Arial"/>
                <a:sym typeface="Arial"/>
              </a:rPr>
              <a:t>kiểm</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tra</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trạng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thái</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của</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một</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nút</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nó</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có</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thể</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phát</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hiện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các</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thay</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đổi</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đồng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thời</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và</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hành</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động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phù</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hợp</a:t>
            </a:r>
            <a:r>
              <a:rPr lang="en-US" sz="1920" dirty="0">
                <a:solidFill>
                  <a:srgbClr val="000000"/>
                </a:solidFill>
                <a:latin typeface="Arial"/>
                <a:ea typeface="Arial"/>
                <a:cs typeface="Arial"/>
                <a:sym typeface="Arial"/>
              </a:rPr>
              <a:t>.</a:t>
            </a: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Freeform 6"/>
          <p:cNvSpPr/>
          <p:nvPr/>
        </p:nvSpPr>
        <p:spPr>
          <a:xfrm>
            <a:off x="1077187" y="1272250"/>
            <a:ext cx="7173812" cy="3021968"/>
          </a:xfrm>
          <a:custGeom>
            <a:avLst/>
            <a:gdLst/>
            <a:ahLst/>
            <a:cxnLst/>
            <a:rect l="l" t="t" r="r" b="b"/>
            <a:pathLst>
              <a:path w="7173812" h="3021968">
                <a:moveTo>
                  <a:pt x="0" y="0"/>
                </a:moveTo>
                <a:lnTo>
                  <a:pt x="7173813" y="0"/>
                </a:lnTo>
                <a:lnTo>
                  <a:pt x="7173813" y="3021969"/>
                </a:lnTo>
                <a:lnTo>
                  <a:pt x="0" y="3021969"/>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463164" y="243582"/>
            <a:ext cx="7096286" cy="523875"/>
          </a:xfrm>
          <a:prstGeom prst="rect">
            <a:avLst/>
          </a:prstGeom>
        </p:spPr>
        <p:txBody>
          <a:bodyPr lIns="0" tIns="0" rIns="0" bIns="0" rtlCol="0" anchor="t">
            <a:spAutoFit/>
          </a:bodyPr>
          <a:lstStyle/>
          <a:p>
            <a:pPr algn="l">
              <a:lnSpc>
                <a:spcPts val="3623"/>
              </a:lnSpc>
              <a:spcBef>
                <a:spcPct val="0"/>
              </a:spcBef>
            </a:pPr>
            <a:r>
              <a:rPr lang="en-US" sz="3019" b="1">
                <a:solidFill>
                  <a:srgbClr val="FFFF00"/>
                </a:solidFill>
                <a:latin typeface="Arial Bold"/>
                <a:ea typeface="Arial Bold"/>
                <a:cs typeface="Arial Bold"/>
                <a:sym typeface="Arial Bold"/>
              </a:rPr>
              <a:t>ZooKeeper versioning</a:t>
            </a:r>
          </a:p>
        </p:txBody>
      </p:sp>
      <p:sp>
        <p:nvSpPr>
          <p:cNvPr id="8" name="TextBox 8"/>
          <p:cNvSpPr txBox="1"/>
          <p:nvPr/>
        </p:nvSpPr>
        <p:spPr>
          <a:xfrm>
            <a:off x="287697" y="4664721"/>
            <a:ext cx="9178207" cy="1417037"/>
          </a:xfrm>
          <a:prstGeom prst="rect">
            <a:avLst/>
          </a:prstGeom>
        </p:spPr>
        <p:txBody>
          <a:bodyPr lIns="0" tIns="0" rIns="0" bIns="0" rtlCol="0" anchor="t">
            <a:spAutoFit/>
          </a:bodyPr>
          <a:lstStyle/>
          <a:p>
            <a:pPr algn="l">
              <a:lnSpc>
                <a:spcPts val="2223"/>
              </a:lnSpc>
              <a:spcBef>
                <a:spcPct val="0"/>
              </a:spcBef>
            </a:pPr>
            <a:r>
              <a:rPr lang="en-US" sz="1853" b="1">
                <a:solidFill>
                  <a:srgbClr val="000000"/>
                </a:solidFill>
                <a:latin typeface="Arial Bold"/>
                <a:ea typeface="Arial Bold"/>
                <a:cs typeface="Arial Bold"/>
                <a:sym typeface="Arial Bold"/>
              </a:rPr>
              <a:t>W(n,k)a:</a:t>
            </a:r>
            <a:r>
              <a:rPr lang="en-US" sz="1853">
                <a:solidFill>
                  <a:srgbClr val="000000"/>
                </a:solidFill>
                <a:latin typeface="Arial"/>
                <a:ea typeface="Arial"/>
                <a:cs typeface="Arial"/>
                <a:sym typeface="Arial"/>
              </a:rPr>
              <a:t> Yêu cầu ghi giá trị a vào node n, với giả định rằng phiên bản hiện tại của node là k. </a:t>
            </a:r>
          </a:p>
          <a:p>
            <a:pPr algn="l">
              <a:lnSpc>
                <a:spcPts val="2223"/>
              </a:lnSpc>
              <a:spcBef>
                <a:spcPct val="0"/>
              </a:spcBef>
            </a:pPr>
            <a:r>
              <a:rPr lang="en-US" sz="1853" b="1">
                <a:solidFill>
                  <a:srgbClr val="000000"/>
                </a:solidFill>
                <a:latin typeface="Arial Bold"/>
                <a:ea typeface="Arial Bold"/>
                <a:cs typeface="Arial Bold"/>
                <a:sym typeface="Arial Bold"/>
              </a:rPr>
              <a:t>R(n,k):</a:t>
            </a:r>
            <a:r>
              <a:rPr lang="en-US" sz="1853">
                <a:solidFill>
                  <a:srgbClr val="000000"/>
                </a:solidFill>
                <a:latin typeface="Arial"/>
                <a:ea typeface="Arial"/>
                <a:cs typeface="Arial"/>
                <a:sym typeface="Arial"/>
              </a:rPr>
              <a:t> Phiên bản hiện tại của node n là k. </a:t>
            </a:r>
          </a:p>
          <a:p>
            <a:pPr algn="l">
              <a:lnSpc>
                <a:spcPts val="2223"/>
              </a:lnSpc>
              <a:spcBef>
                <a:spcPct val="0"/>
              </a:spcBef>
            </a:pPr>
            <a:r>
              <a:rPr lang="en-US" sz="1853" b="1">
                <a:solidFill>
                  <a:srgbClr val="000000"/>
                </a:solidFill>
                <a:latin typeface="Arial Bold"/>
                <a:ea typeface="Arial Bold"/>
                <a:cs typeface="Arial Bold"/>
                <a:sym typeface="Arial Bold"/>
              </a:rPr>
              <a:t>R(n): </a:t>
            </a:r>
            <a:r>
              <a:rPr lang="en-US" sz="1853">
                <a:solidFill>
                  <a:srgbClr val="000000"/>
                </a:solidFill>
                <a:latin typeface="Arial"/>
                <a:ea typeface="Arial"/>
                <a:cs typeface="Arial"/>
                <a:sym typeface="Arial"/>
              </a:rPr>
              <a:t>Client muốn biết giá trị hiện tại của node n. </a:t>
            </a:r>
          </a:p>
          <a:p>
            <a:pPr algn="l">
              <a:lnSpc>
                <a:spcPts val="2223"/>
              </a:lnSpc>
              <a:spcBef>
                <a:spcPct val="0"/>
              </a:spcBef>
            </a:pPr>
            <a:r>
              <a:rPr lang="en-US" sz="1853" b="1">
                <a:solidFill>
                  <a:srgbClr val="000000"/>
                </a:solidFill>
                <a:latin typeface="Arial Bold"/>
                <a:ea typeface="Arial Bold"/>
                <a:cs typeface="Arial Bold"/>
                <a:sym typeface="Arial Bold"/>
              </a:rPr>
              <a:t>R(n,k)a:</a:t>
            </a:r>
            <a:r>
              <a:rPr lang="en-US" sz="1853">
                <a:solidFill>
                  <a:srgbClr val="000000"/>
                </a:solidFill>
                <a:latin typeface="Arial"/>
                <a:ea typeface="Arial"/>
                <a:cs typeface="Arial"/>
                <a:sym typeface="Arial"/>
              </a:rPr>
              <a:t> Giá trị a của node n được trả về, kèm theo phiên bản hiện tại k.</a:t>
            </a: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259044" y="141166"/>
            <a:ext cx="7132356" cy="525785"/>
          </a:xfrm>
          <a:prstGeom prst="rect">
            <a:avLst/>
          </a:prstGeom>
        </p:spPr>
        <p:txBody>
          <a:bodyPr wrap="square" lIns="0" tIns="0" rIns="0" bIns="0" rtlCol="0" anchor="t">
            <a:spAutoFit/>
          </a:bodyPr>
          <a:lstStyle/>
          <a:p>
            <a:pPr algn="ctr">
              <a:lnSpc>
                <a:spcPts val="4108"/>
              </a:lnSpc>
              <a:spcBef>
                <a:spcPct val="0"/>
              </a:spcBef>
            </a:pPr>
            <a:r>
              <a:rPr lang="en-US" sz="3423" dirty="0">
                <a:solidFill>
                  <a:srgbClr val="FFFF00"/>
                </a:solidFill>
                <a:latin typeface="Arial"/>
                <a:ea typeface="Arial"/>
                <a:cs typeface="Arial"/>
                <a:sym typeface="Arial"/>
              </a:rPr>
              <a:t>Giao </a:t>
            </a:r>
            <a:r>
              <a:rPr lang="en-US" sz="3423" dirty="0" err="1">
                <a:solidFill>
                  <a:srgbClr val="FFFF00"/>
                </a:solidFill>
                <a:latin typeface="Arial"/>
                <a:ea typeface="Arial"/>
                <a:cs typeface="Arial"/>
                <a:sym typeface="Arial"/>
              </a:rPr>
              <a:t>thức</a:t>
            </a:r>
            <a:r>
              <a:rPr lang="en-US" sz="3423" dirty="0">
                <a:solidFill>
                  <a:srgbClr val="FFFF00"/>
                </a:solidFill>
                <a:latin typeface="Arial"/>
                <a:ea typeface="Arial"/>
                <a:cs typeface="Arial"/>
                <a:sym typeface="Arial"/>
              </a:rPr>
              <a:t> </a:t>
            </a:r>
            <a:r>
              <a:rPr lang="en-US" sz="3423" dirty="0" err="1">
                <a:solidFill>
                  <a:srgbClr val="FFFF00"/>
                </a:solidFill>
                <a:latin typeface="Arial"/>
                <a:ea typeface="Arial"/>
                <a:cs typeface="Arial"/>
                <a:sym typeface="Arial"/>
              </a:rPr>
              <a:t>khóa</a:t>
            </a:r>
            <a:r>
              <a:rPr lang="en-US" sz="3423" dirty="0">
                <a:solidFill>
                  <a:srgbClr val="FFFF00"/>
                </a:solidFill>
                <a:latin typeface="Arial"/>
                <a:ea typeface="Arial"/>
                <a:cs typeface="Arial"/>
                <a:sym typeface="Arial"/>
              </a:rPr>
              <a:t> </a:t>
            </a:r>
            <a:r>
              <a:rPr lang="en-US" sz="3423" dirty="0" err="1">
                <a:solidFill>
                  <a:srgbClr val="FFFF00"/>
                </a:solidFill>
                <a:latin typeface="Arial"/>
                <a:ea typeface="Arial"/>
                <a:cs typeface="Arial"/>
                <a:sym typeface="Arial"/>
              </a:rPr>
              <a:t>trong</a:t>
            </a:r>
            <a:r>
              <a:rPr lang="en-US" sz="3423" dirty="0">
                <a:solidFill>
                  <a:srgbClr val="FFFF00"/>
                </a:solidFill>
                <a:latin typeface="Arial"/>
                <a:ea typeface="Arial"/>
                <a:cs typeface="Arial"/>
                <a:sym typeface="Arial"/>
              </a:rPr>
              <a:t>  </a:t>
            </a:r>
            <a:r>
              <a:rPr lang="en-US" sz="3423" dirty="0" err="1">
                <a:solidFill>
                  <a:srgbClr val="FFFF00"/>
                </a:solidFill>
                <a:latin typeface="Arial"/>
                <a:ea typeface="Arial"/>
                <a:cs typeface="Arial"/>
                <a:sym typeface="Arial"/>
              </a:rPr>
              <a:t>ZooKeeper</a:t>
            </a:r>
            <a:endParaRPr lang="en-US" sz="3423" dirty="0">
              <a:solidFill>
                <a:srgbClr val="FFFF00"/>
              </a:solidFill>
              <a:latin typeface="Arial"/>
              <a:ea typeface="Arial"/>
              <a:cs typeface="Arial"/>
              <a:sym typeface="Arial"/>
            </a:endParaRPr>
          </a:p>
        </p:txBody>
      </p:sp>
      <p:sp>
        <p:nvSpPr>
          <p:cNvPr id="7" name="TextBox 7"/>
          <p:cNvSpPr txBox="1"/>
          <p:nvPr/>
        </p:nvSpPr>
        <p:spPr>
          <a:xfrm>
            <a:off x="243840" y="1465397"/>
            <a:ext cx="9509760" cy="3190875"/>
          </a:xfrm>
          <a:prstGeom prst="rect">
            <a:avLst/>
          </a:prstGeom>
        </p:spPr>
        <p:txBody>
          <a:bodyPr lIns="0" tIns="0" rIns="0" bIns="0" rtlCol="0" anchor="t">
            <a:spAutoFit/>
          </a:bodyPr>
          <a:lstStyle/>
          <a:p>
            <a:pPr algn="l">
              <a:lnSpc>
                <a:spcPts val="2304"/>
              </a:lnSpc>
              <a:spcBef>
                <a:spcPct val="0"/>
              </a:spcBef>
            </a:pPr>
            <a:r>
              <a:rPr lang="en-US" sz="1920" b="1" dirty="0">
                <a:solidFill>
                  <a:srgbClr val="000000"/>
                </a:solidFill>
                <a:latin typeface="Arial Bold"/>
                <a:ea typeface="Arial Bold"/>
                <a:cs typeface="Arial Bold"/>
                <a:sym typeface="Arial Bold"/>
              </a:rPr>
              <a:t>Giao </a:t>
            </a:r>
            <a:r>
              <a:rPr lang="en-US" sz="1920" b="1" dirty="0" err="1">
                <a:solidFill>
                  <a:srgbClr val="000000"/>
                </a:solidFill>
                <a:latin typeface="Arial Bold"/>
                <a:ea typeface="Arial Bold"/>
                <a:cs typeface="Arial Bold"/>
                <a:sym typeface="Arial Bold"/>
              </a:rPr>
              <a:t>thức</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này</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rất</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đơn</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giản</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để</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đảm</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bảo</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loại</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trừ</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lẫn</a:t>
            </a:r>
            <a:r>
              <a:rPr lang="en-US" sz="1920" b="1" dirty="0">
                <a:solidFill>
                  <a:srgbClr val="000000"/>
                </a:solidFill>
                <a:latin typeface="Arial Bold"/>
                <a:ea typeface="Arial Bold"/>
                <a:cs typeface="Arial Bold"/>
                <a:sym typeface="Arial Bold"/>
              </a:rPr>
              <a:t> </a:t>
            </a:r>
            <a:r>
              <a:rPr lang="en-US" sz="1920" b="1" dirty="0" err="1">
                <a:solidFill>
                  <a:srgbClr val="000000"/>
                </a:solidFill>
                <a:latin typeface="Arial Bold"/>
                <a:ea typeface="Arial Bold"/>
                <a:cs typeface="Arial Bold"/>
                <a:sym typeface="Arial Bold"/>
              </a:rPr>
              <a:t>nhau</a:t>
            </a:r>
            <a:r>
              <a:rPr lang="en-US" sz="1920" b="1" dirty="0">
                <a:solidFill>
                  <a:srgbClr val="000000"/>
                </a:solidFill>
                <a:latin typeface="Arial Bold"/>
                <a:ea typeface="Arial Bold"/>
                <a:cs typeface="Arial Bold"/>
                <a:sym typeface="Arial Bold"/>
              </a:rPr>
              <a:t> (Mutual Exclusion):</a:t>
            </a:r>
          </a:p>
          <a:p>
            <a:pPr algn="l">
              <a:lnSpc>
                <a:spcPts val="2304"/>
              </a:lnSpc>
              <a:spcBef>
                <a:spcPct val="0"/>
              </a:spcBef>
            </a:pPr>
            <a:endParaRPr lang="en-US" sz="1920" b="1" dirty="0">
              <a:solidFill>
                <a:srgbClr val="000000"/>
              </a:solidFill>
              <a:latin typeface="Arial Bold"/>
              <a:ea typeface="Arial Bold"/>
              <a:cs typeface="Arial Bold"/>
              <a:sym typeface="Arial Bold"/>
            </a:endParaRPr>
          </a:p>
          <a:p>
            <a:pPr algn="l">
              <a:lnSpc>
                <a:spcPts val="2304"/>
              </a:lnSpc>
              <a:spcBef>
                <a:spcPct val="0"/>
              </a:spcBef>
            </a:pPr>
            <a:endParaRPr lang="en-US" sz="1920" b="1" dirty="0">
              <a:solidFill>
                <a:srgbClr val="000000"/>
              </a:solidFill>
              <a:latin typeface="Arial Bold"/>
              <a:ea typeface="Arial Bold"/>
              <a:cs typeface="Arial Bold"/>
              <a:sym typeface="Arial Bold"/>
            </a:endParaRPr>
          </a:p>
          <a:p>
            <a:pPr algn="l">
              <a:lnSpc>
                <a:spcPts val="2304"/>
              </a:lnSpc>
              <a:spcBef>
                <a:spcPct val="0"/>
              </a:spcBef>
            </a:pPr>
            <a:endParaRPr lang="en-US" sz="1920" b="1" dirty="0">
              <a:solidFill>
                <a:srgbClr val="000000"/>
              </a:solidFill>
              <a:latin typeface="Arial Bold"/>
              <a:ea typeface="Arial Bold"/>
              <a:cs typeface="Arial Bold"/>
              <a:sym typeface="Arial Bold"/>
            </a:endParaRPr>
          </a:p>
          <a:p>
            <a:pPr algn="l">
              <a:lnSpc>
                <a:spcPts val="2304"/>
              </a:lnSpc>
              <a:spcBef>
                <a:spcPct val="0"/>
              </a:spcBef>
            </a:pPr>
            <a:r>
              <a:rPr lang="en-US" sz="1920" dirty="0">
                <a:solidFill>
                  <a:srgbClr val="000000"/>
                </a:solidFill>
                <a:latin typeface="Arial"/>
                <a:ea typeface="Arial"/>
                <a:cs typeface="Arial"/>
                <a:sym typeface="Arial"/>
              </a:rPr>
              <a:t>1. </a:t>
            </a:r>
            <a:r>
              <a:rPr lang="en-US" sz="1920" dirty="0" err="1">
                <a:solidFill>
                  <a:srgbClr val="000000"/>
                </a:solidFill>
                <a:latin typeface="Arial"/>
                <a:ea typeface="Arial"/>
                <a:cs typeface="Arial"/>
                <a:sym typeface="Arial"/>
              </a:rPr>
              <a:t>Khóa</a:t>
            </a:r>
            <a:r>
              <a:rPr lang="en-US" sz="1920" dirty="0">
                <a:solidFill>
                  <a:srgbClr val="000000"/>
                </a:solidFill>
                <a:latin typeface="Arial"/>
                <a:ea typeface="Arial"/>
                <a:cs typeface="Arial"/>
                <a:sym typeface="Arial"/>
              </a:rPr>
              <a:t> (lock): </a:t>
            </a:r>
            <a:r>
              <a:rPr lang="en-US" sz="1920" dirty="0" err="1">
                <a:solidFill>
                  <a:srgbClr val="000000"/>
                </a:solidFill>
                <a:latin typeface="Arial"/>
                <a:ea typeface="Arial"/>
                <a:cs typeface="Arial"/>
                <a:sym typeface="Arial"/>
              </a:rPr>
              <a:t>Một</a:t>
            </a:r>
            <a:r>
              <a:rPr lang="en-US" sz="1920" dirty="0">
                <a:solidFill>
                  <a:srgbClr val="000000"/>
                </a:solidFill>
                <a:latin typeface="Arial"/>
                <a:ea typeface="Arial"/>
                <a:cs typeface="Arial"/>
                <a:sym typeface="Arial"/>
              </a:rPr>
              <a:t> client C1 </a:t>
            </a:r>
            <a:r>
              <a:rPr lang="en-US" sz="1920" dirty="0" err="1">
                <a:solidFill>
                  <a:srgbClr val="000000"/>
                </a:solidFill>
                <a:latin typeface="Arial"/>
                <a:ea typeface="Arial"/>
                <a:cs typeface="Arial"/>
                <a:sym typeface="Arial"/>
              </a:rPr>
              <a:t>tạo</a:t>
            </a:r>
            <a:r>
              <a:rPr lang="en-US" sz="1920" dirty="0">
                <a:solidFill>
                  <a:srgbClr val="000000"/>
                </a:solidFill>
                <a:latin typeface="Arial"/>
                <a:ea typeface="Arial"/>
                <a:cs typeface="Arial"/>
                <a:sym typeface="Arial"/>
              </a:rPr>
              <a:t> node /lock.</a:t>
            </a:r>
          </a:p>
          <a:p>
            <a:pPr algn="l">
              <a:lnSpc>
                <a:spcPts val="2304"/>
              </a:lnSpc>
              <a:spcBef>
                <a:spcPct val="0"/>
              </a:spcBef>
            </a:pPr>
            <a:endParaRPr lang="en-US" sz="1920" dirty="0">
              <a:solidFill>
                <a:srgbClr val="000000"/>
              </a:solidFill>
              <a:latin typeface="Arial"/>
              <a:ea typeface="Arial"/>
              <a:cs typeface="Arial"/>
              <a:sym typeface="Arial"/>
            </a:endParaRPr>
          </a:p>
          <a:p>
            <a:pPr algn="l">
              <a:lnSpc>
                <a:spcPts val="2304"/>
              </a:lnSpc>
              <a:spcBef>
                <a:spcPct val="0"/>
              </a:spcBef>
            </a:pPr>
            <a:r>
              <a:rPr lang="en-US" sz="1920" dirty="0">
                <a:solidFill>
                  <a:srgbClr val="000000"/>
                </a:solidFill>
                <a:latin typeface="Arial"/>
                <a:ea typeface="Arial"/>
                <a:cs typeface="Arial"/>
                <a:sym typeface="Arial"/>
              </a:rPr>
              <a:t>2. </a:t>
            </a:r>
            <a:r>
              <a:rPr lang="en-US" sz="1920" dirty="0" err="1">
                <a:solidFill>
                  <a:srgbClr val="000000"/>
                </a:solidFill>
                <a:latin typeface="Arial"/>
                <a:ea typeface="Arial"/>
                <a:cs typeface="Arial"/>
                <a:sym typeface="Arial"/>
              </a:rPr>
              <a:t>Khóa</a:t>
            </a:r>
            <a:r>
              <a:rPr lang="en-US" sz="1920" dirty="0">
                <a:solidFill>
                  <a:srgbClr val="000000"/>
                </a:solidFill>
                <a:latin typeface="Arial"/>
                <a:ea typeface="Arial"/>
                <a:cs typeface="Arial"/>
                <a:sym typeface="Arial"/>
              </a:rPr>
              <a:t> (lock): </a:t>
            </a:r>
            <a:r>
              <a:rPr lang="en-US" sz="1920" dirty="0" err="1">
                <a:solidFill>
                  <a:srgbClr val="000000"/>
                </a:solidFill>
                <a:latin typeface="Arial"/>
                <a:ea typeface="Arial"/>
                <a:cs typeface="Arial"/>
                <a:sym typeface="Arial"/>
              </a:rPr>
              <a:t>Một</a:t>
            </a:r>
            <a:r>
              <a:rPr lang="en-US" sz="1920" dirty="0">
                <a:solidFill>
                  <a:srgbClr val="000000"/>
                </a:solidFill>
                <a:latin typeface="Arial"/>
                <a:ea typeface="Arial"/>
                <a:cs typeface="Arial"/>
                <a:sym typeface="Arial"/>
              </a:rPr>
              <a:t> client C2 </a:t>
            </a:r>
            <a:r>
              <a:rPr lang="en-US" sz="1920" dirty="0" err="1">
                <a:solidFill>
                  <a:srgbClr val="000000"/>
                </a:solidFill>
                <a:latin typeface="Arial"/>
                <a:ea typeface="Arial"/>
                <a:cs typeface="Arial"/>
                <a:sym typeface="Arial"/>
              </a:rPr>
              <a:t>muốn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lấy</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khóa</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nhưng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nhận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được</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thông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báo</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rằng</a:t>
            </a:r>
            <a:r>
              <a:rPr lang="en-US" sz="1920" dirty="0">
                <a:solidFill>
                  <a:srgbClr val="000000"/>
                </a:solidFill>
                <a:latin typeface="Arial"/>
                <a:ea typeface="Arial"/>
                <a:cs typeface="Arial"/>
                <a:sym typeface="Arial"/>
              </a:rPr>
              <a:t> node /lock </a:t>
            </a:r>
            <a:r>
              <a:rPr lang="en-US" sz="1920" dirty="0" err="1">
                <a:solidFill>
                  <a:srgbClr val="000000"/>
                </a:solidFill>
                <a:latin typeface="Arial"/>
                <a:ea typeface="Arial"/>
                <a:cs typeface="Arial"/>
                <a:sym typeface="Arial"/>
              </a:rPr>
              <a:t>đã</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tồn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tại</a:t>
            </a:r>
            <a:r>
              <a:rPr lang="en-US" sz="1920" dirty="0">
                <a:solidFill>
                  <a:srgbClr val="000000"/>
                </a:solidFill>
                <a:latin typeface="Arial"/>
                <a:ea typeface="Arial"/>
                <a:cs typeface="Arial"/>
                <a:sym typeface="Arial"/>
              </a:rPr>
              <a:t> ⇒ C2 </a:t>
            </a:r>
            <a:r>
              <a:rPr lang="en-US" sz="1920" dirty="0" err="1">
                <a:solidFill>
                  <a:srgbClr val="000000"/>
                </a:solidFill>
                <a:latin typeface="Arial"/>
                <a:ea typeface="Arial"/>
                <a:cs typeface="Arial"/>
                <a:sym typeface="Arial"/>
              </a:rPr>
              <a:t>đăng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ký</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nhận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thông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báo</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khi</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có</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thay</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đổi</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trên</a:t>
            </a:r>
            <a:r>
              <a:rPr lang="en-US" sz="1920" dirty="0">
                <a:solidFill>
                  <a:srgbClr val="000000"/>
                </a:solidFill>
                <a:latin typeface="Arial"/>
                <a:ea typeface="Arial"/>
                <a:cs typeface="Arial"/>
                <a:sym typeface="Arial"/>
              </a:rPr>
              <a:t> /lock.</a:t>
            </a:r>
          </a:p>
          <a:p>
            <a:pPr algn="l">
              <a:lnSpc>
                <a:spcPts val="2304"/>
              </a:lnSpc>
              <a:spcBef>
                <a:spcPct val="0"/>
              </a:spcBef>
            </a:pPr>
            <a:endParaRPr lang="en-US" sz="1920" dirty="0">
              <a:solidFill>
                <a:srgbClr val="000000"/>
              </a:solidFill>
              <a:latin typeface="Arial"/>
              <a:ea typeface="Arial"/>
              <a:cs typeface="Arial"/>
              <a:sym typeface="Arial"/>
            </a:endParaRPr>
          </a:p>
          <a:p>
            <a:pPr algn="l">
              <a:lnSpc>
                <a:spcPts val="2304"/>
              </a:lnSpc>
              <a:spcBef>
                <a:spcPct val="0"/>
              </a:spcBef>
            </a:pPr>
            <a:r>
              <a:rPr lang="en-US" sz="1920" dirty="0">
                <a:solidFill>
                  <a:srgbClr val="000000"/>
                </a:solidFill>
                <a:latin typeface="Arial"/>
                <a:ea typeface="Arial"/>
                <a:cs typeface="Arial"/>
                <a:sym typeface="Arial"/>
              </a:rPr>
              <a:t>3. </a:t>
            </a:r>
            <a:r>
              <a:rPr lang="en-US" sz="1920" dirty="0" err="1">
                <a:solidFill>
                  <a:srgbClr val="000000"/>
                </a:solidFill>
                <a:latin typeface="Arial"/>
                <a:ea typeface="Arial"/>
                <a:cs typeface="Arial"/>
                <a:sym typeface="Arial"/>
              </a:rPr>
              <a:t>Mở</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khóa</a:t>
            </a:r>
            <a:r>
              <a:rPr lang="en-US" sz="1920" dirty="0">
                <a:solidFill>
                  <a:srgbClr val="000000"/>
                </a:solidFill>
                <a:latin typeface="Arial"/>
                <a:ea typeface="Arial"/>
                <a:cs typeface="Arial"/>
                <a:sym typeface="Arial"/>
              </a:rPr>
              <a:t> (unlock): Khi C1 </a:t>
            </a:r>
            <a:r>
              <a:rPr lang="en-US" sz="1920" dirty="0" err="1">
                <a:solidFill>
                  <a:srgbClr val="000000"/>
                </a:solidFill>
                <a:latin typeface="Arial"/>
                <a:ea typeface="Arial"/>
                <a:cs typeface="Arial"/>
                <a:sym typeface="Arial"/>
              </a:rPr>
              <a:t>xóa</a:t>
            </a:r>
            <a:r>
              <a:rPr lang="en-US" sz="1920" dirty="0">
                <a:solidFill>
                  <a:srgbClr val="000000"/>
                </a:solidFill>
                <a:latin typeface="Arial"/>
                <a:ea typeface="Arial"/>
                <a:cs typeface="Arial"/>
                <a:sym typeface="Arial"/>
              </a:rPr>
              <a:t> node /lock, </a:t>
            </a:r>
            <a:r>
              <a:rPr lang="en-US" sz="1920" dirty="0" err="1">
                <a:solidFill>
                  <a:srgbClr val="000000"/>
                </a:solidFill>
                <a:latin typeface="Arial"/>
                <a:ea typeface="Arial"/>
                <a:cs typeface="Arial"/>
                <a:sym typeface="Arial"/>
              </a:rPr>
              <a:t>tất</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cả</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các</a:t>
            </a:r>
            <a:r>
              <a:rPr lang="en-US" sz="1920" dirty="0">
                <a:solidFill>
                  <a:srgbClr val="000000"/>
                </a:solidFill>
                <a:latin typeface="Arial"/>
                <a:ea typeface="Arial"/>
                <a:cs typeface="Arial"/>
                <a:sym typeface="Arial"/>
              </a:rPr>
              <a:t> client </a:t>
            </a:r>
            <a:r>
              <a:rPr lang="en-US" sz="1920" dirty="0" err="1">
                <a:solidFill>
                  <a:srgbClr val="000000"/>
                </a:solidFill>
                <a:latin typeface="Arial"/>
                <a:ea typeface="Arial"/>
                <a:cs typeface="Arial"/>
                <a:sym typeface="Arial"/>
              </a:rPr>
              <a:t>đã</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đăng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ký</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nhận</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thông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báo</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về</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sự</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thay</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đổi</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sẽ</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được</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thông</a:t>
            </a:r>
            <a:r>
              <a:rPr lang="en-US" sz="1920" dirty="0">
                <a:solidFill>
                  <a:srgbClr val="000000"/>
                </a:solidFill>
                <a:latin typeface="Arial"/>
                <a:ea typeface="Arial"/>
                <a:cs typeface="Arial"/>
                <a:sym typeface="Arial"/>
              </a:rPr>
              <a:t> </a:t>
            </a:r>
            <a:r>
              <a:rPr lang="en-US" sz="1920" dirty="0" err="1">
                <a:solidFill>
                  <a:srgbClr val="000000"/>
                </a:solidFill>
                <a:latin typeface="Arial"/>
                <a:ea typeface="Arial"/>
                <a:cs typeface="Arial"/>
                <a:sym typeface="Arial"/>
              </a:rPr>
              <a:t>báo</a:t>
            </a:r>
            <a:r>
              <a:rPr lang="en-US" sz="1920" dirty="0">
                <a:solidFill>
                  <a:srgbClr val="000000"/>
                </a:solidFill>
                <a:latin typeface="Arial"/>
                <a:ea typeface="Arial"/>
                <a:cs typeface="Arial"/>
                <a:sym typeface="Arial"/>
              </a:rPr>
              <a:t>.</a:t>
            </a: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236451" y="294069"/>
            <a:ext cx="9029469" cy="1441645"/>
            <a:chOff x="0" y="0"/>
            <a:chExt cx="12039292" cy="1922193"/>
          </a:xfrm>
        </p:grpSpPr>
        <p:sp>
          <p:nvSpPr>
            <p:cNvPr id="4" name="Freeform 4"/>
            <p:cNvSpPr/>
            <p:nvPr/>
          </p:nvSpPr>
          <p:spPr>
            <a:xfrm>
              <a:off x="0" y="0"/>
              <a:ext cx="12039291" cy="1922193"/>
            </a:xfrm>
            <a:custGeom>
              <a:avLst/>
              <a:gdLst/>
              <a:ahLst/>
              <a:cxnLst/>
              <a:rect l="l" t="t" r="r" b="b"/>
              <a:pathLst>
                <a:path w="12039291" h="1922193">
                  <a:moveTo>
                    <a:pt x="0" y="0"/>
                  </a:moveTo>
                  <a:lnTo>
                    <a:pt x="12039291" y="0"/>
                  </a:lnTo>
                  <a:lnTo>
                    <a:pt x="12039291" y="1922193"/>
                  </a:lnTo>
                  <a:lnTo>
                    <a:pt x="0" y="1922193"/>
                  </a:lnTo>
                  <a:close/>
                </a:path>
              </a:pathLst>
            </a:custGeom>
            <a:solidFill>
              <a:srgbClr val="000000">
                <a:alpha val="0"/>
              </a:srgbClr>
            </a:solidFill>
          </p:spPr>
          <p:txBody>
            <a:bodyPr/>
            <a:lstStyle/>
            <a:p>
              <a:endParaRPr lang="en-US"/>
            </a:p>
          </p:txBody>
        </p:sp>
        <p:sp>
          <p:nvSpPr>
            <p:cNvPr id="5" name="TextBox 5"/>
            <p:cNvSpPr txBox="1"/>
            <p:nvPr/>
          </p:nvSpPr>
          <p:spPr>
            <a:xfrm>
              <a:off x="0" y="-57150"/>
              <a:ext cx="12039292" cy="1979343"/>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Thuật toán bầu chọn</a:t>
              </a:r>
            </a:p>
            <a:p>
              <a:pPr algn="l">
                <a:lnSpc>
                  <a:spcPts val="3583"/>
                </a:lnSpc>
              </a:pPr>
              <a:endParaRPr lang="en-US" sz="2986" b="1">
                <a:solidFill>
                  <a:srgbClr val="FFFF00"/>
                </a:solidFill>
                <a:latin typeface="Arial Bold"/>
                <a:ea typeface="Arial Bold"/>
                <a:cs typeface="Arial Bold"/>
                <a:sym typeface="Arial Bold"/>
              </a:endParaRPr>
            </a:p>
            <a:p>
              <a:pPr algn="l">
                <a:lnSpc>
                  <a:spcPts val="3583"/>
                </a:lnSpc>
              </a:pPr>
              <a:endParaRPr lang="en-US" sz="2986" b="1">
                <a:solidFill>
                  <a:srgbClr val="FFFF00"/>
                </a:solidFill>
                <a:latin typeface="Arial Bold"/>
                <a:ea typeface="Arial Bold"/>
                <a:cs typeface="Arial Bold"/>
                <a:sym typeface="Arial Bold"/>
              </a:endParaRPr>
            </a:p>
          </p:txBody>
        </p:sp>
      </p:grpSp>
      <p:sp>
        <p:nvSpPr>
          <p:cNvPr id="6" name="TextBox 6"/>
          <p:cNvSpPr txBox="1"/>
          <p:nvPr/>
        </p:nvSpPr>
        <p:spPr>
          <a:xfrm>
            <a:off x="236451" y="1564263"/>
            <a:ext cx="8453154" cy="447675"/>
          </a:xfrm>
          <a:prstGeom prst="rect">
            <a:avLst/>
          </a:prstGeom>
        </p:spPr>
        <p:txBody>
          <a:bodyPr lIns="0" tIns="0" rIns="0" bIns="0" rtlCol="0" anchor="t">
            <a:spAutoFit/>
          </a:bodyPr>
          <a:lstStyle/>
          <a:p>
            <a:pPr algn="just">
              <a:lnSpc>
                <a:spcPts val="3120"/>
              </a:lnSpc>
              <a:spcBef>
                <a:spcPct val="0"/>
              </a:spcBef>
            </a:pPr>
            <a:r>
              <a:rPr lang="en-US" sz="2600" b="1">
                <a:solidFill>
                  <a:srgbClr val="000000"/>
                </a:solidFill>
                <a:latin typeface="Arial Bold"/>
                <a:ea typeface="Arial Bold"/>
                <a:cs typeface="Arial Bold"/>
                <a:sym typeface="Arial Bold"/>
              </a:rPr>
              <a:t>Thuật toán bầu chọn (Election algorithms)</a:t>
            </a:r>
          </a:p>
        </p:txBody>
      </p:sp>
      <p:sp>
        <p:nvSpPr>
          <p:cNvPr id="7" name="TextBox 7"/>
          <p:cNvSpPr txBox="1"/>
          <p:nvPr/>
        </p:nvSpPr>
        <p:spPr>
          <a:xfrm>
            <a:off x="512636" y="2184688"/>
            <a:ext cx="8753284" cy="2714625"/>
          </a:xfrm>
          <a:prstGeom prst="rect">
            <a:avLst/>
          </a:prstGeom>
        </p:spPr>
        <p:txBody>
          <a:bodyPr lIns="0" tIns="0" rIns="0" bIns="0" rtlCol="0" anchor="t">
            <a:spAutoFit/>
          </a:bodyPr>
          <a:lstStyle/>
          <a:p>
            <a:pPr algn="just">
              <a:lnSpc>
                <a:spcPts val="2400"/>
              </a:lnSpc>
            </a:pPr>
            <a:r>
              <a:rPr lang="en-US" sz="2000" b="1">
                <a:solidFill>
                  <a:srgbClr val="000000"/>
                </a:solidFill>
                <a:latin typeface="Arial Bold"/>
                <a:ea typeface="Arial Bold"/>
                <a:cs typeface="Arial Bold"/>
                <a:sym typeface="Arial Bold"/>
              </a:rPr>
              <a:t>Nguyên tắc:</a:t>
            </a:r>
          </a:p>
          <a:p>
            <a:pPr algn="just">
              <a:lnSpc>
                <a:spcPts val="2400"/>
              </a:lnSpc>
            </a:pPr>
            <a:r>
              <a:rPr lang="en-US" sz="2000">
                <a:solidFill>
                  <a:srgbClr val="000000"/>
                </a:solidFill>
                <a:latin typeface="Arial"/>
                <a:ea typeface="Arial"/>
                <a:cs typeface="Arial"/>
                <a:sym typeface="Arial"/>
              </a:rPr>
              <a:t>Một thuật toán yêu cầu rằng một số tiến trình đóng vai trò là điều phối viên. Câu hỏi đặt ra là làm thế nào để chọn tiến trình đặc biệt này một cách động.</a:t>
            </a:r>
          </a:p>
          <a:p>
            <a:pPr algn="just">
              <a:lnSpc>
                <a:spcPts val="2400"/>
              </a:lnSpc>
            </a:pPr>
            <a:r>
              <a:rPr lang="en-US" sz="2000" b="1">
                <a:solidFill>
                  <a:srgbClr val="000000"/>
                </a:solidFill>
                <a:latin typeface="Arial Bold"/>
                <a:ea typeface="Arial Bold"/>
                <a:cs typeface="Arial Bold"/>
                <a:sym typeface="Arial Bold"/>
              </a:rPr>
              <a:t>Lưu ý:</a:t>
            </a:r>
          </a:p>
          <a:p>
            <a:pPr algn="just">
              <a:lnSpc>
                <a:spcPts val="2400"/>
              </a:lnSpc>
            </a:pPr>
            <a:r>
              <a:rPr lang="en-US" sz="2000">
                <a:solidFill>
                  <a:srgbClr val="000000"/>
                </a:solidFill>
                <a:latin typeface="Arial"/>
                <a:ea typeface="Arial"/>
                <a:cs typeface="Arial"/>
                <a:sym typeface="Arial"/>
              </a:rPr>
              <a:t>Trong nhiều hệ thống, điều phối viên được chọn thủ công (ví dụ: máy chủ tệp). Điều này dẫn đến các giải pháp tập trung ⇒ điểm lỗi đơn (single point of failure).</a:t>
            </a:r>
          </a:p>
          <a:p>
            <a:pPr algn="just">
              <a:lnSpc>
                <a:spcPts val="2160"/>
              </a:lnSpc>
            </a:pPr>
            <a:endParaRPr lang="en-US" sz="2000">
              <a:solidFill>
                <a:srgbClr val="000000"/>
              </a:solidFill>
              <a:latin typeface="Arial"/>
              <a:ea typeface="Arial"/>
              <a:cs typeface="Arial"/>
              <a:sym typeface="Arial"/>
            </a:endParaRPr>
          </a:p>
          <a:p>
            <a:pPr algn="just">
              <a:lnSpc>
                <a:spcPts val="2160"/>
              </a:lnSpc>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236451" y="294069"/>
            <a:ext cx="9029469" cy="1441645"/>
            <a:chOff x="0" y="0"/>
            <a:chExt cx="12039292" cy="1922193"/>
          </a:xfrm>
        </p:grpSpPr>
        <p:sp>
          <p:nvSpPr>
            <p:cNvPr id="4" name="Freeform 4"/>
            <p:cNvSpPr/>
            <p:nvPr/>
          </p:nvSpPr>
          <p:spPr>
            <a:xfrm>
              <a:off x="0" y="0"/>
              <a:ext cx="12039291" cy="1922193"/>
            </a:xfrm>
            <a:custGeom>
              <a:avLst/>
              <a:gdLst/>
              <a:ahLst/>
              <a:cxnLst/>
              <a:rect l="l" t="t" r="r" b="b"/>
              <a:pathLst>
                <a:path w="12039291" h="1922193">
                  <a:moveTo>
                    <a:pt x="0" y="0"/>
                  </a:moveTo>
                  <a:lnTo>
                    <a:pt x="12039291" y="0"/>
                  </a:lnTo>
                  <a:lnTo>
                    <a:pt x="12039291" y="1922193"/>
                  </a:lnTo>
                  <a:lnTo>
                    <a:pt x="0" y="1922193"/>
                  </a:lnTo>
                  <a:close/>
                </a:path>
              </a:pathLst>
            </a:custGeom>
            <a:solidFill>
              <a:srgbClr val="000000">
                <a:alpha val="0"/>
              </a:srgbClr>
            </a:solidFill>
          </p:spPr>
          <p:txBody>
            <a:bodyPr/>
            <a:lstStyle/>
            <a:p>
              <a:endParaRPr lang="en-US"/>
            </a:p>
          </p:txBody>
        </p:sp>
        <p:sp>
          <p:nvSpPr>
            <p:cNvPr id="5" name="TextBox 5"/>
            <p:cNvSpPr txBox="1"/>
            <p:nvPr/>
          </p:nvSpPr>
          <p:spPr>
            <a:xfrm>
              <a:off x="0" y="-57150"/>
              <a:ext cx="12039292" cy="1979343"/>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Thuật toán bầu chọn</a:t>
              </a:r>
            </a:p>
            <a:p>
              <a:pPr algn="l">
                <a:lnSpc>
                  <a:spcPts val="3583"/>
                </a:lnSpc>
              </a:pPr>
              <a:endParaRPr lang="en-US" sz="2986" b="1">
                <a:solidFill>
                  <a:srgbClr val="FFFF00"/>
                </a:solidFill>
                <a:latin typeface="Arial Bold"/>
                <a:ea typeface="Arial Bold"/>
                <a:cs typeface="Arial Bold"/>
                <a:sym typeface="Arial Bold"/>
              </a:endParaRPr>
            </a:p>
            <a:p>
              <a:pPr algn="l">
                <a:lnSpc>
                  <a:spcPts val="3583"/>
                </a:lnSpc>
              </a:pPr>
              <a:endParaRPr lang="en-US" sz="2986" b="1">
                <a:solidFill>
                  <a:srgbClr val="FFFF00"/>
                </a:solidFill>
                <a:latin typeface="Arial Bold"/>
                <a:ea typeface="Arial Bold"/>
                <a:cs typeface="Arial Bold"/>
                <a:sym typeface="Arial Bold"/>
              </a:endParaRPr>
            </a:p>
          </p:txBody>
        </p:sp>
      </p:grpSp>
      <p:sp>
        <p:nvSpPr>
          <p:cNvPr id="6" name="TextBox 6"/>
          <p:cNvSpPr txBox="1"/>
          <p:nvPr/>
        </p:nvSpPr>
        <p:spPr>
          <a:xfrm>
            <a:off x="236451" y="1440438"/>
            <a:ext cx="8453154"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Nguyên tắc (Principle)</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
        <p:nvSpPr>
          <p:cNvPr id="7" name="TextBox 7"/>
          <p:cNvSpPr txBox="1"/>
          <p:nvPr/>
        </p:nvSpPr>
        <p:spPr>
          <a:xfrm>
            <a:off x="512636" y="1971910"/>
            <a:ext cx="8753284" cy="4314825"/>
          </a:xfrm>
          <a:prstGeom prst="rect">
            <a:avLst/>
          </a:prstGeom>
        </p:spPr>
        <p:txBody>
          <a:bodyPr lIns="0" tIns="0" rIns="0" bIns="0" rtlCol="0" anchor="t">
            <a:spAutoFit/>
          </a:bodyPr>
          <a:lstStyle/>
          <a:p>
            <a:pPr algn="just">
              <a:lnSpc>
                <a:spcPts val="2400"/>
              </a:lnSpc>
            </a:pPr>
            <a:r>
              <a:rPr lang="en-US" sz="2000">
                <a:solidFill>
                  <a:srgbClr val="000000"/>
                </a:solidFill>
                <a:latin typeface="Arial"/>
                <a:ea typeface="Arial"/>
                <a:cs typeface="Arial"/>
                <a:sym typeface="Arial"/>
              </a:rPr>
              <a:t>Một thuật toán yêu cầu rằng một số tiến trình đóng vai trò là điều phối viên. Câu hỏi đặt ra là làm thế nào để chọn tiến trình đặc biệt này một cách động.</a:t>
            </a:r>
          </a:p>
          <a:p>
            <a:pPr algn="just">
              <a:lnSpc>
                <a:spcPts val="2400"/>
              </a:lnSpc>
            </a:pPr>
            <a:r>
              <a:rPr lang="en-US" sz="2000" b="1">
                <a:solidFill>
                  <a:srgbClr val="000000"/>
                </a:solidFill>
                <a:latin typeface="Arial Bold"/>
                <a:ea typeface="Arial Bold"/>
                <a:cs typeface="Arial Bold"/>
                <a:sym typeface="Arial Bold"/>
              </a:rPr>
              <a:t>Lưu ý:</a:t>
            </a:r>
          </a:p>
          <a:p>
            <a:pPr algn="just">
              <a:lnSpc>
                <a:spcPts val="2400"/>
              </a:lnSpc>
            </a:pPr>
            <a:r>
              <a:rPr lang="en-US" sz="2000">
                <a:solidFill>
                  <a:srgbClr val="000000"/>
                </a:solidFill>
                <a:latin typeface="Arial"/>
                <a:ea typeface="Arial"/>
                <a:cs typeface="Arial"/>
                <a:sym typeface="Arial"/>
              </a:rPr>
              <a:t>Trong nhiều hệ thống, điều phối viên được chọn thủ công (ví dụ: máy chủ tệp). Điều này dẫn đến các giải pháp tập trung ⇒ điểm lỗi đơn (single point of failure).</a:t>
            </a:r>
          </a:p>
          <a:p>
            <a:pPr algn="just">
              <a:lnSpc>
                <a:spcPts val="2400"/>
              </a:lnSpc>
            </a:pPr>
            <a:r>
              <a:rPr lang="en-US" sz="2000" b="1">
                <a:solidFill>
                  <a:srgbClr val="000000"/>
                </a:solidFill>
                <a:latin typeface="Arial Bold"/>
                <a:ea typeface="Arial Bold"/>
                <a:cs typeface="Arial Bold"/>
                <a:sym typeface="Arial Bold"/>
              </a:rPr>
              <a:t>Câu hỏi thảo luận (Teasers)</a:t>
            </a:r>
          </a:p>
          <a:p>
            <a:pPr algn="just">
              <a:lnSpc>
                <a:spcPts val="2400"/>
              </a:lnSpc>
            </a:pPr>
            <a:r>
              <a:rPr lang="en-US" sz="2000">
                <a:solidFill>
                  <a:srgbClr val="000000"/>
                </a:solidFill>
                <a:latin typeface="Arial"/>
                <a:ea typeface="Arial"/>
                <a:cs typeface="Arial"/>
                <a:sym typeface="Arial"/>
              </a:rPr>
              <a:t>    1.Nếu một điều phối viên được chọn một cách động, chúng ta có thể coi       đó là một giải pháp tập trung hay phân tán đến mức nào?</a:t>
            </a:r>
          </a:p>
          <a:p>
            <a:pPr algn="just">
              <a:lnSpc>
                <a:spcPts val="2400"/>
              </a:lnSpc>
            </a:pPr>
            <a:r>
              <a:rPr lang="en-US" sz="2000">
                <a:solidFill>
                  <a:srgbClr val="000000"/>
                </a:solidFill>
                <a:latin typeface="Arial"/>
                <a:ea typeface="Arial"/>
                <a:cs typeface="Arial"/>
                <a:sym typeface="Arial"/>
              </a:rPr>
              <a:t>    2.Một giải pháp hoàn toàn phân tán, tức là không có điều phối viên, có luôn luôn mạnh mẽ hơn bất kỳ giải pháp tập trung/phối hợp nào không?</a:t>
            </a:r>
          </a:p>
          <a:p>
            <a:pPr algn="just">
              <a:lnSpc>
                <a:spcPts val="2400"/>
              </a:lnSpc>
            </a:pPr>
            <a:endParaRPr lang="en-US" sz="2000">
              <a:solidFill>
                <a:srgbClr val="000000"/>
              </a:solidFill>
              <a:latin typeface="Arial"/>
              <a:ea typeface="Arial"/>
              <a:cs typeface="Arial"/>
              <a:sym typeface="Arial"/>
            </a:endParaRPr>
          </a:p>
          <a:p>
            <a:pPr algn="just">
              <a:lnSpc>
                <a:spcPts val="2400"/>
              </a:lnSpc>
            </a:pPr>
            <a:endParaRPr lang="en-US" sz="2000">
              <a:solidFill>
                <a:srgbClr val="000000"/>
              </a:solidFill>
              <a:latin typeface="Arial"/>
              <a:ea typeface="Arial"/>
              <a:cs typeface="Arial"/>
              <a:sym typeface="Arial"/>
            </a:endParaRPr>
          </a:p>
          <a:p>
            <a:pPr algn="just">
              <a:lnSpc>
                <a:spcPts val="2400"/>
              </a:lnSpc>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236451" y="294069"/>
            <a:ext cx="9029469" cy="1441645"/>
            <a:chOff x="0" y="0"/>
            <a:chExt cx="12039292" cy="1922193"/>
          </a:xfrm>
        </p:grpSpPr>
        <p:sp>
          <p:nvSpPr>
            <p:cNvPr id="4" name="Freeform 4"/>
            <p:cNvSpPr/>
            <p:nvPr/>
          </p:nvSpPr>
          <p:spPr>
            <a:xfrm>
              <a:off x="0" y="0"/>
              <a:ext cx="12039291" cy="1922193"/>
            </a:xfrm>
            <a:custGeom>
              <a:avLst/>
              <a:gdLst/>
              <a:ahLst/>
              <a:cxnLst/>
              <a:rect l="l" t="t" r="r" b="b"/>
              <a:pathLst>
                <a:path w="12039291" h="1922193">
                  <a:moveTo>
                    <a:pt x="0" y="0"/>
                  </a:moveTo>
                  <a:lnTo>
                    <a:pt x="12039291" y="0"/>
                  </a:lnTo>
                  <a:lnTo>
                    <a:pt x="12039291" y="1922193"/>
                  </a:lnTo>
                  <a:lnTo>
                    <a:pt x="0" y="1922193"/>
                  </a:lnTo>
                  <a:close/>
                </a:path>
              </a:pathLst>
            </a:custGeom>
            <a:solidFill>
              <a:srgbClr val="000000">
                <a:alpha val="0"/>
              </a:srgbClr>
            </a:solidFill>
          </p:spPr>
          <p:txBody>
            <a:bodyPr/>
            <a:lstStyle/>
            <a:p>
              <a:endParaRPr lang="en-US"/>
            </a:p>
          </p:txBody>
        </p:sp>
        <p:sp>
          <p:nvSpPr>
            <p:cNvPr id="5" name="TextBox 5"/>
            <p:cNvSpPr txBox="1"/>
            <p:nvPr/>
          </p:nvSpPr>
          <p:spPr>
            <a:xfrm>
              <a:off x="0" y="-57150"/>
              <a:ext cx="12039292" cy="1979343"/>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Thuật toán bầu chọn</a:t>
              </a:r>
            </a:p>
            <a:p>
              <a:pPr algn="l">
                <a:lnSpc>
                  <a:spcPts val="3583"/>
                </a:lnSpc>
              </a:pPr>
              <a:endParaRPr lang="en-US" sz="2986" b="1">
                <a:solidFill>
                  <a:srgbClr val="FFFF00"/>
                </a:solidFill>
                <a:latin typeface="Arial Bold"/>
                <a:ea typeface="Arial Bold"/>
                <a:cs typeface="Arial Bold"/>
                <a:sym typeface="Arial Bold"/>
              </a:endParaRPr>
            </a:p>
            <a:p>
              <a:pPr algn="l">
                <a:lnSpc>
                  <a:spcPts val="3583"/>
                </a:lnSpc>
              </a:pPr>
              <a:endParaRPr lang="en-US" sz="2986" b="1">
                <a:solidFill>
                  <a:srgbClr val="FFFF00"/>
                </a:solidFill>
                <a:latin typeface="Arial Bold"/>
                <a:ea typeface="Arial Bold"/>
                <a:cs typeface="Arial Bold"/>
                <a:sym typeface="Arial Bold"/>
              </a:endParaRPr>
            </a:p>
          </p:txBody>
        </p:sp>
      </p:grpSp>
      <p:sp>
        <p:nvSpPr>
          <p:cNvPr id="6" name="TextBox 6"/>
          <p:cNvSpPr txBox="1"/>
          <p:nvPr/>
        </p:nvSpPr>
        <p:spPr>
          <a:xfrm>
            <a:off x="236451" y="1488063"/>
            <a:ext cx="8453154"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Các giả định cơ bản (Basic assumptions)</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
        <p:nvSpPr>
          <p:cNvPr id="7" name="TextBox 7"/>
          <p:cNvSpPr txBox="1"/>
          <p:nvPr/>
        </p:nvSpPr>
        <p:spPr>
          <a:xfrm>
            <a:off x="512636" y="2108488"/>
            <a:ext cx="8753284" cy="2790825"/>
          </a:xfrm>
          <a:prstGeom prst="rect">
            <a:avLst/>
          </a:prstGeom>
        </p:spPr>
        <p:txBody>
          <a:bodyPr lIns="0" tIns="0" rIns="0" bIns="0" rtlCol="0" anchor="t">
            <a:spAutoFit/>
          </a:bodyPr>
          <a:lstStyle/>
          <a:p>
            <a:pPr marL="431801" lvl="1" indent="-215900" algn="just">
              <a:lnSpc>
                <a:spcPts val="2400"/>
              </a:lnSpc>
              <a:buFont typeface="Arial"/>
              <a:buChar char="•"/>
            </a:pPr>
            <a:r>
              <a:rPr lang="en-US" sz="2000">
                <a:solidFill>
                  <a:srgbClr val="000000"/>
                </a:solidFill>
                <a:latin typeface="Arial"/>
                <a:ea typeface="Arial"/>
                <a:cs typeface="Arial"/>
                <a:sym typeface="Arial"/>
              </a:rPr>
              <a:t>Tất cả các tiến trình có ID duy nhất.</a:t>
            </a:r>
          </a:p>
          <a:p>
            <a:pPr marL="431801" lvl="1" indent="-215900" algn="just">
              <a:lnSpc>
                <a:spcPts val="2400"/>
              </a:lnSpc>
              <a:buFont typeface="Arial"/>
              <a:buChar char="•"/>
            </a:pPr>
            <a:r>
              <a:rPr lang="en-US" sz="2000">
                <a:solidFill>
                  <a:srgbClr val="000000"/>
                </a:solidFill>
                <a:latin typeface="Arial"/>
                <a:ea typeface="Arial"/>
                <a:cs typeface="Arial"/>
                <a:sym typeface="Arial"/>
              </a:rPr>
              <a:t>Tất cả các tiến trình biết ID của tất cả các tiến trình trong hệ thống (nhưng không biết tiến trình đó đang hoạt động hay bị lỗi).</a:t>
            </a:r>
          </a:p>
          <a:p>
            <a:pPr marL="431801" lvl="1" indent="-215900" algn="just">
              <a:lnSpc>
                <a:spcPts val="2400"/>
              </a:lnSpc>
              <a:buFont typeface="Arial"/>
              <a:buChar char="•"/>
            </a:pPr>
            <a:r>
              <a:rPr lang="en-US" sz="2000">
                <a:solidFill>
                  <a:srgbClr val="000000"/>
                </a:solidFill>
                <a:latin typeface="Arial"/>
                <a:ea typeface="Arial"/>
                <a:cs typeface="Arial"/>
                <a:sym typeface="Arial"/>
              </a:rPr>
              <a:t>Bầu chọn có nghĩa là xác định tiến trình có ID cao nhất đang hoạt động.</a:t>
            </a:r>
          </a:p>
          <a:p>
            <a:pPr algn="just">
              <a:lnSpc>
                <a:spcPts val="2400"/>
              </a:lnSpc>
            </a:pPr>
            <a:endParaRPr lang="en-US" sz="2000">
              <a:solidFill>
                <a:srgbClr val="000000"/>
              </a:solidFill>
              <a:latin typeface="Arial"/>
              <a:ea typeface="Arial"/>
              <a:cs typeface="Arial"/>
              <a:sym typeface="Arial"/>
            </a:endParaRPr>
          </a:p>
          <a:p>
            <a:pPr algn="just">
              <a:lnSpc>
                <a:spcPts val="2400"/>
              </a:lnSpc>
            </a:pPr>
            <a:endParaRPr lang="en-US" sz="2000">
              <a:solidFill>
                <a:srgbClr val="000000"/>
              </a:solidFill>
              <a:latin typeface="Arial"/>
              <a:ea typeface="Arial"/>
              <a:cs typeface="Arial"/>
              <a:sym typeface="Arial"/>
            </a:endParaRPr>
          </a:p>
          <a:p>
            <a:pPr algn="just">
              <a:lnSpc>
                <a:spcPts val="2400"/>
              </a:lnSpc>
            </a:pPr>
            <a:endParaRPr lang="en-US" sz="2000">
              <a:solidFill>
                <a:srgbClr val="000000"/>
              </a:solidFill>
              <a:latin typeface="Arial"/>
              <a:ea typeface="Arial"/>
              <a:cs typeface="Arial"/>
              <a:sym typeface="Arial"/>
            </a:endParaRPr>
          </a:p>
          <a:p>
            <a:pPr algn="just">
              <a:lnSpc>
                <a:spcPts val="2400"/>
              </a:lnSpc>
            </a:pPr>
            <a:endParaRPr lang="en-US" sz="2000">
              <a:solidFill>
                <a:srgbClr val="000000"/>
              </a:solidFill>
              <a:latin typeface="Arial"/>
              <a:ea typeface="Arial"/>
              <a:cs typeface="Arial"/>
              <a:sym typeface="Arial"/>
            </a:endParaRPr>
          </a:p>
          <a:p>
            <a:pPr algn="just">
              <a:lnSpc>
                <a:spcPts val="2400"/>
              </a:lnSpc>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236451" y="294069"/>
            <a:ext cx="9029469" cy="1441645"/>
            <a:chOff x="0" y="0"/>
            <a:chExt cx="12039292" cy="1922193"/>
          </a:xfrm>
        </p:grpSpPr>
        <p:sp>
          <p:nvSpPr>
            <p:cNvPr id="4" name="Freeform 4"/>
            <p:cNvSpPr/>
            <p:nvPr/>
          </p:nvSpPr>
          <p:spPr>
            <a:xfrm>
              <a:off x="0" y="0"/>
              <a:ext cx="12039291" cy="1922193"/>
            </a:xfrm>
            <a:custGeom>
              <a:avLst/>
              <a:gdLst/>
              <a:ahLst/>
              <a:cxnLst/>
              <a:rect l="l" t="t" r="r" b="b"/>
              <a:pathLst>
                <a:path w="12039291" h="1922193">
                  <a:moveTo>
                    <a:pt x="0" y="0"/>
                  </a:moveTo>
                  <a:lnTo>
                    <a:pt x="12039291" y="0"/>
                  </a:lnTo>
                  <a:lnTo>
                    <a:pt x="12039291" y="1922193"/>
                  </a:lnTo>
                  <a:lnTo>
                    <a:pt x="0" y="1922193"/>
                  </a:lnTo>
                  <a:close/>
                </a:path>
              </a:pathLst>
            </a:custGeom>
            <a:solidFill>
              <a:srgbClr val="000000">
                <a:alpha val="0"/>
              </a:srgbClr>
            </a:solidFill>
          </p:spPr>
          <p:txBody>
            <a:bodyPr/>
            <a:lstStyle/>
            <a:p>
              <a:endParaRPr lang="en-US"/>
            </a:p>
          </p:txBody>
        </p:sp>
        <p:sp>
          <p:nvSpPr>
            <p:cNvPr id="5" name="TextBox 5"/>
            <p:cNvSpPr txBox="1"/>
            <p:nvPr/>
          </p:nvSpPr>
          <p:spPr>
            <a:xfrm>
              <a:off x="0" y="-57150"/>
              <a:ext cx="12039292" cy="1979343"/>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Thuật toán bầu chọn</a:t>
              </a:r>
            </a:p>
            <a:p>
              <a:pPr algn="l">
                <a:lnSpc>
                  <a:spcPts val="3583"/>
                </a:lnSpc>
              </a:pPr>
              <a:endParaRPr lang="en-US" sz="2986" b="1">
                <a:solidFill>
                  <a:srgbClr val="FFFF00"/>
                </a:solidFill>
                <a:latin typeface="Arial Bold"/>
                <a:ea typeface="Arial Bold"/>
                <a:cs typeface="Arial Bold"/>
                <a:sym typeface="Arial Bold"/>
              </a:endParaRPr>
            </a:p>
            <a:p>
              <a:pPr algn="l">
                <a:lnSpc>
                  <a:spcPts val="3583"/>
                </a:lnSpc>
              </a:pPr>
              <a:endParaRPr lang="en-US" sz="2986" b="1">
                <a:solidFill>
                  <a:srgbClr val="FFFF00"/>
                </a:solidFill>
                <a:latin typeface="Arial Bold"/>
                <a:ea typeface="Arial Bold"/>
                <a:cs typeface="Arial Bold"/>
                <a:sym typeface="Arial Bold"/>
              </a:endParaRPr>
            </a:p>
          </p:txBody>
        </p:sp>
      </p:grpSp>
      <p:sp>
        <p:nvSpPr>
          <p:cNvPr id="6" name="Freeform 6"/>
          <p:cNvSpPr/>
          <p:nvPr/>
        </p:nvSpPr>
        <p:spPr>
          <a:xfrm>
            <a:off x="659803" y="2159023"/>
            <a:ext cx="8433994" cy="3990396"/>
          </a:xfrm>
          <a:custGeom>
            <a:avLst/>
            <a:gdLst/>
            <a:ahLst/>
            <a:cxnLst/>
            <a:rect l="l" t="t" r="r" b="b"/>
            <a:pathLst>
              <a:path w="8433994" h="3990396">
                <a:moveTo>
                  <a:pt x="0" y="0"/>
                </a:moveTo>
                <a:lnTo>
                  <a:pt x="8433994" y="0"/>
                </a:lnTo>
                <a:lnTo>
                  <a:pt x="8433994" y="3990395"/>
                </a:lnTo>
                <a:lnTo>
                  <a:pt x="0" y="3990395"/>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236451" y="1564263"/>
            <a:ext cx="8453154"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Bầu chọn bằng bắt nạt (Election by bullying)</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236451" y="294069"/>
            <a:ext cx="9029469" cy="1441645"/>
            <a:chOff x="0" y="0"/>
            <a:chExt cx="12039292" cy="1922193"/>
          </a:xfrm>
        </p:grpSpPr>
        <p:sp>
          <p:nvSpPr>
            <p:cNvPr id="4" name="Freeform 4"/>
            <p:cNvSpPr/>
            <p:nvPr/>
          </p:nvSpPr>
          <p:spPr>
            <a:xfrm>
              <a:off x="0" y="0"/>
              <a:ext cx="12039291" cy="1922193"/>
            </a:xfrm>
            <a:custGeom>
              <a:avLst/>
              <a:gdLst/>
              <a:ahLst/>
              <a:cxnLst/>
              <a:rect l="l" t="t" r="r" b="b"/>
              <a:pathLst>
                <a:path w="12039291" h="1922193">
                  <a:moveTo>
                    <a:pt x="0" y="0"/>
                  </a:moveTo>
                  <a:lnTo>
                    <a:pt x="12039291" y="0"/>
                  </a:lnTo>
                  <a:lnTo>
                    <a:pt x="12039291" y="1922193"/>
                  </a:lnTo>
                  <a:lnTo>
                    <a:pt x="0" y="1922193"/>
                  </a:lnTo>
                  <a:close/>
                </a:path>
              </a:pathLst>
            </a:custGeom>
            <a:solidFill>
              <a:srgbClr val="000000">
                <a:alpha val="0"/>
              </a:srgbClr>
            </a:solidFill>
          </p:spPr>
          <p:txBody>
            <a:bodyPr/>
            <a:lstStyle/>
            <a:p>
              <a:endParaRPr lang="en-US"/>
            </a:p>
          </p:txBody>
        </p:sp>
        <p:sp>
          <p:nvSpPr>
            <p:cNvPr id="5" name="TextBox 5"/>
            <p:cNvSpPr txBox="1"/>
            <p:nvPr/>
          </p:nvSpPr>
          <p:spPr>
            <a:xfrm>
              <a:off x="0" y="-57150"/>
              <a:ext cx="12039292" cy="1979343"/>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Thuật toán bầu chọn</a:t>
              </a:r>
            </a:p>
            <a:p>
              <a:pPr algn="l">
                <a:lnSpc>
                  <a:spcPts val="3583"/>
                </a:lnSpc>
              </a:pPr>
              <a:endParaRPr lang="en-US" sz="2986" b="1">
                <a:solidFill>
                  <a:srgbClr val="FFFF00"/>
                </a:solidFill>
                <a:latin typeface="Arial Bold"/>
                <a:ea typeface="Arial Bold"/>
                <a:cs typeface="Arial Bold"/>
                <a:sym typeface="Arial Bold"/>
              </a:endParaRPr>
            </a:p>
            <a:p>
              <a:pPr algn="l">
                <a:lnSpc>
                  <a:spcPts val="3583"/>
                </a:lnSpc>
              </a:pPr>
              <a:endParaRPr lang="en-US" sz="2986" b="1">
                <a:solidFill>
                  <a:srgbClr val="FFFF00"/>
                </a:solidFill>
                <a:latin typeface="Arial Bold"/>
                <a:ea typeface="Arial Bold"/>
                <a:cs typeface="Arial Bold"/>
                <a:sym typeface="Arial Bold"/>
              </a:endParaRPr>
            </a:p>
          </p:txBody>
        </p:sp>
      </p:grpSp>
      <p:sp>
        <p:nvSpPr>
          <p:cNvPr id="6" name="Freeform 6"/>
          <p:cNvSpPr/>
          <p:nvPr/>
        </p:nvSpPr>
        <p:spPr>
          <a:xfrm>
            <a:off x="1171737" y="2111437"/>
            <a:ext cx="7410125" cy="4254846"/>
          </a:xfrm>
          <a:custGeom>
            <a:avLst/>
            <a:gdLst/>
            <a:ahLst/>
            <a:cxnLst/>
            <a:rect l="l" t="t" r="r" b="b"/>
            <a:pathLst>
              <a:path w="7410125" h="4254846">
                <a:moveTo>
                  <a:pt x="0" y="0"/>
                </a:moveTo>
                <a:lnTo>
                  <a:pt x="7410126" y="0"/>
                </a:lnTo>
                <a:lnTo>
                  <a:pt x="7410126" y="4254847"/>
                </a:lnTo>
                <a:lnTo>
                  <a:pt x="0" y="4254847"/>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236451" y="1440438"/>
            <a:ext cx="8453154"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Bầu chọn bằng bắt nạt (Election by bullying)</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236451" y="294069"/>
            <a:ext cx="9029469" cy="1441645"/>
            <a:chOff x="0" y="0"/>
            <a:chExt cx="12039292" cy="1922193"/>
          </a:xfrm>
        </p:grpSpPr>
        <p:sp>
          <p:nvSpPr>
            <p:cNvPr id="4" name="Freeform 4"/>
            <p:cNvSpPr/>
            <p:nvPr/>
          </p:nvSpPr>
          <p:spPr>
            <a:xfrm>
              <a:off x="0" y="0"/>
              <a:ext cx="12039291" cy="1922193"/>
            </a:xfrm>
            <a:custGeom>
              <a:avLst/>
              <a:gdLst/>
              <a:ahLst/>
              <a:cxnLst/>
              <a:rect l="l" t="t" r="r" b="b"/>
              <a:pathLst>
                <a:path w="12039291" h="1922193">
                  <a:moveTo>
                    <a:pt x="0" y="0"/>
                  </a:moveTo>
                  <a:lnTo>
                    <a:pt x="12039291" y="0"/>
                  </a:lnTo>
                  <a:lnTo>
                    <a:pt x="12039291" y="1922193"/>
                  </a:lnTo>
                  <a:lnTo>
                    <a:pt x="0" y="1922193"/>
                  </a:lnTo>
                  <a:close/>
                </a:path>
              </a:pathLst>
            </a:custGeom>
            <a:solidFill>
              <a:srgbClr val="000000">
                <a:alpha val="0"/>
              </a:srgbClr>
            </a:solidFill>
          </p:spPr>
          <p:txBody>
            <a:bodyPr/>
            <a:lstStyle/>
            <a:p>
              <a:endParaRPr lang="en-US"/>
            </a:p>
          </p:txBody>
        </p:sp>
        <p:sp>
          <p:nvSpPr>
            <p:cNvPr id="5" name="TextBox 5"/>
            <p:cNvSpPr txBox="1"/>
            <p:nvPr/>
          </p:nvSpPr>
          <p:spPr>
            <a:xfrm>
              <a:off x="0" y="-57150"/>
              <a:ext cx="12039292" cy="1979343"/>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Thuật toán bầu chọn</a:t>
              </a:r>
            </a:p>
            <a:p>
              <a:pPr algn="l">
                <a:lnSpc>
                  <a:spcPts val="3583"/>
                </a:lnSpc>
              </a:pPr>
              <a:endParaRPr lang="en-US" sz="2986" b="1">
                <a:solidFill>
                  <a:srgbClr val="FFFF00"/>
                </a:solidFill>
                <a:latin typeface="Arial Bold"/>
                <a:ea typeface="Arial Bold"/>
                <a:cs typeface="Arial Bold"/>
                <a:sym typeface="Arial Bold"/>
              </a:endParaRPr>
            </a:p>
            <a:p>
              <a:pPr algn="l">
                <a:lnSpc>
                  <a:spcPts val="3583"/>
                </a:lnSpc>
              </a:pPr>
              <a:endParaRPr lang="en-US" sz="2986" b="1">
                <a:solidFill>
                  <a:srgbClr val="FFFF00"/>
                </a:solidFill>
                <a:latin typeface="Arial Bold"/>
                <a:ea typeface="Arial Bold"/>
                <a:cs typeface="Arial Bold"/>
                <a:sym typeface="Arial Bold"/>
              </a:endParaRPr>
            </a:p>
          </p:txBody>
        </p:sp>
      </p:grpSp>
      <p:sp>
        <p:nvSpPr>
          <p:cNvPr id="6" name="TextBox 6"/>
          <p:cNvSpPr txBox="1"/>
          <p:nvPr/>
        </p:nvSpPr>
        <p:spPr>
          <a:xfrm>
            <a:off x="236451" y="1449963"/>
            <a:ext cx="8453154"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Bầu chọn trong vòng tròn (Election in a ring)</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
        <p:nvSpPr>
          <p:cNvPr id="7" name="TextBox 7"/>
          <p:cNvSpPr txBox="1"/>
          <p:nvPr/>
        </p:nvSpPr>
        <p:spPr>
          <a:xfrm>
            <a:off x="522161" y="2013238"/>
            <a:ext cx="8753284" cy="4276725"/>
          </a:xfrm>
          <a:prstGeom prst="rect">
            <a:avLst/>
          </a:prstGeom>
        </p:spPr>
        <p:txBody>
          <a:bodyPr lIns="0" tIns="0" rIns="0" bIns="0" rtlCol="0" anchor="t">
            <a:spAutoFit/>
          </a:bodyPr>
          <a:lstStyle/>
          <a:p>
            <a:pPr algn="just">
              <a:lnSpc>
                <a:spcPts val="2400"/>
              </a:lnSpc>
            </a:pPr>
            <a:r>
              <a:rPr lang="en-US" sz="2000" b="1">
                <a:solidFill>
                  <a:srgbClr val="000000"/>
                </a:solidFill>
                <a:latin typeface="Arial Bold"/>
                <a:ea typeface="Arial Bold"/>
                <a:cs typeface="Arial Bold"/>
                <a:sym typeface="Arial Bold"/>
              </a:rPr>
              <a:t>Nguyên tắc:</a:t>
            </a:r>
          </a:p>
          <a:p>
            <a:pPr algn="just">
              <a:lnSpc>
                <a:spcPts val="2400"/>
              </a:lnSpc>
            </a:pPr>
            <a:r>
              <a:rPr lang="en-US" sz="2000">
                <a:solidFill>
                  <a:srgbClr val="000000"/>
                </a:solidFill>
                <a:latin typeface="Arial"/>
                <a:ea typeface="Arial"/>
                <a:cs typeface="Arial"/>
                <a:sym typeface="Arial"/>
              </a:rPr>
              <a:t>Ưu tiên của tiến trình được thiết lập bằng cách tổ chức các tiến trình thành một vòng tròn logic. Tiến trình có độ ưu tiên cao nhất sẽ được chọn làm điều phối viên.</a:t>
            </a:r>
          </a:p>
          <a:p>
            <a:pPr marL="431801" lvl="1" indent="-215900" algn="just">
              <a:lnSpc>
                <a:spcPts val="2400"/>
              </a:lnSpc>
              <a:buFont typeface="Arial"/>
              <a:buChar char="•"/>
            </a:pPr>
            <a:r>
              <a:rPr lang="en-US" sz="2000">
                <a:solidFill>
                  <a:srgbClr val="000000"/>
                </a:solidFill>
                <a:latin typeface="Arial"/>
                <a:ea typeface="Arial"/>
                <a:cs typeface="Arial"/>
                <a:sym typeface="Arial"/>
              </a:rPr>
              <a:t>Bất kỳ tiến trình nào cũng có thể khởi động quá trình bầu chọn bằng cách gửi một thông điệp bầu chọn đến tiến trình kế nhiệm của nó. Nếu tiến trình kế nhiệm bị lỗi, thông điệp sẽ được chuyển đến tiến trình kế tiếp.</a:t>
            </a:r>
          </a:p>
          <a:p>
            <a:pPr marL="431801" lvl="1" indent="-215900" algn="just">
              <a:lnSpc>
                <a:spcPts val="2400"/>
              </a:lnSpc>
              <a:buFont typeface="Arial"/>
              <a:buChar char="•"/>
            </a:pPr>
            <a:r>
              <a:rPr lang="en-US" sz="2000">
                <a:solidFill>
                  <a:srgbClr val="000000"/>
                </a:solidFill>
                <a:latin typeface="Arial"/>
                <a:ea typeface="Arial"/>
                <a:cs typeface="Arial"/>
                <a:sym typeface="Arial"/>
              </a:rPr>
              <a:t>Khi một thông điệp được chuyển tiếp, tiến trình gửi sẽ tự thêm mình vào danh sách. Khi thông điệp quay lại tiến trình khởi tạo, tất cả các tiến trình còn hoạt động đã có cơ hội tham gia.</a:t>
            </a:r>
          </a:p>
          <a:p>
            <a:pPr marL="431801" lvl="1" indent="-215900" algn="just">
              <a:lnSpc>
                <a:spcPts val="2400"/>
              </a:lnSpc>
              <a:buFont typeface="Arial"/>
              <a:buChar char="•"/>
            </a:pPr>
            <a:r>
              <a:rPr lang="en-US" sz="2000">
                <a:solidFill>
                  <a:srgbClr val="000000"/>
                </a:solidFill>
                <a:latin typeface="Arial"/>
                <a:ea typeface="Arial"/>
                <a:cs typeface="Arial"/>
                <a:sym typeface="Arial"/>
              </a:rPr>
              <a:t>Tiến trình khởi tạo sẽ gửi một thông điệp điều phối viên quanh vòng tròn, chứa danh sách tất cả các tiến trình còn hoạt động. Tiến trình có độ ưu tiên cao nhất sẽ được chọn làm điều phối viên.</a:t>
            </a:r>
          </a:p>
          <a:p>
            <a:pPr algn="just">
              <a:lnSpc>
                <a:spcPts val="2160"/>
              </a:lnSpc>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236451" y="294069"/>
            <a:ext cx="9029469" cy="1441645"/>
            <a:chOff x="0" y="0"/>
            <a:chExt cx="12039292" cy="1922193"/>
          </a:xfrm>
        </p:grpSpPr>
        <p:sp>
          <p:nvSpPr>
            <p:cNvPr id="4" name="Freeform 4"/>
            <p:cNvSpPr/>
            <p:nvPr/>
          </p:nvSpPr>
          <p:spPr>
            <a:xfrm>
              <a:off x="0" y="0"/>
              <a:ext cx="12039291" cy="1922193"/>
            </a:xfrm>
            <a:custGeom>
              <a:avLst/>
              <a:gdLst/>
              <a:ahLst/>
              <a:cxnLst/>
              <a:rect l="l" t="t" r="r" b="b"/>
              <a:pathLst>
                <a:path w="12039291" h="1922193">
                  <a:moveTo>
                    <a:pt x="0" y="0"/>
                  </a:moveTo>
                  <a:lnTo>
                    <a:pt x="12039291" y="0"/>
                  </a:lnTo>
                  <a:lnTo>
                    <a:pt x="12039291" y="1922193"/>
                  </a:lnTo>
                  <a:lnTo>
                    <a:pt x="0" y="1922193"/>
                  </a:lnTo>
                  <a:close/>
                </a:path>
              </a:pathLst>
            </a:custGeom>
            <a:solidFill>
              <a:srgbClr val="000000">
                <a:alpha val="0"/>
              </a:srgbClr>
            </a:solidFill>
          </p:spPr>
          <p:txBody>
            <a:bodyPr/>
            <a:lstStyle/>
            <a:p>
              <a:endParaRPr lang="en-US"/>
            </a:p>
          </p:txBody>
        </p:sp>
        <p:sp>
          <p:nvSpPr>
            <p:cNvPr id="5" name="TextBox 5"/>
            <p:cNvSpPr txBox="1"/>
            <p:nvPr/>
          </p:nvSpPr>
          <p:spPr>
            <a:xfrm>
              <a:off x="0" y="-57150"/>
              <a:ext cx="12039292" cy="1979343"/>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Thuật toán bầu chọn</a:t>
              </a:r>
            </a:p>
            <a:p>
              <a:pPr algn="l">
                <a:lnSpc>
                  <a:spcPts val="3583"/>
                </a:lnSpc>
              </a:pPr>
              <a:endParaRPr lang="en-US" sz="2986" b="1">
                <a:solidFill>
                  <a:srgbClr val="FFFF00"/>
                </a:solidFill>
                <a:latin typeface="Arial Bold"/>
                <a:ea typeface="Arial Bold"/>
                <a:cs typeface="Arial Bold"/>
                <a:sym typeface="Arial Bold"/>
              </a:endParaRPr>
            </a:p>
            <a:p>
              <a:pPr algn="l">
                <a:lnSpc>
                  <a:spcPts val="3583"/>
                </a:lnSpc>
              </a:pPr>
              <a:endParaRPr lang="en-US" sz="2986" b="1">
                <a:solidFill>
                  <a:srgbClr val="FFFF00"/>
                </a:solidFill>
                <a:latin typeface="Arial Bold"/>
                <a:ea typeface="Arial Bold"/>
                <a:cs typeface="Arial Bold"/>
                <a:sym typeface="Arial Bold"/>
              </a:endParaRPr>
            </a:p>
          </p:txBody>
        </p:sp>
      </p:grpSp>
      <p:sp>
        <p:nvSpPr>
          <p:cNvPr id="6" name="Freeform 6"/>
          <p:cNvSpPr/>
          <p:nvPr/>
        </p:nvSpPr>
        <p:spPr>
          <a:xfrm>
            <a:off x="995919" y="2518063"/>
            <a:ext cx="7761761" cy="3316389"/>
          </a:xfrm>
          <a:custGeom>
            <a:avLst/>
            <a:gdLst/>
            <a:ahLst/>
            <a:cxnLst/>
            <a:rect l="l" t="t" r="r" b="b"/>
            <a:pathLst>
              <a:path w="7761761" h="3316389">
                <a:moveTo>
                  <a:pt x="0" y="0"/>
                </a:moveTo>
                <a:lnTo>
                  <a:pt x="7761762" y="0"/>
                </a:lnTo>
                <a:lnTo>
                  <a:pt x="7761762" y="3316389"/>
                </a:lnTo>
                <a:lnTo>
                  <a:pt x="0" y="3316389"/>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236451" y="1446501"/>
            <a:ext cx="8453154" cy="447675"/>
          </a:xfrm>
          <a:prstGeom prst="rect">
            <a:avLst/>
          </a:prstGeom>
        </p:spPr>
        <p:txBody>
          <a:bodyPr lIns="0" tIns="0" rIns="0" bIns="0" rtlCol="0" anchor="t">
            <a:spAutoFit/>
          </a:bodyPr>
          <a:lstStyle/>
          <a:p>
            <a:pPr algn="just">
              <a:lnSpc>
                <a:spcPts val="3120"/>
              </a:lnSpc>
              <a:spcBef>
                <a:spcPct val="0"/>
              </a:spcBef>
            </a:pPr>
            <a:r>
              <a:rPr lang="en-US" sz="2600" b="1">
                <a:solidFill>
                  <a:srgbClr val="000000"/>
                </a:solidFill>
                <a:latin typeface="Arial Bold"/>
                <a:ea typeface="Arial Bold"/>
                <a:cs typeface="Arial Bold"/>
                <a:sym typeface="Arial Bold"/>
              </a:rPr>
              <a:t>Bầu chọn trong vòng tròn </a:t>
            </a:r>
          </a:p>
        </p:txBody>
      </p:sp>
      <p:sp>
        <p:nvSpPr>
          <p:cNvPr id="8" name="TextBox 8"/>
          <p:cNvSpPr txBox="1"/>
          <p:nvPr/>
        </p:nvSpPr>
        <p:spPr>
          <a:xfrm>
            <a:off x="512636" y="1927513"/>
            <a:ext cx="8753284" cy="381000"/>
          </a:xfrm>
          <a:prstGeom prst="rect">
            <a:avLst/>
          </a:prstGeom>
        </p:spPr>
        <p:txBody>
          <a:bodyPr lIns="0" tIns="0" rIns="0" bIns="0" rtlCol="0" anchor="t">
            <a:spAutoFit/>
          </a:bodyPr>
          <a:lstStyle/>
          <a:p>
            <a:pPr algn="just">
              <a:lnSpc>
                <a:spcPts val="2639"/>
              </a:lnSpc>
            </a:pPr>
            <a:r>
              <a:rPr lang="en-US" sz="2199" b="1">
                <a:solidFill>
                  <a:srgbClr val="000000"/>
                </a:solidFill>
                <a:latin typeface="Arial Bold"/>
                <a:ea typeface="Arial Bold"/>
                <a:cs typeface="Arial Bold"/>
                <a:sym typeface="Arial Bold"/>
              </a:rPr>
              <a:t>Thuật toán bầu chọn sử dụng vòng tròn</a:t>
            </a: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236451" y="294069"/>
            <a:ext cx="9029469" cy="1441645"/>
            <a:chOff x="0" y="0"/>
            <a:chExt cx="12039292" cy="1922193"/>
          </a:xfrm>
        </p:grpSpPr>
        <p:sp>
          <p:nvSpPr>
            <p:cNvPr id="4" name="Freeform 4"/>
            <p:cNvSpPr/>
            <p:nvPr/>
          </p:nvSpPr>
          <p:spPr>
            <a:xfrm>
              <a:off x="0" y="0"/>
              <a:ext cx="12039291" cy="1922193"/>
            </a:xfrm>
            <a:custGeom>
              <a:avLst/>
              <a:gdLst/>
              <a:ahLst/>
              <a:cxnLst/>
              <a:rect l="l" t="t" r="r" b="b"/>
              <a:pathLst>
                <a:path w="12039291" h="1922193">
                  <a:moveTo>
                    <a:pt x="0" y="0"/>
                  </a:moveTo>
                  <a:lnTo>
                    <a:pt x="12039291" y="0"/>
                  </a:lnTo>
                  <a:lnTo>
                    <a:pt x="12039291" y="1922193"/>
                  </a:lnTo>
                  <a:lnTo>
                    <a:pt x="0" y="1922193"/>
                  </a:lnTo>
                  <a:close/>
                </a:path>
              </a:pathLst>
            </a:custGeom>
            <a:solidFill>
              <a:srgbClr val="000000">
                <a:alpha val="0"/>
              </a:srgbClr>
            </a:solidFill>
          </p:spPr>
          <p:txBody>
            <a:bodyPr/>
            <a:lstStyle/>
            <a:p>
              <a:endParaRPr lang="en-US"/>
            </a:p>
          </p:txBody>
        </p:sp>
        <p:sp>
          <p:nvSpPr>
            <p:cNvPr id="5" name="TextBox 5"/>
            <p:cNvSpPr txBox="1"/>
            <p:nvPr/>
          </p:nvSpPr>
          <p:spPr>
            <a:xfrm>
              <a:off x="0" y="-57150"/>
              <a:ext cx="12039292" cy="1979343"/>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Thuật toán bầu chọn</a:t>
              </a:r>
            </a:p>
            <a:p>
              <a:pPr algn="l">
                <a:lnSpc>
                  <a:spcPts val="3583"/>
                </a:lnSpc>
              </a:pPr>
              <a:endParaRPr lang="en-US" sz="2986" b="1">
                <a:solidFill>
                  <a:srgbClr val="FFFF00"/>
                </a:solidFill>
                <a:latin typeface="Arial Bold"/>
                <a:ea typeface="Arial Bold"/>
                <a:cs typeface="Arial Bold"/>
                <a:sym typeface="Arial Bold"/>
              </a:endParaRPr>
            </a:p>
            <a:p>
              <a:pPr algn="l">
                <a:lnSpc>
                  <a:spcPts val="3583"/>
                </a:lnSpc>
              </a:pPr>
              <a:endParaRPr lang="en-US" sz="2986" b="1">
                <a:solidFill>
                  <a:srgbClr val="FFFF00"/>
                </a:solidFill>
                <a:latin typeface="Arial Bold"/>
                <a:ea typeface="Arial Bold"/>
                <a:cs typeface="Arial Bold"/>
                <a:sym typeface="Arial Bold"/>
              </a:endParaRPr>
            </a:p>
          </p:txBody>
        </p:sp>
      </p:grpSp>
      <p:sp>
        <p:nvSpPr>
          <p:cNvPr id="6" name="TextBox 6"/>
          <p:cNvSpPr txBox="1"/>
          <p:nvPr/>
        </p:nvSpPr>
        <p:spPr>
          <a:xfrm>
            <a:off x="293561" y="1430913"/>
            <a:ext cx="9460039" cy="819150"/>
          </a:xfrm>
          <a:prstGeom prst="rect">
            <a:avLst/>
          </a:prstGeom>
        </p:spPr>
        <p:txBody>
          <a:bodyPr lIns="0" tIns="0" rIns="0" bIns="0" rtlCol="0" anchor="t">
            <a:spAutoFit/>
          </a:bodyPr>
          <a:lstStyle/>
          <a:p>
            <a:pPr algn="just">
              <a:lnSpc>
                <a:spcPts val="3000"/>
              </a:lnSpc>
            </a:pPr>
            <a:r>
              <a:rPr lang="en-US" sz="2500" b="1">
                <a:solidFill>
                  <a:srgbClr val="000000"/>
                </a:solidFill>
                <a:latin typeface="Arial Bold"/>
                <a:ea typeface="Arial Bold"/>
                <a:cs typeface="Arial Bold"/>
                <a:sym typeface="Arial Bold"/>
              </a:rPr>
              <a:t>Ví dụ: Bầu chọn lãnh đạo trong nhóm máy chủ ZooKeeper</a:t>
            </a:r>
          </a:p>
          <a:p>
            <a:pPr algn="just">
              <a:lnSpc>
                <a:spcPts val="3000"/>
              </a:lnSpc>
              <a:spcBef>
                <a:spcPct val="0"/>
              </a:spcBef>
            </a:pPr>
            <a:endParaRPr lang="en-US" sz="2500" b="1">
              <a:solidFill>
                <a:srgbClr val="000000"/>
              </a:solidFill>
              <a:latin typeface="Arial Bold"/>
              <a:ea typeface="Arial Bold"/>
              <a:cs typeface="Arial Bold"/>
              <a:sym typeface="Arial Bold"/>
            </a:endParaRPr>
          </a:p>
        </p:txBody>
      </p:sp>
      <p:sp>
        <p:nvSpPr>
          <p:cNvPr id="7" name="TextBox 7"/>
          <p:cNvSpPr txBox="1"/>
          <p:nvPr/>
        </p:nvSpPr>
        <p:spPr>
          <a:xfrm>
            <a:off x="512636" y="2021463"/>
            <a:ext cx="8753284" cy="4314825"/>
          </a:xfrm>
          <a:prstGeom prst="rect">
            <a:avLst/>
          </a:prstGeom>
        </p:spPr>
        <p:txBody>
          <a:bodyPr lIns="0" tIns="0" rIns="0" bIns="0" rtlCol="0" anchor="t">
            <a:spAutoFit/>
          </a:bodyPr>
          <a:lstStyle/>
          <a:p>
            <a:pPr algn="just">
              <a:lnSpc>
                <a:spcPts val="2400"/>
              </a:lnSpc>
            </a:pPr>
            <a:r>
              <a:rPr lang="en-US" sz="2000" b="1">
                <a:solidFill>
                  <a:srgbClr val="000000"/>
                </a:solidFill>
                <a:latin typeface="Arial Bold"/>
                <a:ea typeface="Arial Bold"/>
                <a:cs typeface="Arial Bold"/>
                <a:sym typeface="Arial Bold"/>
              </a:rPr>
              <a:t>Cơ bản (Basics)</a:t>
            </a:r>
          </a:p>
          <a:p>
            <a:pPr marL="431801" lvl="1" indent="-215900" algn="just">
              <a:lnSpc>
                <a:spcPts val="2400"/>
              </a:lnSpc>
              <a:buFont typeface="Arial"/>
              <a:buChar char="•"/>
            </a:pPr>
            <a:r>
              <a:rPr lang="en-US" sz="2000">
                <a:solidFill>
                  <a:srgbClr val="000000"/>
                </a:solidFill>
                <a:latin typeface="Arial"/>
                <a:ea typeface="Arial"/>
                <a:cs typeface="Arial"/>
                <a:sym typeface="Arial"/>
              </a:rPr>
              <a:t>Mỗi máy chủ s trong nhóm máy chủ có một định danh id(s).</a:t>
            </a:r>
          </a:p>
          <a:p>
            <a:pPr marL="431801" lvl="1" indent="-215900" algn="just">
              <a:lnSpc>
                <a:spcPts val="2400"/>
              </a:lnSpc>
              <a:buFont typeface="Arial"/>
              <a:buChar char="•"/>
            </a:pPr>
            <a:r>
              <a:rPr lang="en-US" sz="2000">
                <a:solidFill>
                  <a:srgbClr val="000000"/>
                </a:solidFill>
                <a:latin typeface="Arial"/>
                <a:ea typeface="Arial"/>
                <a:cs typeface="Arial"/>
                <a:sym typeface="Arial"/>
              </a:rPr>
              <a:t>Mỗi máy chủ có một bộ đếm tăng đơn điệu tx(s), ghi lại giao dịch gần nhất mà nó xử lý (tức là chuỗi các thao tác trên không gian tên).</a:t>
            </a:r>
          </a:p>
          <a:p>
            <a:pPr marL="431801" lvl="1" indent="-215900" algn="just">
              <a:lnSpc>
                <a:spcPts val="2400"/>
              </a:lnSpc>
              <a:buFont typeface="Arial"/>
              <a:buChar char="•"/>
            </a:pPr>
            <a:r>
              <a:rPr lang="en-US" sz="2000">
                <a:solidFill>
                  <a:srgbClr val="000000"/>
                </a:solidFill>
                <a:latin typeface="Arial"/>
                <a:ea typeface="Arial"/>
                <a:cs typeface="Arial"/>
                <a:sym typeface="Arial"/>
              </a:rPr>
              <a:t>Khi một máy chủ follower s nghi ngờ leader đã bị lỗi, nó sẽ phát thông điệp ELECTION, kèm theo cặp (voteID,voteTX). Ban đầu:</a:t>
            </a:r>
          </a:p>
          <a:p>
            <a:pPr marL="863601" lvl="2" indent="-287867" algn="just">
              <a:lnSpc>
                <a:spcPts val="2400"/>
              </a:lnSpc>
              <a:buFont typeface="Arial"/>
              <a:buChar char="⚬"/>
            </a:pPr>
            <a:r>
              <a:rPr lang="en-US" sz="2000">
                <a:solidFill>
                  <a:srgbClr val="000000"/>
                </a:solidFill>
                <a:latin typeface="Arial"/>
                <a:ea typeface="Arial"/>
                <a:cs typeface="Arial"/>
                <a:sym typeface="Arial"/>
              </a:rPr>
              <a:t>voteID←id(s)</a:t>
            </a:r>
          </a:p>
          <a:p>
            <a:pPr marL="863601" lvl="2" indent="-287867" algn="just">
              <a:lnSpc>
                <a:spcPts val="2400"/>
              </a:lnSpc>
              <a:buFont typeface="Arial"/>
              <a:buChar char="⚬"/>
            </a:pPr>
            <a:r>
              <a:rPr lang="en-US" sz="2000">
                <a:solidFill>
                  <a:srgbClr val="000000"/>
                </a:solidFill>
                <a:latin typeface="Arial"/>
                <a:ea typeface="Arial"/>
                <a:cs typeface="Arial"/>
                <a:sym typeface="Arial"/>
              </a:rPr>
              <a:t>voteTX←tx(s)</a:t>
            </a:r>
          </a:p>
          <a:p>
            <a:pPr marL="431801" lvl="1" indent="-215900" algn="just">
              <a:lnSpc>
                <a:spcPts val="2400"/>
              </a:lnSpc>
              <a:buFont typeface="Arial"/>
              <a:buChar char="•"/>
            </a:pPr>
            <a:r>
              <a:rPr lang="en-US" sz="2000">
                <a:solidFill>
                  <a:srgbClr val="000000"/>
                </a:solidFill>
                <a:latin typeface="Arial"/>
                <a:ea typeface="Arial"/>
                <a:cs typeface="Arial"/>
                <a:sym typeface="Arial"/>
              </a:rPr>
              <a:t>Mỗi máy chủ s duy trì hai biến:</a:t>
            </a:r>
          </a:p>
          <a:p>
            <a:pPr marL="863601" lvl="2" indent="-287867" algn="just">
              <a:lnSpc>
                <a:spcPts val="2400"/>
              </a:lnSpc>
              <a:buFont typeface="Arial"/>
              <a:buChar char="⚬"/>
            </a:pPr>
            <a:r>
              <a:rPr lang="en-US" sz="2000">
                <a:solidFill>
                  <a:srgbClr val="000000"/>
                </a:solidFill>
                <a:latin typeface="Arial"/>
                <a:ea typeface="Arial"/>
                <a:cs typeface="Arial"/>
                <a:sym typeface="Arial"/>
              </a:rPr>
              <a:t>leader(s): Lưu trữ máy chủ mà s tin rằng có thể là leader cuối cùng. Ban đầu: leader(s)←id(s)</a:t>
            </a:r>
          </a:p>
          <a:p>
            <a:pPr marL="863601" lvl="2" indent="-287867" algn="just">
              <a:lnSpc>
                <a:spcPts val="2400"/>
              </a:lnSpc>
              <a:buFont typeface="Arial"/>
              <a:buChar char="⚬"/>
            </a:pPr>
            <a:r>
              <a:rPr lang="en-US" sz="2000">
                <a:solidFill>
                  <a:srgbClr val="000000"/>
                </a:solidFill>
                <a:latin typeface="Arial"/>
                <a:ea typeface="Arial"/>
                <a:cs typeface="Arial"/>
                <a:sym typeface="Arial"/>
              </a:rPr>
              <a:t>lastTX(s): Giá trị giao dịch gần nhất mà s biết. </a:t>
            </a:r>
          </a:p>
          <a:p>
            <a:pPr algn="just">
              <a:lnSpc>
                <a:spcPts val="2400"/>
              </a:lnSpc>
            </a:pPr>
            <a:r>
              <a:rPr lang="en-US" sz="2000">
                <a:solidFill>
                  <a:srgbClr val="000000"/>
                </a:solidFill>
                <a:latin typeface="Arial"/>
                <a:ea typeface="Arial"/>
                <a:cs typeface="Arial"/>
                <a:sym typeface="Arial"/>
              </a:rPr>
              <a:t>         Ban đầu: lastTX(s)←tx(s).</a:t>
            </a:r>
          </a:p>
          <a:p>
            <a:pPr algn="just">
              <a:lnSpc>
                <a:spcPts val="2400"/>
              </a:lnSpc>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236451" y="294069"/>
            <a:ext cx="9029469" cy="1441645"/>
            <a:chOff x="0" y="0"/>
            <a:chExt cx="12039292" cy="1922193"/>
          </a:xfrm>
        </p:grpSpPr>
        <p:sp>
          <p:nvSpPr>
            <p:cNvPr id="4" name="Freeform 4"/>
            <p:cNvSpPr/>
            <p:nvPr/>
          </p:nvSpPr>
          <p:spPr>
            <a:xfrm>
              <a:off x="0" y="0"/>
              <a:ext cx="12039291" cy="1922193"/>
            </a:xfrm>
            <a:custGeom>
              <a:avLst/>
              <a:gdLst/>
              <a:ahLst/>
              <a:cxnLst/>
              <a:rect l="l" t="t" r="r" b="b"/>
              <a:pathLst>
                <a:path w="12039291" h="1922193">
                  <a:moveTo>
                    <a:pt x="0" y="0"/>
                  </a:moveTo>
                  <a:lnTo>
                    <a:pt x="12039291" y="0"/>
                  </a:lnTo>
                  <a:lnTo>
                    <a:pt x="12039291" y="1922193"/>
                  </a:lnTo>
                  <a:lnTo>
                    <a:pt x="0" y="1922193"/>
                  </a:lnTo>
                  <a:close/>
                </a:path>
              </a:pathLst>
            </a:custGeom>
            <a:solidFill>
              <a:srgbClr val="000000">
                <a:alpha val="0"/>
              </a:srgbClr>
            </a:solidFill>
          </p:spPr>
          <p:txBody>
            <a:bodyPr/>
            <a:lstStyle/>
            <a:p>
              <a:endParaRPr lang="en-US"/>
            </a:p>
          </p:txBody>
        </p:sp>
        <p:sp>
          <p:nvSpPr>
            <p:cNvPr id="5" name="TextBox 5"/>
            <p:cNvSpPr txBox="1"/>
            <p:nvPr/>
          </p:nvSpPr>
          <p:spPr>
            <a:xfrm>
              <a:off x="0" y="-57150"/>
              <a:ext cx="12039292" cy="1979343"/>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Thuật toán bầu chọn</a:t>
              </a:r>
            </a:p>
            <a:p>
              <a:pPr algn="l">
                <a:lnSpc>
                  <a:spcPts val="3583"/>
                </a:lnSpc>
              </a:pPr>
              <a:endParaRPr lang="en-US" sz="2986" b="1">
                <a:solidFill>
                  <a:srgbClr val="FFFF00"/>
                </a:solidFill>
                <a:latin typeface="Arial Bold"/>
                <a:ea typeface="Arial Bold"/>
                <a:cs typeface="Arial Bold"/>
                <a:sym typeface="Arial Bold"/>
              </a:endParaRPr>
            </a:p>
            <a:p>
              <a:pPr algn="l">
                <a:lnSpc>
                  <a:spcPts val="3583"/>
                </a:lnSpc>
              </a:pPr>
              <a:endParaRPr lang="en-US" sz="2986" b="1">
                <a:solidFill>
                  <a:srgbClr val="FFFF00"/>
                </a:solidFill>
                <a:latin typeface="Arial Bold"/>
                <a:ea typeface="Arial Bold"/>
                <a:cs typeface="Arial Bold"/>
                <a:sym typeface="Arial Bold"/>
              </a:endParaRPr>
            </a:p>
          </p:txBody>
        </p:sp>
      </p:grpSp>
      <p:sp>
        <p:nvSpPr>
          <p:cNvPr id="6" name="TextBox 6"/>
          <p:cNvSpPr txBox="1"/>
          <p:nvPr/>
        </p:nvSpPr>
        <p:spPr>
          <a:xfrm>
            <a:off x="293561" y="1440438"/>
            <a:ext cx="8453154" cy="733425"/>
          </a:xfrm>
          <a:prstGeom prst="rect">
            <a:avLst/>
          </a:prstGeom>
        </p:spPr>
        <p:txBody>
          <a:bodyPr lIns="0" tIns="0" rIns="0" bIns="0" rtlCol="0" anchor="t">
            <a:spAutoFit/>
          </a:bodyPr>
          <a:lstStyle/>
          <a:p>
            <a:pPr algn="just">
              <a:lnSpc>
                <a:spcPts val="2760"/>
              </a:lnSpc>
            </a:pPr>
            <a:r>
              <a:rPr lang="en-US" sz="2300" b="1">
                <a:solidFill>
                  <a:srgbClr val="000000"/>
                </a:solidFill>
                <a:latin typeface="Arial Bold"/>
                <a:ea typeface="Arial Bold"/>
                <a:cs typeface="Arial Bold"/>
                <a:sym typeface="Arial Bold"/>
              </a:rPr>
              <a:t>Ví dụ: Bầu chọn lãnh đạo trong nhóm máy chủ ZooKeeper</a:t>
            </a:r>
          </a:p>
          <a:p>
            <a:pPr algn="just">
              <a:lnSpc>
                <a:spcPts val="2760"/>
              </a:lnSpc>
              <a:spcBef>
                <a:spcPct val="0"/>
              </a:spcBef>
            </a:pPr>
            <a:endParaRPr lang="en-US" sz="2300" b="1">
              <a:solidFill>
                <a:srgbClr val="000000"/>
              </a:solidFill>
              <a:latin typeface="Arial Bold"/>
              <a:ea typeface="Arial Bold"/>
              <a:cs typeface="Arial Bold"/>
              <a:sym typeface="Arial Bold"/>
            </a:endParaRPr>
          </a:p>
        </p:txBody>
      </p:sp>
      <p:sp>
        <p:nvSpPr>
          <p:cNvPr id="7" name="TextBox 7"/>
          <p:cNvSpPr txBox="1"/>
          <p:nvPr/>
        </p:nvSpPr>
        <p:spPr>
          <a:xfrm>
            <a:off x="512636" y="1912833"/>
            <a:ext cx="8753284" cy="4838700"/>
          </a:xfrm>
          <a:prstGeom prst="rect">
            <a:avLst/>
          </a:prstGeom>
        </p:spPr>
        <p:txBody>
          <a:bodyPr lIns="0" tIns="0" rIns="0" bIns="0" rtlCol="0" anchor="t">
            <a:spAutoFit/>
          </a:bodyPr>
          <a:lstStyle/>
          <a:p>
            <a:pPr algn="just">
              <a:lnSpc>
                <a:spcPts val="2160"/>
              </a:lnSpc>
            </a:pPr>
            <a:r>
              <a:rPr lang="en-US" sz="1800" b="1">
                <a:solidFill>
                  <a:srgbClr val="000000"/>
                </a:solidFill>
                <a:latin typeface="Arial Bold"/>
                <a:ea typeface="Arial Bold"/>
                <a:cs typeface="Arial Bold"/>
                <a:sym typeface="Arial Bold"/>
              </a:rPr>
              <a:t>Cơ bản (Basics)</a:t>
            </a:r>
          </a:p>
          <a:p>
            <a:pPr marL="388622" lvl="1" indent="-194311" algn="just">
              <a:lnSpc>
                <a:spcPts val="2160"/>
              </a:lnSpc>
              <a:buFont typeface="Arial"/>
              <a:buChar char="•"/>
            </a:pPr>
            <a:r>
              <a:rPr lang="en-US" sz="1800">
                <a:solidFill>
                  <a:srgbClr val="000000"/>
                </a:solidFill>
                <a:latin typeface="Arial"/>
                <a:ea typeface="Arial"/>
                <a:cs typeface="Arial"/>
                <a:sym typeface="Arial"/>
              </a:rPr>
              <a:t>Mỗi máy chủ s trong nhóm máy chủ có một định danh id(s).</a:t>
            </a:r>
          </a:p>
          <a:p>
            <a:pPr marL="388622" lvl="1" indent="-194311" algn="just">
              <a:lnSpc>
                <a:spcPts val="2160"/>
              </a:lnSpc>
              <a:buFont typeface="Arial"/>
              <a:buChar char="•"/>
            </a:pPr>
            <a:r>
              <a:rPr lang="en-US" sz="1800">
                <a:solidFill>
                  <a:srgbClr val="000000"/>
                </a:solidFill>
                <a:latin typeface="Arial"/>
                <a:ea typeface="Arial"/>
                <a:cs typeface="Arial"/>
                <a:sym typeface="Arial"/>
              </a:rPr>
              <a:t>Mỗi máy chủ có một bộ đếm tăng đơn điệu tx(s), ghi lại giao dịch gần nhất mà nó xử lý (tức là chuỗi các thao tác trên không gian tên).</a:t>
            </a:r>
          </a:p>
          <a:p>
            <a:pPr marL="388622" lvl="1" indent="-194311" algn="just">
              <a:lnSpc>
                <a:spcPts val="2160"/>
              </a:lnSpc>
              <a:buFont typeface="Arial"/>
              <a:buChar char="•"/>
            </a:pPr>
            <a:r>
              <a:rPr lang="en-US" sz="1800">
                <a:solidFill>
                  <a:srgbClr val="000000"/>
                </a:solidFill>
                <a:latin typeface="Arial"/>
                <a:ea typeface="Arial"/>
                <a:cs typeface="Arial"/>
                <a:sym typeface="Arial"/>
              </a:rPr>
              <a:t>Khi một máy chủ follower s nghi ngờ leader đã bị lỗi, nó sẽ phát thông điệp ELECTION, kèm theo cặp (voteID,voteTX). Ban đầu:</a:t>
            </a:r>
          </a:p>
          <a:p>
            <a:pPr marL="777243" lvl="2" indent="-259081" algn="just">
              <a:lnSpc>
                <a:spcPts val="2160"/>
              </a:lnSpc>
              <a:buFont typeface="Arial"/>
              <a:buChar char="⚬"/>
            </a:pPr>
            <a:r>
              <a:rPr lang="en-US" sz="1800">
                <a:solidFill>
                  <a:srgbClr val="000000"/>
                </a:solidFill>
                <a:latin typeface="Arial"/>
                <a:ea typeface="Arial"/>
                <a:cs typeface="Arial"/>
                <a:sym typeface="Arial"/>
              </a:rPr>
              <a:t>voteID←id(s)</a:t>
            </a:r>
          </a:p>
          <a:p>
            <a:pPr marL="777243" lvl="2" indent="-259081" algn="just">
              <a:lnSpc>
                <a:spcPts val="2160"/>
              </a:lnSpc>
              <a:buFont typeface="Arial"/>
              <a:buChar char="⚬"/>
            </a:pPr>
            <a:r>
              <a:rPr lang="en-US" sz="1800">
                <a:solidFill>
                  <a:srgbClr val="000000"/>
                </a:solidFill>
                <a:latin typeface="Arial"/>
                <a:ea typeface="Arial"/>
                <a:cs typeface="Arial"/>
                <a:sym typeface="Arial"/>
              </a:rPr>
              <a:t>voteTX←tx(s)</a:t>
            </a:r>
          </a:p>
          <a:p>
            <a:pPr marL="388622" lvl="1" indent="-194311" algn="just">
              <a:lnSpc>
                <a:spcPts val="2160"/>
              </a:lnSpc>
              <a:buFont typeface="Arial"/>
              <a:buChar char="•"/>
            </a:pPr>
            <a:r>
              <a:rPr lang="en-US" sz="1800">
                <a:solidFill>
                  <a:srgbClr val="000000"/>
                </a:solidFill>
                <a:latin typeface="Arial"/>
                <a:ea typeface="Arial"/>
                <a:cs typeface="Arial"/>
                <a:sym typeface="Arial"/>
              </a:rPr>
              <a:t>Mỗi máy chủ s duy trì hai biến:</a:t>
            </a:r>
          </a:p>
          <a:p>
            <a:pPr marL="777243" lvl="2" indent="-259081" algn="just">
              <a:lnSpc>
                <a:spcPts val="2160"/>
              </a:lnSpc>
              <a:buFont typeface="Arial"/>
              <a:buChar char="⚬"/>
            </a:pPr>
            <a:r>
              <a:rPr lang="en-US" sz="1800">
                <a:solidFill>
                  <a:srgbClr val="000000"/>
                </a:solidFill>
                <a:latin typeface="Arial"/>
                <a:ea typeface="Arial"/>
                <a:cs typeface="Arial"/>
                <a:sym typeface="Arial"/>
              </a:rPr>
              <a:t>leader(s): Lưu trữ máy chủ mà s tin rằng có thể là leader cuối cùng. Ban đầu: leader(s)←id(s)</a:t>
            </a:r>
          </a:p>
          <a:p>
            <a:pPr marL="777243" lvl="2" indent="-259081" algn="just">
              <a:lnSpc>
                <a:spcPts val="2160"/>
              </a:lnSpc>
              <a:buFont typeface="Arial"/>
              <a:buChar char="⚬"/>
            </a:pPr>
            <a:r>
              <a:rPr lang="en-US" sz="1800">
                <a:solidFill>
                  <a:srgbClr val="000000"/>
                </a:solidFill>
                <a:latin typeface="Arial"/>
                <a:ea typeface="Arial"/>
                <a:cs typeface="Arial"/>
                <a:sym typeface="Arial"/>
              </a:rPr>
              <a:t>lastTX(s): Giá trị giao dịch gần nhất mà s biết. </a:t>
            </a:r>
          </a:p>
          <a:p>
            <a:pPr algn="just">
              <a:lnSpc>
                <a:spcPts val="2160"/>
              </a:lnSpc>
            </a:pPr>
            <a:r>
              <a:rPr lang="en-US" sz="1800">
                <a:solidFill>
                  <a:srgbClr val="000000"/>
                </a:solidFill>
                <a:latin typeface="Arial"/>
                <a:ea typeface="Arial"/>
                <a:cs typeface="Arial"/>
                <a:sym typeface="Arial"/>
              </a:rPr>
              <a:t>         Ban đầu: lastTX(s)←tx(s)</a:t>
            </a:r>
          </a:p>
          <a:p>
            <a:pPr algn="just">
              <a:lnSpc>
                <a:spcPts val="2160"/>
              </a:lnSpc>
            </a:pPr>
            <a:r>
              <a:rPr lang="en-US" sz="1800" b="1">
                <a:solidFill>
                  <a:srgbClr val="000000"/>
                </a:solidFill>
                <a:latin typeface="Arial Bold"/>
                <a:ea typeface="Arial Bold"/>
                <a:cs typeface="Arial Bold"/>
                <a:sym typeface="Arial Bold"/>
              </a:rPr>
              <a:t>Lưu ý (Note)</a:t>
            </a:r>
          </a:p>
          <a:p>
            <a:pPr algn="just">
              <a:lnSpc>
                <a:spcPts val="2160"/>
              </a:lnSpc>
            </a:pPr>
            <a:r>
              <a:rPr lang="en-US" sz="1800">
                <a:solidFill>
                  <a:srgbClr val="000000"/>
                </a:solidFill>
                <a:latin typeface="Arial"/>
                <a:ea typeface="Arial"/>
                <a:cs typeface="Arial"/>
                <a:sym typeface="Arial"/>
              </a:rPr>
              <a:t>Khi s∗ tin rằng nó nên trở thành leader, nó sẽ phát thông điệp ⟨id(s∗), tx(s∗)⟩.</a:t>
            </a:r>
          </a:p>
          <a:p>
            <a:pPr algn="just">
              <a:lnSpc>
                <a:spcPts val="2160"/>
              </a:lnSpc>
            </a:pPr>
            <a:r>
              <a:rPr lang="en-US" sz="1800">
                <a:solidFill>
                  <a:srgbClr val="000000"/>
                </a:solidFill>
                <a:latin typeface="Arial"/>
                <a:ea typeface="Arial"/>
                <a:cs typeface="Arial"/>
                <a:sym typeface="Arial"/>
              </a:rPr>
              <a:t>Thực chất, đây là một dạng bắt nạt (bullying).</a:t>
            </a:r>
          </a:p>
          <a:p>
            <a:pPr algn="just">
              <a:lnSpc>
                <a:spcPts val="2160"/>
              </a:lnSpc>
            </a:pPr>
            <a:endParaRPr lang="en-US" sz="1800">
              <a:solidFill>
                <a:srgbClr val="000000"/>
              </a:solidFill>
              <a:latin typeface="Arial"/>
              <a:ea typeface="Arial"/>
              <a:cs typeface="Arial"/>
              <a:sym typeface="Arial"/>
            </a:endParaRPr>
          </a:p>
          <a:p>
            <a:pPr algn="just">
              <a:lnSpc>
                <a:spcPts val="2160"/>
              </a:lnSpc>
            </a:pPr>
            <a:endParaRPr lang="en-US" sz="1800">
              <a:solidFill>
                <a:srgbClr val="000000"/>
              </a:solidFill>
              <a:latin typeface="Arial"/>
              <a:ea typeface="Arial"/>
              <a:cs typeface="Arial"/>
              <a:sym typeface="Arial"/>
            </a:endParaRPr>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236451" y="294069"/>
            <a:ext cx="9029469" cy="1441645"/>
            <a:chOff x="0" y="0"/>
            <a:chExt cx="12039292" cy="1922193"/>
          </a:xfrm>
        </p:grpSpPr>
        <p:sp>
          <p:nvSpPr>
            <p:cNvPr id="4" name="Freeform 4"/>
            <p:cNvSpPr/>
            <p:nvPr/>
          </p:nvSpPr>
          <p:spPr>
            <a:xfrm>
              <a:off x="0" y="0"/>
              <a:ext cx="12039291" cy="1922193"/>
            </a:xfrm>
            <a:custGeom>
              <a:avLst/>
              <a:gdLst/>
              <a:ahLst/>
              <a:cxnLst/>
              <a:rect l="l" t="t" r="r" b="b"/>
              <a:pathLst>
                <a:path w="12039291" h="1922193">
                  <a:moveTo>
                    <a:pt x="0" y="0"/>
                  </a:moveTo>
                  <a:lnTo>
                    <a:pt x="12039291" y="0"/>
                  </a:lnTo>
                  <a:lnTo>
                    <a:pt x="12039291" y="1922193"/>
                  </a:lnTo>
                  <a:lnTo>
                    <a:pt x="0" y="1922193"/>
                  </a:lnTo>
                  <a:close/>
                </a:path>
              </a:pathLst>
            </a:custGeom>
            <a:solidFill>
              <a:srgbClr val="000000">
                <a:alpha val="0"/>
              </a:srgbClr>
            </a:solidFill>
          </p:spPr>
          <p:txBody>
            <a:bodyPr/>
            <a:lstStyle/>
            <a:p>
              <a:endParaRPr lang="en-US"/>
            </a:p>
          </p:txBody>
        </p:sp>
        <p:sp>
          <p:nvSpPr>
            <p:cNvPr id="5" name="TextBox 5"/>
            <p:cNvSpPr txBox="1"/>
            <p:nvPr/>
          </p:nvSpPr>
          <p:spPr>
            <a:xfrm>
              <a:off x="0" y="-57150"/>
              <a:ext cx="12039292" cy="1979343"/>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Thuật toán bầu chọn</a:t>
              </a:r>
            </a:p>
            <a:p>
              <a:pPr algn="l">
                <a:lnSpc>
                  <a:spcPts val="3583"/>
                </a:lnSpc>
              </a:pPr>
              <a:endParaRPr lang="en-US" sz="2986" b="1">
                <a:solidFill>
                  <a:srgbClr val="FFFF00"/>
                </a:solidFill>
                <a:latin typeface="Arial Bold"/>
                <a:ea typeface="Arial Bold"/>
                <a:cs typeface="Arial Bold"/>
                <a:sym typeface="Arial Bold"/>
              </a:endParaRPr>
            </a:p>
            <a:p>
              <a:pPr algn="l">
                <a:lnSpc>
                  <a:spcPts val="3583"/>
                </a:lnSpc>
              </a:pPr>
              <a:endParaRPr lang="en-US" sz="2986" b="1">
                <a:solidFill>
                  <a:srgbClr val="FFFF00"/>
                </a:solidFill>
                <a:latin typeface="Arial Bold"/>
                <a:ea typeface="Arial Bold"/>
                <a:cs typeface="Arial Bold"/>
                <a:sym typeface="Arial Bold"/>
              </a:endParaRPr>
            </a:p>
          </p:txBody>
        </p:sp>
      </p:grpSp>
      <p:sp>
        <p:nvSpPr>
          <p:cNvPr id="6" name="TextBox 6"/>
          <p:cNvSpPr txBox="1"/>
          <p:nvPr/>
        </p:nvSpPr>
        <p:spPr>
          <a:xfrm>
            <a:off x="293561" y="1440438"/>
            <a:ext cx="8453154" cy="733425"/>
          </a:xfrm>
          <a:prstGeom prst="rect">
            <a:avLst/>
          </a:prstGeom>
        </p:spPr>
        <p:txBody>
          <a:bodyPr lIns="0" tIns="0" rIns="0" bIns="0" rtlCol="0" anchor="t">
            <a:spAutoFit/>
          </a:bodyPr>
          <a:lstStyle/>
          <a:p>
            <a:pPr algn="just">
              <a:lnSpc>
                <a:spcPts val="2760"/>
              </a:lnSpc>
            </a:pPr>
            <a:r>
              <a:rPr lang="en-US" sz="2300" b="1">
                <a:solidFill>
                  <a:srgbClr val="000000"/>
                </a:solidFill>
                <a:latin typeface="Arial Bold"/>
                <a:ea typeface="Arial Bold"/>
                <a:cs typeface="Arial Bold"/>
                <a:sym typeface="Arial Bold"/>
              </a:rPr>
              <a:t>Ví dụ: Bầu chọn lãnh đạo trong Raft</a:t>
            </a:r>
          </a:p>
          <a:p>
            <a:pPr algn="just">
              <a:lnSpc>
                <a:spcPts val="2760"/>
              </a:lnSpc>
              <a:spcBef>
                <a:spcPct val="0"/>
              </a:spcBef>
            </a:pPr>
            <a:endParaRPr lang="en-US" sz="2300" b="1">
              <a:solidFill>
                <a:srgbClr val="000000"/>
              </a:solidFill>
              <a:latin typeface="Arial Bold"/>
              <a:ea typeface="Arial Bold"/>
              <a:cs typeface="Arial Bold"/>
              <a:sym typeface="Arial Bold"/>
            </a:endParaRPr>
          </a:p>
        </p:txBody>
      </p:sp>
      <p:sp>
        <p:nvSpPr>
          <p:cNvPr id="7" name="TextBox 7"/>
          <p:cNvSpPr txBox="1"/>
          <p:nvPr/>
        </p:nvSpPr>
        <p:spPr>
          <a:xfrm>
            <a:off x="512636" y="1964313"/>
            <a:ext cx="8753284" cy="2790825"/>
          </a:xfrm>
          <a:prstGeom prst="rect">
            <a:avLst/>
          </a:prstGeom>
        </p:spPr>
        <p:txBody>
          <a:bodyPr lIns="0" tIns="0" rIns="0" bIns="0" rtlCol="0" anchor="t">
            <a:spAutoFit/>
          </a:bodyPr>
          <a:lstStyle/>
          <a:p>
            <a:pPr algn="just">
              <a:lnSpc>
                <a:spcPts val="2400"/>
              </a:lnSpc>
            </a:pPr>
            <a:r>
              <a:rPr lang="en-US" sz="2000" b="1">
                <a:solidFill>
                  <a:srgbClr val="000000"/>
                </a:solidFill>
                <a:latin typeface="Arial Bold"/>
                <a:ea typeface="Arial Bold"/>
                <a:cs typeface="Arial Bold"/>
                <a:sym typeface="Arial Bold"/>
              </a:rPr>
              <a:t>Cơ bản (Basics)</a:t>
            </a:r>
          </a:p>
          <a:p>
            <a:pPr marL="431801" lvl="1" indent="-215900" algn="just">
              <a:lnSpc>
                <a:spcPts val="2400"/>
              </a:lnSpc>
              <a:buFont typeface="Arial"/>
              <a:buChar char="•"/>
            </a:pPr>
            <a:r>
              <a:rPr lang="en-US" sz="2000">
                <a:solidFill>
                  <a:srgbClr val="000000"/>
                </a:solidFill>
                <a:latin typeface="Arial"/>
                <a:ea typeface="Arial"/>
                <a:cs typeface="Arial"/>
                <a:sym typeface="Arial"/>
              </a:rPr>
              <a:t>Hệ thống bao gồm một nhóm máy chủ tương đối nhỏ.</a:t>
            </a:r>
          </a:p>
          <a:p>
            <a:pPr marL="431801" lvl="1" indent="-215900" algn="just">
              <a:lnSpc>
                <a:spcPts val="2400"/>
              </a:lnSpc>
              <a:buFont typeface="Arial"/>
              <a:buChar char="•"/>
            </a:pPr>
            <a:r>
              <a:rPr lang="en-US" sz="2000">
                <a:solidFill>
                  <a:srgbClr val="000000"/>
                </a:solidFill>
                <a:latin typeface="Arial"/>
                <a:ea typeface="Arial"/>
                <a:cs typeface="Arial"/>
                <a:sym typeface="Arial"/>
              </a:rPr>
              <a:t>Một máy chủ có thể ở một trong ba trạng thái: follower (người theo dõi), candidate (ứng viên), hoặc leader (lãnh đạo).</a:t>
            </a:r>
          </a:p>
          <a:p>
            <a:pPr marL="431801" lvl="1" indent="-215900" algn="just">
              <a:lnSpc>
                <a:spcPts val="2400"/>
              </a:lnSpc>
              <a:buFont typeface="Arial"/>
              <a:buChar char="•"/>
            </a:pPr>
            <a:r>
              <a:rPr lang="en-US" sz="2000">
                <a:solidFill>
                  <a:srgbClr val="000000"/>
                </a:solidFill>
                <a:latin typeface="Arial"/>
                <a:ea typeface="Arial"/>
                <a:cs typeface="Arial"/>
                <a:sym typeface="Arial"/>
              </a:rPr>
              <a:t>Giao thức hoạt động theo các nhiệm kỳ (terms), bắt đầu từ nhiệm kỳ 0.</a:t>
            </a:r>
          </a:p>
          <a:p>
            <a:pPr marL="431801" lvl="1" indent="-215900" algn="just">
              <a:lnSpc>
                <a:spcPts val="2400"/>
              </a:lnSpc>
              <a:buFont typeface="Arial"/>
              <a:buChar char="•"/>
            </a:pPr>
            <a:r>
              <a:rPr lang="en-US" sz="2000">
                <a:solidFill>
                  <a:srgbClr val="000000"/>
                </a:solidFill>
                <a:latin typeface="Arial"/>
                <a:ea typeface="Arial"/>
                <a:cs typeface="Arial"/>
                <a:sym typeface="Arial"/>
              </a:rPr>
              <a:t>Mỗi máy chủ bắt đầu ở trạng thái follower.</a:t>
            </a:r>
          </a:p>
          <a:p>
            <a:pPr marL="431801" lvl="1" indent="-215900" algn="just">
              <a:lnSpc>
                <a:spcPts val="2400"/>
              </a:lnSpc>
              <a:buFont typeface="Arial"/>
              <a:buChar char="•"/>
            </a:pPr>
            <a:r>
              <a:rPr lang="en-US" sz="2000">
                <a:solidFill>
                  <a:srgbClr val="000000"/>
                </a:solidFill>
                <a:latin typeface="Arial"/>
                <a:ea typeface="Arial"/>
                <a:cs typeface="Arial"/>
                <a:sym typeface="Arial"/>
              </a:rPr>
              <a:t>Một leader sẽ thường xuyên phát thông điệp (có thể chỉ là một tín hiệu đơn giản heartbeat – nhịp tim).</a:t>
            </a:r>
          </a:p>
          <a:p>
            <a:pPr algn="just">
              <a:lnSpc>
                <a:spcPts val="2400"/>
              </a:lnSpc>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236451" y="294069"/>
            <a:ext cx="9029469" cy="1441645"/>
            <a:chOff x="0" y="0"/>
            <a:chExt cx="12039292" cy="1922193"/>
          </a:xfrm>
        </p:grpSpPr>
        <p:sp>
          <p:nvSpPr>
            <p:cNvPr id="4" name="Freeform 4"/>
            <p:cNvSpPr/>
            <p:nvPr/>
          </p:nvSpPr>
          <p:spPr>
            <a:xfrm>
              <a:off x="0" y="0"/>
              <a:ext cx="12039291" cy="1922193"/>
            </a:xfrm>
            <a:custGeom>
              <a:avLst/>
              <a:gdLst/>
              <a:ahLst/>
              <a:cxnLst/>
              <a:rect l="l" t="t" r="r" b="b"/>
              <a:pathLst>
                <a:path w="12039291" h="1922193">
                  <a:moveTo>
                    <a:pt x="0" y="0"/>
                  </a:moveTo>
                  <a:lnTo>
                    <a:pt x="12039291" y="0"/>
                  </a:lnTo>
                  <a:lnTo>
                    <a:pt x="12039291" y="1922193"/>
                  </a:lnTo>
                  <a:lnTo>
                    <a:pt x="0" y="1922193"/>
                  </a:lnTo>
                  <a:close/>
                </a:path>
              </a:pathLst>
            </a:custGeom>
            <a:solidFill>
              <a:srgbClr val="000000">
                <a:alpha val="0"/>
              </a:srgbClr>
            </a:solidFill>
          </p:spPr>
          <p:txBody>
            <a:bodyPr/>
            <a:lstStyle/>
            <a:p>
              <a:endParaRPr lang="en-US"/>
            </a:p>
          </p:txBody>
        </p:sp>
        <p:sp>
          <p:nvSpPr>
            <p:cNvPr id="5" name="TextBox 5"/>
            <p:cNvSpPr txBox="1"/>
            <p:nvPr/>
          </p:nvSpPr>
          <p:spPr>
            <a:xfrm>
              <a:off x="0" y="-57150"/>
              <a:ext cx="12039292" cy="1979343"/>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Thuật toán bầu chọn</a:t>
              </a:r>
            </a:p>
            <a:p>
              <a:pPr algn="l">
                <a:lnSpc>
                  <a:spcPts val="3583"/>
                </a:lnSpc>
              </a:pPr>
              <a:endParaRPr lang="en-US" sz="2986" b="1">
                <a:solidFill>
                  <a:srgbClr val="FFFF00"/>
                </a:solidFill>
                <a:latin typeface="Arial Bold"/>
                <a:ea typeface="Arial Bold"/>
                <a:cs typeface="Arial Bold"/>
                <a:sym typeface="Arial Bold"/>
              </a:endParaRPr>
            </a:p>
            <a:p>
              <a:pPr algn="l">
                <a:lnSpc>
                  <a:spcPts val="3583"/>
                </a:lnSpc>
              </a:pPr>
              <a:endParaRPr lang="en-US" sz="2986" b="1">
                <a:solidFill>
                  <a:srgbClr val="FFFF00"/>
                </a:solidFill>
                <a:latin typeface="Arial Bold"/>
                <a:ea typeface="Arial Bold"/>
                <a:cs typeface="Arial Bold"/>
                <a:sym typeface="Arial Bold"/>
              </a:endParaRPr>
            </a:p>
          </p:txBody>
        </p:sp>
      </p:grpSp>
      <p:sp>
        <p:nvSpPr>
          <p:cNvPr id="6" name="TextBox 6"/>
          <p:cNvSpPr txBox="1"/>
          <p:nvPr/>
        </p:nvSpPr>
        <p:spPr>
          <a:xfrm>
            <a:off x="293561" y="1430913"/>
            <a:ext cx="8453154"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Ví dụ: Bầu chọn lãnh đạo trong Raft</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
        <p:nvSpPr>
          <p:cNvPr id="7" name="TextBox 7"/>
          <p:cNvSpPr txBox="1"/>
          <p:nvPr/>
        </p:nvSpPr>
        <p:spPr>
          <a:xfrm>
            <a:off x="650223" y="1976704"/>
            <a:ext cx="8453154" cy="4314825"/>
          </a:xfrm>
          <a:prstGeom prst="rect">
            <a:avLst/>
          </a:prstGeom>
        </p:spPr>
        <p:txBody>
          <a:bodyPr lIns="0" tIns="0" rIns="0" bIns="0" rtlCol="0" anchor="t">
            <a:spAutoFit/>
          </a:bodyPr>
          <a:lstStyle/>
          <a:p>
            <a:pPr algn="just">
              <a:lnSpc>
                <a:spcPts val="2400"/>
              </a:lnSpc>
            </a:pPr>
            <a:r>
              <a:rPr lang="en-US" sz="2000" b="1">
                <a:solidFill>
                  <a:srgbClr val="000000"/>
                </a:solidFill>
                <a:latin typeface="Arial Bold"/>
                <a:ea typeface="Arial Bold"/>
                <a:cs typeface="Arial Bold"/>
                <a:sym typeface="Arial Bold"/>
              </a:rPr>
              <a:t>Chọn một lãnh đạo mới (Selecting a new leader)</a:t>
            </a:r>
          </a:p>
          <a:p>
            <a:pPr algn="just">
              <a:lnSpc>
                <a:spcPts val="2400"/>
              </a:lnSpc>
            </a:pPr>
            <a:r>
              <a:rPr lang="en-US" sz="2000">
                <a:solidFill>
                  <a:srgbClr val="000000"/>
                </a:solidFill>
                <a:latin typeface="Arial"/>
                <a:ea typeface="Arial"/>
                <a:cs typeface="Arial"/>
                <a:sym typeface="Arial"/>
              </a:rPr>
              <a:t>Khi một follower s* không nhận được thông tin gì từ leader s trong một khoảng thời gian, s* sẽ phát tín hiệu tự ứng cử làm leader, đồng thời tăng nhiệm kỳ lên 1. Khi đó, s* chuyển sang trạng thái candidate (ứng viên). </a:t>
            </a:r>
            <a:r>
              <a:rPr lang="en-US" sz="2000" b="1">
                <a:solidFill>
                  <a:srgbClr val="000000"/>
                </a:solidFill>
                <a:latin typeface="Arial Bold"/>
                <a:ea typeface="Arial Bold"/>
                <a:cs typeface="Arial Bold"/>
                <a:sym typeface="Arial Bold"/>
              </a:rPr>
              <a:t>Tiếp theo:</a:t>
            </a:r>
          </a:p>
          <a:p>
            <a:pPr marL="431804" lvl="1" indent="-215902" algn="just">
              <a:lnSpc>
                <a:spcPts val="2400"/>
              </a:lnSpc>
              <a:buFont typeface="Arial"/>
              <a:buChar char="•"/>
            </a:pPr>
            <a:r>
              <a:rPr lang="en-US" sz="2000">
                <a:solidFill>
                  <a:srgbClr val="000000"/>
                </a:solidFill>
                <a:latin typeface="Arial"/>
                <a:ea typeface="Arial"/>
                <a:cs typeface="Arial"/>
                <a:sym typeface="Arial"/>
              </a:rPr>
              <a:t>Nếu leader s nhận được thông điệp, nó sẽ phản hồi và xác nhận rằng nó vẫn là leader. Khi đó, s∗ sẽ quay lại trạng thái follower.</a:t>
            </a:r>
          </a:p>
          <a:p>
            <a:pPr marL="431804" lvl="1" indent="-215902" algn="just">
              <a:lnSpc>
                <a:spcPts val="2400"/>
              </a:lnSpc>
              <a:buFont typeface="Arial"/>
              <a:buChar char="•"/>
            </a:pPr>
            <a:r>
              <a:rPr lang="en-US" sz="2000">
                <a:solidFill>
                  <a:srgbClr val="000000"/>
                </a:solidFill>
                <a:latin typeface="Arial"/>
                <a:ea typeface="Arial"/>
                <a:cs typeface="Arial"/>
                <a:sym typeface="Arial"/>
              </a:rPr>
              <a:t>Nếu một follower khác s** nhận được thông điệp bầu chọn từ s*, và đây là thông điệp bầu chọn đầu tiên trong nhiệm kỳ hiện tại, thì s** sẽ bỏ phiếu cho s*. Nếu không, nó sẽ bỏ qua thông điệp bầu chọn từ s*. Khi s* thu thập đủ số phiếu đa số, một nhiệm kỳ mới bắt đầu với leader mới.</a:t>
            </a:r>
          </a:p>
          <a:p>
            <a:pPr algn="just">
              <a:lnSpc>
                <a:spcPts val="2400"/>
              </a:lnSpc>
            </a:pPr>
            <a:endParaRPr lang="en-US" sz="2000">
              <a:solidFill>
                <a:srgbClr val="000000"/>
              </a:solidFill>
              <a:latin typeface="Arial"/>
              <a:ea typeface="Arial"/>
              <a:cs typeface="Arial"/>
              <a:sym typeface="Arial"/>
            </a:endParaRPr>
          </a:p>
          <a:p>
            <a:pPr algn="just">
              <a:lnSpc>
                <a:spcPts val="2400"/>
              </a:lnSpc>
              <a:spcBef>
                <a:spcPct val="0"/>
              </a:spcBef>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236451" y="294069"/>
            <a:ext cx="9029469" cy="1441645"/>
            <a:chOff x="0" y="0"/>
            <a:chExt cx="12039292" cy="1922193"/>
          </a:xfrm>
        </p:grpSpPr>
        <p:sp>
          <p:nvSpPr>
            <p:cNvPr id="4" name="Freeform 4"/>
            <p:cNvSpPr/>
            <p:nvPr/>
          </p:nvSpPr>
          <p:spPr>
            <a:xfrm>
              <a:off x="0" y="0"/>
              <a:ext cx="12039291" cy="1922193"/>
            </a:xfrm>
            <a:custGeom>
              <a:avLst/>
              <a:gdLst/>
              <a:ahLst/>
              <a:cxnLst/>
              <a:rect l="l" t="t" r="r" b="b"/>
              <a:pathLst>
                <a:path w="12039291" h="1922193">
                  <a:moveTo>
                    <a:pt x="0" y="0"/>
                  </a:moveTo>
                  <a:lnTo>
                    <a:pt x="12039291" y="0"/>
                  </a:lnTo>
                  <a:lnTo>
                    <a:pt x="12039291" y="1922193"/>
                  </a:lnTo>
                  <a:lnTo>
                    <a:pt x="0" y="1922193"/>
                  </a:lnTo>
                  <a:close/>
                </a:path>
              </a:pathLst>
            </a:custGeom>
            <a:solidFill>
              <a:srgbClr val="000000">
                <a:alpha val="0"/>
              </a:srgbClr>
            </a:solidFill>
          </p:spPr>
          <p:txBody>
            <a:bodyPr/>
            <a:lstStyle/>
            <a:p>
              <a:endParaRPr lang="en-US"/>
            </a:p>
          </p:txBody>
        </p:sp>
        <p:sp>
          <p:nvSpPr>
            <p:cNvPr id="5" name="TextBox 5"/>
            <p:cNvSpPr txBox="1"/>
            <p:nvPr/>
          </p:nvSpPr>
          <p:spPr>
            <a:xfrm>
              <a:off x="0" y="-57150"/>
              <a:ext cx="12039292" cy="1979343"/>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Thuật toán bầu chọn</a:t>
              </a:r>
            </a:p>
            <a:p>
              <a:pPr algn="l">
                <a:lnSpc>
                  <a:spcPts val="3583"/>
                </a:lnSpc>
              </a:pPr>
              <a:endParaRPr lang="en-US" sz="2986" b="1">
                <a:solidFill>
                  <a:srgbClr val="FFFF00"/>
                </a:solidFill>
                <a:latin typeface="Arial Bold"/>
                <a:ea typeface="Arial Bold"/>
                <a:cs typeface="Arial Bold"/>
                <a:sym typeface="Arial Bold"/>
              </a:endParaRPr>
            </a:p>
            <a:p>
              <a:pPr algn="l">
                <a:lnSpc>
                  <a:spcPts val="3583"/>
                </a:lnSpc>
              </a:pPr>
              <a:endParaRPr lang="en-US" sz="2986" b="1">
                <a:solidFill>
                  <a:srgbClr val="FFFF00"/>
                </a:solidFill>
                <a:latin typeface="Arial Bold"/>
                <a:ea typeface="Arial Bold"/>
                <a:cs typeface="Arial Bold"/>
                <a:sym typeface="Arial Bold"/>
              </a:endParaRPr>
            </a:p>
          </p:txBody>
        </p:sp>
      </p:grpSp>
      <p:sp>
        <p:nvSpPr>
          <p:cNvPr id="6" name="TextBox 6"/>
          <p:cNvSpPr txBox="1"/>
          <p:nvPr/>
        </p:nvSpPr>
        <p:spPr>
          <a:xfrm>
            <a:off x="293561" y="1430913"/>
            <a:ext cx="8453154"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Ví dụ: Bầu chọn lãnh đạo trong Raft</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
        <p:nvSpPr>
          <p:cNvPr id="7" name="TextBox 7"/>
          <p:cNvSpPr txBox="1"/>
          <p:nvPr/>
        </p:nvSpPr>
        <p:spPr>
          <a:xfrm>
            <a:off x="650223" y="1907163"/>
            <a:ext cx="8994756" cy="5229225"/>
          </a:xfrm>
          <a:prstGeom prst="rect">
            <a:avLst/>
          </a:prstGeom>
        </p:spPr>
        <p:txBody>
          <a:bodyPr lIns="0" tIns="0" rIns="0" bIns="0" rtlCol="0" anchor="t">
            <a:spAutoFit/>
          </a:bodyPr>
          <a:lstStyle/>
          <a:p>
            <a:pPr algn="just">
              <a:lnSpc>
                <a:spcPts val="2400"/>
              </a:lnSpc>
            </a:pPr>
            <a:r>
              <a:rPr lang="en-US" sz="2000" b="1">
                <a:solidFill>
                  <a:srgbClr val="000000"/>
                </a:solidFill>
                <a:latin typeface="Arial Bold"/>
                <a:ea typeface="Arial Bold"/>
                <a:cs typeface="Arial Bold"/>
                <a:sym typeface="Arial Bold"/>
              </a:rPr>
              <a:t>Chọn một lãnh đạo mới (Selecting a new leader)</a:t>
            </a:r>
          </a:p>
          <a:p>
            <a:pPr algn="just">
              <a:lnSpc>
                <a:spcPts val="2400"/>
              </a:lnSpc>
            </a:pPr>
            <a:r>
              <a:rPr lang="en-US" sz="2000">
                <a:solidFill>
                  <a:srgbClr val="000000"/>
                </a:solidFill>
                <a:latin typeface="Arial"/>
                <a:ea typeface="Arial"/>
                <a:cs typeface="Arial"/>
                <a:sym typeface="Arial"/>
              </a:rPr>
              <a:t>Khi một follower s* không nhận được thông tin gì từ leader s trong một khoảng thời gian, s* sẽ phát tín hiệu tự ứng cử làm leader, đồng thời tăng nhiệm kỳ lên 1. Khi đó, s* chuyển sang trạng thái candidate (ứng viên). </a:t>
            </a:r>
            <a:r>
              <a:rPr lang="en-US" sz="2000" b="1">
                <a:solidFill>
                  <a:srgbClr val="000000"/>
                </a:solidFill>
                <a:latin typeface="Arial Bold"/>
                <a:ea typeface="Arial Bold"/>
                <a:cs typeface="Arial Bold"/>
                <a:sym typeface="Arial Bold"/>
              </a:rPr>
              <a:t>Tiếp theo:</a:t>
            </a:r>
          </a:p>
          <a:p>
            <a:pPr marL="431801" lvl="1" indent="-215900" algn="just">
              <a:lnSpc>
                <a:spcPts val="2400"/>
              </a:lnSpc>
              <a:buFont typeface="Arial"/>
              <a:buChar char="•"/>
            </a:pPr>
            <a:r>
              <a:rPr lang="en-US" sz="2000">
                <a:solidFill>
                  <a:srgbClr val="000000"/>
                </a:solidFill>
                <a:latin typeface="Arial"/>
                <a:ea typeface="Arial"/>
                <a:cs typeface="Arial"/>
                <a:sym typeface="Arial"/>
              </a:rPr>
              <a:t>Nếu leader s nhận được thông điệp, nó sẽ phản hồi và xác nhận rằng nó vẫn là leader. Khi đó, s∗ sẽ quay lại trạng thái follower.</a:t>
            </a:r>
          </a:p>
          <a:p>
            <a:pPr marL="431801" lvl="1" indent="-215900" algn="just">
              <a:lnSpc>
                <a:spcPts val="2400"/>
              </a:lnSpc>
              <a:buFont typeface="Arial"/>
              <a:buChar char="•"/>
            </a:pPr>
            <a:r>
              <a:rPr lang="en-US" sz="2000">
                <a:solidFill>
                  <a:srgbClr val="000000"/>
                </a:solidFill>
                <a:latin typeface="Arial"/>
                <a:ea typeface="Arial"/>
                <a:cs typeface="Arial"/>
                <a:sym typeface="Arial"/>
              </a:rPr>
              <a:t>Nếu một follower khác s** nhận được thông điệp bầu chọn từ s*, và đây là thông điệp bầu chọn đầu tiên trong nhiệm kỳ hiện tại, thì s** sẽ bỏ phiếu cho s*. Nếu không, nó sẽ bỏ qua thông điệp bầu chọn từ s*. Khi s* thu thập đủ số phiếu đa số, một nhiệm kỳ mới bắt đầu với leader mới.</a:t>
            </a:r>
          </a:p>
          <a:p>
            <a:pPr algn="just">
              <a:lnSpc>
                <a:spcPts val="2400"/>
              </a:lnSpc>
            </a:pPr>
            <a:r>
              <a:rPr lang="en-US" sz="2000" b="1">
                <a:solidFill>
                  <a:srgbClr val="000000"/>
                </a:solidFill>
                <a:latin typeface="Arial Bold"/>
                <a:ea typeface="Arial Bold"/>
                <a:cs typeface="Arial Bold"/>
                <a:sym typeface="Arial Bold"/>
              </a:rPr>
              <a:t>Quan sát (Observation)</a:t>
            </a:r>
          </a:p>
          <a:p>
            <a:pPr algn="just">
              <a:lnSpc>
                <a:spcPts val="2400"/>
              </a:lnSpc>
            </a:pPr>
            <a:r>
              <a:rPr lang="en-US" sz="2000">
                <a:solidFill>
                  <a:srgbClr val="000000"/>
                </a:solidFill>
                <a:latin typeface="Arial"/>
                <a:ea typeface="Arial"/>
                <a:cs typeface="Arial"/>
                <a:sym typeface="Arial"/>
              </a:rPr>
              <a:t>Bằng cách điều chỉnh thời gian timeout khác nhau cho mỗi follower để quyết định khi nào bắt đầu một cuộc bầu chọn, ta có thể tránh các cuộc bầu chọn đồng thời và quá trình bầu chọn sẽ hội tụ nhanh hơn.</a:t>
            </a:r>
          </a:p>
          <a:p>
            <a:pPr algn="just">
              <a:lnSpc>
                <a:spcPts val="2400"/>
              </a:lnSpc>
            </a:pPr>
            <a:endParaRPr lang="en-US" sz="2000">
              <a:solidFill>
                <a:srgbClr val="000000"/>
              </a:solidFill>
              <a:latin typeface="Arial"/>
              <a:ea typeface="Arial"/>
              <a:cs typeface="Arial"/>
              <a:sym typeface="Arial"/>
            </a:endParaRPr>
          </a:p>
          <a:p>
            <a:pPr algn="just">
              <a:lnSpc>
                <a:spcPts val="2400"/>
              </a:lnSpc>
            </a:pPr>
            <a:endParaRPr lang="en-US" sz="2000">
              <a:solidFill>
                <a:srgbClr val="000000"/>
              </a:solidFill>
              <a:latin typeface="Arial"/>
              <a:ea typeface="Arial"/>
              <a:cs typeface="Arial"/>
              <a:sym typeface="Arial"/>
            </a:endParaRPr>
          </a:p>
          <a:p>
            <a:pPr algn="just">
              <a:lnSpc>
                <a:spcPts val="2400"/>
              </a:lnSpc>
              <a:spcBef>
                <a:spcPct val="0"/>
              </a:spcBef>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236451" y="294069"/>
            <a:ext cx="9029469" cy="1441645"/>
            <a:chOff x="0" y="0"/>
            <a:chExt cx="12039292" cy="1922193"/>
          </a:xfrm>
        </p:grpSpPr>
        <p:sp>
          <p:nvSpPr>
            <p:cNvPr id="4" name="Freeform 4"/>
            <p:cNvSpPr/>
            <p:nvPr/>
          </p:nvSpPr>
          <p:spPr>
            <a:xfrm>
              <a:off x="0" y="0"/>
              <a:ext cx="12039291" cy="1922193"/>
            </a:xfrm>
            <a:custGeom>
              <a:avLst/>
              <a:gdLst/>
              <a:ahLst/>
              <a:cxnLst/>
              <a:rect l="l" t="t" r="r" b="b"/>
              <a:pathLst>
                <a:path w="12039291" h="1922193">
                  <a:moveTo>
                    <a:pt x="0" y="0"/>
                  </a:moveTo>
                  <a:lnTo>
                    <a:pt x="12039291" y="0"/>
                  </a:lnTo>
                  <a:lnTo>
                    <a:pt x="12039291" y="1922193"/>
                  </a:lnTo>
                  <a:lnTo>
                    <a:pt x="0" y="1922193"/>
                  </a:lnTo>
                  <a:close/>
                </a:path>
              </a:pathLst>
            </a:custGeom>
            <a:solidFill>
              <a:srgbClr val="000000">
                <a:alpha val="0"/>
              </a:srgbClr>
            </a:solidFill>
          </p:spPr>
          <p:txBody>
            <a:bodyPr/>
            <a:lstStyle/>
            <a:p>
              <a:endParaRPr lang="en-US"/>
            </a:p>
          </p:txBody>
        </p:sp>
        <p:sp>
          <p:nvSpPr>
            <p:cNvPr id="5" name="TextBox 5"/>
            <p:cNvSpPr txBox="1"/>
            <p:nvPr/>
          </p:nvSpPr>
          <p:spPr>
            <a:xfrm>
              <a:off x="0" y="-57150"/>
              <a:ext cx="12039292" cy="1979343"/>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Thuật toán bầu chọn</a:t>
              </a:r>
            </a:p>
            <a:p>
              <a:pPr algn="l">
                <a:lnSpc>
                  <a:spcPts val="3583"/>
                </a:lnSpc>
              </a:pPr>
              <a:endParaRPr lang="en-US" sz="2986" b="1">
                <a:solidFill>
                  <a:srgbClr val="FFFF00"/>
                </a:solidFill>
                <a:latin typeface="Arial Bold"/>
                <a:ea typeface="Arial Bold"/>
                <a:cs typeface="Arial Bold"/>
                <a:sym typeface="Arial Bold"/>
              </a:endParaRPr>
            </a:p>
            <a:p>
              <a:pPr algn="l">
                <a:lnSpc>
                  <a:spcPts val="3583"/>
                </a:lnSpc>
              </a:pPr>
              <a:endParaRPr lang="en-US" sz="2986" b="1">
                <a:solidFill>
                  <a:srgbClr val="FFFF00"/>
                </a:solidFill>
                <a:latin typeface="Arial Bold"/>
                <a:ea typeface="Arial Bold"/>
                <a:cs typeface="Arial Bold"/>
                <a:sym typeface="Arial Bold"/>
              </a:endParaRPr>
            </a:p>
          </p:txBody>
        </p:sp>
      </p:grpSp>
      <p:sp>
        <p:nvSpPr>
          <p:cNvPr id="6" name="Freeform 6"/>
          <p:cNvSpPr/>
          <p:nvPr/>
        </p:nvSpPr>
        <p:spPr>
          <a:xfrm>
            <a:off x="1174928" y="1783338"/>
            <a:ext cx="7091340" cy="4847967"/>
          </a:xfrm>
          <a:custGeom>
            <a:avLst/>
            <a:gdLst/>
            <a:ahLst/>
            <a:cxnLst/>
            <a:rect l="l" t="t" r="r" b="b"/>
            <a:pathLst>
              <a:path w="7091340" h="4847967">
                <a:moveTo>
                  <a:pt x="0" y="0"/>
                </a:moveTo>
                <a:lnTo>
                  <a:pt x="7091339" y="0"/>
                </a:lnTo>
                <a:lnTo>
                  <a:pt x="7091339" y="4847967"/>
                </a:lnTo>
                <a:lnTo>
                  <a:pt x="0" y="4847967"/>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414775" y="1326138"/>
            <a:ext cx="8453154" cy="447675"/>
          </a:xfrm>
          <a:prstGeom prst="rect">
            <a:avLst/>
          </a:prstGeom>
        </p:spPr>
        <p:txBody>
          <a:bodyPr lIns="0" tIns="0" rIns="0" bIns="0" rtlCol="0" anchor="t">
            <a:spAutoFit/>
          </a:bodyPr>
          <a:lstStyle/>
          <a:p>
            <a:pPr algn="just">
              <a:lnSpc>
                <a:spcPts val="3120"/>
              </a:lnSpc>
              <a:spcBef>
                <a:spcPct val="0"/>
              </a:spcBef>
            </a:pPr>
            <a:r>
              <a:rPr lang="en-US" sz="2600" b="1">
                <a:solidFill>
                  <a:srgbClr val="000000"/>
                </a:solidFill>
                <a:latin typeface="Arial Bold"/>
                <a:ea typeface="Arial Bold"/>
                <a:cs typeface="Arial Bold"/>
                <a:sym typeface="Arial Bold"/>
              </a:rPr>
              <a:t>Bầu chọn bằng bằng chứng công việc </a:t>
            </a: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236451" y="294069"/>
            <a:ext cx="9029469" cy="1441645"/>
            <a:chOff x="0" y="0"/>
            <a:chExt cx="12039292" cy="1922193"/>
          </a:xfrm>
        </p:grpSpPr>
        <p:sp>
          <p:nvSpPr>
            <p:cNvPr id="4" name="Freeform 4"/>
            <p:cNvSpPr/>
            <p:nvPr/>
          </p:nvSpPr>
          <p:spPr>
            <a:xfrm>
              <a:off x="0" y="0"/>
              <a:ext cx="12039291" cy="1922193"/>
            </a:xfrm>
            <a:custGeom>
              <a:avLst/>
              <a:gdLst/>
              <a:ahLst/>
              <a:cxnLst/>
              <a:rect l="l" t="t" r="r" b="b"/>
              <a:pathLst>
                <a:path w="12039291" h="1922193">
                  <a:moveTo>
                    <a:pt x="0" y="0"/>
                  </a:moveTo>
                  <a:lnTo>
                    <a:pt x="12039291" y="0"/>
                  </a:lnTo>
                  <a:lnTo>
                    <a:pt x="12039291" y="1922193"/>
                  </a:lnTo>
                  <a:lnTo>
                    <a:pt x="0" y="1922193"/>
                  </a:lnTo>
                  <a:close/>
                </a:path>
              </a:pathLst>
            </a:custGeom>
            <a:solidFill>
              <a:srgbClr val="000000">
                <a:alpha val="0"/>
              </a:srgbClr>
            </a:solidFill>
          </p:spPr>
          <p:txBody>
            <a:bodyPr/>
            <a:lstStyle/>
            <a:p>
              <a:endParaRPr lang="en-US"/>
            </a:p>
          </p:txBody>
        </p:sp>
        <p:sp>
          <p:nvSpPr>
            <p:cNvPr id="5" name="TextBox 5"/>
            <p:cNvSpPr txBox="1"/>
            <p:nvPr/>
          </p:nvSpPr>
          <p:spPr>
            <a:xfrm>
              <a:off x="0" y="-57150"/>
              <a:ext cx="12039292" cy="1979343"/>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Thuật toán bầu chọn</a:t>
              </a:r>
            </a:p>
            <a:p>
              <a:pPr algn="l">
                <a:lnSpc>
                  <a:spcPts val="3583"/>
                </a:lnSpc>
              </a:pPr>
              <a:endParaRPr lang="en-US" sz="2986" b="1">
                <a:solidFill>
                  <a:srgbClr val="FFFF00"/>
                </a:solidFill>
                <a:latin typeface="Arial Bold"/>
                <a:ea typeface="Arial Bold"/>
                <a:cs typeface="Arial Bold"/>
                <a:sym typeface="Arial Bold"/>
              </a:endParaRPr>
            </a:p>
            <a:p>
              <a:pPr algn="l">
                <a:lnSpc>
                  <a:spcPts val="3583"/>
                </a:lnSpc>
              </a:pPr>
              <a:endParaRPr lang="en-US" sz="2986" b="1">
                <a:solidFill>
                  <a:srgbClr val="FFFF00"/>
                </a:solidFill>
                <a:latin typeface="Arial Bold"/>
                <a:ea typeface="Arial Bold"/>
                <a:cs typeface="Arial Bold"/>
                <a:sym typeface="Arial Bold"/>
              </a:endParaRPr>
            </a:p>
          </p:txBody>
        </p:sp>
      </p:grpSp>
      <p:sp>
        <p:nvSpPr>
          <p:cNvPr id="6" name="TextBox 6"/>
          <p:cNvSpPr txBox="1"/>
          <p:nvPr/>
        </p:nvSpPr>
        <p:spPr>
          <a:xfrm>
            <a:off x="290950" y="1440438"/>
            <a:ext cx="8453154" cy="447675"/>
          </a:xfrm>
          <a:prstGeom prst="rect">
            <a:avLst/>
          </a:prstGeom>
        </p:spPr>
        <p:txBody>
          <a:bodyPr lIns="0" tIns="0" rIns="0" bIns="0" rtlCol="0" anchor="t">
            <a:spAutoFit/>
          </a:bodyPr>
          <a:lstStyle/>
          <a:p>
            <a:pPr algn="just">
              <a:lnSpc>
                <a:spcPts val="3120"/>
              </a:lnSpc>
              <a:spcBef>
                <a:spcPct val="0"/>
              </a:spcBef>
            </a:pPr>
            <a:r>
              <a:rPr lang="en-US" sz="2600" b="1">
                <a:solidFill>
                  <a:srgbClr val="000000"/>
                </a:solidFill>
                <a:latin typeface="Arial Bold"/>
                <a:ea typeface="Arial Bold"/>
                <a:cs typeface="Arial Bold"/>
                <a:sym typeface="Arial Bold"/>
              </a:rPr>
              <a:t>Bầu chọn bằng bằng chứng công việc </a:t>
            </a:r>
          </a:p>
        </p:txBody>
      </p:sp>
      <p:sp>
        <p:nvSpPr>
          <p:cNvPr id="7" name="Freeform 7"/>
          <p:cNvSpPr/>
          <p:nvPr/>
        </p:nvSpPr>
        <p:spPr>
          <a:xfrm>
            <a:off x="433825" y="2005898"/>
            <a:ext cx="9213464" cy="3378529"/>
          </a:xfrm>
          <a:custGeom>
            <a:avLst/>
            <a:gdLst/>
            <a:ahLst/>
            <a:cxnLst/>
            <a:rect l="l" t="t" r="r" b="b"/>
            <a:pathLst>
              <a:path w="9213464" h="3378529">
                <a:moveTo>
                  <a:pt x="0" y="0"/>
                </a:moveTo>
                <a:lnTo>
                  <a:pt x="9213465" y="0"/>
                </a:lnTo>
                <a:lnTo>
                  <a:pt x="9213465" y="3378529"/>
                </a:lnTo>
                <a:lnTo>
                  <a:pt x="0" y="3378529"/>
                </a:lnTo>
                <a:lnTo>
                  <a:pt x="0" y="0"/>
                </a:lnTo>
                <a:close/>
              </a:path>
            </a:pathLst>
          </a:custGeom>
          <a:blipFill>
            <a:blip r:embed="rId4"/>
            <a:stretch>
              <a:fillRect b="-32055"/>
            </a:stretch>
          </a:blipFill>
        </p:spPr>
        <p:txBody>
          <a:bodyPr/>
          <a:lstStyle/>
          <a:p>
            <a:endParaRPr lang="en-US"/>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236451" y="294069"/>
            <a:ext cx="9029469" cy="1441645"/>
            <a:chOff x="0" y="0"/>
            <a:chExt cx="12039292" cy="1922193"/>
          </a:xfrm>
        </p:grpSpPr>
        <p:sp>
          <p:nvSpPr>
            <p:cNvPr id="4" name="Freeform 4"/>
            <p:cNvSpPr/>
            <p:nvPr/>
          </p:nvSpPr>
          <p:spPr>
            <a:xfrm>
              <a:off x="0" y="0"/>
              <a:ext cx="12039291" cy="1922193"/>
            </a:xfrm>
            <a:custGeom>
              <a:avLst/>
              <a:gdLst/>
              <a:ahLst/>
              <a:cxnLst/>
              <a:rect l="l" t="t" r="r" b="b"/>
              <a:pathLst>
                <a:path w="12039291" h="1922193">
                  <a:moveTo>
                    <a:pt x="0" y="0"/>
                  </a:moveTo>
                  <a:lnTo>
                    <a:pt x="12039291" y="0"/>
                  </a:lnTo>
                  <a:lnTo>
                    <a:pt x="12039291" y="1922193"/>
                  </a:lnTo>
                  <a:lnTo>
                    <a:pt x="0" y="1922193"/>
                  </a:lnTo>
                  <a:close/>
                </a:path>
              </a:pathLst>
            </a:custGeom>
            <a:solidFill>
              <a:srgbClr val="000000">
                <a:alpha val="0"/>
              </a:srgbClr>
            </a:solidFill>
          </p:spPr>
          <p:txBody>
            <a:bodyPr/>
            <a:lstStyle/>
            <a:p>
              <a:endParaRPr lang="en-US"/>
            </a:p>
          </p:txBody>
        </p:sp>
        <p:sp>
          <p:nvSpPr>
            <p:cNvPr id="5" name="TextBox 5"/>
            <p:cNvSpPr txBox="1"/>
            <p:nvPr/>
          </p:nvSpPr>
          <p:spPr>
            <a:xfrm>
              <a:off x="0" y="-57150"/>
              <a:ext cx="12039292" cy="1979343"/>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Thuật toán bầu chọn</a:t>
              </a:r>
            </a:p>
            <a:p>
              <a:pPr algn="l">
                <a:lnSpc>
                  <a:spcPts val="3583"/>
                </a:lnSpc>
              </a:pPr>
              <a:endParaRPr lang="en-US" sz="2986" b="1">
                <a:solidFill>
                  <a:srgbClr val="FFFF00"/>
                </a:solidFill>
                <a:latin typeface="Arial Bold"/>
                <a:ea typeface="Arial Bold"/>
                <a:cs typeface="Arial Bold"/>
                <a:sym typeface="Arial Bold"/>
              </a:endParaRP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90080" y="6780108"/>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40</a:t>
              </a:r>
            </a:p>
          </p:txBody>
        </p:sp>
      </p:grpSp>
      <p:sp>
        <p:nvSpPr>
          <p:cNvPr id="9" name="Freeform 9"/>
          <p:cNvSpPr/>
          <p:nvPr/>
        </p:nvSpPr>
        <p:spPr>
          <a:xfrm>
            <a:off x="618430" y="1834448"/>
            <a:ext cx="8647490" cy="4187466"/>
          </a:xfrm>
          <a:custGeom>
            <a:avLst/>
            <a:gdLst/>
            <a:ahLst/>
            <a:cxnLst/>
            <a:rect l="l" t="t" r="r" b="b"/>
            <a:pathLst>
              <a:path w="8647490" h="4187466">
                <a:moveTo>
                  <a:pt x="0" y="0"/>
                </a:moveTo>
                <a:lnTo>
                  <a:pt x="8647490" y="0"/>
                </a:lnTo>
                <a:lnTo>
                  <a:pt x="8647490" y="4187467"/>
                </a:lnTo>
                <a:lnTo>
                  <a:pt x="0" y="4187467"/>
                </a:lnTo>
                <a:lnTo>
                  <a:pt x="0" y="0"/>
                </a:lnTo>
                <a:close/>
              </a:path>
            </a:pathLst>
          </a:custGeom>
          <a:blipFill>
            <a:blip r:embed="rId4"/>
            <a:stretch>
              <a:fillRect/>
            </a:stretch>
          </a:blipFill>
        </p:spPr>
        <p:txBody>
          <a:bodyPr/>
          <a:lstStyle/>
          <a:p>
            <a:endParaRPr lang="en-US"/>
          </a:p>
        </p:txBody>
      </p:sp>
      <p:sp>
        <p:nvSpPr>
          <p:cNvPr id="10" name="TextBox 10"/>
          <p:cNvSpPr txBox="1"/>
          <p:nvPr/>
        </p:nvSpPr>
        <p:spPr>
          <a:xfrm>
            <a:off x="414775" y="1326138"/>
            <a:ext cx="8453154" cy="447675"/>
          </a:xfrm>
          <a:prstGeom prst="rect">
            <a:avLst/>
          </a:prstGeom>
        </p:spPr>
        <p:txBody>
          <a:bodyPr lIns="0" tIns="0" rIns="0" bIns="0" rtlCol="0" anchor="t">
            <a:spAutoFit/>
          </a:bodyPr>
          <a:lstStyle/>
          <a:p>
            <a:pPr algn="just">
              <a:lnSpc>
                <a:spcPts val="3120"/>
              </a:lnSpc>
              <a:spcBef>
                <a:spcPct val="0"/>
              </a:spcBef>
            </a:pPr>
            <a:r>
              <a:rPr lang="en-US" sz="2600" b="1">
                <a:solidFill>
                  <a:srgbClr val="000000"/>
                </a:solidFill>
                <a:latin typeface="Arial Bold"/>
                <a:ea typeface="Arial Bold"/>
                <a:cs typeface="Arial Bold"/>
                <a:sym typeface="Arial Bold"/>
              </a:rPr>
              <a:t>Bầu chọn bằng bằng chứng công việc </a:t>
            </a: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236451" y="294069"/>
            <a:ext cx="9029469" cy="1441645"/>
            <a:chOff x="0" y="0"/>
            <a:chExt cx="12039292" cy="1922193"/>
          </a:xfrm>
        </p:grpSpPr>
        <p:sp>
          <p:nvSpPr>
            <p:cNvPr id="4" name="Freeform 4"/>
            <p:cNvSpPr/>
            <p:nvPr/>
          </p:nvSpPr>
          <p:spPr>
            <a:xfrm>
              <a:off x="0" y="0"/>
              <a:ext cx="12039291" cy="1922193"/>
            </a:xfrm>
            <a:custGeom>
              <a:avLst/>
              <a:gdLst/>
              <a:ahLst/>
              <a:cxnLst/>
              <a:rect l="l" t="t" r="r" b="b"/>
              <a:pathLst>
                <a:path w="12039291" h="1922193">
                  <a:moveTo>
                    <a:pt x="0" y="0"/>
                  </a:moveTo>
                  <a:lnTo>
                    <a:pt x="12039291" y="0"/>
                  </a:lnTo>
                  <a:lnTo>
                    <a:pt x="12039291" y="1922193"/>
                  </a:lnTo>
                  <a:lnTo>
                    <a:pt x="0" y="1922193"/>
                  </a:lnTo>
                  <a:close/>
                </a:path>
              </a:pathLst>
            </a:custGeom>
            <a:solidFill>
              <a:srgbClr val="000000">
                <a:alpha val="0"/>
              </a:srgbClr>
            </a:solidFill>
          </p:spPr>
          <p:txBody>
            <a:bodyPr/>
            <a:lstStyle/>
            <a:p>
              <a:endParaRPr lang="en-US"/>
            </a:p>
          </p:txBody>
        </p:sp>
        <p:sp>
          <p:nvSpPr>
            <p:cNvPr id="5" name="TextBox 5"/>
            <p:cNvSpPr txBox="1"/>
            <p:nvPr/>
          </p:nvSpPr>
          <p:spPr>
            <a:xfrm>
              <a:off x="0" y="-57150"/>
              <a:ext cx="12039292" cy="1979343"/>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Thuật toán bầu chọn</a:t>
              </a:r>
            </a:p>
            <a:p>
              <a:pPr algn="l">
                <a:lnSpc>
                  <a:spcPts val="3583"/>
                </a:lnSpc>
              </a:pPr>
              <a:endParaRPr lang="en-US" sz="2986" b="1">
                <a:solidFill>
                  <a:srgbClr val="FFFF00"/>
                </a:solidFill>
                <a:latin typeface="Arial Bold"/>
                <a:ea typeface="Arial Bold"/>
                <a:cs typeface="Arial Bold"/>
                <a:sym typeface="Arial Bold"/>
              </a:endParaRPr>
            </a:p>
            <a:p>
              <a:pPr algn="l">
                <a:lnSpc>
                  <a:spcPts val="3583"/>
                </a:lnSpc>
              </a:pPr>
              <a:endParaRPr lang="en-US" sz="2986" b="1">
                <a:solidFill>
                  <a:srgbClr val="FFFF00"/>
                </a:solidFill>
                <a:latin typeface="Arial Bold"/>
                <a:ea typeface="Arial Bold"/>
                <a:cs typeface="Arial Bold"/>
                <a:sym typeface="Arial Bold"/>
              </a:endParaRPr>
            </a:p>
          </p:txBody>
        </p:sp>
      </p:grpSp>
      <p:sp>
        <p:nvSpPr>
          <p:cNvPr id="6" name="TextBox 6"/>
          <p:cNvSpPr txBox="1"/>
          <p:nvPr/>
        </p:nvSpPr>
        <p:spPr>
          <a:xfrm>
            <a:off x="414775" y="1326138"/>
            <a:ext cx="8453154" cy="447675"/>
          </a:xfrm>
          <a:prstGeom prst="rect">
            <a:avLst/>
          </a:prstGeom>
        </p:spPr>
        <p:txBody>
          <a:bodyPr lIns="0" tIns="0" rIns="0" bIns="0" rtlCol="0" anchor="t">
            <a:spAutoFit/>
          </a:bodyPr>
          <a:lstStyle/>
          <a:p>
            <a:pPr algn="just">
              <a:lnSpc>
                <a:spcPts val="3120"/>
              </a:lnSpc>
              <a:spcBef>
                <a:spcPct val="0"/>
              </a:spcBef>
            </a:pPr>
            <a:r>
              <a:rPr lang="en-US" sz="2600" b="1">
                <a:solidFill>
                  <a:srgbClr val="000000"/>
                </a:solidFill>
                <a:latin typeface="Arial Bold"/>
                <a:ea typeface="Arial Bold"/>
                <a:cs typeface="Arial Bold"/>
                <a:sym typeface="Arial Bold"/>
              </a:rPr>
              <a:t>Bầu chọn bằng bằng chứng công việc </a:t>
            </a:r>
          </a:p>
        </p:txBody>
      </p:sp>
      <p:sp>
        <p:nvSpPr>
          <p:cNvPr id="7" name="TextBox 7"/>
          <p:cNvSpPr txBox="1"/>
          <p:nvPr/>
        </p:nvSpPr>
        <p:spPr>
          <a:xfrm>
            <a:off x="645126" y="1899672"/>
            <a:ext cx="8453154" cy="1905000"/>
          </a:xfrm>
          <a:prstGeom prst="rect">
            <a:avLst/>
          </a:prstGeom>
        </p:spPr>
        <p:txBody>
          <a:bodyPr lIns="0" tIns="0" rIns="0" bIns="0" rtlCol="0" anchor="t">
            <a:spAutoFit/>
          </a:bodyPr>
          <a:lstStyle/>
          <a:p>
            <a:pPr algn="just">
              <a:lnSpc>
                <a:spcPts val="2640"/>
              </a:lnSpc>
            </a:pPr>
            <a:r>
              <a:rPr lang="en-US" sz="2200" b="1">
                <a:solidFill>
                  <a:srgbClr val="000000"/>
                </a:solidFill>
                <a:latin typeface="Arial Bold"/>
                <a:ea typeface="Arial Bold"/>
                <a:cs typeface="Arial Bold"/>
                <a:sym typeface="Arial Bold"/>
              </a:rPr>
              <a:t>Thực tiễn hiện tại (Current practice)</a:t>
            </a:r>
          </a:p>
          <a:p>
            <a:pPr algn="just">
              <a:lnSpc>
                <a:spcPts val="2400"/>
              </a:lnSpc>
            </a:pPr>
            <a:r>
              <a:rPr lang="en-US" sz="2000">
                <a:solidFill>
                  <a:srgbClr val="000000"/>
                </a:solidFill>
                <a:latin typeface="Arial"/>
                <a:ea typeface="Arial"/>
                <a:cs typeface="Arial"/>
                <a:sym typeface="Arial"/>
              </a:rPr>
              <a:t>Trong nhiều hệ thống blockchain sử dụng bằng chứng công việc (PoW), giá trị K=64.</a:t>
            </a:r>
          </a:p>
          <a:p>
            <a:pPr marL="431804" lvl="1" indent="-215902" algn="just">
              <a:lnSpc>
                <a:spcPts val="2400"/>
              </a:lnSpc>
              <a:buFont typeface="Arial"/>
              <a:buChar char="•"/>
            </a:pPr>
            <a:r>
              <a:rPr lang="en-US" sz="2000">
                <a:solidFill>
                  <a:srgbClr val="000000"/>
                </a:solidFill>
                <a:latin typeface="Arial"/>
                <a:ea typeface="Arial"/>
                <a:cs typeface="Arial"/>
                <a:sym typeface="Arial"/>
              </a:rPr>
              <a:t>Với K=64, một siêu máy tính mất khoảng 10 phút để tìm hˉ.</a:t>
            </a:r>
          </a:p>
          <a:p>
            <a:pPr marL="431804" lvl="1" indent="-215902" algn="just">
              <a:lnSpc>
                <a:spcPts val="2400"/>
              </a:lnSpc>
              <a:buFont typeface="Arial"/>
              <a:buChar char="•"/>
            </a:pPr>
            <a:r>
              <a:rPr lang="en-US" sz="2000">
                <a:solidFill>
                  <a:srgbClr val="000000"/>
                </a:solidFill>
                <a:latin typeface="Arial"/>
                <a:ea typeface="Arial"/>
                <a:cs typeface="Arial"/>
                <a:sym typeface="Arial"/>
              </a:rPr>
              <a:t>Với K=64, một máy tính xách tay mất khoảng 100 năm để tìm hˉ.</a:t>
            </a:r>
          </a:p>
          <a:p>
            <a:pPr algn="just">
              <a:lnSpc>
                <a:spcPts val="2400"/>
              </a:lnSpc>
              <a:spcBef>
                <a:spcPct val="0"/>
              </a:spcBef>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236451" y="294069"/>
            <a:ext cx="9029469" cy="1441645"/>
            <a:chOff x="0" y="0"/>
            <a:chExt cx="12039292" cy="1922193"/>
          </a:xfrm>
        </p:grpSpPr>
        <p:sp>
          <p:nvSpPr>
            <p:cNvPr id="4" name="Freeform 4"/>
            <p:cNvSpPr/>
            <p:nvPr/>
          </p:nvSpPr>
          <p:spPr>
            <a:xfrm>
              <a:off x="0" y="0"/>
              <a:ext cx="12039291" cy="1922193"/>
            </a:xfrm>
            <a:custGeom>
              <a:avLst/>
              <a:gdLst/>
              <a:ahLst/>
              <a:cxnLst/>
              <a:rect l="l" t="t" r="r" b="b"/>
              <a:pathLst>
                <a:path w="12039291" h="1922193">
                  <a:moveTo>
                    <a:pt x="0" y="0"/>
                  </a:moveTo>
                  <a:lnTo>
                    <a:pt x="12039291" y="0"/>
                  </a:lnTo>
                  <a:lnTo>
                    <a:pt x="12039291" y="1922193"/>
                  </a:lnTo>
                  <a:lnTo>
                    <a:pt x="0" y="1922193"/>
                  </a:lnTo>
                  <a:close/>
                </a:path>
              </a:pathLst>
            </a:custGeom>
            <a:solidFill>
              <a:srgbClr val="000000">
                <a:alpha val="0"/>
              </a:srgbClr>
            </a:solidFill>
          </p:spPr>
          <p:txBody>
            <a:bodyPr/>
            <a:lstStyle/>
            <a:p>
              <a:endParaRPr lang="en-US"/>
            </a:p>
          </p:txBody>
        </p:sp>
        <p:sp>
          <p:nvSpPr>
            <p:cNvPr id="5" name="TextBox 5"/>
            <p:cNvSpPr txBox="1"/>
            <p:nvPr/>
          </p:nvSpPr>
          <p:spPr>
            <a:xfrm>
              <a:off x="0" y="-57150"/>
              <a:ext cx="12039292" cy="1979343"/>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Thuật toán bầu chọn</a:t>
              </a:r>
            </a:p>
            <a:p>
              <a:pPr algn="l">
                <a:lnSpc>
                  <a:spcPts val="3583"/>
                </a:lnSpc>
              </a:pPr>
              <a:endParaRPr lang="en-US" sz="2986" b="1">
                <a:solidFill>
                  <a:srgbClr val="FFFF00"/>
                </a:solidFill>
                <a:latin typeface="Arial Bold"/>
                <a:ea typeface="Arial Bold"/>
                <a:cs typeface="Arial Bold"/>
                <a:sym typeface="Arial Bold"/>
              </a:endParaRPr>
            </a:p>
            <a:p>
              <a:pPr algn="l">
                <a:lnSpc>
                  <a:spcPts val="3583"/>
                </a:lnSpc>
              </a:pPr>
              <a:endParaRPr lang="en-US" sz="2986" b="1">
                <a:solidFill>
                  <a:srgbClr val="FFFF00"/>
                </a:solidFill>
                <a:latin typeface="Arial Bold"/>
                <a:ea typeface="Arial Bold"/>
                <a:cs typeface="Arial Bold"/>
                <a:sym typeface="Arial Bold"/>
              </a:endParaRPr>
            </a:p>
          </p:txBody>
        </p:sp>
      </p:grpSp>
      <p:sp>
        <p:nvSpPr>
          <p:cNvPr id="6" name="TextBox 6"/>
          <p:cNvSpPr txBox="1"/>
          <p:nvPr/>
        </p:nvSpPr>
        <p:spPr>
          <a:xfrm>
            <a:off x="414775" y="1326138"/>
            <a:ext cx="8453154" cy="447675"/>
          </a:xfrm>
          <a:prstGeom prst="rect">
            <a:avLst/>
          </a:prstGeom>
        </p:spPr>
        <p:txBody>
          <a:bodyPr lIns="0" tIns="0" rIns="0" bIns="0" rtlCol="0" anchor="t">
            <a:spAutoFit/>
          </a:bodyPr>
          <a:lstStyle/>
          <a:p>
            <a:pPr algn="just">
              <a:lnSpc>
                <a:spcPts val="3120"/>
              </a:lnSpc>
              <a:spcBef>
                <a:spcPct val="0"/>
              </a:spcBef>
            </a:pPr>
            <a:r>
              <a:rPr lang="en-US" sz="2600" b="1">
                <a:solidFill>
                  <a:srgbClr val="000000"/>
                </a:solidFill>
                <a:latin typeface="Arial Bold"/>
                <a:ea typeface="Arial Bold"/>
                <a:cs typeface="Arial Bold"/>
                <a:sym typeface="Arial Bold"/>
              </a:rPr>
              <a:t>Bầu chọn bằng bằng chứng cổ phần</a:t>
            </a:r>
          </a:p>
        </p:txBody>
      </p:sp>
      <p:sp>
        <p:nvSpPr>
          <p:cNvPr id="7" name="TextBox 7"/>
          <p:cNvSpPr txBox="1"/>
          <p:nvPr/>
        </p:nvSpPr>
        <p:spPr>
          <a:xfrm>
            <a:off x="678798" y="1899672"/>
            <a:ext cx="8453154" cy="3733800"/>
          </a:xfrm>
          <a:prstGeom prst="rect">
            <a:avLst/>
          </a:prstGeom>
        </p:spPr>
        <p:txBody>
          <a:bodyPr lIns="0" tIns="0" rIns="0" bIns="0" rtlCol="0" anchor="t">
            <a:spAutoFit/>
          </a:bodyPr>
          <a:lstStyle/>
          <a:p>
            <a:pPr algn="just">
              <a:lnSpc>
                <a:spcPts val="2400"/>
              </a:lnSpc>
            </a:pPr>
            <a:r>
              <a:rPr lang="en-US" sz="2000" b="1">
                <a:solidFill>
                  <a:srgbClr val="000000"/>
                </a:solidFill>
                <a:latin typeface="Arial Bold"/>
                <a:ea typeface="Arial Bold"/>
                <a:cs typeface="Arial Bold"/>
                <a:sym typeface="Arial Bold"/>
              </a:rPr>
              <a:t>Cơ bản </a:t>
            </a:r>
          </a:p>
          <a:p>
            <a:pPr algn="just">
              <a:lnSpc>
                <a:spcPts val="2400"/>
              </a:lnSpc>
            </a:pPr>
            <a:r>
              <a:rPr lang="en-US" sz="2000">
                <a:solidFill>
                  <a:srgbClr val="000000"/>
                </a:solidFill>
                <a:latin typeface="Arial"/>
                <a:ea typeface="Arial"/>
                <a:cs typeface="Arial"/>
                <a:sym typeface="Arial"/>
              </a:rPr>
              <a:t>Giả sử một hệ thống blockchain sử dụng N token bảo mật:</a:t>
            </a:r>
          </a:p>
          <a:p>
            <a:pPr marL="431804" lvl="1" indent="-215902" algn="just">
              <a:lnSpc>
                <a:spcPts val="2400"/>
              </a:lnSpc>
              <a:buFont typeface="Arial"/>
              <a:buChar char="•"/>
            </a:pPr>
            <a:r>
              <a:rPr lang="en-US" sz="2000">
                <a:solidFill>
                  <a:srgbClr val="000000"/>
                </a:solidFill>
                <a:latin typeface="Arial"/>
                <a:ea typeface="Arial"/>
                <a:cs typeface="Arial"/>
                <a:sym typeface="Arial"/>
              </a:rPr>
              <a:t>Mỗi token có một chủ sở hữu duy nhất.</a:t>
            </a:r>
          </a:p>
          <a:p>
            <a:pPr marL="431804" lvl="1" indent="-215902" algn="just">
              <a:lnSpc>
                <a:spcPts val="2400"/>
              </a:lnSpc>
              <a:buFont typeface="Arial"/>
              <a:buChar char="•"/>
            </a:pPr>
            <a:r>
              <a:rPr lang="en-US" sz="2000">
                <a:solidFill>
                  <a:srgbClr val="000000"/>
                </a:solidFill>
                <a:latin typeface="Arial"/>
                <a:ea typeface="Arial"/>
                <a:cs typeface="Arial"/>
                <a:sym typeface="Arial"/>
              </a:rPr>
              <a:t>Mỗi token được gán một chỉ số duy nhất 1≤ k ≤N</a:t>
            </a:r>
          </a:p>
          <a:p>
            <a:pPr marL="431804" lvl="1" indent="-215902" algn="just">
              <a:lnSpc>
                <a:spcPts val="2400"/>
              </a:lnSpc>
              <a:buFont typeface="Arial"/>
              <a:buChar char="•"/>
            </a:pPr>
            <a:r>
              <a:rPr lang="en-US" sz="2000">
                <a:solidFill>
                  <a:srgbClr val="000000"/>
                </a:solidFill>
                <a:latin typeface="Arial"/>
                <a:ea typeface="Arial"/>
                <a:cs typeface="Arial"/>
                <a:sym typeface="Arial"/>
              </a:rPr>
              <a:t>Token không thể bị sửa đổi hoặc sao chép mà không bị phát hiện.</a:t>
            </a:r>
          </a:p>
          <a:p>
            <a:pPr algn="just">
              <a:lnSpc>
                <a:spcPts val="2400"/>
              </a:lnSpc>
            </a:pPr>
            <a:r>
              <a:rPr lang="en-US" sz="2000" b="1">
                <a:solidFill>
                  <a:srgbClr val="000000"/>
                </a:solidFill>
                <a:latin typeface="Arial Bold"/>
                <a:ea typeface="Arial Bold"/>
                <a:cs typeface="Arial Bold"/>
                <a:sym typeface="Arial Bold"/>
              </a:rPr>
              <a:t>Nguyên tắc </a:t>
            </a:r>
          </a:p>
          <a:p>
            <a:pPr marL="431804" lvl="1" indent="-215902" algn="just">
              <a:lnSpc>
                <a:spcPts val="2400"/>
              </a:lnSpc>
              <a:buFont typeface="Arial"/>
              <a:buChar char="•"/>
            </a:pPr>
            <a:r>
              <a:rPr lang="en-US" sz="2000">
                <a:solidFill>
                  <a:srgbClr val="000000"/>
                </a:solidFill>
                <a:latin typeface="Arial"/>
                <a:ea typeface="Arial"/>
                <a:cs typeface="Arial"/>
                <a:sym typeface="Arial"/>
              </a:rPr>
              <a:t>Rút một số ngẫu nhiên k∈{1,...,N}.</a:t>
            </a:r>
          </a:p>
          <a:p>
            <a:pPr marL="431804" lvl="1" indent="-215902" algn="just">
              <a:lnSpc>
                <a:spcPts val="2400"/>
              </a:lnSpc>
              <a:buFont typeface="Arial"/>
              <a:buChar char="•"/>
            </a:pPr>
            <a:r>
              <a:rPr lang="en-US" sz="2000">
                <a:solidFill>
                  <a:srgbClr val="000000"/>
                </a:solidFill>
                <a:latin typeface="Arial"/>
                <a:ea typeface="Arial"/>
                <a:cs typeface="Arial"/>
                <a:sym typeface="Arial"/>
              </a:rPr>
              <a:t>Xác định tiến trình P sở hữu token có chỉ số k. P sẽ trở thành lãnh đạo tiếp theo.</a:t>
            </a:r>
          </a:p>
          <a:p>
            <a:pPr algn="just">
              <a:lnSpc>
                <a:spcPts val="2400"/>
              </a:lnSpc>
            </a:pPr>
            <a:r>
              <a:rPr lang="en-US" sz="2000" b="1">
                <a:solidFill>
                  <a:srgbClr val="000000"/>
                </a:solidFill>
                <a:latin typeface="Arial Bold"/>
                <a:ea typeface="Arial Bold"/>
                <a:cs typeface="Arial Bold"/>
                <a:sym typeface="Arial Bold"/>
              </a:rPr>
              <a:t>Quan sát: </a:t>
            </a:r>
            <a:r>
              <a:rPr lang="en-US" sz="2000">
                <a:solidFill>
                  <a:srgbClr val="000000"/>
                </a:solidFill>
                <a:latin typeface="Arial"/>
                <a:ea typeface="Arial"/>
                <a:cs typeface="Arial"/>
                <a:sym typeface="Arial"/>
              </a:rPr>
              <a:t>Càng sở hữu nhiều token, tiến trình càng có xác suất cao được chọn làm lãnh đạo.</a:t>
            </a:r>
          </a:p>
          <a:p>
            <a:pPr algn="just">
              <a:lnSpc>
                <a:spcPts val="2640"/>
              </a:lnSpc>
              <a:spcBef>
                <a:spcPct val="0"/>
              </a:spcBef>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236451" y="294069"/>
            <a:ext cx="9029469" cy="1441645"/>
            <a:chOff x="0" y="0"/>
            <a:chExt cx="12039292" cy="1922193"/>
          </a:xfrm>
        </p:grpSpPr>
        <p:sp>
          <p:nvSpPr>
            <p:cNvPr id="4" name="Freeform 4"/>
            <p:cNvSpPr/>
            <p:nvPr/>
          </p:nvSpPr>
          <p:spPr>
            <a:xfrm>
              <a:off x="0" y="0"/>
              <a:ext cx="12039291" cy="1922193"/>
            </a:xfrm>
            <a:custGeom>
              <a:avLst/>
              <a:gdLst/>
              <a:ahLst/>
              <a:cxnLst/>
              <a:rect l="l" t="t" r="r" b="b"/>
              <a:pathLst>
                <a:path w="12039291" h="1922193">
                  <a:moveTo>
                    <a:pt x="0" y="0"/>
                  </a:moveTo>
                  <a:lnTo>
                    <a:pt x="12039291" y="0"/>
                  </a:lnTo>
                  <a:lnTo>
                    <a:pt x="12039291" y="1922193"/>
                  </a:lnTo>
                  <a:lnTo>
                    <a:pt x="0" y="1922193"/>
                  </a:lnTo>
                  <a:close/>
                </a:path>
              </a:pathLst>
            </a:custGeom>
            <a:solidFill>
              <a:srgbClr val="000000">
                <a:alpha val="0"/>
              </a:srgbClr>
            </a:solidFill>
          </p:spPr>
          <p:txBody>
            <a:bodyPr/>
            <a:lstStyle/>
            <a:p>
              <a:endParaRPr lang="en-US"/>
            </a:p>
          </p:txBody>
        </p:sp>
        <p:sp>
          <p:nvSpPr>
            <p:cNvPr id="5" name="TextBox 5"/>
            <p:cNvSpPr txBox="1"/>
            <p:nvPr/>
          </p:nvSpPr>
          <p:spPr>
            <a:xfrm>
              <a:off x="0" y="-57150"/>
              <a:ext cx="12039292" cy="1979343"/>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Thuật toán bầu chọn</a:t>
              </a:r>
            </a:p>
            <a:p>
              <a:pPr algn="l">
                <a:lnSpc>
                  <a:spcPts val="3583"/>
                </a:lnSpc>
              </a:pPr>
              <a:endParaRPr lang="en-US" sz="2986" b="1">
                <a:solidFill>
                  <a:srgbClr val="FFFF00"/>
                </a:solidFill>
                <a:latin typeface="Arial Bold"/>
                <a:ea typeface="Arial Bold"/>
                <a:cs typeface="Arial Bold"/>
                <a:sym typeface="Arial Bold"/>
              </a:endParaRPr>
            </a:p>
            <a:p>
              <a:pPr algn="l">
                <a:lnSpc>
                  <a:spcPts val="3583"/>
                </a:lnSpc>
              </a:pPr>
              <a:endParaRPr lang="en-US" sz="2986" b="1">
                <a:solidFill>
                  <a:srgbClr val="FFFF00"/>
                </a:solidFill>
                <a:latin typeface="Arial Bold"/>
                <a:ea typeface="Arial Bold"/>
                <a:cs typeface="Arial Bold"/>
                <a:sym typeface="Arial Bold"/>
              </a:endParaRPr>
            </a:p>
          </p:txBody>
        </p:sp>
      </p:grpSp>
      <p:sp>
        <p:nvSpPr>
          <p:cNvPr id="6" name="Freeform 6"/>
          <p:cNvSpPr/>
          <p:nvPr/>
        </p:nvSpPr>
        <p:spPr>
          <a:xfrm>
            <a:off x="650223" y="2376636"/>
            <a:ext cx="8453154" cy="3085401"/>
          </a:xfrm>
          <a:custGeom>
            <a:avLst/>
            <a:gdLst/>
            <a:ahLst/>
            <a:cxnLst/>
            <a:rect l="l" t="t" r="r" b="b"/>
            <a:pathLst>
              <a:path w="8453154" h="3085401">
                <a:moveTo>
                  <a:pt x="0" y="0"/>
                </a:moveTo>
                <a:lnTo>
                  <a:pt x="8453154" y="0"/>
                </a:lnTo>
                <a:lnTo>
                  <a:pt x="8453154" y="3085401"/>
                </a:lnTo>
                <a:lnTo>
                  <a:pt x="0" y="3085401"/>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414775" y="1326138"/>
            <a:ext cx="8453154" cy="447675"/>
          </a:xfrm>
          <a:prstGeom prst="rect">
            <a:avLst/>
          </a:prstGeom>
        </p:spPr>
        <p:txBody>
          <a:bodyPr lIns="0" tIns="0" rIns="0" bIns="0" rtlCol="0" anchor="t">
            <a:spAutoFit/>
          </a:bodyPr>
          <a:lstStyle/>
          <a:p>
            <a:pPr algn="just">
              <a:lnSpc>
                <a:spcPts val="3120"/>
              </a:lnSpc>
              <a:spcBef>
                <a:spcPct val="0"/>
              </a:spcBef>
            </a:pPr>
            <a:r>
              <a:rPr lang="en-US" sz="2600" b="1">
                <a:solidFill>
                  <a:srgbClr val="000000"/>
                </a:solidFill>
                <a:latin typeface="Arial Bold"/>
                <a:ea typeface="Arial Bold"/>
                <a:cs typeface="Arial Bold"/>
                <a:sym typeface="Arial Bold"/>
              </a:rPr>
              <a:t>Giải pháp cho mạng không dây</a:t>
            </a:r>
          </a:p>
        </p:txBody>
      </p:sp>
      <p:sp>
        <p:nvSpPr>
          <p:cNvPr id="8" name="TextBox 8"/>
          <p:cNvSpPr txBox="1"/>
          <p:nvPr/>
        </p:nvSpPr>
        <p:spPr>
          <a:xfrm>
            <a:off x="678798" y="1899672"/>
            <a:ext cx="8453154" cy="381000"/>
          </a:xfrm>
          <a:prstGeom prst="rect">
            <a:avLst/>
          </a:prstGeom>
        </p:spPr>
        <p:txBody>
          <a:bodyPr lIns="0" tIns="0" rIns="0" bIns="0" rtlCol="0" anchor="t">
            <a:spAutoFit/>
          </a:bodyPr>
          <a:lstStyle/>
          <a:p>
            <a:pPr algn="just">
              <a:lnSpc>
                <a:spcPts val="2640"/>
              </a:lnSpc>
              <a:spcBef>
                <a:spcPct val="0"/>
              </a:spcBef>
            </a:pPr>
            <a:r>
              <a:rPr lang="en-US" sz="2200" b="1">
                <a:solidFill>
                  <a:srgbClr val="000000"/>
                </a:solidFill>
                <a:latin typeface="Arial Bold"/>
                <a:ea typeface="Arial Bold"/>
                <a:cs typeface="Arial Bold"/>
                <a:sym typeface="Arial Bold"/>
              </a:rPr>
              <a:t>Mạng mẫu </a:t>
            </a:r>
          </a:p>
        </p:txBody>
      </p:sp>
      <p:sp>
        <p:nvSpPr>
          <p:cNvPr id="9" name="TextBox 9"/>
          <p:cNvSpPr txBox="1"/>
          <p:nvPr/>
        </p:nvSpPr>
        <p:spPr>
          <a:xfrm>
            <a:off x="812766" y="5630535"/>
            <a:ext cx="8453154" cy="685800"/>
          </a:xfrm>
          <a:prstGeom prst="rect">
            <a:avLst/>
          </a:prstGeom>
        </p:spPr>
        <p:txBody>
          <a:bodyPr lIns="0" tIns="0" rIns="0" bIns="0" rtlCol="0" anchor="t">
            <a:spAutoFit/>
          </a:bodyPr>
          <a:lstStyle/>
          <a:p>
            <a:pPr algn="just">
              <a:lnSpc>
                <a:spcPts val="2640"/>
              </a:lnSpc>
            </a:pPr>
            <a:r>
              <a:rPr lang="en-US" sz="2200" b="1">
                <a:solidFill>
                  <a:srgbClr val="000000"/>
                </a:solidFill>
                <a:latin typeface="Arial Bold"/>
                <a:ea typeface="Arial Bold"/>
                <a:cs typeface="Arial Bold"/>
                <a:sym typeface="Arial Bold"/>
              </a:rPr>
              <a:t>Bản chất:</a:t>
            </a:r>
          </a:p>
          <a:p>
            <a:pPr algn="just">
              <a:lnSpc>
                <a:spcPts val="2400"/>
              </a:lnSpc>
              <a:spcBef>
                <a:spcPct val="0"/>
              </a:spcBef>
            </a:pPr>
            <a:r>
              <a:rPr lang="en-US" sz="2000">
                <a:solidFill>
                  <a:srgbClr val="000000"/>
                </a:solidFill>
                <a:latin typeface="Arial"/>
                <a:ea typeface="Arial"/>
                <a:cs typeface="Arial"/>
                <a:sym typeface="Arial"/>
              </a:rPr>
              <a:t>Tìm nút có dung lượng cao nhất để chọn làm lãnh đạo tiếp theo.</a:t>
            </a: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236451" y="294069"/>
            <a:ext cx="9029469" cy="1441645"/>
            <a:chOff x="0" y="0"/>
            <a:chExt cx="12039292" cy="1922193"/>
          </a:xfrm>
        </p:grpSpPr>
        <p:sp>
          <p:nvSpPr>
            <p:cNvPr id="4" name="Freeform 4"/>
            <p:cNvSpPr/>
            <p:nvPr/>
          </p:nvSpPr>
          <p:spPr>
            <a:xfrm>
              <a:off x="0" y="0"/>
              <a:ext cx="12039291" cy="1922193"/>
            </a:xfrm>
            <a:custGeom>
              <a:avLst/>
              <a:gdLst/>
              <a:ahLst/>
              <a:cxnLst/>
              <a:rect l="l" t="t" r="r" b="b"/>
              <a:pathLst>
                <a:path w="12039291" h="1922193">
                  <a:moveTo>
                    <a:pt x="0" y="0"/>
                  </a:moveTo>
                  <a:lnTo>
                    <a:pt x="12039291" y="0"/>
                  </a:lnTo>
                  <a:lnTo>
                    <a:pt x="12039291" y="1922193"/>
                  </a:lnTo>
                  <a:lnTo>
                    <a:pt x="0" y="1922193"/>
                  </a:lnTo>
                  <a:close/>
                </a:path>
              </a:pathLst>
            </a:custGeom>
            <a:solidFill>
              <a:srgbClr val="000000">
                <a:alpha val="0"/>
              </a:srgbClr>
            </a:solidFill>
          </p:spPr>
          <p:txBody>
            <a:bodyPr/>
            <a:lstStyle/>
            <a:p>
              <a:endParaRPr lang="en-US"/>
            </a:p>
          </p:txBody>
        </p:sp>
        <p:sp>
          <p:nvSpPr>
            <p:cNvPr id="5" name="TextBox 5"/>
            <p:cNvSpPr txBox="1"/>
            <p:nvPr/>
          </p:nvSpPr>
          <p:spPr>
            <a:xfrm>
              <a:off x="0" y="-57150"/>
              <a:ext cx="12039292" cy="1979343"/>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Thuật toán bầu chọn</a:t>
              </a:r>
            </a:p>
            <a:p>
              <a:pPr algn="l">
                <a:lnSpc>
                  <a:spcPts val="3583"/>
                </a:lnSpc>
              </a:pPr>
              <a:endParaRPr lang="en-US" sz="2986" b="1">
                <a:solidFill>
                  <a:srgbClr val="FFFF00"/>
                </a:solidFill>
                <a:latin typeface="Arial Bold"/>
                <a:ea typeface="Arial Bold"/>
                <a:cs typeface="Arial Bold"/>
                <a:sym typeface="Arial Bold"/>
              </a:endParaRPr>
            </a:p>
            <a:p>
              <a:pPr algn="l">
                <a:lnSpc>
                  <a:spcPts val="3583"/>
                </a:lnSpc>
              </a:pPr>
              <a:endParaRPr lang="en-US" sz="2986" b="1">
                <a:solidFill>
                  <a:srgbClr val="FFFF00"/>
                </a:solidFill>
                <a:latin typeface="Arial Bold"/>
                <a:ea typeface="Arial Bold"/>
                <a:cs typeface="Arial Bold"/>
                <a:sym typeface="Arial Bold"/>
              </a:endParaRPr>
            </a:p>
          </p:txBody>
        </p:sp>
      </p:grpSp>
      <p:sp>
        <p:nvSpPr>
          <p:cNvPr id="6" name="Freeform 6"/>
          <p:cNvSpPr/>
          <p:nvPr/>
        </p:nvSpPr>
        <p:spPr>
          <a:xfrm>
            <a:off x="812766" y="2568912"/>
            <a:ext cx="8055164" cy="2909928"/>
          </a:xfrm>
          <a:custGeom>
            <a:avLst/>
            <a:gdLst/>
            <a:ahLst/>
            <a:cxnLst/>
            <a:rect l="l" t="t" r="r" b="b"/>
            <a:pathLst>
              <a:path w="8055164" h="2909928">
                <a:moveTo>
                  <a:pt x="0" y="0"/>
                </a:moveTo>
                <a:lnTo>
                  <a:pt x="8055164" y="0"/>
                </a:lnTo>
                <a:lnTo>
                  <a:pt x="8055164" y="2909928"/>
                </a:lnTo>
                <a:lnTo>
                  <a:pt x="0" y="2909928"/>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414775" y="1326138"/>
            <a:ext cx="8453154" cy="447675"/>
          </a:xfrm>
          <a:prstGeom prst="rect">
            <a:avLst/>
          </a:prstGeom>
        </p:spPr>
        <p:txBody>
          <a:bodyPr lIns="0" tIns="0" rIns="0" bIns="0" rtlCol="0" anchor="t">
            <a:spAutoFit/>
          </a:bodyPr>
          <a:lstStyle/>
          <a:p>
            <a:pPr algn="just">
              <a:lnSpc>
                <a:spcPts val="3120"/>
              </a:lnSpc>
              <a:spcBef>
                <a:spcPct val="0"/>
              </a:spcBef>
            </a:pPr>
            <a:r>
              <a:rPr lang="en-US" sz="2600" b="1">
                <a:solidFill>
                  <a:srgbClr val="000000"/>
                </a:solidFill>
                <a:latin typeface="Arial Bold"/>
                <a:ea typeface="Arial Bold"/>
                <a:cs typeface="Arial Bold"/>
                <a:sym typeface="Arial Bold"/>
              </a:rPr>
              <a:t>Giải pháp cho mạng không dây</a:t>
            </a:r>
          </a:p>
        </p:txBody>
      </p:sp>
      <p:sp>
        <p:nvSpPr>
          <p:cNvPr id="8" name="TextBox 8"/>
          <p:cNvSpPr txBox="1"/>
          <p:nvPr/>
        </p:nvSpPr>
        <p:spPr>
          <a:xfrm>
            <a:off x="678798" y="1899672"/>
            <a:ext cx="8453154" cy="381000"/>
          </a:xfrm>
          <a:prstGeom prst="rect">
            <a:avLst/>
          </a:prstGeom>
        </p:spPr>
        <p:txBody>
          <a:bodyPr lIns="0" tIns="0" rIns="0" bIns="0" rtlCol="0" anchor="t">
            <a:spAutoFit/>
          </a:bodyPr>
          <a:lstStyle/>
          <a:p>
            <a:pPr algn="just">
              <a:lnSpc>
                <a:spcPts val="2640"/>
              </a:lnSpc>
              <a:spcBef>
                <a:spcPct val="0"/>
              </a:spcBef>
            </a:pPr>
            <a:r>
              <a:rPr lang="en-US" sz="2200" b="1">
                <a:solidFill>
                  <a:srgbClr val="000000"/>
                </a:solidFill>
                <a:latin typeface="Arial Bold"/>
                <a:ea typeface="Arial Bold"/>
                <a:cs typeface="Arial Bold"/>
                <a:sym typeface="Arial Bold"/>
              </a:rPr>
              <a:t>Mạng mẫu </a:t>
            </a:r>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236451" y="294069"/>
            <a:ext cx="9029469" cy="1441645"/>
            <a:chOff x="0" y="0"/>
            <a:chExt cx="12039292" cy="1922193"/>
          </a:xfrm>
        </p:grpSpPr>
        <p:sp>
          <p:nvSpPr>
            <p:cNvPr id="4" name="Freeform 4"/>
            <p:cNvSpPr/>
            <p:nvPr/>
          </p:nvSpPr>
          <p:spPr>
            <a:xfrm>
              <a:off x="0" y="0"/>
              <a:ext cx="12039291" cy="1922193"/>
            </a:xfrm>
            <a:custGeom>
              <a:avLst/>
              <a:gdLst/>
              <a:ahLst/>
              <a:cxnLst/>
              <a:rect l="l" t="t" r="r" b="b"/>
              <a:pathLst>
                <a:path w="12039291" h="1922193">
                  <a:moveTo>
                    <a:pt x="0" y="0"/>
                  </a:moveTo>
                  <a:lnTo>
                    <a:pt x="12039291" y="0"/>
                  </a:lnTo>
                  <a:lnTo>
                    <a:pt x="12039291" y="1922193"/>
                  </a:lnTo>
                  <a:lnTo>
                    <a:pt x="0" y="1922193"/>
                  </a:lnTo>
                  <a:close/>
                </a:path>
              </a:pathLst>
            </a:custGeom>
            <a:solidFill>
              <a:srgbClr val="000000">
                <a:alpha val="0"/>
              </a:srgbClr>
            </a:solidFill>
          </p:spPr>
          <p:txBody>
            <a:bodyPr/>
            <a:lstStyle/>
            <a:p>
              <a:endParaRPr lang="en-US"/>
            </a:p>
          </p:txBody>
        </p:sp>
        <p:sp>
          <p:nvSpPr>
            <p:cNvPr id="5" name="TextBox 5"/>
            <p:cNvSpPr txBox="1"/>
            <p:nvPr/>
          </p:nvSpPr>
          <p:spPr>
            <a:xfrm>
              <a:off x="0" y="-57150"/>
              <a:ext cx="12039292" cy="1979343"/>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Thuật toán bầu chọn</a:t>
              </a:r>
            </a:p>
            <a:p>
              <a:pPr algn="l">
                <a:lnSpc>
                  <a:spcPts val="3583"/>
                </a:lnSpc>
              </a:pPr>
              <a:endParaRPr lang="en-US" sz="2986" b="1">
                <a:solidFill>
                  <a:srgbClr val="FFFF00"/>
                </a:solidFill>
                <a:latin typeface="Arial Bold"/>
                <a:ea typeface="Arial Bold"/>
                <a:cs typeface="Arial Bold"/>
                <a:sym typeface="Arial Bold"/>
              </a:endParaRPr>
            </a:p>
            <a:p>
              <a:pPr algn="l">
                <a:lnSpc>
                  <a:spcPts val="3583"/>
                </a:lnSpc>
              </a:pPr>
              <a:endParaRPr lang="en-US" sz="2986" b="1">
                <a:solidFill>
                  <a:srgbClr val="FFFF00"/>
                </a:solidFill>
                <a:latin typeface="Arial Bold"/>
                <a:ea typeface="Arial Bold"/>
                <a:cs typeface="Arial Bold"/>
                <a:sym typeface="Arial Bold"/>
              </a:endParaRPr>
            </a:p>
          </p:txBody>
        </p:sp>
      </p:grpSp>
      <p:sp>
        <p:nvSpPr>
          <p:cNvPr id="6" name="Freeform 6"/>
          <p:cNvSpPr/>
          <p:nvPr/>
        </p:nvSpPr>
        <p:spPr>
          <a:xfrm>
            <a:off x="974796" y="2414022"/>
            <a:ext cx="7893134" cy="2870231"/>
          </a:xfrm>
          <a:custGeom>
            <a:avLst/>
            <a:gdLst/>
            <a:ahLst/>
            <a:cxnLst/>
            <a:rect l="l" t="t" r="r" b="b"/>
            <a:pathLst>
              <a:path w="7893134" h="2870231">
                <a:moveTo>
                  <a:pt x="0" y="0"/>
                </a:moveTo>
                <a:lnTo>
                  <a:pt x="7893134" y="0"/>
                </a:lnTo>
                <a:lnTo>
                  <a:pt x="7893134" y="2870230"/>
                </a:lnTo>
                <a:lnTo>
                  <a:pt x="0" y="2870230"/>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414775" y="1326138"/>
            <a:ext cx="8453154" cy="447675"/>
          </a:xfrm>
          <a:prstGeom prst="rect">
            <a:avLst/>
          </a:prstGeom>
        </p:spPr>
        <p:txBody>
          <a:bodyPr lIns="0" tIns="0" rIns="0" bIns="0" rtlCol="0" anchor="t">
            <a:spAutoFit/>
          </a:bodyPr>
          <a:lstStyle/>
          <a:p>
            <a:pPr algn="just">
              <a:lnSpc>
                <a:spcPts val="3120"/>
              </a:lnSpc>
              <a:spcBef>
                <a:spcPct val="0"/>
              </a:spcBef>
            </a:pPr>
            <a:r>
              <a:rPr lang="en-US" sz="2600" b="1">
                <a:solidFill>
                  <a:srgbClr val="000000"/>
                </a:solidFill>
                <a:latin typeface="Arial Bold"/>
                <a:ea typeface="Arial Bold"/>
                <a:cs typeface="Arial Bold"/>
                <a:sym typeface="Arial Bold"/>
              </a:rPr>
              <a:t>Giải pháp cho mạng không dây</a:t>
            </a:r>
          </a:p>
        </p:txBody>
      </p:sp>
      <p:sp>
        <p:nvSpPr>
          <p:cNvPr id="8" name="TextBox 8"/>
          <p:cNvSpPr txBox="1"/>
          <p:nvPr/>
        </p:nvSpPr>
        <p:spPr>
          <a:xfrm>
            <a:off x="678798" y="1899672"/>
            <a:ext cx="8453154" cy="381000"/>
          </a:xfrm>
          <a:prstGeom prst="rect">
            <a:avLst/>
          </a:prstGeom>
        </p:spPr>
        <p:txBody>
          <a:bodyPr lIns="0" tIns="0" rIns="0" bIns="0" rtlCol="0" anchor="t">
            <a:spAutoFit/>
          </a:bodyPr>
          <a:lstStyle/>
          <a:p>
            <a:pPr algn="just">
              <a:lnSpc>
                <a:spcPts val="2640"/>
              </a:lnSpc>
              <a:spcBef>
                <a:spcPct val="0"/>
              </a:spcBef>
            </a:pPr>
            <a:r>
              <a:rPr lang="en-US" sz="2200" b="1">
                <a:solidFill>
                  <a:srgbClr val="000000"/>
                </a:solidFill>
                <a:latin typeface="Arial Bold"/>
                <a:ea typeface="Arial Bold"/>
                <a:cs typeface="Arial Bold"/>
                <a:sym typeface="Arial Bold"/>
              </a:rPr>
              <a:t>Mạng mẫu </a:t>
            </a:r>
          </a:p>
        </p:txBody>
      </p:sp>
      <p:sp>
        <p:nvSpPr>
          <p:cNvPr id="9" name="TextBox 9"/>
          <p:cNvSpPr txBox="1"/>
          <p:nvPr/>
        </p:nvSpPr>
        <p:spPr>
          <a:xfrm>
            <a:off x="731520" y="5331877"/>
            <a:ext cx="8453154" cy="1266825"/>
          </a:xfrm>
          <a:prstGeom prst="rect">
            <a:avLst/>
          </a:prstGeom>
        </p:spPr>
        <p:txBody>
          <a:bodyPr lIns="0" tIns="0" rIns="0" bIns="0" rtlCol="0" anchor="t">
            <a:spAutoFit/>
          </a:bodyPr>
          <a:lstStyle/>
          <a:p>
            <a:pPr algn="just">
              <a:lnSpc>
                <a:spcPts val="2400"/>
              </a:lnSpc>
            </a:pPr>
            <a:endParaRPr/>
          </a:p>
          <a:p>
            <a:pPr algn="just">
              <a:lnSpc>
                <a:spcPts val="2400"/>
              </a:lnSpc>
            </a:pPr>
            <a:r>
              <a:rPr lang="en-US" sz="2000" b="1">
                <a:solidFill>
                  <a:srgbClr val="000000"/>
                </a:solidFill>
                <a:latin typeface="Arial Bold"/>
                <a:ea typeface="Arial Bold"/>
                <a:cs typeface="Arial Bold"/>
                <a:sym typeface="Arial Bold"/>
              </a:rPr>
              <a:t>Bản chất (Essence)</a:t>
            </a:r>
          </a:p>
          <a:p>
            <a:pPr algn="just">
              <a:lnSpc>
                <a:spcPts val="2400"/>
              </a:lnSpc>
            </a:pPr>
            <a:r>
              <a:rPr lang="en-US" sz="2000">
                <a:solidFill>
                  <a:srgbClr val="000000"/>
                </a:solidFill>
                <a:latin typeface="Arial"/>
                <a:ea typeface="Arial"/>
                <a:cs typeface="Arial"/>
                <a:sym typeface="Arial"/>
              </a:rPr>
              <a:t>Một nút chỉ báo lại nút mà nó xác định có dung lượng cao nhất.</a:t>
            </a:r>
          </a:p>
          <a:p>
            <a:pPr algn="just">
              <a:lnSpc>
                <a:spcPts val="2400"/>
              </a:lnSpc>
              <a:spcBef>
                <a:spcPct val="0"/>
              </a:spcBef>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1311708" y="3162279"/>
            <a:ext cx="7130184" cy="933493"/>
          </a:xfrm>
          <a:prstGeom prst="rect">
            <a:avLst/>
          </a:prstGeom>
        </p:spPr>
        <p:txBody>
          <a:bodyPr lIns="0" tIns="0" rIns="0" bIns="0" rtlCol="0" anchor="t">
            <a:spAutoFit/>
          </a:bodyPr>
          <a:lstStyle/>
          <a:p>
            <a:pPr algn="ctr">
              <a:lnSpc>
                <a:spcPts val="3479"/>
              </a:lnSpc>
              <a:spcBef>
                <a:spcPct val="0"/>
              </a:spcBef>
            </a:pPr>
            <a:r>
              <a:rPr lang="en-US" sz="2899" b="1">
                <a:solidFill>
                  <a:srgbClr val="000000"/>
                </a:solidFill>
                <a:latin typeface="Arial Bold"/>
                <a:ea typeface="Arial Bold"/>
                <a:cs typeface="Arial Bold"/>
                <a:sym typeface="Arial Bold"/>
              </a:rPr>
              <a:t>Gossip – based coordination </a:t>
            </a:r>
          </a:p>
          <a:p>
            <a:pPr algn="ctr">
              <a:lnSpc>
                <a:spcPts val="3479"/>
              </a:lnSpc>
              <a:spcBef>
                <a:spcPct val="0"/>
              </a:spcBef>
            </a:pPr>
            <a:r>
              <a:rPr lang="en-US" sz="2899" b="1">
                <a:solidFill>
                  <a:srgbClr val="000000"/>
                </a:solidFill>
                <a:latin typeface="Arial Bold"/>
                <a:ea typeface="Arial Bold"/>
                <a:cs typeface="Arial Bold"/>
                <a:sym typeface="Arial Bold"/>
              </a:rPr>
              <a:t>(Điều phối dựa trên giao thức tin đồn) </a:t>
            </a: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360934" y="1732900"/>
            <a:ext cx="9031731" cy="3762160"/>
          </a:xfrm>
          <a:prstGeom prst="rect">
            <a:avLst/>
          </a:prstGeom>
        </p:spPr>
        <p:txBody>
          <a:bodyPr lIns="0" tIns="0" rIns="0" bIns="0" rtlCol="0" anchor="t">
            <a:spAutoFit/>
          </a:bodyPr>
          <a:lstStyle/>
          <a:p>
            <a:pPr algn="l">
              <a:lnSpc>
                <a:spcPts val="2999"/>
              </a:lnSpc>
              <a:spcBef>
                <a:spcPct val="0"/>
              </a:spcBef>
            </a:pPr>
            <a:r>
              <a:rPr lang="en-US" sz="2499" b="1">
                <a:solidFill>
                  <a:srgbClr val="000000"/>
                </a:solidFill>
                <a:latin typeface="Arial Bold"/>
                <a:ea typeface="Arial Bold"/>
                <a:cs typeface="Arial Bold"/>
                <a:sym typeface="Arial Bold"/>
              </a:rPr>
              <a:t>Tổng hợp</a:t>
            </a:r>
          </a:p>
          <a:p>
            <a:pPr algn="l">
              <a:lnSpc>
                <a:spcPts val="2999"/>
              </a:lnSpc>
              <a:spcBef>
                <a:spcPct val="0"/>
              </a:spcBef>
            </a:pPr>
            <a:r>
              <a:rPr lang="en-US" sz="2499">
                <a:solidFill>
                  <a:srgbClr val="000000"/>
                </a:solidFill>
                <a:latin typeface="Arial"/>
                <a:ea typeface="Arial"/>
                <a:cs typeface="Arial"/>
                <a:sym typeface="Arial"/>
              </a:rPr>
              <a:t> Các ứng dụng điển hình</a:t>
            </a:r>
          </a:p>
          <a:p>
            <a:pPr algn="l">
              <a:lnSpc>
                <a:spcPts val="2999"/>
              </a:lnSpc>
              <a:spcBef>
                <a:spcPct val="0"/>
              </a:spcBef>
            </a:pPr>
            <a:r>
              <a:rPr lang="en-US" sz="2499">
                <a:solidFill>
                  <a:srgbClr val="000000"/>
                </a:solidFill>
                <a:latin typeface="Arial"/>
                <a:ea typeface="Arial"/>
                <a:cs typeface="Arial"/>
                <a:sym typeface="Arial"/>
              </a:rPr>
              <a:t> • Phát tán dữ liệu: Có lẽ đây là ứng dụng quan trọng nhất. Lưu ý rằng có nhiều biến thể của việc phát tán dữ liệu.</a:t>
            </a:r>
          </a:p>
          <a:p>
            <a:pPr algn="l">
              <a:lnSpc>
                <a:spcPts val="2999"/>
              </a:lnSpc>
              <a:spcBef>
                <a:spcPct val="0"/>
              </a:spcBef>
            </a:pPr>
            <a:r>
              <a:rPr lang="en-US" sz="2499">
                <a:solidFill>
                  <a:srgbClr val="000000"/>
                </a:solidFill>
                <a:latin typeface="Arial"/>
                <a:ea typeface="Arial"/>
                <a:cs typeface="Arial"/>
                <a:sym typeface="Arial"/>
              </a:rPr>
              <a:t> • Tổng hợp: Giả sử mỗi nút Pi duy trì một biến vi. Khi hai nút thực hiện giao tiếp tin đồn (gossip), chúng sẽ cập nhật lại biến của mình theo công thức:</a:t>
            </a:r>
          </a:p>
          <a:p>
            <a:pPr algn="l">
              <a:lnSpc>
                <a:spcPts val="2999"/>
              </a:lnSpc>
              <a:spcBef>
                <a:spcPct val="0"/>
              </a:spcBef>
            </a:pPr>
            <a:r>
              <a:rPr lang="en-US" sz="2499">
                <a:solidFill>
                  <a:srgbClr val="000000"/>
                </a:solidFill>
                <a:latin typeface="Arial"/>
                <a:ea typeface="Arial"/>
                <a:cs typeface="Arial"/>
                <a:sym typeface="Arial"/>
              </a:rPr>
              <a:t> vi, vj ← (vi + vj)/2</a:t>
            </a:r>
          </a:p>
          <a:p>
            <a:pPr algn="l">
              <a:lnSpc>
                <a:spcPts val="2999"/>
              </a:lnSpc>
              <a:spcBef>
                <a:spcPct val="0"/>
              </a:spcBef>
            </a:pPr>
            <a:r>
              <a:rPr lang="en-US" sz="2499">
                <a:solidFill>
                  <a:srgbClr val="000000"/>
                </a:solidFill>
                <a:latin typeface="Arial"/>
                <a:ea typeface="Arial"/>
                <a:cs typeface="Arial"/>
                <a:sym typeface="Arial"/>
              </a:rPr>
              <a:t> Kết quả: Cuối cùng, mỗi nút sẽ tính được giá trị trung bình ¯v = ∑i vi/N.</a:t>
            </a:r>
          </a:p>
        </p:txBody>
      </p:sp>
      <p:sp>
        <p:nvSpPr>
          <p:cNvPr id="4" name="TextBox 4"/>
          <p:cNvSpPr txBox="1"/>
          <p:nvPr/>
        </p:nvSpPr>
        <p:spPr>
          <a:xfrm>
            <a:off x="192051" y="179049"/>
            <a:ext cx="7330044" cy="552471"/>
          </a:xfrm>
          <a:prstGeom prst="rect">
            <a:avLst/>
          </a:prstGeom>
        </p:spPr>
        <p:txBody>
          <a:bodyPr lIns="0" tIns="0" rIns="0" bIns="0" rtlCol="0" anchor="t">
            <a:spAutoFit/>
          </a:bodyPr>
          <a:lstStyle/>
          <a:p>
            <a:pPr algn="ctr">
              <a:lnSpc>
                <a:spcPts val="3839"/>
              </a:lnSpc>
              <a:spcBef>
                <a:spcPct val="0"/>
              </a:spcBef>
            </a:pPr>
            <a:r>
              <a:rPr lang="en-US" sz="3199" b="1">
                <a:solidFill>
                  <a:srgbClr val="FFFF00"/>
                </a:solidFill>
                <a:latin typeface="Arial Bold"/>
                <a:ea typeface="Arial Bold"/>
                <a:cs typeface="Arial Bold"/>
                <a:sym typeface="Arial Bold"/>
              </a:rPr>
              <a:t>Điều phối dựa trên giao thức tin đồn</a:t>
            </a:r>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192051" y="1363037"/>
            <a:ext cx="9426648" cy="5715000"/>
          </a:xfrm>
          <a:prstGeom prst="rect">
            <a:avLst/>
          </a:prstGeom>
        </p:spPr>
        <p:txBody>
          <a:bodyPr lIns="0" tIns="0" rIns="0" bIns="0" rtlCol="0" anchor="t">
            <a:spAutoFit/>
          </a:bodyPr>
          <a:lstStyle/>
          <a:p>
            <a:pPr algn="l">
              <a:lnSpc>
                <a:spcPts val="2640"/>
              </a:lnSpc>
              <a:spcBef>
                <a:spcPct val="0"/>
              </a:spcBef>
            </a:pPr>
            <a:r>
              <a:rPr lang="en-US" sz="2200" b="1">
                <a:solidFill>
                  <a:srgbClr val="000000"/>
                </a:solidFill>
                <a:latin typeface="Arial Bold"/>
                <a:ea typeface="Arial Bold"/>
                <a:cs typeface="Arial Bold"/>
                <a:sym typeface="Arial Bold"/>
              </a:rPr>
              <a:t>Điều gì xảy ra trong trường hợp ban đầu vi = 1 và vj = 0, j ≠ i?</a:t>
            </a:r>
          </a:p>
          <a:p>
            <a:pPr algn="l">
              <a:lnSpc>
                <a:spcPts val="2640"/>
              </a:lnSpc>
              <a:spcBef>
                <a:spcPct val="0"/>
              </a:spcBef>
            </a:pPr>
            <a:endParaRPr lang="en-US" sz="2200" b="1">
              <a:solidFill>
                <a:srgbClr val="000000"/>
              </a:solidFill>
              <a:latin typeface="Arial Bold"/>
              <a:ea typeface="Arial Bold"/>
              <a:cs typeface="Arial Bold"/>
              <a:sym typeface="Arial Bold"/>
            </a:endParaRPr>
          </a:p>
          <a:p>
            <a:pPr algn="l">
              <a:lnSpc>
                <a:spcPts val="2640"/>
              </a:lnSpc>
              <a:spcBef>
                <a:spcPct val="0"/>
              </a:spcBef>
            </a:pPr>
            <a:r>
              <a:rPr lang="en-US" sz="2200">
                <a:solidFill>
                  <a:srgbClr val="000000"/>
                </a:solidFill>
                <a:latin typeface="Arial"/>
                <a:ea typeface="Arial"/>
                <a:cs typeface="Arial"/>
                <a:sym typeface="Arial"/>
              </a:rPr>
              <a:t>Khi hai nút Pi ​và Pj  liên lạc với nhau, chúng sẽ cập nhật giá trị của mình theo công thức:     vi,vj←(vi+vj)/2</a:t>
            </a:r>
          </a:p>
          <a:p>
            <a:pPr algn="l">
              <a:lnSpc>
                <a:spcPts val="2640"/>
              </a:lnSpc>
              <a:spcBef>
                <a:spcPct val="0"/>
              </a:spcBef>
            </a:pPr>
            <a:r>
              <a:rPr lang="en-US" sz="2200">
                <a:solidFill>
                  <a:srgbClr val="000000"/>
                </a:solidFill>
                <a:latin typeface="Arial"/>
                <a:ea typeface="Arial"/>
                <a:cs typeface="Arial"/>
                <a:sym typeface="Arial"/>
              </a:rPr>
              <a:t>Áp dụng trường hợp cụ thể:  Ban đầu: vi=1, vj=0 </a:t>
            </a:r>
          </a:p>
          <a:p>
            <a:pPr algn="l">
              <a:lnSpc>
                <a:spcPts val="2640"/>
              </a:lnSpc>
              <a:spcBef>
                <a:spcPct val="0"/>
              </a:spcBef>
            </a:pPr>
            <a:r>
              <a:rPr lang="en-US" sz="2200">
                <a:solidFill>
                  <a:srgbClr val="000000"/>
                </a:solidFill>
                <a:latin typeface="Arial"/>
                <a:ea typeface="Arial"/>
                <a:cs typeface="Arial"/>
                <a:sym typeface="Arial"/>
              </a:rPr>
              <a:t>                                          Sau khi trao đổi:  vi,vj←(1+0)/2=0.5</a:t>
            </a:r>
          </a:p>
          <a:p>
            <a:pPr algn="l">
              <a:lnSpc>
                <a:spcPts val="2640"/>
              </a:lnSpc>
              <a:spcBef>
                <a:spcPct val="0"/>
              </a:spcBef>
            </a:pPr>
            <a:r>
              <a:rPr lang="en-US" sz="2200">
                <a:solidFill>
                  <a:srgbClr val="000000"/>
                </a:solidFill>
                <a:latin typeface="Arial"/>
                <a:ea typeface="Arial"/>
                <a:cs typeface="Arial"/>
                <a:sym typeface="Arial"/>
              </a:rPr>
              <a:t>Kết quả là, sau lần trao đổi đầu tiên này, cả hai nút Pi ​ và Pj​ đều có giá trị vi=vj=0.5 </a:t>
            </a:r>
          </a:p>
          <a:p>
            <a:pPr algn="l">
              <a:lnSpc>
                <a:spcPts val="2640"/>
              </a:lnSpc>
              <a:spcBef>
                <a:spcPct val="0"/>
              </a:spcBef>
            </a:pPr>
            <a:r>
              <a:rPr lang="en-US" sz="2200">
                <a:solidFill>
                  <a:srgbClr val="000000"/>
                </a:solidFill>
                <a:latin typeface="Arial"/>
                <a:ea typeface="Arial"/>
                <a:cs typeface="Arial"/>
                <a:sym typeface="Arial"/>
              </a:rPr>
              <a:t>Tiếp theo, quá trình tin đồn sẽ tiếp tục giữa các nút trong hệ thống. Giả sử có N nút, và các nút khác ban đầu có giá trị vk=0 (với k≠i,j), thì trong các lần trao đổi tiếp theo, giá trị 0.5 này sẽ lan truyền và bị pha loãng dần. Cuối cùng, tất cả các nút sẽ hội tụ về giá trị trung bình của toàn bộ hệ thống, tức là:        v‾= ∑vk/N = 1+0+0+⋯+0/N = 1/N ​</a:t>
            </a:r>
          </a:p>
          <a:p>
            <a:pPr algn="l">
              <a:lnSpc>
                <a:spcPts val="2640"/>
              </a:lnSpc>
              <a:spcBef>
                <a:spcPct val="0"/>
              </a:spcBef>
            </a:pPr>
            <a:r>
              <a:rPr lang="en-US" sz="2200">
                <a:solidFill>
                  <a:srgbClr val="000000"/>
                </a:solidFill>
                <a:latin typeface="Arial"/>
                <a:ea typeface="Arial"/>
                <a:cs typeface="Arial"/>
                <a:sym typeface="Arial"/>
              </a:rPr>
              <a:t>Vậy, trong trường hợp ban đầu vi=1 ,vj=0 (với j≠i), sau lần trao đổi đầu tiên giữa Pi và Pj ​, cả hai nút sẽ có giá trị 0.5 . Sau đó, qua nhiều lần trao đổi tin đồn tiếp theo với các nút khác trong hệ thống, tất cả các nút sẽ có giá trị 1/N , cho phép mỗi nút ước lượng kích thước hệ thống là 1/vi=N.</a:t>
            </a:r>
          </a:p>
        </p:txBody>
      </p:sp>
      <p:sp>
        <p:nvSpPr>
          <p:cNvPr id="4" name="TextBox 4"/>
          <p:cNvSpPr txBox="1"/>
          <p:nvPr/>
        </p:nvSpPr>
        <p:spPr>
          <a:xfrm>
            <a:off x="192051" y="179049"/>
            <a:ext cx="7330044" cy="552471"/>
          </a:xfrm>
          <a:prstGeom prst="rect">
            <a:avLst/>
          </a:prstGeom>
        </p:spPr>
        <p:txBody>
          <a:bodyPr lIns="0" tIns="0" rIns="0" bIns="0" rtlCol="0" anchor="t">
            <a:spAutoFit/>
          </a:bodyPr>
          <a:lstStyle/>
          <a:p>
            <a:pPr algn="ctr">
              <a:lnSpc>
                <a:spcPts val="3839"/>
              </a:lnSpc>
              <a:spcBef>
                <a:spcPct val="0"/>
              </a:spcBef>
            </a:pPr>
            <a:r>
              <a:rPr lang="en-US" sz="3199" b="1">
                <a:solidFill>
                  <a:srgbClr val="FFFF00"/>
                </a:solidFill>
                <a:latin typeface="Arial Bold"/>
                <a:ea typeface="Arial Bold"/>
                <a:cs typeface="Arial Bold"/>
                <a:sym typeface="Arial Bold"/>
              </a:rPr>
              <a:t>Điều phối dựa trên giao thức tin đồn</a:t>
            </a:r>
          </a:p>
        </p:txBody>
      </p:sp>
    </p:spTree>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562718" y="1281317"/>
            <a:ext cx="5798904" cy="438150"/>
          </a:xfrm>
          <a:prstGeom prst="rect">
            <a:avLst/>
          </a:prstGeom>
        </p:spPr>
        <p:txBody>
          <a:bodyPr lIns="0" tIns="0" rIns="0" bIns="0" rtlCol="0" anchor="t">
            <a:spAutoFit/>
          </a:bodyPr>
          <a:lstStyle/>
          <a:p>
            <a:pPr algn="ctr">
              <a:lnSpc>
                <a:spcPts val="3000"/>
              </a:lnSpc>
              <a:spcBef>
                <a:spcPct val="0"/>
              </a:spcBef>
            </a:pPr>
            <a:r>
              <a:rPr lang="en-US" sz="2500" b="1">
                <a:solidFill>
                  <a:srgbClr val="000000"/>
                </a:solidFill>
                <a:latin typeface="Arial Bold"/>
                <a:ea typeface="Arial Bold"/>
                <a:cs typeface="Arial Bold"/>
                <a:sym typeface="Arial Bold"/>
              </a:rPr>
              <a:t>Lấy mẫu ngang hàng (peer sampling)</a:t>
            </a:r>
          </a:p>
        </p:txBody>
      </p:sp>
      <p:sp>
        <p:nvSpPr>
          <p:cNvPr id="4" name="TextBox 4"/>
          <p:cNvSpPr txBox="1"/>
          <p:nvPr/>
        </p:nvSpPr>
        <p:spPr>
          <a:xfrm>
            <a:off x="318135" y="1828735"/>
            <a:ext cx="9435465" cy="5191446"/>
          </a:xfrm>
          <a:prstGeom prst="rect">
            <a:avLst/>
          </a:prstGeom>
        </p:spPr>
        <p:txBody>
          <a:bodyPr lIns="0" tIns="0" rIns="0" bIns="0" rtlCol="0" anchor="t">
            <a:spAutoFit/>
          </a:bodyPr>
          <a:lstStyle/>
          <a:p>
            <a:pPr algn="l">
              <a:lnSpc>
                <a:spcPts val="2760"/>
              </a:lnSpc>
              <a:spcBef>
                <a:spcPct val="0"/>
              </a:spcBef>
            </a:pPr>
            <a:r>
              <a:rPr lang="en-US" sz="2300" b="1">
                <a:solidFill>
                  <a:srgbClr val="000000"/>
                </a:solidFill>
                <a:latin typeface="Arial Bold"/>
                <a:ea typeface="Arial Bold"/>
                <a:cs typeface="Arial Bold"/>
                <a:sym typeface="Arial Bold"/>
              </a:rPr>
              <a:t>Vấn đề</a:t>
            </a:r>
          </a:p>
          <a:p>
            <a:pPr algn="l">
              <a:lnSpc>
                <a:spcPts val="2760"/>
              </a:lnSpc>
              <a:spcBef>
                <a:spcPct val="0"/>
              </a:spcBef>
            </a:pPr>
            <a:r>
              <a:rPr lang="en-US" sz="2300">
                <a:solidFill>
                  <a:srgbClr val="000000"/>
                </a:solidFill>
                <a:latin typeface="Arial"/>
                <a:ea typeface="Arial"/>
                <a:cs typeface="Arial"/>
                <a:sym typeface="Arial"/>
              </a:rPr>
              <a:t> Đối với nhiều ứng dụng dựa trên tin đồn, bạn cần chọn một nút ngang hàng (peer) một cách đồng đều ngẫu nhiên từ toàn bộ mạng. Về nguyên tắc, điều này có nghĩa là bạn cần biết tất cả các nút ngang hàng khác. Điều này có khả thi không?</a:t>
            </a:r>
          </a:p>
          <a:p>
            <a:pPr algn="l">
              <a:lnSpc>
                <a:spcPts val="2760"/>
              </a:lnSpc>
              <a:spcBef>
                <a:spcPct val="0"/>
              </a:spcBef>
            </a:pPr>
            <a:r>
              <a:rPr lang="en-US" sz="2300" b="1">
                <a:solidFill>
                  <a:srgbClr val="000000"/>
                </a:solidFill>
                <a:latin typeface="Arial Bold"/>
                <a:ea typeface="Arial Bold"/>
                <a:cs typeface="Arial Bold"/>
                <a:sym typeface="Arial Bold"/>
              </a:rPr>
              <a:t>Cơ bản</a:t>
            </a:r>
          </a:p>
          <a:p>
            <a:pPr algn="l">
              <a:lnSpc>
                <a:spcPts val="2760"/>
              </a:lnSpc>
              <a:spcBef>
                <a:spcPct val="0"/>
              </a:spcBef>
            </a:pPr>
            <a:r>
              <a:rPr lang="en-US" sz="2300">
                <a:solidFill>
                  <a:srgbClr val="000000"/>
                </a:solidFill>
                <a:latin typeface="Arial"/>
                <a:ea typeface="Arial"/>
                <a:cs typeface="Arial"/>
                <a:sym typeface="Arial"/>
              </a:rPr>
              <a:t> • Mỗi nút duy trì một danh sách chứa c tham chiếu đến các nút khác.</a:t>
            </a:r>
          </a:p>
          <a:p>
            <a:pPr algn="l">
              <a:lnSpc>
                <a:spcPts val="2760"/>
              </a:lnSpc>
              <a:spcBef>
                <a:spcPct val="0"/>
              </a:spcBef>
            </a:pPr>
            <a:r>
              <a:rPr lang="en-US" sz="2300">
                <a:solidFill>
                  <a:srgbClr val="000000"/>
                </a:solidFill>
                <a:latin typeface="Arial"/>
                <a:ea typeface="Arial"/>
                <a:cs typeface="Arial"/>
                <a:sym typeface="Arial"/>
              </a:rPr>
              <a:t> • Định kỳ, chọn ngẫu nhiên một nút khác (từ danh sách), và trao đổi khoảng c/2 tham chiếu.</a:t>
            </a:r>
          </a:p>
          <a:p>
            <a:pPr algn="l">
              <a:lnSpc>
                <a:spcPts val="2760"/>
              </a:lnSpc>
              <a:spcBef>
                <a:spcPct val="0"/>
              </a:spcBef>
            </a:pPr>
            <a:r>
              <a:rPr lang="en-US" sz="2300">
                <a:solidFill>
                  <a:srgbClr val="000000"/>
                </a:solidFill>
                <a:latin typeface="Arial"/>
                <a:ea typeface="Arial"/>
                <a:cs typeface="Arial"/>
                <a:sym typeface="Arial"/>
              </a:rPr>
              <a:t> • Khi ứng dụng cần chọn một nút ngẫu nhiên, nó cũng chọn ngẫu nhiên một nút từ danh sách cục bộ của mình.</a:t>
            </a:r>
          </a:p>
          <a:p>
            <a:pPr algn="l">
              <a:lnSpc>
                <a:spcPts val="2760"/>
              </a:lnSpc>
              <a:spcBef>
                <a:spcPct val="0"/>
              </a:spcBef>
            </a:pPr>
            <a:r>
              <a:rPr lang="en-US" sz="2300" b="1">
                <a:solidFill>
                  <a:srgbClr val="000000"/>
                </a:solidFill>
                <a:latin typeface="Arial Bold"/>
                <a:ea typeface="Arial Bold"/>
                <a:cs typeface="Arial Bold"/>
                <a:sym typeface="Arial Bold"/>
              </a:rPr>
              <a:t>Quan sát</a:t>
            </a:r>
          </a:p>
          <a:p>
            <a:pPr algn="l">
              <a:lnSpc>
                <a:spcPts val="2760"/>
              </a:lnSpc>
              <a:spcBef>
                <a:spcPct val="0"/>
              </a:spcBef>
            </a:pPr>
            <a:r>
              <a:rPr lang="en-US" sz="2300">
                <a:solidFill>
                  <a:srgbClr val="000000"/>
                </a:solidFill>
                <a:latin typeface="Arial"/>
                <a:ea typeface="Arial"/>
                <a:cs typeface="Arial"/>
                <a:sym typeface="Arial"/>
              </a:rPr>
              <a:t> Về mặt thống kê, hóa ra việc chọn một nút ngang hàng từ danh sách cục bộ không khác biệt so với việc chọn đồng đều ngẫu nhiên một nút ngang hàng từ toàn bộ mạng.</a:t>
            </a:r>
          </a:p>
        </p:txBody>
      </p:sp>
      <p:sp>
        <p:nvSpPr>
          <p:cNvPr id="5" name="TextBox 5"/>
          <p:cNvSpPr txBox="1"/>
          <p:nvPr/>
        </p:nvSpPr>
        <p:spPr>
          <a:xfrm>
            <a:off x="192051" y="336222"/>
            <a:ext cx="7330044" cy="552471"/>
          </a:xfrm>
          <a:prstGeom prst="rect">
            <a:avLst/>
          </a:prstGeom>
        </p:spPr>
        <p:txBody>
          <a:bodyPr lIns="0" tIns="0" rIns="0" bIns="0" rtlCol="0" anchor="t">
            <a:spAutoFit/>
          </a:bodyPr>
          <a:lstStyle/>
          <a:p>
            <a:pPr algn="ctr">
              <a:lnSpc>
                <a:spcPts val="3839"/>
              </a:lnSpc>
              <a:spcBef>
                <a:spcPct val="0"/>
              </a:spcBef>
            </a:pPr>
            <a:r>
              <a:rPr lang="en-US" sz="3199" b="1">
                <a:solidFill>
                  <a:srgbClr val="FFFF00"/>
                </a:solidFill>
                <a:latin typeface="Arial Bold"/>
                <a:ea typeface="Arial Bold"/>
                <a:cs typeface="Arial Bold"/>
                <a:sym typeface="Arial Bold"/>
              </a:rPr>
              <a:t>Dịch vụ lấy mẫu ngang hàng </a:t>
            </a:r>
          </a:p>
        </p:txBody>
      </p:sp>
    </p:spTree>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Freeform 3"/>
          <p:cNvSpPr/>
          <p:nvPr/>
        </p:nvSpPr>
        <p:spPr>
          <a:xfrm>
            <a:off x="1333530" y="3309923"/>
            <a:ext cx="7086540" cy="3224376"/>
          </a:xfrm>
          <a:custGeom>
            <a:avLst/>
            <a:gdLst/>
            <a:ahLst/>
            <a:cxnLst/>
            <a:rect l="l" t="t" r="r" b="b"/>
            <a:pathLst>
              <a:path w="7086540" h="3224376">
                <a:moveTo>
                  <a:pt x="0" y="0"/>
                </a:moveTo>
                <a:lnTo>
                  <a:pt x="7086540" y="0"/>
                </a:lnTo>
                <a:lnTo>
                  <a:pt x="7086540" y="3224375"/>
                </a:lnTo>
                <a:lnTo>
                  <a:pt x="0" y="3224375"/>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279900" y="1112505"/>
            <a:ext cx="9473700" cy="2105154"/>
          </a:xfrm>
          <a:prstGeom prst="rect">
            <a:avLst/>
          </a:prstGeom>
        </p:spPr>
        <p:txBody>
          <a:bodyPr lIns="0" tIns="0" rIns="0" bIns="0" rtlCol="0" anchor="t">
            <a:spAutoFit/>
          </a:bodyPr>
          <a:lstStyle/>
          <a:p>
            <a:pPr algn="l">
              <a:lnSpc>
                <a:spcPts val="2760"/>
              </a:lnSpc>
              <a:spcBef>
                <a:spcPct val="0"/>
              </a:spcBef>
            </a:pPr>
            <a:endParaRPr/>
          </a:p>
          <a:p>
            <a:pPr algn="l">
              <a:lnSpc>
                <a:spcPts val="2760"/>
              </a:lnSpc>
              <a:spcBef>
                <a:spcPct val="0"/>
              </a:spcBef>
            </a:pPr>
            <a:r>
              <a:rPr lang="en-US" sz="2300" b="1">
                <a:solidFill>
                  <a:srgbClr val="000000"/>
                </a:solidFill>
                <a:latin typeface="Arial Bold"/>
                <a:ea typeface="Arial Bold"/>
                <a:cs typeface="Arial Bold"/>
                <a:sym typeface="Arial Bold"/>
              </a:rPr>
              <a:t>Bản chất</a:t>
            </a:r>
          </a:p>
          <a:p>
            <a:pPr algn="l">
              <a:lnSpc>
                <a:spcPts val="2760"/>
              </a:lnSpc>
              <a:spcBef>
                <a:spcPct val="0"/>
              </a:spcBef>
            </a:pPr>
            <a:r>
              <a:rPr lang="en-US" sz="2300">
                <a:solidFill>
                  <a:srgbClr val="000000"/>
                </a:solidFill>
                <a:latin typeface="Arial"/>
                <a:ea typeface="Arial"/>
                <a:cs typeface="Arial"/>
                <a:sym typeface="Arial"/>
              </a:rPr>
              <a:t> Duy trì hai danh sách cục bộ của các nút láng giềng. Danh sách thấp nhất được sử dụng để cung cấp dịch vụ lấy mẫu ngang hàng (peer-sampling service); danh sách cao nhất được sử dụng để cẩn thận chọn các nút láng giềng phụ thuộc vào ứng dụng.</a:t>
            </a:r>
          </a:p>
        </p:txBody>
      </p:sp>
      <p:sp>
        <p:nvSpPr>
          <p:cNvPr id="5" name="TextBox 5"/>
          <p:cNvSpPr txBox="1"/>
          <p:nvPr/>
        </p:nvSpPr>
        <p:spPr>
          <a:xfrm>
            <a:off x="731520" y="121862"/>
            <a:ext cx="6181391" cy="1038268"/>
          </a:xfrm>
          <a:prstGeom prst="rect">
            <a:avLst/>
          </a:prstGeom>
        </p:spPr>
        <p:txBody>
          <a:bodyPr lIns="0" tIns="0" rIns="0" bIns="0" rtlCol="0" anchor="t">
            <a:spAutoFit/>
          </a:bodyPr>
          <a:lstStyle/>
          <a:p>
            <a:pPr algn="l">
              <a:lnSpc>
                <a:spcPts val="3839"/>
              </a:lnSpc>
              <a:spcBef>
                <a:spcPct val="0"/>
              </a:spcBef>
            </a:pPr>
            <a:r>
              <a:rPr lang="en-US" sz="3199" b="1">
                <a:solidFill>
                  <a:srgbClr val="FFFF00"/>
                </a:solidFill>
                <a:latin typeface="Arial Bold"/>
                <a:ea typeface="Arial Bold"/>
                <a:cs typeface="Arial Bold"/>
                <a:sym typeface="Arial Bold"/>
              </a:rPr>
              <a:t>Xây dựng lớp phủ dựa trên giao thức tin đồn</a:t>
            </a:r>
          </a:p>
        </p:txBody>
      </p:sp>
      <p:sp>
        <p:nvSpPr>
          <p:cNvPr id="6" name="TextBox 6"/>
          <p:cNvSpPr txBox="1"/>
          <p:nvPr/>
        </p:nvSpPr>
        <p:spPr>
          <a:xfrm>
            <a:off x="279900" y="6588462"/>
            <a:ext cx="9753600" cy="676189"/>
          </a:xfrm>
          <a:prstGeom prst="rect">
            <a:avLst/>
          </a:prstGeom>
        </p:spPr>
        <p:txBody>
          <a:bodyPr lIns="0" tIns="0" rIns="0" bIns="0" rtlCol="0" anchor="t">
            <a:spAutoFit/>
          </a:bodyPr>
          <a:lstStyle/>
          <a:p>
            <a:pPr algn="l">
              <a:lnSpc>
                <a:spcPts val="2520"/>
              </a:lnSpc>
              <a:spcBef>
                <a:spcPct val="0"/>
              </a:spcBef>
            </a:pPr>
            <a:r>
              <a:rPr lang="en-US" sz="2100">
                <a:solidFill>
                  <a:srgbClr val="000000"/>
                </a:solidFill>
                <a:latin typeface="Arial"/>
                <a:ea typeface="Arial"/>
                <a:cs typeface="Arial"/>
                <a:sym typeface="Arial"/>
              </a:rPr>
              <a:t>Một phương pháp hai lớp để xây dựng và duy trì các topology lớp phủ cụ thể bằng các kỹ thuật từ hệ thống ngang hàng không cấu trúc.</a:t>
            </a:r>
          </a:p>
        </p:txBody>
      </p:sp>
    </p:spTree>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310457" y="1533570"/>
            <a:ext cx="3802599" cy="447696"/>
          </a:xfrm>
          <a:prstGeom prst="rect">
            <a:avLst/>
          </a:prstGeom>
        </p:spPr>
        <p:txBody>
          <a:bodyPr lIns="0" tIns="0" rIns="0" bIns="0" rtlCol="0" anchor="t">
            <a:spAutoFit/>
          </a:bodyPr>
          <a:lstStyle/>
          <a:p>
            <a:pPr algn="ctr">
              <a:lnSpc>
                <a:spcPts val="3120"/>
              </a:lnSpc>
              <a:spcBef>
                <a:spcPct val="0"/>
              </a:spcBef>
            </a:pPr>
            <a:r>
              <a:rPr lang="en-US" sz="2600" b="1">
                <a:solidFill>
                  <a:srgbClr val="000000"/>
                </a:solidFill>
                <a:latin typeface="Arial Bold"/>
                <a:ea typeface="Arial Bold"/>
                <a:cs typeface="Arial Bold"/>
                <a:sym typeface="Arial Bold"/>
              </a:rPr>
              <a:t>Một hình khối 2D (torus)</a:t>
            </a:r>
          </a:p>
        </p:txBody>
      </p:sp>
      <p:sp>
        <p:nvSpPr>
          <p:cNvPr id="4" name="TextBox 4"/>
          <p:cNvSpPr txBox="1"/>
          <p:nvPr/>
        </p:nvSpPr>
        <p:spPr>
          <a:xfrm>
            <a:off x="310457" y="2275028"/>
            <a:ext cx="9093862" cy="3476840"/>
          </a:xfrm>
          <a:prstGeom prst="rect">
            <a:avLst/>
          </a:prstGeom>
        </p:spPr>
        <p:txBody>
          <a:bodyPr lIns="0" tIns="0" rIns="0" bIns="0" rtlCol="0" anchor="t">
            <a:spAutoFit/>
          </a:bodyPr>
          <a:lstStyle/>
          <a:p>
            <a:pPr algn="l">
              <a:lnSpc>
                <a:spcPts val="2760"/>
              </a:lnSpc>
              <a:spcBef>
                <a:spcPct val="0"/>
              </a:spcBef>
            </a:pPr>
            <a:r>
              <a:rPr lang="en-US" sz="2300">
                <a:solidFill>
                  <a:srgbClr val="000000"/>
                </a:solidFill>
                <a:latin typeface="Arial"/>
                <a:ea typeface="Arial"/>
                <a:cs typeface="Arial"/>
                <a:sym typeface="Arial"/>
              </a:rPr>
              <a:t>Xem xét một lưới logic kích thước N×N, với một nút tại mỗi điểm trên lưới.</a:t>
            </a:r>
          </a:p>
          <a:p>
            <a:pPr algn="l">
              <a:lnSpc>
                <a:spcPts val="2760"/>
              </a:lnSpc>
              <a:spcBef>
                <a:spcPct val="0"/>
              </a:spcBef>
            </a:pPr>
            <a:r>
              <a:rPr lang="en-US" sz="2300">
                <a:solidFill>
                  <a:srgbClr val="000000"/>
                </a:solidFill>
                <a:latin typeface="Arial"/>
                <a:ea typeface="Arial"/>
                <a:cs typeface="Arial"/>
                <a:sym typeface="Arial"/>
              </a:rPr>
              <a:t> • Mỗi nút phải duy trì một danh sách gồm c nút láng giềng gần nhất.</a:t>
            </a:r>
          </a:p>
          <a:p>
            <a:pPr algn="l">
              <a:lnSpc>
                <a:spcPts val="2760"/>
              </a:lnSpc>
              <a:spcBef>
                <a:spcPct val="0"/>
              </a:spcBef>
            </a:pPr>
            <a:r>
              <a:rPr lang="en-US" sz="2300">
                <a:solidFill>
                  <a:srgbClr val="000000"/>
                </a:solidFill>
                <a:latin typeface="Arial"/>
                <a:ea typeface="Arial"/>
                <a:cs typeface="Arial"/>
                <a:sym typeface="Arial"/>
              </a:rPr>
              <a:t> • Khoảng cách giữa nút tại vị trí (a1, a2) và (b1, b2) được tính là d1+d2, trong đó:</a:t>
            </a:r>
          </a:p>
          <a:p>
            <a:pPr algn="l">
              <a:lnSpc>
                <a:spcPts val="2760"/>
              </a:lnSpc>
              <a:spcBef>
                <a:spcPct val="0"/>
              </a:spcBef>
            </a:pPr>
            <a:r>
              <a:rPr lang="en-US" sz="2300">
                <a:solidFill>
                  <a:srgbClr val="000000"/>
                </a:solidFill>
                <a:latin typeface="Arial"/>
                <a:ea typeface="Arial"/>
                <a:cs typeface="Arial"/>
                <a:sym typeface="Arial"/>
              </a:rPr>
              <a:t> di = min (N −∣ai−bi∣, ∣ai−bi∣)</a:t>
            </a:r>
          </a:p>
          <a:p>
            <a:pPr algn="l">
              <a:lnSpc>
                <a:spcPts val="2760"/>
              </a:lnSpc>
              <a:spcBef>
                <a:spcPct val="0"/>
              </a:spcBef>
            </a:pPr>
            <a:r>
              <a:rPr lang="en-US" sz="2300">
                <a:solidFill>
                  <a:srgbClr val="000000"/>
                </a:solidFill>
                <a:latin typeface="Arial"/>
                <a:ea typeface="Arial"/>
                <a:cs typeface="Arial"/>
                <a:sym typeface="Arial"/>
              </a:rPr>
              <a:t>• Mỗi nút chọn ngẫu nhiên một nút khác từ danh sách cấp thấp nhất, và chỉ giữ lại nút gần nhất trong danh sách cấp cao nhất.</a:t>
            </a:r>
          </a:p>
          <a:p>
            <a:pPr algn="l">
              <a:lnSpc>
                <a:spcPts val="2760"/>
              </a:lnSpc>
              <a:spcBef>
                <a:spcPct val="0"/>
              </a:spcBef>
            </a:pPr>
            <a:r>
              <a:rPr lang="en-US" sz="2300">
                <a:solidFill>
                  <a:srgbClr val="000000"/>
                </a:solidFill>
                <a:latin typeface="Arial"/>
                <a:ea typeface="Arial"/>
                <a:cs typeface="Arial"/>
                <a:sym typeface="Arial"/>
              </a:rPr>
              <a:t> • Khi mọi nút đã thực hiện việc chọn và chọn lọc một nút ngẫu nhiên, hệ thống chuyển sang vòng tiếp theo.</a:t>
            </a:r>
          </a:p>
        </p:txBody>
      </p:sp>
      <p:sp>
        <p:nvSpPr>
          <p:cNvPr id="5" name="TextBox 5"/>
          <p:cNvSpPr txBox="1"/>
          <p:nvPr/>
        </p:nvSpPr>
        <p:spPr>
          <a:xfrm>
            <a:off x="731520" y="121862"/>
            <a:ext cx="6181391" cy="1038268"/>
          </a:xfrm>
          <a:prstGeom prst="rect">
            <a:avLst/>
          </a:prstGeom>
        </p:spPr>
        <p:txBody>
          <a:bodyPr lIns="0" tIns="0" rIns="0" bIns="0" rtlCol="0" anchor="t">
            <a:spAutoFit/>
          </a:bodyPr>
          <a:lstStyle/>
          <a:p>
            <a:pPr algn="l">
              <a:lnSpc>
                <a:spcPts val="3839"/>
              </a:lnSpc>
              <a:spcBef>
                <a:spcPct val="0"/>
              </a:spcBef>
            </a:pPr>
            <a:r>
              <a:rPr lang="en-US" sz="3199" b="1">
                <a:solidFill>
                  <a:srgbClr val="FFFF00"/>
                </a:solidFill>
                <a:latin typeface="Arial Bold"/>
                <a:ea typeface="Arial Bold"/>
                <a:cs typeface="Arial Bold"/>
                <a:sym typeface="Arial Bold"/>
              </a:rPr>
              <a:t>Xây dựng lớp phủ dựa trên giao thức tin đồn</a:t>
            </a:r>
          </a:p>
        </p:txBody>
      </p:sp>
    </p:spTree>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Freeform 3"/>
          <p:cNvSpPr/>
          <p:nvPr/>
        </p:nvSpPr>
        <p:spPr>
          <a:xfrm>
            <a:off x="1553270" y="2885868"/>
            <a:ext cx="6796852" cy="2574308"/>
          </a:xfrm>
          <a:custGeom>
            <a:avLst/>
            <a:gdLst/>
            <a:ahLst/>
            <a:cxnLst/>
            <a:rect l="l" t="t" r="r" b="b"/>
            <a:pathLst>
              <a:path w="6796852" h="2574308">
                <a:moveTo>
                  <a:pt x="0" y="0"/>
                </a:moveTo>
                <a:lnTo>
                  <a:pt x="6796851" y="0"/>
                </a:lnTo>
                <a:lnTo>
                  <a:pt x="6796851" y="2574308"/>
                </a:lnTo>
                <a:lnTo>
                  <a:pt x="0" y="2574308"/>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310457" y="1338297"/>
            <a:ext cx="3802599" cy="447696"/>
          </a:xfrm>
          <a:prstGeom prst="rect">
            <a:avLst/>
          </a:prstGeom>
        </p:spPr>
        <p:txBody>
          <a:bodyPr lIns="0" tIns="0" rIns="0" bIns="0" rtlCol="0" anchor="t">
            <a:spAutoFit/>
          </a:bodyPr>
          <a:lstStyle/>
          <a:p>
            <a:pPr algn="ctr">
              <a:lnSpc>
                <a:spcPts val="3120"/>
              </a:lnSpc>
              <a:spcBef>
                <a:spcPct val="0"/>
              </a:spcBef>
            </a:pPr>
            <a:r>
              <a:rPr lang="en-US" sz="2600" b="1">
                <a:solidFill>
                  <a:srgbClr val="000000"/>
                </a:solidFill>
                <a:latin typeface="Arial Bold"/>
                <a:ea typeface="Arial Bold"/>
                <a:cs typeface="Arial Bold"/>
                <a:sym typeface="Arial Bold"/>
              </a:rPr>
              <a:t>Một hình khối 2D (torus)</a:t>
            </a:r>
          </a:p>
        </p:txBody>
      </p:sp>
      <p:sp>
        <p:nvSpPr>
          <p:cNvPr id="5" name="TextBox 5"/>
          <p:cNvSpPr txBox="1"/>
          <p:nvPr/>
        </p:nvSpPr>
        <p:spPr>
          <a:xfrm>
            <a:off x="310457" y="2107352"/>
            <a:ext cx="9282477" cy="409532"/>
          </a:xfrm>
          <a:prstGeom prst="rect">
            <a:avLst/>
          </a:prstGeom>
        </p:spPr>
        <p:txBody>
          <a:bodyPr lIns="0" tIns="0" rIns="0" bIns="0" rtlCol="0" anchor="t">
            <a:spAutoFit/>
          </a:bodyPr>
          <a:lstStyle/>
          <a:p>
            <a:pPr algn="l">
              <a:lnSpc>
                <a:spcPts val="2880"/>
              </a:lnSpc>
              <a:spcBef>
                <a:spcPct val="0"/>
              </a:spcBef>
            </a:pPr>
            <a:r>
              <a:rPr lang="en-US" sz="2400">
                <a:solidFill>
                  <a:srgbClr val="000000"/>
                </a:solidFill>
                <a:latin typeface="Arial"/>
                <a:ea typeface="Arial"/>
                <a:cs typeface="Arial"/>
                <a:sym typeface="Arial"/>
              </a:rPr>
              <a:t>Tạo mạng lớp phủ bằng cách sử dụng hệ thống ngang hàng hai lớp.</a:t>
            </a:r>
          </a:p>
        </p:txBody>
      </p:sp>
      <p:sp>
        <p:nvSpPr>
          <p:cNvPr id="6" name="TextBox 6"/>
          <p:cNvSpPr txBox="1"/>
          <p:nvPr/>
        </p:nvSpPr>
        <p:spPr>
          <a:xfrm>
            <a:off x="731520" y="121862"/>
            <a:ext cx="6181391" cy="1038268"/>
          </a:xfrm>
          <a:prstGeom prst="rect">
            <a:avLst/>
          </a:prstGeom>
        </p:spPr>
        <p:txBody>
          <a:bodyPr lIns="0" tIns="0" rIns="0" bIns="0" rtlCol="0" anchor="t">
            <a:spAutoFit/>
          </a:bodyPr>
          <a:lstStyle/>
          <a:p>
            <a:pPr algn="l">
              <a:lnSpc>
                <a:spcPts val="3839"/>
              </a:lnSpc>
              <a:spcBef>
                <a:spcPct val="0"/>
              </a:spcBef>
            </a:pPr>
            <a:r>
              <a:rPr lang="en-US" sz="3199" b="1">
                <a:solidFill>
                  <a:srgbClr val="FFFF00"/>
                </a:solidFill>
                <a:latin typeface="Arial Bold"/>
                <a:ea typeface="Arial Bold"/>
                <a:cs typeface="Arial Bold"/>
                <a:sym typeface="Arial Bold"/>
              </a:rPr>
              <a:t>Xây dựng lớp phủ dựa trên giao thức tin đồn</a:t>
            </a:r>
          </a:p>
        </p:txBody>
      </p:sp>
    </p:spTree>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Freeform 3"/>
          <p:cNvSpPr/>
          <p:nvPr/>
        </p:nvSpPr>
        <p:spPr>
          <a:xfrm>
            <a:off x="1224756" y="1206421"/>
            <a:ext cx="7974640" cy="6108779"/>
          </a:xfrm>
          <a:custGeom>
            <a:avLst/>
            <a:gdLst/>
            <a:ahLst/>
            <a:cxnLst/>
            <a:rect l="l" t="t" r="r" b="b"/>
            <a:pathLst>
              <a:path w="7974640" h="6108779">
                <a:moveTo>
                  <a:pt x="0" y="0"/>
                </a:moveTo>
                <a:lnTo>
                  <a:pt x="7974640" y="0"/>
                </a:lnTo>
                <a:lnTo>
                  <a:pt x="7974640" y="6108779"/>
                </a:lnTo>
                <a:lnTo>
                  <a:pt x="0" y="6108779"/>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731520" y="121862"/>
            <a:ext cx="6181391" cy="1038268"/>
          </a:xfrm>
          <a:prstGeom prst="rect">
            <a:avLst/>
          </a:prstGeom>
        </p:spPr>
        <p:txBody>
          <a:bodyPr lIns="0" tIns="0" rIns="0" bIns="0" rtlCol="0" anchor="t">
            <a:spAutoFit/>
          </a:bodyPr>
          <a:lstStyle/>
          <a:p>
            <a:pPr algn="l">
              <a:lnSpc>
                <a:spcPts val="3839"/>
              </a:lnSpc>
              <a:spcBef>
                <a:spcPct val="0"/>
              </a:spcBef>
            </a:pPr>
            <a:r>
              <a:rPr lang="en-US" sz="3199" b="1">
                <a:solidFill>
                  <a:srgbClr val="FFFF00"/>
                </a:solidFill>
                <a:latin typeface="Arial Bold"/>
                <a:ea typeface="Arial Bold"/>
                <a:cs typeface="Arial Bold"/>
                <a:sym typeface="Arial Bold"/>
              </a:rPr>
              <a:t>Xây dựng lớp phủ dựa trên giao thức tin đồn</a:t>
            </a:r>
          </a:p>
        </p:txBody>
      </p:sp>
    </p:spTree>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349273" y="1886947"/>
            <a:ext cx="9055054" cy="4390510"/>
          </a:xfrm>
          <a:prstGeom prst="rect">
            <a:avLst/>
          </a:prstGeom>
        </p:spPr>
        <p:txBody>
          <a:bodyPr lIns="0" tIns="0" rIns="0" bIns="0" rtlCol="0" anchor="t">
            <a:spAutoFit/>
          </a:bodyPr>
          <a:lstStyle/>
          <a:p>
            <a:pPr marL="518162" lvl="1" indent="-259081" algn="l">
              <a:lnSpc>
                <a:spcPts val="2880"/>
              </a:lnSpc>
              <a:spcBef>
                <a:spcPct val="0"/>
              </a:spcBef>
              <a:buFont typeface="Arial"/>
              <a:buChar char="•"/>
            </a:pPr>
            <a:r>
              <a:rPr lang="en-US" sz="2400">
                <a:solidFill>
                  <a:srgbClr val="000000"/>
                </a:solidFill>
                <a:latin typeface="Arial"/>
                <a:ea typeface="Arial"/>
                <a:cs typeface="Arial"/>
                <a:sym typeface="Arial"/>
              </a:rPr>
              <a:t>Mã code mô tả một cách triển khai phương pháp dựa trên tin đồn (gossip-based) để xây dựng và duy trì mạng lớp phủ (overlay network) trong một hệ thống ngang hàng (peer-to-peer). </a:t>
            </a:r>
          </a:p>
          <a:p>
            <a:pPr marL="518162" lvl="1" indent="-259081" algn="l">
              <a:lnSpc>
                <a:spcPts val="2880"/>
              </a:lnSpc>
              <a:spcBef>
                <a:spcPct val="0"/>
              </a:spcBef>
              <a:buFont typeface="Arial"/>
              <a:buChar char="•"/>
            </a:pPr>
            <a:r>
              <a:rPr lang="en-US" sz="2400">
                <a:solidFill>
                  <a:srgbClr val="000000"/>
                </a:solidFill>
                <a:latin typeface="Arial"/>
                <a:ea typeface="Arial"/>
                <a:cs typeface="Arial"/>
                <a:sym typeface="Arial"/>
              </a:rPr>
              <a:t>Phương pháp này sử dụng mô hình hai lớp: lớp thấp nhất (viewPSS - peer sampling service) cung cấp các nút ngẫu nhiên, và lớp cao nhất (viewOverlay) xây dựng topology cụ thể bằng cách chọn lọc các liên kết phù hợp. </a:t>
            </a:r>
          </a:p>
          <a:p>
            <a:pPr marL="518162" lvl="1" indent="-259081" algn="l">
              <a:lnSpc>
                <a:spcPts val="2880"/>
              </a:lnSpc>
              <a:spcBef>
                <a:spcPct val="0"/>
              </a:spcBef>
              <a:buFont typeface="Arial"/>
              <a:buChar char="•"/>
            </a:pPr>
            <a:r>
              <a:rPr lang="en-US" sz="2400">
                <a:solidFill>
                  <a:srgbClr val="000000"/>
                </a:solidFill>
                <a:latin typeface="Arial"/>
                <a:ea typeface="Arial"/>
                <a:cs typeface="Arial"/>
                <a:sym typeface="Arial"/>
              </a:rPr>
              <a:t>Mã được thiết kế để tránh deadlock bằng cách sử dụng giao tiếp không đồng bộ (asynchronous communication), trong đó các nút gửi yêu cầu và tiếp tục công việc mà không cần chờ phản hồi ngay lập tức.</a:t>
            </a:r>
          </a:p>
        </p:txBody>
      </p:sp>
      <p:sp>
        <p:nvSpPr>
          <p:cNvPr id="4" name="TextBox 4"/>
          <p:cNvSpPr txBox="1"/>
          <p:nvPr/>
        </p:nvSpPr>
        <p:spPr>
          <a:xfrm>
            <a:off x="731520" y="121862"/>
            <a:ext cx="6181391" cy="1038268"/>
          </a:xfrm>
          <a:prstGeom prst="rect">
            <a:avLst/>
          </a:prstGeom>
        </p:spPr>
        <p:txBody>
          <a:bodyPr lIns="0" tIns="0" rIns="0" bIns="0" rtlCol="0" anchor="t">
            <a:spAutoFit/>
          </a:bodyPr>
          <a:lstStyle/>
          <a:p>
            <a:pPr algn="l">
              <a:lnSpc>
                <a:spcPts val="3839"/>
              </a:lnSpc>
              <a:spcBef>
                <a:spcPct val="0"/>
              </a:spcBef>
            </a:pPr>
            <a:r>
              <a:rPr lang="en-US" sz="3199" b="1">
                <a:solidFill>
                  <a:srgbClr val="FFFF00"/>
                </a:solidFill>
                <a:latin typeface="Arial Bold"/>
                <a:ea typeface="Arial Bold"/>
                <a:cs typeface="Arial Bold"/>
                <a:sym typeface="Arial Bold"/>
              </a:rPr>
              <a:t>Xây dựng lớp phủ dựa trên giao thức tin đồn</a:t>
            </a:r>
          </a:p>
        </p:txBody>
      </p:sp>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Freeform 3"/>
          <p:cNvSpPr/>
          <p:nvPr/>
        </p:nvSpPr>
        <p:spPr>
          <a:xfrm>
            <a:off x="1617067" y="3109074"/>
            <a:ext cx="6519465" cy="3209428"/>
          </a:xfrm>
          <a:custGeom>
            <a:avLst/>
            <a:gdLst/>
            <a:ahLst/>
            <a:cxnLst/>
            <a:rect l="l" t="t" r="r" b="b"/>
            <a:pathLst>
              <a:path w="6519465" h="3209428">
                <a:moveTo>
                  <a:pt x="0" y="0"/>
                </a:moveTo>
                <a:lnTo>
                  <a:pt x="6519466" y="0"/>
                </a:lnTo>
                <a:lnTo>
                  <a:pt x="6519466" y="3209428"/>
                </a:lnTo>
                <a:lnTo>
                  <a:pt x="0" y="3209428"/>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560684" y="71838"/>
            <a:ext cx="7335296" cy="1000082"/>
          </a:xfrm>
          <a:prstGeom prst="rect">
            <a:avLst/>
          </a:prstGeom>
        </p:spPr>
        <p:txBody>
          <a:bodyPr lIns="0" tIns="0" rIns="0" bIns="0" rtlCol="0" anchor="t">
            <a:spAutoFit/>
          </a:bodyPr>
          <a:lstStyle/>
          <a:p>
            <a:pPr algn="l">
              <a:lnSpc>
                <a:spcPts val="3719"/>
              </a:lnSpc>
              <a:spcBef>
                <a:spcPct val="0"/>
              </a:spcBef>
            </a:pPr>
            <a:r>
              <a:rPr lang="en-US" sz="3099" b="1">
                <a:solidFill>
                  <a:srgbClr val="FFFF00"/>
                </a:solidFill>
                <a:latin typeface="Arial Bold"/>
                <a:ea typeface="Arial Bold"/>
                <a:cs typeface="Arial Bold"/>
                <a:sym typeface="Arial Bold"/>
              </a:rPr>
              <a:t>Secure gossiping </a:t>
            </a:r>
          </a:p>
          <a:p>
            <a:pPr algn="l">
              <a:lnSpc>
                <a:spcPts val="3719"/>
              </a:lnSpc>
              <a:spcBef>
                <a:spcPct val="0"/>
              </a:spcBef>
            </a:pPr>
            <a:r>
              <a:rPr lang="en-US" sz="3099" b="1">
                <a:solidFill>
                  <a:srgbClr val="FFFF00"/>
                </a:solidFill>
                <a:latin typeface="Arial Bold"/>
                <a:ea typeface="Arial Bold"/>
                <a:cs typeface="Arial Bold"/>
                <a:sym typeface="Arial Bold"/>
              </a:rPr>
              <a:t>(Giao thức tin đồn an toàn)</a:t>
            </a:r>
          </a:p>
        </p:txBody>
      </p:sp>
      <p:sp>
        <p:nvSpPr>
          <p:cNvPr id="5" name="TextBox 5"/>
          <p:cNvSpPr txBox="1"/>
          <p:nvPr/>
        </p:nvSpPr>
        <p:spPr>
          <a:xfrm>
            <a:off x="223147" y="1424586"/>
            <a:ext cx="9307307" cy="1419311"/>
          </a:xfrm>
          <a:prstGeom prst="rect">
            <a:avLst/>
          </a:prstGeom>
        </p:spPr>
        <p:txBody>
          <a:bodyPr lIns="0" tIns="0" rIns="0" bIns="0" rtlCol="0" anchor="t">
            <a:spAutoFit/>
          </a:bodyPr>
          <a:lstStyle/>
          <a:p>
            <a:pPr algn="l">
              <a:lnSpc>
                <a:spcPts val="2760"/>
              </a:lnSpc>
              <a:spcBef>
                <a:spcPct val="0"/>
              </a:spcBef>
            </a:pPr>
            <a:r>
              <a:rPr lang="en-US" sz="2300" b="1">
                <a:solidFill>
                  <a:srgbClr val="000000"/>
                </a:solidFill>
                <a:latin typeface="Arial Bold"/>
                <a:ea typeface="Arial Bold"/>
                <a:cs typeface="Arial Bold"/>
                <a:sym typeface="Arial Bold"/>
              </a:rPr>
              <a:t>Tấn công kịch tính (Dramatic Attack)</a:t>
            </a:r>
          </a:p>
          <a:p>
            <a:pPr algn="l">
              <a:lnSpc>
                <a:spcPts val="2760"/>
              </a:lnSpc>
              <a:spcBef>
                <a:spcPct val="0"/>
              </a:spcBef>
            </a:pPr>
            <a:r>
              <a:rPr lang="en-US" sz="2300">
                <a:solidFill>
                  <a:srgbClr val="000000"/>
                </a:solidFill>
                <a:latin typeface="Arial"/>
                <a:ea typeface="Arial"/>
                <a:cs typeface="Arial"/>
                <a:sym typeface="Arial"/>
              </a:rPr>
              <a:t> Xem xét trường hợp khi trao đổi tham chiếu, một tập hợp các nút cấu kết (colluding nodes) có hệ thống chỉ trả lại các liên kết dẫn đến nhau ⇒ chúng ta đang đối mặt với một cuộc tấn công kiểu hub (hub attack).</a:t>
            </a:r>
          </a:p>
        </p:txBody>
      </p:sp>
      <p:sp>
        <p:nvSpPr>
          <p:cNvPr id="6" name="TextBox 6"/>
          <p:cNvSpPr txBox="1"/>
          <p:nvPr/>
        </p:nvSpPr>
        <p:spPr>
          <a:xfrm>
            <a:off x="1234775" y="6536055"/>
            <a:ext cx="7392923" cy="381000"/>
          </a:xfrm>
          <a:prstGeom prst="rect">
            <a:avLst/>
          </a:prstGeom>
        </p:spPr>
        <p:txBody>
          <a:bodyPr lIns="0" tIns="0" rIns="0" bIns="0" rtlCol="0" anchor="t">
            <a:spAutoFit/>
          </a:bodyPr>
          <a:lstStyle/>
          <a:p>
            <a:pPr algn="l">
              <a:lnSpc>
                <a:spcPts val="2640"/>
              </a:lnSpc>
              <a:spcBef>
                <a:spcPct val="0"/>
              </a:spcBef>
            </a:pPr>
            <a:r>
              <a:rPr lang="en-US" sz="2200">
                <a:solidFill>
                  <a:srgbClr val="000000"/>
                </a:solidFill>
                <a:latin typeface="Arial"/>
                <a:ea typeface="Arial"/>
                <a:cs typeface="Arial"/>
                <a:sym typeface="Arial"/>
              </a:rPr>
              <a:t>Tốc độ mà một cuộc tấn công hub attack có thể có hiệu lực</a:t>
            </a:r>
          </a:p>
        </p:txBody>
      </p:sp>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250000" y="1490404"/>
            <a:ext cx="9253600" cy="5248508"/>
          </a:xfrm>
          <a:prstGeom prst="rect">
            <a:avLst/>
          </a:prstGeom>
        </p:spPr>
        <p:txBody>
          <a:bodyPr lIns="0" tIns="0" rIns="0" bIns="0" rtlCol="0" anchor="t">
            <a:spAutoFit/>
          </a:bodyPr>
          <a:lstStyle/>
          <a:p>
            <a:pPr algn="l">
              <a:lnSpc>
                <a:spcPts val="2790"/>
              </a:lnSpc>
              <a:spcBef>
                <a:spcPct val="0"/>
              </a:spcBef>
            </a:pPr>
            <a:r>
              <a:rPr lang="en-US" sz="2325" b="1">
                <a:solidFill>
                  <a:srgbClr val="000000"/>
                </a:solidFill>
                <a:latin typeface="Arial Bold"/>
                <a:ea typeface="Arial Bold"/>
                <a:cs typeface="Arial Bold"/>
                <a:sym typeface="Arial Bold"/>
              </a:rPr>
              <a:t>Bối cảnh và ý nghĩa</a:t>
            </a:r>
          </a:p>
          <a:p>
            <a:pPr marL="502081" lvl="1" indent="-251040" algn="l">
              <a:lnSpc>
                <a:spcPts val="2790"/>
              </a:lnSpc>
              <a:spcBef>
                <a:spcPct val="0"/>
              </a:spcBef>
              <a:buFont typeface="Arial"/>
              <a:buChar char="•"/>
            </a:pPr>
            <a:r>
              <a:rPr lang="en-US" sz="2325">
                <a:solidFill>
                  <a:srgbClr val="000000"/>
                </a:solidFill>
                <a:latin typeface="Arial"/>
                <a:ea typeface="Arial"/>
                <a:cs typeface="Arial"/>
                <a:sym typeface="Arial"/>
              </a:rPr>
              <a:t>Mạng: Mạng có tổng cộng 100.000 nút, với kích thước danh sách cục bộ c=30 (mỗi nút duy trì danh sách 30 liên kết đến các nút khác).</a:t>
            </a:r>
          </a:p>
          <a:p>
            <a:pPr marL="502081" lvl="1" indent="-251040" algn="l">
              <a:lnSpc>
                <a:spcPts val="2790"/>
              </a:lnSpc>
              <a:spcBef>
                <a:spcPct val="0"/>
              </a:spcBef>
              <a:buFont typeface="Arial"/>
              <a:buChar char="•"/>
            </a:pPr>
            <a:r>
              <a:rPr lang="en-US" sz="2325">
                <a:solidFill>
                  <a:srgbClr val="000000"/>
                </a:solidFill>
                <a:latin typeface="Arial"/>
                <a:ea typeface="Arial"/>
                <a:cs typeface="Arial"/>
                <a:sym typeface="Arial"/>
              </a:rPr>
              <a:t>Kẻ tấn công: Chỉ có 30 nút tấn công, chiếm tỷ lệ rất nhỏ (0,03% tổng số nút), nhưng chúng phối hợp để thực hiện cuộc tấn công hub.</a:t>
            </a:r>
          </a:p>
          <a:p>
            <a:pPr marL="502081" lvl="1" indent="-251040" algn="l">
              <a:lnSpc>
                <a:spcPts val="2790"/>
              </a:lnSpc>
              <a:spcBef>
                <a:spcPct val="0"/>
              </a:spcBef>
              <a:buFont typeface="Arial"/>
              <a:buChar char="•"/>
            </a:pPr>
            <a:r>
              <a:rPr lang="en-US" sz="2325">
                <a:solidFill>
                  <a:srgbClr val="000000"/>
                </a:solidFill>
                <a:latin typeface="Arial"/>
                <a:ea typeface="Arial"/>
                <a:cs typeface="Arial"/>
                <a:sym typeface="Arial"/>
              </a:rPr>
              <a:t>Tấn công kiểu hub: Các kẻ tấn công hệ thống trả lại liên kết chỉ dẫn đến nhau khi trao đổi tham chiếu, làm cho các nút khác dần bị cô lập khỏi phần còn lại của mạng và chỉ kết nối với "hub" do kẻ tấn công kiểm soát.</a:t>
            </a:r>
          </a:p>
          <a:p>
            <a:pPr marL="502081" lvl="1" indent="-251040" algn="l">
              <a:lnSpc>
                <a:spcPts val="2790"/>
              </a:lnSpc>
              <a:spcBef>
                <a:spcPct val="0"/>
              </a:spcBef>
              <a:buFont typeface="Arial"/>
              <a:buChar char="•"/>
            </a:pPr>
            <a:r>
              <a:rPr lang="en-US" sz="2325">
                <a:solidFill>
                  <a:srgbClr val="000000"/>
                </a:solidFill>
                <a:latin typeface="Arial"/>
                <a:ea typeface="Arial"/>
                <a:cs typeface="Arial"/>
                <a:sym typeface="Arial"/>
              </a:rPr>
              <a:t>Kết quả: Sau chưa đầy 300 rounds, số lượng nút bị ảnh hưởng đạt gần 100.000, nghĩa là các kẻ tấn công đã kiểm soát toàn bộ mạng. Điều này cho thấy tính dễ bị tổn thương của giao thức tin đồn khi không có biện pháp bảo mật thích hợp.</a:t>
            </a:r>
          </a:p>
        </p:txBody>
      </p:sp>
      <p:sp>
        <p:nvSpPr>
          <p:cNvPr id="4" name="TextBox 4"/>
          <p:cNvSpPr txBox="1"/>
          <p:nvPr/>
        </p:nvSpPr>
        <p:spPr>
          <a:xfrm>
            <a:off x="560684" y="71838"/>
            <a:ext cx="7335296" cy="1000082"/>
          </a:xfrm>
          <a:prstGeom prst="rect">
            <a:avLst/>
          </a:prstGeom>
        </p:spPr>
        <p:txBody>
          <a:bodyPr lIns="0" tIns="0" rIns="0" bIns="0" rtlCol="0" anchor="t">
            <a:spAutoFit/>
          </a:bodyPr>
          <a:lstStyle/>
          <a:p>
            <a:pPr algn="l">
              <a:lnSpc>
                <a:spcPts val="3719"/>
              </a:lnSpc>
              <a:spcBef>
                <a:spcPct val="0"/>
              </a:spcBef>
            </a:pPr>
            <a:r>
              <a:rPr lang="en-US" sz="3099" b="1">
                <a:solidFill>
                  <a:srgbClr val="FFFF00"/>
                </a:solidFill>
                <a:latin typeface="Arial Bold"/>
                <a:ea typeface="Arial Bold"/>
                <a:cs typeface="Arial Bold"/>
                <a:sym typeface="Arial Bold"/>
              </a:rPr>
              <a:t>Secure gossiping </a:t>
            </a:r>
          </a:p>
          <a:p>
            <a:pPr algn="l">
              <a:lnSpc>
                <a:spcPts val="3719"/>
              </a:lnSpc>
              <a:spcBef>
                <a:spcPct val="0"/>
              </a:spcBef>
            </a:pPr>
            <a:r>
              <a:rPr lang="en-US" sz="3099" b="1">
                <a:solidFill>
                  <a:srgbClr val="FFFF00"/>
                </a:solidFill>
                <a:latin typeface="Arial Bold"/>
                <a:ea typeface="Arial Bold"/>
                <a:cs typeface="Arial Bold"/>
                <a:sym typeface="Arial Bold"/>
              </a:rPr>
              <a:t>(Giao thức tin đồn an toàn)</a:t>
            </a:r>
          </a:p>
        </p:txBody>
      </p:sp>
    </p:spTree>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164935" y="1518270"/>
            <a:ext cx="9423731" cy="4848525"/>
          </a:xfrm>
          <a:prstGeom prst="rect">
            <a:avLst/>
          </a:prstGeom>
        </p:spPr>
        <p:txBody>
          <a:bodyPr lIns="0" tIns="0" rIns="0" bIns="0" rtlCol="0" anchor="t">
            <a:spAutoFit/>
          </a:bodyPr>
          <a:lstStyle/>
          <a:p>
            <a:pPr algn="l">
              <a:lnSpc>
                <a:spcPts val="2760"/>
              </a:lnSpc>
              <a:spcBef>
                <a:spcPct val="0"/>
              </a:spcBef>
            </a:pPr>
            <a:r>
              <a:rPr lang="en-US" sz="2300" b="1">
                <a:solidFill>
                  <a:srgbClr val="000000"/>
                </a:solidFill>
                <a:latin typeface="Arial Bold"/>
                <a:ea typeface="Arial Bold"/>
                <a:cs typeface="Arial Bold"/>
                <a:sym typeface="Arial Bold"/>
              </a:rPr>
              <a:t>Một giải pháp: Thu thập thống kê</a:t>
            </a:r>
          </a:p>
          <a:p>
            <a:pPr algn="l">
              <a:lnSpc>
                <a:spcPts val="2760"/>
              </a:lnSpc>
              <a:spcBef>
                <a:spcPct val="0"/>
              </a:spcBef>
            </a:pPr>
            <a:r>
              <a:rPr lang="en-US" sz="2300">
                <a:solidFill>
                  <a:srgbClr val="000000"/>
                </a:solidFill>
                <a:latin typeface="Arial"/>
                <a:ea typeface="Arial"/>
                <a:cs typeface="Arial"/>
                <a:sym typeface="Arial"/>
              </a:rPr>
              <a:t>Điều mà việc đo lường phân phối indegree (indegree distributions) cho chúng ta biết là: phần trăm các nút (trục y) có bao nhiêu nút khác trỏ đến chúng (trục x)?</a:t>
            </a:r>
          </a:p>
          <a:p>
            <a:pPr algn="l">
              <a:lnSpc>
                <a:spcPts val="2760"/>
              </a:lnSpc>
              <a:spcBef>
                <a:spcPct val="0"/>
              </a:spcBef>
            </a:pPr>
            <a:r>
              <a:rPr lang="en-US" sz="2300" b="1">
                <a:solidFill>
                  <a:srgbClr val="000000"/>
                </a:solidFill>
                <a:latin typeface="Arial Bold"/>
                <a:ea typeface="Arial Bold"/>
                <a:cs typeface="Arial Bold"/>
                <a:sym typeface="Arial Bold"/>
              </a:rPr>
              <a:t>Phương pháp cơ bản</a:t>
            </a:r>
          </a:p>
          <a:p>
            <a:pPr algn="l">
              <a:lnSpc>
                <a:spcPts val="2760"/>
              </a:lnSpc>
              <a:spcBef>
                <a:spcPct val="0"/>
              </a:spcBef>
            </a:pPr>
            <a:r>
              <a:rPr lang="en-US" sz="2300">
                <a:solidFill>
                  <a:srgbClr val="000000"/>
                </a:solidFill>
                <a:latin typeface="Arial"/>
                <a:ea typeface="Arial"/>
                <a:cs typeface="Arial"/>
                <a:sym typeface="Arial"/>
              </a:rPr>
              <a:t>Khi một nút lành tính (benign node) khởi tạo một lần trao đổi, nó có thể sử dụng kết quả để:</a:t>
            </a:r>
          </a:p>
          <a:p>
            <a:pPr marL="496572" lvl="1" indent="-248286" algn="l">
              <a:lnSpc>
                <a:spcPts val="2760"/>
              </a:lnSpc>
              <a:spcBef>
                <a:spcPct val="0"/>
              </a:spcBef>
              <a:buFont typeface="Arial"/>
              <a:buChar char="•"/>
            </a:pPr>
            <a:r>
              <a:rPr lang="en-US" sz="2300">
                <a:solidFill>
                  <a:srgbClr val="000000"/>
                </a:solidFill>
                <a:latin typeface="Arial"/>
                <a:ea typeface="Arial"/>
                <a:cs typeface="Arial"/>
                <a:sym typeface="Arial"/>
              </a:rPr>
              <a:t>Thu thập thống kê </a:t>
            </a:r>
          </a:p>
          <a:p>
            <a:pPr marL="496572" lvl="1" indent="-248286" algn="l">
              <a:lnSpc>
                <a:spcPts val="2760"/>
              </a:lnSpc>
              <a:spcBef>
                <a:spcPct val="0"/>
              </a:spcBef>
              <a:buFont typeface="Arial"/>
              <a:buChar char="•"/>
            </a:pPr>
            <a:r>
              <a:rPr lang="en-US" sz="2300">
                <a:solidFill>
                  <a:srgbClr val="000000"/>
                </a:solidFill>
                <a:latin typeface="Arial"/>
                <a:ea typeface="Arial"/>
                <a:cs typeface="Arial"/>
                <a:sym typeface="Arial"/>
              </a:rPr>
              <a:t>Cập nhật danh sách cục bộ của mình.</a:t>
            </a:r>
          </a:p>
          <a:p>
            <a:pPr algn="l">
              <a:lnSpc>
                <a:spcPts val="2760"/>
              </a:lnSpc>
              <a:spcBef>
                <a:spcPct val="0"/>
              </a:spcBef>
            </a:pPr>
            <a:r>
              <a:rPr lang="en-US" sz="2300">
                <a:solidFill>
                  <a:srgbClr val="000000"/>
                </a:solidFill>
                <a:latin typeface="Arial"/>
                <a:ea typeface="Arial"/>
                <a:cs typeface="Arial"/>
                <a:sym typeface="Arial"/>
              </a:rPr>
              <a:t>Một kẻ tấn công rơi vào tình trạng bấp bênh: phản hồi của nó sẽ được sử dụng cho mục đích thống kê hay cho mục đích chức năng?</a:t>
            </a:r>
          </a:p>
          <a:p>
            <a:pPr algn="l">
              <a:lnSpc>
                <a:spcPts val="2760"/>
              </a:lnSpc>
              <a:spcBef>
                <a:spcPct val="0"/>
              </a:spcBef>
            </a:pPr>
            <a:r>
              <a:rPr lang="en-US" sz="2300" b="1">
                <a:solidFill>
                  <a:srgbClr val="000000"/>
                </a:solidFill>
                <a:latin typeface="Arial Bold"/>
                <a:ea typeface="Arial Bold"/>
                <a:cs typeface="Arial Bold"/>
                <a:sym typeface="Arial Bold"/>
              </a:rPr>
              <a:t>Quan sát</a:t>
            </a:r>
          </a:p>
          <a:p>
            <a:pPr algn="l">
              <a:lnSpc>
                <a:spcPts val="2760"/>
              </a:lnSpc>
              <a:spcBef>
                <a:spcPct val="0"/>
              </a:spcBef>
            </a:pPr>
            <a:r>
              <a:rPr lang="en-US" sz="2300">
                <a:solidFill>
                  <a:srgbClr val="000000"/>
                </a:solidFill>
                <a:latin typeface="Arial"/>
                <a:ea typeface="Arial"/>
                <a:cs typeface="Arial"/>
                <a:sym typeface="Arial"/>
              </a:rPr>
              <a:t>Khi việc thu thập thống kê có thể tiết lộ các nút cấu kết, một nút cấu kết sẽ bị buộc phải hành xử theo giao thức.</a:t>
            </a:r>
          </a:p>
        </p:txBody>
      </p:sp>
      <p:sp>
        <p:nvSpPr>
          <p:cNvPr id="4" name="TextBox 4"/>
          <p:cNvSpPr txBox="1"/>
          <p:nvPr/>
        </p:nvSpPr>
        <p:spPr>
          <a:xfrm>
            <a:off x="560684" y="71838"/>
            <a:ext cx="7335296" cy="1000082"/>
          </a:xfrm>
          <a:prstGeom prst="rect">
            <a:avLst/>
          </a:prstGeom>
        </p:spPr>
        <p:txBody>
          <a:bodyPr lIns="0" tIns="0" rIns="0" bIns="0" rtlCol="0" anchor="t">
            <a:spAutoFit/>
          </a:bodyPr>
          <a:lstStyle/>
          <a:p>
            <a:pPr algn="l">
              <a:lnSpc>
                <a:spcPts val="3719"/>
              </a:lnSpc>
              <a:spcBef>
                <a:spcPct val="0"/>
              </a:spcBef>
            </a:pPr>
            <a:r>
              <a:rPr lang="en-US" sz="3099" b="1">
                <a:solidFill>
                  <a:srgbClr val="FFFF00"/>
                </a:solidFill>
                <a:latin typeface="Arial Bold"/>
                <a:ea typeface="Arial Bold"/>
                <a:cs typeface="Arial Bold"/>
                <a:sym typeface="Arial Bold"/>
              </a:rPr>
              <a:t>Secure gossiping </a:t>
            </a:r>
          </a:p>
          <a:p>
            <a:pPr algn="l">
              <a:lnSpc>
                <a:spcPts val="3719"/>
              </a:lnSpc>
              <a:spcBef>
                <a:spcPct val="0"/>
              </a:spcBef>
            </a:pPr>
            <a:r>
              <a:rPr lang="en-US" sz="3099" b="1">
                <a:solidFill>
                  <a:srgbClr val="FFFF00"/>
                </a:solidFill>
                <a:latin typeface="Arial Bold"/>
                <a:ea typeface="Arial Bold"/>
                <a:cs typeface="Arial Bold"/>
                <a:sym typeface="Arial Bold"/>
              </a:rPr>
              <a:t>(Giao thức tin đồn an toàn)</a:t>
            </a:r>
          </a:p>
        </p:txBody>
      </p:sp>
    </p:spTree>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Freeform 3"/>
          <p:cNvSpPr/>
          <p:nvPr/>
        </p:nvSpPr>
        <p:spPr>
          <a:xfrm>
            <a:off x="232849" y="1503464"/>
            <a:ext cx="6294322" cy="2836263"/>
          </a:xfrm>
          <a:custGeom>
            <a:avLst/>
            <a:gdLst/>
            <a:ahLst/>
            <a:cxnLst/>
            <a:rect l="l" t="t" r="r" b="b"/>
            <a:pathLst>
              <a:path w="6294322" h="2836263">
                <a:moveTo>
                  <a:pt x="0" y="0"/>
                </a:moveTo>
                <a:lnTo>
                  <a:pt x="6294322" y="0"/>
                </a:lnTo>
                <a:lnTo>
                  <a:pt x="6294322" y="2836263"/>
                </a:lnTo>
                <a:lnTo>
                  <a:pt x="0" y="2836263"/>
                </a:lnTo>
                <a:lnTo>
                  <a:pt x="0" y="0"/>
                </a:lnTo>
                <a:close/>
              </a:path>
            </a:pathLst>
          </a:custGeom>
          <a:blipFill>
            <a:blip r:embed="rId4"/>
            <a:stretch>
              <a:fillRect/>
            </a:stretch>
          </a:blipFill>
        </p:spPr>
        <p:txBody>
          <a:bodyPr/>
          <a:lstStyle/>
          <a:p>
            <a:endParaRPr lang="en-US"/>
          </a:p>
        </p:txBody>
      </p:sp>
      <p:sp>
        <p:nvSpPr>
          <p:cNvPr id="4" name="Freeform 4"/>
          <p:cNvSpPr/>
          <p:nvPr/>
        </p:nvSpPr>
        <p:spPr>
          <a:xfrm>
            <a:off x="6642747" y="1587924"/>
            <a:ext cx="3037991" cy="2751803"/>
          </a:xfrm>
          <a:custGeom>
            <a:avLst/>
            <a:gdLst/>
            <a:ahLst/>
            <a:cxnLst/>
            <a:rect l="l" t="t" r="r" b="b"/>
            <a:pathLst>
              <a:path w="3037991" h="2751803">
                <a:moveTo>
                  <a:pt x="0" y="0"/>
                </a:moveTo>
                <a:lnTo>
                  <a:pt x="3037991" y="0"/>
                </a:lnTo>
                <a:lnTo>
                  <a:pt x="3037991" y="2751803"/>
                </a:lnTo>
                <a:lnTo>
                  <a:pt x="0" y="2751803"/>
                </a:lnTo>
                <a:lnTo>
                  <a:pt x="0" y="0"/>
                </a:lnTo>
                <a:close/>
              </a:path>
            </a:pathLst>
          </a:custGeom>
          <a:blipFill>
            <a:blip r:embed="rId5"/>
            <a:stretch>
              <a:fillRect/>
            </a:stretch>
          </a:blipFill>
        </p:spPr>
        <p:txBody>
          <a:bodyPr/>
          <a:lstStyle/>
          <a:p>
            <a:endParaRPr lang="en-US"/>
          </a:p>
        </p:txBody>
      </p:sp>
      <p:sp>
        <p:nvSpPr>
          <p:cNvPr id="5" name="Freeform 5"/>
          <p:cNvSpPr/>
          <p:nvPr/>
        </p:nvSpPr>
        <p:spPr>
          <a:xfrm>
            <a:off x="351650" y="4447134"/>
            <a:ext cx="2919359" cy="2703110"/>
          </a:xfrm>
          <a:custGeom>
            <a:avLst/>
            <a:gdLst/>
            <a:ahLst/>
            <a:cxnLst/>
            <a:rect l="l" t="t" r="r" b="b"/>
            <a:pathLst>
              <a:path w="2919359" h="2703110">
                <a:moveTo>
                  <a:pt x="0" y="0"/>
                </a:moveTo>
                <a:lnTo>
                  <a:pt x="2919359" y="0"/>
                </a:lnTo>
                <a:lnTo>
                  <a:pt x="2919359" y="2703109"/>
                </a:lnTo>
                <a:lnTo>
                  <a:pt x="0" y="2703109"/>
                </a:lnTo>
                <a:lnTo>
                  <a:pt x="0" y="0"/>
                </a:lnTo>
                <a:close/>
              </a:path>
            </a:pathLst>
          </a:custGeom>
          <a:blipFill>
            <a:blip r:embed="rId6"/>
            <a:stretch>
              <a:fillRect/>
            </a:stretch>
          </a:blipFill>
        </p:spPr>
        <p:txBody>
          <a:bodyPr/>
          <a:lstStyle/>
          <a:p>
            <a:endParaRPr lang="en-US"/>
          </a:p>
        </p:txBody>
      </p:sp>
      <p:sp>
        <p:nvSpPr>
          <p:cNvPr id="6" name="Freeform 6"/>
          <p:cNvSpPr/>
          <p:nvPr/>
        </p:nvSpPr>
        <p:spPr>
          <a:xfrm>
            <a:off x="3373603" y="4361826"/>
            <a:ext cx="6307135" cy="2788417"/>
          </a:xfrm>
          <a:custGeom>
            <a:avLst/>
            <a:gdLst/>
            <a:ahLst/>
            <a:cxnLst/>
            <a:rect l="l" t="t" r="r" b="b"/>
            <a:pathLst>
              <a:path w="6307135" h="2788417">
                <a:moveTo>
                  <a:pt x="0" y="0"/>
                </a:moveTo>
                <a:lnTo>
                  <a:pt x="6307135" y="0"/>
                </a:lnTo>
                <a:lnTo>
                  <a:pt x="6307135" y="2788417"/>
                </a:lnTo>
                <a:lnTo>
                  <a:pt x="0" y="2788417"/>
                </a:lnTo>
                <a:lnTo>
                  <a:pt x="0" y="0"/>
                </a:lnTo>
                <a:close/>
              </a:path>
            </a:pathLst>
          </a:custGeom>
          <a:blipFill>
            <a:blip r:embed="rId7"/>
            <a:stretch>
              <a:fillRect/>
            </a:stretch>
          </a:blipFill>
        </p:spPr>
        <p:txBody>
          <a:bodyPr/>
          <a:lstStyle/>
          <a:p>
            <a:endParaRPr lang="en-US"/>
          </a:p>
        </p:txBody>
      </p:sp>
      <p:sp>
        <p:nvSpPr>
          <p:cNvPr id="7" name="TextBox 7"/>
          <p:cNvSpPr txBox="1"/>
          <p:nvPr/>
        </p:nvSpPr>
        <p:spPr>
          <a:xfrm>
            <a:off x="560684" y="71838"/>
            <a:ext cx="7335296" cy="1000082"/>
          </a:xfrm>
          <a:prstGeom prst="rect">
            <a:avLst/>
          </a:prstGeom>
        </p:spPr>
        <p:txBody>
          <a:bodyPr lIns="0" tIns="0" rIns="0" bIns="0" rtlCol="0" anchor="t">
            <a:spAutoFit/>
          </a:bodyPr>
          <a:lstStyle/>
          <a:p>
            <a:pPr algn="l">
              <a:lnSpc>
                <a:spcPts val="3719"/>
              </a:lnSpc>
              <a:spcBef>
                <a:spcPct val="0"/>
              </a:spcBef>
            </a:pPr>
            <a:r>
              <a:rPr lang="en-US" sz="3099" b="1">
                <a:solidFill>
                  <a:srgbClr val="FFFF00"/>
                </a:solidFill>
                <a:latin typeface="Arial Bold"/>
                <a:ea typeface="Arial Bold"/>
                <a:cs typeface="Arial Bold"/>
                <a:sym typeface="Arial Bold"/>
              </a:rPr>
              <a:t>Secure gossiping </a:t>
            </a:r>
          </a:p>
          <a:p>
            <a:pPr algn="l">
              <a:lnSpc>
                <a:spcPts val="3719"/>
              </a:lnSpc>
              <a:spcBef>
                <a:spcPct val="0"/>
              </a:spcBef>
            </a:pPr>
            <a:r>
              <a:rPr lang="en-US" sz="3099" b="1">
                <a:solidFill>
                  <a:srgbClr val="FFFF00"/>
                </a:solidFill>
                <a:latin typeface="Arial Bold"/>
                <a:ea typeface="Arial Bold"/>
                <a:cs typeface="Arial Bold"/>
                <a:sym typeface="Arial Bold"/>
              </a:rPr>
              <a:t>(Giao thức tin đồn an toàn)</a:t>
            </a:r>
          </a:p>
        </p:txBody>
      </p:sp>
    </p:spTree>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67406" y="1201787"/>
            <a:ext cx="9618788" cy="1381125"/>
          </a:xfrm>
          <a:prstGeom prst="rect">
            <a:avLst/>
          </a:prstGeom>
        </p:spPr>
        <p:txBody>
          <a:bodyPr lIns="0" tIns="0" rIns="0" bIns="0" rtlCol="0" anchor="t">
            <a:spAutoFit/>
          </a:bodyPr>
          <a:lstStyle/>
          <a:p>
            <a:pPr algn="l">
              <a:lnSpc>
                <a:spcPts val="2640"/>
              </a:lnSpc>
              <a:spcBef>
                <a:spcPct val="0"/>
              </a:spcBef>
            </a:pPr>
            <a:r>
              <a:rPr lang="en-US" sz="2200">
                <a:solidFill>
                  <a:srgbClr val="000000"/>
                </a:solidFill>
                <a:latin typeface="Arial"/>
                <a:ea typeface="Arial"/>
                <a:cs typeface="Arial"/>
                <a:sym typeface="Arial"/>
              </a:rPr>
              <a:t>Hình ảnh trước là sự phát triển của phân phối indegree (indegree distribution) ở các giai đoạn khác nhau của dịch vụ lấy mẫu ngang hàng dưới cuộc tấn công. Mỗi trục x thể hiện bậc vào, và trục y thể hiện phần trăm các nút có bậc đó.</a:t>
            </a:r>
          </a:p>
        </p:txBody>
      </p:sp>
      <p:sp>
        <p:nvSpPr>
          <p:cNvPr id="4" name="TextBox 4"/>
          <p:cNvSpPr txBox="1"/>
          <p:nvPr/>
        </p:nvSpPr>
        <p:spPr>
          <a:xfrm>
            <a:off x="0" y="2600325"/>
            <a:ext cx="9618788" cy="4381500"/>
          </a:xfrm>
          <a:prstGeom prst="rect">
            <a:avLst/>
          </a:prstGeom>
        </p:spPr>
        <p:txBody>
          <a:bodyPr lIns="0" tIns="0" rIns="0" bIns="0" rtlCol="0" anchor="t">
            <a:spAutoFit/>
          </a:bodyPr>
          <a:lstStyle/>
          <a:p>
            <a:pPr marL="474983" lvl="1" indent="-237491" algn="l">
              <a:lnSpc>
                <a:spcPts val="2640"/>
              </a:lnSpc>
              <a:spcBef>
                <a:spcPct val="0"/>
              </a:spcBef>
              <a:buFont typeface="Arial"/>
              <a:buChar char="•"/>
            </a:pPr>
            <a:r>
              <a:rPr lang="en-US" sz="2200">
                <a:solidFill>
                  <a:srgbClr val="000000"/>
                </a:solidFill>
                <a:latin typeface="Arial"/>
                <a:ea typeface="Arial"/>
                <a:cs typeface="Arial"/>
                <a:sym typeface="Arial"/>
              </a:rPr>
              <a:t>Trục hoành (X-axis): Đại diện cho giá trị bậc vào (indegree), tức là số lượng nút khác trỏ đến một nút cụ thể. Phạm vi giá trị là từ 0 đến 100.</a:t>
            </a:r>
          </a:p>
          <a:p>
            <a:pPr marL="474983" lvl="1" indent="-237491" algn="l">
              <a:lnSpc>
                <a:spcPts val="2640"/>
              </a:lnSpc>
              <a:spcBef>
                <a:spcPct val="0"/>
              </a:spcBef>
              <a:buFont typeface="Arial"/>
              <a:buChar char="•"/>
            </a:pPr>
            <a:r>
              <a:rPr lang="en-US" sz="2200">
                <a:solidFill>
                  <a:srgbClr val="000000"/>
                </a:solidFill>
                <a:latin typeface="Arial"/>
                <a:ea typeface="Arial"/>
                <a:cs typeface="Arial"/>
                <a:sym typeface="Arial"/>
              </a:rPr>
              <a:t>Trục tung (Y-axis): Đại diện cho phần trăm hoặc tỷ lệ các nút trong mạng có một giá trị bậc vào cụ thể. Giá trị tối đa thay đổi tùy thuộc vào giai đoạn, từ 0.00 đến 1.00 hoặc 0.15, tùy thuộc vào thang đo.</a:t>
            </a:r>
          </a:p>
          <a:p>
            <a:pPr marL="474983" lvl="1" indent="-237491" algn="l">
              <a:lnSpc>
                <a:spcPts val="2640"/>
              </a:lnSpc>
              <a:spcBef>
                <a:spcPct val="0"/>
              </a:spcBef>
              <a:buFont typeface="Arial"/>
              <a:buChar char="•"/>
            </a:pPr>
            <a:r>
              <a:rPr lang="en-US" sz="2200">
                <a:solidFill>
                  <a:srgbClr val="000000"/>
                </a:solidFill>
                <a:latin typeface="Arial"/>
                <a:ea typeface="Arial"/>
                <a:cs typeface="Arial"/>
                <a:sym typeface="Arial"/>
              </a:rPr>
              <a:t>Các giai đoạn: Sáu biểu đồ được đánh số từ (a) đến (f), tương ứng với các thời điểm khác nhau trong quá trình tấn công: </a:t>
            </a:r>
          </a:p>
          <a:p>
            <a:pPr algn="l">
              <a:lnSpc>
                <a:spcPts val="2640"/>
              </a:lnSpc>
              <a:spcBef>
                <a:spcPct val="0"/>
              </a:spcBef>
            </a:pPr>
            <a:r>
              <a:rPr lang="en-US" sz="2200">
                <a:solidFill>
                  <a:srgbClr val="000000"/>
                </a:solidFill>
                <a:latin typeface="Arial"/>
                <a:ea typeface="Arial"/>
                <a:cs typeface="Arial"/>
                <a:sym typeface="Arial"/>
              </a:rPr>
              <a:t>                        (a) Tình huống ban đầu (The initial situation)</a:t>
            </a:r>
          </a:p>
          <a:p>
            <a:pPr algn="l">
              <a:lnSpc>
                <a:spcPts val="2640"/>
              </a:lnSpc>
              <a:spcBef>
                <a:spcPct val="0"/>
              </a:spcBef>
            </a:pPr>
            <a:r>
              <a:rPr lang="en-US" sz="2200">
                <a:solidFill>
                  <a:srgbClr val="000000"/>
                </a:solidFill>
                <a:latin typeface="Arial"/>
                <a:ea typeface="Arial"/>
                <a:cs typeface="Arial"/>
                <a:sym typeface="Arial"/>
              </a:rPr>
              <a:t>                        (b) Sau 10 rounds</a:t>
            </a:r>
          </a:p>
          <a:p>
            <a:pPr algn="l">
              <a:lnSpc>
                <a:spcPts val="2640"/>
              </a:lnSpc>
              <a:spcBef>
                <a:spcPct val="0"/>
              </a:spcBef>
            </a:pPr>
            <a:r>
              <a:rPr lang="en-US" sz="2200">
                <a:solidFill>
                  <a:srgbClr val="000000"/>
                </a:solidFill>
                <a:latin typeface="Arial"/>
                <a:ea typeface="Arial"/>
                <a:cs typeface="Arial"/>
                <a:sym typeface="Arial"/>
              </a:rPr>
              <a:t>                        (c) Sau 20 rounds</a:t>
            </a:r>
          </a:p>
          <a:p>
            <a:pPr algn="l">
              <a:lnSpc>
                <a:spcPts val="2640"/>
              </a:lnSpc>
              <a:spcBef>
                <a:spcPct val="0"/>
              </a:spcBef>
            </a:pPr>
            <a:r>
              <a:rPr lang="en-US" sz="2200">
                <a:solidFill>
                  <a:srgbClr val="000000"/>
                </a:solidFill>
                <a:latin typeface="Arial"/>
                <a:ea typeface="Arial"/>
                <a:cs typeface="Arial"/>
                <a:sym typeface="Arial"/>
              </a:rPr>
              <a:t>                        (d) Sau 30 rounds</a:t>
            </a:r>
          </a:p>
          <a:p>
            <a:pPr algn="l">
              <a:lnSpc>
                <a:spcPts val="2640"/>
              </a:lnSpc>
              <a:spcBef>
                <a:spcPct val="0"/>
              </a:spcBef>
            </a:pPr>
            <a:r>
              <a:rPr lang="en-US" sz="2200">
                <a:solidFill>
                  <a:srgbClr val="000000"/>
                </a:solidFill>
                <a:latin typeface="Arial"/>
                <a:ea typeface="Arial"/>
                <a:cs typeface="Arial"/>
                <a:sym typeface="Arial"/>
              </a:rPr>
              <a:t>                        (e) Sau 40 rounds</a:t>
            </a:r>
          </a:p>
          <a:p>
            <a:pPr algn="l">
              <a:lnSpc>
                <a:spcPts val="2640"/>
              </a:lnSpc>
              <a:spcBef>
                <a:spcPct val="0"/>
              </a:spcBef>
            </a:pPr>
            <a:r>
              <a:rPr lang="en-US" sz="2200">
                <a:solidFill>
                  <a:srgbClr val="000000"/>
                </a:solidFill>
                <a:latin typeface="Arial"/>
                <a:ea typeface="Arial"/>
                <a:cs typeface="Arial"/>
                <a:sym typeface="Arial"/>
              </a:rPr>
              <a:t>                        (f) Sau 280 rounds</a:t>
            </a:r>
          </a:p>
        </p:txBody>
      </p:sp>
      <p:sp>
        <p:nvSpPr>
          <p:cNvPr id="5" name="TextBox 5"/>
          <p:cNvSpPr txBox="1"/>
          <p:nvPr/>
        </p:nvSpPr>
        <p:spPr>
          <a:xfrm>
            <a:off x="560684" y="71838"/>
            <a:ext cx="7335296" cy="1000082"/>
          </a:xfrm>
          <a:prstGeom prst="rect">
            <a:avLst/>
          </a:prstGeom>
        </p:spPr>
        <p:txBody>
          <a:bodyPr lIns="0" tIns="0" rIns="0" bIns="0" rtlCol="0" anchor="t">
            <a:spAutoFit/>
          </a:bodyPr>
          <a:lstStyle/>
          <a:p>
            <a:pPr algn="l">
              <a:lnSpc>
                <a:spcPts val="3719"/>
              </a:lnSpc>
              <a:spcBef>
                <a:spcPct val="0"/>
              </a:spcBef>
            </a:pPr>
            <a:r>
              <a:rPr lang="en-US" sz="3099" b="1">
                <a:solidFill>
                  <a:srgbClr val="FFFF00"/>
                </a:solidFill>
                <a:latin typeface="Arial Bold"/>
                <a:ea typeface="Arial Bold"/>
                <a:cs typeface="Arial Bold"/>
                <a:sym typeface="Arial Bold"/>
              </a:rPr>
              <a:t>Secure gossiping </a:t>
            </a:r>
          </a:p>
          <a:p>
            <a:pPr algn="l">
              <a:lnSpc>
                <a:spcPts val="3719"/>
              </a:lnSpc>
              <a:spcBef>
                <a:spcPct val="0"/>
              </a:spcBef>
            </a:pPr>
            <a:r>
              <a:rPr lang="en-US" sz="3099" b="1">
                <a:solidFill>
                  <a:srgbClr val="FFFF00"/>
                </a:solidFill>
                <a:latin typeface="Arial Bold"/>
                <a:ea typeface="Arial Bold"/>
                <a:cs typeface="Arial Bold"/>
                <a:sym typeface="Arial Bold"/>
              </a:rPr>
              <a:t>(Giao thức tin đồn an toàn)</a:t>
            </a:r>
          </a:p>
        </p:txBody>
      </p:sp>
    </p:spTree>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2257747" y="3105129"/>
            <a:ext cx="5238106" cy="1038268"/>
          </a:xfrm>
          <a:prstGeom prst="rect">
            <a:avLst/>
          </a:prstGeom>
        </p:spPr>
        <p:txBody>
          <a:bodyPr lIns="0" tIns="0" rIns="0" bIns="0" rtlCol="0" anchor="t">
            <a:spAutoFit/>
          </a:bodyPr>
          <a:lstStyle/>
          <a:p>
            <a:pPr algn="ctr">
              <a:lnSpc>
                <a:spcPts val="3839"/>
              </a:lnSpc>
              <a:spcBef>
                <a:spcPct val="0"/>
              </a:spcBef>
            </a:pPr>
            <a:r>
              <a:rPr lang="en-US" sz="3199" b="1">
                <a:solidFill>
                  <a:srgbClr val="000000"/>
                </a:solidFill>
                <a:latin typeface="Arial Bold"/>
                <a:ea typeface="Arial Bold"/>
                <a:cs typeface="Arial Bold"/>
                <a:sym typeface="Arial Bold"/>
              </a:rPr>
              <a:t>Distributed event matching</a:t>
            </a:r>
          </a:p>
          <a:p>
            <a:pPr algn="ctr">
              <a:lnSpc>
                <a:spcPts val="3839"/>
              </a:lnSpc>
              <a:spcBef>
                <a:spcPct val="0"/>
              </a:spcBef>
            </a:pPr>
            <a:r>
              <a:rPr lang="en-US" sz="3199" b="1">
                <a:solidFill>
                  <a:srgbClr val="000000"/>
                </a:solidFill>
                <a:latin typeface="Arial Bold"/>
                <a:ea typeface="Arial Bold"/>
                <a:cs typeface="Arial Bold"/>
                <a:sym typeface="Arial Bold"/>
              </a:rPr>
              <a:t>(Khớp sự kiện phân tán)</a:t>
            </a:r>
          </a:p>
        </p:txBody>
      </p:sp>
    </p:spTree>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805144" y="301589"/>
            <a:ext cx="4572965" cy="552471"/>
          </a:xfrm>
          <a:prstGeom prst="rect">
            <a:avLst/>
          </a:prstGeom>
        </p:spPr>
        <p:txBody>
          <a:bodyPr lIns="0" tIns="0" rIns="0" bIns="0" rtlCol="0" anchor="t">
            <a:spAutoFit/>
          </a:bodyPr>
          <a:lstStyle/>
          <a:p>
            <a:pPr algn="ctr">
              <a:lnSpc>
                <a:spcPts val="3839"/>
              </a:lnSpc>
              <a:spcBef>
                <a:spcPct val="0"/>
              </a:spcBef>
            </a:pPr>
            <a:r>
              <a:rPr lang="en-US" sz="3199" b="1">
                <a:solidFill>
                  <a:srgbClr val="FFFF00"/>
                </a:solidFill>
                <a:latin typeface="Arial Bold"/>
                <a:ea typeface="Arial Bold"/>
                <a:cs typeface="Arial Bold"/>
                <a:sym typeface="Arial Bold"/>
              </a:rPr>
              <a:t>Khớp sự kiện phân tán </a:t>
            </a:r>
          </a:p>
        </p:txBody>
      </p:sp>
      <p:sp>
        <p:nvSpPr>
          <p:cNvPr id="4" name="TextBox 4"/>
          <p:cNvSpPr txBox="1"/>
          <p:nvPr/>
        </p:nvSpPr>
        <p:spPr>
          <a:xfrm>
            <a:off x="174637" y="1529571"/>
            <a:ext cx="9578963" cy="4505604"/>
          </a:xfrm>
          <a:prstGeom prst="rect">
            <a:avLst/>
          </a:prstGeom>
        </p:spPr>
        <p:txBody>
          <a:bodyPr lIns="0" tIns="0" rIns="0" bIns="0" rtlCol="0" anchor="t">
            <a:spAutoFit/>
          </a:bodyPr>
          <a:lstStyle/>
          <a:p>
            <a:pPr algn="l">
              <a:lnSpc>
                <a:spcPts val="2760"/>
              </a:lnSpc>
              <a:spcBef>
                <a:spcPct val="0"/>
              </a:spcBef>
            </a:pPr>
            <a:r>
              <a:rPr lang="en-US" sz="2300" b="1">
                <a:solidFill>
                  <a:srgbClr val="000000"/>
                </a:solidFill>
                <a:latin typeface="Arial Bold"/>
                <a:ea typeface="Arial Bold"/>
                <a:cs typeface="Arial Bold"/>
                <a:sym typeface="Arial Bold"/>
              </a:rPr>
              <a:t>Nguyên lý</a:t>
            </a:r>
          </a:p>
          <a:p>
            <a:pPr marL="496572" lvl="1" indent="-248286" algn="l">
              <a:lnSpc>
                <a:spcPts val="2760"/>
              </a:lnSpc>
              <a:spcBef>
                <a:spcPct val="0"/>
              </a:spcBef>
              <a:buFont typeface="Arial"/>
              <a:buChar char="•"/>
            </a:pPr>
            <a:r>
              <a:rPr lang="en-US" sz="2300">
                <a:solidFill>
                  <a:srgbClr val="000000"/>
                </a:solidFill>
                <a:latin typeface="Arial"/>
                <a:ea typeface="Arial"/>
                <a:cs typeface="Arial"/>
                <a:sym typeface="Arial"/>
              </a:rPr>
              <a:t>Một tiến trình (process) xác định qua một đăng ký (subscription) S rằng nó quan tâm đến những sự kiện nào. </a:t>
            </a:r>
          </a:p>
          <a:p>
            <a:pPr marL="496572" lvl="1" indent="-248286" algn="l">
              <a:lnSpc>
                <a:spcPts val="2760"/>
              </a:lnSpc>
              <a:spcBef>
                <a:spcPct val="0"/>
              </a:spcBef>
              <a:buFont typeface="Arial"/>
              <a:buChar char="•"/>
            </a:pPr>
            <a:r>
              <a:rPr lang="en-US" sz="2300">
                <a:solidFill>
                  <a:srgbClr val="000000"/>
                </a:solidFill>
                <a:latin typeface="Arial"/>
                <a:ea typeface="Arial"/>
                <a:cs typeface="Arial"/>
                <a:sym typeface="Arial"/>
              </a:rPr>
              <a:t>Khi một tiến trình xuất bản một thông báo (notification) N về sự kiện xảy ra, hệ thống cần kiểm tra xem S có khớp với N hay không. </a:t>
            </a:r>
          </a:p>
          <a:p>
            <a:pPr marL="496572" lvl="1" indent="-248286" algn="l">
              <a:lnSpc>
                <a:spcPts val="2760"/>
              </a:lnSpc>
              <a:spcBef>
                <a:spcPct val="0"/>
              </a:spcBef>
              <a:buFont typeface="Arial"/>
              <a:buChar char="•"/>
            </a:pPr>
            <a:r>
              <a:rPr lang="en-US" sz="2300">
                <a:solidFill>
                  <a:srgbClr val="000000"/>
                </a:solidFill>
                <a:latin typeface="Arial"/>
                <a:ea typeface="Arial"/>
                <a:cs typeface="Arial"/>
                <a:sym typeface="Arial"/>
              </a:rPr>
              <a:t>Trong trường hợp có sự khớp, hệ thống nên gửi thông báo N, có thể bao gồm dữ liệu liên quan đến sự kiện đã xảy ra, đến người đăng ký (subscriber).</a:t>
            </a:r>
          </a:p>
          <a:p>
            <a:pPr algn="l">
              <a:lnSpc>
                <a:spcPts val="2760"/>
              </a:lnSpc>
              <a:spcBef>
                <a:spcPct val="0"/>
              </a:spcBef>
            </a:pPr>
            <a:endParaRPr lang="en-US" sz="2300">
              <a:solidFill>
                <a:srgbClr val="000000"/>
              </a:solidFill>
              <a:latin typeface="Arial"/>
              <a:ea typeface="Arial"/>
              <a:cs typeface="Arial"/>
              <a:sym typeface="Arial"/>
            </a:endParaRPr>
          </a:p>
          <a:p>
            <a:pPr algn="l">
              <a:lnSpc>
                <a:spcPts val="2760"/>
              </a:lnSpc>
              <a:spcBef>
                <a:spcPct val="0"/>
              </a:spcBef>
            </a:pPr>
            <a:r>
              <a:rPr lang="en-US" sz="2300" b="1">
                <a:solidFill>
                  <a:srgbClr val="000000"/>
                </a:solidFill>
                <a:latin typeface="Arial Bold"/>
                <a:ea typeface="Arial Bold"/>
                <a:cs typeface="Arial Bold"/>
                <a:sym typeface="Arial Bold"/>
              </a:rPr>
              <a:t>Phần khó</a:t>
            </a:r>
          </a:p>
          <a:p>
            <a:pPr algn="l">
              <a:lnSpc>
                <a:spcPts val="2760"/>
              </a:lnSpc>
              <a:spcBef>
                <a:spcPct val="0"/>
              </a:spcBef>
            </a:pPr>
            <a:r>
              <a:rPr lang="en-US" sz="2300">
                <a:solidFill>
                  <a:srgbClr val="000000"/>
                </a:solidFill>
                <a:latin typeface="Arial"/>
                <a:ea typeface="Arial"/>
                <a:cs typeface="Arial"/>
                <a:sym typeface="Arial"/>
              </a:rPr>
              <a:t>Triển khai hàm khớp (match function) theo cách có thể mở rộng (scalable).</a:t>
            </a:r>
          </a:p>
          <a:p>
            <a:pPr algn="l">
              <a:lnSpc>
                <a:spcPts val="2760"/>
              </a:lnSpc>
              <a:spcBef>
                <a:spcPct val="0"/>
              </a:spcBef>
            </a:pPr>
            <a:endParaRPr lang="en-US" sz="2300">
              <a:solidFill>
                <a:srgbClr val="000000"/>
              </a:solidFill>
              <a:latin typeface="Arial"/>
              <a:ea typeface="Arial"/>
              <a:cs typeface="Arial"/>
              <a:sym typeface="Arial"/>
            </a:endParaRPr>
          </a:p>
        </p:txBody>
      </p:sp>
    </p:spTree>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Freeform 3"/>
          <p:cNvSpPr/>
          <p:nvPr/>
        </p:nvSpPr>
        <p:spPr>
          <a:xfrm>
            <a:off x="484285" y="1458545"/>
            <a:ext cx="8785030" cy="3129667"/>
          </a:xfrm>
          <a:custGeom>
            <a:avLst/>
            <a:gdLst/>
            <a:ahLst/>
            <a:cxnLst/>
            <a:rect l="l" t="t" r="r" b="b"/>
            <a:pathLst>
              <a:path w="8785030" h="3129667">
                <a:moveTo>
                  <a:pt x="0" y="0"/>
                </a:moveTo>
                <a:lnTo>
                  <a:pt x="8785030" y="0"/>
                </a:lnTo>
                <a:lnTo>
                  <a:pt x="8785030" y="3129667"/>
                </a:lnTo>
                <a:lnTo>
                  <a:pt x="0" y="3129667"/>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805144" y="301589"/>
            <a:ext cx="4572965" cy="552471"/>
          </a:xfrm>
          <a:prstGeom prst="rect">
            <a:avLst/>
          </a:prstGeom>
        </p:spPr>
        <p:txBody>
          <a:bodyPr lIns="0" tIns="0" rIns="0" bIns="0" rtlCol="0" anchor="t">
            <a:spAutoFit/>
          </a:bodyPr>
          <a:lstStyle/>
          <a:p>
            <a:pPr algn="ctr">
              <a:lnSpc>
                <a:spcPts val="3839"/>
              </a:lnSpc>
              <a:spcBef>
                <a:spcPct val="0"/>
              </a:spcBef>
            </a:pPr>
            <a:r>
              <a:rPr lang="en-US" sz="3199" b="1">
                <a:solidFill>
                  <a:srgbClr val="FFFF00"/>
                </a:solidFill>
                <a:latin typeface="Arial Bold"/>
                <a:ea typeface="Arial Bold"/>
                <a:cs typeface="Arial Bold"/>
                <a:sym typeface="Arial Bold"/>
              </a:rPr>
              <a:t>Khớp sự kiện phân tán </a:t>
            </a:r>
          </a:p>
        </p:txBody>
      </p:sp>
      <p:sp>
        <p:nvSpPr>
          <p:cNvPr id="5" name="TextBox 5"/>
          <p:cNvSpPr txBox="1"/>
          <p:nvPr/>
        </p:nvSpPr>
        <p:spPr>
          <a:xfrm>
            <a:off x="223147" y="5140662"/>
            <a:ext cx="9307307" cy="1047750"/>
          </a:xfrm>
          <a:prstGeom prst="rect">
            <a:avLst/>
          </a:prstGeom>
        </p:spPr>
        <p:txBody>
          <a:bodyPr lIns="0" tIns="0" rIns="0" bIns="0" rtlCol="0" anchor="t">
            <a:spAutoFit/>
          </a:bodyPr>
          <a:lstStyle/>
          <a:p>
            <a:pPr algn="l">
              <a:lnSpc>
                <a:spcPts val="2640"/>
              </a:lnSpc>
              <a:spcBef>
                <a:spcPct val="0"/>
              </a:spcBef>
            </a:pPr>
            <a:r>
              <a:rPr lang="en-US" sz="2200">
                <a:solidFill>
                  <a:srgbClr val="000000"/>
                </a:solidFill>
                <a:latin typeface="Arial"/>
                <a:ea typeface="Arial"/>
                <a:cs typeface="Arial"/>
                <a:sym typeface="Arial"/>
              </a:rPr>
              <a:t>Hình ảnh minh họa một hệ thống xuất bản-đăng ký (publish/subscribe system), tập trung vào quá trình khớp sự kiện (event matching) và thông báo (notification) trong một môi trường phân tán</a:t>
            </a:r>
          </a:p>
        </p:txBody>
      </p:sp>
    </p:spTree>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731520" y="62313"/>
            <a:ext cx="5621144" cy="1000082"/>
          </a:xfrm>
          <a:prstGeom prst="rect">
            <a:avLst/>
          </a:prstGeom>
        </p:spPr>
        <p:txBody>
          <a:bodyPr lIns="0" tIns="0" rIns="0" bIns="0" rtlCol="0" anchor="t">
            <a:spAutoFit/>
          </a:bodyPr>
          <a:lstStyle/>
          <a:p>
            <a:pPr algn="l">
              <a:lnSpc>
                <a:spcPts val="3719"/>
              </a:lnSpc>
              <a:spcBef>
                <a:spcPct val="0"/>
              </a:spcBef>
            </a:pPr>
            <a:r>
              <a:rPr lang="en-US" sz="3099" b="1">
                <a:solidFill>
                  <a:srgbClr val="FFFF00"/>
                </a:solidFill>
                <a:latin typeface="Arial Bold"/>
                <a:ea typeface="Arial Bold"/>
                <a:cs typeface="Arial Bold"/>
                <a:sym typeface="Arial Bold"/>
              </a:rPr>
              <a:t>Triển khai tập trung </a:t>
            </a:r>
          </a:p>
          <a:p>
            <a:pPr algn="l">
              <a:lnSpc>
                <a:spcPts val="3719"/>
              </a:lnSpc>
              <a:spcBef>
                <a:spcPct val="0"/>
              </a:spcBef>
            </a:pPr>
            <a:r>
              <a:rPr lang="en-US" sz="3099" b="1">
                <a:solidFill>
                  <a:srgbClr val="FFFF00"/>
                </a:solidFill>
                <a:latin typeface="Arial Bold"/>
                <a:ea typeface="Arial Bold"/>
                <a:cs typeface="Arial Bold"/>
                <a:sym typeface="Arial Bold"/>
              </a:rPr>
              <a:t>(Centralized implementations)</a:t>
            </a:r>
          </a:p>
        </p:txBody>
      </p:sp>
      <p:sp>
        <p:nvSpPr>
          <p:cNvPr id="4" name="TextBox 4"/>
          <p:cNvSpPr txBox="1"/>
          <p:nvPr/>
        </p:nvSpPr>
        <p:spPr>
          <a:xfrm>
            <a:off x="116424" y="1229540"/>
            <a:ext cx="9637176" cy="6018985"/>
          </a:xfrm>
          <a:prstGeom prst="rect">
            <a:avLst/>
          </a:prstGeom>
        </p:spPr>
        <p:txBody>
          <a:bodyPr lIns="0" tIns="0" rIns="0" bIns="0" rtlCol="0" anchor="t">
            <a:spAutoFit/>
          </a:bodyPr>
          <a:lstStyle/>
          <a:p>
            <a:pPr algn="l">
              <a:lnSpc>
                <a:spcPts val="2520"/>
              </a:lnSpc>
              <a:spcBef>
                <a:spcPct val="0"/>
              </a:spcBef>
            </a:pPr>
            <a:r>
              <a:rPr lang="en-US" sz="2100" b="1">
                <a:solidFill>
                  <a:srgbClr val="000000"/>
                </a:solidFill>
                <a:latin typeface="Arial Bold"/>
                <a:ea typeface="Arial Bold"/>
                <a:cs typeface="Arial Bold"/>
                <a:sym typeface="Arial Bold"/>
              </a:rPr>
              <a:t>Phương pháp tổng quát</a:t>
            </a:r>
          </a:p>
          <a:p>
            <a:pPr algn="l">
              <a:lnSpc>
                <a:spcPts val="2520"/>
              </a:lnSpc>
              <a:spcBef>
                <a:spcPct val="0"/>
              </a:spcBef>
            </a:pPr>
            <a:r>
              <a:rPr lang="en-US" sz="2100">
                <a:solidFill>
                  <a:srgbClr val="000000"/>
                </a:solidFill>
                <a:latin typeface="Arial"/>
                <a:ea typeface="Arial"/>
                <a:cs typeface="Arial"/>
                <a:sym typeface="Arial"/>
              </a:rPr>
              <a:t>+ Những gì cần thiết</a:t>
            </a:r>
          </a:p>
          <a:p>
            <a:pPr marL="453393" lvl="1" indent="-226697" algn="l">
              <a:lnSpc>
                <a:spcPts val="2520"/>
              </a:lnSpc>
              <a:spcBef>
                <a:spcPct val="0"/>
              </a:spcBef>
              <a:buFont typeface="Arial"/>
              <a:buChar char="•"/>
            </a:pPr>
            <a:r>
              <a:rPr lang="en-US" sz="2100">
                <a:solidFill>
                  <a:srgbClr val="000000"/>
                </a:solidFill>
                <a:latin typeface="Arial"/>
                <a:ea typeface="Arial"/>
                <a:cs typeface="Arial"/>
                <a:sym typeface="Arial"/>
              </a:rPr>
              <a:t>sub2node(S): ánh xạ một đăng ký S đến một tập con không rỗng S của các máy chủ.</a:t>
            </a:r>
          </a:p>
          <a:p>
            <a:pPr marL="453393" lvl="1" indent="-226697" algn="l">
              <a:lnSpc>
                <a:spcPts val="2520"/>
              </a:lnSpc>
              <a:spcBef>
                <a:spcPct val="0"/>
              </a:spcBef>
              <a:buFont typeface="Arial"/>
              <a:buChar char="•"/>
            </a:pPr>
            <a:r>
              <a:rPr lang="en-US" sz="2100">
                <a:solidFill>
                  <a:srgbClr val="000000"/>
                </a:solidFill>
                <a:latin typeface="Arial"/>
                <a:ea typeface="Arial"/>
                <a:cs typeface="Arial"/>
                <a:sym typeface="Arial"/>
              </a:rPr>
              <a:t>not2node(N): ánh xạ một thông báo N đến một tập con không rỗng N của các máy chủ.</a:t>
            </a:r>
          </a:p>
          <a:p>
            <a:pPr algn="l">
              <a:lnSpc>
                <a:spcPts val="2520"/>
              </a:lnSpc>
              <a:spcBef>
                <a:spcPct val="0"/>
              </a:spcBef>
            </a:pPr>
            <a:r>
              <a:rPr lang="en-US" sz="2100">
                <a:solidFill>
                  <a:srgbClr val="000000"/>
                </a:solidFill>
                <a:latin typeface="Arial"/>
                <a:ea typeface="Arial"/>
                <a:cs typeface="Arial"/>
                <a:sym typeface="Arial"/>
              </a:rPr>
              <a:t> Đảm bảo rằng S∩N≠∅ </a:t>
            </a:r>
          </a:p>
          <a:p>
            <a:pPr algn="l">
              <a:lnSpc>
                <a:spcPts val="2520"/>
              </a:lnSpc>
              <a:spcBef>
                <a:spcPct val="0"/>
              </a:spcBef>
            </a:pPr>
            <a:r>
              <a:rPr lang="en-US" sz="2100">
                <a:solidFill>
                  <a:srgbClr val="000000"/>
                </a:solidFill>
                <a:latin typeface="Arial"/>
                <a:ea typeface="Arial"/>
                <a:cs typeface="Arial"/>
                <a:sym typeface="Arial"/>
              </a:rPr>
              <a:t>+ Quan sát</a:t>
            </a:r>
          </a:p>
          <a:p>
            <a:pPr marL="453393" lvl="1" indent="-226697" algn="l">
              <a:lnSpc>
                <a:spcPts val="2520"/>
              </a:lnSpc>
              <a:spcBef>
                <a:spcPct val="0"/>
              </a:spcBef>
              <a:buFont typeface="Arial"/>
              <a:buChar char="•"/>
            </a:pPr>
            <a:r>
              <a:rPr lang="en-US" sz="2100">
                <a:solidFill>
                  <a:srgbClr val="000000"/>
                </a:solidFill>
                <a:latin typeface="Arial"/>
                <a:ea typeface="Arial"/>
                <a:cs typeface="Arial"/>
                <a:sym typeface="Arial"/>
              </a:rPr>
              <a:t>Giải pháp tập trung rất đơn giản: S=N={s} ,tức là chỉ có một máy chủ duy nhất.</a:t>
            </a:r>
          </a:p>
          <a:p>
            <a:pPr marL="453393" lvl="1" indent="-226697" algn="l">
              <a:lnSpc>
                <a:spcPts val="2520"/>
              </a:lnSpc>
              <a:spcBef>
                <a:spcPct val="0"/>
              </a:spcBef>
              <a:buFont typeface="Arial"/>
              <a:buChar char="•"/>
            </a:pPr>
            <a:r>
              <a:rPr lang="en-US" sz="2100">
                <a:solidFill>
                  <a:srgbClr val="000000"/>
                </a:solidFill>
                <a:latin typeface="Arial"/>
                <a:ea typeface="Arial"/>
                <a:cs typeface="Arial"/>
                <a:sym typeface="Arial"/>
              </a:rPr>
              <a:t>Xuất bản-đăng ký dựa trên chủ đề cũng đơn giản: mỗi S và N được gắn thẻ với một chủ đề duy nhất; mỗi chủ đề được xử lý bởi một máy chủ duy nhất (gọi là nút giao điểm - rendezvous node). Nhiều chủ đề có thể được xử lý bởi cùng một máy chủ.</a:t>
            </a:r>
          </a:p>
          <a:p>
            <a:pPr marL="453393" lvl="1" indent="-226697" algn="l">
              <a:lnSpc>
                <a:spcPts val="2520"/>
              </a:lnSpc>
              <a:spcBef>
                <a:spcPct val="0"/>
              </a:spcBef>
              <a:buFont typeface="Arial"/>
              <a:buChar char="•"/>
            </a:pPr>
            <a:r>
              <a:rPr lang="en-US" sz="2100">
                <a:solidFill>
                  <a:srgbClr val="000000"/>
                </a:solidFill>
                <a:latin typeface="Arial"/>
                <a:ea typeface="Arial"/>
                <a:cs typeface="Arial"/>
                <a:sym typeface="Arial"/>
              </a:rPr>
              <a:t>Xuất bản-đăng ký dựa trên nội dung là khó khăn: một đăng ký có dạng cặp (thuộc tính, giá trị), với các giá trị ví dụ như: </a:t>
            </a:r>
          </a:p>
          <a:p>
            <a:pPr algn="l">
              <a:lnSpc>
                <a:spcPts val="2520"/>
              </a:lnSpc>
              <a:spcBef>
                <a:spcPct val="0"/>
              </a:spcBef>
            </a:pPr>
            <a:r>
              <a:rPr lang="en-US" sz="2100">
                <a:solidFill>
                  <a:srgbClr val="000000"/>
                </a:solidFill>
                <a:latin typeface="Arial"/>
                <a:ea typeface="Arial"/>
                <a:cs typeface="Arial"/>
                <a:sym typeface="Arial"/>
              </a:rPr>
              <a:t>                       -Khoảng: “1≤x&lt;10”</a:t>
            </a:r>
          </a:p>
          <a:p>
            <a:pPr algn="l">
              <a:lnSpc>
                <a:spcPts val="2520"/>
              </a:lnSpc>
              <a:spcBef>
                <a:spcPct val="0"/>
              </a:spcBef>
            </a:pPr>
            <a:r>
              <a:rPr lang="en-US" sz="2100">
                <a:solidFill>
                  <a:srgbClr val="000000"/>
                </a:solidFill>
                <a:latin typeface="Arial"/>
                <a:ea typeface="Arial"/>
                <a:cs typeface="Arial"/>
                <a:sym typeface="Arial"/>
              </a:rPr>
              <a:t>                       -Bao hàm: “x∈{red,blue}”</a:t>
            </a:r>
          </a:p>
          <a:p>
            <a:pPr algn="l">
              <a:lnSpc>
                <a:spcPts val="2520"/>
              </a:lnSpc>
              <a:spcBef>
                <a:spcPct val="0"/>
              </a:spcBef>
            </a:pPr>
            <a:r>
              <a:rPr lang="en-US" sz="2100">
                <a:solidFill>
                  <a:srgbClr val="000000"/>
                </a:solidFill>
                <a:latin typeface="Arial"/>
                <a:ea typeface="Arial"/>
                <a:cs typeface="Arial"/>
                <a:sym typeface="Arial"/>
              </a:rPr>
              <a:t>                       -Biểu thức tiền tố và hậu tố: “url.startswith("https") ”</a:t>
            </a:r>
          </a:p>
        </p:txBody>
      </p:sp>
    </p:spTree>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Freeform 3"/>
          <p:cNvSpPr/>
          <p:nvPr/>
        </p:nvSpPr>
        <p:spPr>
          <a:xfrm>
            <a:off x="100023" y="1158457"/>
            <a:ext cx="9553555" cy="3678118"/>
          </a:xfrm>
          <a:custGeom>
            <a:avLst/>
            <a:gdLst/>
            <a:ahLst/>
            <a:cxnLst/>
            <a:rect l="l" t="t" r="r" b="b"/>
            <a:pathLst>
              <a:path w="9553555" h="3678118">
                <a:moveTo>
                  <a:pt x="0" y="0"/>
                </a:moveTo>
                <a:lnTo>
                  <a:pt x="9553554" y="0"/>
                </a:lnTo>
                <a:lnTo>
                  <a:pt x="9553554" y="3678119"/>
                </a:lnTo>
                <a:lnTo>
                  <a:pt x="0" y="3678119"/>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471355" y="264816"/>
            <a:ext cx="7336181" cy="533379"/>
          </a:xfrm>
          <a:prstGeom prst="rect">
            <a:avLst/>
          </a:prstGeom>
        </p:spPr>
        <p:txBody>
          <a:bodyPr lIns="0" tIns="0" rIns="0" bIns="0" rtlCol="0" anchor="t">
            <a:spAutoFit/>
          </a:bodyPr>
          <a:lstStyle/>
          <a:p>
            <a:pPr algn="ctr">
              <a:lnSpc>
                <a:spcPts val="3719"/>
              </a:lnSpc>
              <a:spcBef>
                <a:spcPct val="0"/>
              </a:spcBef>
            </a:pPr>
            <a:r>
              <a:rPr lang="en-US" sz="3099" b="1">
                <a:solidFill>
                  <a:srgbClr val="FFFF00"/>
                </a:solidFill>
                <a:latin typeface="Arial Bold"/>
                <a:ea typeface="Arial Bold"/>
                <a:cs typeface="Arial Bold"/>
                <a:sym typeface="Arial Bold"/>
              </a:rPr>
              <a:t>Định tuyến chọn lọc (Selective routing)</a:t>
            </a:r>
          </a:p>
        </p:txBody>
      </p:sp>
      <p:sp>
        <p:nvSpPr>
          <p:cNvPr id="5" name="TextBox 5"/>
          <p:cNvSpPr txBox="1"/>
          <p:nvPr/>
        </p:nvSpPr>
        <p:spPr>
          <a:xfrm>
            <a:off x="100023" y="6024469"/>
            <a:ext cx="9553555" cy="1076389"/>
          </a:xfrm>
          <a:prstGeom prst="rect">
            <a:avLst/>
          </a:prstGeom>
        </p:spPr>
        <p:txBody>
          <a:bodyPr lIns="0" tIns="0" rIns="0" bIns="0" rtlCol="0" anchor="t">
            <a:spAutoFit/>
          </a:bodyPr>
          <a:lstStyle/>
          <a:p>
            <a:pPr algn="l">
              <a:lnSpc>
                <a:spcPts val="2760"/>
              </a:lnSpc>
              <a:spcBef>
                <a:spcPct val="0"/>
              </a:spcBef>
            </a:pPr>
            <a:r>
              <a:rPr lang="en-US" sz="2300">
                <a:solidFill>
                  <a:srgbClr val="000000"/>
                </a:solidFill>
                <a:latin typeface="Arial"/>
                <a:ea typeface="Arial"/>
                <a:cs typeface="Arial"/>
                <a:sym typeface="Arial"/>
              </a:rPr>
              <a:t>Một cách tiếp cận đầu tiên hướng tới định tuyến dựa trên nội dung, trong đó các broker (a) đầu tiên phát sóng các đăng ký để sau đó (b) chuyển tiếp thông báo chỉ đến các broker liên quan.</a:t>
            </a:r>
          </a:p>
        </p:txBody>
      </p:sp>
      <p:sp>
        <p:nvSpPr>
          <p:cNvPr id="6" name="TextBox 6"/>
          <p:cNvSpPr txBox="1"/>
          <p:nvPr/>
        </p:nvSpPr>
        <p:spPr>
          <a:xfrm>
            <a:off x="100023" y="4890930"/>
            <a:ext cx="9653577" cy="1076389"/>
          </a:xfrm>
          <a:prstGeom prst="rect">
            <a:avLst/>
          </a:prstGeom>
        </p:spPr>
        <p:txBody>
          <a:bodyPr lIns="0" tIns="0" rIns="0" bIns="0" rtlCol="0" anchor="t">
            <a:spAutoFit/>
          </a:bodyPr>
          <a:lstStyle/>
          <a:p>
            <a:pPr algn="l">
              <a:lnSpc>
                <a:spcPts val="2760"/>
              </a:lnSpc>
              <a:spcBef>
                <a:spcPct val="0"/>
              </a:spcBef>
            </a:pPr>
            <a:r>
              <a:rPr lang="en-US" sz="2300" dirty="0" err="1">
                <a:solidFill>
                  <a:srgbClr val="000000"/>
                </a:solidFill>
                <a:latin typeface="Arial"/>
                <a:ea typeface="Arial"/>
                <a:cs typeface="Arial"/>
                <a:sym typeface="Arial"/>
              </a:rPr>
              <a:t>Hình</a:t>
            </a:r>
            <a:r>
              <a:rPr lang="en-US" sz="2300" dirty="0">
                <a:solidFill>
                  <a:srgbClr val="000000"/>
                </a:solidFill>
                <a:latin typeface="Arial"/>
                <a:ea typeface="Arial"/>
                <a:cs typeface="Arial"/>
                <a:sym typeface="Arial"/>
              </a:rPr>
              <a:t> </a:t>
            </a:r>
            <a:r>
              <a:rPr lang="en-US" sz="2300" dirty="0" err="1">
                <a:solidFill>
                  <a:srgbClr val="000000"/>
                </a:solidFill>
                <a:latin typeface="Arial"/>
                <a:ea typeface="Arial"/>
                <a:cs typeface="Arial"/>
                <a:sym typeface="Arial"/>
              </a:rPr>
              <a:t>ảnh</a:t>
            </a:r>
            <a:r>
              <a:rPr lang="en-US" sz="2300" dirty="0">
                <a:solidFill>
                  <a:srgbClr val="000000"/>
                </a:solidFill>
                <a:latin typeface="Arial"/>
                <a:ea typeface="Arial"/>
                <a:cs typeface="Arial"/>
                <a:sym typeface="Arial"/>
              </a:rPr>
              <a:t> </a:t>
            </a:r>
            <a:r>
              <a:rPr lang="en-US" sz="2300" dirty="0" err="1">
                <a:solidFill>
                  <a:srgbClr val="000000"/>
                </a:solidFill>
                <a:latin typeface="Arial"/>
                <a:ea typeface="Arial"/>
                <a:cs typeface="Arial"/>
                <a:sym typeface="Arial"/>
              </a:rPr>
              <a:t>gồm</a:t>
            </a:r>
            <a:r>
              <a:rPr lang="en-US" sz="2300" dirty="0">
                <a:solidFill>
                  <a:srgbClr val="000000"/>
                </a:solidFill>
                <a:latin typeface="Arial"/>
                <a:ea typeface="Arial"/>
                <a:cs typeface="Arial"/>
                <a:sym typeface="Arial"/>
              </a:rPr>
              <a:t> </a:t>
            </a:r>
            <a:r>
              <a:rPr lang="en-US" sz="2300" dirty="0" err="1">
                <a:solidFill>
                  <a:srgbClr val="000000"/>
                </a:solidFill>
                <a:latin typeface="Arial"/>
                <a:ea typeface="Arial"/>
                <a:cs typeface="Arial"/>
                <a:sym typeface="Arial"/>
              </a:rPr>
              <a:t>hai</a:t>
            </a:r>
            <a:r>
              <a:rPr lang="en-US" sz="2300" dirty="0">
                <a:solidFill>
                  <a:srgbClr val="000000"/>
                </a:solidFill>
                <a:latin typeface="Arial"/>
                <a:ea typeface="Arial"/>
                <a:cs typeface="Arial"/>
                <a:sym typeface="Arial"/>
              </a:rPr>
              <a:t> </a:t>
            </a:r>
            <a:r>
              <a:rPr lang="en-US" sz="2300" dirty="0" err="1">
                <a:solidFill>
                  <a:srgbClr val="000000"/>
                </a:solidFill>
                <a:latin typeface="Arial"/>
                <a:ea typeface="Arial"/>
                <a:cs typeface="Arial"/>
                <a:sym typeface="Arial"/>
              </a:rPr>
              <a:t>phần</a:t>
            </a:r>
            <a:r>
              <a:rPr lang="en-US" sz="2300" dirty="0">
                <a:solidFill>
                  <a:srgbClr val="000000"/>
                </a:solidFill>
                <a:latin typeface="Arial"/>
                <a:ea typeface="Arial"/>
                <a:cs typeface="Arial"/>
                <a:sym typeface="Arial"/>
              </a:rPr>
              <a:t> (a) </a:t>
            </a:r>
            <a:r>
              <a:rPr lang="en-US" sz="2300" dirty="0" err="1">
                <a:solidFill>
                  <a:srgbClr val="000000"/>
                </a:solidFill>
                <a:latin typeface="Arial"/>
                <a:ea typeface="Arial"/>
                <a:cs typeface="Arial"/>
                <a:sym typeface="Arial"/>
              </a:rPr>
              <a:t>và</a:t>
            </a:r>
            <a:r>
              <a:rPr lang="en-US" sz="2300" dirty="0">
                <a:solidFill>
                  <a:srgbClr val="000000"/>
                </a:solidFill>
                <a:latin typeface="Arial"/>
                <a:ea typeface="Arial"/>
                <a:cs typeface="Arial"/>
                <a:sym typeface="Arial"/>
              </a:rPr>
              <a:t> (b) </a:t>
            </a:r>
            <a:r>
              <a:rPr lang="en-US" sz="2300" dirty="0" err="1">
                <a:solidFill>
                  <a:srgbClr val="000000"/>
                </a:solidFill>
                <a:latin typeface="Arial"/>
                <a:ea typeface="Arial"/>
                <a:cs typeface="Arial"/>
                <a:sym typeface="Arial"/>
              </a:rPr>
              <a:t>minh</a:t>
            </a:r>
            <a:r>
              <a:rPr lang="en-US" sz="2300" dirty="0">
                <a:solidFill>
                  <a:srgbClr val="000000"/>
                </a:solidFill>
                <a:latin typeface="Arial"/>
                <a:ea typeface="Arial"/>
                <a:cs typeface="Arial"/>
                <a:sym typeface="Arial"/>
              </a:rPr>
              <a:t> </a:t>
            </a:r>
            <a:r>
              <a:rPr lang="en-US" sz="2300" dirty="0" err="1">
                <a:solidFill>
                  <a:srgbClr val="000000"/>
                </a:solidFill>
                <a:latin typeface="Arial"/>
                <a:ea typeface="Arial"/>
                <a:cs typeface="Arial"/>
                <a:sym typeface="Arial"/>
              </a:rPr>
              <a:t>họa</a:t>
            </a:r>
            <a:r>
              <a:rPr lang="en-US" sz="2300" dirty="0">
                <a:solidFill>
                  <a:srgbClr val="000000"/>
                </a:solidFill>
                <a:latin typeface="Arial"/>
                <a:ea typeface="Arial"/>
                <a:cs typeface="Arial"/>
                <a:sym typeface="Arial"/>
              </a:rPr>
              <a:t> </a:t>
            </a:r>
            <a:r>
              <a:rPr lang="en-US" sz="2300" dirty="0" err="1">
                <a:solidFill>
                  <a:srgbClr val="000000"/>
                </a:solidFill>
                <a:latin typeface="Arial"/>
                <a:ea typeface="Arial"/>
                <a:cs typeface="Arial"/>
                <a:sym typeface="Arial"/>
              </a:rPr>
              <a:t>một</a:t>
            </a:r>
            <a:r>
              <a:rPr lang="en-US" sz="2300" dirty="0">
                <a:solidFill>
                  <a:srgbClr val="000000"/>
                </a:solidFill>
                <a:latin typeface="Arial"/>
                <a:ea typeface="Arial"/>
                <a:cs typeface="Arial"/>
                <a:sym typeface="Arial"/>
              </a:rPr>
              <a:t> </a:t>
            </a:r>
            <a:r>
              <a:rPr lang="en-US" sz="2300" dirty="0" err="1">
                <a:solidFill>
                  <a:srgbClr val="000000"/>
                </a:solidFill>
                <a:latin typeface="Arial"/>
                <a:ea typeface="Arial"/>
                <a:cs typeface="Arial"/>
                <a:sym typeface="Arial"/>
              </a:rPr>
              <a:t>cách</a:t>
            </a:r>
            <a:r>
              <a:rPr lang="en-US" sz="2300" dirty="0">
                <a:solidFill>
                  <a:srgbClr val="000000"/>
                </a:solidFill>
                <a:latin typeface="Arial"/>
                <a:ea typeface="Arial"/>
                <a:cs typeface="Arial"/>
                <a:sym typeface="Arial"/>
              </a:rPr>
              <a:t> </a:t>
            </a:r>
            <a:r>
              <a:rPr lang="en-US" sz="2300" dirty="0" err="1">
                <a:solidFill>
                  <a:srgbClr val="000000"/>
                </a:solidFill>
                <a:latin typeface="Arial"/>
                <a:ea typeface="Arial"/>
                <a:cs typeface="Arial"/>
                <a:sym typeface="Arial"/>
              </a:rPr>
              <a:t>tiếp</a:t>
            </a:r>
            <a:r>
              <a:rPr lang="en-US" sz="2300" dirty="0">
                <a:solidFill>
                  <a:srgbClr val="000000"/>
                </a:solidFill>
                <a:latin typeface="Arial"/>
                <a:ea typeface="Arial"/>
                <a:cs typeface="Arial"/>
                <a:sym typeface="Arial"/>
              </a:rPr>
              <a:t> </a:t>
            </a:r>
            <a:r>
              <a:rPr lang="en-US" sz="2300" dirty="0" err="1">
                <a:solidFill>
                  <a:srgbClr val="000000"/>
                </a:solidFill>
                <a:latin typeface="Arial"/>
                <a:ea typeface="Arial"/>
                <a:cs typeface="Arial"/>
                <a:sym typeface="Arial"/>
              </a:rPr>
              <a:t>cận</a:t>
            </a:r>
            <a:r>
              <a:rPr lang="en-US" sz="2300" dirty="0">
                <a:solidFill>
                  <a:srgbClr val="000000"/>
                </a:solidFill>
                <a:latin typeface="Arial"/>
                <a:ea typeface="Arial"/>
                <a:cs typeface="Arial"/>
                <a:sym typeface="Arial"/>
              </a:rPr>
              <a:t> </a:t>
            </a:r>
            <a:r>
              <a:rPr lang="en-US" sz="2300" dirty="0" err="1">
                <a:solidFill>
                  <a:srgbClr val="000000"/>
                </a:solidFill>
                <a:latin typeface="Arial"/>
                <a:ea typeface="Arial"/>
                <a:cs typeface="Arial"/>
                <a:sym typeface="Arial"/>
              </a:rPr>
              <a:t>định</a:t>
            </a:r>
            <a:r>
              <a:rPr lang="en-US" sz="2300" dirty="0">
                <a:solidFill>
                  <a:srgbClr val="000000"/>
                </a:solidFill>
                <a:latin typeface="Arial"/>
                <a:ea typeface="Arial"/>
                <a:cs typeface="Arial"/>
                <a:sym typeface="Arial"/>
              </a:rPr>
              <a:t> </a:t>
            </a:r>
            <a:r>
              <a:rPr lang="en-US" sz="2300" dirty="0" err="1">
                <a:solidFill>
                  <a:srgbClr val="000000"/>
                </a:solidFill>
                <a:latin typeface="Arial"/>
                <a:ea typeface="Arial"/>
                <a:cs typeface="Arial"/>
                <a:sym typeface="Arial"/>
              </a:rPr>
              <a:t>tuyến</a:t>
            </a:r>
            <a:r>
              <a:rPr lang="en-US" sz="2300" dirty="0">
                <a:solidFill>
                  <a:srgbClr val="000000"/>
                </a:solidFill>
                <a:latin typeface="Arial"/>
                <a:ea typeface="Arial"/>
                <a:cs typeface="Arial"/>
                <a:sym typeface="Arial"/>
              </a:rPr>
              <a:t> </a:t>
            </a:r>
            <a:r>
              <a:rPr lang="en-US" sz="2300" dirty="0" err="1">
                <a:solidFill>
                  <a:srgbClr val="000000"/>
                </a:solidFill>
                <a:latin typeface="Arial"/>
                <a:ea typeface="Arial"/>
                <a:cs typeface="Arial"/>
                <a:sym typeface="Arial"/>
              </a:rPr>
              <a:t>chọn</a:t>
            </a:r>
            <a:r>
              <a:rPr lang="en-US" sz="2300" dirty="0">
                <a:solidFill>
                  <a:srgbClr val="000000"/>
                </a:solidFill>
                <a:latin typeface="Arial"/>
                <a:ea typeface="Arial"/>
                <a:cs typeface="Arial"/>
                <a:sym typeface="Arial"/>
              </a:rPr>
              <a:t> </a:t>
            </a:r>
            <a:r>
              <a:rPr lang="en-US" sz="2300" dirty="0" err="1">
                <a:solidFill>
                  <a:srgbClr val="000000"/>
                </a:solidFill>
                <a:latin typeface="Arial"/>
                <a:ea typeface="Arial"/>
                <a:cs typeface="Arial"/>
                <a:sym typeface="Arial"/>
              </a:rPr>
              <a:t>lọc</a:t>
            </a:r>
            <a:r>
              <a:rPr lang="en-US" sz="2300" dirty="0">
                <a:solidFill>
                  <a:srgbClr val="000000"/>
                </a:solidFill>
                <a:latin typeface="Arial"/>
                <a:ea typeface="Arial"/>
                <a:cs typeface="Arial"/>
                <a:sym typeface="Arial"/>
              </a:rPr>
              <a:t> (selective routing) </a:t>
            </a:r>
            <a:r>
              <a:rPr lang="en-US" sz="2300" dirty="0" err="1">
                <a:solidFill>
                  <a:srgbClr val="000000"/>
                </a:solidFill>
                <a:latin typeface="Arial"/>
                <a:ea typeface="Arial"/>
                <a:cs typeface="Arial"/>
                <a:sym typeface="Arial"/>
              </a:rPr>
              <a:t>trong</a:t>
            </a:r>
            <a:r>
              <a:rPr lang="en-US" sz="2300" dirty="0">
                <a:solidFill>
                  <a:srgbClr val="000000"/>
                </a:solidFill>
                <a:latin typeface="Arial"/>
                <a:ea typeface="Arial"/>
                <a:cs typeface="Arial"/>
                <a:sym typeface="Arial"/>
              </a:rPr>
              <a:t> </a:t>
            </a:r>
            <a:r>
              <a:rPr lang="en-US" sz="2300" dirty="0" err="1">
                <a:solidFill>
                  <a:srgbClr val="000000"/>
                </a:solidFill>
                <a:latin typeface="Arial"/>
                <a:ea typeface="Arial"/>
                <a:cs typeface="Arial"/>
                <a:sym typeface="Arial"/>
              </a:rPr>
              <a:t>hệ</a:t>
            </a:r>
            <a:r>
              <a:rPr lang="en-US" sz="2300" dirty="0">
                <a:solidFill>
                  <a:srgbClr val="000000"/>
                </a:solidFill>
                <a:latin typeface="Arial"/>
                <a:ea typeface="Arial"/>
                <a:cs typeface="Arial"/>
                <a:sym typeface="Arial"/>
              </a:rPr>
              <a:t> </a:t>
            </a:r>
            <a:r>
              <a:rPr lang="en-US" sz="2300" dirty="0" err="1">
                <a:solidFill>
                  <a:srgbClr val="000000"/>
                </a:solidFill>
                <a:latin typeface="Arial"/>
                <a:ea typeface="Arial"/>
                <a:cs typeface="Arial"/>
                <a:sym typeface="Arial"/>
              </a:rPr>
              <a:t>thống</a:t>
            </a:r>
            <a:r>
              <a:rPr lang="en-US" sz="2300" dirty="0">
                <a:solidFill>
                  <a:srgbClr val="000000"/>
                </a:solidFill>
                <a:latin typeface="Arial"/>
                <a:ea typeface="Arial"/>
                <a:cs typeface="Arial"/>
                <a:sym typeface="Arial"/>
              </a:rPr>
              <a:t> </a:t>
            </a:r>
            <a:r>
              <a:rPr lang="en-US" sz="2300" dirty="0" err="1">
                <a:solidFill>
                  <a:srgbClr val="000000"/>
                </a:solidFill>
                <a:latin typeface="Arial"/>
                <a:ea typeface="Arial"/>
                <a:cs typeface="Arial"/>
                <a:sym typeface="Arial"/>
              </a:rPr>
              <a:t>xuất</a:t>
            </a:r>
            <a:r>
              <a:rPr lang="en-US" sz="2300" dirty="0">
                <a:solidFill>
                  <a:srgbClr val="000000"/>
                </a:solidFill>
                <a:latin typeface="Arial"/>
                <a:ea typeface="Arial"/>
                <a:cs typeface="Arial"/>
                <a:sym typeface="Arial"/>
              </a:rPr>
              <a:t> </a:t>
            </a:r>
            <a:r>
              <a:rPr lang="en-US" sz="2300" dirty="0" err="1">
                <a:solidFill>
                  <a:srgbClr val="000000"/>
                </a:solidFill>
                <a:latin typeface="Arial"/>
                <a:ea typeface="Arial"/>
                <a:cs typeface="Arial"/>
                <a:sym typeface="Arial"/>
              </a:rPr>
              <a:t>bản-đăng</a:t>
            </a:r>
            <a:r>
              <a:rPr lang="en-US" sz="2300" dirty="0">
                <a:solidFill>
                  <a:srgbClr val="000000"/>
                </a:solidFill>
                <a:latin typeface="Arial"/>
                <a:ea typeface="Arial"/>
                <a:cs typeface="Arial"/>
                <a:sym typeface="Arial"/>
              </a:rPr>
              <a:t> </a:t>
            </a:r>
            <a:r>
              <a:rPr lang="en-US" sz="2300" dirty="0" err="1">
                <a:solidFill>
                  <a:srgbClr val="000000"/>
                </a:solidFill>
                <a:latin typeface="Arial"/>
                <a:ea typeface="Arial"/>
                <a:cs typeface="Arial"/>
                <a:sym typeface="Arial"/>
              </a:rPr>
              <a:t>ký</a:t>
            </a:r>
            <a:r>
              <a:rPr lang="en-US" sz="2300" dirty="0">
                <a:solidFill>
                  <a:srgbClr val="000000"/>
                </a:solidFill>
                <a:latin typeface="Arial"/>
                <a:ea typeface="Arial"/>
                <a:cs typeface="Arial"/>
                <a:sym typeface="Arial"/>
              </a:rPr>
              <a:t> (publish-subscribe system), </a:t>
            </a:r>
            <a:r>
              <a:rPr lang="en-US" sz="2300" dirty="0" err="1">
                <a:solidFill>
                  <a:srgbClr val="000000"/>
                </a:solidFill>
                <a:latin typeface="Arial"/>
                <a:ea typeface="Arial"/>
                <a:cs typeface="Arial"/>
                <a:sym typeface="Arial"/>
              </a:rPr>
              <a:t>dựa</a:t>
            </a:r>
            <a:r>
              <a:rPr lang="en-US" sz="2300" dirty="0">
                <a:solidFill>
                  <a:srgbClr val="000000"/>
                </a:solidFill>
                <a:latin typeface="Arial"/>
                <a:ea typeface="Arial"/>
                <a:cs typeface="Arial"/>
                <a:sym typeface="Arial"/>
              </a:rPr>
              <a:t> </a:t>
            </a:r>
            <a:r>
              <a:rPr lang="en-US" sz="2300" dirty="0" err="1">
                <a:solidFill>
                  <a:srgbClr val="000000"/>
                </a:solidFill>
                <a:latin typeface="Arial"/>
                <a:ea typeface="Arial"/>
                <a:cs typeface="Arial"/>
                <a:sym typeface="Arial"/>
              </a:rPr>
              <a:t>trên</a:t>
            </a:r>
            <a:r>
              <a:rPr lang="en-US" sz="2300" dirty="0">
                <a:solidFill>
                  <a:srgbClr val="000000"/>
                </a:solidFill>
                <a:latin typeface="Arial"/>
                <a:ea typeface="Arial"/>
                <a:cs typeface="Arial"/>
                <a:sym typeface="Arial"/>
              </a:rPr>
              <a:t> </a:t>
            </a:r>
            <a:r>
              <a:rPr lang="en-US" sz="2300" dirty="0" err="1">
                <a:solidFill>
                  <a:srgbClr val="000000"/>
                </a:solidFill>
                <a:latin typeface="Arial"/>
                <a:ea typeface="Arial"/>
                <a:cs typeface="Arial"/>
                <a:sym typeface="Arial"/>
              </a:rPr>
              <a:t>mô</a:t>
            </a:r>
            <a:r>
              <a:rPr lang="en-US" sz="2300" dirty="0">
                <a:solidFill>
                  <a:srgbClr val="000000"/>
                </a:solidFill>
                <a:latin typeface="Arial"/>
                <a:ea typeface="Arial"/>
                <a:cs typeface="Arial"/>
                <a:sym typeface="Arial"/>
              </a:rPr>
              <a:t> </a:t>
            </a:r>
            <a:r>
              <a:rPr lang="en-US" sz="2300" dirty="0" err="1">
                <a:solidFill>
                  <a:srgbClr val="000000"/>
                </a:solidFill>
                <a:latin typeface="Arial"/>
                <a:ea typeface="Arial"/>
                <a:cs typeface="Arial"/>
                <a:sym typeface="Arial"/>
              </a:rPr>
              <a:t>hình</a:t>
            </a:r>
            <a:r>
              <a:rPr lang="en-US" sz="2300" dirty="0">
                <a:solidFill>
                  <a:srgbClr val="000000"/>
                </a:solidFill>
                <a:latin typeface="Arial"/>
                <a:ea typeface="Arial"/>
                <a:cs typeface="Arial"/>
                <a:sym typeface="Arial"/>
              </a:rPr>
              <a:t> </a:t>
            </a:r>
            <a:r>
              <a:rPr lang="en-US" sz="2300" dirty="0" err="1">
                <a:solidFill>
                  <a:srgbClr val="000000"/>
                </a:solidFill>
                <a:latin typeface="Arial"/>
                <a:ea typeface="Arial"/>
                <a:cs typeface="Arial"/>
                <a:sym typeface="Arial"/>
              </a:rPr>
              <a:t>hai</a:t>
            </a:r>
            <a:r>
              <a:rPr lang="en-US" sz="2300" dirty="0">
                <a:solidFill>
                  <a:srgbClr val="000000"/>
                </a:solidFill>
                <a:latin typeface="Arial"/>
                <a:ea typeface="Arial"/>
                <a:cs typeface="Arial"/>
                <a:sym typeface="Arial"/>
              </a:rPr>
              <a:t> </a:t>
            </a:r>
            <a:r>
              <a:rPr lang="en-US" sz="2300" dirty="0" err="1">
                <a:solidFill>
                  <a:srgbClr val="000000"/>
                </a:solidFill>
                <a:latin typeface="Arial"/>
                <a:ea typeface="Arial"/>
                <a:cs typeface="Arial"/>
                <a:sym typeface="Arial"/>
              </a:rPr>
              <a:t>lớp</a:t>
            </a:r>
            <a:r>
              <a:rPr lang="en-US" sz="2300" dirty="0">
                <a:solidFill>
                  <a:srgbClr val="000000"/>
                </a:solidFill>
                <a:latin typeface="Arial"/>
                <a:ea typeface="Arial"/>
                <a:cs typeface="Arial"/>
                <a:sym typeface="Arial"/>
              </a:rPr>
              <a:t>.</a:t>
            </a:r>
          </a:p>
        </p:txBody>
      </p:sp>
    </p:spTree>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Freeform 3"/>
          <p:cNvSpPr/>
          <p:nvPr/>
        </p:nvSpPr>
        <p:spPr>
          <a:xfrm>
            <a:off x="1817781" y="2175307"/>
            <a:ext cx="5419491" cy="2145448"/>
          </a:xfrm>
          <a:custGeom>
            <a:avLst/>
            <a:gdLst/>
            <a:ahLst/>
            <a:cxnLst/>
            <a:rect l="l" t="t" r="r" b="b"/>
            <a:pathLst>
              <a:path w="5419491" h="2145448">
                <a:moveTo>
                  <a:pt x="0" y="0"/>
                </a:moveTo>
                <a:lnTo>
                  <a:pt x="5419492" y="0"/>
                </a:lnTo>
                <a:lnTo>
                  <a:pt x="5419492" y="2145448"/>
                </a:lnTo>
                <a:lnTo>
                  <a:pt x="0" y="2145448"/>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471355" y="264816"/>
            <a:ext cx="7336181" cy="533379"/>
          </a:xfrm>
          <a:prstGeom prst="rect">
            <a:avLst/>
          </a:prstGeom>
        </p:spPr>
        <p:txBody>
          <a:bodyPr lIns="0" tIns="0" rIns="0" bIns="0" rtlCol="0" anchor="t">
            <a:spAutoFit/>
          </a:bodyPr>
          <a:lstStyle/>
          <a:p>
            <a:pPr algn="ctr">
              <a:lnSpc>
                <a:spcPts val="3719"/>
              </a:lnSpc>
              <a:spcBef>
                <a:spcPct val="0"/>
              </a:spcBef>
            </a:pPr>
            <a:r>
              <a:rPr lang="en-US" sz="3099" b="1">
                <a:solidFill>
                  <a:srgbClr val="FFFF00"/>
                </a:solidFill>
                <a:latin typeface="Arial Bold"/>
                <a:ea typeface="Arial Bold"/>
                <a:cs typeface="Arial Bold"/>
                <a:sym typeface="Arial Bold"/>
              </a:rPr>
              <a:t>Định tuyến chọn lọc (Selective routing)</a:t>
            </a:r>
          </a:p>
        </p:txBody>
      </p:sp>
      <p:sp>
        <p:nvSpPr>
          <p:cNvPr id="5" name="TextBox 5"/>
          <p:cNvSpPr txBox="1"/>
          <p:nvPr/>
        </p:nvSpPr>
        <p:spPr>
          <a:xfrm>
            <a:off x="471355" y="1446096"/>
            <a:ext cx="6674579" cy="438150"/>
          </a:xfrm>
          <a:prstGeom prst="rect">
            <a:avLst/>
          </a:prstGeom>
        </p:spPr>
        <p:txBody>
          <a:bodyPr lIns="0" tIns="0" rIns="0" bIns="0" rtlCol="0" anchor="t">
            <a:spAutoFit/>
          </a:bodyPr>
          <a:lstStyle/>
          <a:p>
            <a:pPr algn="ctr">
              <a:lnSpc>
                <a:spcPts val="3000"/>
              </a:lnSpc>
              <a:spcBef>
                <a:spcPct val="0"/>
              </a:spcBef>
            </a:pPr>
            <a:r>
              <a:rPr lang="en-US" sz="2500" b="1">
                <a:solidFill>
                  <a:srgbClr val="000000"/>
                </a:solidFill>
                <a:latin typeface="Arial Bold"/>
                <a:ea typeface="Arial Bold"/>
                <a:cs typeface="Arial Bold"/>
                <a:sym typeface="Arial Bold"/>
              </a:rPr>
              <a:t>ví dụ: Bảng định tuyến được điền một phần</a:t>
            </a:r>
          </a:p>
        </p:txBody>
      </p:sp>
    </p:spTree>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110719" y="2197718"/>
            <a:ext cx="9642881" cy="4629708"/>
          </a:xfrm>
          <a:prstGeom prst="rect">
            <a:avLst/>
          </a:prstGeom>
        </p:spPr>
        <p:txBody>
          <a:bodyPr lIns="0" tIns="0" rIns="0" bIns="0" rtlCol="0" anchor="t">
            <a:spAutoFit/>
          </a:bodyPr>
          <a:lstStyle/>
          <a:p>
            <a:pPr algn="l">
              <a:lnSpc>
                <a:spcPts val="2820"/>
              </a:lnSpc>
              <a:spcBef>
                <a:spcPct val="0"/>
              </a:spcBef>
            </a:pPr>
            <a:r>
              <a:rPr lang="en-US" sz="2350">
                <a:solidFill>
                  <a:srgbClr val="000000"/>
                </a:solidFill>
                <a:latin typeface="Arial"/>
                <a:ea typeface="Arial"/>
                <a:cs typeface="Arial"/>
                <a:sym typeface="Arial"/>
              </a:rPr>
              <a:t>Bảng định tuyến này giúp bộ định tuyến (router) trong hệ thống xuất bản-đăng ký quyết định gửi thông báo đến đâu dựa trên giá trị của thuộc tính a trong thông báo, theo các đăng ký từ nút 3 và nút 4:</a:t>
            </a:r>
          </a:p>
          <a:p>
            <a:pPr marL="507379" lvl="1" indent="-253690" algn="l">
              <a:lnSpc>
                <a:spcPts val="2820"/>
              </a:lnSpc>
              <a:spcBef>
                <a:spcPct val="0"/>
              </a:spcBef>
              <a:buFont typeface="Arial"/>
              <a:buChar char="•"/>
            </a:pPr>
            <a:r>
              <a:rPr lang="en-US" sz="2350">
                <a:solidFill>
                  <a:srgbClr val="000000"/>
                </a:solidFill>
                <a:latin typeface="Arial"/>
                <a:ea typeface="Arial"/>
                <a:cs typeface="Arial"/>
                <a:sym typeface="Arial"/>
              </a:rPr>
              <a:t>Nút 3 đăng ký: Nhận thông báo khi a nằm trong khoảng [0, 3].</a:t>
            </a:r>
          </a:p>
          <a:p>
            <a:pPr marL="507379" lvl="1" indent="-253690" algn="l">
              <a:lnSpc>
                <a:spcPts val="2820"/>
              </a:lnSpc>
              <a:spcBef>
                <a:spcPct val="0"/>
              </a:spcBef>
              <a:buFont typeface="Arial"/>
              <a:buChar char="•"/>
            </a:pPr>
            <a:r>
              <a:rPr lang="en-US" sz="2350">
                <a:solidFill>
                  <a:srgbClr val="000000"/>
                </a:solidFill>
                <a:latin typeface="Arial"/>
                <a:ea typeface="Arial"/>
                <a:cs typeface="Arial"/>
                <a:sym typeface="Arial"/>
              </a:rPr>
              <a:t>Nút 4 đăng ký: Nhận thông báo khi a nằm trong khoảng [2, 5].</a:t>
            </a:r>
          </a:p>
          <a:p>
            <a:pPr marL="507379" lvl="1" indent="-253690" algn="l">
              <a:lnSpc>
                <a:spcPts val="2820"/>
              </a:lnSpc>
              <a:spcBef>
                <a:spcPct val="0"/>
              </a:spcBef>
              <a:buFont typeface="Arial"/>
              <a:buChar char="•"/>
            </a:pPr>
            <a:r>
              <a:rPr lang="en-US" sz="2350">
                <a:solidFill>
                  <a:srgbClr val="000000"/>
                </a:solidFill>
                <a:latin typeface="Arial"/>
                <a:ea typeface="Arial"/>
                <a:cs typeface="Arial"/>
                <a:sym typeface="Arial"/>
              </a:rPr>
              <a:t>Bộ định tuyến hành động:  </a:t>
            </a:r>
          </a:p>
          <a:p>
            <a:pPr algn="l">
              <a:lnSpc>
                <a:spcPts val="2820"/>
              </a:lnSpc>
              <a:spcBef>
                <a:spcPct val="0"/>
              </a:spcBef>
            </a:pPr>
            <a:r>
              <a:rPr lang="en-US" sz="2350">
                <a:solidFill>
                  <a:srgbClr val="000000"/>
                </a:solidFill>
                <a:latin typeface="Arial"/>
                <a:ea typeface="Arial"/>
                <a:cs typeface="Arial"/>
                <a:sym typeface="Arial"/>
              </a:rPr>
              <a:t>         +Nếu a từ 0 đến 3, gửi đến nút 3.</a:t>
            </a:r>
          </a:p>
          <a:p>
            <a:pPr algn="l">
              <a:lnSpc>
                <a:spcPts val="2820"/>
              </a:lnSpc>
              <a:spcBef>
                <a:spcPct val="0"/>
              </a:spcBef>
            </a:pPr>
            <a:r>
              <a:rPr lang="en-US" sz="2350">
                <a:solidFill>
                  <a:srgbClr val="000000"/>
                </a:solidFill>
                <a:latin typeface="Arial"/>
                <a:ea typeface="Arial"/>
                <a:cs typeface="Arial"/>
                <a:sym typeface="Arial"/>
              </a:rPr>
              <a:t>         +Nếu a từ 2 đến 5, gửi đến nút 4.</a:t>
            </a:r>
          </a:p>
          <a:p>
            <a:pPr algn="l">
              <a:lnSpc>
                <a:spcPts val="2820"/>
              </a:lnSpc>
              <a:spcBef>
                <a:spcPct val="0"/>
              </a:spcBef>
            </a:pPr>
            <a:r>
              <a:rPr lang="en-US" sz="2350">
                <a:solidFill>
                  <a:srgbClr val="000000"/>
                </a:solidFill>
                <a:latin typeface="Arial"/>
                <a:ea typeface="Arial"/>
                <a:cs typeface="Arial"/>
                <a:sym typeface="Arial"/>
              </a:rPr>
              <a:t>         +Nếu a ngoài khoảng [0, 5] (như -1 hoặc 6), gửi đến bộ định tuyến               R1​ để xử lý tiếp.</a:t>
            </a:r>
          </a:p>
          <a:p>
            <a:pPr marL="507379" lvl="1" indent="-253690" algn="l">
              <a:lnSpc>
                <a:spcPts val="2820"/>
              </a:lnSpc>
              <a:spcBef>
                <a:spcPct val="0"/>
              </a:spcBef>
              <a:buFont typeface="Arial"/>
              <a:buChar char="•"/>
            </a:pPr>
            <a:r>
              <a:rPr lang="en-US" sz="2350">
                <a:solidFill>
                  <a:srgbClr val="000000"/>
                </a:solidFill>
                <a:latin typeface="Arial"/>
                <a:ea typeface="Arial"/>
                <a:cs typeface="Arial"/>
                <a:sym typeface="Arial"/>
              </a:rPr>
              <a:t>Ví dụ: Thông báo với a=2 sẽ được gửi đến cả nút 3 và nút 4 (vì 2 nằm trong cả hai khoảng), còn a=6 sẽ được chuyển đến R1​. Bảng này giúp tránh gửi thông báo không cần thiết, tối ưu hóa mạng.</a:t>
            </a:r>
          </a:p>
        </p:txBody>
      </p:sp>
      <p:sp>
        <p:nvSpPr>
          <p:cNvPr id="4" name="TextBox 4"/>
          <p:cNvSpPr txBox="1"/>
          <p:nvPr/>
        </p:nvSpPr>
        <p:spPr>
          <a:xfrm>
            <a:off x="471355" y="1446096"/>
            <a:ext cx="6674579" cy="438150"/>
          </a:xfrm>
          <a:prstGeom prst="rect">
            <a:avLst/>
          </a:prstGeom>
        </p:spPr>
        <p:txBody>
          <a:bodyPr lIns="0" tIns="0" rIns="0" bIns="0" rtlCol="0" anchor="t">
            <a:spAutoFit/>
          </a:bodyPr>
          <a:lstStyle/>
          <a:p>
            <a:pPr algn="ctr">
              <a:lnSpc>
                <a:spcPts val="3000"/>
              </a:lnSpc>
              <a:spcBef>
                <a:spcPct val="0"/>
              </a:spcBef>
            </a:pPr>
            <a:r>
              <a:rPr lang="en-US" sz="2500" b="1">
                <a:solidFill>
                  <a:srgbClr val="000000"/>
                </a:solidFill>
                <a:latin typeface="Arial Bold"/>
                <a:ea typeface="Arial Bold"/>
                <a:cs typeface="Arial Bold"/>
                <a:sym typeface="Arial Bold"/>
              </a:rPr>
              <a:t>ví dụ: Bảng định tuyến được điền một phần</a:t>
            </a:r>
          </a:p>
        </p:txBody>
      </p:sp>
      <p:sp>
        <p:nvSpPr>
          <p:cNvPr id="5" name="TextBox 5"/>
          <p:cNvSpPr txBox="1"/>
          <p:nvPr/>
        </p:nvSpPr>
        <p:spPr>
          <a:xfrm>
            <a:off x="471355" y="264816"/>
            <a:ext cx="7336181" cy="533379"/>
          </a:xfrm>
          <a:prstGeom prst="rect">
            <a:avLst/>
          </a:prstGeom>
        </p:spPr>
        <p:txBody>
          <a:bodyPr lIns="0" tIns="0" rIns="0" bIns="0" rtlCol="0" anchor="t">
            <a:spAutoFit/>
          </a:bodyPr>
          <a:lstStyle/>
          <a:p>
            <a:pPr algn="ctr">
              <a:lnSpc>
                <a:spcPts val="3719"/>
              </a:lnSpc>
              <a:spcBef>
                <a:spcPct val="0"/>
              </a:spcBef>
            </a:pPr>
            <a:r>
              <a:rPr lang="en-US" sz="3099" b="1">
                <a:solidFill>
                  <a:srgbClr val="FFFF00"/>
                </a:solidFill>
                <a:latin typeface="Arial Bold"/>
                <a:ea typeface="Arial Bold"/>
                <a:cs typeface="Arial Bold"/>
                <a:sym typeface="Arial Bold"/>
              </a:rPr>
              <a:t>Định tuyến chọn lọc (Selective routing)</a:t>
            </a:r>
          </a:p>
        </p:txBody>
      </p:sp>
    </p:spTree>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743186" y="198141"/>
            <a:ext cx="4133614" cy="533379"/>
          </a:xfrm>
          <a:prstGeom prst="rect">
            <a:avLst/>
          </a:prstGeom>
        </p:spPr>
        <p:txBody>
          <a:bodyPr lIns="0" tIns="0" rIns="0" bIns="0" rtlCol="0" anchor="t">
            <a:spAutoFit/>
          </a:bodyPr>
          <a:lstStyle/>
          <a:p>
            <a:pPr algn="ctr">
              <a:lnSpc>
                <a:spcPts val="3719"/>
              </a:lnSpc>
              <a:spcBef>
                <a:spcPct val="0"/>
              </a:spcBef>
            </a:pPr>
            <a:r>
              <a:rPr lang="en-US" sz="3099" b="1">
                <a:solidFill>
                  <a:srgbClr val="FFFF00"/>
                </a:solidFill>
                <a:latin typeface="Arial Bold"/>
                <a:ea typeface="Arial Bold"/>
                <a:cs typeface="Arial Bold"/>
                <a:sym typeface="Arial Bold"/>
              </a:rPr>
              <a:t>Gossiping: Sub-2-Sub</a:t>
            </a:r>
          </a:p>
        </p:txBody>
      </p:sp>
      <p:sp>
        <p:nvSpPr>
          <p:cNvPr id="4" name="TextBox 4"/>
          <p:cNvSpPr txBox="1"/>
          <p:nvPr/>
        </p:nvSpPr>
        <p:spPr>
          <a:xfrm>
            <a:off x="242551" y="1519432"/>
            <a:ext cx="9268498" cy="4714875"/>
          </a:xfrm>
          <a:prstGeom prst="rect">
            <a:avLst/>
          </a:prstGeom>
        </p:spPr>
        <p:txBody>
          <a:bodyPr lIns="0" tIns="0" rIns="0" bIns="0" rtlCol="0" anchor="t">
            <a:spAutoFit/>
          </a:bodyPr>
          <a:lstStyle/>
          <a:p>
            <a:pPr algn="l">
              <a:lnSpc>
                <a:spcPts val="2640"/>
              </a:lnSpc>
              <a:spcBef>
                <a:spcPct val="0"/>
              </a:spcBef>
            </a:pPr>
            <a:r>
              <a:rPr lang="en-US" sz="2200" b="1">
                <a:solidFill>
                  <a:srgbClr val="000000"/>
                </a:solidFill>
                <a:latin typeface="Arial Bold"/>
                <a:ea typeface="Arial Bold"/>
                <a:cs typeface="Arial Bold"/>
                <a:sym typeface="Arial Bold"/>
              </a:rPr>
              <a:t>Cơ bản</a:t>
            </a:r>
          </a:p>
          <a:p>
            <a:pPr marL="474983" lvl="1" indent="-237491" algn="l">
              <a:lnSpc>
                <a:spcPts val="2640"/>
              </a:lnSpc>
              <a:spcBef>
                <a:spcPct val="0"/>
              </a:spcBef>
              <a:buFont typeface="Arial"/>
              <a:buChar char="•"/>
            </a:pPr>
            <a:r>
              <a:rPr lang="en-US" sz="2200">
                <a:solidFill>
                  <a:srgbClr val="000000"/>
                </a:solidFill>
                <a:latin typeface="Arial"/>
                <a:ea typeface="Arial"/>
                <a:cs typeface="Arial"/>
                <a:sym typeface="Arial"/>
              </a:rPr>
              <a:t>Mục tiêu: Thực hiện khả năng mở rộng bằng cách đảm bảo rằng các người đăng ký có cùng sở thích hình thành chỉ một nhóm duy nhất.</a:t>
            </a:r>
          </a:p>
          <a:p>
            <a:pPr marL="474983" lvl="1" indent="-237491" algn="l">
              <a:lnSpc>
                <a:spcPts val="2640"/>
              </a:lnSpc>
              <a:spcBef>
                <a:spcPct val="0"/>
              </a:spcBef>
              <a:buFont typeface="Arial"/>
              <a:buChar char="•"/>
            </a:pPr>
            <a:r>
              <a:rPr lang="en-US" sz="2200">
                <a:solidFill>
                  <a:srgbClr val="000000"/>
                </a:solidFill>
                <a:latin typeface="Arial"/>
                <a:ea typeface="Arial"/>
                <a:cs typeface="Arial"/>
                <a:sym typeface="Arial"/>
              </a:rPr>
              <a:t>Mô hình: </a:t>
            </a:r>
          </a:p>
          <a:p>
            <a:pPr algn="l">
              <a:lnSpc>
                <a:spcPts val="2640"/>
              </a:lnSpc>
              <a:spcBef>
                <a:spcPct val="0"/>
              </a:spcBef>
            </a:pPr>
            <a:r>
              <a:rPr lang="en-US" sz="2200">
                <a:solidFill>
                  <a:srgbClr val="000000"/>
                </a:solidFill>
                <a:latin typeface="Arial"/>
                <a:ea typeface="Arial"/>
                <a:cs typeface="Arial"/>
                <a:sym typeface="Arial"/>
              </a:rPr>
              <a:t>           +Có N thuộc tính  a1,...,aN </a:t>
            </a:r>
          </a:p>
          <a:p>
            <a:pPr algn="l">
              <a:lnSpc>
                <a:spcPts val="2640"/>
              </a:lnSpc>
              <a:spcBef>
                <a:spcPct val="0"/>
              </a:spcBef>
            </a:pPr>
            <a:r>
              <a:rPr lang="en-US" sz="2200">
                <a:solidFill>
                  <a:srgbClr val="000000"/>
                </a:solidFill>
                <a:latin typeface="Arial"/>
                <a:ea typeface="Arial"/>
                <a:cs typeface="Arial"/>
                <a:sym typeface="Arial"/>
              </a:rPr>
              <a:t>           +Giá trị của mỗi thuộc tính luôn có thể ánh xạ thành một số thực.</a:t>
            </a:r>
          </a:p>
          <a:p>
            <a:pPr marL="474983" lvl="1" indent="-237491" algn="l">
              <a:lnSpc>
                <a:spcPts val="2640"/>
              </a:lnSpc>
              <a:spcBef>
                <a:spcPct val="0"/>
              </a:spcBef>
              <a:buFont typeface="Arial"/>
              <a:buChar char="•"/>
            </a:pPr>
            <a:r>
              <a:rPr lang="en-US" sz="2200">
                <a:solidFill>
                  <a:srgbClr val="000000"/>
                </a:solidFill>
                <a:latin typeface="Arial"/>
                <a:ea typeface="Arial"/>
                <a:cs typeface="Arial"/>
                <a:sym typeface="Arial"/>
              </a:rPr>
              <a:t>Đăng ký: Có dạng như S=⟨a1→3.0,a4→[0.0,0.5]⟩, với ý nghĩa: </a:t>
            </a:r>
          </a:p>
          <a:p>
            <a:pPr algn="l">
              <a:lnSpc>
                <a:spcPts val="2640"/>
              </a:lnSpc>
              <a:spcBef>
                <a:spcPct val="0"/>
              </a:spcBef>
            </a:pPr>
            <a:r>
              <a:rPr lang="en-US" sz="2200">
                <a:solidFill>
                  <a:srgbClr val="000000"/>
                </a:solidFill>
                <a:latin typeface="Arial"/>
                <a:ea typeface="Arial"/>
                <a:cs typeface="Arial"/>
                <a:sym typeface="Arial"/>
              </a:rPr>
              <a:t>             +a1​ phải bằng 3.0.</a:t>
            </a:r>
          </a:p>
          <a:p>
            <a:pPr algn="l">
              <a:lnSpc>
                <a:spcPts val="2640"/>
              </a:lnSpc>
              <a:spcBef>
                <a:spcPct val="0"/>
              </a:spcBef>
            </a:pPr>
            <a:r>
              <a:rPr lang="en-US" sz="2200">
                <a:solidFill>
                  <a:srgbClr val="000000"/>
                </a:solidFill>
                <a:latin typeface="Arial"/>
                <a:ea typeface="Arial"/>
                <a:cs typeface="Arial"/>
                <a:sym typeface="Arial"/>
              </a:rPr>
              <a:t>             +a4​ phải nằm trong khoảng từ 0.0 đến 0.5 (không bao gồm 0.5).</a:t>
            </a:r>
          </a:p>
          <a:p>
            <a:pPr algn="l">
              <a:lnSpc>
                <a:spcPts val="2640"/>
              </a:lnSpc>
              <a:spcBef>
                <a:spcPct val="0"/>
              </a:spcBef>
            </a:pPr>
            <a:r>
              <a:rPr lang="en-US" sz="2200">
                <a:solidFill>
                  <a:srgbClr val="000000"/>
                </a:solidFill>
                <a:latin typeface="Arial"/>
                <a:ea typeface="Arial"/>
                <a:cs typeface="Arial"/>
                <a:sym typeface="Arial"/>
              </a:rPr>
              <a:t>             +Giá trị của các thuộc tính khác không quan trọng.</a:t>
            </a:r>
          </a:p>
          <a:p>
            <a:pPr algn="l">
              <a:lnSpc>
                <a:spcPts val="2640"/>
              </a:lnSpc>
              <a:spcBef>
                <a:spcPct val="0"/>
              </a:spcBef>
            </a:pPr>
            <a:r>
              <a:rPr lang="en-US" sz="2200" b="1">
                <a:solidFill>
                  <a:srgbClr val="000000"/>
                </a:solidFill>
                <a:latin typeface="Arial Bold"/>
                <a:ea typeface="Arial Bold"/>
                <a:cs typeface="Arial Bold"/>
                <a:sym typeface="Arial Bold"/>
              </a:rPr>
              <a:t>Quan sát</a:t>
            </a:r>
          </a:p>
          <a:p>
            <a:pPr marL="474983" lvl="1" indent="-237491" algn="l">
              <a:lnSpc>
                <a:spcPts val="2640"/>
              </a:lnSpc>
              <a:spcBef>
                <a:spcPct val="0"/>
              </a:spcBef>
              <a:buFont typeface="Arial"/>
              <a:buChar char="•"/>
            </a:pPr>
            <a:r>
              <a:rPr lang="en-US" sz="2200">
                <a:solidFill>
                  <a:srgbClr val="000000"/>
                </a:solidFill>
                <a:latin typeface="Arial"/>
                <a:ea typeface="Arial"/>
                <a:cs typeface="Arial"/>
                <a:sym typeface="Arial"/>
              </a:rPr>
              <a:t>Một đăng ký Si​ xác định một tập con Si trong không gian N chiều.</a:t>
            </a:r>
          </a:p>
          <a:p>
            <a:pPr marL="474983" lvl="1" indent="-237491" algn="l">
              <a:lnSpc>
                <a:spcPts val="2640"/>
              </a:lnSpc>
              <a:spcBef>
                <a:spcPct val="0"/>
              </a:spcBef>
              <a:buFont typeface="Arial"/>
              <a:buChar char="•"/>
            </a:pPr>
            <a:r>
              <a:rPr lang="en-US" sz="2200">
                <a:solidFill>
                  <a:srgbClr val="000000"/>
                </a:solidFill>
                <a:latin typeface="Arial"/>
                <a:ea typeface="Arial"/>
                <a:cs typeface="Arial"/>
                <a:sym typeface="Arial"/>
              </a:rPr>
              <a:t>Chúng ta chỉ quan tâm đến các thông báo thuộc vào tập hợp S=∪ Si (tổng hợp của tất cả các tập con Si từ các đăng ký).</a:t>
            </a:r>
          </a:p>
        </p:txBody>
      </p:sp>
    </p:spTree>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Freeform 3"/>
          <p:cNvSpPr/>
          <p:nvPr/>
        </p:nvSpPr>
        <p:spPr>
          <a:xfrm>
            <a:off x="0" y="1417676"/>
            <a:ext cx="9753600" cy="3669792"/>
          </a:xfrm>
          <a:custGeom>
            <a:avLst/>
            <a:gdLst/>
            <a:ahLst/>
            <a:cxnLst/>
            <a:rect l="l" t="t" r="r" b="b"/>
            <a:pathLst>
              <a:path w="9753600" h="3669792">
                <a:moveTo>
                  <a:pt x="0" y="0"/>
                </a:moveTo>
                <a:lnTo>
                  <a:pt x="9753600" y="0"/>
                </a:lnTo>
                <a:lnTo>
                  <a:pt x="9753600" y="3669792"/>
                </a:lnTo>
                <a:lnTo>
                  <a:pt x="0" y="3669792"/>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743186" y="198141"/>
            <a:ext cx="4133614" cy="533379"/>
          </a:xfrm>
          <a:prstGeom prst="rect">
            <a:avLst/>
          </a:prstGeom>
        </p:spPr>
        <p:txBody>
          <a:bodyPr lIns="0" tIns="0" rIns="0" bIns="0" rtlCol="0" anchor="t">
            <a:spAutoFit/>
          </a:bodyPr>
          <a:lstStyle/>
          <a:p>
            <a:pPr algn="ctr">
              <a:lnSpc>
                <a:spcPts val="3719"/>
              </a:lnSpc>
              <a:spcBef>
                <a:spcPct val="0"/>
              </a:spcBef>
            </a:pPr>
            <a:r>
              <a:rPr lang="en-US" sz="3099" b="1">
                <a:solidFill>
                  <a:srgbClr val="FFFF00"/>
                </a:solidFill>
                <a:latin typeface="Arial Bold"/>
                <a:ea typeface="Arial Bold"/>
                <a:cs typeface="Arial Bold"/>
                <a:sym typeface="Arial Bold"/>
              </a:rPr>
              <a:t>Gossiping: Sub-2-Sub</a:t>
            </a:r>
          </a:p>
        </p:txBody>
      </p:sp>
    </p:spTree>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Freeform 3"/>
          <p:cNvSpPr/>
          <p:nvPr/>
        </p:nvSpPr>
        <p:spPr>
          <a:xfrm>
            <a:off x="314389" y="3733708"/>
            <a:ext cx="9124821" cy="3581492"/>
          </a:xfrm>
          <a:custGeom>
            <a:avLst/>
            <a:gdLst/>
            <a:ahLst/>
            <a:cxnLst/>
            <a:rect l="l" t="t" r="r" b="b"/>
            <a:pathLst>
              <a:path w="9124821" h="3581492">
                <a:moveTo>
                  <a:pt x="0" y="0"/>
                </a:moveTo>
                <a:lnTo>
                  <a:pt x="9124822" y="0"/>
                </a:lnTo>
                <a:lnTo>
                  <a:pt x="9124822" y="3581492"/>
                </a:lnTo>
                <a:lnTo>
                  <a:pt x="0" y="3581492"/>
                </a:lnTo>
                <a:lnTo>
                  <a:pt x="0" y="0"/>
                </a:lnTo>
                <a:close/>
              </a:path>
            </a:pathLst>
          </a:custGeom>
          <a:blipFill>
            <a:blip r:embed="rId4"/>
            <a:stretch>
              <a:fillRect/>
            </a:stretch>
          </a:blipFill>
        </p:spPr>
        <p:txBody>
          <a:bodyPr/>
          <a:lstStyle/>
          <a:p>
            <a:endParaRPr lang="en-US"/>
          </a:p>
        </p:txBody>
      </p:sp>
      <p:sp>
        <p:nvSpPr>
          <p:cNvPr id="4" name="Freeform 4"/>
          <p:cNvSpPr/>
          <p:nvPr/>
        </p:nvSpPr>
        <p:spPr>
          <a:xfrm>
            <a:off x="1708155" y="1019703"/>
            <a:ext cx="6337291" cy="2637897"/>
          </a:xfrm>
          <a:custGeom>
            <a:avLst/>
            <a:gdLst/>
            <a:ahLst/>
            <a:cxnLst/>
            <a:rect l="l" t="t" r="r" b="b"/>
            <a:pathLst>
              <a:path w="6337291" h="2637897">
                <a:moveTo>
                  <a:pt x="0" y="0"/>
                </a:moveTo>
                <a:lnTo>
                  <a:pt x="6337290" y="0"/>
                </a:lnTo>
                <a:lnTo>
                  <a:pt x="6337290" y="2637897"/>
                </a:lnTo>
                <a:lnTo>
                  <a:pt x="0" y="2637897"/>
                </a:lnTo>
                <a:lnTo>
                  <a:pt x="0" y="0"/>
                </a:lnTo>
                <a:close/>
              </a:path>
            </a:pathLst>
          </a:custGeom>
          <a:blipFill>
            <a:blip r:embed="rId5"/>
            <a:stretch>
              <a:fillRect/>
            </a:stretch>
          </a:blipFill>
        </p:spPr>
        <p:txBody>
          <a:bodyPr/>
          <a:lstStyle/>
          <a:p>
            <a:endParaRPr lang="en-US"/>
          </a:p>
        </p:txBody>
      </p:sp>
      <p:sp>
        <p:nvSpPr>
          <p:cNvPr id="5" name="TextBox 5"/>
          <p:cNvSpPr txBox="1"/>
          <p:nvPr/>
        </p:nvSpPr>
        <p:spPr>
          <a:xfrm>
            <a:off x="743186" y="198141"/>
            <a:ext cx="4133614" cy="533379"/>
          </a:xfrm>
          <a:prstGeom prst="rect">
            <a:avLst/>
          </a:prstGeom>
        </p:spPr>
        <p:txBody>
          <a:bodyPr lIns="0" tIns="0" rIns="0" bIns="0" rtlCol="0" anchor="t">
            <a:spAutoFit/>
          </a:bodyPr>
          <a:lstStyle/>
          <a:p>
            <a:pPr algn="ctr">
              <a:lnSpc>
                <a:spcPts val="3719"/>
              </a:lnSpc>
              <a:spcBef>
                <a:spcPct val="0"/>
              </a:spcBef>
            </a:pPr>
            <a:r>
              <a:rPr lang="en-US" sz="3099" b="1">
                <a:solidFill>
                  <a:srgbClr val="FFFF00"/>
                </a:solidFill>
                <a:latin typeface="Arial Bold"/>
                <a:ea typeface="Arial Bold"/>
                <a:cs typeface="Arial Bold"/>
                <a:sym typeface="Arial Bold"/>
              </a:rPr>
              <a:t>Gossiping: Sub-2-Sub</a:t>
            </a:r>
          </a:p>
        </p:txBody>
      </p:sp>
    </p:spTree>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534028" y="431493"/>
            <a:ext cx="6706329" cy="533379"/>
          </a:xfrm>
          <a:prstGeom prst="rect">
            <a:avLst/>
          </a:prstGeom>
        </p:spPr>
        <p:txBody>
          <a:bodyPr lIns="0" tIns="0" rIns="0" bIns="0" rtlCol="0" anchor="t">
            <a:spAutoFit/>
          </a:bodyPr>
          <a:lstStyle/>
          <a:p>
            <a:pPr algn="ctr">
              <a:lnSpc>
                <a:spcPts val="3719"/>
              </a:lnSpc>
              <a:spcBef>
                <a:spcPct val="0"/>
              </a:spcBef>
            </a:pPr>
            <a:r>
              <a:rPr lang="en-US" sz="3099" b="1">
                <a:solidFill>
                  <a:srgbClr val="FFFF00"/>
                </a:solidFill>
                <a:latin typeface="Arial Bold"/>
                <a:ea typeface="Arial Bold"/>
                <a:cs typeface="Arial Bold"/>
                <a:sym typeface="Arial Bold"/>
              </a:rPr>
              <a:t>Giải pháp xuất bản-đăng ký an toàn</a:t>
            </a:r>
          </a:p>
        </p:txBody>
      </p:sp>
      <p:sp>
        <p:nvSpPr>
          <p:cNvPr id="4" name="TextBox 4"/>
          <p:cNvSpPr txBox="1"/>
          <p:nvPr/>
        </p:nvSpPr>
        <p:spPr>
          <a:xfrm>
            <a:off x="188206" y="1518270"/>
            <a:ext cx="9377187" cy="5191446"/>
          </a:xfrm>
          <a:prstGeom prst="rect">
            <a:avLst/>
          </a:prstGeom>
        </p:spPr>
        <p:txBody>
          <a:bodyPr lIns="0" tIns="0" rIns="0" bIns="0" rtlCol="0" anchor="t">
            <a:spAutoFit/>
          </a:bodyPr>
          <a:lstStyle/>
          <a:p>
            <a:pPr algn="l">
              <a:lnSpc>
                <a:spcPts val="2760"/>
              </a:lnSpc>
              <a:spcBef>
                <a:spcPct val="0"/>
              </a:spcBef>
            </a:pPr>
            <a:r>
              <a:rPr lang="en-US" sz="2300" b="1">
                <a:solidFill>
                  <a:srgbClr val="000000"/>
                </a:solidFill>
                <a:latin typeface="Arial Bold"/>
                <a:ea typeface="Arial Bold"/>
                <a:cs typeface="Arial Bold"/>
                <a:sym typeface="Arial Bold"/>
              </a:rPr>
              <a:t>Chúng ta đang đối mặt với những tình huống khó xử phức tạp</a:t>
            </a:r>
          </a:p>
          <a:p>
            <a:pPr marL="496571" lvl="1" indent="-248285" algn="l">
              <a:lnSpc>
                <a:spcPts val="2760"/>
              </a:lnSpc>
              <a:spcBef>
                <a:spcPct val="0"/>
              </a:spcBef>
              <a:buFont typeface="Arial"/>
              <a:buChar char="•"/>
            </a:pPr>
            <a:r>
              <a:rPr lang="en-US" sz="2300">
                <a:solidFill>
                  <a:srgbClr val="000000"/>
                </a:solidFill>
                <a:latin typeface="Arial"/>
                <a:ea typeface="Arial"/>
                <a:cs typeface="Arial"/>
                <a:sym typeface="Arial"/>
              </a:rPr>
              <a:t>Tách biệt tham chiếu: Các tin nhắn cần có khả năng chảy từ nhà xuất bản  đến người đăng ký trong khi đảm bảo tính ẩn danh lẫn nhau ⇒ chúng ta không thể thiết lập một kênh bảo mật.</a:t>
            </a:r>
          </a:p>
          <a:p>
            <a:pPr marL="496571" lvl="1" indent="-248285" algn="l">
              <a:lnSpc>
                <a:spcPts val="2760"/>
              </a:lnSpc>
              <a:spcBef>
                <a:spcPct val="0"/>
              </a:spcBef>
              <a:buFont typeface="Arial"/>
              <a:buChar char="•"/>
            </a:pPr>
            <a:r>
              <a:rPr lang="en-US" sz="2300">
                <a:solidFill>
                  <a:srgbClr val="000000"/>
                </a:solidFill>
                <a:latin typeface="Arial"/>
                <a:ea typeface="Arial"/>
                <a:cs typeface="Arial"/>
                <a:sym typeface="Arial"/>
              </a:rPr>
              <a:t>Không biết nguồn gốc của tin nhắn gây ra các vấn đề về tính toàn vẹn.</a:t>
            </a:r>
          </a:p>
          <a:p>
            <a:pPr marL="496571" lvl="1" indent="-248285" algn="l">
              <a:lnSpc>
                <a:spcPts val="2760"/>
              </a:lnSpc>
              <a:spcBef>
                <a:spcPct val="0"/>
              </a:spcBef>
              <a:buFont typeface="Arial"/>
              <a:buChar char="•"/>
            </a:pPr>
            <a:r>
              <a:rPr lang="en-US" sz="2300">
                <a:solidFill>
                  <a:srgbClr val="000000"/>
                </a:solidFill>
                <a:latin typeface="Arial"/>
                <a:ea typeface="Arial"/>
                <a:cs typeface="Arial"/>
                <a:sym typeface="Arial"/>
              </a:rPr>
              <a:t>Giả định một broker đáng tin cậy có thể dễ dàng là không thực tế, đặc biệt khi xử lý thông tin nhạy cảm ⇒ giờ đây chúng ta có một vấn đề định tuyến .</a:t>
            </a:r>
          </a:p>
          <a:p>
            <a:pPr algn="l">
              <a:lnSpc>
                <a:spcPts val="2760"/>
              </a:lnSpc>
              <a:spcBef>
                <a:spcPct val="0"/>
              </a:spcBef>
            </a:pPr>
            <a:r>
              <a:rPr lang="en-US" sz="2300" b="1">
                <a:solidFill>
                  <a:srgbClr val="000000"/>
                </a:solidFill>
                <a:latin typeface="Arial Bold"/>
                <a:ea typeface="Arial Bold"/>
                <a:cs typeface="Arial Bold"/>
                <a:sym typeface="Arial Bold"/>
              </a:rPr>
              <a:t>Giải pháp</a:t>
            </a:r>
          </a:p>
          <a:p>
            <a:pPr marL="496571" lvl="1" indent="-248285" algn="l">
              <a:lnSpc>
                <a:spcPts val="2760"/>
              </a:lnSpc>
              <a:spcBef>
                <a:spcPct val="0"/>
              </a:spcBef>
              <a:buFont typeface="Arial"/>
              <a:buChar char="•"/>
            </a:pPr>
            <a:r>
              <a:rPr lang="en-US" sz="2300">
                <a:solidFill>
                  <a:srgbClr val="000000"/>
                </a:solidFill>
                <a:latin typeface="Arial"/>
                <a:ea typeface="Arial"/>
                <a:cs typeface="Arial"/>
                <a:sym typeface="Arial"/>
              </a:rPr>
              <a:t>Cho phép tìm kiếm và khớp trên dữ liệu mã hóa, mà không cần giải mã.</a:t>
            </a:r>
          </a:p>
          <a:p>
            <a:pPr marL="496571" lvl="1" indent="-248285" algn="l">
              <a:lnSpc>
                <a:spcPts val="2760"/>
              </a:lnSpc>
              <a:spcBef>
                <a:spcPct val="0"/>
              </a:spcBef>
              <a:buFont typeface="Arial"/>
              <a:buChar char="•"/>
            </a:pPr>
            <a:r>
              <a:rPr lang="en-US" sz="2300">
                <a:solidFill>
                  <a:srgbClr val="000000"/>
                </a:solidFill>
                <a:latin typeface="Arial"/>
                <a:ea typeface="Arial"/>
                <a:cs typeface="Arial"/>
                <a:sym typeface="Arial"/>
              </a:rPr>
              <a:t>PEKS (Public-Key Encryption with Keyword Search): Đi kèm với các tin nhắn mã hóa một tập hợp các từ khóa (cũng được mã hóa), và tìm kiếm sự khớp trên các từ khóa này.</a:t>
            </a:r>
          </a:p>
        </p:txBody>
      </p:sp>
    </p:spTree>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227014" y="58380"/>
            <a:ext cx="9526586" cy="1000082"/>
          </a:xfrm>
          <a:prstGeom prst="rect">
            <a:avLst/>
          </a:prstGeom>
        </p:spPr>
        <p:txBody>
          <a:bodyPr lIns="0" tIns="0" rIns="0" bIns="0" rtlCol="0" anchor="t">
            <a:spAutoFit/>
          </a:bodyPr>
          <a:lstStyle/>
          <a:p>
            <a:pPr algn="l">
              <a:lnSpc>
                <a:spcPts val="3719"/>
              </a:lnSpc>
              <a:spcBef>
                <a:spcPct val="0"/>
              </a:spcBef>
            </a:pPr>
            <a:r>
              <a:rPr lang="en-US" sz="3099" b="1">
                <a:solidFill>
                  <a:srgbClr val="FFFF00"/>
                </a:solidFill>
                <a:latin typeface="Arial Bold"/>
                <a:ea typeface="Arial Bold"/>
                <a:cs typeface="Arial Bold"/>
                <a:sym typeface="Arial Bold"/>
              </a:rPr>
              <a:t>Mã hóa khóa công khai với tìm kiếm từ khóa (PEKS)</a:t>
            </a:r>
          </a:p>
        </p:txBody>
      </p:sp>
      <p:sp>
        <p:nvSpPr>
          <p:cNvPr id="4" name="TextBox 4"/>
          <p:cNvSpPr txBox="1"/>
          <p:nvPr/>
        </p:nvSpPr>
        <p:spPr>
          <a:xfrm>
            <a:off x="113507" y="1712310"/>
            <a:ext cx="9526586" cy="3476840"/>
          </a:xfrm>
          <a:prstGeom prst="rect">
            <a:avLst/>
          </a:prstGeom>
        </p:spPr>
        <p:txBody>
          <a:bodyPr lIns="0" tIns="0" rIns="0" bIns="0" rtlCol="0" anchor="t">
            <a:spAutoFit/>
          </a:bodyPr>
          <a:lstStyle/>
          <a:p>
            <a:pPr algn="l">
              <a:lnSpc>
                <a:spcPts val="2760"/>
              </a:lnSpc>
              <a:spcBef>
                <a:spcPct val="0"/>
              </a:spcBef>
            </a:pPr>
            <a:r>
              <a:rPr lang="en-US" sz="2300" b="1">
                <a:solidFill>
                  <a:srgbClr val="000000"/>
                </a:solidFill>
                <a:latin typeface="Arial Bold"/>
                <a:ea typeface="Arial Bold"/>
                <a:cs typeface="Arial Bold"/>
                <a:sym typeface="Arial Bold"/>
              </a:rPr>
              <a:t>Cơ bản </a:t>
            </a:r>
          </a:p>
          <a:p>
            <a:pPr marL="496572" lvl="1" indent="-248286" algn="l">
              <a:lnSpc>
                <a:spcPts val="2760"/>
              </a:lnSpc>
              <a:spcBef>
                <a:spcPct val="0"/>
              </a:spcBef>
              <a:buFont typeface="Arial"/>
              <a:buChar char="•"/>
            </a:pPr>
            <a:r>
              <a:rPr lang="en-US" sz="2300">
                <a:solidFill>
                  <a:srgbClr val="000000"/>
                </a:solidFill>
                <a:latin typeface="Arial"/>
                <a:ea typeface="Arial"/>
                <a:cs typeface="Arial"/>
                <a:sym typeface="Arial"/>
              </a:rPr>
              <a:t>Sử dụng một khóa công khai  PK , tin nhắn m và n từ khóa KW1,...,KWn ​ được lưu trữ tại một máy chủ dưới dạng tin nhắn m∗: </a:t>
            </a:r>
          </a:p>
          <a:p>
            <a:pPr algn="l">
              <a:lnSpc>
                <a:spcPts val="2760"/>
              </a:lnSpc>
              <a:spcBef>
                <a:spcPct val="0"/>
              </a:spcBef>
            </a:pPr>
            <a:endParaRPr lang="en-US" sz="2300">
              <a:solidFill>
                <a:srgbClr val="000000"/>
              </a:solidFill>
              <a:latin typeface="Arial"/>
              <a:ea typeface="Arial"/>
              <a:cs typeface="Arial"/>
              <a:sym typeface="Arial"/>
            </a:endParaRPr>
          </a:p>
          <a:p>
            <a:pPr algn="l">
              <a:lnSpc>
                <a:spcPts val="2760"/>
              </a:lnSpc>
              <a:spcBef>
                <a:spcPct val="0"/>
              </a:spcBef>
            </a:pPr>
            <a:r>
              <a:rPr lang="en-US" sz="2300">
                <a:solidFill>
                  <a:srgbClr val="000000"/>
                </a:solidFill>
                <a:latin typeface="Arial"/>
                <a:ea typeface="Arial"/>
                <a:cs typeface="Arial"/>
                <a:sym typeface="Arial"/>
              </a:rPr>
              <a:t>  m∗=[PK(m)∣PEKS(PK,KW1)∣PEKS(PK,KW2)∣⋯∣PEKS(PK,KWn)]</a:t>
            </a:r>
          </a:p>
          <a:p>
            <a:pPr algn="l">
              <a:lnSpc>
                <a:spcPts val="2760"/>
              </a:lnSpc>
              <a:spcBef>
                <a:spcPct val="0"/>
              </a:spcBef>
            </a:pPr>
            <a:r>
              <a:rPr lang="en-US" sz="2300">
                <a:solidFill>
                  <a:srgbClr val="000000"/>
                </a:solidFill>
                <a:latin typeface="Arial"/>
                <a:ea typeface="Arial"/>
                <a:cs typeface="Arial"/>
                <a:sym typeface="Arial"/>
              </a:rPr>
              <a:t> </a:t>
            </a:r>
          </a:p>
          <a:p>
            <a:pPr marL="496572" lvl="1" indent="-248286" algn="l">
              <a:lnSpc>
                <a:spcPts val="2760"/>
              </a:lnSpc>
              <a:spcBef>
                <a:spcPct val="0"/>
              </a:spcBef>
              <a:buFont typeface="Arial"/>
              <a:buChar char="•"/>
            </a:pPr>
            <a:r>
              <a:rPr lang="en-US" sz="2300">
                <a:solidFill>
                  <a:srgbClr val="000000"/>
                </a:solidFill>
                <a:latin typeface="Arial"/>
                <a:ea typeface="Arial"/>
                <a:cs typeface="Arial"/>
                <a:sym typeface="Arial"/>
              </a:rPr>
              <a:t>Một người đăng ký nhận được khóa bí mật đi kèm.</a:t>
            </a:r>
          </a:p>
          <a:p>
            <a:pPr marL="496572" lvl="1" indent="-248286" algn="l">
              <a:lnSpc>
                <a:spcPts val="2760"/>
              </a:lnSpc>
              <a:spcBef>
                <a:spcPct val="0"/>
              </a:spcBef>
              <a:buFont typeface="Arial"/>
              <a:buChar char="•"/>
            </a:pPr>
            <a:r>
              <a:rPr lang="en-US" sz="2300">
                <a:solidFill>
                  <a:srgbClr val="000000"/>
                </a:solidFill>
                <a:latin typeface="Arial"/>
                <a:ea typeface="Arial"/>
                <a:cs typeface="Arial"/>
                <a:sym typeface="Arial"/>
              </a:rPr>
              <a:t>Đối với mỗi từ khóa KWi ​, một bẫy TKWi ​​ được tạo ra: </a:t>
            </a:r>
          </a:p>
          <a:p>
            <a:pPr algn="l">
              <a:lnSpc>
                <a:spcPts val="2760"/>
              </a:lnSpc>
              <a:spcBef>
                <a:spcPct val="0"/>
              </a:spcBef>
            </a:pPr>
            <a:r>
              <a:rPr lang="en-US" sz="2300">
                <a:solidFill>
                  <a:srgbClr val="000000"/>
                </a:solidFill>
                <a:latin typeface="Arial"/>
                <a:ea typeface="Arial"/>
                <a:cs typeface="Arial"/>
                <a:sym typeface="Arial"/>
              </a:rPr>
              <a:t>         TW(m∗) sẽ trả về giá trị true nếu W∈{KW1,...,KWn} và false nếu ngược lại.</a:t>
            </a:r>
          </a:p>
        </p:txBody>
      </p:sp>
    </p:spTree>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sp>
        <p:nvSpPr>
          <p:cNvPr id="3" name="Freeform 3"/>
          <p:cNvSpPr/>
          <p:nvPr/>
        </p:nvSpPr>
        <p:spPr>
          <a:xfrm>
            <a:off x="931565" y="1571842"/>
            <a:ext cx="7890469" cy="3886056"/>
          </a:xfrm>
          <a:custGeom>
            <a:avLst/>
            <a:gdLst/>
            <a:ahLst/>
            <a:cxnLst/>
            <a:rect l="l" t="t" r="r" b="b"/>
            <a:pathLst>
              <a:path w="7890469" h="3886056">
                <a:moveTo>
                  <a:pt x="0" y="0"/>
                </a:moveTo>
                <a:lnTo>
                  <a:pt x="7890470" y="0"/>
                </a:lnTo>
                <a:lnTo>
                  <a:pt x="7890470" y="3886056"/>
                </a:lnTo>
                <a:lnTo>
                  <a:pt x="0" y="3886056"/>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227014" y="58380"/>
            <a:ext cx="9526586" cy="1000082"/>
          </a:xfrm>
          <a:prstGeom prst="rect">
            <a:avLst/>
          </a:prstGeom>
        </p:spPr>
        <p:txBody>
          <a:bodyPr lIns="0" tIns="0" rIns="0" bIns="0" rtlCol="0" anchor="t">
            <a:spAutoFit/>
          </a:bodyPr>
          <a:lstStyle/>
          <a:p>
            <a:pPr algn="l">
              <a:lnSpc>
                <a:spcPts val="3719"/>
              </a:lnSpc>
              <a:spcBef>
                <a:spcPct val="0"/>
              </a:spcBef>
            </a:pPr>
            <a:r>
              <a:rPr lang="en-US" sz="3099" b="1">
                <a:solidFill>
                  <a:srgbClr val="FFFF00"/>
                </a:solidFill>
                <a:latin typeface="Arial Bold"/>
                <a:ea typeface="Arial Bold"/>
                <a:cs typeface="Arial Bold"/>
                <a:sym typeface="Arial Bold"/>
              </a:rPr>
              <a:t>Mã hóa khóa công khai với tìm kiếm từ khóa (PEKS)</a:t>
            </a:r>
          </a:p>
        </p:txBody>
      </p:sp>
      <p:sp>
        <p:nvSpPr>
          <p:cNvPr id="5" name="TextBox 5"/>
          <p:cNvSpPr txBox="1"/>
          <p:nvPr/>
        </p:nvSpPr>
        <p:spPr>
          <a:xfrm>
            <a:off x="227014" y="5800622"/>
            <a:ext cx="9346115" cy="1076389"/>
          </a:xfrm>
          <a:prstGeom prst="rect">
            <a:avLst/>
          </a:prstGeom>
        </p:spPr>
        <p:txBody>
          <a:bodyPr lIns="0" tIns="0" rIns="0" bIns="0" rtlCol="0" anchor="t">
            <a:spAutoFit/>
          </a:bodyPr>
          <a:lstStyle/>
          <a:p>
            <a:pPr algn="l">
              <a:lnSpc>
                <a:spcPts val="2760"/>
              </a:lnSpc>
              <a:spcBef>
                <a:spcPct val="0"/>
              </a:spcBef>
            </a:pPr>
            <a:r>
              <a:rPr lang="en-US" sz="2300">
                <a:solidFill>
                  <a:srgbClr val="000000"/>
                </a:solidFill>
                <a:latin typeface="Arial"/>
                <a:ea typeface="Arial"/>
                <a:cs typeface="Arial"/>
                <a:sym typeface="Arial"/>
              </a:rPr>
              <a:t>Hình minh họa nguyên lý cơ bản của kỹ thuật PEKS (Public Key Encryption with Keyword Search) trong một hệ thống xuất bản-đăng ký bảo mật</a:t>
            </a:r>
          </a:p>
        </p:txBody>
      </p:sp>
    </p:spTree>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110659" y="284315"/>
            <a:ext cx="6521529" cy="409536"/>
          </a:xfrm>
          <a:prstGeom prst="rect">
            <a:avLst/>
          </a:prstGeom>
        </p:spPr>
        <p:txBody>
          <a:bodyPr lIns="0" tIns="0" rIns="0" bIns="0" rtlCol="0" anchor="t">
            <a:spAutoFit/>
          </a:bodyPr>
          <a:lstStyle/>
          <a:p>
            <a:pPr>
              <a:lnSpc>
                <a:spcPts val="3393"/>
              </a:lnSpc>
              <a:spcBef>
                <a:spcPct val="0"/>
              </a:spcBef>
            </a:pPr>
            <a:r>
              <a:rPr lang="en-US" sz="2827" b="1" dirty="0" err="1">
                <a:solidFill>
                  <a:srgbClr val="FFFF00"/>
                </a:solidFill>
                <a:latin typeface="Arial Bold"/>
                <a:ea typeface="Arial Bold"/>
                <a:cs typeface="Arial Bold"/>
                <a:sym typeface="Arial Bold"/>
              </a:rPr>
              <a:t>Hệ</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thống</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định</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vị</a:t>
            </a:r>
            <a:endParaRPr lang="en-US" sz="2827" b="1" dirty="0">
              <a:solidFill>
                <a:srgbClr val="FFFF00"/>
              </a:solidFill>
              <a:latin typeface="Arial Bold"/>
              <a:ea typeface="Arial Bold"/>
              <a:cs typeface="Arial Bold"/>
              <a:sym typeface="Arial Bold"/>
            </a:endParaRPr>
          </a:p>
        </p:txBody>
      </p:sp>
      <p:sp>
        <p:nvSpPr>
          <p:cNvPr id="7" name="TextBox 7"/>
          <p:cNvSpPr txBox="1"/>
          <p:nvPr/>
        </p:nvSpPr>
        <p:spPr>
          <a:xfrm>
            <a:off x="143316" y="1366562"/>
            <a:ext cx="9083040" cy="5232202"/>
          </a:xfrm>
          <a:prstGeom prst="rect">
            <a:avLst/>
          </a:prstGeom>
        </p:spPr>
        <p:txBody>
          <a:bodyPr wrap="square" lIns="0" tIns="0" rIns="0" bIns="0" rtlCol="0" anchor="t">
            <a:spAutoFit/>
          </a:bodyPr>
          <a:lstStyle/>
          <a:p>
            <a:pPr algn="just"/>
            <a:r>
              <a:rPr lang="vi-VN" sz="2000" b="1" dirty="0"/>
              <a:t>Vấn đề</a:t>
            </a:r>
          </a:p>
          <a:p>
            <a:pPr algn="just"/>
            <a:r>
              <a:rPr lang="vi-VN" sz="2000" dirty="0"/>
              <a:t>Trong các hệ thống phân tán quy mô lớn, nơi các node được phân tán trên một mạng diện rộng (WAN), chúng ta thường cần xem xét yếu tố </a:t>
            </a:r>
            <a:r>
              <a:rPr lang="vi-VN" sz="2000" b="1" dirty="0"/>
              <a:t>gần gũi hoặc khoảng cách</a:t>
            </a:r>
            <a:r>
              <a:rPr lang="vi-VN" sz="2000" dirty="0"/>
              <a:t> giữa các node. Điều này bắt đầu bằng việc xác định </a:t>
            </a:r>
            <a:r>
              <a:rPr lang="vi-VN" sz="2000" b="1" dirty="0"/>
              <a:t>vị trí tương đối của một node</a:t>
            </a:r>
            <a:r>
              <a:rPr lang="vi-VN" sz="2000" dirty="0"/>
              <a:t> trong hệ thống.</a:t>
            </a:r>
            <a:endParaRPr lang="en-US" sz="2000" dirty="0"/>
          </a:p>
          <a:p>
            <a:pPr algn="just"/>
            <a:endParaRPr lang="en-US" sz="2000" dirty="0"/>
          </a:p>
          <a:p>
            <a:pPr algn="just"/>
            <a:endParaRPr lang="vi-VN" sz="2000" dirty="0"/>
          </a:p>
          <a:p>
            <a:pPr algn="just"/>
            <a:r>
              <a:rPr lang="vi-VN" sz="2000" b="1" dirty="0"/>
              <a:t>Tại sao xác định vị trí node lại quan trọng?</a:t>
            </a:r>
          </a:p>
          <a:p>
            <a:pPr algn="just">
              <a:buFont typeface="Arial" panose="020B0604020202020204" pitchFamily="34" charset="0"/>
              <a:buChar char="•"/>
            </a:pPr>
            <a:r>
              <a:rPr lang="vi-VN" sz="2000" b="1" dirty="0"/>
              <a:t>Tối ưu hóa định tuyến và truyền thông</a:t>
            </a:r>
            <a:r>
              <a:rPr lang="vi-VN" sz="2000" dirty="0"/>
              <a:t>: Giảm độ trễ bằng cách chọn các node gần nhau hơn để trao đổi dữ liệu.</a:t>
            </a:r>
          </a:p>
          <a:p>
            <a:pPr algn="just">
              <a:buFont typeface="Arial" panose="020B0604020202020204" pitchFamily="34" charset="0"/>
              <a:buChar char="•"/>
            </a:pPr>
            <a:r>
              <a:rPr lang="vi-VN" sz="2000" b="1" dirty="0"/>
              <a:t>Cân bằng tải hiệu quả hơn</a:t>
            </a:r>
            <a:r>
              <a:rPr lang="vi-VN" sz="2000" dirty="0"/>
              <a:t>: Chuyển hướng các yêu cầu đến các node gần nhất để giảm tải trên các kết nối xa.</a:t>
            </a:r>
          </a:p>
          <a:p>
            <a:pPr algn="just">
              <a:buFont typeface="Arial" panose="020B0604020202020204" pitchFamily="34" charset="0"/>
              <a:buChar char="•"/>
            </a:pPr>
            <a:r>
              <a:rPr lang="vi-VN" sz="2000" b="1" dirty="0"/>
              <a:t>Cải thiện hiệu suất hệ thống</a:t>
            </a:r>
            <a:r>
              <a:rPr lang="vi-VN" sz="2000" dirty="0"/>
              <a:t>: Trong các dịch vụ như CDN (Content Delivery Network) hoặc điện toán biên (Edge Computing), việc chọn server gần nhất giúp cải thiện tốc độ phản hồi.</a:t>
            </a:r>
          </a:p>
          <a:p>
            <a:pPr algn="just">
              <a:buFont typeface="Arial" panose="020B0604020202020204" pitchFamily="34" charset="0"/>
              <a:buChar char="•"/>
            </a:pPr>
            <a:r>
              <a:rPr lang="vi-VN" sz="2000" b="1" dirty="0"/>
              <a:t>Quản lý tài nguyên thông minh</a:t>
            </a:r>
            <a:r>
              <a:rPr lang="vi-VN" sz="2000" dirty="0"/>
              <a:t>: Hỗ trợ trong việc lập kế hoạch sao lưu, di chuyển dữ liệu, và tối ưu hóa cơ sở hạ tầng đám mây.</a:t>
            </a:r>
          </a:p>
        </p:txBody>
      </p:sp>
    </p:spTree>
    <p:extLst>
      <p:ext uri="{BB962C8B-B14F-4D97-AF65-F5344CB8AC3E}">
        <p14:creationId xmlns:p14="http://schemas.microsoft.com/office/powerpoint/2010/main" val="1573213129"/>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110659" y="284315"/>
            <a:ext cx="6521529" cy="409536"/>
          </a:xfrm>
          <a:prstGeom prst="rect">
            <a:avLst/>
          </a:prstGeom>
        </p:spPr>
        <p:txBody>
          <a:bodyPr lIns="0" tIns="0" rIns="0" bIns="0" rtlCol="0" anchor="t">
            <a:spAutoFit/>
          </a:bodyPr>
          <a:lstStyle/>
          <a:p>
            <a:pPr>
              <a:lnSpc>
                <a:spcPts val="3393"/>
              </a:lnSpc>
              <a:spcBef>
                <a:spcPct val="0"/>
              </a:spcBef>
            </a:pPr>
            <a:r>
              <a:rPr lang="en-US" sz="2827" b="1" dirty="0" err="1">
                <a:solidFill>
                  <a:srgbClr val="FFFF00"/>
                </a:solidFill>
                <a:latin typeface="Arial Bold"/>
                <a:ea typeface="Arial Bold"/>
                <a:cs typeface="Arial Bold"/>
                <a:sym typeface="Arial Bold"/>
              </a:rPr>
              <a:t>Thuật</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toán</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định</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vị</a:t>
            </a:r>
            <a:endParaRPr lang="en-US" sz="2827" b="1" dirty="0">
              <a:solidFill>
                <a:srgbClr val="FFFF00"/>
              </a:solidFill>
              <a:latin typeface="Arial Bold"/>
              <a:ea typeface="Arial Bold"/>
              <a:cs typeface="Arial Bold"/>
              <a:sym typeface="Arial Bold"/>
            </a:endParaRPr>
          </a:p>
        </p:txBody>
      </p:sp>
      <p:sp>
        <p:nvSpPr>
          <p:cNvPr id="7" name="TextBox 7"/>
          <p:cNvSpPr txBox="1"/>
          <p:nvPr/>
        </p:nvSpPr>
        <p:spPr>
          <a:xfrm>
            <a:off x="182880" y="1490622"/>
            <a:ext cx="7665720" cy="923330"/>
          </a:xfrm>
          <a:prstGeom prst="rect">
            <a:avLst/>
          </a:prstGeom>
        </p:spPr>
        <p:txBody>
          <a:bodyPr wrap="square" lIns="0" tIns="0" rIns="0" bIns="0" rtlCol="0" anchor="t">
            <a:spAutoFit/>
          </a:bodyPr>
          <a:lstStyle/>
          <a:p>
            <a:r>
              <a:rPr lang="en-US" sz="2000" b="1" dirty="0"/>
              <a:t>Quan </a:t>
            </a:r>
            <a:r>
              <a:rPr lang="en-US" sz="2000" b="1" dirty="0" err="1"/>
              <a:t>sát</a:t>
            </a:r>
            <a:endParaRPr lang="en-US" sz="2000" b="1" dirty="0"/>
          </a:p>
          <a:p>
            <a:r>
              <a:rPr lang="en-US" sz="2000" dirty="0" err="1"/>
              <a:t>Một</a:t>
            </a:r>
            <a:r>
              <a:rPr lang="en-US" sz="2000" dirty="0"/>
              <a:t> node </a:t>
            </a:r>
            <a:r>
              <a:rPr lang="en-US" sz="2000" dirty="0" err="1"/>
              <a:t>Pcần</a:t>
            </a:r>
            <a:r>
              <a:rPr lang="en-US" sz="2000" dirty="0"/>
              <a:t> </a:t>
            </a:r>
            <a:r>
              <a:rPr lang="en-US" sz="2000" b="1" dirty="0"/>
              <a:t>d+1 landmarks</a:t>
            </a:r>
            <a:r>
              <a:rPr lang="en-US" sz="2000" dirty="0"/>
              <a:t> (</a:t>
            </a:r>
            <a:r>
              <a:rPr lang="en-US" sz="2000" dirty="0" err="1"/>
              <a:t>điểm</a:t>
            </a:r>
            <a:r>
              <a:rPr lang="en-US" sz="2000" dirty="0"/>
              <a:t> </a:t>
            </a:r>
            <a:r>
              <a:rPr lang="en-US" sz="2000" dirty="0" err="1"/>
              <a:t>mốc</a:t>
            </a:r>
            <a:r>
              <a:rPr lang="en-US" sz="2000" dirty="0"/>
              <a:t>) </a:t>
            </a:r>
            <a:r>
              <a:rPr lang="en-US" sz="2000" dirty="0" err="1"/>
              <a:t>để</a:t>
            </a:r>
            <a:r>
              <a:rPr lang="en-US" sz="2000" dirty="0"/>
              <a:t> </a:t>
            </a:r>
            <a:r>
              <a:rPr lang="en-US" sz="2000" dirty="0" err="1"/>
              <a:t>tính</a:t>
            </a:r>
            <a:r>
              <a:rPr lang="en-US" sz="2000" dirty="0"/>
              <a:t> </a:t>
            </a:r>
            <a:r>
              <a:rPr lang="en-US" sz="2000" dirty="0" err="1"/>
              <a:t>toán</a:t>
            </a:r>
            <a:r>
              <a:rPr lang="en-US" sz="2000" dirty="0"/>
              <a:t> </a:t>
            </a:r>
            <a:r>
              <a:rPr lang="en-US" sz="2000" dirty="0" err="1"/>
              <a:t>vị</a:t>
            </a:r>
            <a:r>
              <a:rPr lang="en-US" sz="2000" dirty="0"/>
              <a:t> </a:t>
            </a:r>
            <a:r>
              <a:rPr lang="en-US" sz="2000" dirty="0" err="1"/>
              <a:t>trí</a:t>
            </a:r>
            <a:r>
              <a:rPr lang="en-US" sz="2000" dirty="0"/>
              <a:t> </a:t>
            </a:r>
            <a:r>
              <a:rPr lang="en-US" sz="2000" dirty="0" err="1"/>
              <a:t>của</a:t>
            </a:r>
            <a:r>
              <a:rPr lang="en-US" sz="2000" dirty="0"/>
              <a:t> </a:t>
            </a:r>
            <a:r>
              <a:rPr lang="en-US" sz="2000" dirty="0" err="1"/>
              <a:t>chính</a:t>
            </a:r>
            <a:r>
              <a:rPr lang="en-US" sz="2000" dirty="0"/>
              <a:t> </a:t>
            </a:r>
            <a:r>
              <a:rPr lang="en-US" sz="2000" dirty="0" err="1"/>
              <a:t>nó</a:t>
            </a:r>
            <a:r>
              <a:rPr lang="en-US" sz="2000" dirty="0"/>
              <a:t> </a:t>
            </a:r>
            <a:r>
              <a:rPr lang="en-US" sz="2000" dirty="0" err="1"/>
              <a:t>trong</a:t>
            </a:r>
            <a:r>
              <a:rPr lang="en-US" sz="2000" dirty="0"/>
              <a:t> </a:t>
            </a:r>
            <a:r>
              <a:rPr lang="en-US" sz="2000" dirty="0" err="1"/>
              <a:t>một</a:t>
            </a:r>
            <a:r>
              <a:rPr lang="en-US" sz="2000" dirty="0"/>
              <a:t> </a:t>
            </a:r>
            <a:r>
              <a:rPr lang="en-US" sz="2000" b="1" dirty="0" err="1"/>
              <a:t>không</a:t>
            </a:r>
            <a:r>
              <a:rPr lang="en-US" sz="2000" b="1" dirty="0"/>
              <a:t> </a:t>
            </a:r>
            <a:r>
              <a:rPr lang="en-US" sz="2000" b="1" dirty="0" err="1"/>
              <a:t>gian</a:t>
            </a:r>
            <a:r>
              <a:rPr lang="en-US" sz="2000" b="1" dirty="0"/>
              <a:t> d-</a:t>
            </a:r>
            <a:r>
              <a:rPr lang="en-US" sz="2000" b="1" dirty="0" err="1"/>
              <a:t>chiều</a:t>
            </a:r>
            <a:r>
              <a:rPr lang="en-US" sz="2000" dirty="0"/>
              <a:t>.</a:t>
            </a:r>
          </a:p>
        </p:txBody>
      </p:sp>
      <p:pic>
        <p:nvPicPr>
          <p:cNvPr id="8" name="object 7">
            <a:extLst>
              <a:ext uri="{FF2B5EF4-FFF2-40B4-BE49-F238E27FC236}">
                <a16:creationId xmlns:a16="http://schemas.microsoft.com/office/drawing/2014/main" id="{F8118559-6AEA-4BBF-8867-8417357FAFB1}"/>
              </a:ext>
            </a:extLst>
          </p:cNvPr>
          <p:cNvPicPr/>
          <p:nvPr/>
        </p:nvPicPr>
        <p:blipFill>
          <a:blip r:embed="rId4" cstate="print"/>
          <a:stretch>
            <a:fillRect/>
          </a:stretch>
        </p:blipFill>
        <p:spPr>
          <a:xfrm>
            <a:off x="609600" y="3048000"/>
            <a:ext cx="4090744" cy="3269548"/>
          </a:xfrm>
          <a:prstGeom prst="rect">
            <a:avLst/>
          </a:prstGeom>
        </p:spPr>
      </p:pic>
      <p:sp>
        <p:nvSpPr>
          <p:cNvPr id="9" name="TextBox 8">
            <a:extLst>
              <a:ext uri="{FF2B5EF4-FFF2-40B4-BE49-F238E27FC236}">
                <a16:creationId xmlns:a16="http://schemas.microsoft.com/office/drawing/2014/main" id="{D9500D51-F335-4F84-9578-0D8E21DC1050}"/>
              </a:ext>
            </a:extLst>
          </p:cNvPr>
          <p:cNvSpPr txBox="1"/>
          <p:nvPr/>
        </p:nvSpPr>
        <p:spPr>
          <a:xfrm>
            <a:off x="4876800" y="2704245"/>
            <a:ext cx="4749111" cy="1200329"/>
          </a:xfrm>
          <a:prstGeom prst="rect">
            <a:avLst/>
          </a:prstGeom>
          <a:noFill/>
        </p:spPr>
        <p:txBody>
          <a:bodyPr wrap="square" rtlCol="0">
            <a:spAutoFit/>
          </a:bodyPr>
          <a:lstStyle/>
          <a:p>
            <a:r>
              <a:rPr lang="vi-VN" b="1" dirty="0"/>
              <a:t>Giải pháp</a:t>
            </a:r>
          </a:p>
          <a:p>
            <a:r>
              <a:rPr lang="vi-VN" dirty="0"/>
              <a:t>Node P cần giải </a:t>
            </a:r>
            <a:r>
              <a:rPr lang="vi-VN" b="1" dirty="0"/>
              <a:t>ba phương trình với hai ẩn số</a:t>
            </a:r>
            <a:r>
              <a:rPr lang="vi-VN" dirty="0"/>
              <a:t> (xP,yP​):</a:t>
            </a:r>
          </a:p>
          <a:p>
            <a:endParaRPr lang="en-US" dirty="0"/>
          </a:p>
        </p:txBody>
      </p:sp>
      <p:pic>
        <p:nvPicPr>
          <p:cNvPr id="11" name="Picture 10">
            <a:extLst>
              <a:ext uri="{FF2B5EF4-FFF2-40B4-BE49-F238E27FC236}">
                <a16:creationId xmlns:a16="http://schemas.microsoft.com/office/drawing/2014/main" id="{D28621B4-2212-4487-BF9F-CD85A48C47DA}"/>
              </a:ext>
            </a:extLst>
          </p:cNvPr>
          <p:cNvPicPr>
            <a:picLocks noChangeAspect="1"/>
          </p:cNvPicPr>
          <p:nvPr/>
        </p:nvPicPr>
        <p:blipFill>
          <a:blip r:embed="rId5"/>
          <a:stretch>
            <a:fillRect/>
          </a:stretch>
        </p:blipFill>
        <p:spPr>
          <a:xfrm>
            <a:off x="5033664" y="3876271"/>
            <a:ext cx="3863781" cy="923330"/>
          </a:xfrm>
          <a:prstGeom prst="rect">
            <a:avLst/>
          </a:prstGeom>
        </p:spPr>
      </p:pic>
    </p:spTree>
    <p:extLst>
      <p:ext uri="{BB962C8B-B14F-4D97-AF65-F5344CB8AC3E}">
        <p14:creationId xmlns:p14="http://schemas.microsoft.com/office/powerpoint/2010/main" val="1475264414"/>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110659" y="284315"/>
            <a:ext cx="6521529" cy="409536"/>
          </a:xfrm>
          <a:prstGeom prst="rect">
            <a:avLst/>
          </a:prstGeom>
        </p:spPr>
        <p:txBody>
          <a:bodyPr lIns="0" tIns="0" rIns="0" bIns="0" rtlCol="0" anchor="t">
            <a:spAutoFit/>
          </a:bodyPr>
          <a:lstStyle/>
          <a:p>
            <a:pPr>
              <a:lnSpc>
                <a:spcPts val="3393"/>
              </a:lnSpc>
              <a:spcBef>
                <a:spcPct val="0"/>
              </a:spcBef>
            </a:pPr>
            <a:r>
              <a:rPr lang="en-US" sz="2827" b="1" dirty="0" err="1">
                <a:solidFill>
                  <a:srgbClr val="FFFF00"/>
                </a:solidFill>
                <a:latin typeface="Arial Bold"/>
                <a:ea typeface="Arial Bold"/>
                <a:cs typeface="Arial Bold"/>
                <a:sym typeface="Arial Bold"/>
              </a:rPr>
              <a:t>Hệ</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thống</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định</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vị</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toàn</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cầu</a:t>
            </a:r>
            <a:endParaRPr lang="en-US" sz="2827" b="1" dirty="0">
              <a:solidFill>
                <a:srgbClr val="FFFF00"/>
              </a:solidFill>
              <a:latin typeface="Arial Bold"/>
              <a:ea typeface="Arial Bold"/>
              <a:cs typeface="Arial Bold"/>
              <a:sym typeface="Arial Bold"/>
            </a:endParaRPr>
          </a:p>
        </p:txBody>
      </p:sp>
      <p:sp>
        <p:nvSpPr>
          <p:cNvPr id="7" name="TextBox 7"/>
          <p:cNvSpPr txBox="1"/>
          <p:nvPr/>
        </p:nvSpPr>
        <p:spPr>
          <a:xfrm>
            <a:off x="45906" y="1219200"/>
            <a:ext cx="8961120" cy="1231106"/>
          </a:xfrm>
          <a:prstGeom prst="rect">
            <a:avLst/>
          </a:prstGeom>
        </p:spPr>
        <p:txBody>
          <a:bodyPr wrap="square" lIns="0" tIns="0" rIns="0" bIns="0" rtlCol="0" anchor="t">
            <a:spAutoFit/>
          </a:bodyPr>
          <a:lstStyle/>
          <a:p>
            <a:r>
              <a:rPr lang="vi-VN" sz="2000" b="1" dirty="0"/>
              <a:t>Giả định</a:t>
            </a:r>
          </a:p>
          <a:p>
            <a:pPr>
              <a:buFont typeface="Arial" panose="020B0604020202020204" pitchFamily="34" charset="0"/>
              <a:buChar char="•"/>
            </a:pPr>
            <a:r>
              <a:rPr lang="vi-VN" sz="2000" dirty="0"/>
              <a:t>Đồng hồ của các vệ tinh </a:t>
            </a:r>
            <a:r>
              <a:rPr lang="vi-VN" sz="2000" b="1" dirty="0"/>
              <a:t>chính xác</a:t>
            </a:r>
            <a:r>
              <a:rPr lang="vi-VN" sz="2000" dirty="0"/>
              <a:t> và được </a:t>
            </a:r>
            <a:r>
              <a:rPr lang="vi-VN" sz="2000" b="1" dirty="0"/>
              <a:t>đồng bộ hóa</a:t>
            </a:r>
            <a:r>
              <a:rPr lang="vi-VN" sz="2000" dirty="0"/>
              <a:t>.</a:t>
            </a:r>
          </a:p>
          <a:p>
            <a:pPr>
              <a:buFont typeface="Arial" panose="020B0604020202020204" pitchFamily="34" charset="0"/>
              <a:buChar char="•"/>
            </a:pPr>
            <a:r>
              <a:rPr lang="vi-VN" sz="2000" dirty="0"/>
              <a:t>Mất một khoảng thời gian để tín hiệu từ vệ tinh đến thiết bị thu.</a:t>
            </a:r>
          </a:p>
          <a:p>
            <a:pPr>
              <a:buFont typeface="Arial" panose="020B0604020202020204" pitchFamily="34" charset="0"/>
              <a:buChar char="•"/>
            </a:pPr>
            <a:r>
              <a:rPr lang="vi-VN" sz="2000" dirty="0"/>
              <a:t>Đồng hồ của thiết bị thu </a:t>
            </a:r>
            <a:r>
              <a:rPr lang="vi-VN" sz="2000" b="1" dirty="0"/>
              <a:t>không đồng bộ</a:t>
            </a:r>
            <a:r>
              <a:rPr lang="vi-VN" sz="2000" dirty="0"/>
              <a:t> với đồng hồ của vệ tinh</a:t>
            </a:r>
          </a:p>
        </p:txBody>
      </p:sp>
      <p:pic>
        <p:nvPicPr>
          <p:cNvPr id="11" name="Picture 10">
            <a:extLst>
              <a:ext uri="{FF2B5EF4-FFF2-40B4-BE49-F238E27FC236}">
                <a16:creationId xmlns:a16="http://schemas.microsoft.com/office/drawing/2014/main" id="{46EC861A-726F-4F39-8A77-D06CC1D5D18A}"/>
              </a:ext>
            </a:extLst>
          </p:cNvPr>
          <p:cNvPicPr>
            <a:picLocks noChangeAspect="1"/>
          </p:cNvPicPr>
          <p:nvPr/>
        </p:nvPicPr>
        <p:blipFill>
          <a:blip r:embed="rId4"/>
          <a:stretch>
            <a:fillRect/>
          </a:stretch>
        </p:blipFill>
        <p:spPr>
          <a:xfrm>
            <a:off x="533400" y="2510745"/>
            <a:ext cx="8334475" cy="1231106"/>
          </a:xfrm>
          <a:prstGeom prst="rect">
            <a:avLst/>
          </a:prstGeom>
        </p:spPr>
      </p:pic>
      <p:pic>
        <p:nvPicPr>
          <p:cNvPr id="13" name="Picture 12">
            <a:extLst>
              <a:ext uri="{FF2B5EF4-FFF2-40B4-BE49-F238E27FC236}">
                <a16:creationId xmlns:a16="http://schemas.microsoft.com/office/drawing/2014/main" id="{62A35BA4-5363-4932-B395-8F793468F8A7}"/>
              </a:ext>
            </a:extLst>
          </p:cNvPr>
          <p:cNvPicPr>
            <a:picLocks noChangeAspect="1"/>
          </p:cNvPicPr>
          <p:nvPr/>
        </p:nvPicPr>
        <p:blipFill>
          <a:blip r:embed="rId5"/>
          <a:stretch>
            <a:fillRect/>
          </a:stretch>
        </p:blipFill>
        <p:spPr>
          <a:xfrm>
            <a:off x="1082377" y="3829768"/>
            <a:ext cx="7236520" cy="2343768"/>
          </a:xfrm>
          <a:prstGeom prst="rect">
            <a:avLst/>
          </a:prstGeom>
        </p:spPr>
      </p:pic>
      <p:pic>
        <p:nvPicPr>
          <p:cNvPr id="15" name="Picture 14">
            <a:extLst>
              <a:ext uri="{FF2B5EF4-FFF2-40B4-BE49-F238E27FC236}">
                <a16:creationId xmlns:a16="http://schemas.microsoft.com/office/drawing/2014/main" id="{63FCD7DA-B541-4CDA-BD12-1C2205E7201D}"/>
              </a:ext>
            </a:extLst>
          </p:cNvPr>
          <p:cNvPicPr>
            <a:picLocks noChangeAspect="1"/>
          </p:cNvPicPr>
          <p:nvPr/>
        </p:nvPicPr>
        <p:blipFill>
          <a:blip r:embed="rId6"/>
          <a:stretch>
            <a:fillRect/>
          </a:stretch>
        </p:blipFill>
        <p:spPr>
          <a:xfrm>
            <a:off x="444060" y="6439750"/>
            <a:ext cx="8865479" cy="389466"/>
          </a:xfrm>
          <a:prstGeom prst="rect">
            <a:avLst/>
          </a:prstGeom>
        </p:spPr>
      </p:pic>
    </p:spTree>
    <p:extLst>
      <p:ext uri="{BB962C8B-B14F-4D97-AF65-F5344CB8AC3E}">
        <p14:creationId xmlns:p14="http://schemas.microsoft.com/office/powerpoint/2010/main" val="749765982"/>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4511"/>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110659" y="284315"/>
            <a:ext cx="6521529" cy="409536"/>
          </a:xfrm>
          <a:prstGeom prst="rect">
            <a:avLst/>
          </a:prstGeom>
        </p:spPr>
        <p:txBody>
          <a:bodyPr lIns="0" tIns="0" rIns="0" bIns="0" rtlCol="0" anchor="t">
            <a:spAutoFit/>
          </a:bodyPr>
          <a:lstStyle/>
          <a:p>
            <a:pPr>
              <a:lnSpc>
                <a:spcPts val="3393"/>
              </a:lnSpc>
              <a:spcBef>
                <a:spcPct val="0"/>
              </a:spcBef>
            </a:pPr>
            <a:r>
              <a:rPr lang="en-US" sz="2827" b="1" dirty="0" err="1">
                <a:solidFill>
                  <a:srgbClr val="FFFF00"/>
                </a:solidFill>
                <a:latin typeface="Arial Bold"/>
                <a:ea typeface="Arial Bold"/>
                <a:cs typeface="Arial Bold"/>
                <a:sym typeface="Arial Bold"/>
              </a:rPr>
              <a:t>Dịch</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vụ</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định</a:t>
            </a:r>
            <a:r>
              <a:rPr lang="en-US" sz="2827" b="1" dirty="0">
                <a:solidFill>
                  <a:srgbClr val="FFFF00"/>
                </a:solidFill>
                <a:latin typeface="Arial Bold"/>
                <a:ea typeface="Arial Bold"/>
                <a:cs typeface="Arial Bold"/>
                <a:sym typeface="Arial Bold"/>
              </a:rPr>
              <a:t> vi </a:t>
            </a:r>
            <a:r>
              <a:rPr lang="en-US" sz="2827" b="1" dirty="0" err="1">
                <a:solidFill>
                  <a:srgbClr val="FFFF00"/>
                </a:solidFill>
                <a:latin typeface="Arial Bold"/>
                <a:ea typeface="Arial Bold"/>
                <a:cs typeface="Arial Bold"/>
                <a:sym typeface="Arial Bold"/>
              </a:rPr>
              <a:t>bằng</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Wifi</a:t>
            </a:r>
            <a:endParaRPr lang="en-US" sz="2827" b="1" dirty="0">
              <a:solidFill>
                <a:srgbClr val="FFFF00"/>
              </a:solidFill>
              <a:latin typeface="Arial Bold"/>
              <a:ea typeface="Arial Bold"/>
              <a:cs typeface="Arial Bold"/>
              <a:sym typeface="Arial Bold"/>
            </a:endParaRPr>
          </a:p>
        </p:txBody>
      </p:sp>
      <p:sp>
        <p:nvSpPr>
          <p:cNvPr id="7" name="TextBox 7"/>
          <p:cNvSpPr txBox="1"/>
          <p:nvPr/>
        </p:nvSpPr>
        <p:spPr>
          <a:xfrm>
            <a:off x="82356" y="1219200"/>
            <a:ext cx="9570720" cy="1785104"/>
          </a:xfrm>
          <a:prstGeom prst="rect">
            <a:avLst/>
          </a:prstGeom>
        </p:spPr>
        <p:txBody>
          <a:bodyPr lIns="0" tIns="0" rIns="0" bIns="0" rtlCol="0" anchor="t">
            <a:spAutoFit/>
          </a:bodyPr>
          <a:lstStyle/>
          <a:p>
            <a:r>
              <a:rPr lang="vi-VN" sz="1600" b="1" dirty="0"/>
              <a:t>Ý tưởng cơ bản</a:t>
            </a:r>
          </a:p>
          <a:p>
            <a:pPr>
              <a:buFont typeface="Arial" panose="020B0604020202020204" pitchFamily="34" charset="0"/>
              <a:buChar char="•"/>
            </a:pPr>
            <a:r>
              <a:rPr lang="vi-VN" sz="1600" b="1" dirty="0"/>
              <a:t>Giả sử</a:t>
            </a:r>
            <a:r>
              <a:rPr lang="vi-VN" sz="1600" dirty="0"/>
              <a:t> chúng ta có một </a:t>
            </a:r>
            <a:r>
              <a:rPr lang="vi-VN" sz="1600" b="1" dirty="0"/>
              <a:t>cơ sở dữ liệu</a:t>
            </a:r>
            <a:r>
              <a:rPr lang="vi-VN" sz="1600" dirty="0"/>
              <a:t> chứa các điểm truy cập (</a:t>
            </a:r>
            <a:r>
              <a:rPr lang="vi-VN" sz="1600" b="1" dirty="0"/>
              <a:t>Access Points - APs</a:t>
            </a:r>
            <a:r>
              <a:rPr lang="vi-VN" sz="1600" dirty="0"/>
              <a:t>) với tọa độ đã biết.</a:t>
            </a:r>
          </a:p>
          <a:p>
            <a:pPr>
              <a:buFont typeface="Arial" panose="020B0604020202020204" pitchFamily="34" charset="0"/>
              <a:buChar char="•"/>
            </a:pPr>
            <a:r>
              <a:rPr lang="vi-VN" sz="1600" b="1" dirty="0"/>
              <a:t>Giả sử</a:t>
            </a:r>
            <a:r>
              <a:rPr lang="vi-VN" sz="1600" dirty="0"/>
              <a:t> chúng ta có thể </a:t>
            </a:r>
            <a:r>
              <a:rPr lang="vi-VN" sz="1600" b="1" dirty="0"/>
              <a:t>ước lượng khoảng cách</a:t>
            </a:r>
            <a:r>
              <a:rPr lang="vi-VN" sz="1600" dirty="0"/>
              <a:t> đến một AP.</a:t>
            </a:r>
          </a:p>
          <a:p>
            <a:pPr>
              <a:buFont typeface="Arial" panose="020B0604020202020204" pitchFamily="34" charset="0"/>
              <a:buChar char="•"/>
            </a:pPr>
            <a:r>
              <a:rPr lang="vi-VN" sz="1600" dirty="0"/>
              <a:t>Khi phát hiện được </a:t>
            </a:r>
            <a:r>
              <a:rPr lang="vi-VN" sz="1600" b="1" dirty="0"/>
              <a:t>3 APs</a:t>
            </a:r>
            <a:r>
              <a:rPr lang="vi-VN" sz="1600" dirty="0"/>
              <a:t>, ta có thể </a:t>
            </a:r>
            <a:r>
              <a:rPr lang="vi-VN" sz="1600" b="1" dirty="0"/>
              <a:t>tính toán vị trí</a:t>
            </a:r>
            <a:r>
              <a:rPr lang="vi-VN" sz="1600" dirty="0"/>
              <a:t> của thiết bị</a:t>
            </a:r>
            <a:r>
              <a:rPr lang="en-US" sz="1600" dirty="0"/>
              <a:t>.</a:t>
            </a:r>
          </a:p>
          <a:p>
            <a:pPr>
              <a:buFont typeface="Arial" panose="020B0604020202020204" pitchFamily="34" charset="0"/>
              <a:buChar char="•"/>
            </a:pPr>
            <a:endParaRPr lang="en-US" sz="1600" dirty="0"/>
          </a:p>
          <a:p>
            <a:r>
              <a:rPr lang="en-US" sz="2000" dirty="0"/>
              <a:t>War Driving: </a:t>
            </a:r>
            <a:r>
              <a:rPr lang="en-US" sz="2000" dirty="0" err="1"/>
              <a:t>Xác</a:t>
            </a:r>
            <a:r>
              <a:rPr lang="en-US" sz="2000" dirty="0"/>
              <a:t> </a:t>
            </a:r>
            <a:r>
              <a:rPr lang="en-US" sz="2000" dirty="0" err="1"/>
              <a:t>định</a:t>
            </a:r>
            <a:r>
              <a:rPr lang="en-US" sz="2000" dirty="0"/>
              <a:t> </a:t>
            </a:r>
            <a:r>
              <a:rPr lang="en-US" sz="2000" dirty="0" err="1"/>
              <a:t>vị</a:t>
            </a:r>
            <a:r>
              <a:rPr lang="en-US" sz="2000" dirty="0"/>
              <a:t> </a:t>
            </a:r>
            <a:r>
              <a:rPr lang="en-US" sz="2000" dirty="0" err="1"/>
              <a:t>trí</a:t>
            </a:r>
            <a:r>
              <a:rPr lang="en-US" sz="2000" dirty="0"/>
              <a:t> </a:t>
            </a:r>
            <a:r>
              <a:rPr lang="en-US" sz="2000" dirty="0" err="1"/>
              <a:t>các</a:t>
            </a:r>
            <a:r>
              <a:rPr lang="en-US" sz="2000" dirty="0"/>
              <a:t> </a:t>
            </a:r>
            <a:r>
              <a:rPr lang="en-US" sz="2000" dirty="0" err="1"/>
              <a:t>điểm</a:t>
            </a:r>
            <a:r>
              <a:rPr lang="en-US" sz="2000" dirty="0"/>
              <a:t> </a:t>
            </a:r>
            <a:r>
              <a:rPr lang="en-US" sz="2000" dirty="0" err="1"/>
              <a:t>truy</a:t>
            </a:r>
            <a:r>
              <a:rPr lang="en-US" sz="2000" dirty="0"/>
              <a:t> </a:t>
            </a:r>
            <a:r>
              <a:rPr lang="en-US" sz="2000" dirty="0" err="1"/>
              <a:t>cập</a:t>
            </a:r>
            <a:endParaRPr lang="en-US" sz="2000" dirty="0"/>
          </a:p>
        </p:txBody>
      </p:sp>
      <p:pic>
        <p:nvPicPr>
          <p:cNvPr id="9" name="Picture 8">
            <a:extLst>
              <a:ext uri="{FF2B5EF4-FFF2-40B4-BE49-F238E27FC236}">
                <a16:creationId xmlns:a16="http://schemas.microsoft.com/office/drawing/2014/main" id="{6001A81C-DD65-4543-9BCB-7A6E80C70771}"/>
              </a:ext>
            </a:extLst>
          </p:cNvPr>
          <p:cNvPicPr>
            <a:picLocks noChangeAspect="1"/>
          </p:cNvPicPr>
          <p:nvPr/>
        </p:nvPicPr>
        <p:blipFill>
          <a:blip r:embed="rId4"/>
          <a:stretch>
            <a:fillRect/>
          </a:stretch>
        </p:blipFill>
        <p:spPr>
          <a:xfrm>
            <a:off x="0" y="3004304"/>
            <a:ext cx="9183471" cy="2762338"/>
          </a:xfrm>
          <a:prstGeom prst="rect">
            <a:avLst/>
          </a:prstGeom>
        </p:spPr>
      </p:pic>
      <p:sp>
        <p:nvSpPr>
          <p:cNvPr id="10" name="TextBox 9">
            <a:extLst>
              <a:ext uri="{FF2B5EF4-FFF2-40B4-BE49-F238E27FC236}">
                <a16:creationId xmlns:a16="http://schemas.microsoft.com/office/drawing/2014/main" id="{A26CBEF7-64C8-41D7-A25A-A3B312250078}"/>
              </a:ext>
            </a:extLst>
          </p:cNvPr>
          <p:cNvSpPr txBox="1"/>
          <p:nvPr/>
        </p:nvSpPr>
        <p:spPr>
          <a:xfrm>
            <a:off x="40384" y="5795001"/>
            <a:ext cx="6930102" cy="1477328"/>
          </a:xfrm>
          <a:prstGeom prst="rect">
            <a:avLst/>
          </a:prstGeom>
          <a:noFill/>
        </p:spPr>
        <p:txBody>
          <a:bodyPr wrap="none" rtlCol="0">
            <a:spAutoFit/>
          </a:bodyPr>
          <a:lstStyle/>
          <a:p>
            <a:r>
              <a:rPr lang="vi-VN" b="1" dirty="0"/>
              <a:t>Các vấn đề gặp phải</a:t>
            </a:r>
          </a:p>
          <a:p>
            <a:pPr>
              <a:buFont typeface="+mj-lt"/>
              <a:buAutoNum type="arabicPeriod"/>
            </a:pPr>
            <a:r>
              <a:rPr lang="vi-VN" dirty="0"/>
              <a:t>Độ chính xác hạn chế của mỗi điểm GPS </a:t>
            </a:r>
            <a:endParaRPr lang="en-US" dirty="0"/>
          </a:p>
          <a:p>
            <a:pPr>
              <a:buFont typeface="+mj-lt"/>
              <a:buAutoNum type="arabicPeriod"/>
            </a:pPr>
            <a:r>
              <a:rPr lang="vi-VN" dirty="0"/>
              <a:t>Phạm vi truyền tín hiệu của điểm truy cập (AP) không đồng nhất</a:t>
            </a:r>
          </a:p>
          <a:p>
            <a:pPr>
              <a:buFont typeface="+mj-lt"/>
              <a:buAutoNum type="arabicPeriod"/>
            </a:pPr>
            <a:r>
              <a:rPr lang="vi-VN" dirty="0"/>
              <a:t>Số lượng điểm phát hiện được (NNN) có thể quá ít</a:t>
            </a:r>
          </a:p>
          <a:p>
            <a:endParaRPr lang="en-US" dirty="0"/>
          </a:p>
        </p:txBody>
      </p:sp>
    </p:spTree>
    <p:extLst>
      <p:ext uri="{BB962C8B-B14F-4D97-AF65-F5344CB8AC3E}">
        <p14:creationId xmlns:p14="http://schemas.microsoft.com/office/powerpoint/2010/main" val="151136610"/>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110659" y="284315"/>
            <a:ext cx="6521529" cy="409536"/>
          </a:xfrm>
          <a:prstGeom prst="rect">
            <a:avLst/>
          </a:prstGeom>
        </p:spPr>
        <p:txBody>
          <a:bodyPr lIns="0" tIns="0" rIns="0" bIns="0" rtlCol="0" anchor="t">
            <a:spAutoFit/>
          </a:bodyPr>
          <a:lstStyle/>
          <a:p>
            <a:pPr>
              <a:lnSpc>
                <a:spcPts val="3393"/>
              </a:lnSpc>
              <a:spcBef>
                <a:spcPct val="0"/>
              </a:spcBef>
            </a:pPr>
            <a:r>
              <a:rPr lang="en-US" sz="2827" b="1" dirty="0" err="1">
                <a:solidFill>
                  <a:srgbClr val="FFFF00"/>
                </a:solidFill>
                <a:latin typeface="Arial Bold"/>
                <a:ea typeface="Arial Bold"/>
                <a:cs typeface="Arial Bold"/>
                <a:sym typeface="Arial Bold"/>
              </a:rPr>
              <a:t>Tính</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toán</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vị</a:t>
            </a:r>
            <a:r>
              <a:rPr lang="en-US" sz="2827" b="1" dirty="0">
                <a:solidFill>
                  <a:srgbClr val="FFFF00"/>
                </a:solidFill>
                <a:latin typeface="Arial Bold"/>
                <a:ea typeface="Arial Bold"/>
                <a:cs typeface="Arial Bold"/>
                <a:sym typeface="Arial Bold"/>
              </a:rPr>
              <a:t> </a:t>
            </a:r>
            <a:r>
              <a:rPr lang="en-US" sz="2827" b="1" dirty="0" err="1">
                <a:solidFill>
                  <a:srgbClr val="FFFF00"/>
                </a:solidFill>
                <a:latin typeface="Arial Bold"/>
                <a:ea typeface="Arial Bold"/>
                <a:cs typeface="Arial Bold"/>
                <a:sym typeface="Arial Bold"/>
              </a:rPr>
              <a:t>trí</a:t>
            </a:r>
            <a:endParaRPr lang="en-US" sz="2827" b="1" dirty="0">
              <a:solidFill>
                <a:srgbClr val="FFFF00"/>
              </a:solidFill>
              <a:latin typeface="Arial Bold"/>
              <a:ea typeface="Arial Bold"/>
              <a:cs typeface="Arial Bold"/>
              <a:sym typeface="Arial Bold"/>
            </a:endParaRPr>
          </a:p>
        </p:txBody>
      </p:sp>
      <p:sp>
        <p:nvSpPr>
          <p:cNvPr id="7" name="TextBox 7"/>
          <p:cNvSpPr txBox="1"/>
          <p:nvPr/>
        </p:nvSpPr>
        <p:spPr>
          <a:xfrm>
            <a:off x="182880" y="1490622"/>
            <a:ext cx="4770120" cy="1107996"/>
          </a:xfrm>
          <a:prstGeom prst="rect">
            <a:avLst/>
          </a:prstGeom>
        </p:spPr>
        <p:txBody>
          <a:bodyPr wrap="square" lIns="0" tIns="0" rIns="0" bIns="0" rtlCol="0" anchor="t">
            <a:spAutoFit/>
          </a:bodyPr>
          <a:lstStyle/>
          <a:p>
            <a:r>
              <a:rPr lang="vi-VN" b="1" dirty="0"/>
              <a:t>Các vấn đề gặp phải</a:t>
            </a:r>
          </a:p>
          <a:p>
            <a:pPr>
              <a:buFont typeface="+mj-lt"/>
              <a:buAutoNum type="arabicPeriod"/>
            </a:pPr>
            <a:r>
              <a:rPr lang="vi-VN" dirty="0"/>
              <a:t>Độ trễ đo được đến các điểm mốc (landmarks) không ổn định</a:t>
            </a:r>
          </a:p>
          <a:p>
            <a:pPr>
              <a:buFont typeface="+mj-lt"/>
              <a:buAutoNum type="arabicPeriod"/>
            </a:pPr>
            <a:r>
              <a:rPr lang="vi-VN" dirty="0"/>
              <a:t>Khoảng cách tính toán không đồng nhất</a:t>
            </a:r>
          </a:p>
        </p:txBody>
      </p:sp>
      <p:pic>
        <p:nvPicPr>
          <p:cNvPr id="8" name="object 7">
            <a:extLst>
              <a:ext uri="{FF2B5EF4-FFF2-40B4-BE49-F238E27FC236}">
                <a16:creationId xmlns:a16="http://schemas.microsoft.com/office/drawing/2014/main" id="{D3FFF9AA-A475-43E2-9FAD-D6B93482EB7D}"/>
              </a:ext>
            </a:extLst>
          </p:cNvPr>
          <p:cNvPicPr/>
          <p:nvPr/>
        </p:nvPicPr>
        <p:blipFill>
          <a:blip r:embed="rId4" cstate="print"/>
          <a:stretch>
            <a:fillRect/>
          </a:stretch>
        </p:blipFill>
        <p:spPr>
          <a:xfrm>
            <a:off x="5791200" y="1355144"/>
            <a:ext cx="3590731" cy="1845256"/>
          </a:xfrm>
          <a:prstGeom prst="rect">
            <a:avLst/>
          </a:prstGeom>
        </p:spPr>
      </p:pic>
      <p:pic>
        <p:nvPicPr>
          <p:cNvPr id="10" name="Picture 9">
            <a:extLst>
              <a:ext uri="{FF2B5EF4-FFF2-40B4-BE49-F238E27FC236}">
                <a16:creationId xmlns:a16="http://schemas.microsoft.com/office/drawing/2014/main" id="{AA2C67E7-E78C-4E5C-A67E-00C2D00EACAE}"/>
              </a:ext>
            </a:extLst>
          </p:cNvPr>
          <p:cNvPicPr>
            <a:picLocks noChangeAspect="1"/>
          </p:cNvPicPr>
          <p:nvPr/>
        </p:nvPicPr>
        <p:blipFill>
          <a:blip r:embed="rId5"/>
          <a:stretch>
            <a:fillRect/>
          </a:stretch>
        </p:blipFill>
        <p:spPr>
          <a:xfrm>
            <a:off x="0" y="3188194"/>
            <a:ext cx="8915400" cy="3345244"/>
          </a:xfrm>
          <a:prstGeom prst="rect">
            <a:avLst/>
          </a:prstGeom>
        </p:spPr>
      </p:pic>
      <p:pic>
        <p:nvPicPr>
          <p:cNvPr id="12" name="Picture 11">
            <a:extLst>
              <a:ext uri="{FF2B5EF4-FFF2-40B4-BE49-F238E27FC236}">
                <a16:creationId xmlns:a16="http://schemas.microsoft.com/office/drawing/2014/main" id="{C79A6E40-EC8C-49C3-AA2A-66FD49F0AB31}"/>
              </a:ext>
            </a:extLst>
          </p:cNvPr>
          <p:cNvPicPr>
            <a:picLocks noChangeAspect="1"/>
          </p:cNvPicPr>
          <p:nvPr/>
        </p:nvPicPr>
        <p:blipFill>
          <a:blip r:embed="rId6"/>
          <a:stretch>
            <a:fillRect/>
          </a:stretch>
        </p:blipFill>
        <p:spPr>
          <a:xfrm>
            <a:off x="2567940" y="6197928"/>
            <a:ext cx="3505200" cy="1040939"/>
          </a:xfrm>
          <a:prstGeom prst="rect">
            <a:avLst/>
          </a:prstGeom>
        </p:spPr>
      </p:pic>
    </p:spTree>
    <p:extLst>
      <p:ext uri="{BB962C8B-B14F-4D97-AF65-F5344CB8AC3E}">
        <p14:creationId xmlns:p14="http://schemas.microsoft.com/office/powerpoint/2010/main" val="2811106032"/>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8324"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304800" y="309294"/>
            <a:ext cx="6521529" cy="436017"/>
          </a:xfrm>
          <a:prstGeom prst="rect">
            <a:avLst/>
          </a:prstGeom>
        </p:spPr>
        <p:txBody>
          <a:bodyPr lIns="0" tIns="0" rIns="0" bIns="0" rtlCol="0" anchor="t">
            <a:spAutoFit/>
          </a:bodyPr>
          <a:lstStyle/>
          <a:p>
            <a:pPr>
              <a:lnSpc>
                <a:spcPts val="3393"/>
              </a:lnSpc>
              <a:spcBef>
                <a:spcPct val="0"/>
              </a:spcBef>
            </a:pPr>
            <a:r>
              <a:rPr lang="en-US" sz="3200" b="1" dirty="0" err="1">
                <a:solidFill>
                  <a:srgbClr val="FFFF00"/>
                </a:solidFill>
              </a:rPr>
              <a:t>Hệ</a:t>
            </a:r>
            <a:r>
              <a:rPr lang="en-US" sz="3200" b="1" dirty="0">
                <a:solidFill>
                  <a:srgbClr val="FFFF00"/>
                </a:solidFill>
              </a:rPr>
              <a:t> </a:t>
            </a:r>
            <a:r>
              <a:rPr lang="en-US" sz="3200" b="1" dirty="0" err="1">
                <a:solidFill>
                  <a:srgbClr val="FFFF00"/>
                </a:solidFill>
              </a:rPr>
              <a:t>thống</a:t>
            </a:r>
            <a:r>
              <a:rPr lang="en-US" sz="3200" b="1" dirty="0">
                <a:solidFill>
                  <a:srgbClr val="FFFF00"/>
                </a:solidFill>
              </a:rPr>
              <a:t> </a:t>
            </a:r>
            <a:r>
              <a:rPr lang="en-US" sz="3200" b="1" dirty="0" err="1">
                <a:solidFill>
                  <a:srgbClr val="FFFF00"/>
                </a:solidFill>
              </a:rPr>
              <a:t>định</a:t>
            </a:r>
            <a:r>
              <a:rPr lang="en-US" sz="3200" b="1" dirty="0">
                <a:solidFill>
                  <a:srgbClr val="FFFF00"/>
                </a:solidFill>
              </a:rPr>
              <a:t> </a:t>
            </a:r>
            <a:r>
              <a:rPr lang="en-US" sz="3200" b="1" dirty="0" err="1">
                <a:solidFill>
                  <a:srgbClr val="FFFF00"/>
                </a:solidFill>
              </a:rPr>
              <a:t>vị</a:t>
            </a:r>
            <a:r>
              <a:rPr lang="en-US" sz="3200" b="1" dirty="0">
                <a:solidFill>
                  <a:srgbClr val="FFFF00"/>
                </a:solidFill>
              </a:rPr>
              <a:t> </a:t>
            </a:r>
            <a:r>
              <a:rPr lang="en-US" sz="3200" b="1" dirty="0" err="1">
                <a:solidFill>
                  <a:srgbClr val="FFFF00"/>
                </a:solidFill>
              </a:rPr>
              <a:t>tọa</a:t>
            </a:r>
            <a:r>
              <a:rPr lang="en-US" sz="3200" b="1" dirty="0">
                <a:solidFill>
                  <a:srgbClr val="FFFF00"/>
                </a:solidFill>
              </a:rPr>
              <a:t> </a:t>
            </a:r>
            <a:r>
              <a:rPr lang="en-US" sz="3200" b="1" dirty="0" err="1">
                <a:solidFill>
                  <a:srgbClr val="FFFF00"/>
                </a:solidFill>
              </a:rPr>
              <a:t>độ</a:t>
            </a:r>
            <a:r>
              <a:rPr lang="en-US" sz="3200" b="1" dirty="0">
                <a:solidFill>
                  <a:srgbClr val="FFFF00"/>
                </a:solidFill>
              </a:rPr>
              <a:t> phi </a:t>
            </a:r>
            <a:r>
              <a:rPr lang="en-US" sz="3200" b="1" dirty="0" err="1">
                <a:solidFill>
                  <a:srgbClr val="FFFF00"/>
                </a:solidFill>
              </a:rPr>
              <a:t>tập</a:t>
            </a:r>
            <a:r>
              <a:rPr lang="en-US" sz="3200" b="1" dirty="0">
                <a:solidFill>
                  <a:srgbClr val="FFFF00"/>
                </a:solidFill>
              </a:rPr>
              <a:t> </a:t>
            </a:r>
            <a:r>
              <a:rPr lang="en-US" sz="3200" b="1" dirty="0" err="1">
                <a:solidFill>
                  <a:srgbClr val="FFFF00"/>
                </a:solidFill>
              </a:rPr>
              <a:t>trung</a:t>
            </a:r>
            <a:endParaRPr lang="en-US" sz="2827" b="1" dirty="0">
              <a:solidFill>
                <a:srgbClr val="FFFF00"/>
              </a:solidFill>
              <a:latin typeface="Arial Bold"/>
              <a:ea typeface="Arial Bold"/>
              <a:cs typeface="Arial Bold"/>
              <a:sym typeface="Arial Bold"/>
            </a:endParaRPr>
          </a:p>
        </p:txBody>
      </p:sp>
      <p:pic>
        <p:nvPicPr>
          <p:cNvPr id="9" name="Picture 8">
            <a:extLst>
              <a:ext uri="{FF2B5EF4-FFF2-40B4-BE49-F238E27FC236}">
                <a16:creationId xmlns:a16="http://schemas.microsoft.com/office/drawing/2014/main" id="{6348DB26-332F-4639-B121-A1D0BC71FA10}"/>
              </a:ext>
            </a:extLst>
          </p:cNvPr>
          <p:cNvPicPr>
            <a:picLocks noChangeAspect="1"/>
          </p:cNvPicPr>
          <p:nvPr/>
        </p:nvPicPr>
        <p:blipFill>
          <a:blip r:embed="rId4"/>
          <a:stretch>
            <a:fillRect/>
          </a:stretch>
        </p:blipFill>
        <p:spPr>
          <a:xfrm>
            <a:off x="241204" y="1219200"/>
            <a:ext cx="9454072" cy="2723673"/>
          </a:xfrm>
          <a:prstGeom prst="rect">
            <a:avLst/>
          </a:prstGeom>
        </p:spPr>
      </p:pic>
    </p:spTree>
    <p:extLst>
      <p:ext uri="{BB962C8B-B14F-4D97-AF65-F5344CB8AC3E}">
        <p14:creationId xmlns:p14="http://schemas.microsoft.com/office/powerpoint/2010/main" val="4101516829"/>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8324"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txBody>
            <a:bodyPr/>
            <a:lstStyle/>
            <a:p>
              <a:endParaRPr lang="en-US"/>
            </a:p>
          </p:txBody>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sp>
        <p:nvSpPr>
          <p:cNvPr id="6" name="TextBox 6"/>
          <p:cNvSpPr txBox="1"/>
          <p:nvPr/>
        </p:nvSpPr>
        <p:spPr>
          <a:xfrm>
            <a:off x="304800" y="309294"/>
            <a:ext cx="6521529" cy="436017"/>
          </a:xfrm>
          <a:prstGeom prst="rect">
            <a:avLst/>
          </a:prstGeom>
        </p:spPr>
        <p:txBody>
          <a:bodyPr lIns="0" tIns="0" rIns="0" bIns="0" rtlCol="0" anchor="t">
            <a:spAutoFit/>
          </a:bodyPr>
          <a:lstStyle/>
          <a:p>
            <a:pPr>
              <a:lnSpc>
                <a:spcPts val="3393"/>
              </a:lnSpc>
              <a:spcBef>
                <a:spcPct val="0"/>
              </a:spcBef>
            </a:pPr>
            <a:r>
              <a:rPr lang="en-US" sz="3200" b="1" dirty="0" err="1">
                <a:solidFill>
                  <a:srgbClr val="FFFF00"/>
                </a:solidFill>
              </a:rPr>
              <a:t>Hệ</a:t>
            </a:r>
            <a:r>
              <a:rPr lang="en-US" sz="3200" b="1" dirty="0">
                <a:solidFill>
                  <a:srgbClr val="FFFF00"/>
                </a:solidFill>
              </a:rPr>
              <a:t> </a:t>
            </a:r>
            <a:r>
              <a:rPr lang="en-US" sz="3200" b="1" dirty="0" err="1">
                <a:solidFill>
                  <a:srgbClr val="FFFF00"/>
                </a:solidFill>
              </a:rPr>
              <a:t>thống</a:t>
            </a:r>
            <a:r>
              <a:rPr lang="en-US" sz="3200" b="1" dirty="0">
                <a:solidFill>
                  <a:srgbClr val="FFFF00"/>
                </a:solidFill>
              </a:rPr>
              <a:t> </a:t>
            </a:r>
            <a:r>
              <a:rPr lang="en-US" sz="3200" b="1" dirty="0" err="1">
                <a:solidFill>
                  <a:srgbClr val="FFFF00"/>
                </a:solidFill>
              </a:rPr>
              <a:t>định</a:t>
            </a:r>
            <a:r>
              <a:rPr lang="en-US" sz="3200" b="1" dirty="0">
                <a:solidFill>
                  <a:srgbClr val="FFFF00"/>
                </a:solidFill>
              </a:rPr>
              <a:t> </a:t>
            </a:r>
            <a:r>
              <a:rPr lang="en-US" sz="3200" b="1" dirty="0" err="1">
                <a:solidFill>
                  <a:srgbClr val="FFFF00"/>
                </a:solidFill>
              </a:rPr>
              <a:t>vị</a:t>
            </a:r>
            <a:r>
              <a:rPr lang="en-US" sz="3200" b="1" dirty="0">
                <a:solidFill>
                  <a:srgbClr val="FFFF00"/>
                </a:solidFill>
              </a:rPr>
              <a:t> </a:t>
            </a:r>
            <a:r>
              <a:rPr lang="en-US" sz="3200" b="1" dirty="0" err="1">
                <a:solidFill>
                  <a:srgbClr val="FFFF00"/>
                </a:solidFill>
              </a:rPr>
              <a:t>tọa</a:t>
            </a:r>
            <a:r>
              <a:rPr lang="en-US" sz="3200" b="1" dirty="0">
                <a:solidFill>
                  <a:srgbClr val="FFFF00"/>
                </a:solidFill>
              </a:rPr>
              <a:t> </a:t>
            </a:r>
            <a:r>
              <a:rPr lang="en-US" sz="3200" b="1" dirty="0" err="1">
                <a:solidFill>
                  <a:srgbClr val="FFFF00"/>
                </a:solidFill>
              </a:rPr>
              <a:t>độ</a:t>
            </a:r>
            <a:r>
              <a:rPr lang="en-US" sz="3200" b="1" dirty="0">
                <a:solidFill>
                  <a:srgbClr val="FFFF00"/>
                </a:solidFill>
              </a:rPr>
              <a:t> phi </a:t>
            </a:r>
            <a:r>
              <a:rPr lang="en-US" sz="3200" b="1" dirty="0" err="1">
                <a:solidFill>
                  <a:srgbClr val="FFFF00"/>
                </a:solidFill>
              </a:rPr>
              <a:t>tập</a:t>
            </a:r>
            <a:r>
              <a:rPr lang="en-US" sz="3200" b="1" dirty="0">
                <a:solidFill>
                  <a:srgbClr val="FFFF00"/>
                </a:solidFill>
              </a:rPr>
              <a:t> </a:t>
            </a:r>
            <a:r>
              <a:rPr lang="en-US" sz="3200" b="1" dirty="0" err="1">
                <a:solidFill>
                  <a:srgbClr val="FFFF00"/>
                </a:solidFill>
              </a:rPr>
              <a:t>trung</a:t>
            </a:r>
            <a:endParaRPr lang="en-US" sz="2827" b="1" dirty="0">
              <a:solidFill>
                <a:srgbClr val="FFFF00"/>
              </a:solidFill>
              <a:latin typeface="Arial Bold"/>
              <a:ea typeface="Arial Bold"/>
              <a:cs typeface="Arial Bold"/>
              <a:sym typeface="Arial Bold"/>
            </a:endParaRPr>
          </a:p>
        </p:txBody>
      </p:sp>
      <p:pic>
        <p:nvPicPr>
          <p:cNvPr id="8" name="Picture 7">
            <a:extLst>
              <a:ext uri="{FF2B5EF4-FFF2-40B4-BE49-F238E27FC236}">
                <a16:creationId xmlns:a16="http://schemas.microsoft.com/office/drawing/2014/main" id="{CEE8DFC3-B940-4875-B580-744C27094FDD}"/>
              </a:ext>
            </a:extLst>
          </p:cNvPr>
          <p:cNvPicPr>
            <a:picLocks noChangeAspect="1"/>
          </p:cNvPicPr>
          <p:nvPr/>
        </p:nvPicPr>
        <p:blipFill>
          <a:blip r:embed="rId4"/>
          <a:stretch>
            <a:fillRect/>
          </a:stretch>
        </p:blipFill>
        <p:spPr>
          <a:xfrm>
            <a:off x="8709" y="2127226"/>
            <a:ext cx="9803215" cy="5042350"/>
          </a:xfrm>
          <a:prstGeom prst="rect">
            <a:avLst/>
          </a:prstGeom>
        </p:spPr>
      </p:pic>
      <p:sp>
        <p:nvSpPr>
          <p:cNvPr id="11" name="TextBox 10">
            <a:extLst>
              <a:ext uri="{FF2B5EF4-FFF2-40B4-BE49-F238E27FC236}">
                <a16:creationId xmlns:a16="http://schemas.microsoft.com/office/drawing/2014/main" id="{81D84603-BD55-4C38-8F91-7EF45D5F7606}"/>
              </a:ext>
            </a:extLst>
          </p:cNvPr>
          <p:cNvSpPr txBox="1"/>
          <p:nvPr/>
        </p:nvSpPr>
        <p:spPr>
          <a:xfrm>
            <a:off x="58324" y="1291665"/>
            <a:ext cx="3106941" cy="523220"/>
          </a:xfrm>
          <a:prstGeom prst="rect">
            <a:avLst/>
          </a:prstGeom>
          <a:noFill/>
        </p:spPr>
        <p:txBody>
          <a:bodyPr wrap="none" rtlCol="0">
            <a:spAutoFit/>
          </a:bodyPr>
          <a:lstStyle/>
          <a:p>
            <a:r>
              <a:rPr lang="en-US" sz="2800" b="1" dirty="0" err="1"/>
              <a:t>Các</a:t>
            </a:r>
            <a:r>
              <a:rPr lang="en-US" sz="2800" b="1" dirty="0"/>
              <a:t> </a:t>
            </a:r>
            <a:r>
              <a:rPr lang="en-US" sz="2800" b="1" dirty="0" err="1"/>
              <a:t>bước</a:t>
            </a:r>
            <a:r>
              <a:rPr lang="en-US" sz="2800" b="1" dirty="0"/>
              <a:t> </a:t>
            </a:r>
            <a:r>
              <a:rPr lang="en-US" sz="2800" b="1" dirty="0" err="1"/>
              <a:t>thực</a:t>
            </a:r>
            <a:r>
              <a:rPr lang="en-US" sz="2800" b="1" dirty="0"/>
              <a:t> </a:t>
            </a:r>
            <a:r>
              <a:rPr lang="en-US" sz="2800" b="1" dirty="0" err="1"/>
              <a:t>hiện</a:t>
            </a:r>
            <a:endParaRPr lang="en-US" sz="2800" b="1" dirty="0"/>
          </a:p>
        </p:txBody>
      </p:sp>
    </p:spTree>
    <p:extLst>
      <p:ext uri="{BB962C8B-B14F-4D97-AF65-F5344CB8AC3E}">
        <p14:creationId xmlns:p14="http://schemas.microsoft.com/office/powerpoint/2010/main" val="2691013696"/>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close/>
                </a:path>
              </a:pathLst>
            </a:custGeom>
            <a:solidFill>
              <a:srgbClr val="FFFFFF"/>
            </a:solidFill>
          </p:spPr>
          <p:txBody>
            <a:bodyPr/>
            <a:lstStyle/>
            <a:p>
              <a:endParaRPr lang="en-US"/>
            </a:p>
          </p:txBody>
        </p:sp>
      </p:grpSp>
      <p:grpSp>
        <p:nvGrpSpPr>
          <p:cNvPr id="4" name="Group 4"/>
          <p:cNvGrpSpPr/>
          <p:nvPr/>
        </p:nvGrpSpPr>
        <p:grpSpPr>
          <a:xfrm>
            <a:off x="0" y="0"/>
            <a:ext cx="9751163" cy="7315200"/>
            <a:chOff x="0" y="0"/>
            <a:chExt cx="13001550" cy="9753600"/>
          </a:xfrm>
        </p:grpSpPr>
        <p:sp>
          <p:nvSpPr>
            <p:cNvPr id="5" name="Freeform 5"/>
            <p:cNvSpPr/>
            <p:nvPr/>
          </p:nvSpPr>
          <p:spPr>
            <a:xfrm>
              <a:off x="0" y="0"/>
              <a:ext cx="13001498" cy="9753600"/>
            </a:xfrm>
            <a:custGeom>
              <a:avLst/>
              <a:gdLst/>
              <a:ahLst/>
              <a:cxnLst/>
              <a:rect l="l" t="t" r="r" b="b"/>
              <a:pathLst>
                <a:path w="13001498" h="9753600">
                  <a:moveTo>
                    <a:pt x="0" y="0"/>
                  </a:moveTo>
                  <a:lnTo>
                    <a:pt x="13001498" y="0"/>
                  </a:lnTo>
                  <a:lnTo>
                    <a:pt x="13001498" y="9753600"/>
                  </a:lnTo>
                  <a:lnTo>
                    <a:pt x="0" y="9753600"/>
                  </a:lnTo>
                  <a:close/>
                </a:path>
              </a:pathLst>
            </a:custGeom>
            <a:solidFill>
              <a:srgbClr val="FFFFFF"/>
            </a:solidFill>
          </p:spPr>
          <p:txBody>
            <a:bodyPr/>
            <a:lstStyle/>
            <a:p>
              <a:endParaRPr lang="en-US"/>
            </a:p>
          </p:txBody>
        </p:sp>
      </p:grpSp>
      <p:grpSp>
        <p:nvGrpSpPr>
          <p:cNvPr id="6" name="Group 6"/>
          <p:cNvGrpSpPr/>
          <p:nvPr/>
        </p:nvGrpSpPr>
        <p:grpSpPr>
          <a:xfrm rot="5400000">
            <a:off x="-2042467" y="2042466"/>
            <a:ext cx="7315200" cy="3230269"/>
            <a:chOff x="0" y="0"/>
            <a:chExt cx="9753600" cy="4307025"/>
          </a:xfrm>
        </p:grpSpPr>
        <p:sp>
          <p:nvSpPr>
            <p:cNvPr id="7" name="Freeform 7"/>
            <p:cNvSpPr/>
            <p:nvPr/>
          </p:nvSpPr>
          <p:spPr>
            <a:xfrm>
              <a:off x="0" y="0"/>
              <a:ext cx="9753600" cy="4307078"/>
            </a:xfrm>
            <a:custGeom>
              <a:avLst/>
              <a:gdLst/>
              <a:ahLst/>
              <a:cxnLst/>
              <a:rect l="l" t="t" r="r" b="b"/>
              <a:pathLst>
                <a:path w="9753600" h="4307078">
                  <a:moveTo>
                    <a:pt x="9753600" y="0"/>
                  </a:moveTo>
                  <a:lnTo>
                    <a:pt x="0" y="0"/>
                  </a:lnTo>
                  <a:lnTo>
                    <a:pt x="0" y="4307078"/>
                  </a:lnTo>
                  <a:lnTo>
                    <a:pt x="9753600" y="4307078"/>
                  </a:lnTo>
                  <a:close/>
                </a:path>
              </a:pathLst>
            </a:custGeom>
            <a:gradFill rotWithShape="1">
              <a:gsLst>
                <a:gs pos="0">
                  <a:srgbClr val="000000">
                    <a:alpha val="100000"/>
                  </a:srgbClr>
                </a:gs>
                <a:gs pos="8000">
                  <a:srgbClr val="000000">
                    <a:alpha val="100000"/>
                  </a:srgbClr>
                </a:gs>
                <a:gs pos="100000">
                  <a:srgbClr val="366092">
                    <a:alpha val="100000"/>
                  </a:srgbClr>
                </a:gs>
              </a:gsLst>
              <a:lin ang="19200000"/>
            </a:gradFill>
          </p:spPr>
          <p:txBody>
            <a:bodyPr/>
            <a:lstStyle/>
            <a:p>
              <a:endParaRPr lang="en-US"/>
            </a:p>
          </p:txBody>
        </p:sp>
      </p:grpSp>
      <p:grpSp>
        <p:nvGrpSpPr>
          <p:cNvPr id="8" name="Group 8"/>
          <p:cNvGrpSpPr/>
          <p:nvPr/>
        </p:nvGrpSpPr>
        <p:grpSpPr>
          <a:xfrm rot="5400000">
            <a:off x="-2042468" y="2053279"/>
            <a:ext cx="7315199" cy="3230271"/>
            <a:chOff x="0" y="0"/>
            <a:chExt cx="9753599" cy="4307028"/>
          </a:xfrm>
        </p:grpSpPr>
        <p:sp>
          <p:nvSpPr>
            <p:cNvPr id="9" name="Freeform 9"/>
            <p:cNvSpPr/>
            <p:nvPr/>
          </p:nvSpPr>
          <p:spPr>
            <a:xfrm>
              <a:off x="0" y="0"/>
              <a:ext cx="9753600" cy="4307078"/>
            </a:xfrm>
            <a:custGeom>
              <a:avLst/>
              <a:gdLst/>
              <a:ahLst/>
              <a:cxnLst/>
              <a:rect l="l" t="t" r="r" b="b"/>
              <a:pathLst>
                <a:path w="9753600" h="4307078">
                  <a:moveTo>
                    <a:pt x="9753600" y="0"/>
                  </a:moveTo>
                  <a:lnTo>
                    <a:pt x="0" y="0"/>
                  </a:lnTo>
                  <a:lnTo>
                    <a:pt x="0" y="4307078"/>
                  </a:lnTo>
                  <a:lnTo>
                    <a:pt x="9753600" y="4307078"/>
                  </a:lnTo>
                  <a:close/>
                </a:path>
              </a:pathLst>
            </a:custGeom>
            <a:gradFill rotWithShape="1">
              <a:gsLst>
                <a:gs pos="0">
                  <a:srgbClr val="000000">
                    <a:alpha val="0"/>
                  </a:srgbClr>
                </a:gs>
                <a:gs pos="99000">
                  <a:srgbClr val="4F81BD">
                    <a:alpha val="45882"/>
                  </a:srgbClr>
                </a:gs>
                <a:gs pos="100000">
                  <a:srgbClr val="4F81BD">
                    <a:alpha val="45882"/>
                  </a:srgbClr>
                </a:gs>
              </a:gsLst>
              <a:lin ang="18000000"/>
            </a:gradFill>
          </p:spPr>
          <p:txBody>
            <a:bodyPr/>
            <a:lstStyle/>
            <a:p>
              <a:endParaRPr lang="en-US"/>
            </a:p>
          </p:txBody>
        </p:sp>
      </p:grpSp>
      <p:grpSp>
        <p:nvGrpSpPr>
          <p:cNvPr id="10" name="Group 10"/>
          <p:cNvGrpSpPr/>
          <p:nvPr/>
        </p:nvGrpSpPr>
        <p:grpSpPr>
          <a:xfrm rot="5400000">
            <a:off x="280742" y="4365670"/>
            <a:ext cx="2668778" cy="3230273"/>
            <a:chOff x="0" y="0"/>
            <a:chExt cx="3558370" cy="4307031"/>
          </a:xfrm>
        </p:grpSpPr>
        <p:sp>
          <p:nvSpPr>
            <p:cNvPr id="11" name="Freeform 11"/>
            <p:cNvSpPr/>
            <p:nvPr/>
          </p:nvSpPr>
          <p:spPr>
            <a:xfrm>
              <a:off x="0" y="0"/>
              <a:ext cx="3558413" cy="4307078"/>
            </a:xfrm>
            <a:custGeom>
              <a:avLst/>
              <a:gdLst/>
              <a:ahLst/>
              <a:cxnLst/>
              <a:rect l="l" t="t" r="r" b="b"/>
              <a:pathLst>
                <a:path w="3558413" h="4307078">
                  <a:moveTo>
                    <a:pt x="3558413" y="0"/>
                  </a:moveTo>
                  <a:lnTo>
                    <a:pt x="0" y="0"/>
                  </a:lnTo>
                  <a:lnTo>
                    <a:pt x="0" y="4307078"/>
                  </a:lnTo>
                  <a:lnTo>
                    <a:pt x="3558413" y="4307078"/>
                  </a:lnTo>
                  <a:close/>
                </a:path>
              </a:pathLst>
            </a:custGeom>
            <a:gradFill rotWithShape="1">
              <a:gsLst>
                <a:gs pos="0">
                  <a:srgbClr val="4F81BD">
                    <a:alpha val="28627"/>
                  </a:srgbClr>
                </a:gs>
                <a:gs pos="2000">
                  <a:srgbClr val="4F81BD">
                    <a:alpha val="28627"/>
                  </a:srgbClr>
                </a:gs>
                <a:gs pos="100000">
                  <a:srgbClr val="000000">
                    <a:alpha val="29803"/>
                  </a:srgbClr>
                </a:gs>
              </a:gsLst>
              <a:lin ang="2400000"/>
            </a:gradFill>
          </p:spPr>
          <p:txBody>
            <a:bodyPr/>
            <a:lstStyle/>
            <a:p>
              <a:endParaRPr lang="en-US"/>
            </a:p>
          </p:txBody>
        </p:sp>
      </p:grpSp>
      <p:grpSp>
        <p:nvGrpSpPr>
          <p:cNvPr id="12" name="Group 12"/>
          <p:cNvGrpSpPr/>
          <p:nvPr/>
        </p:nvGrpSpPr>
        <p:grpSpPr>
          <a:xfrm rot="-964587">
            <a:off x="-401389" y="1034366"/>
            <a:ext cx="3120285" cy="4457556"/>
            <a:chOff x="0" y="0"/>
            <a:chExt cx="4160380" cy="5943408"/>
          </a:xfrm>
        </p:grpSpPr>
        <p:sp>
          <p:nvSpPr>
            <p:cNvPr id="13" name="Freeform 13"/>
            <p:cNvSpPr/>
            <p:nvPr/>
          </p:nvSpPr>
          <p:spPr>
            <a:xfrm>
              <a:off x="0" y="0"/>
              <a:ext cx="4160393" cy="5943346"/>
            </a:xfrm>
            <a:custGeom>
              <a:avLst/>
              <a:gdLst/>
              <a:ahLst/>
              <a:cxnLst/>
              <a:rect l="l" t="t" r="r" b="b"/>
              <a:pathLst>
                <a:path w="4160393" h="5943346">
                  <a:moveTo>
                    <a:pt x="2594356" y="133604"/>
                  </a:moveTo>
                  <a:cubicBezTo>
                    <a:pt x="3501644" y="509905"/>
                    <a:pt x="4160393" y="1638173"/>
                    <a:pt x="4160393" y="2971673"/>
                  </a:cubicBezTo>
                  <a:cubicBezTo>
                    <a:pt x="4160393" y="4612894"/>
                    <a:pt x="3162554" y="5943346"/>
                    <a:pt x="1931670" y="5943346"/>
                  </a:cubicBezTo>
                  <a:cubicBezTo>
                    <a:pt x="1162304" y="5943346"/>
                    <a:pt x="484124" y="5423662"/>
                    <a:pt x="83566" y="4633087"/>
                  </a:cubicBezTo>
                  <a:lnTo>
                    <a:pt x="0" y="4450080"/>
                  </a:lnTo>
                  <a:lnTo>
                    <a:pt x="886714" y="347472"/>
                  </a:lnTo>
                  <a:lnTo>
                    <a:pt x="1064006" y="233553"/>
                  </a:lnTo>
                  <a:cubicBezTo>
                    <a:pt x="1330706" y="83185"/>
                    <a:pt x="1623822" y="0"/>
                    <a:pt x="1931543" y="0"/>
                  </a:cubicBezTo>
                  <a:cubicBezTo>
                    <a:pt x="2162302" y="0"/>
                    <a:pt x="2384933" y="46736"/>
                    <a:pt x="2594356" y="133604"/>
                  </a:cubicBezTo>
                  <a:close/>
                </a:path>
              </a:pathLst>
            </a:custGeom>
            <a:gradFill rotWithShape="1">
              <a:gsLst>
                <a:gs pos="0">
                  <a:srgbClr val="000000">
                    <a:alpha val="0"/>
                  </a:srgbClr>
                </a:gs>
                <a:gs pos="29000">
                  <a:srgbClr val="000000">
                    <a:alpha val="0"/>
                  </a:srgbClr>
                </a:gs>
                <a:gs pos="100000">
                  <a:srgbClr val="4F81BD">
                    <a:alpha val="42745"/>
                  </a:srgbClr>
                </a:gs>
              </a:gsLst>
              <a:lin ang="2764587"/>
            </a:gradFill>
          </p:spPr>
          <p:txBody>
            <a:bodyPr/>
            <a:lstStyle/>
            <a:p>
              <a:endParaRPr lang="en-US"/>
            </a:p>
          </p:txBody>
        </p:sp>
      </p:grpSp>
      <p:grpSp>
        <p:nvGrpSpPr>
          <p:cNvPr id="14" name="Group 14"/>
          <p:cNvGrpSpPr/>
          <p:nvPr/>
        </p:nvGrpSpPr>
        <p:grpSpPr>
          <a:xfrm rot="5400000">
            <a:off x="-2042475" y="2031650"/>
            <a:ext cx="7315203" cy="3230268"/>
            <a:chOff x="0" y="0"/>
            <a:chExt cx="9753604" cy="4307024"/>
          </a:xfrm>
        </p:grpSpPr>
        <p:sp>
          <p:nvSpPr>
            <p:cNvPr id="15" name="Freeform 15"/>
            <p:cNvSpPr/>
            <p:nvPr/>
          </p:nvSpPr>
          <p:spPr>
            <a:xfrm>
              <a:off x="0" y="0"/>
              <a:ext cx="9753600" cy="4307078"/>
            </a:xfrm>
            <a:custGeom>
              <a:avLst/>
              <a:gdLst/>
              <a:ahLst/>
              <a:cxnLst/>
              <a:rect l="l" t="t" r="r" b="b"/>
              <a:pathLst>
                <a:path w="9753600" h="4307078">
                  <a:moveTo>
                    <a:pt x="9753600" y="0"/>
                  </a:moveTo>
                  <a:lnTo>
                    <a:pt x="0" y="0"/>
                  </a:lnTo>
                  <a:lnTo>
                    <a:pt x="0" y="4307078"/>
                  </a:lnTo>
                  <a:lnTo>
                    <a:pt x="9753600" y="4307078"/>
                  </a:lnTo>
                  <a:close/>
                </a:path>
              </a:pathLst>
            </a:custGeom>
            <a:gradFill rotWithShape="1">
              <a:gsLst>
                <a:gs pos="0">
                  <a:srgbClr val="000000">
                    <a:alpha val="0"/>
                  </a:srgbClr>
                </a:gs>
                <a:gs pos="99000">
                  <a:srgbClr val="93B3D7">
                    <a:alpha val="10980"/>
                  </a:srgbClr>
                </a:gs>
                <a:gs pos="100000">
                  <a:srgbClr val="93B3D7">
                    <a:alpha val="10980"/>
                  </a:srgbClr>
                </a:gs>
              </a:gsLst>
              <a:lin ang="1800000"/>
            </a:gradFill>
          </p:spPr>
          <p:txBody>
            <a:bodyPr/>
            <a:lstStyle/>
            <a:p>
              <a:endParaRPr lang="en-US"/>
            </a:p>
          </p:txBody>
        </p:sp>
      </p:grpSp>
      <p:grpSp>
        <p:nvGrpSpPr>
          <p:cNvPr id="16" name="Group 16"/>
          <p:cNvGrpSpPr/>
          <p:nvPr/>
        </p:nvGrpSpPr>
        <p:grpSpPr>
          <a:xfrm>
            <a:off x="373378" y="625981"/>
            <a:ext cx="2561093" cy="3613330"/>
            <a:chOff x="0" y="0"/>
            <a:chExt cx="3414791" cy="4817774"/>
          </a:xfrm>
        </p:grpSpPr>
        <p:sp>
          <p:nvSpPr>
            <p:cNvPr id="17" name="Freeform 17"/>
            <p:cNvSpPr/>
            <p:nvPr/>
          </p:nvSpPr>
          <p:spPr>
            <a:xfrm>
              <a:off x="0" y="0"/>
              <a:ext cx="3414791" cy="4817773"/>
            </a:xfrm>
            <a:custGeom>
              <a:avLst/>
              <a:gdLst/>
              <a:ahLst/>
              <a:cxnLst/>
              <a:rect l="l" t="t" r="r" b="b"/>
              <a:pathLst>
                <a:path w="3414791" h="4817773">
                  <a:moveTo>
                    <a:pt x="0" y="0"/>
                  </a:moveTo>
                  <a:lnTo>
                    <a:pt x="3414791" y="0"/>
                  </a:lnTo>
                  <a:lnTo>
                    <a:pt x="3414791" y="4817773"/>
                  </a:lnTo>
                  <a:lnTo>
                    <a:pt x="0" y="4817773"/>
                  </a:lnTo>
                  <a:close/>
                </a:path>
              </a:pathLst>
            </a:custGeom>
            <a:solidFill>
              <a:srgbClr val="000000">
                <a:alpha val="0"/>
              </a:srgbClr>
            </a:solidFill>
          </p:spPr>
          <p:txBody>
            <a:bodyPr/>
            <a:lstStyle/>
            <a:p>
              <a:endParaRPr lang="en-US"/>
            </a:p>
          </p:txBody>
        </p:sp>
        <p:sp>
          <p:nvSpPr>
            <p:cNvPr id="18" name="TextBox 18"/>
            <p:cNvSpPr txBox="1"/>
            <p:nvPr/>
          </p:nvSpPr>
          <p:spPr>
            <a:xfrm>
              <a:off x="0" y="-66675"/>
              <a:ext cx="3414791" cy="4884449"/>
            </a:xfrm>
            <a:prstGeom prst="rect">
              <a:avLst/>
            </a:prstGeom>
          </p:spPr>
          <p:txBody>
            <a:bodyPr lIns="0" tIns="0" rIns="0" bIns="0" rtlCol="0" anchor="b"/>
            <a:lstStyle/>
            <a:p>
              <a:pPr algn="r">
                <a:lnSpc>
                  <a:spcPts val="4479"/>
                </a:lnSpc>
              </a:pPr>
              <a:r>
                <a:rPr lang="en-US" sz="3733" b="1">
                  <a:solidFill>
                    <a:srgbClr val="FFFFFF"/>
                  </a:solidFill>
                  <a:latin typeface="Arial Bold"/>
                  <a:ea typeface="Arial Bold"/>
                  <a:cs typeface="Arial Bold"/>
                  <a:sym typeface="Arial Bold"/>
                </a:rPr>
                <a:t>CẢM ƠN MỌI NGƯỜI ĐÃ LẮNG NGHE!!!</a:t>
              </a:r>
            </a:p>
          </p:txBody>
        </p:sp>
      </p:grpSp>
      <p:grpSp>
        <p:nvGrpSpPr>
          <p:cNvPr id="19" name="Group 19"/>
          <p:cNvGrpSpPr/>
          <p:nvPr/>
        </p:nvGrpSpPr>
        <p:grpSpPr>
          <a:xfrm>
            <a:off x="3848207" y="692781"/>
            <a:ext cx="5244278" cy="5915783"/>
            <a:chOff x="0" y="0"/>
            <a:chExt cx="6992371" cy="7887711"/>
          </a:xfrm>
        </p:grpSpPr>
        <p:sp>
          <p:nvSpPr>
            <p:cNvPr id="20" name="Freeform 20"/>
            <p:cNvSpPr/>
            <p:nvPr/>
          </p:nvSpPr>
          <p:spPr>
            <a:xfrm>
              <a:off x="0" y="0"/>
              <a:ext cx="6992371" cy="7887712"/>
            </a:xfrm>
            <a:custGeom>
              <a:avLst/>
              <a:gdLst/>
              <a:ahLst/>
              <a:cxnLst/>
              <a:rect l="l" t="t" r="r" b="b"/>
              <a:pathLst>
                <a:path w="6992371" h="7887712">
                  <a:moveTo>
                    <a:pt x="0" y="0"/>
                  </a:moveTo>
                  <a:lnTo>
                    <a:pt x="6992371" y="0"/>
                  </a:lnTo>
                  <a:lnTo>
                    <a:pt x="6992371" y="7887712"/>
                  </a:lnTo>
                  <a:lnTo>
                    <a:pt x="0" y="7887712"/>
                  </a:lnTo>
                  <a:close/>
                </a:path>
              </a:pathLst>
            </a:custGeom>
            <a:solidFill>
              <a:srgbClr val="000000">
                <a:alpha val="0"/>
              </a:srgbClr>
            </a:solidFill>
          </p:spPr>
          <p:txBody>
            <a:bodyPr/>
            <a:lstStyle/>
            <a:p>
              <a:endParaRPr lang="en-US"/>
            </a:p>
          </p:txBody>
        </p:sp>
        <p:sp>
          <p:nvSpPr>
            <p:cNvPr id="21" name="TextBox 21"/>
            <p:cNvSpPr txBox="1"/>
            <p:nvPr/>
          </p:nvSpPr>
          <p:spPr>
            <a:xfrm>
              <a:off x="0" y="-47625"/>
              <a:ext cx="6992371" cy="7935336"/>
            </a:xfrm>
            <a:prstGeom prst="rect">
              <a:avLst/>
            </a:prstGeom>
          </p:spPr>
          <p:txBody>
            <a:bodyPr lIns="0" tIns="0" rIns="0" bIns="0" rtlCol="0" anchor="ctr"/>
            <a:lstStyle/>
            <a:p>
              <a:pPr algn="ctr">
                <a:lnSpc>
                  <a:spcPts val="2560"/>
                </a:lnSpc>
              </a:pPr>
              <a:r>
                <a:rPr lang="en-US" sz="2133" b="1">
                  <a:solidFill>
                    <a:srgbClr val="FF0000"/>
                  </a:solidFill>
                  <a:latin typeface="Arial Bold"/>
                  <a:ea typeface="Arial Bold"/>
                  <a:cs typeface="Arial Bold"/>
                  <a:sym typeface="Arial Bold"/>
                </a:rPr>
                <a:t>THANKS FOR WATCHING AND LISTENNING!!!!</a:t>
              </a:r>
            </a:p>
            <a:p>
              <a:pPr algn="l">
                <a:lnSpc>
                  <a:spcPts val="2560"/>
                </a:lnSpc>
              </a:pPr>
              <a:endParaRPr lang="en-US" sz="2133" b="1">
                <a:solidFill>
                  <a:srgbClr val="FF0000"/>
                </a:solidFill>
                <a:latin typeface="Arial Bold"/>
                <a:ea typeface="Arial Bold"/>
                <a:cs typeface="Arial Bold"/>
                <a:sym typeface="Arial Bold"/>
              </a:endParaRPr>
            </a:p>
          </p:txBody>
        </p:sp>
      </p:grpSp>
      <p:grpSp>
        <p:nvGrpSpPr>
          <p:cNvPr id="22" name="Group 22"/>
          <p:cNvGrpSpPr/>
          <p:nvPr/>
        </p:nvGrpSpPr>
        <p:grpSpPr>
          <a:xfrm>
            <a:off x="9363456" y="6886042"/>
            <a:ext cx="358446" cy="389467"/>
            <a:chOff x="0" y="0"/>
            <a:chExt cx="477928" cy="519289"/>
          </a:xfrm>
        </p:grpSpPr>
        <p:sp>
          <p:nvSpPr>
            <p:cNvPr id="23" name="Freeform 23"/>
            <p:cNvSpPr/>
            <p:nvPr/>
          </p:nvSpPr>
          <p:spPr>
            <a:xfrm>
              <a:off x="0" y="0"/>
              <a:ext cx="477928" cy="519289"/>
            </a:xfrm>
            <a:custGeom>
              <a:avLst/>
              <a:gdLst/>
              <a:ahLst/>
              <a:cxnLst/>
              <a:rect l="l" t="t" r="r" b="b"/>
              <a:pathLst>
                <a:path w="477928" h="519289">
                  <a:moveTo>
                    <a:pt x="0" y="0"/>
                  </a:moveTo>
                  <a:lnTo>
                    <a:pt x="477928" y="0"/>
                  </a:lnTo>
                  <a:lnTo>
                    <a:pt x="477928" y="519289"/>
                  </a:lnTo>
                  <a:lnTo>
                    <a:pt x="0" y="519289"/>
                  </a:lnTo>
                  <a:close/>
                </a:path>
              </a:pathLst>
            </a:custGeom>
            <a:solidFill>
              <a:srgbClr val="000000">
                <a:alpha val="0"/>
              </a:srgbClr>
            </a:solidFill>
          </p:spPr>
          <p:txBody>
            <a:bodyPr/>
            <a:lstStyle/>
            <a:p>
              <a:endParaRPr lang="en-US"/>
            </a:p>
          </p:txBody>
        </p:sp>
        <p:sp>
          <p:nvSpPr>
            <p:cNvPr id="24" name="TextBox 24"/>
            <p:cNvSpPr txBox="1"/>
            <p:nvPr/>
          </p:nvSpPr>
          <p:spPr>
            <a:xfrm>
              <a:off x="0" y="-28575"/>
              <a:ext cx="477928" cy="547864"/>
            </a:xfrm>
            <a:prstGeom prst="rect">
              <a:avLst/>
            </a:prstGeom>
          </p:spPr>
          <p:txBody>
            <a:bodyPr lIns="0" tIns="0" rIns="0" bIns="0" rtlCol="0" anchor="ctr"/>
            <a:lstStyle/>
            <a:p>
              <a:pPr algn="r">
                <a:lnSpc>
                  <a:spcPts val="1280"/>
                </a:lnSpc>
              </a:pPr>
              <a:r>
                <a:rPr lang="en-US" sz="1066">
                  <a:solidFill>
                    <a:srgbClr val="7F7F7F"/>
                  </a:solidFill>
                  <a:latin typeface="Arial"/>
                  <a:ea typeface="Arial"/>
                  <a:cs typeface="Arial"/>
                  <a:sym typeface="Arial"/>
                </a:rPr>
                <a:t>34</a:t>
              </a:r>
            </a:p>
          </p:txBody>
        </p:sp>
      </p:gr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TotalTime>
  <Words>8121</Words>
  <Application>Microsoft Office PowerPoint</Application>
  <PresentationFormat>Custom</PresentationFormat>
  <Paragraphs>758</Paragraphs>
  <Slides>86</Slides>
  <Notes>86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86</vt:i4>
      </vt:variant>
    </vt:vector>
  </HeadingPairs>
  <TitlesOfParts>
    <vt:vector size="90" baseType="lpstr">
      <vt:lpstr>Calibri</vt:lpstr>
      <vt:lpstr>Arial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HTPT_chuong5.pptx</dc:title>
  <dc:creator>Admin</dc:creator>
  <cp:lastModifiedBy>Chu Dung</cp:lastModifiedBy>
  <cp:revision>9</cp:revision>
  <dcterms:created xsi:type="dcterms:W3CDTF">2006-08-16T00:00:00Z</dcterms:created>
  <dcterms:modified xsi:type="dcterms:W3CDTF">2025-03-17T05:47:08Z</dcterms:modified>
  <dc:identifier>DAGhM11DdpY</dc:identifier>
</cp:coreProperties>
</file>