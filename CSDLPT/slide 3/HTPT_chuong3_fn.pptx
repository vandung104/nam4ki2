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334" r:id="rId33"/>
    <p:sldId id="336" r:id="rId34"/>
    <p:sldId id="337" r:id="rId35"/>
    <p:sldId id="342" r:id="rId36"/>
    <p:sldId id="341" r:id="rId37"/>
    <p:sldId id="340" r:id="rId38"/>
    <p:sldId id="339" r:id="rId39"/>
    <p:sldId id="338" r:id="rId40"/>
    <p:sldId id="346" r:id="rId41"/>
    <p:sldId id="345"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32" r:id="rId88"/>
    <p:sldId id="333" r:id="rId89"/>
  </p:sldIdLst>
  <p:sldSz cx="9753600" cy="7315200"/>
  <p:notesSz cx="6858000" cy="9144000"/>
  <p:embeddedFontLst>
    <p:embeddedFont>
      <p:font typeface="Arial" panose="020B0604020202020204" pitchFamily="34" charset="0"/>
      <p:regular r:id="rId91"/>
    </p:embeddedFont>
    <p:embeddedFont>
      <p:font typeface="Arial Bold" panose="020B0704020202020204" pitchFamily="34" charset="0"/>
      <p:regular r:id="rId92"/>
      <p:bold r:id="rId93"/>
    </p:embeddedFont>
    <p:embeddedFont>
      <p:font typeface="Arial Bold Italics" panose="020B0604020202020204" charset="0"/>
      <p:regular r:id="rId94"/>
    </p:embeddedFont>
    <p:embeddedFont>
      <p:font typeface="Arial Italics" panose="020B0604020202020204" charset="0"/>
      <p:regular r:id="rId95"/>
    </p:embeddedFont>
    <p:embeddedFont>
      <p:font typeface="Calibri" panose="020F0502020204030204" pitchFamily="34" charset="0"/>
      <p:regular r:id="rId96"/>
      <p:bold r:id="rId97"/>
      <p:italic r:id="rId98"/>
      <p:boldItalic r:id="rId9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6" d="100"/>
          <a:sy n="76" d="100"/>
        </p:scale>
        <p:origin x="149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95"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font" Target="fonts/font3.fntdata"/><Relationship Id="rId98"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font" Target="fonts/font1.fntdata"/><Relationship Id="rId96"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4.fntdata"/><Relationship Id="rId99" Type="http://schemas.openxmlformats.org/officeDocument/2006/relationships/font" Target="fonts/font9.fntdata"/><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6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6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6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6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6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6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6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6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7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9.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8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1556053" y="347678"/>
            <a:ext cx="6374674" cy="581474"/>
            <a:chOff x="0" y="0"/>
            <a:chExt cx="8499566" cy="775298"/>
          </a:xfrm>
        </p:grpSpPr>
        <p:sp>
          <p:nvSpPr>
            <p:cNvPr id="4" name="Freeform 4"/>
            <p:cNvSpPr/>
            <p:nvPr/>
          </p:nvSpPr>
          <p:spPr>
            <a:xfrm>
              <a:off x="0" y="0"/>
              <a:ext cx="8499566" cy="775298"/>
            </a:xfrm>
            <a:custGeom>
              <a:avLst/>
              <a:gdLst/>
              <a:ahLst/>
              <a:cxnLst/>
              <a:rect l="l" t="t" r="r" b="b"/>
              <a:pathLst>
                <a:path w="8499566" h="775298">
                  <a:moveTo>
                    <a:pt x="0" y="0"/>
                  </a:moveTo>
                  <a:lnTo>
                    <a:pt x="8499566" y="0"/>
                  </a:lnTo>
                  <a:lnTo>
                    <a:pt x="8499566" y="775298"/>
                  </a:lnTo>
                  <a:lnTo>
                    <a:pt x="0" y="775298"/>
                  </a:lnTo>
                  <a:close/>
                </a:path>
              </a:pathLst>
            </a:custGeom>
            <a:solidFill>
              <a:srgbClr val="000000">
                <a:alpha val="0"/>
              </a:srgbClr>
            </a:solidFill>
          </p:spPr>
        </p:sp>
        <p:sp>
          <p:nvSpPr>
            <p:cNvPr id="5" name="TextBox 5"/>
            <p:cNvSpPr txBox="1"/>
            <p:nvPr/>
          </p:nvSpPr>
          <p:spPr>
            <a:xfrm>
              <a:off x="0" y="-66675"/>
              <a:ext cx="8499566" cy="841973"/>
            </a:xfrm>
            <a:prstGeom prst="rect">
              <a:avLst/>
            </a:prstGeom>
          </p:spPr>
          <p:txBody>
            <a:bodyPr lIns="0" tIns="0" rIns="0" bIns="0" rtlCol="0" anchor="t"/>
            <a:lstStyle/>
            <a:p>
              <a:pPr algn="ctr">
                <a:lnSpc>
                  <a:spcPts val="3824"/>
                </a:lnSpc>
              </a:pPr>
              <a:r>
                <a:rPr lang="en-US" sz="3186" b="1">
                  <a:solidFill>
                    <a:srgbClr val="FFFF00"/>
                  </a:solidFill>
                  <a:latin typeface="Arial Bold"/>
                  <a:ea typeface="Arial Bold"/>
                  <a:cs typeface="Arial Bold"/>
                  <a:sym typeface="Arial Bold"/>
                </a:rPr>
                <a:t>CƠ SỞ DỮ LIỆU PHÂN TÁN</a:t>
              </a: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1</a:t>
              </a:r>
            </a:p>
          </p:txBody>
        </p:sp>
      </p:grpSp>
      <p:grpSp>
        <p:nvGrpSpPr>
          <p:cNvPr id="9" name="Group 9"/>
          <p:cNvGrpSpPr/>
          <p:nvPr/>
        </p:nvGrpSpPr>
        <p:grpSpPr>
          <a:xfrm>
            <a:off x="2304989" y="1720139"/>
            <a:ext cx="5347485" cy="707822"/>
            <a:chOff x="0" y="0"/>
            <a:chExt cx="7129980" cy="943762"/>
          </a:xfrm>
        </p:grpSpPr>
        <p:sp>
          <p:nvSpPr>
            <p:cNvPr id="10" name="Freeform 10"/>
            <p:cNvSpPr/>
            <p:nvPr/>
          </p:nvSpPr>
          <p:spPr>
            <a:xfrm>
              <a:off x="0" y="0"/>
              <a:ext cx="7129980" cy="943762"/>
            </a:xfrm>
            <a:custGeom>
              <a:avLst/>
              <a:gdLst/>
              <a:ahLst/>
              <a:cxnLst/>
              <a:rect l="l" t="t" r="r" b="b"/>
              <a:pathLst>
                <a:path w="7129980" h="943762">
                  <a:moveTo>
                    <a:pt x="0" y="0"/>
                  </a:moveTo>
                  <a:lnTo>
                    <a:pt x="7129980" y="0"/>
                  </a:lnTo>
                  <a:lnTo>
                    <a:pt x="7129980" y="943762"/>
                  </a:lnTo>
                  <a:lnTo>
                    <a:pt x="0" y="943762"/>
                  </a:lnTo>
                  <a:close/>
                </a:path>
              </a:pathLst>
            </a:custGeom>
            <a:solidFill>
              <a:srgbClr val="000000">
                <a:alpha val="0"/>
              </a:srgbClr>
            </a:solidFill>
          </p:spPr>
        </p:sp>
        <p:sp>
          <p:nvSpPr>
            <p:cNvPr id="11" name="TextBox 11"/>
            <p:cNvSpPr txBox="1"/>
            <p:nvPr/>
          </p:nvSpPr>
          <p:spPr>
            <a:xfrm>
              <a:off x="0" y="-85725"/>
              <a:ext cx="7129980" cy="1029487"/>
            </a:xfrm>
            <a:prstGeom prst="rect">
              <a:avLst/>
            </a:prstGeom>
          </p:spPr>
          <p:txBody>
            <a:bodyPr lIns="0" tIns="0" rIns="0" bIns="0" rtlCol="0" anchor="t"/>
            <a:lstStyle/>
            <a:p>
              <a:pPr algn="ctr">
                <a:lnSpc>
                  <a:spcPts val="4608"/>
                </a:lnSpc>
              </a:pPr>
              <a:r>
                <a:rPr lang="en-US" sz="3840" b="1">
                  <a:solidFill>
                    <a:srgbClr val="000000"/>
                  </a:solidFill>
                  <a:latin typeface="Arial Bold"/>
                  <a:ea typeface="Arial Bold"/>
                  <a:cs typeface="Arial Bold"/>
                  <a:sym typeface="Arial Bold"/>
                </a:rPr>
                <a:t>Chương 3: Quy trình</a:t>
              </a:r>
            </a:p>
          </p:txBody>
        </p:sp>
      </p:grpSp>
      <p:grpSp>
        <p:nvGrpSpPr>
          <p:cNvPr id="12" name="Group 12"/>
          <p:cNvGrpSpPr/>
          <p:nvPr/>
        </p:nvGrpSpPr>
        <p:grpSpPr>
          <a:xfrm>
            <a:off x="1952785" y="2701968"/>
            <a:ext cx="5581210" cy="442299"/>
            <a:chOff x="0" y="0"/>
            <a:chExt cx="7441614" cy="589731"/>
          </a:xfrm>
        </p:grpSpPr>
        <p:sp>
          <p:nvSpPr>
            <p:cNvPr id="13" name="Freeform 13"/>
            <p:cNvSpPr/>
            <p:nvPr/>
          </p:nvSpPr>
          <p:spPr>
            <a:xfrm>
              <a:off x="0" y="0"/>
              <a:ext cx="7441614" cy="589731"/>
            </a:xfrm>
            <a:custGeom>
              <a:avLst/>
              <a:gdLst/>
              <a:ahLst/>
              <a:cxnLst/>
              <a:rect l="l" t="t" r="r" b="b"/>
              <a:pathLst>
                <a:path w="7441614" h="589731">
                  <a:moveTo>
                    <a:pt x="0" y="0"/>
                  </a:moveTo>
                  <a:lnTo>
                    <a:pt x="7441614" y="0"/>
                  </a:lnTo>
                  <a:lnTo>
                    <a:pt x="7441614" y="589731"/>
                  </a:lnTo>
                  <a:lnTo>
                    <a:pt x="0" y="589731"/>
                  </a:lnTo>
                  <a:close/>
                </a:path>
              </a:pathLst>
            </a:custGeom>
            <a:solidFill>
              <a:srgbClr val="000000">
                <a:alpha val="0"/>
              </a:srgbClr>
            </a:solidFill>
          </p:spPr>
        </p:sp>
        <p:sp>
          <p:nvSpPr>
            <p:cNvPr id="14" name="TextBox 14"/>
            <p:cNvSpPr txBox="1"/>
            <p:nvPr/>
          </p:nvSpPr>
          <p:spPr>
            <a:xfrm>
              <a:off x="0" y="-57150"/>
              <a:ext cx="7441614" cy="646881"/>
            </a:xfrm>
            <a:prstGeom prst="rect">
              <a:avLst/>
            </a:prstGeom>
          </p:spPr>
          <p:txBody>
            <a:bodyPr lIns="0" tIns="0" rIns="0" bIns="0" rtlCol="0" anchor="t"/>
            <a:lstStyle/>
            <a:p>
              <a:pPr algn="l">
                <a:lnSpc>
                  <a:spcPts val="2919"/>
                </a:lnSpc>
              </a:pPr>
              <a:r>
                <a:rPr lang="en-US" sz="2433">
                  <a:solidFill>
                    <a:srgbClr val="000000"/>
                  </a:solidFill>
                  <a:latin typeface="Arial"/>
                  <a:ea typeface="Arial"/>
                  <a:cs typeface="Arial"/>
                  <a:sym typeface="Arial"/>
                </a:rPr>
                <a:t>Giảng viên hướng dẫn: Nguyễn Kim Sao  </a:t>
              </a:r>
            </a:p>
          </p:txBody>
        </p:sp>
      </p:grpSp>
      <p:grpSp>
        <p:nvGrpSpPr>
          <p:cNvPr id="15" name="Group 15"/>
          <p:cNvGrpSpPr/>
          <p:nvPr/>
        </p:nvGrpSpPr>
        <p:grpSpPr>
          <a:xfrm>
            <a:off x="1556053" y="3657600"/>
            <a:ext cx="2970341" cy="429031"/>
            <a:chOff x="0" y="0"/>
            <a:chExt cx="3960455" cy="572041"/>
          </a:xfrm>
        </p:grpSpPr>
        <p:sp>
          <p:nvSpPr>
            <p:cNvPr id="16" name="Freeform 16"/>
            <p:cNvSpPr/>
            <p:nvPr/>
          </p:nvSpPr>
          <p:spPr>
            <a:xfrm>
              <a:off x="0" y="0"/>
              <a:ext cx="3960455" cy="572041"/>
            </a:xfrm>
            <a:custGeom>
              <a:avLst/>
              <a:gdLst/>
              <a:ahLst/>
              <a:cxnLst/>
              <a:rect l="l" t="t" r="r" b="b"/>
              <a:pathLst>
                <a:path w="3960455" h="572041">
                  <a:moveTo>
                    <a:pt x="0" y="0"/>
                  </a:moveTo>
                  <a:lnTo>
                    <a:pt x="3960455" y="0"/>
                  </a:lnTo>
                  <a:lnTo>
                    <a:pt x="3960455" y="572041"/>
                  </a:lnTo>
                  <a:lnTo>
                    <a:pt x="0" y="572041"/>
                  </a:lnTo>
                  <a:close/>
                </a:path>
              </a:pathLst>
            </a:custGeom>
            <a:solidFill>
              <a:srgbClr val="000000">
                <a:alpha val="0"/>
              </a:srgbClr>
            </a:solidFill>
          </p:spPr>
        </p:sp>
        <p:sp>
          <p:nvSpPr>
            <p:cNvPr id="17" name="TextBox 17"/>
            <p:cNvSpPr txBox="1"/>
            <p:nvPr/>
          </p:nvSpPr>
          <p:spPr>
            <a:xfrm>
              <a:off x="0" y="-47625"/>
              <a:ext cx="3960455" cy="619666"/>
            </a:xfrm>
            <a:prstGeom prst="rect">
              <a:avLst/>
            </a:prstGeom>
          </p:spPr>
          <p:txBody>
            <a:bodyPr lIns="0" tIns="0" rIns="0" bIns="0" rtlCol="0" anchor="t"/>
            <a:lstStyle/>
            <a:p>
              <a:pPr algn="l">
                <a:lnSpc>
                  <a:spcPts val="2783"/>
                </a:lnSpc>
              </a:pPr>
              <a:r>
                <a:rPr lang="en-US" sz="2319" b="1">
                  <a:solidFill>
                    <a:srgbClr val="000000"/>
                  </a:solidFill>
                  <a:latin typeface="Arial Bold"/>
                  <a:ea typeface="Arial Bold"/>
                  <a:cs typeface="Arial Bold"/>
                  <a:sym typeface="Arial Bold"/>
                </a:rPr>
                <a:t>Thành viên nhóm 2</a:t>
              </a:r>
            </a:p>
          </p:txBody>
        </p:sp>
      </p:grpSp>
      <p:grpSp>
        <p:nvGrpSpPr>
          <p:cNvPr id="18" name="Group 18"/>
          <p:cNvGrpSpPr/>
          <p:nvPr/>
        </p:nvGrpSpPr>
        <p:grpSpPr>
          <a:xfrm>
            <a:off x="1556053" y="4184918"/>
            <a:ext cx="4398991" cy="1486306"/>
            <a:chOff x="0" y="0"/>
            <a:chExt cx="5865321" cy="1981741"/>
          </a:xfrm>
        </p:grpSpPr>
        <p:sp>
          <p:nvSpPr>
            <p:cNvPr id="19" name="Freeform 19"/>
            <p:cNvSpPr/>
            <p:nvPr/>
          </p:nvSpPr>
          <p:spPr>
            <a:xfrm>
              <a:off x="0" y="0"/>
              <a:ext cx="5865321" cy="1981741"/>
            </a:xfrm>
            <a:custGeom>
              <a:avLst/>
              <a:gdLst/>
              <a:ahLst/>
              <a:cxnLst/>
              <a:rect l="l" t="t" r="r" b="b"/>
              <a:pathLst>
                <a:path w="5865321" h="1981741">
                  <a:moveTo>
                    <a:pt x="0" y="0"/>
                  </a:moveTo>
                  <a:lnTo>
                    <a:pt x="5865321" y="0"/>
                  </a:lnTo>
                  <a:lnTo>
                    <a:pt x="5865321" y="1981741"/>
                  </a:lnTo>
                  <a:lnTo>
                    <a:pt x="0" y="1981741"/>
                  </a:lnTo>
                  <a:close/>
                </a:path>
              </a:pathLst>
            </a:custGeom>
            <a:solidFill>
              <a:srgbClr val="000000">
                <a:alpha val="0"/>
              </a:srgbClr>
            </a:solidFill>
          </p:spPr>
        </p:sp>
        <p:sp>
          <p:nvSpPr>
            <p:cNvPr id="20" name="TextBox 20"/>
            <p:cNvSpPr txBox="1"/>
            <p:nvPr/>
          </p:nvSpPr>
          <p:spPr>
            <a:xfrm>
              <a:off x="0" y="-47625"/>
              <a:ext cx="5865321" cy="2029366"/>
            </a:xfrm>
            <a:prstGeom prst="rect">
              <a:avLst/>
            </a:prstGeom>
          </p:spPr>
          <p:txBody>
            <a:bodyPr lIns="0" tIns="0" rIns="0" bIns="0" rtlCol="0" anchor="t"/>
            <a:lstStyle/>
            <a:p>
              <a:pPr algn="l">
                <a:lnSpc>
                  <a:spcPts val="2783"/>
                </a:lnSpc>
              </a:pPr>
              <a:r>
                <a:rPr lang="en-US" sz="2319">
                  <a:solidFill>
                    <a:srgbClr val="000000"/>
                  </a:solidFill>
                  <a:latin typeface="Arial"/>
                  <a:ea typeface="Arial"/>
                  <a:cs typeface="Arial"/>
                  <a:sym typeface="Arial"/>
                </a:rPr>
                <a:t>Chu Văn Dũng - 211210740 </a:t>
              </a:r>
            </a:p>
            <a:p>
              <a:pPr algn="l">
                <a:lnSpc>
                  <a:spcPts val="2783"/>
                </a:lnSpc>
              </a:pPr>
              <a:r>
                <a:rPr lang="en-US" sz="2319">
                  <a:solidFill>
                    <a:srgbClr val="000000"/>
                  </a:solidFill>
                  <a:latin typeface="Arial"/>
                  <a:ea typeface="Arial"/>
                  <a:cs typeface="Arial"/>
                  <a:sym typeface="Arial"/>
                </a:rPr>
                <a:t>Chu Thị Quyên - 211202203</a:t>
              </a:r>
            </a:p>
            <a:p>
              <a:pPr algn="l">
                <a:lnSpc>
                  <a:spcPts val="2783"/>
                </a:lnSpc>
              </a:pPr>
              <a:r>
                <a:rPr lang="en-US" sz="2319">
                  <a:solidFill>
                    <a:srgbClr val="000000"/>
                  </a:solidFill>
                  <a:latin typeface="Arial"/>
                  <a:ea typeface="Arial"/>
                  <a:cs typeface="Arial"/>
                  <a:sym typeface="Arial"/>
                </a:rPr>
                <a:t>Dương Xuân Bách - 211210614</a:t>
              </a:r>
            </a:p>
            <a:p>
              <a:pPr algn="l">
                <a:lnSpc>
                  <a:spcPts val="2783"/>
                </a:lnSpc>
              </a:pPr>
              <a:r>
                <a:rPr lang="en-US" sz="2319">
                  <a:solidFill>
                    <a:srgbClr val="000000"/>
                  </a:solidFill>
                  <a:latin typeface="Arial"/>
                  <a:ea typeface="Arial"/>
                  <a:cs typeface="Arial"/>
                  <a:sym typeface="Arial"/>
                </a:rPr>
                <a:t>Phạm Hải Nhi - 211203484</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1556053" y="347678"/>
            <a:ext cx="6374674" cy="581474"/>
            <a:chOff x="0" y="0"/>
            <a:chExt cx="8499566" cy="775298"/>
          </a:xfrm>
        </p:grpSpPr>
        <p:sp>
          <p:nvSpPr>
            <p:cNvPr id="4" name="Freeform 4"/>
            <p:cNvSpPr/>
            <p:nvPr/>
          </p:nvSpPr>
          <p:spPr>
            <a:xfrm>
              <a:off x="0" y="0"/>
              <a:ext cx="8499566" cy="775298"/>
            </a:xfrm>
            <a:custGeom>
              <a:avLst/>
              <a:gdLst/>
              <a:ahLst/>
              <a:cxnLst/>
              <a:rect l="l" t="t" r="r" b="b"/>
              <a:pathLst>
                <a:path w="8499566" h="775298">
                  <a:moveTo>
                    <a:pt x="0" y="0"/>
                  </a:moveTo>
                  <a:lnTo>
                    <a:pt x="8499566" y="0"/>
                  </a:lnTo>
                  <a:lnTo>
                    <a:pt x="8499566" y="775298"/>
                  </a:lnTo>
                  <a:lnTo>
                    <a:pt x="0" y="775298"/>
                  </a:lnTo>
                  <a:close/>
                </a:path>
              </a:pathLst>
            </a:custGeom>
            <a:solidFill>
              <a:srgbClr val="000000">
                <a:alpha val="0"/>
              </a:srgbClr>
            </a:solidFill>
          </p:spPr>
        </p:sp>
        <p:sp>
          <p:nvSpPr>
            <p:cNvPr id="5" name="TextBox 5"/>
            <p:cNvSpPr txBox="1"/>
            <p:nvPr/>
          </p:nvSpPr>
          <p:spPr>
            <a:xfrm>
              <a:off x="0" y="-66675"/>
              <a:ext cx="8499566" cy="841973"/>
            </a:xfrm>
            <a:prstGeom prst="rect">
              <a:avLst/>
            </a:prstGeom>
          </p:spPr>
          <p:txBody>
            <a:bodyPr lIns="0" tIns="0" rIns="0" bIns="0" rtlCol="0" anchor="t"/>
            <a:lstStyle/>
            <a:p>
              <a:pPr algn="ctr">
                <a:lnSpc>
                  <a:spcPts val="3824"/>
                </a:lnSpc>
              </a:pPr>
              <a:r>
                <a:rPr lang="en-US" sz="3186" b="1">
                  <a:solidFill>
                    <a:srgbClr val="FFFF00"/>
                  </a:solidFill>
                  <a:latin typeface="Arial Bold"/>
                  <a:ea typeface="Arial Bold"/>
                  <a:cs typeface="Arial Bold"/>
                  <a:sym typeface="Arial Bold"/>
                </a:rPr>
                <a:t>CƠ SỞ DỮ LIỆU PHÂN TÁN</a:t>
              </a: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2</a:t>
              </a:r>
            </a:p>
          </p:txBody>
        </p:sp>
      </p:grpSp>
      <p:grpSp>
        <p:nvGrpSpPr>
          <p:cNvPr id="9" name="Group 9"/>
          <p:cNvGrpSpPr/>
          <p:nvPr/>
        </p:nvGrpSpPr>
        <p:grpSpPr>
          <a:xfrm>
            <a:off x="2304989" y="1720139"/>
            <a:ext cx="5347485" cy="707822"/>
            <a:chOff x="0" y="0"/>
            <a:chExt cx="7129980" cy="943762"/>
          </a:xfrm>
        </p:grpSpPr>
        <p:sp>
          <p:nvSpPr>
            <p:cNvPr id="10" name="Freeform 10"/>
            <p:cNvSpPr/>
            <p:nvPr/>
          </p:nvSpPr>
          <p:spPr>
            <a:xfrm>
              <a:off x="0" y="0"/>
              <a:ext cx="7129980" cy="943762"/>
            </a:xfrm>
            <a:custGeom>
              <a:avLst/>
              <a:gdLst/>
              <a:ahLst/>
              <a:cxnLst/>
              <a:rect l="l" t="t" r="r" b="b"/>
              <a:pathLst>
                <a:path w="7129980" h="943762">
                  <a:moveTo>
                    <a:pt x="0" y="0"/>
                  </a:moveTo>
                  <a:lnTo>
                    <a:pt x="7129980" y="0"/>
                  </a:lnTo>
                  <a:lnTo>
                    <a:pt x="7129980" y="943762"/>
                  </a:lnTo>
                  <a:lnTo>
                    <a:pt x="0" y="943762"/>
                  </a:lnTo>
                  <a:close/>
                </a:path>
              </a:pathLst>
            </a:custGeom>
            <a:solidFill>
              <a:srgbClr val="000000">
                <a:alpha val="0"/>
              </a:srgbClr>
            </a:solidFill>
          </p:spPr>
        </p:sp>
        <p:sp>
          <p:nvSpPr>
            <p:cNvPr id="11" name="TextBox 11"/>
            <p:cNvSpPr txBox="1"/>
            <p:nvPr/>
          </p:nvSpPr>
          <p:spPr>
            <a:xfrm>
              <a:off x="0" y="-85725"/>
              <a:ext cx="7129980" cy="1029487"/>
            </a:xfrm>
            <a:prstGeom prst="rect">
              <a:avLst/>
            </a:prstGeom>
          </p:spPr>
          <p:txBody>
            <a:bodyPr lIns="0" tIns="0" rIns="0" bIns="0" rtlCol="0" anchor="t"/>
            <a:lstStyle/>
            <a:p>
              <a:pPr algn="ctr">
                <a:lnSpc>
                  <a:spcPts val="4608"/>
                </a:lnSpc>
              </a:pPr>
              <a:r>
                <a:rPr lang="en-US" sz="3840" b="1">
                  <a:solidFill>
                    <a:srgbClr val="000000"/>
                  </a:solidFill>
                  <a:latin typeface="Arial Bold"/>
                  <a:ea typeface="Arial Bold"/>
                  <a:cs typeface="Arial Bold"/>
                  <a:sym typeface="Arial Bold"/>
                </a:rPr>
                <a:t>Mục lục</a:t>
              </a:r>
            </a:p>
          </p:txBody>
        </p:sp>
      </p:grpSp>
      <p:sp>
        <p:nvSpPr>
          <p:cNvPr id="12" name="TextBox 12"/>
          <p:cNvSpPr txBox="1"/>
          <p:nvPr/>
        </p:nvSpPr>
        <p:spPr>
          <a:xfrm>
            <a:off x="1556053" y="2825547"/>
            <a:ext cx="3744569" cy="2552915"/>
          </a:xfrm>
          <a:prstGeom prst="rect">
            <a:avLst/>
          </a:prstGeom>
        </p:spPr>
        <p:txBody>
          <a:bodyPr lIns="0" tIns="0" rIns="0" bIns="0" rtlCol="0" anchor="t">
            <a:spAutoFit/>
          </a:bodyPr>
          <a:lstStyle/>
          <a:p>
            <a:pPr marL="704654" lvl="1" indent="-352327" algn="l">
              <a:lnSpc>
                <a:spcPts val="3916"/>
              </a:lnSpc>
              <a:buAutoNum type="arabicPeriod"/>
            </a:pPr>
            <a:r>
              <a:rPr lang="en-US" sz="3263" b="1">
                <a:solidFill>
                  <a:srgbClr val="000000"/>
                </a:solidFill>
                <a:latin typeface="Arial Bold"/>
                <a:ea typeface="Arial Bold"/>
                <a:cs typeface="Arial Bold"/>
                <a:sym typeface="Arial Bold"/>
              </a:rPr>
              <a:t>Threads</a:t>
            </a:r>
          </a:p>
          <a:p>
            <a:pPr marL="704654" lvl="1" indent="-352327" algn="l">
              <a:lnSpc>
                <a:spcPts val="3916"/>
              </a:lnSpc>
              <a:buAutoNum type="arabicPeriod"/>
            </a:pPr>
            <a:r>
              <a:rPr lang="en-US" sz="3263" b="1">
                <a:solidFill>
                  <a:srgbClr val="000000"/>
                </a:solidFill>
                <a:latin typeface="Arial Bold"/>
                <a:ea typeface="Arial Bold"/>
                <a:cs typeface="Arial Bold"/>
                <a:sym typeface="Arial Bold"/>
              </a:rPr>
              <a:t>Virtualization</a:t>
            </a:r>
          </a:p>
          <a:p>
            <a:pPr marL="704654" lvl="1" indent="-352327" algn="l">
              <a:lnSpc>
                <a:spcPts val="3916"/>
              </a:lnSpc>
              <a:buAutoNum type="arabicPeriod"/>
            </a:pPr>
            <a:r>
              <a:rPr lang="en-US" sz="3263" b="1">
                <a:solidFill>
                  <a:srgbClr val="000000"/>
                </a:solidFill>
                <a:latin typeface="Arial Bold"/>
                <a:ea typeface="Arial Bold"/>
                <a:cs typeface="Arial Bold"/>
                <a:sym typeface="Arial Bold"/>
              </a:rPr>
              <a:t>Clients</a:t>
            </a:r>
          </a:p>
          <a:p>
            <a:pPr marL="704654" lvl="1" indent="-352327" algn="l">
              <a:lnSpc>
                <a:spcPts val="3916"/>
              </a:lnSpc>
              <a:buAutoNum type="arabicPeriod"/>
            </a:pPr>
            <a:r>
              <a:rPr lang="en-US" sz="3263" b="1">
                <a:solidFill>
                  <a:srgbClr val="000000"/>
                </a:solidFill>
                <a:latin typeface="Arial Bold"/>
                <a:ea typeface="Arial Bold"/>
                <a:cs typeface="Arial Bold"/>
                <a:sym typeface="Arial Bold"/>
              </a:rPr>
              <a:t>Servers</a:t>
            </a:r>
          </a:p>
          <a:p>
            <a:pPr marL="704654" lvl="1" indent="-352327" algn="l">
              <a:lnSpc>
                <a:spcPts val="3916"/>
              </a:lnSpc>
              <a:spcBef>
                <a:spcPct val="0"/>
              </a:spcBef>
              <a:buAutoNum type="arabicPeriod"/>
            </a:pPr>
            <a:r>
              <a:rPr lang="en-US" sz="3263" b="1">
                <a:solidFill>
                  <a:srgbClr val="000000"/>
                </a:solidFill>
                <a:latin typeface="Arial Bold"/>
                <a:ea typeface="Arial Bold"/>
                <a:cs typeface="Arial Bold"/>
                <a:sym typeface="Arial Bold"/>
              </a:rPr>
              <a:t>Code migration</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3</a:t>
              </a:r>
            </a:p>
          </p:txBody>
        </p:sp>
      </p:grpSp>
      <p:sp>
        <p:nvSpPr>
          <p:cNvPr id="6" name="TextBox 6"/>
          <p:cNvSpPr txBox="1"/>
          <p:nvPr/>
        </p:nvSpPr>
        <p:spPr>
          <a:xfrm>
            <a:off x="142399" y="293370"/>
            <a:ext cx="5424131" cy="514350"/>
          </a:xfrm>
          <a:prstGeom prst="rect">
            <a:avLst/>
          </a:prstGeom>
        </p:spPr>
        <p:txBody>
          <a:bodyPr lIns="0" tIns="0" rIns="0" bIns="0" rtlCol="0" anchor="t">
            <a:spAutoFit/>
          </a:bodyPr>
          <a:lstStyle/>
          <a:p>
            <a:pPr algn="ctr">
              <a:lnSpc>
                <a:spcPts val="3665"/>
              </a:lnSpc>
              <a:spcBef>
                <a:spcPct val="0"/>
              </a:spcBef>
            </a:pPr>
            <a:r>
              <a:rPr lang="en-US" sz="3054" b="1">
                <a:solidFill>
                  <a:srgbClr val="FFFF00"/>
                </a:solidFill>
                <a:latin typeface="Arial Bold"/>
                <a:ea typeface="Arial Bold"/>
                <a:cs typeface="Arial Bold"/>
                <a:sym typeface="Arial Bold"/>
              </a:rPr>
              <a:t>Giới thiệu về luồng (Threads)</a:t>
            </a:r>
          </a:p>
        </p:txBody>
      </p:sp>
      <p:sp>
        <p:nvSpPr>
          <p:cNvPr id="7" name="TextBox 7"/>
          <p:cNvSpPr txBox="1"/>
          <p:nvPr/>
        </p:nvSpPr>
        <p:spPr>
          <a:xfrm>
            <a:off x="0" y="1352653"/>
            <a:ext cx="6261883" cy="371529"/>
          </a:xfrm>
          <a:prstGeom prst="rect">
            <a:avLst/>
          </a:prstGeom>
        </p:spPr>
        <p:txBody>
          <a:bodyPr lIns="0" tIns="0" rIns="0" bIns="0" rtlCol="0" anchor="t">
            <a:spAutoFit/>
          </a:bodyPr>
          <a:lstStyle/>
          <a:p>
            <a:pPr algn="ctr">
              <a:lnSpc>
                <a:spcPts val="2658"/>
              </a:lnSpc>
              <a:spcBef>
                <a:spcPct val="0"/>
              </a:spcBef>
            </a:pPr>
            <a:r>
              <a:rPr lang="en-US" sz="2215" b="1">
                <a:solidFill>
                  <a:srgbClr val="000000"/>
                </a:solidFill>
                <a:latin typeface="Arial Bold"/>
                <a:ea typeface="Arial Bold"/>
                <a:cs typeface="Arial Bold"/>
                <a:sym typeface="Arial Bold"/>
              </a:rPr>
              <a:t>Ý tưởng cơ bản về luồng (Threads)</a:t>
            </a:r>
          </a:p>
        </p:txBody>
      </p:sp>
      <p:sp>
        <p:nvSpPr>
          <p:cNvPr id="8" name="TextBox 8"/>
          <p:cNvSpPr txBox="1"/>
          <p:nvPr/>
        </p:nvSpPr>
        <p:spPr>
          <a:xfrm>
            <a:off x="410944" y="1723928"/>
            <a:ext cx="9352240" cy="657225"/>
          </a:xfrm>
          <a:prstGeom prst="rect">
            <a:avLst/>
          </a:prstGeom>
        </p:spPr>
        <p:txBody>
          <a:bodyPr lIns="0" tIns="0" rIns="0" bIns="0" rtlCol="0" anchor="t">
            <a:spAutoFit/>
          </a:bodyPr>
          <a:lstStyle/>
          <a:p>
            <a:pPr algn="just">
              <a:lnSpc>
                <a:spcPts val="2434"/>
              </a:lnSpc>
              <a:spcBef>
                <a:spcPct val="0"/>
              </a:spcBef>
            </a:pPr>
            <a:r>
              <a:rPr lang="en-US" sz="2029" b="1">
                <a:solidFill>
                  <a:srgbClr val="000000"/>
                </a:solidFill>
                <a:latin typeface="Arial Bold"/>
                <a:ea typeface="Arial Bold"/>
                <a:cs typeface="Arial Bold"/>
                <a:sym typeface="Arial Bold"/>
              </a:rPr>
              <a:t>Chúng ta xây dựng bộ xử lý ảo (virtual processors) bằng phần mềm, hoạt động trên các bộ xử lý vật lý (physical processors).</a:t>
            </a:r>
          </a:p>
        </p:txBody>
      </p:sp>
      <p:sp>
        <p:nvSpPr>
          <p:cNvPr id="9" name="TextBox 9"/>
          <p:cNvSpPr txBox="1"/>
          <p:nvPr/>
        </p:nvSpPr>
        <p:spPr>
          <a:xfrm>
            <a:off x="210264" y="2473727"/>
            <a:ext cx="9363228" cy="3781301"/>
          </a:xfrm>
          <a:prstGeom prst="rect">
            <a:avLst/>
          </a:prstGeom>
        </p:spPr>
        <p:txBody>
          <a:bodyPr lIns="0" tIns="0" rIns="0" bIns="0" rtlCol="0" anchor="t">
            <a:spAutoFit/>
          </a:bodyPr>
          <a:lstStyle/>
          <a:p>
            <a:pPr algn="just">
              <a:lnSpc>
                <a:spcPts val="2154"/>
              </a:lnSpc>
            </a:pPr>
            <a:r>
              <a:rPr lang="en-US" sz="1795" b="1">
                <a:solidFill>
                  <a:srgbClr val="000000"/>
                </a:solidFill>
                <a:latin typeface="Arial Bold"/>
                <a:ea typeface="Arial Bold"/>
                <a:cs typeface="Arial Bold"/>
                <a:sym typeface="Arial Bold"/>
              </a:rPr>
              <a:t>1. Processor (Bộ xử lý)</a:t>
            </a:r>
          </a:p>
          <a:p>
            <a:pPr algn="just">
              <a:lnSpc>
                <a:spcPts val="2154"/>
              </a:lnSpc>
            </a:pPr>
            <a:r>
              <a:rPr lang="en-US" sz="1795">
                <a:solidFill>
                  <a:srgbClr val="000000"/>
                </a:solidFill>
                <a:latin typeface="Arial"/>
                <a:ea typeface="Arial"/>
                <a:cs typeface="Arial"/>
                <a:sym typeface="Arial"/>
              </a:rPr>
              <a:t>Bộ xử lý là phần cứng cung cấp tập lệnh và khả năng thực thi tự động một chuỗi lệnh. Nó là nền tảng cơ bản để chạy các chương trình máy tính.</a:t>
            </a:r>
          </a:p>
          <a:p>
            <a:pPr algn="just">
              <a:lnSpc>
                <a:spcPts val="2154"/>
              </a:lnSpc>
            </a:pPr>
            <a:endParaRPr lang="en-US" sz="1795">
              <a:solidFill>
                <a:srgbClr val="000000"/>
              </a:solidFill>
              <a:latin typeface="Arial"/>
              <a:ea typeface="Arial"/>
              <a:cs typeface="Arial"/>
              <a:sym typeface="Arial"/>
            </a:endParaRPr>
          </a:p>
          <a:p>
            <a:pPr algn="just">
              <a:lnSpc>
                <a:spcPts val="2154"/>
              </a:lnSpc>
            </a:pPr>
            <a:r>
              <a:rPr lang="en-US" sz="1795" b="1">
                <a:solidFill>
                  <a:srgbClr val="000000"/>
                </a:solidFill>
                <a:latin typeface="Arial Bold"/>
                <a:ea typeface="Arial Bold"/>
                <a:cs typeface="Arial Bold"/>
                <a:sym typeface="Arial Bold"/>
              </a:rPr>
              <a:t>2. Thread (Luồng)</a:t>
            </a:r>
          </a:p>
          <a:p>
            <a:pPr algn="just">
              <a:lnSpc>
                <a:spcPts val="2154"/>
              </a:lnSpc>
            </a:pPr>
            <a:r>
              <a:rPr lang="en-US" sz="1795">
                <a:solidFill>
                  <a:srgbClr val="000000"/>
                </a:solidFill>
                <a:latin typeface="Arial"/>
                <a:ea typeface="Arial"/>
                <a:cs typeface="Arial"/>
                <a:sym typeface="Arial"/>
              </a:rPr>
              <a:t>Luồng là một bộ xử lý phần mềm tối thiểu có khả năng thực thi một chuỗi lệnh trong một bối cảnh cụ thể. Khi lưu ngữ cảnh của luồng (thread context), hệ thống sẽ dừng thực thi luồng hiện tại và lưu toàn bộ dữ liệu cần thiết để có thể tiếp tục thực thi sau này. Luồng là đơn vị thực thi nhỏ nhất trong hệ điều hành.</a:t>
            </a:r>
          </a:p>
          <a:p>
            <a:pPr algn="just">
              <a:lnSpc>
                <a:spcPts val="2154"/>
              </a:lnSpc>
            </a:pPr>
            <a:endParaRPr lang="en-US" sz="1795">
              <a:solidFill>
                <a:srgbClr val="000000"/>
              </a:solidFill>
              <a:latin typeface="Arial"/>
              <a:ea typeface="Arial"/>
              <a:cs typeface="Arial"/>
              <a:sym typeface="Arial"/>
            </a:endParaRPr>
          </a:p>
          <a:p>
            <a:pPr algn="just">
              <a:lnSpc>
                <a:spcPts val="2154"/>
              </a:lnSpc>
            </a:pPr>
            <a:r>
              <a:rPr lang="en-US" sz="1795" b="1">
                <a:solidFill>
                  <a:srgbClr val="000000"/>
                </a:solidFill>
                <a:latin typeface="Arial Bold"/>
                <a:ea typeface="Arial Bold"/>
                <a:cs typeface="Arial Bold"/>
                <a:sym typeface="Arial Bold"/>
              </a:rPr>
              <a:t>3. Process (Tiến trình)</a:t>
            </a:r>
          </a:p>
          <a:p>
            <a:pPr algn="just">
              <a:lnSpc>
                <a:spcPts val="2154"/>
              </a:lnSpc>
              <a:spcBef>
                <a:spcPct val="0"/>
              </a:spcBef>
            </a:pPr>
            <a:r>
              <a:rPr lang="en-US" sz="1795">
                <a:solidFill>
                  <a:srgbClr val="000000"/>
                </a:solidFill>
                <a:latin typeface="Arial"/>
                <a:ea typeface="Arial"/>
                <a:cs typeface="Arial"/>
                <a:sym typeface="Arial"/>
              </a:rPr>
              <a:t>Tiến trình là một bộ xử lý phần mềm có thể chứa một hoặc nhiều luồng bên trong nó. Khi một luồng được thực thi, nó sẽ thực thi một chuỗi lệnh trong bối cảnh của tiến trình đó. Mỗi tiến trình có không gian địa chỉ riêng, giúp cách ly dữ liệu giữa các tiến trình khác nhau</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4</a:t>
              </a:r>
            </a:p>
          </p:txBody>
        </p:sp>
      </p:grpSp>
      <p:sp>
        <p:nvSpPr>
          <p:cNvPr id="6" name="TextBox 6"/>
          <p:cNvSpPr txBox="1"/>
          <p:nvPr/>
        </p:nvSpPr>
        <p:spPr>
          <a:xfrm>
            <a:off x="0" y="362715"/>
            <a:ext cx="8346226" cy="489033"/>
          </a:xfrm>
          <a:prstGeom prst="rect">
            <a:avLst/>
          </a:prstGeom>
        </p:spPr>
        <p:txBody>
          <a:bodyPr lIns="0" tIns="0" rIns="0" bIns="0" rtlCol="0" anchor="t">
            <a:spAutoFit/>
          </a:bodyPr>
          <a:lstStyle/>
          <a:p>
            <a:pPr algn="ctr">
              <a:lnSpc>
                <a:spcPts val="3405"/>
              </a:lnSpc>
              <a:spcBef>
                <a:spcPct val="0"/>
              </a:spcBef>
            </a:pPr>
            <a:r>
              <a:rPr lang="en-US" sz="2837" b="1">
                <a:solidFill>
                  <a:srgbClr val="FFFF00"/>
                </a:solidFill>
                <a:latin typeface="Arial Bold"/>
                <a:ea typeface="Arial Bold"/>
                <a:cs typeface="Arial Bold"/>
                <a:sym typeface="Arial Bold"/>
              </a:rPr>
              <a:t>Chuyển đổi ngữ cảnh (Context Switching</a:t>
            </a:r>
            <a:r>
              <a:rPr lang="en-US" sz="2837">
                <a:solidFill>
                  <a:srgbClr val="FFFF00"/>
                </a:solidFill>
                <a:latin typeface="Arial"/>
                <a:ea typeface="Arial"/>
                <a:cs typeface="Arial"/>
                <a:sym typeface="Arial"/>
              </a:rPr>
              <a:t>)</a:t>
            </a:r>
          </a:p>
        </p:txBody>
      </p:sp>
      <p:sp>
        <p:nvSpPr>
          <p:cNvPr id="7" name="TextBox 7"/>
          <p:cNvSpPr txBox="1"/>
          <p:nvPr/>
        </p:nvSpPr>
        <p:spPr>
          <a:xfrm>
            <a:off x="114841" y="1396933"/>
            <a:ext cx="1917284" cy="489701"/>
          </a:xfrm>
          <a:prstGeom prst="rect">
            <a:avLst/>
          </a:prstGeom>
        </p:spPr>
        <p:txBody>
          <a:bodyPr lIns="0" tIns="0" rIns="0" bIns="0" rtlCol="0" anchor="t">
            <a:spAutoFit/>
          </a:bodyPr>
          <a:lstStyle/>
          <a:p>
            <a:pPr algn="ctr">
              <a:lnSpc>
                <a:spcPts val="3487"/>
              </a:lnSpc>
              <a:spcBef>
                <a:spcPct val="0"/>
              </a:spcBef>
            </a:pPr>
            <a:r>
              <a:rPr lang="en-US" sz="2906" b="1">
                <a:solidFill>
                  <a:srgbClr val="000000"/>
                </a:solidFill>
                <a:latin typeface="Arial Bold"/>
                <a:ea typeface="Arial Bold"/>
                <a:cs typeface="Arial Bold"/>
                <a:sym typeface="Arial Bold"/>
              </a:rPr>
              <a:t>Định nghĩa</a:t>
            </a:r>
          </a:p>
        </p:txBody>
      </p:sp>
      <p:sp>
        <p:nvSpPr>
          <p:cNvPr id="8" name="TextBox 8"/>
          <p:cNvSpPr txBox="1"/>
          <p:nvPr/>
        </p:nvSpPr>
        <p:spPr>
          <a:xfrm>
            <a:off x="225052" y="2161977"/>
            <a:ext cx="9528548" cy="2434590"/>
          </a:xfrm>
          <a:prstGeom prst="rect">
            <a:avLst/>
          </a:prstGeom>
        </p:spPr>
        <p:txBody>
          <a:bodyPr lIns="0" tIns="0" rIns="0" bIns="0" rtlCol="0" anchor="t">
            <a:spAutoFit/>
          </a:bodyPr>
          <a:lstStyle/>
          <a:p>
            <a:pPr algn="just">
              <a:lnSpc>
                <a:spcPts val="2398"/>
              </a:lnSpc>
            </a:pPr>
            <a:r>
              <a:rPr lang="en-US" sz="1998" b="1">
                <a:solidFill>
                  <a:srgbClr val="000000"/>
                </a:solidFill>
                <a:latin typeface="Arial Bold"/>
                <a:ea typeface="Arial Bold"/>
                <a:cs typeface="Arial Bold"/>
                <a:sym typeface="Arial Bold"/>
              </a:rPr>
              <a:t>Quá trình lưu lại trạng thái của một luồng hoặc tiến trình đang chạy và khôi phục trạng thái của một luồng hoặc tiến trình khác để tiếp tục thực thi.</a:t>
            </a:r>
          </a:p>
          <a:p>
            <a:pPr algn="just">
              <a:lnSpc>
                <a:spcPts val="2398"/>
              </a:lnSpc>
            </a:pPr>
            <a:endParaRPr lang="en-US" sz="1998" b="1">
              <a:solidFill>
                <a:srgbClr val="000000"/>
              </a:solidFill>
              <a:latin typeface="Arial Bold"/>
              <a:ea typeface="Arial Bold"/>
              <a:cs typeface="Arial Bold"/>
              <a:sym typeface="Arial Bold"/>
            </a:endParaRPr>
          </a:p>
          <a:p>
            <a:pPr algn="just">
              <a:lnSpc>
                <a:spcPts val="2398"/>
              </a:lnSpc>
            </a:pPr>
            <a:endParaRPr lang="en-US" sz="1998" b="1">
              <a:solidFill>
                <a:srgbClr val="000000"/>
              </a:solidFill>
              <a:latin typeface="Arial Bold"/>
              <a:ea typeface="Arial Bold"/>
              <a:cs typeface="Arial Bold"/>
              <a:sym typeface="Arial Bold"/>
            </a:endParaRPr>
          </a:p>
          <a:p>
            <a:pPr algn="just">
              <a:lnSpc>
                <a:spcPts val="2398"/>
              </a:lnSpc>
            </a:pPr>
            <a:endParaRPr lang="en-US" sz="1998" b="1">
              <a:solidFill>
                <a:srgbClr val="000000"/>
              </a:solidFill>
              <a:latin typeface="Arial Bold"/>
              <a:ea typeface="Arial Bold"/>
              <a:cs typeface="Arial Bold"/>
              <a:sym typeface="Arial Bold"/>
            </a:endParaRPr>
          </a:p>
          <a:p>
            <a:pPr algn="just">
              <a:lnSpc>
                <a:spcPts val="2398"/>
              </a:lnSpc>
              <a:spcBef>
                <a:spcPct val="0"/>
              </a:spcBef>
            </a:pPr>
            <a:r>
              <a:rPr lang="en-US" sz="1998" b="1">
                <a:solidFill>
                  <a:srgbClr val="000000"/>
                </a:solidFill>
                <a:latin typeface="Arial Bold"/>
                <a:ea typeface="Arial Bold"/>
                <a:cs typeface="Arial Bold"/>
                <a:sym typeface="Arial Bold"/>
              </a:rPr>
              <a:t>Xảy ra khi hệ điều hành thay đổi tác vụ đang chạy trên CPU, giúp thực hiện đa nhiệm (multitasking) và chia sẻ tài nguyên CPU giữa nhiều tiến trình hoặc luồng.</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5</a:t>
              </a:r>
            </a:p>
          </p:txBody>
        </p:sp>
      </p:grpSp>
      <p:sp>
        <p:nvSpPr>
          <p:cNvPr id="6" name="TextBox 6"/>
          <p:cNvSpPr txBox="1"/>
          <p:nvPr/>
        </p:nvSpPr>
        <p:spPr>
          <a:xfrm>
            <a:off x="0" y="362715"/>
            <a:ext cx="6893355" cy="911391"/>
          </a:xfrm>
          <a:prstGeom prst="rect">
            <a:avLst/>
          </a:prstGeom>
        </p:spPr>
        <p:txBody>
          <a:bodyPr lIns="0" tIns="0" rIns="0" bIns="0" rtlCol="0" anchor="t">
            <a:spAutoFit/>
          </a:bodyPr>
          <a:lstStyle/>
          <a:p>
            <a:pPr algn="ctr">
              <a:lnSpc>
                <a:spcPts val="3405"/>
              </a:lnSpc>
              <a:spcBef>
                <a:spcPct val="0"/>
              </a:spcBef>
            </a:pPr>
            <a:r>
              <a:rPr lang="en-US" sz="2837" b="1">
                <a:solidFill>
                  <a:srgbClr val="FFFF00"/>
                </a:solidFill>
                <a:latin typeface="Arial Bold"/>
                <a:ea typeface="Arial Bold"/>
                <a:cs typeface="Arial Bold"/>
                <a:sym typeface="Arial Bold"/>
              </a:rPr>
              <a:t>Chuyển đổi ngữ cảnh (Context Switching</a:t>
            </a:r>
            <a:r>
              <a:rPr lang="en-US" sz="2837">
                <a:solidFill>
                  <a:srgbClr val="FFFF00"/>
                </a:solidFill>
                <a:latin typeface="Arial"/>
                <a:ea typeface="Arial"/>
                <a:cs typeface="Arial"/>
                <a:sym typeface="Arial"/>
              </a:rPr>
              <a:t>)</a:t>
            </a:r>
          </a:p>
        </p:txBody>
      </p:sp>
      <p:sp>
        <p:nvSpPr>
          <p:cNvPr id="7" name="TextBox 7"/>
          <p:cNvSpPr txBox="1"/>
          <p:nvPr/>
        </p:nvSpPr>
        <p:spPr>
          <a:xfrm>
            <a:off x="0" y="1243927"/>
            <a:ext cx="9753600" cy="3152775"/>
          </a:xfrm>
          <a:prstGeom prst="rect">
            <a:avLst/>
          </a:prstGeom>
        </p:spPr>
        <p:txBody>
          <a:bodyPr lIns="0" tIns="0" rIns="0" bIns="0" rtlCol="0" anchor="t">
            <a:spAutoFit/>
          </a:bodyPr>
          <a:lstStyle/>
          <a:p>
            <a:pPr algn="just">
              <a:lnSpc>
                <a:spcPts val="3405"/>
              </a:lnSpc>
              <a:spcBef>
                <a:spcPct val="0"/>
              </a:spcBef>
            </a:pPr>
            <a:r>
              <a:rPr lang="en-US" sz="2837" b="1">
                <a:solidFill>
                  <a:srgbClr val="000000"/>
                </a:solidFill>
                <a:latin typeface="Arial Bold"/>
                <a:ea typeface="Arial Bold"/>
                <a:cs typeface="Arial Bold"/>
                <a:sym typeface="Arial Bold"/>
              </a:rPr>
              <a:t>1. Ngữ cảnh của bộ xử lý (Processor Context)</a:t>
            </a:r>
          </a:p>
          <a:p>
            <a:pPr marL="526344" lvl="1" indent="-263172" algn="just">
              <a:lnSpc>
                <a:spcPts val="2925"/>
              </a:lnSpc>
              <a:spcBef>
                <a:spcPct val="0"/>
              </a:spcBef>
              <a:buFont typeface="Arial"/>
              <a:buChar char="•"/>
            </a:pPr>
            <a:r>
              <a:rPr lang="en-US" sz="2437" b="1">
                <a:solidFill>
                  <a:srgbClr val="000000"/>
                </a:solidFill>
                <a:latin typeface="Arial Bold"/>
                <a:ea typeface="Arial Bold"/>
                <a:cs typeface="Arial Bold"/>
                <a:sym typeface="Arial Bold"/>
              </a:rPr>
              <a:t>Là tập hợp tối thiểu các giá trị được lưu trữ trong thanh ghi (registers) của bộ xử lý.</a:t>
            </a:r>
          </a:p>
          <a:p>
            <a:pPr marL="526344" lvl="1" indent="-263172" algn="just">
              <a:lnSpc>
                <a:spcPts val="2925"/>
              </a:lnSpc>
              <a:spcBef>
                <a:spcPct val="0"/>
              </a:spcBef>
              <a:buFont typeface="Arial"/>
              <a:buChar char="•"/>
            </a:pPr>
            <a:r>
              <a:rPr lang="en-US" sz="2437" b="1">
                <a:solidFill>
                  <a:srgbClr val="000000"/>
                </a:solidFill>
                <a:latin typeface="Arial Bold"/>
                <a:ea typeface="Arial Bold"/>
                <a:cs typeface="Arial Bold"/>
                <a:sym typeface="Arial Bold"/>
              </a:rPr>
              <a:t>Những giá trị này cần thiết để thực thi một chuỗi lệnh.</a:t>
            </a:r>
          </a:p>
          <a:p>
            <a:pPr marL="526344" lvl="1" indent="-263172" algn="just">
              <a:lnSpc>
                <a:spcPts val="2925"/>
              </a:lnSpc>
              <a:spcBef>
                <a:spcPct val="0"/>
              </a:spcBef>
              <a:buFont typeface="Arial"/>
              <a:buChar char="•"/>
            </a:pPr>
            <a:r>
              <a:rPr lang="en-US" sz="2437" b="1">
                <a:solidFill>
                  <a:srgbClr val="000000"/>
                </a:solidFill>
                <a:latin typeface="Arial Bold"/>
                <a:ea typeface="Arial Bold"/>
                <a:cs typeface="Arial Bold"/>
                <a:sym typeface="Arial Bold"/>
              </a:rPr>
              <a:t>Ví dụ: con trỏ ngăn xếp (stack pointer), thanh ghi địa chỉ (addressing registers), bộ đếm chương trình (program counter).</a:t>
            </a:r>
          </a:p>
          <a:p>
            <a:pPr algn="just">
              <a:lnSpc>
                <a:spcPts val="3405"/>
              </a:lnSpc>
              <a:spcBef>
                <a:spcPct val="0"/>
              </a:spcBef>
            </a:pPr>
            <a:endParaRPr lang="en-US" sz="2437" b="1">
              <a:solidFill>
                <a:srgbClr val="000000"/>
              </a:solidFill>
              <a:latin typeface="Arial Bold"/>
              <a:ea typeface="Arial Bold"/>
              <a:cs typeface="Arial Bold"/>
              <a:sym typeface="Arial Bold"/>
            </a:endParaRPr>
          </a:p>
        </p:txBody>
      </p:sp>
      <p:sp>
        <p:nvSpPr>
          <p:cNvPr id="8" name="TextBox 8"/>
          <p:cNvSpPr txBox="1"/>
          <p:nvPr/>
        </p:nvSpPr>
        <p:spPr>
          <a:xfrm>
            <a:off x="0" y="4212314"/>
            <a:ext cx="8523962" cy="923925"/>
          </a:xfrm>
          <a:prstGeom prst="rect">
            <a:avLst/>
          </a:prstGeom>
        </p:spPr>
        <p:txBody>
          <a:bodyPr lIns="0" tIns="0" rIns="0" bIns="0" rtlCol="0" anchor="t">
            <a:spAutoFit/>
          </a:bodyPr>
          <a:lstStyle/>
          <a:p>
            <a:pPr algn="ctr">
              <a:lnSpc>
                <a:spcPts val="3405"/>
              </a:lnSpc>
              <a:spcBef>
                <a:spcPct val="0"/>
              </a:spcBef>
            </a:pPr>
            <a:r>
              <a:rPr lang="en-US" sz="2837" b="1">
                <a:solidFill>
                  <a:srgbClr val="FF0000"/>
                </a:solidFill>
                <a:latin typeface="Arial Bold"/>
                <a:ea typeface="Arial Bold"/>
                <a:cs typeface="Arial Bold"/>
                <a:sym typeface="Arial Bold"/>
              </a:rPr>
              <a:t>Ngữ cảnh bộ xử lý: chỉ lưu giá trị trong thanh ghi.</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6</a:t>
              </a:r>
            </a:p>
          </p:txBody>
        </p:sp>
      </p:grpSp>
      <p:sp>
        <p:nvSpPr>
          <p:cNvPr id="6" name="TextBox 6"/>
          <p:cNvSpPr txBox="1"/>
          <p:nvPr/>
        </p:nvSpPr>
        <p:spPr>
          <a:xfrm>
            <a:off x="0" y="362715"/>
            <a:ext cx="6893355" cy="923925"/>
          </a:xfrm>
          <a:prstGeom prst="rect">
            <a:avLst/>
          </a:prstGeom>
        </p:spPr>
        <p:txBody>
          <a:bodyPr lIns="0" tIns="0" rIns="0" bIns="0" rtlCol="0" anchor="t">
            <a:spAutoFit/>
          </a:bodyPr>
          <a:lstStyle/>
          <a:p>
            <a:pPr algn="ctr">
              <a:lnSpc>
                <a:spcPts val="3405"/>
              </a:lnSpc>
              <a:spcBef>
                <a:spcPct val="0"/>
              </a:spcBef>
            </a:pPr>
            <a:r>
              <a:rPr lang="en-US" sz="2837" b="1">
                <a:solidFill>
                  <a:srgbClr val="FFFF00"/>
                </a:solidFill>
                <a:latin typeface="Arial Bold"/>
                <a:ea typeface="Arial Bold"/>
                <a:cs typeface="Arial Bold"/>
                <a:sym typeface="Arial Bold"/>
              </a:rPr>
              <a:t>Chuyển đổi ngữ cảnh (Context Switching</a:t>
            </a:r>
            <a:r>
              <a:rPr lang="en-US" sz="2837">
                <a:solidFill>
                  <a:srgbClr val="FFFF00"/>
                </a:solidFill>
                <a:latin typeface="Arial"/>
                <a:ea typeface="Arial"/>
                <a:cs typeface="Arial"/>
                <a:sym typeface="Arial"/>
              </a:rPr>
              <a:t>)</a:t>
            </a:r>
          </a:p>
        </p:txBody>
      </p:sp>
      <p:sp>
        <p:nvSpPr>
          <p:cNvPr id="7" name="TextBox 7"/>
          <p:cNvSpPr txBox="1"/>
          <p:nvPr/>
        </p:nvSpPr>
        <p:spPr>
          <a:xfrm>
            <a:off x="0" y="1315970"/>
            <a:ext cx="9753600" cy="3209925"/>
          </a:xfrm>
          <a:prstGeom prst="rect">
            <a:avLst/>
          </a:prstGeom>
        </p:spPr>
        <p:txBody>
          <a:bodyPr lIns="0" tIns="0" rIns="0" bIns="0" rtlCol="0" anchor="t">
            <a:spAutoFit/>
          </a:bodyPr>
          <a:lstStyle/>
          <a:p>
            <a:pPr algn="just">
              <a:lnSpc>
                <a:spcPts val="3405"/>
              </a:lnSpc>
              <a:spcBef>
                <a:spcPct val="0"/>
              </a:spcBef>
            </a:pPr>
            <a:r>
              <a:rPr lang="en-US" sz="2837" b="1">
                <a:solidFill>
                  <a:srgbClr val="000000"/>
                </a:solidFill>
                <a:latin typeface="Arial Bold"/>
                <a:ea typeface="Arial Bold"/>
                <a:cs typeface="Arial Bold"/>
                <a:sym typeface="Arial Bold"/>
              </a:rPr>
              <a:t>2. Ngữ cảnh của luồng (Thread Context)</a:t>
            </a:r>
          </a:p>
          <a:p>
            <a:pPr marL="547933" lvl="1" indent="-273967" algn="just">
              <a:lnSpc>
                <a:spcPts val="3045"/>
              </a:lnSpc>
              <a:spcBef>
                <a:spcPct val="0"/>
              </a:spcBef>
              <a:buFont typeface="Arial"/>
              <a:buChar char="•"/>
            </a:pPr>
            <a:r>
              <a:rPr lang="en-US" sz="2537" b="1">
                <a:solidFill>
                  <a:srgbClr val="000000"/>
                </a:solidFill>
                <a:latin typeface="Arial Bold"/>
                <a:ea typeface="Arial Bold"/>
                <a:cs typeface="Arial Bold"/>
                <a:sym typeface="Arial Bold"/>
              </a:rPr>
              <a:t>Là tập hợp tối thiểu các giá trị được lưu trữ trong thanh ghi và bộ nhớ.</a:t>
            </a:r>
          </a:p>
          <a:p>
            <a:pPr marL="547933" lvl="1" indent="-273967" algn="just">
              <a:lnSpc>
                <a:spcPts val="3045"/>
              </a:lnSpc>
              <a:spcBef>
                <a:spcPct val="0"/>
              </a:spcBef>
              <a:buFont typeface="Arial"/>
              <a:buChar char="•"/>
            </a:pPr>
            <a:r>
              <a:rPr lang="en-US" sz="2537" b="1">
                <a:solidFill>
                  <a:srgbClr val="000000"/>
                </a:solidFill>
                <a:latin typeface="Arial Bold"/>
                <a:ea typeface="Arial Bold"/>
                <a:cs typeface="Arial Bold"/>
                <a:sym typeface="Arial Bold"/>
              </a:rPr>
              <a:t>Dùng để thực thi một chuỗi lệnh, bao gồm:</a:t>
            </a:r>
          </a:p>
          <a:p>
            <a:pPr marL="1095866" lvl="2" indent="-365289" algn="just">
              <a:lnSpc>
                <a:spcPts val="3045"/>
              </a:lnSpc>
              <a:spcBef>
                <a:spcPct val="0"/>
              </a:spcBef>
              <a:buFont typeface="Arial"/>
              <a:buChar char="⚬"/>
            </a:pPr>
            <a:r>
              <a:rPr lang="en-US" sz="2537" b="1">
                <a:solidFill>
                  <a:srgbClr val="000000"/>
                </a:solidFill>
                <a:latin typeface="Arial Bold"/>
                <a:ea typeface="Arial Bold"/>
                <a:cs typeface="Arial Bold"/>
                <a:sym typeface="Arial Bold"/>
              </a:rPr>
              <a:t>Ngữ cảnh của bộ xử lý (processor context).</a:t>
            </a:r>
          </a:p>
          <a:p>
            <a:pPr marL="1095866" lvl="2" indent="-365289" algn="just">
              <a:lnSpc>
                <a:spcPts val="3045"/>
              </a:lnSpc>
              <a:spcBef>
                <a:spcPct val="0"/>
              </a:spcBef>
              <a:buFont typeface="Arial"/>
              <a:buChar char="⚬"/>
            </a:pPr>
            <a:r>
              <a:rPr lang="en-US" sz="2537" b="1">
                <a:solidFill>
                  <a:srgbClr val="000000"/>
                </a:solidFill>
                <a:latin typeface="Arial Bold"/>
                <a:ea typeface="Arial Bold"/>
                <a:cs typeface="Arial Bold"/>
                <a:sym typeface="Arial Bold"/>
              </a:rPr>
              <a:t>Trạng thái (state) của luồng, chẳng hạn như các biến cục bộ hoặc tài nguyên được sử dụng.</a:t>
            </a:r>
          </a:p>
          <a:p>
            <a:pPr algn="just">
              <a:lnSpc>
                <a:spcPts val="3405"/>
              </a:lnSpc>
              <a:spcBef>
                <a:spcPct val="0"/>
              </a:spcBef>
            </a:pPr>
            <a:endParaRPr lang="en-US" sz="2537" b="1">
              <a:solidFill>
                <a:srgbClr val="000000"/>
              </a:solidFill>
              <a:latin typeface="Arial Bold"/>
              <a:ea typeface="Arial Bold"/>
              <a:cs typeface="Arial Bold"/>
              <a:sym typeface="Arial Bold"/>
            </a:endParaRPr>
          </a:p>
        </p:txBody>
      </p:sp>
      <p:sp>
        <p:nvSpPr>
          <p:cNvPr id="8" name="TextBox 8"/>
          <p:cNvSpPr txBox="1"/>
          <p:nvPr/>
        </p:nvSpPr>
        <p:spPr>
          <a:xfrm>
            <a:off x="302632" y="4532190"/>
            <a:ext cx="9148337" cy="923925"/>
          </a:xfrm>
          <a:prstGeom prst="rect">
            <a:avLst/>
          </a:prstGeom>
        </p:spPr>
        <p:txBody>
          <a:bodyPr lIns="0" tIns="0" rIns="0" bIns="0" rtlCol="0" anchor="t">
            <a:spAutoFit/>
          </a:bodyPr>
          <a:lstStyle/>
          <a:p>
            <a:pPr algn="just">
              <a:lnSpc>
                <a:spcPts val="3405"/>
              </a:lnSpc>
              <a:spcBef>
                <a:spcPct val="0"/>
              </a:spcBef>
            </a:pPr>
            <a:r>
              <a:rPr lang="en-US" sz="2837" b="1">
                <a:solidFill>
                  <a:srgbClr val="FF0000"/>
                </a:solidFill>
                <a:latin typeface="Arial Bold"/>
                <a:ea typeface="Arial Bold"/>
                <a:cs typeface="Arial Bold"/>
                <a:sym typeface="Arial Bold"/>
              </a:rPr>
              <a:t>Ngữ cảnh luồng: bao gồm ngữ cảnh bộ xử lý + trạng thái của luồng.</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7</a:t>
              </a:r>
            </a:p>
          </p:txBody>
        </p:sp>
      </p:grpSp>
      <p:sp>
        <p:nvSpPr>
          <p:cNvPr id="6" name="TextBox 6"/>
          <p:cNvSpPr txBox="1"/>
          <p:nvPr/>
        </p:nvSpPr>
        <p:spPr>
          <a:xfrm>
            <a:off x="0" y="362715"/>
            <a:ext cx="6893355" cy="911391"/>
          </a:xfrm>
          <a:prstGeom prst="rect">
            <a:avLst/>
          </a:prstGeom>
        </p:spPr>
        <p:txBody>
          <a:bodyPr lIns="0" tIns="0" rIns="0" bIns="0" rtlCol="0" anchor="t">
            <a:spAutoFit/>
          </a:bodyPr>
          <a:lstStyle/>
          <a:p>
            <a:pPr algn="ctr">
              <a:lnSpc>
                <a:spcPts val="3405"/>
              </a:lnSpc>
              <a:spcBef>
                <a:spcPct val="0"/>
              </a:spcBef>
            </a:pPr>
            <a:r>
              <a:rPr lang="en-US" sz="2837" b="1">
                <a:solidFill>
                  <a:srgbClr val="FFFF00"/>
                </a:solidFill>
                <a:latin typeface="Arial Bold"/>
                <a:ea typeface="Arial Bold"/>
                <a:cs typeface="Arial Bold"/>
                <a:sym typeface="Arial Bold"/>
              </a:rPr>
              <a:t>Chuyển đổi ngữ cảnh (Context Switching</a:t>
            </a:r>
            <a:r>
              <a:rPr lang="en-US" sz="2837">
                <a:solidFill>
                  <a:srgbClr val="FFFF00"/>
                </a:solidFill>
                <a:latin typeface="Arial"/>
                <a:ea typeface="Arial"/>
                <a:cs typeface="Arial"/>
                <a:sym typeface="Arial"/>
              </a:rPr>
              <a:t>)</a:t>
            </a:r>
          </a:p>
        </p:txBody>
      </p:sp>
      <p:sp>
        <p:nvSpPr>
          <p:cNvPr id="7" name="TextBox 7"/>
          <p:cNvSpPr txBox="1"/>
          <p:nvPr/>
        </p:nvSpPr>
        <p:spPr>
          <a:xfrm>
            <a:off x="0" y="1243927"/>
            <a:ext cx="9753600" cy="3390900"/>
          </a:xfrm>
          <a:prstGeom prst="rect">
            <a:avLst/>
          </a:prstGeom>
        </p:spPr>
        <p:txBody>
          <a:bodyPr lIns="0" tIns="0" rIns="0" bIns="0" rtlCol="0" anchor="t">
            <a:spAutoFit/>
          </a:bodyPr>
          <a:lstStyle/>
          <a:p>
            <a:pPr algn="just">
              <a:lnSpc>
                <a:spcPts val="3405"/>
              </a:lnSpc>
              <a:spcBef>
                <a:spcPct val="0"/>
              </a:spcBef>
            </a:pPr>
            <a:r>
              <a:rPr lang="en-US" sz="2837" b="1">
                <a:solidFill>
                  <a:srgbClr val="000000"/>
                </a:solidFill>
                <a:latin typeface="Arial Bold"/>
                <a:ea typeface="Arial Bold"/>
                <a:cs typeface="Arial Bold"/>
                <a:sym typeface="Arial Bold"/>
              </a:rPr>
              <a:t>3. Ngữ cảnh của tiến trình (Process Context)</a:t>
            </a:r>
          </a:p>
          <a:p>
            <a:pPr marL="504754" lvl="1" indent="-252377" algn="just">
              <a:lnSpc>
                <a:spcPts val="2805"/>
              </a:lnSpc>
              <a:spcBef>
                <a:spcPct val="0"/>
              </a:spcBef>
              <a:buFont typeface="Arial"/>
              <a:buChar char="•"/>
            </a:pPr>
            <a:r>
              <a:rPr lang="en-US" sz="2337" b="1">
                <a:solidFill>
                  <a:srgbClr val="000000"/>
                </a:solidFill>
                <a:latin typeface="Arial Bold"/>
                <a:ea typeface="Arial Bold"/>
                <a:cs typeface="Arial Bold"/>
                <a:sym typeface="Arial Bold"/>
              </a:rPr>
              <a:t>Là tập hợp tối thiểu các giá trị được lưu trữ trong thanh ghi và bộ nhớ, được sử dụng để thực thi một luồng trong tiến trình.</a:t>
            </a:r>
          </a:p>
          <a:p>
            <a:pPr marL="504754" lvl="1" indent="-252377" algn="just">
              <a:lnSpc>
                <a:spcPts val="2805"/>
              </a:lnSpc>
              <a:spcBef>
                <a:spcPct val="0"/>
              </a:spcBef>
              <a:buFont typeface="Arial"/>
              <a:buChar char="•"/>
            </a:pPr>
            <a:r>
              <a:rPr lang="en-US" sz="2337" b="1">
                <a:solidFill>
                  <a:srgbClr val="000000"/>
                </a:solidFill>
                <a:latin typeface="Arial Bold"/>
                <a:ea typeface="Arial Bold"/>
                <a:cs typeface="Arial Bold"/>
                <a:sym typeface="Arial Bold"/>
              </a:rPr>
              <a:t>Bao gồm:</a:t>
            </a:r>
          </a:p>
          <a:p>
            <a:pPr marL="1009508" lvl="2" indent="-336503" algn="just">
              <a:lnSpc>
                <a:spcPts val="2805"/>
              </a:lnSpc>
              <a:spcBef>
                <a:spcPct val="0"/>
              </a:spcBef>
              <a:buFont typeface="Arial"/>
              <a:buChar char="⚬"/>
            </a:pPr>
            <a:r>
              <a:rPr lang="en-US" sz="2337" b="1">
                <a:solidFill>
                  <a:srgbClr val="000000"/>
                </a:solidFill>
                <a:latin typeface="Arial Bold"/>
                <a:ea typeface="Arial Bold"/>
                <a:cs typeface="Arial Bold"/>
                <a:sym typeface="Arial Bold"/>
              </a:rPr>
              <a:t>Ngữ cảnh của luồng (thread context).</a:t>
            </a:r>
          </a:p>
          <a:p>
            <a:pPr marL="1009508" lvl="2" indent="-336503" algn="just">
              <a:lnSpc>
                <a:spcPts val="2805"/>
              </a:lnSpc>
              <a:spcBef>
                <a:spcPct val="0"/>
              </a:spcBef>
              <a:buFont typeface="Arial"/>
              <a:buChar char="⚬"/>
            </a:pPr>
            <a:r>
              <a:rPr lang="en-US" sz="2337" b="1">
                <a:solidFill>
                  <a:srgbClr val="000000"/>
                </a:solidFill>
                <a:latin typeface="Arial Bold"/>
                <a:ea typeface="Arial Bold"/>
                <a:cs typeface="Arial Bold"/>
                <a:sym typeface="Arial Bold"/>
              </a:rPr>
              <a:t>Các giá trị trong thanh ghi của MMU (Memory Management Unit - Đơn vị quản lý bộ nhớ), dùng để quản lý không gian địa chỉ bộ nhớ của tiến trình.</a:t>
            </a:r>
          </a:p>
          <a:p>
            <a:pPr algn="just">
              <a:lnSpc>
                <a:spcPts val="3405"/>
              </a:lnSpc>
              <a:spcBef>
                <a:spcPct val="0"/>
              </a:spcBef>
            </a:pPr>
            <a:endParaRPr lang="en-US" sz="2337" b="1">
              <a:solidFill>
                <a:srgbClr val="000000"/>
              </a:solidFill>
              <a:latin typeface="Arial Bold"/>
              <a:ea typeface="Arial Bold"/>
              <a:cs typeface="Arial Bold"/>
              <a:sym typeface="Arial Bold"/>
            </a:endParaRPr>
          </a:p>
        </p:txBody>
      </p:sp>
      <p:sp>
        <p:nvSpPr>
          <p:cNvPr id="8" name="TextBox 8"/>
          <p:cNvSpPr txBox="1"/>
          <p:nvPr/>
        </p:nvSpPr>
        <p:spPr>
          <a:xfrm>
            <a:off x="0" y="4872710"/>
            <a:ext cx="9753600" cy="923925"/>
          </a:xfrm>
          <a:prstGeom prst="rect">
            <a:avLst/>
          </a:prstGeom>
        </p:spPr>
        <p:txBody>
          <a:bodyPr lIns="0" tIns="0" rIns="0" bIns="0" rtlCol="0" anchor="t">
            <a:spAutoFit/>
          </a:bodyPr>
          <a:lstStyle/>
          <a:p>
            <a:pPr algn="l">
              <a:lnSpc>
                <a:spcPts val="3405"/>
              </a:lnSpc>
              <a:spcBef>
                <a:spcPct val="0"/>
              </a:spcBef>
            </a:pPr>
            <a:r>
              <a:rPr lang="en-US" sz="2837" b="1">
                <a:solidFill>
                  <a:srgbClr val="FF0000"/>
                </a:solidFill>
                <a:latin typeface="Arial Bold"/>
                <a:ea typeface="Arial Bold"/>
                <a:cs typeface="Arial Bold"/>
                <a:sym typeface="Arial Bold"/>
              </a:rPr>
              <a:t>Ngữ cảnh tiến trình: bao gồm ngữ cảnh luồng + thông tin quản lý bộ nhớ.</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8</a:t>
              </a:r>
            </a:p>
          </p:txBody>
        </p:sp>
      </p:grpSp>
      <p:sp>
        <p:nvSpPr>
          <p:cNvPr id="6" name="TextBox 6"/>
          <p:cNvSpPr txBox="1"/>
          <p:nvPr/>
        </p:nvSpPr>
        <p:spPr>
          <a:xfrm>
            <a:off x="0" y="362715"/>
            <a:ext cx="7781888" cy="489033"/>
          </a:xfrm>
          <a:prstGeom prst="rect">
            <a:avLst/>
          </a:prstGeom>
        </p:spPr>
        <p:txBody>
          <a:bodyPr lIns="0" tIns="0" rIns="0" bIns="0" rtlCol="0" anchor="t">
            <a:spAutoFit/>
          </a:bodyPr>
          <a:lstStyle/>
          <a:p>
            <a:pPr algn="ctr">
              <a:lnSpc>
                <a:spcPts val="3405"/>
              </a:lnSpc>
              <a:spcBef>
                <a:spcPct val="0"/>
              </a:spcBef>
            </a:pPr>
            <a:r>
              <a:rPr lang="en-US" sz="2837" b="1">
                <a:solidFill>
                  <a:srgbClr val="FFFF00"/>
                </a:solidFill>
                <a:latin typeface="Arial Bold"/>
                <a:ea typeface="Arial Bold"/>
                <a:cs typeface="Arial Bold"/>
                <a:sym typeface="Arial Bold"/>
              </a:rPr>
              <a:t>Chuyển đổi ngữ cảnh (Context Switching</a:t>
            </a:r>
            <a:r>
              <a:rPr lang="en-US" sz="2837">
                <a:solidFill>
                  <a:srgbClr val="FFFF00"/>
                </a:solidFill>
                <a:latin typeface="Arial"/>
                <a:ea typeface="Arial"/>
                <a:cs typeface="Arial"/>
                <a:sym typeface="Arial"/>
              </a:rPr>
              <a:t>)</a:t>
            </a:r>
          </a:p>
        </p:txBody>
      </p:sp>
      <p:sp>
        <p:nvSpPr>
          <p:cNvPr id="7" name="TextBox 7"/>
          <p:cNvSpPr txBox="1"/>
          <p:nvPr/>
        </p:nvSpPr>
        <p:spPr>
          <a:xfrm>
            <a:off x="157327" y="1327977"/>
            <a:ext cx="1790355" cy="565265"/>
          </a:xfrm>
          <a:prstGeom prst="rect">
            <a:avLst/>
          </a:prstGeom>
        </p:spPr>
        <p:txBody>
          <a:bodyPr lIns="0" tIns="0" rIns="0" bIns="0" rtlCol="0" anchor="t">
            <a:spAutoFit/>
          </a:bodyPr>
          <a:lstStyle/>
          <a:p>
            <a:pPr algn="ctr">
              <a:lnSpc>
                <a:spcPts val="3961"/>
              </a:lnSpc>
              <a:spcBef>
                <a:spcPct val="0"/>
              </a:spcBef>
            </a:pPr>
            <a:r>
              <a:rPr lang="en-US" sz="3301" b="1">
                <a:solidFill>
                  <a:srgbClr val="000000"/>
                </a:solidFill>
                <a:latin typeface="Arial Bold"/>
                <a:ea typeface="Arial Bold"/>
                <a:cs typeface="Arial Bold"/>
                <a:sym typeface="Arial Bold"/>
              </a:rPr>
              <a:t>Nhận xét</a:t>
            </a:r>
          </a:p>
        </p:txBody>
      </p:sp>
      <p:sp>
        <p:nvSpPr>
          <p:cNvPr id="8" name="TextBox 8"/>
          <p:cNvSpPr txBox="1"/>
          <p:nvPr/>
        </p:nvSpPr>
        <p:spPr>
          <a:xfrm>
            <a:off x="225052" y="2135619"/>
            <a:ext cx="8797028" cy="4906641"/>
          </a:xfrm>
          <a:prstGeom prst="rect">
            <a:avLst/>
          </a:prstGeom>
        </p:spPr>
        <p:txBody>
          <a:bodyPr lIns="0" tIns="0" rIns="0" bIns="0" rtlCol="0" anchor="t">
            <a:spAutoFit/>
          </a:bodyPr>
          <a:lstStyle/>
          <a:p>
            <a:pPr algn="l">
              <a:lnSpc>
                <a:spcPts val="2746"/>
              </a:lnSpc>
            </a:pPr>
            <a:r>
              <a:rPr lang="en-US" sz="2288" b="1">
                <a:solidFill>
                  <a:srgbClr val="000000"/>
                </a:solidFill>
                <a:latin typeface="Arial Bold"/>
                <a:ea typeface="Arial Bold"/>
                <a:cs typeface="Arial Bold"/>
                <a:sym typeface="Arial Bold"/>
              </a:rPr>
              <a:t>1. Các luồng (Threads) chia sẻ cùng một không gian địa chỉ.</a:t>
            </a:r>
          </a:p>
          <a:p>
            <a:pPr algn="l">
              <a:lnSpc>
                <a:spcPts val="2746"/>
              </a:lnSpc>
            </a:pPr>
            <a:endParaRPr lang="en-US" sz="2288" b="1">
              <a:solidFill>
                <a:srgbClr val="000000"/>
              </a:solidFill>
              <a:latin typeface="Arial Bold"/>
              <a:ea typeface="Arial Bold"/>
              <a:cs typeface="Arial Bold"/>
              <a:sym typeface="Arial Bold"/>
            </a:endParaRPr>
          </a:p>
          <a:p>
            <a:pPr marL="494102" lvl="1" indent="-247051" algn="l">
              <a:lnSpc>
                <a:spcPts val="2746"/>
              </a:lnSpc>
              <a:buFont typeface="Arial"/>
              <a:buChar char="•"/>
            </a:pPr>
            <a:r>
              <a:rPr lang="en-US" sz="2288" b="1">
                <a:solidFill>
                  <a:srgbClr val="000000"/>
                </a:solidFill>
                <a:latin typeface="Arial Bold"/>
                <a:ea typeface="Arial Bold"/>
                <a:cs typeface="Arial Bold"/>
                <a:sym typeface="Arial Bold"/>
              </a:rPr>
              <a:t>Tất cả các luồng trong cùng một tiến trình dùng chung bộ nhớ và không gian địa chỉ.</a:t>
            </a:r>
          </a:p>
          <a:p>
            <a:pPr marL="494102" lvl="1" indent="-247051" algn="l">
              <a:lnSpc>
                <a:spcPts val="2746"/>
              </a:lnSpc>
              <a:buFont typeface="Arial"/>
              <a:buChar char="•"/>
            </a:pPr>
            <a:r>
              <a:rPr lang="en-US" sz="2288" b="1">
                <a:solidFill>
                  <a:srgbClr val="000000"/>
                </a:solidFill>
                <a:latin typeface="Arial Bold"/>
                <a:ea typeface="Arial Bold"/>
                <a:cs typeface="Arial Bold"/>
                <a:sym typeface="Arial Bold"/>
              </a:rPr>
              <a:t>Do đó, chuyển đổi ngữ cảnh giữa các luồng có thể được thực hiện mà không cần sự can thiệp của hệ điều hành (OS), nếu sử dụng mô hình quản lý luồng ở cấp độ người dùng (user-level threading).</a:t>
            </a:r>
          </a:p>
          <a:p>
            <a:pPr marL="494102" lvl="1" indent="-247051" algn="l">
              <a:lnSpc>
                <a:spcPts val="2746"/>
              </a:lnSpc>
              <a:buFont typeface="Arial"/>
              <a:buChar char="•"/>
            </a:pPr>
            <a:r>
              <a:rPr lang="en-US" sz="2288" b="1">
                <a:solidFill>
                  <a:srgbClr val="000000"/>
                </a:solidFill>
                <a:latin typeface="Arial Bold"/>
                <a:ea typeface="Arial Bold"/>
                <a:cs typeface="Arial Bold"/>
                <a:sym typeface="Arial Bold"/>
              </a:rPr>
              <a:t>Điều này giúp giảm chi phí và thời gian so với việc chuyển đổi ngữ cảnh giữa các tiến trình khác nhau.</a:t>
            </a:r>
          </a:p>
          <a:p>
            <a:pPr algn="l">
              <a:lnSpc>
                <a:spcPts val="2746"/>
              </a:lnSpc>
            </a:pPr>
            <a:endParaRPr lang="en-US" sz="2288" b="1">
              <a:solidFill>
                <a:srgbClr val="000000"/>
              </a:solidFill>
              <a:latin typeface="Arial Bold"/>
              <a:ea typeface="Arial Bold"/>
              <a:cs typeface="Arial Bold"/>
              <a:sym typeface="Arial Bold"/>
            </a:endParaRPr>
          </a:p>
          <a:p>
            <a:pPr algn="l">
              <a:lnSpc>
                <a:spcPts val="2746"/>
              </a:lnSpc>
            </a:pPr>
            <a:endParaRPr lang="en-US" sz="2288" b="1">
              <a:solidFill>
                <a:srgbClr val="000000"/>
              </a:solidFill>
              <a:latin typeface="Arial Bold"/>
              <a:ea typeface="Arial Bold"/>
              <a:cs typeface="Arial Bold"/>
              <a:sym typeface="Arial Bold"/>
            </a:endParaRPr>
          </a:p>
          <a:p>
            <a:pPr algn="l">
              <a:lnSpc>
                <a:spcPts val="2746"/>
              </a:lnSpc>
            </a:pPr>
            <a:endParaRPr lang="en-US" sz="2288" b="1">
              <a:solidFill>
                <a:srgbClr val="000000"/>
              </a:solidFill>
              <a:latin typeface="Arial Bold"/>
              <a:ea typeface="Arial Bold"/>
              <a:cs typeface="Arial Bold"/>
              <a:sym typeface="Arial Bold"/>
            </a:endParaRPr>
          </a:p>
          <a:p>
            <a:pPr algn="l">
              <a:lnSpc>
                <a:spcPts val="2746"/>
              </a:lnSpc>
              <a:spcBef>
                <a:spcPct val="0"/>
              </a:spcBef>
            </a:pPr>
            <a:endParaRPr lang="en-US" sz="2288"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9</a:t>
              </a:r>
            </a:p>
          </p:txBody>
        </p:sp>
      </p:grpSp>
      <p:sp>
        <p:nvSpPr>
          <p:cNvPr id="6" name="TextBox 6"/>
          <p:cNvSpPr txBox="1"/>
          <p:nvPr/>
        </p:nvSpPr>
        <p:spPr>
          <a:xfrm>
            <a:off x="0" y="362715"/>
            <a:ext cx="8128000" cy="489033"/>
          </a:xfrm>
          <a:prstGeom prst="rect">
            <a:avLst/>
          </a:prstGeom>
        </p:spPr>
        <p:txBody>
          <a:bodyPr lIns="0" tIns="0" rIns="0" bIns="0" rtlCol="0" anchor="t">
            <a:spAutoFit/>
          </a:bodyPr>
          <a:lstStyle/>
          <a:p>
            <a:pPr algn="ctr">
              <a:lnSpc>
                <a:spcPts val="3405"/>
              </a:lnSpc>
              <a:spcBef>
                <a:spcPct val="0"/>
              </a:spcBef>
            </a:pPr>
            <a:r>
              <a:rPr lang="en-US" sz="2837" b="1">
                <a:solidFill>
                  <a:srgbClr val="FFFF00"/>
                </a:solidFill>
                <a:latin typeface="Arial Bold"/>
                <a:ea typeface="Arial Bold"/>
                <a:cs typeface="Arial Bold"/>
                <a:sym typeface="Arial Bold"/>
              </a:rPr>
              <a:t>Chuyển đổi ngữ cảnh (Context Switching</a:t>
            </a:r>
            <a:r>
              <a:rPr lang="en-US" sz="2837">
                <a:solidFill>
                  <a:srgbClr val="FFFF00"/>
                </a:solidFill>
                <a:latin typeface="Arial"/>
                <a:ea typeface="Arial"/>
                <a:cs typeface="Arial"/>
                <a:sym typeface="Arial"/>
              </a:rPr>
              <a:t>)</a:t>
            </a:r>
          </a:p>
        </p:txBody>
      </p:sp>
      <p:sp>
        <p:nvSpPr>
          <p:cNvPr id="7" name="TextBox 7"/>
          <p:cNvSpPr txBox="1"/>
          <p:nvPr/>
        </p:nvSpPr>
        <p:spPr>
          <a:xfrm>
            <a:off x="157327" y="1327977"/>
            <a:ext cx="1790355" cy="565265"/>
          </a:xfrm>
          <a:prstGeom prst="rect">
            <a:avLst/>
          </a:prstGeom>
        </p:spPr>
        <p:txBody>
          <a:bodyPr lIns="0" tIns="0" rIns="0" bIns="0" rtlCol="0" anchor="t">
            <a:spAutoFit/>
          </a:bodyPr>
          <a:lstStyle/>
          <a:p>
            <a:pPr algn="ctr">
              <a:lnSpc>
                <a:spcPts val="3961"/>
              </a:lnSpc>
              <a:spcBef>
                <a:spcPct val="0"/>
              </a:spcBef>
            </a:pPr>
            <a:r>
              <a:rPr lang="en-US" sz="3301" b="1">
                <a:solidFill>
                  <a:srgbClr val="000000"/>
                </a:solidFill>
                <a:latin typeface="Arial Bold"/>
                <a:ea typeface="Arial Bold"/>
                <a:cs typeface="Arial Bold"/>
                <a:sym typeface="Arial Bold"/>
              </a:rPr>
              <a:t>Nhận xét</a:t>
            </a:r>
          </a:p>
        </p:txBody>
      </p:sp>
      <p:sp>
        <p:nvSpPr>
          <p:cNvPr id="8" name="TextBox 8"/>
          <p:cNvSpPr txBox="1"/>
          <p:nvPr/>
        </p:nvSpPr>
        <p:spPr>
          <a:xfrm>
            <a:off x="225052" y="2135619"/>
            <a:ext cx="8797028" cy="5191125"/>
          </a:xfrm>
          <a:prstGeom prst="rect">
            <a:avLst/>
          </a:prstGeom>
        </p:spPr>
        <p:txBody>
          <a:bodyPr lIns="0" tIns="0" rIns="0" bIns="0" rtlCol="0" anchor="t">
            <a:spAutoFit/>
          </a:bodyPr>
          <a:lstStyle/>
          <a:p>
            <a:pPr algn="just">
              <a:lnSpc>
                <a:spcPts val="2746"/>
              </a:lnSpc>
            </a:pPr>
            <a:r>
              <a:rPr lang="en-US" sz="2288" b="1">
                <a:solidFill>
                  <a:srgbClr val="000000"/>
                </a:solidFill>
                <a:latin typeface="Arial Bold"/>
                <a:ea typeface="Arial Bold"/>
                <a:cs typeface="Arial Bold"/>
                <a:sym typeface="Arial Bold"/>
              </a:rPr>
              <a:t>2. Chuyển đổi tiến trình (Process switching) tốn kém hơn do cần sự can thiệp của hệ điều hành</a:t>
            </a:r>
          </a:p>
          <a:p>
            <a:pPr algn="just">
              <a:lnSpc>
                <a:spcPts val="2746"/>
              </a:lnSpc>
            </a:pPr>
            <a:endParaRPr lang="en-US" sz="2288" b="1">
              <a:solidFill>
                <a:srgbClr val="000000"/>
              </a:solidFill>
              <a:latin typeface="Arial Bold"/>
              <a:ea typeface="Arial Bold"/>
              <a:cs typeface="Arial Bold"/>
              <a:sym typeface="Arial Bold"/>
            </a:endParaRPr>
          </a:p>
          <a:p>
            <a:pPr algn="just">
              <a:lnSpc>
                <a:spcPts val="2746"/>
              </a:lnSpc>
            </a:pPr>
            <a:r>
              <a:rPr lang="en-US" sz="2288" b="1">
                <a:solidFill>
                  <a:srgbClr val="000000"/>
                </a:solidFill>
                <a:latin typeface="Arial Bold"/>
                <a:ea typeface="Arial Bold"/>
                <a:cs typeface="Arial Bold"/>
                <a:sym typeface="Arial Bold"/>
              </a:rPr>
              <a:t>Khi chuyển đổi từ tiến trình này sang tiến trình khác, hệ điều hành cần thực hiện các thao tác sau:</a:t>
            </a:r>
          </a:p>
          <a:p>
            <a:pPr marL="494103" lvl="1" indent="-247051" algn="just">
              <a:lnSpc>
                <a:spcPts val="2746"/>
              </a:lnSpc>
              <a:buFont typeface="Arial"/>
              <a:buChar char="•"/>
            </a:pPr>
            <a:r>
              <a:rPr lang="en-US" sz="2288" b="1">
                <a:solidFill>
                  <a:srgbClr val="000000"/>
                </a:solidFill>
                <a:latin typeface="Arial Bold"/>
                <a:ea typeface="Arial Bold"/>
                <a:cs typeface="Arial Bold"/>
                <a:sym typeface="Arial Bold"/>
              </a:rPr>
              <a:t>Lưu trạng thái của tiến trình cũ (bộ nhớ, thanh ghi, bộ đếm chương trình).</a:t>
            </a:r>
          </a:p>
          <a:p>
            <a:pPr marL="494103" lvl="1" indent="-247051" algn="just">
              <a:lnSpc>
                <a:spcPts val="2746"/>
              </a:lnSpc>
              <a:buFont typeface="Arial"/>
              <a:buChar char="•"/>
            </a:pPr>
            <a:r>
              <a:rPr lang="en-US" sz="2288" b="1">
                <a:solidFill>
                  <a:srgbClr val="000000"/>
                </a:solidFill>
                <a:latin typeface="Arial Bold"/>
                <a:ea typeface="Arial Bold"/>
                <a:cs typeface="Arial Bold"/>
                <a:sym typeface="Arial Bold"/>
              </a:rPr>
              <a:t>Nạp trạng thái của tiến trình mới.</a:t>
            </a:r>
          </a:p>
          <a:p>
            <a:pPr marL="494103" lvl="1" indent="-247051" algn="just">
              <a:lnSpc>
                <a:spcPts val="2746"/>
              </a:lnSpc>
              <a:buFont typeface="Arial"/>
              <a:buChar char="•"/>
            </a:pPr>
            <a:r>
              <a:rPr lang="en-US" sz="2288" b="1">
                <a:solidFill>
                  <a:srgbClr val="000000"/>
                </a:solidFill>
                <a:latin typeface="Arial Bold"/>
                <a:ea typeface="Arial Bold"/>
                <a:cs typeface="Arial Bold"/>
                <a:sym typeface="Arial Bold"/>
              </a:rPr>
              <a:t>Thay đổi bảng trang (page table) để ánh xạ bộ nhớ cho tiến trình mới.</a:t>
            </a:r>
          </a:p>
          <a:p>
            <a:pPr marL="494103" lvl="1" indent="-247051" algn="just">
              <a:lnSpc>
                <a:spcPts val="2746"/>
              </a:lnSpc>
              <a:buFont typeface="Arial"/>
              <a:buChar char="•"/>
            </a:pPr>
            <a:r>
              <a:rPr lang="en-US" sz="2288" b="1">
                <a:solidFill>
                  <a:srgbClr val="000000"/>
                </a:solidFill>
                <a:latin typeface="Arial Bold"/>
                <a:ea typeface="Arial Bold"/>
                <a:cs typeface="Arial Bold"/>
                <a:sym typeface="Arial Bold"/>
              </a:rPr>
              <a:t>Các thao tác này yêu cầu chuyển đổi giữa User Space và Kernel Space, làm tăng độ trễ và tiêu tốn tài nguyên CPU hơn so với chuyển đổi giữa các luồng trong cùng một tiến trình.</a:t>
            </a:r>
          </a:p>
          <a:p>
            <a:pPr algn="just">
              <a:lnSpc>
                <a:spcPts val="2746"/>
              </a:lnSpc>
              <a:spcBef>
                <a:spcPct val="0"/>
              </a:spcBef>
            </a:pPr>
            <a:endParaRPr lang="en-US" sz="2288"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10</a:t>
              </a:r>
            </a:p>
          </p:txBody>
        </p:sp>
      </p:grpSp>
      <p:sp>
        <p:nvSpPr>
          <p:cNvPr id="6" name="TextBox 6"/>
          <p:cNvSpPr txBox="1"/>
          <p:nvPr/>
        </p:nvSpPr>
        <p:spPr>
          <a:xfrm>
            <a:off x="0" y="362715"/>
            <a:ext cx="8128000" cy="489033"/>
          </a:xfrm>
          <a:prstGeom prst="rect">
            <a:avLst/>
          </a:prstGeom>
        </p:spPr>
        <p:txBody>
          <a:bodyPr lIns="0" tIns="0" rIns="0" bIns="0" rtlCol="0" anchor="t">
            <a:spAutoFit/>
          </a:bodyPr>
          <a:lstStyle/>
          <a:p>
            <a:pPr algn="ctr">
              <a:lnSpc>
                <a:spcPts val="3405"/>
              </a:lnSpc>
              <a:spcBef>
                <a:spcPct val="0"/>
              </a:spcBef>
            </a:pPr>
            <a:r>
              <a:rPr lang="en-US" sz="2837" b="1">
                <a:solidFill>
                  <a:srgbClr val="FFFF00"/>
                </a:solidFill>
                <a:latin typeface="Arial Bold"/>
                <a:ea typeface="Arial Bold"/>
                <a:cs typeface="Arial Bold"/>
                <a:sym typeface="Arial Bold"/>
              </a:rPr>
              <a:t>Chuyển đổi ngữ cảnh (Context Switching</a:t>
            </a:r>
            <a:r>
              <a:rPr lang="en-US" sz="2837">
                <a:solidFill>
                  <a:srgbClr val="FFFF00"/>
                </a:solidFill>
                <a:latin typeface="Arial"/>
                <a:ea typeface="Arial"/>
                <a:cs typeface="Arial"/>
                <a:sym typeface="Arial"/>
              </a:rPr>
              <a:t>)</a:t>
            </a:r>
          </a:p>
        </p:txBody>
      </p:sp>
      <p:sp>
        <p:nvSpPr>
          <p:cNvPr id="7" name="TextBox 7"/>
          <p:cNvSpPr txBox="1"/>
          <p:nvPr/>
        </p:nvSpPr>
        <p:spPr>
          <a:xfrm>
            <a:off x="157327" y="1327977"/>
            <a:ext cx="1790355" cy="565265"/>
          </a:xfrm>
          <a:prstGeom prst="rect">
            <a:avLst/>
          </a:prstGeom>
        </p:spPr>
        <p:txBody>
          <a:bodyPr lIns="0" tIns="0" rIns="0" bIns="0" rtlCol="0" anchor="t">
            <a:spAutoFit/>
          </a:bodyPr>
          <a:lstStyle/>
          <a:p>
            <a:pPr algn="ctr">
              <a:lnSpc>
                <a:spcPts val="3961"/>
              </a:lnSpc>
              <a:spcBef>
                <a:spcPct val="0"/>
              </a:spcBef>
            </a:pPr>
            <a:r>
              <a:rPr lang="en-US" sz="3301" b="1">
                <a:solidFill>
                  <a:srgbClr val="000000"/>
                </a:solidFill>
                <a:latin typeface="Arial Bold"/>
                <a:ea typeface="Arial Bold"/>
                <a:cs typeface="Arial Bold"/>
                <a:sym typeface="Arial Bold"/>
              </a:rPr>
              <a:t>Nhận xét</a:t>
            </a:r>
          </a:p>
        </p:txBody>
      </p:sp>
      <p:sp>
        <p:nvSpPr>
          <p:cNvPr id="8" name="TextBox 8"/>
          <p:cNvSpPr txBox="1"/>
          <p:nvPr/>
        </p:nvSpPr>
        <p:spPr>
          <a:xfrm>
            <a:off x="225052" y="2135619"/>
            <a:ext cx="8797028" cy="4906641"/>
          </a:xfrm>
          <a:prstGeom prst="rect">
            <a:avLst/>
          </a:prstGeom>
        </p:spPr>
        <p:txBody>
          <a:bodyPr lIns="0" tIns="0" rIns="0" bIns="0" rtlCol="0" anchor="t">
            <a:spAutoFit/>
          </a:bodyPr>
          <a:lstStyle/>
          <a:p>
            <a:pPr algn="l">
              <a:lnSpc>
                <a:spcPts val="2746"/>
              </a:lnSpc>
            </a:pPr>
            <a:r>
              <a:rPr lang="en-US" sz="2288" b="1">
                <a:solidFill>
                  <a:srgbClr val="000000"/>
                </a:solidFill>
                <a:latin typeface="Arial Bold"/>
                <a:ea typeface="Arial Bold"/>
                <a:cs typeface="Arial Bold"/>
                <a:sym typeface="Arial Bold"/>
              </a:rPr>
              <a:t>3. Tạo và hủy luồng rẻ hơn nhiều so với tạo và hủy tiến trình</a:t>
            </a:r>
          </a:p>
          <a:p>
            <a:pPr algn="l">
              <a:lnSpc>
                <a:spcPts val="2746"/>
              </a:lnSpc>
            </a:pPr>
            <a:endParaRPr lang="en-US" sz="2288" b="1">
              <a:solidFill>
                <a:srgbClr val="000000"/>
              </a:solidFill>
              <a:latin typeface="Arial Bold"/>
              <a:ea typeface="Arial Bold"/>
              <a:cs typeface="Arial Bold"/>
              <a:sym typeface="Arial Bold"/>
            </a:endParaRPr>
          </a:p>
          <a:p>
            <a:pPr marL="494102" lvl="1" indent="-247051" algn="l">
              <a:lnSpc>
                <a:spcPts val="2746"/>
              </a:lnSpc>
              <a:buFont typeface="Arial"/>
              <a:buChar char="•"/>
            </a:pPr>
            <a:r>
              <a:rPr lang="en-US" sz="2288" b="1">
                <a:solidFill>
                  <a:srgbClr val="000000"/>
                </a:solidFill>
                <a:latin typeface="Arial Bold"/>
                <a:ea typeface="Arial Bold"/>
                <a:cs typeface="Arial Bold"/>
                <a:sym typeface="Arial Bold"/>
              </a:rPr>
              <a:t>Khi tạo một luồng mới, hệ điều hành không cần cấp phát không gian địa chỉ riêng biệt mà chỉ cần cấp phát một ngăn xếp (stack) và bộ nhớ cục bộ cho luồng đó.</a:t>
            </a:r>
          </a:p>
          <a:p>
            <a:pPr marL="494102" lvl="1" indent="-247051" algn="l">
              <a:lnSpc>
                <a:spcPts val="2746"/>
              </a:lnSpc>
              <a:buFont typeface="Arial"/>
              <a:buChar char="•"/>
            </a:pPr>
            <a:r>
              <a:rPr lang="en-US" sz="2288" b="1">
                <a:solidFill>
                  <a:srgbClr val="000000"/>
                </a:solidFill>
                <a:latin typeface="Arial Bold"/>
                <a:ea typeface="Arial Bold"/>
                <a:cs typeface="Arial Bold"/>
                <a:sym typeface="Arial Bold"/>
              </a:rPr>
              <a:t>Ngược lại, khi tạo một tiến trình mới, hệ điều hành phải:</a:t>
            </a:r>
          </a:p>
          <a:p>
            <a:pPr marL="988205" lvl="2" indent="-329402" algn="l">
              <a:lnSpc>
                <a:spcPts val="2746"/>
              </a:lnSpc>
              <a:buFont typeface="Arial"/>
              <a:buChar char="⚬"/>
            </a:pPr>
            <a:r>
              <a:rPr lang="en-US" sz="2288" b="1">
                <a:solidFill>
                  <a:srgbClr val="000000"/>
                </a:solidFill>
                <a:latin typeface="Arial Bold"/>
                <a:ea typeface="Arial Bold"/>
                <a:cs typeface="Arial Bold"/>
                <a:sym typeface="Arial Bold"/>
              </a:rPr>
              <a:t>Cấp phát bộ nhớ mới.</a:t>
            </a:r>
          </a:p>
          <a:p>
            <a:pPr marL="988205" lvl="2" indent="-329402" algn="l">
              <a:lnSpc>
                <a:spcPts val="2746"/>
              </a:lnSpc>
              <a:buFont typeface="Arial"/>
              <a:buChar char="⚬"/>
            </a:pPr>
            <a:r>
              <a:rPr lang="en-US" sz="2288" b="1">
                <a:solidFill>
                  <a:srgbClr val="000000"/>
                </a:solidFill>
                <a:latin typeface="Arial Bold"/>
                <a:ea typeface="Arial Bold"/>
                <a:cs typeface="Arial Bold"/>
                <a:sym typeface="Arial Bold"/>
              </a:rPr>
              <a:t>Khởi tạo bảng trang.</a:t>
            </a:r>
          </a:p>
          <a:p>
            <a:pPr marL="988205" lvl="2" indent="-329402" algn="l">
              <a:lnSpc>
                <a:spcPts val="2746"/>
              </a:lnSpc>
              <a:buFont typeface="Arial"/>
              <a:buChar char="⚬"/>
            </a:pPr>
            <a:r>
              <a:rPr lang="en-US" sz="2288" b="1">
                <a:solidFill>
                  <a:srgbClr val="000000"/>
                </a:solidFill>
                <a:latin typeface="Arial Bold"/>
                <a:ea typeface="Arial Bold"/>
                <a:cs typeface="Arial Bold"/>
                <a:sym typeface="Arial Bold"/>
              </a:rPr>
              <a:t>Sao chép dữ liệu từ tiến trình cha (nếu dùng fork() trong Unix).</a:t>
            </a:r>
          </a:p>
          <a:p>
            <a:pPr marL="494102" lvl="1" indent="-247051" algn="l">
              <a:lnSpc>
                <a:spcPts val="2746"/>
              </a:lnSpc>
              <a:buFont typeface="Arial"/>
              <a:buChar char="•"/>
            </a:pPr>
            <a:r>
              <a:rPr lang="en-US" sz="2288" b="1">
                <a:solidFill>
                  <a:srgbClr val="000000"/>
                </a:solidFill>
                <a:latin typeface="Arial Bold"/>
                <a:ea typeface="Arial Bold"/>
                <a:cs typeface="Arial Bold"/>
                <a:sym typeface="Arial Bold"/>
              </a:rPr>
              <a:t>Do đó, tạo và hủy luồng nhanh hơn nhiều lần so với tiến trình, giúp cải thiện hiệu suất trong các ứng dụng đa nhiệm và song song.</a:t>
            </a:r>
          </a:p>
          <a:p>
            <a:pPr algn="l">
              <a:lnSpc>
                <a:spcPts val="2746"/>
              </a:lnSpc>
              <a:spcBef>
                <a:spcPct val="0"/>
              </a:spcBef>
            </a:pPr>
            <a:endParaRPr lang="en-US" sz="2288"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11</a:t>
              </a:r>
            </a:p>
          </p:txBody>
        </p:sp>
      </p:grpSp>
      <p:sp>
        <p:nvSpPr>
          <p:cNvPr id="6" name="TextBox 6"/>
          <p:cNvSpPr txBox="1"/>
          <p:nvPr/>
        </p:nvSpPr>
        <p:spPr>
          <a:xfrm>
            <a:off x="183373" y="217170"/>
            <a:ext cx="7568234" cy="714375"/>
          </a:xfrm>
          <a:prstGeom prst="rect">
            <a:avLst/>
          </a:prstGeom>
        </p:spPr>
        <p:txBody>
          <a:bodyPr lIns="0" tIns="0" rIns="0" bIns="0" rtlCol="0" anchor="t">
            <a:spAutoFit/>
          </a:bodyPr>
          <a:lstStyle/>
          <a:p>
            <a:pPr algn="l">
              <a:lnSpc>
                <a:spcPts val="5003"/>
              </a:lnSpc>
              <a:spcBef>
                <a:spcPct val="0"/>
              </a:spcBef>
            </a:pPr>
            <a:r>
              <a:rPr lang="en-US" sz="4169" b="1">
                <a:solidFill>
                  <a:srgbClr val="FFFF00"/>
                </a:solidFill>
                <a:latin typeface="Arial Bold"/>
                <a:ea typeface="Arial Bold"/>
                <a:cs typeface="Arial Bold"/>
                <a:sym typeface="Arial Bold"/>
              </a:rPr>
              <a:t>Tại sao sử dụng threads?</a:t>
            </a:r>
          </a:p>
        </p:txBody>
      </p:sp>
      <p:sp>
        <p:nvSpPr>
          <p:cNvPr id="7" name="TextBox 7"/>
          <p:cNvSpPr txBox="1"/>
          <p:nvPr/>
        </p:nvSpPr>
        <p:spPr>
          <a:xfrm>
            <a:off x="72554" y="1252758"/>
            <a:ext cx="9681046" cy="5012402"/>
          </a:xfrm>
          <a:prstGeom prst="rect">
            <a:avLst/>
          </a:prstGeom>
        </p:spPr>
        <p:txBody>
          <a:bodyPr lIns="0" tIns="0" rIns="0" bIns="0" rtlCol="0" anchor="t">
            <a:spAutoFit/>
          </a:bodyPr>
          <a:lstStyle/>
          <a:p>
            <a:pPr algn="just">
              <a:lnSpc>
                <a:spcPts val="3280"/>
              </a:lnSpc>
            </a:pPr>
            <a:r>
              <a:rPr lang="en-US" sz="2734" b="1">
                <a:solidFill>
                  <a:srgbClr val="000000"/>
                </a:solidFill>
                <a:latin typeface="Arial Bold"/>
                <a:ea typeface="Arial Bold"/>
                <a:cs typeface="Arial Bold"/>
                <a:sym typeface="Arial Bold"/>
              </a:rPr>
              <a:t>1. Tránh việc chặn không cần thiết (Avoid needless blocking)</a:t>
            </a:r>
          </a:p>
          <a:p>
            <a:pPr algn="just">
              <a:lnSpc>
                <a:spcPts val="3280"/>
              </a:lnSpc>
            </a:pPr>
            <a:endParaRPr lang="en-US" sz="2734" b="1">
              <a:solidFill>
                <a:srgbClr val="000000"/>
              </a:solidFill>
              <a:latin typeface="Arial Bold"/>
              <a:ea typeface="Arial Bold"/>
              <a:cs typeface="Arial Bold"/>
              <a:sym typeface="Arial Bold"/>
            </a:endParaRPr>
          </a:p>
          <a:p>
            <a:pPr marL="590277" lvl="1" indent="-295139" algn="just">
              <a:lnSpc>
                <a:spcPts val="3280"/>
              </a:lnSpc>
              <a:buFont typeface="Arial"/>
              <a:buChar char="•"/>
            </a:pPr>
            <a:r>
              <a:rPr lang="en-US" sz="2734" b="1">
                <a:solidFill>
                  <a:srgbClr val="000000"/>
                </a:solidFill>
                <a:latin typeface="Arial Bold"/>
                <a:ea typeface="Arial Bold"/>
                <a:cs typeface="Arial Bold"/>
                <a:sym typeface="Arial Bold"/>
              </a:rPr>
              <a:t>Trong một tiến trình đơn luồng (single-threaded), nếu tiến trình thực hiện I/O (đọc/ghi file, truy vấn mạng, nhập/xuất dữ liệu), nó sẽ bị chặn (blocked) cho đến khi tác vụ hoàn thành.</a:t>
            </a:r>
          </a:p>
          <a:p>
            <a:pPr marL="590277" lvl="1" indent="-295139" algn="just">
              <a:lnSpc>
                <a:spcPts val="3280"/>
              </a:lnSpc>
              <a:buFont typeface="Arial"/>
              <a:buChar char="•"/>
            </a:pPr>
            <a:r>
              <a:rPr lang="en-US" sz="2734" b="1">
                <a:solidFill>
                  <a:srgbClr val="000000"/>
                </a:solidFill>
                <a:latin typeface="Arial Bold"/>
                <a:ea typeface="Arial Bold"/>
                <a:cs typeface="Arial Bold"/>
                <a:sym typeface="Arial Bold"/>
              </a:rPr>
              <a:t>Ngược lại, trong một tiến trình đa luồng (multithreaded) khi một luồng bị chặn do I/O, hệ điều hành có thể chuyển CPU sang luồng khác trong cùng tiến trình, giúp tận dụng tài nguyên hiệu quả hơn.</a:t>
            </a:r>
          </a:p>
          <a:p>
            <a:pPr algn="just">
              <a:lnSpc>
                <a:spcPts val="3280"/>
              </a:lnSpc>
              <a:spcBef>
                <a:spcPct val="0"/>
              </a:spcBef>
            </a:pPr>
            <a:endParaRPr lang="en-US" sz="2734"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12</a:t>
              </a:r>
            </a:p>
          </p:txBody>
        </p:sp>
      </p:grpSp>
      <p:sp>
        <p:nvSpPr>
          <p:cNvPr id="6" name="TextBox 6"/>
          <p:cNvSpPr txBox="1"/>
          <p:nvPr/>
        </p:nvSpPr>
        <p:spPr>
          <a:xfrm>
            <a:off x="183373" y="217170"/>
            <a:ext cx="8216623" cy="714375"/>
          </a:xfrm>
          <a:prstGeom prst="rect">
            <a:avLst/>
          </a:prstGeom>
        </p:spPr>
        <p:txBody>
          <a:bodyPr lIns="0" tIns="0" rIns="0" bIns="0" rtlCol="0" anchor="t">
            <a:spAutoFit/>
          </a:bodyPr>
          <a:lstStyle/>
          <a:p>
            <a:pPr algn="l">
              <a:lnSpc>
                <a:spcPts val="5003"/>
              </a:lnSpc>
              <a:spcBef>
                <a:spcPct val="0"/>
              </a:spcBef>
            </a:pPr>
            <a:r>
              <a:rPr lang="en-US" sz="4169" b="1">
                <a:solidFill>
                  <a:srgbClr val="FFFF00"/>
                </a:solidFill>
                <a:latin typeface="Arial Bold"/>
                <a:ea typeface="Arial Bold"/>
                <a:cs typeface="Arial Bold"/>
                <a:sym typeface="Arial Bold"/>
              </a:rPr>
              <a:t>Tại sao sử dụng threads?</a:t>
            </a:r>
          </a:p>
        </p:txBody>
      </p:sp>
      <p:sp>
        <p:nvSpPr>
          <p:cNvPr id="7" name="TextBox 7"/>
          <p:cNvSpPr txBox="1"/>
          <p:nvPr/>
        </p:nvSpPr>
        <p:spPr>
          <a:xfrm>
            <a:off x="72554" y="1412664"/>
            <a:ext cx="9681046" cy="4829175"/>
          </a:xfrm>
          <a:prstGeom prst="rect">
            <a:avLst/>
          </a:prstGeom>
        </p:spPr>
        <p:txBody>
          <a:bodyPr lIns="0" tIns="0" rIns="0" bIns="0" rtlCol="0" anchor="t">
            <a:spAutoFit/>
          </a:bodyPr>
          <a:lstStyle/>
          <a:p>
            <a:pPr algn="just">
              <a:lnSpc>
                <a:spcPts val="3645"/>
              </a:lnSpc>
            </a:pPr>
            <a:r>
              <a:rPr lang="en-US" sz="3037" b="1">
                <a:solidFill>
                  <a:srgbClr val="000000"/>
                </a:solidFill>
                <a:latin typeface="Arial Bold"/>
                <a:ea typeface="Arial Bold"/>
                <a:cs typeface="Arial Bold"/>
                <a:sym typeface="Arial Bold"/>
              </a:rPr>
              <a:t>2. Tận dụng tính song song (Exploit parallelism)</a:t>
            </a:r>
          </a:p>
          <a:p>
            <a:pPr algn="just">
              <a:lnSpc>
                <a:spcPts val="3645"/>
              </a:lnSpc>
            </a:pPr>
            <a:endParaRPr lang="en-US" sz="3037" b="1">
              <a:solidFill>
                <a:srgbClr val="000000"/>
              </a:solidFill>
              <a:latin typeface="Arial Bold"/>
              <a:ea typeface="Arial Bold"/>
              <a:cs typeface="Arial Bold"/>
              <a:sym typeface="Arial Bold"/>
            </a:endParaRPr>
          </a:p>
          <a:p>
            <a:pPr marL="612702" lvl="1" indent="-306351" algn="just">
              <a:lnSpc>
                <a:spcPts val="3405"/>
              </a:lnSpc>
              <a:buFont typeface="Arial"/>
              <a:buChar char="•"/>
            </a:pPr>
            <a:r>
              <a:rPr lang="en-US" sz="2837" b="1">
                <a:solidFill>
                  <a:srgbClr val="000000"/>
                </a:solidFill>
                <a:latin typeface="Arial Bold"/>
                <a:ea typeface="Arial Bold"/>
                <a:cs typeface="Arial Bold"/>
                <a:sym typeface="Arial Bold"/>
              </a:rPr>
              <a:t>Trong hệ thống đa bộ xử lý (multiprocessor) hoặc đa nhân (multicore processor), nhiều luồng có thể chạy đồng thời trên các lõi CPU khác nhau.</a:t>
            </a:r>
          </a:p>
          <a:p>
            <a:pPr marL="612702" lvl="1" indent="-306351" algn="just">
              <a:lnSpc>
                <a:spcPts val="3405"/>
              </a:lnSpc>
              <a:buFont typeface="Arial"/>
              <a:buChar char="•"/>
            </a:pPr>
            <a:r>
              <a:rPr lang="en-US" sz="2837" b="1">
                <a:solidFill>
                  <a:srgbClr val="000000"/>
                </a:solidFill>
                <a:latin typeface="Arial Bold"/>
                <a:ea typeface="Arial Bold"/>
                <a:cs typeface="Arial Bold"/>
                <a:sym typeface="Arial Bold"/>
              </a:rPr>
              <a:t>Điều này giúp tăng hiệu suất vì các tác vụ có thể được thực hiện song song thay vì tuần tự.</a:t>
            </a:r>
          </a:p>
          <a:p>
            <a:pPr marL="612702" lvl="1" indent="-306351" algn="just">
              <a:lnSpc>
                <a:spcPts val="3405"/>
              </a:lnSpc>
              <a:buFont typeface="Arial"/>
              <a:buChar char="•"/>
            </a:pPr>
            <a:r>
              <a:rPr lang="en-US" sz="2837" b="1">
                <a:solidFill>
                  <a:srgbClr val="000000"/>
                </a:solidFill>
                <a:latin typeface="Arial Bold"/>
                <a:ea typeface="Arial Bold"/>
                <a:cs typeface="Arial Bold"/>
                <a:sym typeface="Arial Bold"/>
              </a:rPr>
              <a:t>Ví dụ: Một trình duyệt web có thể sử dụng các luồng riêng biệt cho việc hiển thị trang, tải nội dung và xử lý JavaScript cùng lúc.</a:t>
            </a:r>
          </a:p>
          <a:p>
            <a:pPr algn="just">
              <a:lnSpc>
                <a:spcPts val="3405"/>
              </a:lnSpc>
              <a:spcBef>
                <a:spcPct val="0"/>
              </a:spcBef>
            </a:pPr>
            <a:endParaRPr lang="en-US" sz="2837"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6990080" y="6780108"/>
            <a:ext cx="2275840" cy="389467"/>
            <a:chOff x="0" y="0"/>
            <a:chExt cx="3034453" cy="519289"/>
          </a:xfrm>
        </p:grpSpPr>
        <p:sp>
          <p:nvSpPr>
            <p:cNvPr id="4" name="Freeform 4"/>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5" name="TextBox 5"/>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13</a:t>
              </a:r>
            </a:p>
          </p:txBody>
        </p:sp>
      </p:grpSp>
      <p:sp>
        <p:nvSpPr>
          <p:cNvPr id="6" name="TextBox 6"/>
          <p:cNvSpPr txBox="1"/>
          <p:nvPr/>
        </p:nvSpPr>
        <p:spPr>
          <a:xfrm>
            <a:off x="183373" y="217170"/>
            <a:ext cx="7700313" cy="714375"/>
          </a:xfrm>
          <a:prstGeom prst="rect">
            <a:avLst/>
          </a:prstGeom>
        </p:spPr>
        <p:txBody>
          <a:bodyPr lIns="0" tIns="0" rIns="0" bIns="0" rtlCol="0" anchor="t">
            <a:spAutoFit/>
          </a:bodyPr>
          <a:lstStyle/>
          <a:p>
            <a:pPr algn="l">
              <a:lnSpc>
                <a:spcPts val="5003"/>
              </a:lnSpc>
              <a:spcBef>
                <a:spcPct val="0"/>
              </a:spcBef>
            </a:pPr>
            <a:r>
              <a:rPr lang="en-US" sz="4169" b="1">
                <a:solidFill>
                  <a:srgbClr val="FFFF00"/>
                </a:solidFill>
                <a:latin typeface="Arial Bold"/>
                <a:ea typeface="Arial Bold"/>
                <a:cs typeface="Arial Bold"/>
                <a:sym typeface="Arial Bold"/>
              </a:rPr>
              <a:t>Tại sao sử dụng threads?</a:t>
            </a:r>
          </a:p>
        </p:txBody>
      </p:sp>
      <p:sp>
        <p:nvSpPr>
          <p:cNvPr id="7" name="TextBox 7"/>
          <p:cNvSpPr txBox="1"/>
          <p:nvPr/>
        </p:nvSpPr>
        <p:spPr>
          <a:xfrm>
            <a:off x="364876" y="1314596"/>
            <a:ext cx="9023849" cy="5465512"/>
          </a:xfrm>
          <a:prstGeom prst="rect">
            <a:avLst/>
          </a:prstGeom>
        </p:spPr>
        <p:txBody>
          <a:bodyPr lIns="0" tIns="0" rIns="0" bIns="0" rtlCol="0" anchor="t">
            <a:spAutoFit/>
          </a:bodyPr>
          <a:lstStyle/>
          <a:p>
            <a:pPr algn="just">
              <a:lnSpc>
                <a:spcPts val="3074"/>
              </a:lnSpc>
            </a:pPr>
            <a:r>
              <a:rPr lang="en-US" sz="2562" b="1">
                <a:solidFill>
                  <a:srgbClr val="000000"/>
                </a:solidFill>
                <a:latin typeface="Arial Bold"/>
                <a:ea typeface="Arial Bold"/>
                <a:cs typeface="Arial Bold"/>
                <a:sym typeface="Arial Bold"/>
              </a:rPr>
              <a:t>3. Tránh việc chuyển đổi tiến trình (Avoid process switching)</a:t>
            </a:r>
          </a:p>
          <a:p>
            <a:pPr algn="just">
              <a:lnSpc>
                <a:spcPts val="3074"/>
              </a:lnSpc>
            </a:pPr>
            <a:endParaRPr lang="en-US" sz="2562" b="1">
              <a:solidFill>
                <a:srgbClr val="000000"/>
              </a:solidFill>
              <a:latin typeface="Arial Bold"/>
              <a:ea typeface="Arial Bold"/>
              <a:cs typeface="Arial Bold"/>
              <a:sym typeface="Arial Bold"/>
            </a:endParaRPr>
          </a:p>
          <a:p>
            <a:pPr marL="553189" lvl="1" indent="-276594" algn="just">
              <a:lnSpc>
                <a:spcPts val="3074"/>
              </a:lnSpc>
              <a:buFont typeface="Arial"/>
              <a:buChar char="•"/>
            </a:pPr>
            <a:r>
              <a:rPr lang="en-US" sz="2562" b="1">
                <a:solidFill>
                  <a:srgbClr val="000000"/>
                </a:solidFill>
                <a:latin typeface="Arial Bold"/>
                <a:ea typeface="Arial Bold"/>
                <a:cs typeface="Arial Bold"/>
                <a:sym typeface="Arial Bold"/>
              </a:rPr>
              <a:t>Một ứng dụng lớn có thể được thiết kế dưới dạng nhiều tiến trình riêng biệt hoặc nhiều luồng trong một tiến trình.</a:t>
            </a:r>
          </a:p>
          <a:p>
            <a:pPr marL="553189" lvl="1" indent="-276594" algn="just">
              <a:lnSpc>
                <a:spcPts val="3074"/>
              </a:lnSpc>
              <a:buFont typeface="Arial"/>
              <a:buChar char="•"/>
            </a:pPr>
            <a:r>
              <a:rPr lang="en-US" sz="2562" b="1">
                <a:solidFill>
                  <a:srgbClr val="000000"/>
                </a:solidFill>
                <a:latin typeface="Arial Bold"/>
                <a:ea typeface="Arial Bold"/>
                <a:cs typeface="Arial Bold"/>
                <a:sym typeface="Arial Bold"/>
              </a:rPr>
              <a:t>Nếu dùng nhiều tiến trình, việc chuyển đổi ngữ cảnh giữa các tiến trình (process switching) sẽ tốn kém hơn do cần hệ điều hành can thiệp (thay đổi bảng trang, quản lý bộ nhớ,...).</a:t>
            </a:r>
          </a:p>
          <a:p>
            <a:pPr marL="553189" lvl="1" indent="-276594" algn="just">
              <a:lnSpc>
                <a:spcPts val="3074"/>
              </a:lnSpc>
              <a:buFont typeface="Arial"/>
              <a:buChar char="•"/>
            </a:pPr>
            <a:r>
              <a:rPr lang="en-US" sz="2562" b="1">
                <a:solidFill>
                  <a:srgbClr val="000000"/>
                </a:solidFill>
                <a:latin typeface="Arial Bold"/>
                <a:ea typeface="Arial Bold"/>
                <a:cs typeface="Arial Bold"/>
                <a:sym typeface="Arial Bold"/>
              </a:rPr>
              <a:t>Nếu dùng đa luồng, các luồng có thể chia sẻ bộ nhớ và tài nguyên, giúp giảm chi phí chuyển đổi ngữ cảnh và cải thiện hiệu suất.</a:t>
            </a:r>
          </a:p>
          <a:p>
            <a:pPr algn="just">
              <a:lnSpc>
                <a:spcPts val="3074"/>
              </a:lnSpc>
              <a:spcBef>
                <a:spcPct val="0"/>
              </a:spcBef>
            </a:pPr>
            <a:endParaRPr lang="en-US" sz="2562"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Freeform 3"/>
          <p:cNvSpPr/>
          <p:nvPr/>
        </p:nvSpPr>
        <p:spPr>
          <a:xfrm>
            <a:off x="0" y="1175849"/>
            <a:ext cx="7459171" cy="3174105"/>
          </a:xfrm>
          <a:custGeom>
            <a:avLst/>
            <a:gdLst/>
            <a:ahLst/>
            <a:cxnLst/>
            <a:rect l="l" t="t" r="r" b="b"/>
            <a:pathLst>
              <a:path w="7459171" h="3174105">
                <a:moveTo>
                  <a:pt x="0" y="0"/>
                </a:moveTo>
                <a:lnTo>
                  <a:pt x="7459171" y="0"/>
                </a:lnTo>
                <a:lnTo>
                  <a:pt x="7459171" y="3174105"/>
                </a:lnTo>
                <a:lnTo>
                  <a:pt x="0" y="3174105"/>
                </a:lnTo>
                <a:lnTo>
                  <a:pt x="0" y="0"/>
                </a:lnTo>
                <a:close/>
              </a:path>
            </a:pathLst>
          </a:custGeom>
          <a:blipFill>
            <a:blip r:embed="rId4"/>
            <a:stretch>
              <a:fillRect l="-938" r="-938" b="-2648"/>
            </a:stretch>
          </a:blipFill>
        </p:spPr>
      </p:sp>
      <p:sp>
        <p:nvSpPr>
          <p:cNvPr id="4" name="TextBox 4"/>
          <p:cNvSpPr txBox="1"/>
          <p:nvPr/>
        </p:nvSpPr>
        <p:spPr>
          <a:xfrm>
            <a:off x="0" y="178666"/>
            <a:ext cx="7747974" cy="653055"/>
          </a:xfrm>
          <a:prstGeom prst="rect">
            <a:avLst/>
          </a:prstGeom>
        </p:spPr>
        <p:txBody>
          <a:bodyPr lIns="0" tIns="0" rIns="0" bIns="0" rtlCol="0" anchor="t">
            <a:spAutoFit/>
          </a:bodyPr>
          <a:lstStyle/>
          <a:p>
            <a:pPr algn="ctr">
              <a:lnSpc>
                <a:spcPts val="4583"/>
              </a:lnSpc>
              <a:spcBef>
                <a:spcPct val="0"/>
              </a:spcBef>
            </a:pPr>
            <a:r>
              <a:rPr lang="en-US" sz="3819" b="1">
                <a:solidFill>
                  <a:srgbClr val="FFFF00"/>
                </a:solidFill>
                <a:latin typeface="Arial Bold"/>
                <a:ea typeface="Arial Bold"/>
                <a:cs typeface="Arial Bold"/>
                <a:sym typeface="Arial Bold"/>
              </a:rPr>
              <a:t>Tránh chuyển đổi tiến trình</a:t>
            </a:r>
          </a:p>
        </p:txBody>
      </p:sp>
      <p:sp>
        <p:nvSpPr>
          <p:cNvPr id="5" name="TextBox 5"/>
          <p:cNvSpPr txBox="1"/>
          <p:nvPr/>
        </p:nvSpPr>
        <p:spPr>
          <a:xfrm>
            <a:off x="114068" y="5508340"/>
            <a:ext cx="8737628" cy="466725"/>
          </a:xfrm>
          <a:prstGeom prst="rect">
            <a:avLst/>
          </a:prstGeom>
        </p:spPr>
        <p:txBody>
          <a:bodyPr lIns="0" tIns="0" rIns="0" bIns="0" rtlCol="0" anchor="t">
            <a:spAutoFit/>
          </a:bodyPr>
          <a:lstStyle/>
          <a:p>
            <a:pPr algn="just">
              <a:lnSpc>
                <a:spcPts val="1770"/>
              </a:lnSpc>
            </a:pPr>
            <a:r>
              <a:rPr lang="en-US" sz="1475" b="1">
                <a:solidFill>
                  <a:srgbClr val="FF0000"/>
                </a:solidFill>
                <a:latin typeface="Arial Bold"/>
                <a:ea typeface="Arial Bold"/>
                <a:cs typeface="Arial Bold"/>
                <a:sym typeface="Arial Bold"/>
              </a:rPr>
              <a:t>Nếu sử dụng đa luồng (multithreading) trong cùng một tiến trình thay vì giao tiếp giữa hai tiến trình riêng biệt, ta có thể tránh được quá trình chuyển đổi này, giúp cải thiện hiệu suất.</a:t>
            </a:r>
          </a:p>
        </p:txBody>
      </p:sp>
      <p:sp>
        <p:nvSpPr>
          <p:cNvPr id="6" name="TextBox 6"/>
          <p:cNvSpPr txBox="1"/>
          <p:nvPr/>
        </p:nvSpPr>
        <p:spPr>
          <a:xfrm>
            <a:off x="5022569" y="1743965"/>
            <a:ext cx="4731031" cy="666750"/>
          </a:xfrm>
          <a:prstGeom prst="rect">
            <a:avLst/>
          </a:prstGeom>
        </p:spPr>
        <p:txBody>
          <a:bodyPr lIns="0" tIns="0" rIns="0" bIns="0" rtlCol="0" anchor="t">
            <a:spAutoFit/>
          </a:bodyPr>
          <a:lstStyle/>
          <a:p>
            <a:pPr algn="l">
              <a:lnSpc>
                <a:spcPts val="1651"/>
              </a:lnSpc>
              <a:spcBef>
                <a:spcPct val="0"/>
              </a:spcBef>
            </a:pPr>
            <a:r>
              <a:rPr lang="en-US" sz="1376" b="1">
                <a:solidFill>
                  <a:srgbClr val="FF0000"/>
                </a:solidFill>
                <a:latin typeface="Arial Bold"/>
                <a:ea typeface="Arial Bold"/>
                <a:cs typeface="Arial Bold"/>
                <a:sym typeface="Arial Bold"/>
              </a:rPr>
              <a:t>Việc chuyển đổi qua lại giữa không gian kernel và không gian người dùng làm tốn thời gian do phải lưu và khôi phục trạng thái của tiến trình.</a:t>
            </a:r>
          </a:p>
        </p:txBody>
      </p:sp>
      <p:sp>
        <p:nvSpPr>
          <p:cNvPr id="7" name="TextBox 7"/>
          <p:cNvSpPr txBox="1"/>
          <p:nvPr/>
        </p:nvSpPr>
        <p:spPr>
          <a:xfrm>
            <a:off x="834044" y="4149351"/>
            <a:ext cx="8919556" cy="652166"/>
          </a:xfrm>
          <a:prstGeom prst="rect">
            <a:avLst/>
          </a:prstGeom>
        </p:spPr>
        <p:txBody>
          <a:bodyPr lIns="0" tIns="0" rIns="0" bIns="0" rtlCol="0" anchor="t">
            <a:spAutoFit/>
          </a:bodyPr>
          <a:lstStyle/>
          <a:p>
            <a:pPr algn="just">
              <a:lnSpc>
                <a:spcPts val="2401"/>
              </a:lnSpc>
              <a:spcBef>
                <a:spcPct val="0"/>
              </a:spcBef>
            </a:pPr>
            <a:r>
              <a:rPr lang="en-US" sz="2001" b="1">
                <a:solidFill>
                  <a:srgbClr val="FF0000"/>
                </a:solidFill>
                <a:latin typeface="Arial Bold"/>
                <a:ea typeface="Arial Bold"/>
                <a:cs typeface="Arial Bold"/>
                <a:sym typeface="Arial Bold"/>
              </a:rPr>
              <a:t>Quá trình context switching trong IPC gây ra độ trễ, vì mỗi lần giao tiếp giữa các tiến trình cần ít nhất ba bước (S1 → S2 → S3).</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48610" y="286731"/>
            <a:ext cx="5485509" cy="528840"/>
          </a:xfrm>
          <a:prstGeom prst="rect">
            <a:avLst/>
          </a:prstGeom>
        </p:spPr>
        <p:txBody>
          <a:bodyPr lIns="0" tIns="0" rIns="0" bIns="0" rtlCol="0" anchor="t">
            <a:spAutoFit/>
          </a:bodyPr>
          <a:lstStyle/>
          <a:p>
            <a:pPr algn="ctr">
              <a:lnSpc>
                <a:spcPts val="3726"/>
              </a:lnSpc>
              <a:spcBef>
                <a:spcPct val="0"/>
              </a:spcBef>
            </a:pPr>
            <a:r>
              <a:rPr lang="en-US" sz="3105" b="1">
                <a:solidFill>
                  <a:srgbClr val="FFFF00"/>
                </a:solidFill>
                <a:latin typeface="Arial Bold"/>
                <a:ea typeface="Arial Bold"/>
                <a:cs typeface="Arial Bold"/>
                <a:sym typeface="Arial Bold"/>
              </a:rPr>
              <a:t>Chi phí chuyển đổi ngữ cảnh</a:t>
            </a:r>
          </a:p>
        </p:txBody>
      </p:sp>
      <p:sp>
        <p:nvSpPr>
          <p:cNvPr id="4" name="TextBox 4"/>
          <p:cNvSpPr txBox="1"/>
          <p:nvPr/>
        </p:nvSpPr>
        <p:spPr>
          <a:xfrm>
            <a:off x="84050" y="1363999"/>
            <a:ext cx="9165247" cy="4352925"/>
          </a:xfrm>
          <a:prstGeom prst="rect">
            <a:avLst/>
          </a:prstGeom>
        </p:spPr>
        <p:txBody>
          <a:bodyPr lIns="0" tIns="0" rIns="0" bIns="0" rtlCol="0" anchor="t">
            <a:spAutoFit/>
          </a:bodyPr>
          <a:lstStyle/>
          <a:p>
            <a:pPr algn="just">
              <a:lnSpc>
                <a:spcPts val="3405"/>
              </a:lnSpc>
            </a:pPr>
            <a:r>
              <a:rPr lang="en-US" sz="2837" b="1">
                <a:solidFill>
                  <a:srgbClr val="FF0000"/>
                </a:solidFill>
                <a:latin typeface="Arial Bold"/>
                <a:ea typeface="Arial Bold"/>
                <a:cs typeface="Arial Bold"/>
                <a:sym typeface="Arial Bold"/>
              </a:rPr>
              <a:t>Chi phí trực tiếp:</a:t>
            </a:r>
            <a:r>
              <a:rPr lang="en-US" sz="2837" b="1">
                <a:solidFill>
                  <a:srgbClr val="000000"/>
                </a:solidFill>
                <a:latin typeface="Arial Bold"/>
                <a:ea typeface="Arial Bold"/>
                <a:cs typeface="Arial Bold"/>
                <a:sym typeface="Arial Bold"/>
              </a:rPr>
              <a:t> Chi phí thực tế để thực hiện chuyển đổi và thực thi mã của trình xử lý. Cố định và nhỏ</a:t>
            </a:r>
          </a:p>
          <a:p>
            <a:pPr algn="just">
              <a:lnSpc>
                <a:spcPts val="3405"/>
              </a:lnSpc>
              <a:spcBef>
                <a:spcPct val="0"/>
              </a:spcBef>
            </a:pPr>
            <a:endParaRPr lang="en-US" sz="2837" b="1">
              <a:solidFill>
                <a:srgbClr val="000000"/>
              </a:solidFill>
              <a:latin typeface="Arial Bold"/>
              <a:ea typeface="Arial Bold"/>
              <a:cs typeface="Arial Bold"/>
              <a:sym typeface="Arial Bold"/>
            </a:endParaRPr>
          </a:p>
          <a:p>
            <a:pPr algn="just">
              <a:lnSpc>
                <a:spcPts val="3405"/>
              </a:lnSpc>
            </a:pPr>
            <a:r>
              <a:rPr lang="en-US" sz="2837" b="1">
                <a:solidFill>
                  <a:srgbClr val="FF0000"/>
                </a:solidFill>
                <a:latin typeface="Arial Bold"/>
                <a:ea typeface="Arial Bold"/>
                <a:cs typeface="Arial Bold"/>
                <a:sym typeface="Arial Bold"/>
              </a:rPr>
              <a:t>Chi phí gián tiếp:</a:t>
            </a:r>
            <a:r>
              <a:rPr lang="en-US" sz="2837" b="1">
                <a:solidFill>
                  <a:srgbClr val="000000"/>
                </a:solidFill>
                <a:latin typeface="Arial Bold"/>
                <a:ea typeface="Arial Bold"/>
                <a:cs typeface="Arial Bold"/>
                <a:sym typeface="Arial Bold"/>
              </a:rPr>
              <a:t> </a:t>
            </a:r>
          </a:p>
          <a:p>
            <a:pPr marL="612702" lvl="1" indent="-306351" algn="just">
              <a:lnSpc>
                <a:spcPts val="3405"/>
              </a:lnSpc>
              <a:buFont typeface="Arial"/>
              <a:buChar char="•"/>
            </a:pPr>
            <a:r>
              <a:rPr lang="en-US" sz="2837" b="1">
                <a:solidFill>
                  <a:srgbClr val="000000"/>
                </a:solidFill>
                <a:latin typeface="Arial Bold"/>
                <a:ea typeface="Arial Bold"/>
                <a:cs typeface="Arial Bold"/>
                <a:sym typeface="Arial Bold"/>
              </a:rPr>
              <a:t>Các chi phí khác, đặc biệt là do làm rối loạn bộ nhớ đệm (cache).</a:t>
            </a:r>
          </a:p>
          <a:p>
            <a:pPr marL="612702" lvl="1" indent="-306351" algn="just">
              <a:lnSpc>
                <a:spcPts val="3405"/>
              </a:lnSpc>
              <a:buFont typeface="Arial"/>
              <a:buChar char="•"/>
            </a:pPr>
            <a:r>
              <a:rPr lang="en-US" sz="2837" b="1">
                <a:solidFill>
                  <a:srgbClr val="000000"/>
                </a:solidFill>
                <a:latin typeface="Arial Bold"/>
                <a:ea typeface="Arial Bold"/>
                <a:cs typeface="Arial Bold"/>
                <a:sym typeface="Arial Bold"/>
              </a:rPr>
              <a:t>Có thể rất lớn, đặc biệt nếu nó gây ra hàng loạt lần tải lại cache, làm giảm hiệu suất ứng dụng đáng kể.</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Freeform 3"/>
          <p:cNvSpPr/>
          <p:nvPr/>
        </p:nvSpPr>
        <p:spPr>
          <a:xfrm>
            <a:off x="479369" y="1261452"/>
            <a:ext cx="6923318" cy="2608099"/>
          </a:xfrm>
          <a:custGeom>
            <a:avLst/>
            <a:gdLst/>
            <a:ahLst/>
            <a:cxnLst/>
            <a:rect l="l" t="t" r="r" b="b"/>
            <a:pathLst>
              <a:path w="6923318" h="2608099">
                <a:moveTo>
                  <a:pt x="0" y="0"/>
                </a:moveTo>
                <a:lnTo>
                  <a:pt x="6923318" y="0"/>
                </a:lnTo>
                <a:lnTo>
                  <a:pt x="6923318" y="2608099"/>
                </a:lnTo>
                <a:lnTo>
                  <a:pt x="0" y="2608099"/>
                </a:lnTo>
                <a:lnTo>
                  <a:pt x="0" y="0"/>
                </a:lnTo>
                <a:close/>
              </a:path>
            </a:pathLst>
          </a:custGeom>
          <a:blipFill>
            <a:blip r:embed="rId4"/>
            <a:stretch>
              <a:fillRect/>
            </a:stretch>
          </a:blipFill>
        </p:spPr>
      </p:sp>
      <p:sp>
        <p:nvSpPr>
          <p:cNvPr id="4" name="TextBox 4"/>
          <p:cNvSpPr txBox="1"/>
          <p:nvPr/>
        </p:nvSpPr>
        <p:spPr>
          <a:xfrm>
            <a:off x="48610" y="286731"/>
            <a:ext cx="5485509" cy="528840"/>
          </a:xfrm>
          <a:prstGeom prst="rect">
            <a:avLst/>
          </a:prstGeom>
        </p:spPr>
        <p:txBody>
          <a:bodyPr lIns="0" tIns="0" rIns="0" bIns="0" rtlCol="0" anchor="t">
            <a:spAutoFit/>
          </a:bodyPr>
          <a:lstStyle/>
          <a:p>
            <a:pPr algn="ctr">
              <a:lnSpc>
                <a:spcPts val="3726"/>
              </a:lnSpc>
              <a:spcBef>
                <a:spcPct val="0"/>
              </a:spcBef>
            </a:pPr>
            <a:r>
              <a:rPr lang="en-US" sz="3105" b="1">
                <a:solidFill>
                  <a:srgbClr val="FFFF00"/>
                </a:solidFill>
                <a:latin typeface="Arial Bold"/>
                <a:ea typeface="Arial Bold"/>
                <a:cs typeface="Arial Bold"/>
                <a:sym typeface="Arial Bold"/>
              </a:rPr>
              <a:t>Chi phí chuyển đổi ngữ cảnh</a:t>
            </a:r>
          </a:p>
        </p:txBody>
      </p:sp>
      <p:sp>
        <p:nvSpPr>
          <p:cNvPr id="5" name="TextBox 5"/>
          <p:cNvSpPr txBox="1"/>
          <p:nvPr/>
        </p:nvSpPr>
        <p:spPr>
          <a:xfrm>
            <a:off x="0" y="3746877"/>
            <a:ext cx="9753600" cy="3185451"/>
          </a:xfrm>
          <a:prstGeom prst="rect">
            <a:avLst/>
          </a:prstGeom>
        </p:spPr>
        <p:txBody>
          <a:bodyPr lIns="0" tIns="0" rIns="0" bIns="0" rtlCol="0" anchor="t">
            <a:spAutoFit/>
          </a:bodyPr>
          <a:lstStyle/>
          <a:p>
            <a:pPr algn="just">
              <a:lnSpc>
                <a:spcPts val="2745"/>
              </a:lnSpc>
            </a:pPr>
            <a:r>
              <a:rPr lang="en-US" sz="2288" b="1">
                <a:solidFill>
                  <a:srgbClr val="000000"/>
                </a:solidFill>
                <a:latin typeface="Arial Bold"/>
                <a:ea typeface="Arial Bold"/>
                <a:cs typeface="Arial Bold"/>
                <a:sym typeface="Arial Bold"/>
              </a:rPr>
              <a:t>1.Ngắt có thể làm mất dữ liệu quan trọng trong cache, gây mất thời gian để nạp lại.</a:t>
            </a:r>
          </a:p>
          <a:p>
            <a:pPr algn="just">
              <a:lnSpc>
                <a:spcPts val="2745"/>
              </a:lnSpc>
            </a:pPr>
            <a:endParaRPr lang="en-US" sz="2288" b="1">
              <a:solidFill>
                <a:srgbClr val="000000"/>
              </a:solidFill>
              <a:latin typeface="Arial Bold"/>
              <a:ea typeface="Arial Bold"/>
              <a:cs typeface="Arial Bold"/>
              <a:sym typeface="Arial Bold"/>
            </a:endParaRPr>
          </a:p>
          <a:p>
            <a:pPr algn="just">
              <a:lnSpc>
                <a:spcPts val="2745"/>
              </a:lnSpc>
            </a:pPr>
            <a:r>
              <a:rPr lang="en-US" sz="2288" b="1">
                <a:solidFill>
                  <a:srgbClr val="000000"/>
                </a:solidFill>
                <a:latin typeface="Arial Bold"/>
                <a:ea typeface="Arial Bold"/>
                <a:cs typeface="Arial Bold"/>
                <a:sym typeface="Arial Bold"/>
              </a:rPr>
              <a:t>2.Hiệu ứng dây chuyền: Khi một khối bị loại, việc truy cập lại nó có thể tiếp tục đẩy các khối khác ra khỏi cache, gây giảm hiệu suất.</a:t>
            </a:r>
          </a:p>
          <a:p>
            <a:pPr algn="just">
              <a:lnSpc>
                <a:spcPts val="2745"/>
              </a:lnSpc>
            </a:pPr>
            <a:endParaRPr lang="en-US" sz="2288" b="1">
              <a:solidFill>
                <a:srgbClr val="000000"/>
              </a:solidFill>
              <a:latin typeface="Arial Bold"/>
              <a:ea typeface="Arial Bold"/>
              <a:cs typeface="Arial Bold"/>
              <a:sym typeface="Arial Bold"/>
            </a:endParaRPr>
          </a:p>
          <a:p>
            <a:pPr algn="just">
              <a:lnSpc>
                <a:spcPts val="2745"/>
              </a:lnSpc>
            </a:pPr>
            <a:r>
              <a:rPr lang="en-US" sz="2288" b="1">
                <a:solidFill>
                  <a:srgbClr val="000000"/>
                </a:solidFill>
                <a:latin typeface="Arial Bold"/>
                <a:ea typeface="Arial Bold"/>
                <a:cs typeface="Arial Bold"/>
                <a:sym typeface="Arial Bold"/>
              </a:rPr>
              <a:t>3.Đây là lý do tại sao chi phí gián tiếp của việc chuyển đổi ngữ cảnh cao, do hệ thống phải tốn thêm nhiều thời gian truy xuất bộ nhớ.</a:t>
            </a:r>
          </a:p>
          <a:p>
            <a:pPr algn="just">
              <a:lnSpc>
                <a:spcPts val="2745"/>
              </a:lnSpc>
              <a:spcBef>
                <a:spcPct val="0"/>
              </a:spcBef>
            </a:pPr>
            <a:endParaRPr lang="en-US" sz="2288"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Freeform 3"/>
          <p:cNvSpPr/>
          <p:nvPr/>
        </p:nvSpPr>
        <p:spPr>
          <a:xfrm>
            <a:off x="352063" y="1530217"/>
            <a:ext cx="6994056" cy="5297998"/>
          </a:xfrm>
          <a:custGeom>
            <a:avLst/>
            <a:gdLst/>
            <a:ahLst/>
            <a:cxnLst/>
            <a:rect l="l" t="t" r="r" b="b"/>
            <a:pathLst>
              <a:path w="6994056" h="5297998">
                <a:moveTo>
                  <a:pt x="0" y="0"/>
                </a:moveTo>
                <a:lnTo>
                  <a:pt x="6994057" y="0"/>
                </a:lnTo>
                <a:lnTo>
                  <a:pt x="6994057" y="5297997"/>
                </a:lnTo>
                <a:lnTo>
                  <a:pt x="0" y="5297997"/>
                </a:lnTo>
                <a:lnTo>
                  <a:pt x="0" y="0"/>
                </a:lnTo>
                <a:close/>
              </a:path>
            </a:pathLst>
          </a:custGeom>
          <a:blipFill>
            <a:blip r:embed="rId4"/>
            <a:stretch>
              <a:fillRect/>
            </a:stretch>
          </a:blipFill>
        </p:spPr>
      </p:sp>
      <p:sp>
        <p:nvSpPr>
          <p:cNvPr id="4" name="TextBox 4"/>
          <p:cNvSpPr txBox="1"/>
          <p:nvPr/>
        </p:nvSpPr>
        <p:spPr>
          <a:xfrm>
            <a:off x="0" y="217170"/>
            <a:ext cx="7105997" cy="758950"/>
          </a:xfrm>
          <a:prstGeom prst="rect">
            <a:avLst/>
          </a:prstGeom>
        </p:spPr>
        <p:txBody>
          <a:bodyPr lIns="0" tIns="0" rIns="0" bIns="0" rtlCol="0" anchor="t">
            <a:spAutoFit/>
          </a:bodyPr>
          <a:lstStyle/>
          <a:p>
            <a:pPr algn="ctr">
              <a:lnSpc>
                <a:spcPts val="5348"/>
              </a:lnSpc>
              <a:spcBef>
                <a:spcPct val="0"/>
              </a:spcBef>
            </a:pPr>
            <a:r>
              <a:rPr lang="en-US" sz="4457" b="1">
                <a:solidFill>
                  <a:srgbClr val="FFFF00"/>
                </a:solidFill>
                <a:latin typeface="Arial Bold"/>
                <a:ea typeface="Arial Bold"/>
                <a:cs typeface="Arial Bold"/>
                <a:sym typeface="Arial Bold"/>
              </a:rPr>
              <a:t>Ví dụ trên python</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0" y="217170"/>
            <a:ext cx="6817824" cy="758950"/>
          </a:xfrm>
          <a:prstGeom prst="rect">
            <a:avLst/>
          </a:prstGeom>
        </p:spPr>
        <p:txBody>
          <a:bodyPr lIns="0" tIns="0" rIns="0" bIns="0" rtlCol="0" anchor="t">
            <a:spAutoFit/>
          </a:bodyPr>
          <a:lstStyle/>
          <a:p>
            <a:pPr algn="ctr">
              <a:lnSpc>
                <a:spcPts val="5348"/>
              </a:lnSpc>
              <a:spcBef>
                <a:spcPct val="0"/>
              </a:spcBef>
            </a:pPr>
            <a:r>
              <a:rPr lang="en-US" sz="4457" b="1">
                <a:solidFill>
                  <a:srgbClr val="FFFF00"/>
                </a:solidFill>
                <a:latin typeface="Arial Bold"/>
                <a:ea typeface="Arial Bold"/>
                <a:cs typeface="Arial Bold"/>
                <a:sym typeface="Arial Bold"/>
              </a:rPr>
              <a:t>Ví dụ trên python</a:t>
            </a:r>
          </a:p>
        </p:txBody>
      </p:sp>
      <p:sp>
        <p:nvSpPr>
          <p:cNvPr id="4" name="Freeform 4"/>
          <p:cNvSpPr/>
          <p:nvPr/>
        </p:nvSpPr>
        <p:spPr>
          <a:xfrm>
            <a:off x="274691" y="1428605"/>
            <a:ext cx="6330374" cy="4526217"/>
          </a:xfrm>
          <a:custGeom>
            <a:avLst/>
            <a:gdLst/>
            <a:ahLst/>
            <a:cxnLst/>
            <a:rect l="l" t="t" r="r" b="b"/>
            <a:pathLst>
              <a:path w="6330374" h="4526217">
                <a:moveTo>
                  <a:pt x="0" y="0"/>
                </a:moveTo>
                <a:lnTo>
                  <a:pt x="6330373" y="0"/>
                </a:lnTo>
                <a:lnTo>
                  <a:pt x="6330373" y="4526217"/>
                </a:lnTo>
                <a:lnTo>
                  <a:pt x="0" y="4526217"/>
                </a:lnTo>
                <a:lnTo>
                  <a:pt x="0" y="0"/>
                </a:lnTo>
                <a:close/>
              </a:path>
            </a:pathLst>
          </a:custGeom>
          <a:blipFill>
            <a:blip r:embed="rId4"/>
            <a:stretch>
              <a:fillRect/>
            </a:stretch>
          </a:blipFill>
        </p:spPr>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Freeform 3"/>
          <p:cNvSpPr/>
          <p:nvPr/>
        </p:nvSpPr>
        <p:spPr>
          <a:xfrm>
            <a:off x="231991" y="1487758"/>
            <a:ext cx="6027338" cy="4339683"/>
          </a:xfrm>
          <a:custGeom>
            <a:avLst/>
            <a:gdLst/>
            <a:ahLst/>
            <a:cxnLst/>
            <a:rect l="l" t="t" r="r" b="b"/>
            <a:pathLst>
              <a:path w="6027338" h="4339683">
                <a:moveTo>
                  <a:pt x="0" y="0"/>
                </a:moveTo>
                <a:lnTo>
                  <a:pt x="6027338" y="0"/>
                </a:lnTo>
                <a:lnTo>
                  <a:pt x="6027338" y="4339684"/>
                </a:lnTo>
                <a:lnTo>
                  <a:pt x="0" y="4339684"/>
                </a:lnTo>
                <a:lnTo>
                  <a:pt x="0" y="0"/>
                </a:lnTo>
                <a:close/>
              </a:path>
            </a:pathLst>
          </a:custGeom>
          <a:blipFill>
            <a:blip r:embed="rId4"/>
            <a:stretch>
              <a:fillRect/>
            </a:stretch>
          </a:blipFill>
        </p:spPr>
      </p:sp>
      <p:sp>
        <p:nvSpPr>
          <p:cNvPr id="4" name="TextBox 4"/>
          <p:cNvSpPr txBox="1"/>
          <p:nvPr/>
        </p:nvSpPr>
        <p:spPr>
          <a:xfrm>
            <a:off x="0" y="217170"/>
            <a:ext cx="7238076" cy="758950"/>
          </a:xfrm>
          <a:prstGeom prst="rect">
            <a:avLst/>
          </a:prstGeom>
        </p:spPr>
        <p:txBody>
          <a:bodyPr lIns="0" tIns="0" rIns="0" bIns="0" rtlCol="0" anchor="t">
            <a:spAutoFit/>
          </a:bodyPr>
          <a:lstStyle/>
          <a:p>
            <a:pPr algn="ctr">
              <a:lnSpc>
                <a:spcPts val="5348"/>
              </a:lnSpc>
              <a:spcBef>
                <a:spcPct val="0"/>
              </a:spcBef>
            </a:pPr>
            <a:r>
              <a:rPr lang="en-US" sz="4457" b="1">
                <a:solidFill>
                  <a:srgbClr val="FFFF00"/>
                </a:solidFill>
                <a:latin typeface="Arial Bold"/>
                <a:ea typeface="Arial Bold"/>
                <a:cs typeface="Arial Bold"/>
                <a:sym typeface="Arial Bold"/>
              </a:rPr>
              <a:t>Ví dụ trên python</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43446" y="176498"/>
            <a:ext cx="6208633" cy="762000"/>
          </a:xfrm>
          <a:prstGeom prst="rect">
            <a:avLst/>
          </a:prstGeom>
        </p:spPr>
        <p:txBody>
          <a:bodyPr lIns="0" tIns="0" rIns="0" bIns="0" rtlCol="0" anchor="t">
            <a:spAutoFit/>
          </a:bodyPr>
          <a:lstStyle/>
          <a:p>
            <a:pPr algn="ctr">
              <a:lnSpc>
                <a:spcPts val="5348"/>
              </a:lnSpc>
              <a:spcBef>
                <a:spcPct val="0"/>
              </a:spcBef>
            </a:pPr>
            <a:r>
              <a:rPr lang="en-US" sz="4457" b="1">
                <a:solidFill>
                  <a:srgbClr val="FFFF00"/>
                </a:solidFill>
                <a:latin typeface="Arial Bold"/>
                <a:ea typeface="Arial Bold"/>
                <a:cs typeface="Arial Bold"/>
                <a:sym typeface="Arial Bold"/>
              </a:rPr>
              <a:t>Luồng và hệ điều hành</a:t>
            </a:r>
          </a:p>
        </p:txBody>
      </p:sp>
      <p:sp>
        <p:nvSpPr>
          <p:cNvPr id="4" name="TextBox 4"/>
          <p:cNvSpPr txBox="1"/>
          <p:nvPr/>
        </p:nvSpPr>
        <p:spPr>
          <a:xfrm>
            <a:off x="181385" y="1285653"/>
            <a:ext cx="9320064" cy="819150"/>
          </a:xfrm>
          <a:prstGeom prst="rect">
            <a:avLst/>
          </a:prstGeom>
        </p:spPr>
        <p:txBody>
          <a:bodyPr lIns="0" tIns="0" rIns="0" bIns="0" rtlCol="0" anchor="t">
            <a:spAutoFit/>
          </a:bodyPr>
          <a:lstStyle/>
          <a:p>
            <a:pPr algn="just">
              <a:lnSpc>
                <a:spcPts val="3036"/>
              </a:lnSpc>
              <a:spcBef>
                <a:spcPct val="0"/>
              </a:spcBef>
            </a:pPr>
            <a:r>
              <a:rPr lang="en-US" sz="2530" b="1">
                <a:solidFill>
                  <a:srgbClr val="000000"/>
                </a:solidFill>
                <a:latin typeface="Arial Bold"/>
                <a:ea typeface="Arial Bold"/>
                <a:cs typeface="Arial Bold"/>
                <a:sym typeface="Arial Bold"/>
              </a:rPr>
              <a:t>Hệ điều hành (OS) có nên hỗ trợ quản lý luồng (threads) hay để chúng được thực hiện ở mức không gian người dùng?</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43446" y="176498"/>
            <a:ext cx="6208633" cy="762000"/>
          </a:xfrm>
          <a:prstGeom prst="rect">
            <a:avLst/>
          </a:prstGeom>
        </p:spPr>
        <p:txBody>
          <a:bodyPr lIns="0" tIns="0" rIns="0" bIns="0" rtlCol="0" anchor="t">
            <a:spAutoFit/>
          </a:bodyPr>
          <a:lstStyle/>
          <a:p>
            <a:pPr algn="ctr">
              <a:lnSpc>
                <a:spcPts val="5348"/>
              </a:lnSpc>
              <a:spcBef>
                <a:spcPct val="0"/>
              </a:spcBef>
            </a:pPr>
            <a:r>
              <a:rPr lang="en-US" sz="4457" b="1">
                <a:solidFill>
                  <a:srgbClr val="FFFF00"/>
                </a:solidFill>
                <a:latin typeface="Arial Bold"/>
                <a:ea typeface="Arial Bold"/>
                <a:cs typeface="Arial Bold"/>
                <a:sym typeface="Arial Bold"/>
              </a:rPr>
              <a:t>Luồng và hệ điều hành</a:t>
            </a:r>
          </a:p>
        </p:txBody>
      </p:sp>
      <p:sp>
        <p:nvSpPr>
          <p:cNvPr id="4" name="TextBox 4"/>
          <p:cNvSpPr txBox="1"/>
          <p:nvPr/>
        </p:nvSpPr>
        <p:spPr>
          <a:xfrm>
            <a:off x="0" y="1211195"/>
            <a:ext cx="9753600" cy="676275"/>
          </a:xfrm>
          <a:prstGeom prst="rect">
            <a:avLst/>
          </a:prstGeom>
        </p:spPr>
        <p:txBody>
          <a:bodyPr lIns="0" tIns="0" rIns="0" bIns="0" rtlCol="0" anchor="t">
            <a:spAutoFit/>
          </a:bodyPr>
          <a:lstStyle/>
          <a:p>
            <a:pPr algn="just">
              <a:lnSpc>
                <a:spcPts val="2527"/>
              </a:lnSpc>
              <a:spcBef>
                <a:spcPct val="0"/>
              </a:spcBef>
            </a:pPr>
            <a:r>
              <a:rPr lang="en-US" sz="2106" b="1">
                <a:solidFill>
                  <a:srgbClr val="000000"/>
                </a:solidFill>
                <a:latin typeface="Arial Bold"/>
                <a:ea typeface="Arial Bold"/>
                <a:cs typeface="Arial Bold"/>
                <a:sym typeface="Arial Bold"/>
              </a:rPr>
              <a:t>1️ Giải pháp triển khai luồng trong không gian người dùng (User-space threads)</a:t>
            </a:r>
          </a:p>
        </p:txBody>
      </p:sp>
      <p:sp>
        <p:nvSpPr>
          <p:cNvPr id="5" name="TextBox 5"/>
          <p:cNvSpPr txBox="1"/>
          <p:nvPr/>
        </p:nvSpPr>
        <p:spPr>
          <a:xfrm>
            <a:off x="182025" y="1959917"/>
            <a:ext cx="9423711" cy="1495425"/>
          </a:xfrm>
          <a:prstGeom prst="rect">
            <a:avLst/>
          </a:prstGeom>
        </p:spPr>
        <p:txBody>
          <a:bodyPr lIns="0" tIns="0" rIns="0" bIns="0" rtlCol="0" anchor="t">
            <a:spAutoFit/>
          </a:bodyPr>
          <a:lstStyle/>
          <a:p>
            <a:pPr algn="just">
              <a:lnSpc>
                <a:spcPts val="3086"/>
              </a:lnSpc>
            </a:pPr>
            <a:r>
              <a:rPr lang="en-US" sz="2572" b="1">
                <a:solidFill>
                  <a:srgbClr val="FF0000"/>
                </a:solidFill>
                <a:latin typeface="Arial Bold"/>
                <a:ea typeface="Arial Bold"/>
                <a:cs typeface="Arial Bold"/>
                <a:sym typeface="Arial Bold"/>
              </a:rPr>
              <a:t>Ưu điểm:</a:t>
            </a:r>
          </a:p>
          <a:p>
            <a:pPr algn="just">
              <a:lnSpc>
                <a:spcPts val="2846"/>
              </a:lnSpc>
              <a:spcBef>
                <a:spcPct val="0"/>
              </a:spcBef>
            </a:pPr>
            <a:r>
              <a:rPr lang="en-US" sz="2372" b="1">
                <a:solidFill>
                  <a:srgbClr val="000000"/>
                </a:solidFill>
                <a:latin typeface="Arial Bold"/>
                <a:ea typeface="Arial Bold"/>
                <a:cs typeface="Arial Bold"/>
                <a:sym typeface="Arial Bold"/>
              </a:rPr>
              <a:t>Hiệu suất cao:</a:t>
            </a:r>
          </a:p>
          <a:p>
            <a:pPr marL="512222" lvl="1" indent="-256111" algn="just">
              <a:lnSpc>
                <a:spcPts val="2846"/>
              </a:lnSpc>
              <a:spcBef>
                <a:spcPct val="0"/>
              </a:spcBef>
              <a:buFont typeface="Arial"/>
              <a:buChar char="•"/>
            </a:pPr>
            <a:r>
              <a:rPr lang="en-US" sz="2372" b="1">
                <a:solidFill>
                  <a:srgbClr val="000000"/>
                </a:solidFill>
                <a:latin typeface="Arial Bold"/>
                <a:ea typeface="Arial Bold"/>
                <a:cs typeface="Arial Bold"/>
                <a:sym typeface="Arial Bold"/>
              </a:rPr>
              <a:t>Tất cả thao tác được xử lý trong một tiến trình → Không cần gọi hệ thống (system call) → Nhanh và hiệu quả hơn.</a:t>
            </a:r>
          </a:p>
        </p:txBody>
      </p:sp>
      <p:sp>
        <p:nvSpPr>
          <p:cNvPr id="6" name="TextBox 6"/>
          <p:cNvSpPr txBox="1"/>
          <p:nvPr/>
        </p:nvSpPr>
        <p:spPr>
          <a:xfrm>
            <a:off x="147864" y="3707130"/>
            <a:ext cx="8950260" cy="3608070"/>
          </a:xfrm>
          <a:prstGeom prst="rect">
            <a:avLst/>
          </a:prstGeom>
        </p:spPr>
        <p:txBody>
          <a:bodyPr lIns="0" tIns="0" rIns="0" bIns="0" rtlCol="0" anchor="t">
            <a:spAutoFit/>
          </a:bodyPr>
          <a:lstStyle/>
          <a:p>
            <a:pPr algn="just">
              <a:lnSpc>
                <a:spcPts val="2571"/>
              </a:lnSpc>
            </a:pPr>
            <a:r>
              <a:rPr lang="en-US" sz="2142" b="1">
                <a:solidFill>
                  <a:srgbClr val="FF0000"/>
                </a:solidFill>
                <a:latin typeface="Arial Bold"/>
                <a:ea typeface="Arial Bold"/>
                <a:cs typeface="Arial Bold"/>
                <a:sym typeface="Arial Bold"/>
              </a:rPr>
              <a:t>Nhược điểm:</a:t>
            </a:r>
          </a:p>
          <a:p>
            <a:pPr algn="just">
              <a:lnSpc>
                <a:spcPts val="2343"/>
              </a:lnSpc>
              <a:spcBef>
                <a:spcPct val="0"/>
              </a:spcBef>
            </a:pPr>
            <a:r>
              <a:rPr lang="en-US" sz="1953" b="1">
                <a:solidFill>
                  <a:srgbClr val="000000"/>
                </a:solidFill>
                <a:latin typeface="Arial Bold"/>
                <a:ea typeface="Arial Bold"/>
                <a:cs typeface="Arial Bold"/>
                <a:sym typeface="Arial Bold"/>
              </a:rPr>
              <a:t> Kernel không biết về luồng (Threads are invisible to the OS):</a:t>
            </a:r>
          </a:p>
          <a:p>
            <a:pPr marL="421709" lvl="1" indent="-210854" algn="just">
              <a:lnSpc>
                <a:spcPts val="2343"/>
              </a:lnSpc>
              <a:spcBef>
                <a:spcPct val="0"/>
              </a:spcBef>
              <a:buFont typeface="Arial"/>
              <a:buChar char="•"/>
            </a:pPr>
            <a:r>
              <a:rPr lang="en-US" sz="1953" b="1">
                <a:solidFill>
                  <a:srgbClr val="000000"/>
                </a:solidFill>
                <a:latin typeface="Arial Bold"/>
                <a:ea typeface="Arial Bold"/>
                <a:cs typeface="Arial Bold"/>
                <a:sym typeface="Arial Bold"/>
              </a:rPr>
              <a:t>Hệ điều hành chỉ thấy một tiến trình duy nhất, không biết bên trong có nhiều luồng.</a:t>
            </a:r>
          </a:p>
          <a:p>
            <a:pPr marL="421709" lvl="1" indent="-210854" algn="just">
              <a:lnSpc>
                <a:spcPts val="2343"/>
              </a:lnSpc>
              <a:spcBef>
                <a:spcPct val="0"/>
              </a:spcBef>
              <a:buFont typeface="Arial"/>
              <a:buChar char="•"/>
            </a:pPr>
            <a:r>
              <a:rPr lang="en-US" sz="1953" b="1">
                <a:solidFill>
                  <a:srgbClr val="000000"/>
                </a:solidFill>
                <a:latin typeface="Arial Bold"/>
                <a:ea typeface="Arial Bold"/>
                <a:cs typeface="Arial Bold"/>
                <a:sym typeface="Arial Bold"/>
              </a:rPr>
              <a:t>Nếu một luồng bị chặn (ví dụ: do I/O), cả tiến trình bị chặn theo, làm mất lợi thế của luồng.</a:t>
            </a:r>
          </a:p>
          <a:p>
            <a:pPr algn="just">
              <a:lnSpc>
                <a:spcPts val="2343"/>
              </a:lnSpc>
              <a:spcBef>
                <a:spcPct val="0"/>
              </a:spcBef>
            </a:pPr>
            <a:r>
              <a:rPr lang="en-US" sz="1953" b="1">
                <a:solidFill>
                  <a:srgbClr val="000000"/>
                </a:solidFill>
                <a:latin typeface="Arial Bold"/>
                <a:ea typeface="Arial Bold"/>
                <a:cs typeface="Arial Bold"/>
                <a:sym typeface="Arial Bold"/>
              </a:rPr>
              <a:t>Xử lý tín hiệu và sự kiện khó khăn:</a:t>
            </a:r>
          </a:p>
          <a:p>
            <a:pPr marL="421709" lvl="1" indent="-210854" algn="just">
              <a:lnSpc>
                <a:spcPts val="2343"/>
              </a:lnSpc>
              <a:spcBef>
                <a:spcPct val="0"/>
              </a:spcBef>
              <a:buFont typeface="Arial"/>
              <a:buChar char="•"/>
            </a:pPr>
            <a:r>
              <a:rPr lang="en-US" sz="1953" b="1">
                <a:solidFill>
                  <a:srgbClr val="000000"/>
                </a:solidFill>
                <a:latin typeface="Arial Bold"/>
                <a:ea typeface="Arial Bold"/>
                <a:cs typeface="Arial Bold"/>
                <a:sym typeface="Arial Bold"/>
              </a:rPr>
              <a:t>Luồng thường dùng để xử lý nhiều sự kiện bên ngoài (I/O, tín hiệu, timer, v.v.).</a:t>
            </a:r>
          </a:p>
          <a:p>
            <a:pPr marL="421709" lvl="1" indent="-210854" algn="just">
              <a:lnSpc>
                <a:spcPts val="2343"/>
              </a:lnSpc>
              <a:spcBef>
                <a:spcPct val="0"/>
              </a:spcBef>
              <a:buFont typeface="Arial"/>
              <a:buChar char="•"/>
            </a:pPr>
            <a:r>
              <a:rPr lang="en-US" sz="1953" b="1">
                <a:solidFill>
                  <a:srgbClr val="000000"/>
                </a:solidFill>
                <a:latin typeface="Arial Bold"/>
                <a:ea typeface="Arial Bold"/>
                <a:cs typeface="Arial Bold"/>
                <a:sym typeface="Arial Bold"/>
              </a:rPr>
              <a:t>Nhưng vì kernel không thể phân biệt các luồng, nên không thể gửi tín hiệu trực tiếp đến một luồng cụ thể.</a:t>
            </a:r>
          </a:p>
          <a:p>
            <a:pPr algn="just">
              <a:lnSpc>
                <a:spcPts val="2116"/>
              </a:lnSpc>
              <a:spcBef>
                <a:spcPct val="0"/>
              </a:spcBef>
            </a:pPr>
            <a:endParaRPr lang="en-US" sz="1953"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43446" y="176498"/>
            <a:ext cx="6208633" cy="762000"/>
          </a:xfrm>
          <a:prstGeom prst="rect">
            <a:avLst/>
          </a:prstGeom>
        </p:spPr>
        <p:txBody>
          <a:bodyPr lIns="0" tIns="0" rIns="0" bIns="0" rtlCol="0" anchor="t">
            <a:spAutoFit/>
          </a:bodyPr>
          <a:lstStyle/>
          <a:p>
            <a:pPr algn="ctr">
              <a:lnSpc>
                <a:spcPts val="5348"/>
              </a:lnSpc>
              <a:spcBef>
                <a:spcPct val="0"/>
              </a:spcBef>
            </a:pPr>
            <a:r>
              <a:rPr lang="en-US" sz="4457" b="1">
                <a:solidFill>
                  <a:srgbClr val="FFFF00"/>
                </a:solidFill>
                <a:latin typeface="Arial Bold"/>
                <a:ea typeface="Arial Bold"/>
                <a:cs typeface="Arial Bold"/>
                <a:sym typeface="Arial Bold"/>
              </a:rPr>
              <a:t>Luồng và hệ điều hành</a:t>
            </a:r>
          </a:p>
        </p:txBody>
      </p:sp>
      <p:sp>
        <p:nvSpPr>
          <p:cNvPr id="4" name="TextBox 4"/>
          <p:cNvSpPr txBox="1"/>
          <p:nvPr/>
        </p:nvSpPr>
        <p:spPr>
          <a:xfrm>
            <a:off x="147864" y="1319260"/>
            <a:ext cx="7061954" cy="409575"/>
          </a:xfrm>
          <a:prstGeom prst="rect">
            <a:avLst/>
          </a:prstGeom>
        </p:spPr>
        <p:txBody>
          <a:bodyPr lIns="0" tIns="0" rIns="0" bIns="0" rtlCol="0" anchor="t">
            <a:spAutoFit/>
          </a:bodyPr>
          <a:lstStyle/>
          <a:p>
            <a:pPr algn="just">
              <a:lnSpc>
                <a:spcPts val="2887"/>
              </a:lnSpc>
              <a:spcBef>
                <a:spcPct val="0"/>
              </a:spcBef>
            </a:pPr>
            <a:r>
              <a:rPr lang="en-US" sz="2406" b="1">
                <a:solidFill>
                  <a:srgbClr val="000000"/>
                </a:solidFill>
                <a:latin typeface="Arial Bold"/>
                <a:ea typeface="Arial Bold"/>
                <a:cs typeface="Arial Bold"/>
                <a:sym typeface="Arial Bold"/>
              </a:rPr>
              <a:t>2. Giải pháp triển khai luồng trong hệ điều hành </a:t>
            </a:r>
          </a:p>
        </p:txBody>
      </p:sp>
      <p:sp>
        <p:nvSpPr>
          <p:cNvPr id="5" name="TextBox 5"/>
          <p:cNvSpPr txBox="1"/>
          <p:nvPr/>
        </p:nvSpPr>
        <p:spPr>
          <a:xfrm>
            <a:off x="147864" y="1854679"/>
            <a:ext cx="9307630" cy="931611"/>
          </a:xfrm>
          <a:prstGeom prst="rect">
            <a:avLst/>
          </a:prstGeom>
        </p:spPr>
        <p:txBody>
          <a:bodyPr lIns="0" tIns="0" rIns="0" bIns="0" rtlCol="0" anchor="t">
            <a:spAutoFit/>
          </a:bodyPr>
          <a:lstStyle/>
          <a:p>
            <a:pPr algn="just">
              <a:lnSpc>
                <a:spcPts val="3461"/>
              </a:lnSpc>
              <a:spcBef>
                <a:spcPct val="0"/>
              </a:spcBef>
            </a:pPr>
            <a:r>
              <a:rPr lang="en-US" sz="2884" b="1">
                <a:solidFill>
                  <a:srgbClr val="000000"/>
                </a:solidFill>
                <a:latin typeface="Arial Bold"/>
                <a:ea typeface="Arial Bold"/>
                <a:cs typeface="Arial Bold"/>
                <a:sym typeface="Arial Bold"/>
              </a:rPr>
              <a:t>Hạt nhân của hệ điều hành (kernel) trực tiếp quản lý và thực hiện các thao tác liên quan đến thread.</a:t>
            </a:r>
          </a:p>
        </p:txBody>
      </p:sp>
      <p:sp>
        <p:nvSpPr>
          <p:cNvPr id="6" name="TextBox 6"/>
          <p:cNvSpPr txBox="1"/>
          <p:nvPr/>
        </p:nvSpPr>
        <p:spPr>
          <a:xfrm>
            <a:off x="147864" y="3101423"/>
            <a:ext cx="9023269" cy="3765240"/>
          </a:xfrm>
          <a:prstGeom prst="rect">
            <a:avLst/>
          </a:prstGeom>
        </p:spPr>
        <p:txBody>
          <a:bodyPr lIns="0" tIns="0" rIns="0" bIns="0" rtlCol="0" anchor="t">
            <a:spAutoFit/>
          </a:bodyPr>
          <a:lstStyle/>
          <a:p>
            <a:pPr algn="just">
              <a:lnSpc>
                <a:spcPts val="3690"/>
              </a:lnSpc>
            </a:pPr>
            <a:r>
              <a:rPr lang="en-US" sz="3075" b="1">
                <a:solidFill>
                  <a:srgbClr val="FF0000"/>
                </a:solidFill>
                <a:latin typeface="Arial Bold"/>
                <a:ea typeface="Arial Bold"/>
                <a:cs typeface="Arial Bold"/>
                <a:sym typeface="Arial Bold"/>
              </a:rPr>
              <a:t>Ưu điểm</a:t>
            </a:r>
            <a:r>
              <a:rPr lang="en-US" sz="3075" b="1">
                <a:solidFill>
                  <a:srgbClr val="000000"/>
                </a:solidFill>
                <a:latin typeface="Arial Bold"/>
                <a:ea typeface="Arial Bold"/>
                <a:cs typeface="Arial Bold"/>
                <a:sym typeface="Arial Bold"/>
              </a:rPr>
              <a:t> : </a:t>
            </a:r>
          </a:p>
          <a:p>
            <a:pPr marL="663972" lvl="1" indent="-331986" algn="just">
              <a:lnSpc>
                <a:spcPts val="3690"/>
              </a:lnSpc>
              <a:spcBef>
                <a:spcPct val="0"/>
              </a:spcBef>
              <a:buFont typeface="Arial"/>
              <a:buChar char="•"/>
            </a:pPr>
            <a:r>
              <a:rPr lang="en-US" sz="3075" b="1">
                <a:solidFill>
                  <a:srgbClr val="000000"/>
                </a:solidFill>
                <a:latin typeface="Arial Bold"/>
                <a:ea typeface="Arial Bold"/>
                <a:cs typeface="Arial Bold"/>
                <a:sym typeface="Arial Bold"/>
              </a:rPr>
              <a:t>Không còn vấn đề khi một thread bị chặn (blocking)</a:t>
            </a:r>
          </a:p>
          <a:p>
            <a:pPr marL="663972" lvl="1" indent="-331986" algn="just">
              <a:lnSpc>
                <a:spcPts val="3690"/>
              </a:lnSpc>
              <a:spcBef>
                <a:spcPct val="0"/>
              </a:spcBef>
              <a:buFont typeface="Arial"/>
              <a:buChar char="•"/>
            </a:pPr>
            <a:r>
              <a:rPr lang="en-US" sz="3075" b="1">
                <a:solidFill>
                  <a:srgbClr val="000000"/>
                </a:solidFill>
                <a:latin typeface="Arial Bold"/>
                <a:ea typeface="Arial Bold"/>
                <a:cs typeface="Arial Bold"/>
                <a:sym typeface="Arial Bold"/>
              </a:rPr>
              <a:t>Xử lý các sự kiện bên ngoài dễ dàng</a:t>
            </a:r>
          </a:p>
          <a:p>
            <a:pPr algn="just">
              <a:lnSpc>
                <a:spcPts val="3690"/>
              </a:lnSpc>
              <a:spcBef>
                <a:spcPct val="0"/>
              </a:spcBef>
            </a:pPr>
            <a:r>
              <a:rPr lang="en-US" sz="3075" b="1">
                <a:solidFill>
                  <a:srgbClr val="FF0000"/>
                </a:solidFill>
                <a:latin typeface="Arial Bold"/>
                <a:ea typeface="Arial Bold"/>
                <a:cs typeface="Arial Bold"/>
                <a:sym typeface="Arial Bold"/>
              </a:rPr>
              <a:t>Nhược điểm </a:t>
            </a:r>
          </a:p>
          <a:p>
            <a:pPr marL="663972" lvl="1" indent="-331986" algn="just">
              <a:lnSpc>
                <a:spcPts val="3690"/>
              </a:lnSpc>
              <a:spcBef>
                <a:spcPct val="0"/>
              </a:spcBef>
              <a:buFont typeface="Arial"/>
              <a:buChar char="•"/>
            </a:pPr>
            <a:r>
              <a:rPr lang="en-US" sz="3075" b="1">
                <a:solidFill>
                  <a:srgbClr val="000000"/>
                </a:solidFill>
                <a:latin typeface="Arial Bold"/>
                <a:ea typeface="Arial Bold"/>
                <a:cs typeface="Arial Bold"/>
                <a:sym typeface="Arial Bold"/>
              </a:rPr>
              <a:t>Giảm hiệu suất (hiệu năng thấp hơn so với user-level threads)</a:t>
            </a:r>
          </a:p>
          <a:p>
            <a:pPr algn="just">
              <a:lnSpc>
                <a:spcPts val="3690"/>
              </a:lnSpc>
              <a:spcBef>
                <a:spcPct val="0"/>
              </a:spcBef>
            </a:pPr>
            <a:endParaRPr lang="en-US" sz="3075"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Freeform 3"/>
          <p:cNvSpPr/>
          <p:nvPr/>
        </p:nvSpPr>
        <p:spPr>
          <a:xfrm>
            <a:off x="266169" y="1576568"/>
            <a:ext cx="6478961" cy="3528720"/>
          </a:xfrm>
          <a:custGeom>
            <a:avLst/>
            <a:gdLst/>
            <a:ahLst/>
            <a:cxnLst/>
            <a:rect l="l" t="t" r="r" b="b"/>
            <a:pathLst>
              <a:path w="6478961" h="3528720">
                <a:moveTo>
                  <a:pt x="0" y="0"/>
                </a:moveTo>
                <a:lnTo>
                  <a:pt x="6478961" y="0"/>
                </a:lnTo>
                <a:lnTo>
                  <a:pt x="6478961" y="3528720"/>
                </a:lnTo>
                <a:lnTo>
                  <a:pt x="0" y="3528720"/>
                </a:lnTo>
                <a:lnTo>
                  <a:pt x="0" y="0"/>
                </a:lnTo>
                <a:close/>
              </a:path>
            </a:pathLst>
          </a:custGeom>
          <a:blipFill>
            <a:blip r:embed="rId4"/>
            <a:stretch>
              <a:fillRect/>
            </a:stretch>
          </a:blipFill>
        </p:spPr>
      </p:sp>
      <p:sp>
        <p:nvSpPr>
          <p:cNvPr id="4" name="TextBox 4"/>
          <p:cNvSpPr txBox="1"/>
          <p:nvPr/>
        </p:nvSpPr>
        <p:spPr>
          <a:xfrm>
            <a:off x="266169" y="283765"/>
            <a:ext cx="8044786" cy="447755"/>
          </a:xfrm>
          <a:prstGeom prst="rect">
            <a:avLst/>
          </a:prstGeom>
        </p:spPr>
        <p:txBody>
          <a:bodyPr lIns="0" tIns="0" rIns="0" bIns="0" rtlCol="0" anchor="t">
            <a:spAutoFit/>
          </a:bodyPr>
          <a:lstStyle/>
          <a:p>
            <a:pPr algn="ctr">
              <a:lnSpc>
                <a:spcPts val="3176"/>
              </a:lnSpc>
              <a:spcBef>
                <a:spcPct val="0"/>
              </a:spcBef>
            </a:pPr>
            <a:r>
              <a:rPr lang="en-US" sz="2646" b="1">
                <a:solidFill>
                  <a:srgbClr val="FFFF00"/>
                </a:solidFill>
                <a:latin typeface="Arial Bold"/>
                <a:ea typeface="Arial Bold"/>
                <a:cs typeface="Arial Bold"/>
                <a:sym typeface="Arial Bold"/>
              </a:rPr>
              <a:t>Kết hợp luồng cấp người dùng và luồng cấp nhân</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291460" y="231308"/>
            <a:ext cx="8048805" cy="662799"/>
          </a:xfrm>
          <a:prstGeom prst="rect">
            <a:avLst/>
          </a:prstGeom>
        </p:spPr>
        <p:txBody>
          <a:bodyPr lIns="0" tIns="0" rIns="0" bIns="0" rtlCol="0" anchor="t">
            <a:spAutoFit/>
          </a:bodyPr>
          <a:lstStyle/>
          <a:p>
            <a:pPr algn="ctr">
              <a:lnSpc>
                <a:spcPts val="4639"/>
              </a:lnSpc>
              <a:spcBef>
                <a:spcPct val="0"/>
              </a:spcBef>
            </a:pPr>
            <a:r>
              <a:rPr lang="en-US" sz="3866" b="1">
                <a:solidFill>
                  <a:srgbClr val="FFFF00"/>
                </a:solidFill>
                <a:latin typeface="Arial Bold"/>
                <a:ea typeface="Arial Bold"/>
                <a:cs typeface="Arial Bold"/>
                <a:sym typeface="Arial Bold"/>
              </a:rPr>
              <a:t>User and kernel threads combined</a:t>
            </a:r>
          </a:p>
        </p:txBody>
      </p:sp>
      <p:sp>
        <p:nvSpPr>
          <p:cNvPr id="4" name="TextBox 4"/>
          <p:cNvSpPr txBox="1"/>
          <p:nvPr/>
        </p:nvSpPr>
        <p:spPr>
          <a:xfrm>
            <a:off x="0" y="1511375"/>
            <a:ext cx="9537470" cy="4600575"/>
          </a:xfrm>
          <a:prstGeom prst="rect">
            <a:avLst/>
          </a:prstGeom>
        </p:spPr>
        <p:txBody>
          <a:bodyPr lIns="0" tIns="0" rIns="0" bIns="0" rtlCol="0" anchor="t">
            <a:spAutoFit/>
          </a:bodyPr>
          <a:lstStyle/>
          <a:p>
            <a:pPr algn="just">
              <a:lnSpc>
                <a:spcPts val="2708"/>
              </a:lnSpc>
              <a:spcBef>
                <a:spcPct val="0"/>
              </a:spcBef>
            </a:pPr>
            <a:r>
              <a:rPr lang="en-US" sz="2257" b="1">
                <a:solidFill>
                  <a:srgbClr val="000000"/>
                </a:solidFill>
                <a:latin typeface="Arial Bold"/>
                <a:ea typeface="Arial Bold"/>
                <a:cs typeface="Arial Bold"/>
                <a:sym typeface="Arial Bold"/>
              </a:rPr>
              <a:t>Nguyên tắc hoạt động</a:t>
            </a:r>
          </a:p>
          <a:p>
            <a:pPr marL="401020" lvl="1" indent="-200510" algn="just">
              <a:lnSpc>
                <a:spcPts val="2228"/>
              </a:lnSpc>
              <a:spcBef>
                <a:spcPct val="0"/>
              </a:spcBef>
              <a:buFont typeface="Arial"/>
              <a:buChar char="•"/>
            </a:pPr>
            <a:r>
              <a:rPr lang="en-US" sz="1857" b="1">
                <a:solidFill>
                  <a:srgbClr val="000000"/>
                </a:solidFill>
                <a:latin typeface="Arial Bold"/>
                <a:ea typeface="Arial Bold"/>
                <a:cs typeface="Arial Bold"/>
                <a:sym typeface="Arial Bold"/>
              </a:rPr>
              <a:t>Luồng người dùng thực hiện một lệnh gọi hệ thống⇒ Luồng nhân đang thực thi luồng người dùng đó sẽ bị chặn. Luồng người dùng vẫn được gán với luồng nhân đó.</a:t>
            </a:r>
          </a:p>
          <a:p>
            <a:pPr algn="just">
              <a:lnSpc>
                <a:spcPts val="2228"/>
              </a:lnSpc>
              <a:spcBef>
                <a:spcPct val="0"/>
              </a:spcBef>
            </a:pPr>
            <a:endParaRPr lang="en-US" sz="1857" b="1">
              <a:solidFill>
                <a:srgbClr val="000000"/>
              </a:solidFill>
              <a:latin typeface="Arial Bold"/>
              <a:ea typeface="Arial Bold"/>
              <a:cs typeface="Arial Bold"/>
              <a:sym typeface="Arial Bold"/>
            </a:endParaRPr>
          </a:p>
          <a:p>
            <a:pPr marL="401020" lvl="1" indent="-200510" algn="just">
              <a:lnSpc>
                <a:spcPts val="2228"/>
              </a:lnSpc>
              <a:spcBef>
                <a:spcPct val="0"/>
              </a:spcBef>
              <a:buFont typeface="Arial"/>
              <a:buChar char="•"/>
            </a:pPr>
            <a:r>
              <a:rPr lang="en-US" sz="1857" b="1">
                <a:solidFill>
                  <a:srgbClr val="000000"/>
                </a:solidFill>
                <a:latin typeface="Arial Bold"/>
                <a:ea typeface="Arial Bold"/>
                <a:cs typeface="Arial Bold"/>
                <a:sym typeface="Arial Bold"/>
              </a:rPr>
              <a:t>Nhân hệ điều hành có thể lập lịch cho một luồng nhân khác có một luồng người dùng có thể chạy được. Lưu ý: luồng người dùng này có thể chuyển sang bất kỳ luồng người dùng nào khác đang có thể chạy trong không gian người dùng.</a:t>
            </a:r>
          </a:p>
          <a:p>
            <a:pPr algn="just">
              <a:lnSpc>
                <a:spcPts val="2228"/>
              </a:lnSpc>
              <a:spcBef>
                <a:spcPct val="0"/>
              </a:spcBef>
            </a:pPr>
            <a:endParaRPr lang="en-US" sz="1857" b="1">
              <a:solidFill>
                <a:srgbClr val="000000"/>
              </a:solidFill>
              <a:latin typeface="Arial Bold"/>
              <a:ea typeface="Arial Bold"/>
              <a:cs typeface="Arial Bold"/>
              <a:sym typeface="Arial Bold"/>
            </a:endParaRPr>
          </a:p>
          <a:p>
            <a:pPr marL="401020" lvl="1" indent="-200510" algn="just">
              <a:lnSpc>
                <a:spcPts val="2228"/>
              </a:lnSpc>
              <a:spcBef>
                <a:spcPct val="0"/>
              </a:spcBef>
              <a:buFont typeface="Arial"/>
              <a:buChar char="•"/>
            </a:pPr>
            <a:r>
              <a:rPr lang="en-US" sz="1857" b="1">
                <a:solidFill>
                  <a:srgbClr val="000000"/>
                </a:solidFill>
                <a:latin typeface="Arial Bold"/>
                <a:ea typeface="Arial Bold"/>
                <a:cs typeface="Arial Bold"/>
                <a:sym typeface="Arial Bold"/>
              </a:rPr>
              <a:t>Một luồng người dùng gọi một thao tác chặn ở cấp người dùng ⇒ thực hiện chuyển đổi ngữ cảnh (context switch) sang một luồng người dùng có thể chạy được khác (vẫn gán với cùng một luồng nhân).</a:t>
            </a:r>
          </a:p>
          <a:p>
            <a:pPr algn="just">
              <a:lnSpc>
                <a:spcPts val="2228"/>
              </a:lnSpc>
              <a:spcBef>
                <a:spcPct val="0"/>
              </a:spcBef>
            </a:pPr>
            <a:endParaRPr lang="en-US" sz="1857" b="1">
              <a:solidFill>
                <a:srgbClr val="000000"/>
              </a:solidFill>
              <a:latin typeface="Arial Bold"/>
              <a:ea typeface="Arial Bold"/>
              <a:cs typeface="Arial Bold"/>
              <a:sym typeface="Arial Bold"/>
            </a:endParaRPr>
          </a:p>
          <a:p>
            <a:pPr marL="401020" lvl="1" indent="-200510" algn="just">
              <a:lnSpc>
                <a:spcPts val="2228"/>
              </a:lnSpc>
              <a:spcBef>
                <a:spcPct val="0"/>
              </a:spcBef>
              <a:buFont typeface="Arial"/>
              <a:buChar char="•"/>
            </a:pPr>
            <a:r>
              <a:rPr lang="en-US" sz="1857" b="1">
                <a:solidFill>
                  <a:srgbClr val="000000"/>
                </a:solidFill>
                <a:latin typeface="Arial Bold"/>
                <a:ea typeface="Arial Bold"/>
                <a:cs typeface="Arial Bold"/>
                <a:sym typeface="Arial Bold"/>
              </a:rPr>
              <a:t>Khi không còn luồng người dùng nào để lập lịch, một luồng nhân có thể ở trạng thái nhàn rỗi và thậm chí có thể bị hủy bởi hệ điều hành.</a:t>
            </a:r>
          </a:p>
          <a:p>
            <a:pPr algn="just">
              <a:lnSpc>
                <a:spcPts val="2708"/>
              </a:lnSpc>
              <a:spcBef>
                <a:spcPct val="0"/>
              </a:spcBef>
            </a:pPr>
            <a:endParaRPr lang="en-US" sz="1857"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239395" y="244123"/>
            <a:ext cx="7785917" cy="647700"/>
          </a:xfrm>
          <a:prstGeom prst="rect">
            <a:avLst/>
          </a:prstGeom>
        </p:spPr>
        <p:txBody>
          <a:bodyPr lIns="0" tIns="0" rIns="0" bIns="0" rtlCol="0" anchor="t">
            <a:spAutoFit/>
          </a:bodyPr>
          <a:lstStyle/>
          <a:p>
            <a:pPr algn="ctr">
              <a:lnSpc>
                <a:spcPts val="4508"/>
              </a:lnSpc>
              <a:spcBef>
                <a:spcPct val="0"/>
              </a:spcBef>
            </a:pPr>
            <a:r>
              <a:rPr lang="en-US" sz="3757" b="1">
                <a:solidFill>
                  <a:srgbClr val="FFFF00"/>
                </a:solidFill>
                <a:latin typeface="Arial Bold"/>
                <a:ea typeface="Arial Bold"/>
                <a:cs typeface="Arial Bold"/>
                <a:sym typeface="Arial Bold"/>
              </a:rPr>
              <a:t>Ứng dụng trong trình duyệt web</a:t>
            </a:r>
          </a:p>
        </p:txBody>
      </p:sp>
      <p:sp>
        <p:nvSpPr>
          <p:cNvPr id="4" name="TextBox 4"/>
          <p:cNvSpPr txBox="1"/>
          <p:nvPr/>
        </p:nvSpPr>
        <p:spPr>
          <a:xfrm>
            <a:off x="239395" y="1300760"/>
            <a:ext cx="8670337" cy="495300"/>
          </a:xfrm>
          <a:prstGeom prst="rect">
            <a:avLst/>
          </a:prstGeom>
        </p:spPr>
        <p:txBody>
          <a:bodyPr lIns="0" tIns="0" rIns="0" bIns="0" rtlCol="0" anchor="t">
            <a:spAutoFit/>
          </a:bodyPr>
          <a:lstStyle/>
          <a:p>
            <a:pPr algn="just">
              <a:lnSpc>
                <a:spcPts val="3477"/>
              </a:lnSpc>
            </a:pPr>
            <a:r>
              <a:rPr lang="en-US" sz="2897" b="1">
                <a:solidFill>
                  <a:srgbClr val="000000"/>
                </a:solidFill>
                <a:latin typeface="Arial Bold"/>
                <a:ea typeface="Arial Bold"/>
                <a:cs typeface="Arial Bold"/>
                <a:sym typeface="Arial Bold"/>
              </a:rPr>
              <a:t>Web Client Đa Luồng (Multithreaded Web Client)</a:t>
            </a:r>
          </a:p>
        </p:txBody>
      </p:sp>
      <p:sp>
        <p:nvSpPr>
          <p:cNvPr id="5" name="TextBox 5"/>
          <p:cNvSpPr txBox="1"/>
          <p:nvPr/>
        </p:nvSpPr>
        <p:spPr>
          <a:xfrm>
            <a:off x="351743" y="1889837"/>
            <a:ext cx="9401857" cy="3619500"/>
          </a:xfrm>
          <a:prstGeom prst="rect">
            <a:avLst/>
          </a:prstGeom>
        </p:spPr>
        <p:txBody>
          <a:bodyPr lIns="0" tIns="0" rIns="0" bIns="0" rtlCol="0" anchor="t">
            <a:spAutoFit/>
          </a:bodyPr>
          <a:lstStyle/>
          <a:p>
            <a:pPr algn="just">
              <a:lnSpc>
                <a:spcPts val="2623"/>
              </a:lnSpc>
              <a:spcBef>
                <a:spcPct val="0"/>
              </a:spcBef>
            </a:pPr>
            <a:r>
              <a:rPr lang="en-US" sz="2185" b="1">
                <a:solidFill>
                  <a:srgbClr val="000000"/>
                </a:solidFill>
                <a:latin typeface="Arial Bold"/>
                <a:ea typeface="Arial Bold"/>
                <a:cs typeface="Arial Bold"/>
                <a:sym typeface="Arial Bold"/>
              </a:rPr>
              <a:t>Ẩn độ trễ mạng (Hiding Network Latencies)</a:t>
            </a:r>
          </a:p>
          <a:p>
            <a:pPr algn="just">
              <a:lnSpc>
                <a:spcPts val="2623"/>
              </a:lnSpc>
              <a:spcBef>
                <a:spcPct val="0"/>
              </a:spcBef>
            </a:pPr>
            <a:r>
              <a:rPr lang="en-US" sz="2185" b="1">
                <a:solidFill>
                  <a:srgbClr val="000000"/>
                </a:solidFill>
                <a:latin typeface="Arial Bold"/>
                <a:ea typeface="Arial Bold"/>
                <a:cs typeface="Arial Bold"/>
                <a:sym typeface="Arial Bold"/>
              </a:rPr>
              <a:t>Việc sử dụng luồng (thread) giúp che giấu độ trễ mạng và cải thiện hiệu suất bằng cách xử lý nhiều công việc đồng thời.</a:t>
            </a:r>
          </a:p>
          <a:p>
            <a:pPr marL="471951" lvl="1" indent="-235976" algn="just">
              <a:lnSpc>
                <a:spcPts val="2623"/>
              </a:lnSpc>
              <a:spcBef>
                <a:spcPct val="0"/>
              </a:spcBef>
              <a:buFont typeface="Arial"/>
              <a:buChar char="•"/>
            </a:pPr>
            <a:r>
              <a:rPr lang="en-US" sz="2185" b="1">
                <a:solidFill>
                  <a:srgbClr val="000000"/>
                </a:solidFill>
                <a:latin typeface="Arial Bold"/>
                <a:ea typeface="Arial Bold"/>
                <a:cs typeface="Arial Bold"/>
                <a:sym typeface="Arial Bold"/>
              </a:rPr>
              <a:t>Khi trình duyệt quét một trang HTML (webpage), nó phát hiện ra rằng trang chứa nhiều tài nguyên như ảnh, tệp CSS, JavaScript, v.v.</a:t>
            </a:r>
          </a:p>
          <a:p>
            <a:pPr marL="471951" lvl="1" indent="-235976" algn="just">
              <a:lnSpc>
                <a:spcPts val="2623"/>
              </a:lnSpc>
              <a:spcBef>
                <a:spcPct val="0"/>
              </a:spcBef>
              <a:buFont typeface="Arial"/>
              <a:buChar char="•"/>
            </a:pPr>
            <a:r>
              <a:rPr lang="en-US" sz="2185" b="1">
                <a:solidFill>
                  <a:srgbClr val="000000"/>
                </a:solidFill>
                <a:latin typeface="Arial Bold"/>
                <a:ea typeface="Arial Bold"/>
                <a:cs typeface="Arial Bold"/>
                <a:sym typeface="Arial Bold"/>
              </a:rPr>
              <a:t>Mỗi tài nguyên được tải bởi một luồng riêng biệt, mỗi luồng gửi một yêu cầu HTTP (gọi là blocking HTTP request vì nó đợi phản hồi từ server).</a:t>
            </a:r>
          </a:p>
          <a:p>
            <a:pPr marL="471951" lvl="1" indent="-235976" algn="just">
              <a:lnSpc>
                <a:spcPts val="2623"/>
              </a:lnSpc>
              <a:spcBef>
                <a:spcPct val="0"/>
              </a:spcBef>
              <a:buFont typeface="Arial"/>
              <a:buChar char="•"/>
            </a:pPr>
            <a:r>
              <a:rPr lang="en-US" sz="2185" b="1">
                <a:solidFill>
                  <a:srgbClr val="000000"/>
                </a:solidFill>
                <a:latin typeface="Arial Bold"/>
                <a:ea typeface="Arial Bold"/>
                <a:cs typeface="Arial Bold"/>
                <a:sym typeface="Arial Bold"/>
              </a:rPr>
              <a:t>Khi các tệp được tải xuống hoàn tất, trình duyệt hiển thị chúng ngay lập tức.</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239395" y="244123"/>
            <a:ext cx="7785917" cy="647700"/>
          </a:xfrm>
          <a:prstGeom prst="rect">
            <a:avLst/>
          </a:prstGeom>
        </p:spPr>
        <p:txBody>
          <a:bodyPr lIns="0" tIns="0" rIns="0" bIns="0" rtlCol="0" anchor="t">
            <a:spAutoFit/>
          </a:bodyPr>
          <a:lstStyle/>
          <a:p>
            <a:pPr algn="ctr">
              <a:lnSpc>
                <a:spcPts val="4508"/>
              </a:lnSpc>
              <a:spcBef>
                <a:spcPct val="0"/>
              </a:spcBef>
            </a:pPr>
            <a:r>
              <a:rPr lang="en-US" sz="3757" b="1">
                <a:solidFill>
                  <a:srgbClr val="FFFF00"/>
                </a:solidFill>
                <a:latin typeface="Arial Bold"/>
                <a:ea typeface="Arial Bold"/>
                <a:cs typeface="Arial Bold"/>
                <a:sym typeface="Arial Bold"/>
              </a:rPr>
              <a:t>Ứng dụng trong trình duyệt web</a:t>
            </a:r>
          </a:p>
        </p:txBody>
      </p:sp>
      <p:sp>
        <p:nvSpPr>
          <p:cNvPr id="4" name="TextBox 4"/>
          <p:cNvSpPr txBox="1"/>
          <p:nvPr/>
        </p:nvSpPr>
        <p:spPr>
          <a:xfrm>
            <a:off x="239395" y="1269076"/>
            <a:ext cx="9401857" cy="827800"/>
          </a:xfrm>
          <a:prstGeom prst="rect">
            <a:avLst/>
          </a:prstGeom>
        </p:spPr>
        <p:txBody>
          <a:bodyPr lIns="0" tIns="0" rIns="0" bIns="0" rtlCol="0" anchor="t">
            <a:spAutoFit/>
          </a:bodyPr>
          <a:lstStyle/>
          <a:p>
            <a:pPr algn="just">
              <a:lnSpc>
                <a:spcPts val="3058"/>
              </a:lnSpc>
            </a:pPr>
            <a:r>
              <a:rPr lang="en-US" sz="2548" b="1">
                <a:solidFill>
                  <a:srgbClr val="000000"/>
                </a:solidFill>
                <a:latin typeface="Arial Bold"/>
                <a:ea typeface="Arial Bold"/>
                <a:cs typeface="Arial Bold"/>
                <a:sym typeface="Arial Bold"/>
              </a:rPr>
              <a:t>Gửi nhiều yêu cầu – phản hồi đến các máy khác (RPC – Remote Procedure Call)</a:t>
            </a:r>
          </a:p>
        </p:txBody>
      </p:sp>
      <p:sp>
        <p:nvSpPr>
          <p:cNvPr id="5" name="TextBox 5"/>
          <p:cNvSpPr txBox="1"/>
          <p:nvPr/>
        </p:nvSpPr>
        <p:spPr>
          <a:xfrm>
            <a:off x="119698" y="2742349"/>
            <a:ext cx="9514205" cy="2324100"/>
          </a:xfrm>
          <a:prstGeom prst="rect">
            <a:avLst/>
          </a:prstGeom>
        </p:spPr>
        <p:txBody>
          <a:bodyPr lIns="0" tIns="0" rIns="0" bIns="0" rtlCol="0" anchor="t">
            <a:spAutoFit/>
          </a:bodyPr>
          <a:lstStyle/>
          <a:p>
            <a:pPr marL="471951" lvl="1" indent="-235976" algn="just">
              <a:lnSpc>
                <a:spcPts val="2623"/>
              </a:lnSpc>
              <a:spcBef>
                <a:spcPct val="0"/>
              </a:spcBef>
              <a:buFont typeface="Arial"/>
              <a:buChar char="•"/>
            </a:pPr>
            <a:r>
              <a:rPr lang="en-US" sz="2185" b="1">
                <a:solidFill>
                  <a:srgbClr val="000000"/>
                </a:solidFill>
                <a:latin typeface="Arial Bold"/>
                <a:ea typeface="Arial Bold"/>
                <a:cs typeface="Arial Bold"/>
                <a:sym typeface="Arial Bold"/>
              </a:rPr>
              <a:t>Một client có thể thực hiện nhiều cuộc gọi từ xa (RPC) đến nhiều server khác nhau cùng lúc.</a:t>
            </a:r>
          </a:p>
          <a:p>
            <a:pPr algn="just">
              <a:lnSpc>
                <a:spcPts val="2623"/>
              </a:lnSpc>
              <a:spcBef>
                <a:spcPct val="0"/>
              </a:spcBef>
            </a:pPr>
            <a:endParaRPr lang="en-US" sz="2185" b="1">
              <a:solidFill>
                <a:srgbClr val="000000"/>
              </a:solidFill>
              <a:latin typeface="Arial Bold"/>
              <a:ea typeface="Arial Bold"/>
              <a:cs typeface="Arial Bold"/>
              <a:sym typeface="Arial Bold"/>
            </a:endParaRPr>
          </a:p>
          <a:p>
            <a:pPr marL="471951" lvl="1" indent="-235976" algn="just">
              <a:lnSpc>
                <a:spcPts val="2623"/>
              </a:lnSpc>
              <a:spcBef>
                <a:spcPct val="0"/>
              </a:spcBef>
              <a:buFont typeface="Arial"/>
              <a:buChar char="•"/>
            </a:pPr>
            <a:r>
              <a:rPr lang="en-US" sz="2185" b="1">
                <a:solidFill>
                  <a:srgbClr val="000000"/>
                </a:solidFill>
                <a:latin typeface="Arial Bold"/>
                <a:ea typeface="Arial Bold"/>
                <a:cs typeface="Arial Bold"/>
                <a:sym typeface="Arial Bold"/>
              </a:rPr>
              <a:t>Mỗi cuộc gọi được xử lý bởi một luồng riêng biệt.</a:t>
            </a:r>
          </a:p>
          <a:p>
            <a:pPr algn="just">
              <a:lnSpc>
                <a:spcPts val="2623"/>
              </a:lnSpc>
              <a:spcBef>
                <a:spcPct val="0"/>
              </a:spcBef>
            </a:pPr>
            <a:endParaRPr lang="en-US" sz="2185" b="1">
              <a:solidFill>
                <a:srgbClr val="000000"/>
              </a:solidFill>
              <a:latin typeface="Arial Bold"/>
              <a:ea typeface="Arial Bold"/>
              <a:cs typeface="Arial Bold"/>
              <a:sym typeface="Arial Bold"/>
            </a:endParaRPr>
          </a:p>
          <a:p>
            <a:pPr marL="471951" lvl="1" indent="-235976" algn="just">
              <a:lnSpc>
                <a:spcPts val="2623"/>
              </a:lnSpc>
              <a:spcBef>
                <a:spcPct val="0"/>
              </a:spcBef>
              <a:buFont typeface="Arial"/>
              <a:buChar char="•"/>
            </a:pPr>
            <a:r>
              <a:rPr lang="en-US" sz="2185" b="1">
                <a:solidFill>
                  <a:srgbClr val="000000"/>
                </a:solidFill>
                <a:latin typeface="Arial Bold"/>
                <a:ea typeface="Arial Bold"/>
                <a:cs typeface="Arial Bold"/>
                <a:sym typeface="Arial Bold"/>
              </a:rPr>
              <a:t>Sau khi gửi yêu cầu, client chỉ cần đợi tất cả kết quả trả về thay vì xử lý từng yêu cầu tuần tự.</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Freeform 3"/>
          <p:cNvSpPr/>
          <p:nvPr/>
        </p:nvSpPr>
        <p:spPr>
          <a:xfrm>
            <a:off x="731520" y="2043160"/>
            <a:ext cx="5471978" cy="2096337"/>
          </a:xfrm>
          <a:custGeom>
            <a:avLst/>
            <a:gdLst/>
            <a:ahLst/>
            <a:cxnLst/>
            <a:rect l="l" t="t" r="r" b="b"/>
            <a:pathLst>
              <a:path w="5471978" h="2096337">
                <a:moveTo>
                  <a:pt x="0" y="0"/>
                </a:moveTo>
                <a:lnTo>
                  <a:pt x="5471978" y="0"/>
                </a:lnTo>
                <a:lnTo>
                  <a:pt x="5471978" y="2096337"/>
                </a:lnTo>
                <a:lnTo>
                  <a:pt x="0" y="2096337"/>
                </a:lnTo>
                <a:lnTo>
                  <a:pt x="0" y="0"/>
                </a:lnTo>
                <a:close/>
              </a:path>
            </a:pathLst>
          </a:custGeom>
          <a:blipFill>
            <a:blip r:embed="rId4"/>
            <a:stretch>
              <a:fillRect/>
            </a:stretch>
          </a:blipFill>
        </p:spPr>
      </p:sp>
      <p:sp>
        <p:nvSpPr>
          <p:cNvPr id="4" name="TextBox 4"/>
          <p:cNvSpPr txBox="1"/>
          <p:nvPr/>
        </p:nvSpPr>
        <p:spPr>
          <a:xfrm>
            <a:off x="98459" y="100036"/>
            <a:ext cx="7889954" cy="609600"/>
          </a:xfrm>
          <a:prstGeom prst="rect">
            <a:avLst/>
          </a:prstGeom>
        </p:spPr>
        <p:txBody>
          <a:bodyPr lIns="0" tIns="0" rIns="0" bIns="0" rtlCol="0" anchor="t">
            <a:spAutoFit/>
          </a:bodyPr>
          <a:lstStyle/>
          <a:p>
            <a:pPr algn="just">
              <a:lnSpc>
                <a:spcPts val="4271"/>
              </a:lnSpc>
              <a:spcBef>
                <a:spcPct val="0"/>
              </a:spcBef>
            </a:pPr>
            <a:r>
              <a:rPr lang="en-US" sz="3559" b="1">
                <a:solidFill>
                  <a:srgbClr val="FFFF00"/>
                </a:solidFill>
                <a:latin typeface="Arial Bold"/>
                <a:ea typeface="Arial Bold"/>
                <a:cs typeface="Arial Bold"/>
                <a:sym typeface="Arial Bold"/>
              </a:rPr>
              <a:t>Các khách hàng đa luồng</a:t>
            </a:r>
          </a:p>
        </p:txBody>
      </p:sp>
      <p:sp>
        <p:nvSpPr>
          <p:cNvPr id="5" name="TextBox 5"/>
          <p:cNvSpPr txBox="1"/>
          <p:nvPr/>
        </p:nvSpPr>
        <p:spPr>
          <a:xfrm>
            <a:off x="397660" y="1281160"/>
            <a:ext cx="5344112" cy="762000"/>
          </a:xfrm>
          <a:prstGeom prst="rect">
            <a:avLst/>
          </a:prstGeom>
        </p:spPr>
        <p:txBody>
          <a:bodyPr lIns="0" tIns="0" rIns="0" bIns="0" rtlCol="0" anchor="t">
            <a:spAutoFit/>
          </a:bodyPr>
          <a:lstStyle/>
          <a:p>
            <a:pPr marL="962346" lvl="1" indent="-481173" algn="ctr">
              <a:lnSpc>
                <a:spcPts val="5348"/>
              </a:lnSpc>
              <a:spcBef>
                <a:spcPct val="0"/>
              </a:spcBef>
              <a:buAutoNum type="arabicPeriod"/>
            </a:pPr>
            <a:r>
              <a:rPr lang="en-US" sz="4457" b="1">
                <a:solidFill>
                  <a:srgbClr val="000000"/>
                </a:solidFill>
                <a:latin typeface="Arial Bold"/>
                <a:ea typeface="Arial Bold"/>
                <a:cs typeface="Arial Bold"/>
                <a:sym typeface="Arial Bold"/>
              </a:rPr>
              <a:t>Công thức TLP:</a:t>
            </a:r>
          </a:p>
        </p:txBody>
      </p:sp>
      <p:sp>
        <p:nvSpPr>
          <p:cNvPr id="6" name="TextBox 6"/>
          <p:cNvSpPr txBox="1"/>
          <p:nvPr/>
        </p:nvSpPr>
        <p:spPr>
          <a:xfrm>
            <a:off x="6264596" y="2014585"/>
            <a:ext cx="3285801" cy="1748598"/>
          </a:xfrm>
          <a:prstGeom prst="rect">
            <a:avLst/>
          </a:prstGeom>
        </p:spPr>
        <p:txBody>
          <a:bodyPr lIns="0" tIns="0" rIns="0" bIns="0" rtlCol="0" anchor="t">
            <a:spAutoFit/>
          </a:bodyPr>
          <a:lstStyle/>
          <a:p>
            <a:pPr marL="316252" lvl="1" indent="-158126" algn="just">
              <a:lnSpc>
                <a:spcPts val="1757"/>
              </a:lnSpc>
              <a:spcBef>
                <a:spcPct val="0"/>
              </a:spcBef>
              <a:buFont typeface="Arial"/>
              <a:buChar char="•"/>
            </a:pPr>
            <a:r>
              <a:rPr lang="en-US" sz="1464" b="1">
                <a:solidFill>
                  <a:srgbClr val="000000"/>
                </a:solidFill>
                <a:latin typeface="Arial Bold"/>
                <a:ea typeface="Arial Bold"/>
                <a:cs typeface="Arial Bold"/>
                <a:sym typeface="Arial Bold"/>
              </a:rPr>
              <a:t>i: Số lượng luồng (threads) chạy đồng thời tại một thời điểm.</a:t>
            </a:r>
          </a:p>
          <a:p>
            <a:pPr marL="316252" lvl="1" indent="-158126" algn="just">
              <a:lnSpc>
                <a:spcPts val="1757"/>
              </a:lnSpc>
              <a:spcBef>
                <a:spcPct val="0"/>
              </a:spcBef>
              <a:buFont typeface="Arial"/>
              <a:buChar char="•"/>
            </a:pPr>
            <a:r>
              <a:rPr lang="en-US" sz="1464" b="1">
                <a:solidFill>
                  <a:srgbClr val="000000"/>
                </a:solidFill>
                <a:latin typeface="Arial Bold"/>
                <a:ea typeface="Arial Bold"/>
                <a:cs typeface="Arial Bold"/>
                <a:sym typeface="Arial Bold"/>
              </a:rPr>
              <a:t>ci​: Tỷ lệ thời gian hệ thống có chính xác iii luồng chạy.</a:t>
            </a:r>
          </a:p>
          <a:p>
            <a:pPr marL="316252" lvl="1" indent="-158126" algn="just">
              <a:lnSpc>
                <a:spcPts val="1757"/>
              </a:lnSpc>
              <a:spcBef>
                <a:spcPct val="0"/>
              </a:spcBef>
              <a:buFont typeface="Arial"/>
              <a:buChar char="•"/>
            </a:pPr>
            <a:r>
              <a:rPr lang="en-US" sz="1464" b="1">
                <a:solidFill>
                  <a:srgbClr val="000000"/>
                </a:solidFill>
                <a:latin typeface="Arial Bold"/>
                <a:ea typeface="Arial Bold"/>
                <a:cs typeface="Arial Bold"/>
                <a:sym typeface="Arial Bold"/>
              </a:rPr>
              <a:t>c0​: Tỷ lệ thời gian không có luồng nào chạy.</a:t>
            </a:r>
          </a:p>
          <a:p>
            <a:pPr marL="316252" lvl="1" indent="-158126" algn="just">
              <a:lnSpc>
                <a:spcPts val="1757"/>
              </a:lnSpc>
              <a:spcBef>
                <a:spcPct val="0"/>
              </a:spcBef>
              <a:buFont typeface="Arial"/>
              <a:buChar char="•"/>
            </a:pPr>
            <a:r>
              <a:rPr lang="en-US" sz="1464" b="1">
                <a:solidFill>
                  <a:srgbClr val="000000"/>
                </a:solidFill>
                <a:latin typeface="Arial Bold"/>
                <a:ea typeface="Arial Bold"/>
                <a:cs typeface="Arial Bold"/>
                <a:sym typeface="Arial Bold"/>
              </a:rPr>
              <a:t>N: Số luồng tối đa có thể chạy đồng thời.</a:t>
            </a:r>
          </a:p>
        </p:txBody>
      </p:sp>
      <p:sp>
        <p:nvSpPr>
          <p:cNvPr id="7" name="TextBox 7"/>
          <p:cNvSpPr txBox="1"/>
          <p:nvPr/>
        </p:nvSpPr>
        <p:spPr>
          <a:xfrm>
            <a:off x="528317" y="4232806"/>
            <a:ext cx="9225283" cy="1343025"/>
          </a:xfrm>
          <a:prstGeom prst="rect">
            <a:avLst/>
          </a:prstGeom>
        </p:spPr>
        <p:txBody>
          <a:bodyPr lIns="0" tIns="0" rIns="0" bIns="0" rtlCol="0" anchor="t">
            <a:spAutoFit/>
          </a:bodyPr>
          <a:lstStyle/>
          <a:p>
            <a:pPr algn="just">
              <a:lnSpc>
                <a:spcPts val="2588"/>
              </a:lnSpc>
              <a:spcBef>
                <a:spcPct val="0"/>
              </a:spcBef>
            </a:pPr>
            <a:r>
              <a:rPr lang="en-US" sz="2157" b="1">
                <a:solidFill>
                  <a:srgbClr val="FF0000"/>
                </a:solidFill>
                <a:latin typeface="Arial Bold"/>
                <a:ea typeface="Arial Bold"/>
                <a:cs typeface="Arial Bold"/>
                <a:sym typeface="Arial Bold"/>
              </a:rPr>
              <a:t>TLP thể hiện mức độ song song của một chương trình:</a:t>
            </a:r>
          </a:p>
          <a:p>
            <a:pPr algn="just">
              <a:lnSpc>
                <a:spcPts val="2588"/>
              </a:lnSpc>
              <a:spcBef>
                <a:spcPct val="0"/>
              </a:spcBef>
            </a:pPr>
            <a:r>
              <a:rPr lang="en-US" sz="2157" b="1">
                <a:solidFill>
                  <a:srgbClr val="FF0000"/>
                </a:solidFill>
                <a:latin typeface="Arial Bold"/>
                <a:ea typeface="Arial Bold"/>
                <a:cs typeface="Arial Bold"/>
                <a:sym typeface="Arial Bold"/>
              </a:rPr>
              <a:t>TLP cao → Chương trình tận dụng tốt các lõi CPU.</a:t>
            </a:r>
          </a:p>
          <a:p>
            <a:pPr algn="just">
              <a:lnSpc>
                <a:spcPts val="2588"/>
              </a:lnSpc>
              <a:spcBef>
                <a:spcPct val="0"/>
              </a:spcBef>
            </a:pPr>
            <a:r>
              <a:rPr lang="en-US" sz="2157" b="1">
                <a:solidFill>
                  <a:srgbClr val="FF0000"/>
                </a:solidFill>
                <a:latin typeface="Arial Bold"/>
                <a:ea typeface="Arial Bold"/>
                <a:cs typeface="Arial Bold"/>
                <a:sym typeface="Arial Bold"/>
              </a:rPr>
              <a:t>TLP thấp → Chương trình chủ yếu chạy tuần tự, ít khai thác được đa luồng.</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98459" y="100036"/>
            <a:ext cx="7889954" cy="609600"/>
          </a:xfrm>
          <a:prstGeom prst="rect">
            <a:avLst/>
          </a:prstGeom>
        </p:spPr>
        <p:txBody>
          <a:bodyPr lIns="0" tIns="0" rIns="0" bIns="0" rtlCol="0" anchor="t">
            <a:spAutoFit/>
          </a:bodyPr>
          <a:lstStyle/>
          <a:p>
            <a:pPr algn="just">
              <a:lnSpc>
                <a:spcPts val="4271"/>
              </a:lnSpc>
              <a:spcBef>
                <a:spcPct val="0"/>
              </a:spcBef>
            </a:pPr>
            <a:r>
              <a:rPr lang="en-US" sz="3559" b="1">
                <a:solidFill>
                  <a:srgbClr val="FFFF00"/>
                </a:solidFill>
                <a:latin typeface="Arial Bold"/>
                <a:ea typeface="Arial Bold"/>
                <a:cs typeface="Arial Bold"/>
                <a:sym typeface="Arial Bold"/>
              </a:rPr>
              <a:t>Các khách hàng đa luồng</a:t>
            </a:r>
          </a:p>
        </p:txBody>
      </p:sp>
      <p:sp>
        <p:nvSpPr>
          <p:cNvPr id="4" name="TextBox 4"/>
          <p:cNvSpPr txBox="1"/>
          <p:nvPr/>
        </p:nvSpPr>
        <p:spPr>
          <a:xfrm>
            <a:off x="253573" y="1197110"/>
            <a:ext cx="9246453" cy="1438275"/>
          </a:xfrm>
          <a:prstGeom prst="rect">
            <a:avLst/>
          </a:prstGeom>
        </p:spPr>
        <p:txBody>
          <a:bodyPr lIns="0" tIns="0" rIns="0" bIns="0" rtlCol="0" anchor="t">
            <a:spAutoFit/>
          </a:bodyPr>
          <a:lstStyle/>
          <a:p>
            <a:pPr algn="just">
              <a:lnSpc>
                <a:spcPts val="5348"/>
              </a:lnSpc>
              <a:spcBef>
                <a:spcPct val="0"/>
              </a:spcBef>
            </a:pPr>
            <a:r>
              <a:rPr lang="en-US" sz="4457" b="1">
                <a:solidFill>
                  <a:srgbClr val="000000"/>
                </a:solidFill>
                <a:latin typeface="Arial Bold"/>
                <a:ea typeface="Arial Bold"/>
                <a:cs typeface="Arial Bold"/>
                <a:sym typeface="Arial Bold"/>
              </a:rPr>
              <a:t>2. Đo lường thực tế trên trình duyệt Web</a:t>
            </a:r>
          </a:p>
        </p:txBody>
      </p:sp>
      <p:sp>
        <p:nvSpPr>
          <p:cNvPr id="5" name="TextBox 5"/>
          <p:cNvSpPr txBox="1"/>
          <p:nvPr/>
        </p:nvSpPr>
        <p:spPr>
          <a:xfrm>
            <a:off x="-120072" y="2846071"/>
            <a:ext cx="9753600" cy="3146024"/>
          </a:xfrm>
          <a:prstGeom prst="rect">
            <a:avLst/>
          </a:prstGeom>
        </p:spPr>
        <p:txBody>
          <a:bodyPr lIns="0" tIns="0" rIns="0" bIns="0" rtlCol="0" anchor="t">
            <a:spAutoFit/>
          </a:bodyPr>
          <a:lstStyle/>
          <a:p>
            <a:pPr marL="410219" lvl="1" indent="-205109" algn="just">
              <a:lnSpc>
                <a:spcPts val="2280"/>
              </a:lnSpc>
              <a:buFont typeface="Arial"/>
              <a:buChar char="•"/>
            </a:pPr>
            <a:r>
              <a:rPr lang="en-US" sz="1900" b="1">
                <a:solidFill>
                  <a:srgbClr val="000000"/>
                </a:solidFill>
                <a:latin typeface="Arial Bold"/>
                <a:ea typeface="Arial Bold"/>
                <a:cs typeface="Arial Bold"/>
                <a:sym typeface="Arial Bold"/>
              </a:rPr>
              <a:t>Thực nghiệm cho thấy TLP của trình duyệt Web nằm trong khoảng 1.5 - 2.5.</a:t>
            </a:r>
          </a:p>
          <a:p>
            <a:pPr algn="just">
              <a:lnSpc>
                <a:spcPts val="2280"/>
              </a:lnSpc>
            </a:pPr>
            <a:endParaRPr lang="en-US" sz="1900" b="1">
              <a:solidFill>
                <a:srgbClr val="000000"/>
              </a:solidFill>
              <a:latin typeface="Arial Bold"/>
              <a:ea typeface="Arial Bold"/>
              <a:cs typeface="Arial Bold"/>
              <a:sym typeface="Arial Bold"/>
            </a:endParaRPr>
          </a:p>
          <a:p>
            <a:pPr marL="410219" lvl="1" indent="-205109" algn="just">
              <a:lnSpc>
                <a:spcPts val="2280"/>
              </a:lnSpc>
              <a:buFont typeface="Arial"/>
              <a:buChar char="•"/>
            </a:pPr>
            <a:r>
              <a:rPr lang="en-US" sz="1900" b="1">
                <a:solidFill>
                  <a:srgbClr val="000000"/>
                </a:solidFill>
                <a:latin typeface="Arial Bold"/>
                <a:ea typeface="Arial Bold"/>
                <a:cs typeface="Arial Bold"/>
                <a:sym typeface="Arial Bold"/>
              </a:rPr>
              <a:t>Điều này có nghĩa là, mặc dù trình duyệt có thể tạo hàng trăm luồng, nhưng tại một thời điểm trung bình chỉ có khoảng 1.5 - 2.5 luồng chạy đồng thời.</a:t>
            </a:r>
          </a:p>
          <a:p>
            <a:pPr algn="just">
              <a:lnSpc>
                <a:spcPts val="2280"/>
              </a:lnSpc>
            </a:pPr>
            <a:endParaRPr lang="en-US" sz="1900" b="1">
              <a:solidFill>
                <a:srgbClr val="000000"/>
              </a:solidFill>
              <a:latin typeface="Arial Bold"/>
              <a:ea typeface="Arial Bold"/>
              <a:cs typeface="Arial Bold"/>
              <a:sym typeface="Arial Bold"/>
            </a:endParaRPr>
          </a:p>
          <a:p>
            <a:pPr marL="410219" lvl="1" indent="-205109" algn="just">
              <a:lnSpc>
                <a:spcPts val="2280"/>
              </a:lnSpc>
              <a:buFont typeface="Arial"/>
              <a:buChar char="•"/>
            </a:pPr>
            <a:r>
              <a:rPr lang="en-US" sz="1900" b="1">
                <a:solidFill>
                  <a:srgbClr val="000000"/>
                </a:solidFill>
                <a:latin typeface="Arial Bold"/>
                <a:ea typeface="Arial Bold"/>
                <a:cs typeface="Arial Bold"/>
                <a:sym typeface="Arial Bold"/>
              </a:rPr>
              <a:t>Như vậy, việc sử dụng luồng chủ yếu để tổ chức logic chương trình (ví dụ: tải tài nguyên, hiển thị UI, xử lý JavaScript) chứ không phải để tận dụng tối đa phần cứng.</a:t>
            </a:r>
          </a:p>
          <a:p>
            <a:pPr algn="just">
              <a:lnSpc>
                <a:spcPts val="2280"/>
              </a:lnSpc>
            </a:pPr>
            <a:endParaRPr lang="en-US" sz="1900" b="1">
              <a:solidFill>
                <a:srgbClr val="000000"/>
              </a:solidFill>
              <a:latin typeface="Arial Bold"/>
              <a:ea typeface="Arial Bold"/>
              <a:cs typeface="Arial Bold"/>
              <a:sym typeface="Arial Bold"/>
            </a:endParaRPr>
          </a:p>
          <a:p>
            <a:pPr marL="410219" lvl="1" indent="-205109" algn="just">
              <a:lnSpc>
                <a:spcPts val="2280"/>
              </a:lnSpc>
              <a:buFont typeface="Arial"/>
              <a:buChar char="•"/>
            </a:pPr>
            <a:r>
              <a:rPr lang="en-US" sz="1900" b="1">
                <a:solidFill>
                  <a:srgbClr val="000000"/>
                </a:solidFill>
                <a:latin typeface="Arial Bold"/>
                <a:ea typeface="Arial Bold"/>
                <a:cs typeface="Arial Bold"/>
                <a:sym typeface="Arial Bold"/>
              </a:rPr>
              <a:t>Trình duyệt hoạt động tốt nhất trên CPU có từ 2 - 3 lõi, do số lượng luồng thực sự chạy đồng thời không quá cao.</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272769" y="188595"/>
            <a:ext cx="7791212" cy="542925"/>
          </a:xfrm>
          <a:prstGeom prst="rect">
            <a:avLst/>
          </a:prstGeom>
        </p:spPr>
        <p:txBody>
          <a:bodyPr lIns="0" tIns="0" rIns="0" bIns="0" rtlCol="0" anchor="t">
            <a:spAutoFit/>
          </a:bodyPr>
          <a:lstStyle/>
          <a:p>
            <a:pPr algn="ctr">
              <a:lnSpc>
                <a:spcPts val="3788"/>
              </a:lnSpc>
              <a:spcBef>
                <a:spcPct val="0"/>
              </a:spcBef>
            </a:pPr>
            <a:r>
              <a:rPr lang="en-US" sz="3157" b="1">
                <a:solidFill>
                  <a:srgbClr val="FFFF00"/>
                </a:solidFill>
                <a:latin typeface="Arial Bold"/>
                <a:ea typeface="Arial Bold"/>
                <a:cs typeface="Arial Bold"/>
                <a:sym typeface="Arial Bold"/>
              </a:rPr>
              <a:t>Sử dụng luồng (threads) ở phía máy chủ</a:t>
            </a:r>
          </a:p>
        </p:txBody>
      </p:sp>
      <p:sp>
        <p:nvSpPr>
          <p:cNvPr id="4" name="TextBox 4"/>
          <p:cNvSpPr txBox="1"/>
          <p:nvPr/>
        </p:nvSpPr>
        <p:spPr>
          <a:xfrm>
            <a:off x="212423" y="1818375"/>
            <a:ext cx="9328753" cy="2954165"/>
          </a:xfrm>
          <a:prstGeom prst="rect">
            <a:avLst/>
          </a:prstGeom>
        </p:spPr>
        <p:txBody>
          <a:bodyPr lIns="0" tIns="0" rIns="0" bIns="0" rtlCol="0" anchor="t">
            <a:spAutoFit/>
          </a:bodyPr>
          <a:lstStyle/>
          <a:p>
            <a:pPr algn="just">
              <a:lnSpc>
                <a:spcPts val="2935"/>
              </a:lnSpc>
              <a:spcBef>
                <a:spcPct val="0"/>
              </a:spcBef>
            </a:pPr>
            <a:r>
              <a:rPr lang="en-US" sz="2446" b="1">
                <a:solidFill>
                  <a:srgbClr val="000000"/>
                </a:solidFill>
                <a:latin typeface="Arial Bold"/>
                <a:ea typeface="Arial Bold"/>
                <a:cs typeface="Arial Bold"/>
                <a:sym typeface="Arial Bold"/>
              </a:rPr>
              <a:t>Lợi ích về hiệu suất (Performance Improvement):</a:t>
            </a:r>
          </a:p>
          <a:p>
            <a:pPr algn="just">
              <a:lnSpc>
                <a:spcPts val="2935"/>
              </a:lnSpc>
              <a:spcBef>
                <a:spcPct val="0"/>
              </a:spcBef>
            </a:pPr>
            <a:endParaRPr lang="en-US" sz="2446" b="1">
              <a:solidFill>
                <a:srgbClr val="000000"/>
              </a:solidFill>
              <a:latin typeface="Arial Bold"/>
              <a:ea typeface="Arial Bold"/>
              <a:cs typeface="Arial Bold"/>
              <a:sym typeface="Arial Bold"/>
            </a:endParaRPr>
          </a:p>
          <a:p>
            <a:pPr marL="445500" lvl="1" indent="-222750" algn="just">
              <a:lnSpc>
                <a:spcPts val="2476"/>
              </a:lnSpc>
              <a:spcBef>
                <a:spcPct val="0"/>
              </a:spcBef>
              <a:buFont typeface="Arial"/>
              <a:buChar char="•"/>
            </a:pPr>
            <a:r>
              <a:rPr lang="en-US" sz="2063" b="1">
                <a:solidFill>
                  <a:srgbClr val="000000"/>
                </a:solidFill>
                <a:latin typeface="Arial Bold"/>
                <a:ea typeface="Arial Bold"/>
                <a:cs typeface="Arial Bold"/>
                <a:sym typeface="Arial Bold"/>
              </a:rPr>
              <a:t>Khởi tạo luồng (thread) nhanh hơn khởi tạo tiến trình (process)</a:t>
            </a:r>
          </a:p>
          <a:p>
            <a:pPr algn="just">
              <a:lnSpc>
                <a:spcPts val="2476"/>
              </a:lnSpc>
              <a:spcBef>
                <a:spcPct val="0"/>
              </a:spcBef>
            </a:pPr>
            <a:endParaRPr lang="en-US" sz="2063" b="1">
              <a:solidFill>
                <a:srgbClr val="000000"/>
              </a:solidFill>
              <a:latin typeface="Arial Bold"/>
              <a:ea typeface="Arial Bold"/>
              <a:cs typeface="Arial Bold"/>
              <a:sym typeface="Arial Bold"/>
            </a:endParaRPr>
          </a:p>
          <a:p>
            <a:pPr marL="445500" lvl="1" indent="-222750" algn="just">
              <a:lnSpc>
                <a:spcPts val="2476"/>
              </a:lnSpc>
              <a:spcBef>
                <a:spcPct val="0"/>
              </a:spcBef>
              <a:buFont typeface="Arial"/>
              <a:buChar char="•"/>
            </a:pPr>
            <a:r>
              <a:rPr lang="en-US" sz="2063" b="1">
                <a:solidFill>
                  <a:srgbClr val="000000"/>
                </a:solidFill>
                <a:latin typeface="Arial Bold"/>
                <a:ea typeface="Arial Bold"/>
                <a:cs typeface="Arial Bold"/>
                <a:sym typeface="Arial Bold"/>
              </a:rPr>
              <a:t>Máy chủ đơn luồng không thể mở rộng tốt trên hệ thống đa bộ xử lý (multiprocessor system)</a:t>
            </a:r>
          </a:p>
          <a:p>
            <a:pPr algn="just">
              <a:lnSpc>
                <a:spcPts val="2476"/>
              </a:lnSpc>
              <a:spcBef>
                <a:spcPct val="0"/>
              </a:spcBef>
            </a:pPr>
            <a:endParaRPr lang="en-US" sz="2063" b="1">
              <a:solidFill>
                <a:srgbClr val="000000"/>
              </a:solidFill>
              <a:latin typeface="Arial Bold"/>
              <a:ea typeface="Arial Bold"/>
              <a:cs typeface="Arial Bold"/>
              <a:sym typeface="Arial Bold"/>
            </a:endParaRPr>
          </a:p>
          <a:p>
            <a:pPr marL="445500" lvl="1" indent="-222750" algn="just">
              <a:lnSpc>
                <a:spcPts val="2476"/>
              </a:lnSpc>
              <a:spcBef>
                <a:spcPct val="0"/>
              </a:spcBef>
              <a:buFont typeface="Arial"/>
              <a:buChar char="•"/>
            </a:pPr>
            <a:r>
              <a:rPr lang="en-US" sz="2063" b="1">
                <a:solidFill>
                  <a:srgbClr val="000000"/>
                </a:solidFill>
                <a:latin typeface="Arial Bold"/>
                <a:ea typeface="Arial Bold"/>
                <a:cs typeface="Arial Bold"/>
                <a:sym typeface="Arial Bold"/>
              </a:rPr>
              <a:t>Ẩn độ trễ mạng giống như ở phía client</a:t>
            </a:r>
          </a:p>
          <a:p>
            <a:pPr algn="just">
              <a:lnSpc>
                <a:spcPts val="2476"/>
              </a:lnSpc>
              <a:spcBef>
                <a:spcPct val="0"/>
              </a:spcBef>
            </a:pPr>
            <a:endParaRPr lang="en-US" sz="2063"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272769" y="188595"/>
            <a:ext cx="7791212" cy="542925"/>
          </a:xfrm>
          <a:prstGeom prst="rect">
            <a:avLst/>
          </a:prstGeom>
        </p:spPr>
        <p:txBody>
          <a:bodyPr lIns="0" tIns="0" rIns="0" bIns="0" rtlCol="0" anchor="t">
            <a:spAutoFit/>
          </a:bodyPr>
          <a:lstStyle/>
          <a:p>
            <a:pPr algn="ctr">
              <a:lnSpc>
                <a:spcPts val="3788"/>
              </a:lnSpc>
              <a:spcBef>
                <a:spcPct val="0"/>
              </a:spcBef>
            </a:pPr>
            <a:r>
              <a:rPr lang="en-US" sz="3157" b="1">
                <a:solidFill>
                  <a:srgbClr val="FFFF00"/>
                </a:solidFill>
                <a:latin typeface="Arial Bold"/>
                <a:ea typeface="Arial Bold"/>
                <a:cs typeface="Arial Bold"/>
                <a:sym typeface="Arial Bold"/>
              </a:rPr>
              <a:t>Sử dụng luồng (threads) ở phía máy chủ</a:t>
            </a:r>
          </a:p>
        </p:txBody>
      </p:sp>
      <p:sp>
        <p:nvSpPr>
          <p:cNvPr id="4" name="TextBox 4"/>
          <p:cNvSpPr txBox="1"/>
          <p:nvPr/>
        </p:nvSpPr>
        <p:spPr>
          <a:xfrm>
            <a:off x="212423" y="1818375"/>
            <a:ext cx="9541177" cy="4629150"/>
          </a:xfrm>
          <a:prstGeom prst="rect">
            <a:avLst/>
          </a:prstGeom>
        </p:spPr>
        <p:txBody>
          <a:bodyPr lIns="0" tIns="0" rIns="0" bIns="0" rtlCol="0" anchor="t">
            <a:spAutoFit/>
          </a:bodyPr>
          <a:lstStyle/>
          <a:p>
            <a:pPr algn="just">
              <a:lnSpc>
                <a:spcPts val="3655"/>
              </a:lnSpc>
              <a:spcBef>
                <a:spcPct val="0"/>
              </a:spcBef>
            </a:pPr>
            <a:r>
              <a:rPr lang="en-US" sz="3046" b="1">
                <a:solidFill>
                  <a:srgbClr val="000000"/>
                </a:solidFill>
                <a:latin typeface="Arial Bold"/>
                <a:ea typeface="Arial Bold"/>
                <a:cs typeface="Arial Bold"/>
                <a:sym typeface="Arial Bold"/>
              </a:rPr>
              <a:t>Cải thiện cấu trúc phần mềm (Better Structure):</a:t>
            </a:r>
          </a:p>
          <a:p>
            <a:pPr algn="just">
              <a:lnSpc>
                <a:spcPts val="3655"/>
              </a:lnSpc>
              <a:spcBef>
                <a:spcPct val="0"/>
              </a:spcBef>
            </a:pPr>
            <a:endParaRPr lang="en-US" sz="3046" b="1">
              <a:solidFill>
                <a:srgbClr val="000000"/>
              </a:solidFill>
              <a:latin typeface="Arial Bold"/>
              <a:ea typeface="Arial Bold"/>
              <a:cs typeface="Arial Bold"/>
              <a:sym typeface="Arial Bold"/>
            </a:endParaRPr>
          </a:p>
          <a:p>
            <a:pPr algn="just">
              <a:lnSpc>
                <a:spcPts val="2935"/>
              </a:lnSpc>
              <a:spcBef>
                <a:spcPct val="0"/>
              </a:spcBef>
            </a:pPr>
            <a:r>
              <a:rPr lang="en-US" sz="2446" b="1">
                <a:solidFill>
                  <a:srgbClr val="000000"/>
                </a:solidFill>
                <a:latin typeface="Arial Bold"/>
                <a:ea typeface="Arial Bold"/>
                <a:cs typeface="Arial Bold"/>
                <a:sym typeface="Arial Bold"/>
              </a:rPr>
              <a:t>Máy chủ thường có yêu cầu I/O cao</a:t>
            </a:r>
          </a:p>
          <a:p>
            <a:pPr marL="528096" lvl="1" indent="-264048" algn="just">
              <a:lnSpc>
                <a:spcPts val="2935"/>
              </a:lnSpc>
              <a:spcBef>
                <a:spcPct val="0"/>
              </a:spcBef>
              <a:buFont typeface="Arial"/>
              <a:buChar char="•"/>
            </a:pPr>
            <a:r>
              <a:rPr lang="en-US" sz="2446" b="1">
                <a:solidFill>
                  <a:srgbClr val="000000"/>
                </a:solidFill>
                <a:latin typeface="Arial Bold"/>
                <a:ea typeface="Arial Bold"/>
                <a:cs typeface="Arial Bold"/>
                <a:sym typeface="Arial Bold"/>
              </a:rPr>
              <a:t>Hầu hết máy chủ phải xử lý đọc/ghi dữ liệu từ đĩa, gửi/nhận dữ liệu qua mạng ⇒ sử dụng các lời gọi chặn (blocking calls) giúp đơn giản hóa quá trình xử lý.</a:t>
            </a:r>
          </a:p>
          <a:p>
            <a:pPr algn="just">
              <a:lnSpc>
                <a:spcPts val="2935"/>
              </a:lnSpc>
              <a:spcBef>
                <a:spcPct val="0"/>
              </a:spcBef>
            </a:pPr>
            <a:endParaRPr lang="en-US" sz="2446" b="1">
              <a:solidFill>
                <a:srgbClr val="000000"/>
              </a:solidFill>
              <a:latin typeface="Arial Bold"/>
              <a:ea typeface="Arial Bold"/>
              <a:cs typeface="Arial Bold"/>
              <a:sym typeface="Arial Bold"/>
            </a:endParaRPr>
          </a:p>
          <a:p>
            <a:pPr algn="just">
              <a:lnSpc>
                <a:spcPts val="2935"/>
              </a:lnSpc>
              <a:spcBef>
                <a:spcPct val="0"/>
              </a:spcBef>
            </a:pPr>
            <a:r>
              <a:rPr lang="en-US" sz="2446" b="1">
                <a:solidFill>
                  <a:srgbClr val="000000"/>
                </a:solidFill>
                <a:latin typeface="Arial Bold"/>
                <a:ea typeface="Arial Bold"/>
                <a:cs typeface="Arial Bold"/>
                <a:sym typeface="Arial Bold"/>
              </a:rPr>
              <a:t>Chương trình đa luồng thường gọn hơn và dễ hiểu hơn</a:t>
            </a:r>
          </a:p>
          <a:p>
            <a:pPr marL="528096" lvl="1" indent="-264048" algn="just">
              <a:lnSpc>
                <a:spcPts val="2935"/>
              </a:lnSpc>
              <a:spcBef>
                <a:spcPct val="0"/>
              </a:spcBef>
              <a:buFont typeface="Arial"/>
              <a:buChar char="•"/>
            </a:pPr>
            <a:r>
              <a:rPr lang="en-US" sz="2446" b="1">
                <a:solidFill>
                  <a:srgbClr val="000000"/>
                </a:solidFill>
                <a:latin typeface="Arial Bold"/>
                <a:ea typeface="Arial Bold"/>
                <a:cs typeface="Arial Bold"/>
                <a:sym typeface="Arial Bold"/>
              </a:rPr>
              <a:t>Dễ lập trình và bảo trì hơn do luồng điều khiển đơn giản, không cần phải quản lý trạng thái phức tạp như mô hình bất đồng bộ (asynchronous).</a:t>
            </a:r>
          </a:p>
          <a:p>
            <a:pPr algn="just">
              <a:lnSpc>
                <a:spcPts val="2476"/>
              </a:lnSpc>
              <a:spcBef>
                <a:spcPct val="0"/>
              </a:spcBef>
            </a:pPr>
            <a:endParaRPr lang="en-US" sz="2446"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Freeform 3"/>
          <p:cNvSpPr/>
          <p:nvPr/>
        </p:nvSpPr>
        <p:spPr>
          <a:xfrm>
            <a:off x="1058648" y="1706268"/>
            <a:ext cx="5614584" cy="2561654"/>
          </a:xfrm>
          <a:custGeom>
            <a:avLst/>
            <a:gdLst/>
            <a:ahLst/>
            <a:cxnLst/>
            <a:rect l="l" t="t" r="r" b="b"/>
            <a:pathLst>
              <a:path w="5614584" h="2561654">
                <a:moveTo>
                  <a:pt x="0" y="0"/>
                </a:moveTo>
                <a:lnTo>
                  <a:pt x="5614585" y="0"/>
                </a:lnTo>
                <a:lnTo>
                  <a:pt x="5614585" y="2561654"/>
                </a:lnTo>
                <a:lnTo>
                  <a:pt x="0" y="2561654"/>
                </a:lnTo>
                <a:lnTo>
                  <a:pt x="0" y="0"/>
                </a:lnTo>
                <a:close/>
              </a:path>
            </a:pathLst>
          </a:custGeom>
          <a:blipFill>
            <a:blip r:embed="rId4"/>
            <a:stretch>
              <a:fillRect/>
            </a:stretch>
          </a:blipFill>
        </p:spPr>
      </p:sp>
      <p:sp>
        <p:nvSpPr>
          <p:cNvPr id="4" name="Freeform 4"/>
          <p:cNvSpPr/>
          <p:nvPr/>
        </p:nvSpPr>
        <p:spPr>
          <a:xfrm>
            <a:off x="1370836" y="4520941"/>
            <a:ext cx="6027338" cy="1815736"/>
          </a:xfrm>
          <a:custGeom>
            <a:avLst/>
            <a:gdLst/>
            <a:ahLst/>
            <a:cxnLst/>
            <a:rect l="l" t="t" r="r" b="b"/>
            <a:pathLst>
              <a:path w="6027338" h="1815736">
                <a:moveTo>
                  <a:pt x="0" y="0"/>
                </a:moveTo>
                <a:lnTo>
                  <a:pt x="6027338" y="0"/>
                </a:lnTo>
                <a:lnTo>
                  <a:pt x="6027338" y="1815735"/>
                </a:lnTo>
                <a:lnTo>
                  <a:pt x="0" y="1815735"/>
                </a:lnTo>
                <a:lnTo>
                  <a:pt x="0" y="0"/>
                </a:lnTo>
                <a:close/>
              </a:path>
            </a:pathLst>
          </a:custGeom>
          <a:blipFill>
            <a:blip r:embed="rId5"/>
            <a:stretch>
              <a:fillRect/>
            </a:stretch>
          </a:blipFill>
        </p:spPr>
      </p:sp>
      <p:sp>
        <p:nvSpPr>
          <p:cNvPr id="5" name="TextBox 5"/>
          <p:cNvSpPr txBox="1"/>
          <p:nvPr/>
        </p:nvSpPr>
        <p:spPr>
          <a:xfrm>
            <a:off x="-72963" y="11777"/>
            <a:ext cx="8290560" cy="1219200"/>
          </a:xfrm>
          <a:prstGeom prst="rect">
            <a:avLst/>
          </a:prstGeom>
        </p:spPr>
        <p:txBody>
          <a:bodyPr lIns="0" tIns="0" rIns="0" bIns="0" rtlCol="0" anchor="t">
            <a:spAutoFit/>
          </a:bodyPr>
          <a:lstStyle/>
          <a:p>
            <a:pPr algn="ctr">
              <a:lnSpc>
                <a:spcPts val="4508"/>
              </a:lnSpc>
              <a:spcBef>
                <a:spcPct val="0"/>
              </a:spcBef>
            </a:pPr>
            <a:r>
              <a:rPr lang="en-US" sz="3757" b="1" dirty="0" err="1">
                <a:solidFill>
                  <a:srgbClr val="FFFF00"/>
                </a:solidFill>
                <a:latin typeface="Arial Bold"/>
                <a:ea typeface="Arial Bold"/>
                <a:cs typeface="Arial Bold"/>
                <a:sym typeface="Arial Bold"/>
              </a:rPr>
              <a:t>Tại</a:t>
            </a:r>
            <a:r>
              <a:rPr lang="en-US" sz="3757" b="1" dirty="0">
                <a:solidFill>
                  <a:srgbClr val="FFFF00"/>
                </a:solidFill>
                <a:latin typeface="Arial Bold"/>
                <a:ea typeface="Arial Bold"/>
                <a:cs typeface="Arial Bold"/>
                <a:sym typeface="Arial Bold"/>
              </a:rPr>
              <a:t> </a:t>
            </a:r>
            <a:r>
              <a:rPr lang="en-US" sz="3757" b="1" dirty="0" err="1">
                <a:solidFill>
                  <a:srgbClr val="FFFF00"/>
                </a:solidFill>
                <a:latin typeface="Arial Bold"/>
                <a:ea typeface="Arial Bold"/>
                <a:cs typeface="Arial Bold"/>
                <a:sym typeface="Arial Bold"/>
              </a:rPr>
              <a:t>sao</a:t>
            </a:r>
            <a:r>
              <a:rPr lang="en-US" sz="3757" b="1" dirty="0">
                <a:solidFill>
                  <a:srgbClr val="FFFF00"/>
                </a:solidFill>
                <a:latin typeface="Arial Bold"/>
                <a:ea typeface="Arial Bold"/>
                <a:cs typeface="Arial Bold"/>
                <a:sym typeface="Arial Bold"/>
              </a:rPr>
              <a:t> </a:t>
            </a:r>
            <a:r>
              <a:rPr lang="en-US" sz="3757" b="1" dirty="0" err="1">
                <a:solidFill>
                  <a:srgbClr val="FFFF00"/>
                </a:solidFill>
                <a:latin typeface="Arial Bold"/>
                <a:ea typeface="Arial Bold"/>
                <a:cs typeface="Arial Bold"/>
                <a:sym typeface="Arial Bold"/>
              </a:rPr>
              <a:t>đa</a:t>
            </a:r>
            <a:r>
              <a:rPr lang="en-US" sz="3757" b="1" dirty="0">
                <a:solidFill>
                  <a:srgbClr val="FFFF00"/>
                </a:solidFill>
                <a:latin typeface="Arial Bold"/>
                <a:ea typeface="Arial Bold"/>
                <a:cs typeface="Arial Bold"/>
                <a:sym typeface="Arial Bold"/>
              </a:rPr>
              <a:t> </a:t>
            </a:r>
            <a:r>
              <a:rPr lang="en-US" sz="3757" b="1" dirty="0" err="1">
                <a:solidFill>
                  <a:srgbClr val="FFFF00"/>
                </a:solidFill>
                <a:latin typeface="Arial Bold"/>
                <a:ea typeface="Arial Bold"/>
                <a:cs typeface="Arial Bold"/>
                <a:sym typeface="Arial Bold"/>
              </a:rPr>
              <a:t>luồng</a:t>
            </a:r>
            <a:r>
              <a:rPr lang="en-US" sz="3757" b="1" dirty="0">
                <a:solidFill>
                  <a:srgbClr val="FFFF00"/>
                </a:solidFill>
                <a:latin typeface="Arial Bold"/>
                <a:ea typeface="Arial Bold"/>
                <a:cs typeface="Arial Bold"/>
                <a:sym typeface="Arial Bold"/>
              </a:rPr>
              <a:t> (multithreading) </a:t>
            </a:r>
            <a:r>
              <a:rPr lang="en-US" sz="3757" b="1" dirty="0" err="1">
                <a:solidFill>
                  <a:srgbClr val="FFFF00"/>
                </a:solidFill>
                <a:latin typeface="Arial Bold"/>
                <a:ea typeface="Arial Bold"/>
                <a:cs typeface="Arial Bold"/>
                <a:sym typeface="Arial Bold"/>
              </a:rPr>
              <a:t>phổ</a:t>
            </a:r>
            <a:r>
              <a:rPr lang="en-US" sz="3757" b="1" dirty="0">
                <a:solidFill>
                  <a:srgbClr val="FFFF00"/>
                </a:solidFill>
                <a:latin typeface="Arial Bold"/>
                <a:ea typeface="Arial Bold"/>
                <a:cs typeface="Arial Bold"/>
                <a:sym typeface="Arial Bold"/>
              </a:rPr>
              <a:t> </a:t>
            </a:r>
            <a:r>
              <a:rPr lang="en-US" sz="3757" b="1" dirty="0" err="1">
                <a:solidFill>
                  <a:srgbClr val="FFFF00"/>
                </a:solidFill>
                <a:latin typeface="Arial Bold"/>
                <a:ea typeface="Arial Bold"/>
                <a:cs typeface="Arial Bold"/>
                <a:sym typeface="Arial Bold"/>
              </a:rPr>
              <a:t>biến</a:t>
            </a:r>
            <a:r>
              <a:rPr lang="en-US" sz="3757" b="1" dirty="0">
                <a:solidFill>
                  <a:srgbClr val="FFFF00"/>
                </a:solidFill>
                <a:latin typeface="Arial Bold"/>
                <a:ea typeface="Arial Bold"/>
                <a:cs typeface="Arial Bold"/>
                <a:sym typeface="Arial Bold"/>
              </a:rPr>
              <a:t>: </a:t>
            </a:r>
            <a:r>
              <a:rPr lang="en-US" sz="3757" b="1" dirty="0" err="1">
                <a:solidFill>
                  <a:srgbClr val="FFFF00"/>
                </a:solidFill>
                <a:latin typeface="Arial Bold"/>
                <a:ea typeface="Arial Bold"/>
                <a:cs typeface="Arial Bold"/>
                <a:sym typeface="Arial Bold"/>
              </a:rPr>
              <a:t>tổ</a:t>
            </a:r>
            <a:r>
              <a:rPr lang="en-US" sz="3757" b="1" dirty="0">
                <a:solidFill>
                  <a:srgbClr val="FFFF00"/>
                </a:solidFill>
                <a:latin typeface="Arial Bold"/>
                <a:ea typeface="Arial Bold"/>
                <a:cs typeface="Arial Bold"/>
                <a:sym typeface="Arial Bold"/>
              </a:rPr>
              <a:t> </a:t>
            </a:r>
            <a:r>
              <a:rPr lang="en-US" sz="3757" b="1" dirty="0" err="1">
                <a:solidFill>
                  <a:srgbClr val="FFFF00"/>
                </a:solidFill>
                <a:latin typeface="Arial Bold"/>
                <a:ea typeface="Arial Bold"/>
                <a:cs typeface="Arial Bold"/>
                <a:sym typeface="Arial Bold"/>
              </a:rPr>
              <a:t>chức</a:t>
            </a:r>
            <a:endParaRPr lang="en-US" sz="3757" b="1" dirty="0">
              <a:solidFill>
                <a:srgbClr val="FFFF00"/>
              </a:solidFill>
              <a:latin typeface="Arial Bold"/>
              <a:ea typeface="Arial Bold"/>
              <a:cs typeface="Arial Bold"/>
              <a:sym typeface="Arial Bold"/>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8C002207-D175-4D26-8EAD-1EAB8C7424FC}"/>
              </a:ext>
            </a:extLst>
          </p:cNvPr>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txBody>
          <a:bodyPr/>
          <a:lstStyle/>
          <a:p>
            <a:endParaRPr lang="en-US" dirty="0"/>
          </a:p>
        </p:txBody>
      </p:sp>
      <p:sp>
        <p:nvSpPr>
          <p:cNvPr id="5" name="TextBox 5">
            <a:extLst>
              <a:ext uri="{FF2B5EF4-FFF2-40B4-BE49-F238E27FC236}">
                <a16:creationId xmlns:a16="http://schemas.microsoft.com/office/drawing/2014/main" id="{1C71AAFF-955D-4C56-8902-00BCCE4A26CE}"/>
              </a:ext>
            </a:extLst>
          </p:cNvPr>
          <p:cNvSpPr txBox="1"/>
          <p:nvPr/>
        </p:nvSpPr>
        <p:spPr>
          <a:xfrm>
            <a:off x="381000" y="228600"/>
            <a:ext cx="8290560" cy="615553"/>
          </a:xfrm>
          <a:prstGeom prst="rect">
            <a:avLst/>
          </a:prstGeom>
        </p:spPr>
        <p:txBody>
          <a:bodyPr wrap="square" lIns="0" tIns="0" rIns="0" bIns="0" rtlCol="0" anchor="t">
            <a:spAutoFit/>
          </a:bodyPr>
          <a:lstStyle/>
          <a:p>
            <a:pPr marL="50800">
              <a:lnSpc>
                <a:spcPct val="100000"/>
              </a:lnSpc>
              <a:spcBef>
                <a:spcPts val="95"/>
              </a:spcBef>
            </a:pPr>
            <a:r>
              <a:rPr lang="en-US" sz="4000" b="1" spc="-10" dirty="0">
                <a:solidFill>
                  <a:srgbClr val="FFFF00"/>
                </a:solidFill>
                <a:latin typeface="Arial"/>
                <a:cs typeface="Arial"/>
              </a:rPr>
              <a:t>2. </a:t>
            </a:r>
            <a:r>
              <a:rPr lang="en-US" sz="4000" b="1" spc="-10" dirty="0" err="1">
                <a:solidFill>
                  <a:srgbClr val="FFFF00"/>
                </a:solidFill>
                <a:latin typeface="Arial"/>
                <a:cs typeface="Arial"/>
              </a:rPr>
              <a:t>Ảo</a:t>
            </a:r>
            <a:r>
              <a:rPr lang="en-US" sz="4000" b="1" spc="-10" dirty="0">
                <a:solidFill>
                  <a:srgbClr val="FFFF00"/>
                </a:solidFill>
                <a:latin typeface="Arial"/>
                <a:cs typeface="Arial"/>
              </a:rPr>
              <a:t> </a:t>
            </a:r>
            <a:r>
              <a:rPr lang="en-US" sz="4000" b="1" spc="-10" dirty="0" err="1">
                <a:solidFill>
                  <a:srgbClr val="FFFF00"/>
                </a:solidFill>
                <a:latin typeface="Arial"/>
                <a:cs typeface="Arial"/>
              </a:rPr>
              <a:t>hóa</a:t>
            </a:r>
            <a:endParaRPr lang="en-US" sz="4000" b="1" dirty="0">
              <a:solidFill>
                <a:srgbClr val="FFFF00"/>
              </a:solidFill>
              <a:latin typeface="Arial"/>
              <a:cs typeface="Arial"/>
            </a:endParaRPr>
          </a:p>
        </p:txBody>
      </p:sp>
      <p:sp>
        <p:nvSpPr>
          <p:cNvPr id="7" name="TextBox 6">
            <a:extLst>
              <a:ext uri="{FF2B5EF4-FFF2-40B4-BE49-F238E27FC236}">
                <a16:creationId xmlns:a16="http://schemas.microsoft.com/office/drawing/2014/main" id="{83F05BB2-446E-48B4-B2AC-3896705633EE}"/>
              </a:ext>
            </a:extLst>
          </p:cNvPr>
          <p:cNvSpPr txBox="1"/>
          <p:nvPr/>
        </p:nvSpPr>
        <p:spPr>
          <a:xfrm>
            <a:off x="196947" y="1873993"/>
            <a:ext cx="6248400" cy="2739211"/>
          </a:xfrm>
          <a:prstGeom prst="rect">
            <a:avLst/>
          </a:prstGeom>
          <a:noFill/>
        </p:spPr>
        <p:txBody>
          <a:bodyPr wrap="square">
            <a:spAutoFit/>
          </a:bodyPr>
          <a:lstStyle/>
          <a:p>
            <a:pPr marL="298450">
              <a:lnSpc>
                <a:spcPct val="100000"/>
              </a:lnSpc>
              <a:spcBef>
                <a:spcPts val="105"/>
              </a:spcBef>
            </a:pPr>
            <a:r>
              <a:rPr lang="vi-VN" sz="1800" dirty="0">
                <a:solidFill>
                  <a:srgbClr val="3333B2"/>
                </a:solidFill>
                <a:latin typeface="Arial"/>
                <a:cs typeface="Arial"/>
              </a:rPr>
              <a:t>Ảo hóa</a:t>
            </a:r>
            <a:r>
              <a:rPr lang="vi-VN" sz="1800" spc="-20" dirty="0">
                <a:solidFill>
                  <a:srgbClr val="3333B2"/>
                </a:solidFill>
                <a:latin typeface="Arial"/>
                <a:cs typeface="Arial"/>
              </a:rPr>
              <a:t> </a:t>
            </a:r>
            <a:r>
              <a:rPr lang="vi-VN" sz="1800" dirty="0">
                <a:latin typeface="Arial"/>
                <a:cs typeface="Arial"/>
              </a:rPr>
              <a:t>là</a:t>
            </a:r>
            <a:r>
              <a:rPr lang="vi-VN" sz="1800" spc="-15" dirty="0">
                <a:latin typeface="Arial"/>
                <a:cs typeface="Arial"/>
              </a:rPr>
              <a:t> </a:t>
            </a:r>
            <a:r>
              <a:rPr lang="vi-VN" sz="1800" spc="-10" dirty="0">
                <a:latin typeface="Arial"/>
                <a:cs typeface="Arial"/>
              </a:rPr>
              <a:t>quan trọng:</a:t>
            </a:r>
            <a:endParaRPr lang="vi-VN" sz="1800" dirty="0">
              <a:latin typeface="Arial"/>
              <a:cs typeface="Arial"/>
            </a:endParaRPr>
          </a:p>
          <a:p>
            <a:pPr marL="555625" indent="-120650">
              <a:lnSpc>
                <a:spcPct val="100000"/>
              </a:lnSpc>
              <a:spcBef>
                <a:spcPts val="525"/>
              </a:spcBef>
              <a:buClr>
                <a:srgbClr val="3333B2"/>
              </a:buClr>
              <a:buFont typeface="Menlo"/>
              <a:buChar char="•"/>
              <a:tabLst>
                <a:tab pos="556260" algn="l"/>
              </a:tabLst>
            </a:pPr>
            <a:r>
              <a:rPr lang="vi-VN" sz="1800" dirty="0">
                <a:latin typeface="Arial"/>
                <a:cs typeface="Arial"/>
              </a:rPr>
              <a:t>Phần cứng</a:t>
            </a:r>
            <a:r>
              <a:rPr lang="vi-VN" sz="1800" spc="-45" dirty="0">
                <a:latin typeface="Arial"/>
                <a:cs typeface="Arial"/>
              </a:rPr>
              <a:t> </a:t>
            </a:r>
            <a:r>
              <a:rPr lang="vi-VN" sz="1800" dirty="0">
                <a:solidFill>
                  <a:srgbClr val="3333B2"/>
                </a:solidFill>
                <a:latin typeface="Arial"/>
                <a:cs typeface="Arial"/>
              </a:rPr>
              <a:t>thay đổi</a:t>
            </a:r>
            <a:r>
              <a:rPr lang="vi-VN" sz="1800" spc="-45" dirty="0">
                <a:solidFill>
                  <a:srgbClr val="3333B2"/>
                </a:solidFill>
                <a:latin typeface="Arial"/>
                <a:cs typeface="Arial"/>
              </a:rPr>
              <a:t> </a:t>
            </a:r>
            <a:r>
              <a:rPr lang="vi-VN" sz="1800" dirty="0">
                <a:solidFill>
                  <a:srgbClr val="3333B2"/>
                </a:solidFill>
                <a:latin typeface="Arial"/>
                <a:cs typeface="Arial"/>
              </a:rPr>
              <a:t>nhanh hơn</a:t>
            </a:r>
            <a:r>
              <a:rPr lang="vi-VN" sz="1800" spc="-45" dirty="0">
                <a:solidFill>
                  <a:srgbClr val="3333B2"/>
                </a:solidFill>
                <a:latin typeface="Arial"/>
                <a:cs typeface="Arial"/>
              </a:rPr>
              <a:t> </a:t>
            </a:r>
            <a:r>
              <a:rPr lang="vi-VN" sz="1800" dirty="0">
                <a:latin typeface="Arial"/>
                <a:cs typeface="Arial"/>
              </a:rPr>
              <a:t>hơn</a:t>
            </a:r>
            <a:r>
              <a:rPr lang="vi-VN" sz="1800" spc="-45" dirty="0">
                <a:latin typeface="Arial"/>
                <a:cs typeface="Arial"/>
              </a:rPr>
              <a:t> </a:t>
            </a:r>
            <a:r>
              <a:rPr lang="vi-VN" sz="1800" spc="-10" dirty="0">
                <a:latin typeface="Arial"/>
                <a:cs typeface="Arial"/>
              </a:rPr>
              <a:t>phần mềm</a:t>
            </a:r>
            <a:endParaRPr lang="vi-VN" sz="1800" dirty="0">
              <a:latin typeface="Arial"/>
              <a:cs typeface="Arial"/>
            </a:endParaRPr>
          </a:p>
          <a:p>
            <a:pPr marL="555625" indent="-120650">
              <a:lnSpc>
                <a:spcPct val="100000"/>
              </a:lnSpc>
              <a:spcBef>
                <a:spcPts val="125"/>
              </a:spcBef>
              <a:buClr>
                <a:srgbClr val="3333B2"/>
              </a:buClr>
              <a:buFont typeface="Menlo"/>
              <a:buChar char="•"/>
              <a:tabLst>
                <a:tab pos="556260" algn="l"/>
              </a:tabLst>
            </a:pPr>
            <a:r>
              <a:rPr lang="en-US" sz="1800" dirty="0" err="1">
                <a:latin typeface="Arial"/>
                <a:cs typeface="Arial"/>
              </a:rPr>
              <a:t>Sự</a:t>
            </a:r>
            <a:r>
              <a:rPr lang="en-US" sz="1800" dirty="0">
                <a:latin typeface="Arial"/>
                <a:cs typeface="Arial"/>
              </a:rPr>
              <a:t> </a:t>
            </a:r>
            <a:r>
              <a:rPr lang="en-US" sz="1800" dirty="0" err="1">
                <a:latin typeface="Arial"/>
                <a:cs typeface="Arial"/>
              </a:rPr>
              <a:t>dễ</a:t>
            </a:r>
            <a:r>
              <a:rPr lang="en-US" sz="1800" dirty="0">
                <a:latin typeface="Arial"/>
                <a:cs typeface="Arial"/>
              </a:rPr>
              <a:t> </a:t>
            </a:r>
            <a:r>
              <a:rPr lang="en-US" sz="1800" dirty="0" err="1">
                <a:latin typeface="Arial"/>
                <a:cs typeface="Arial"/>
              </a:rPr>
              <a:t>dáng</a:t>
            </a:r>
            <a:r>
              <a:rPr lang="en-US" sz="1800" dirty="0">
                <a:latin typeface="Arial"/>
                <a:cs typeface="Arial"/>
              </a:rPr>
              <a:t> </a:t>
            </a:r>
            <a:r>
              <a:rPr lang="vi-VN" sz="1800" dirty="0">
                <a:latin typeface="Arial"/>
                <a:cs typeface="Arial"/>
              </a:rPr>
              <a:t>của</a:t>
            </a:r>
            <a:r>
              <a:rPr lang="vi-VN" sz="1800" spc="-20" dirty="0">
                <a:latin typeface="Arial"/>
                <a:cs typeface="Arial"/>
              </a:rPr>
              <a:t> </a:t>
            </a:r>
            <a:r>
              <a:rPr lang="vi-VN" sz="1800" dirty="0">
                <a:solidFill>
                  <a:srgbClr val="3333B2"/>
                </a:solidFill>
                <a:latin typeface="Arial"/>
                <a:cs typeface="Arial"/>
              </a:rPr>
              <a:t>tính di động</a:t>
            </a:r>
            <a:r>
              <a:rPr lang="vi-VN" sz="1800" spc="-15" dirty="0">
                <a:solidFill>
                  <a:srgbClr val="3333B2"/>
                </a:solidFill>
                <a:latin typeface="Arial"/>
                <a:cs typeface="Arial"/>
              </a:rPr>
              <a:t> </a:t>
            </a:r>
            <a:r>
              <a:rPr lang="en-US" sz="1800" dirty="0">
                <a:latin typeface="Arial"/>
                <a:cs typeface="Arial"/>
              </a:rPr>
              <a:t>v</a:t>
            </a:r>
            <a:r>
              <a:rPr lang="vi-VN" sz="1800" dirty="0">
                <a:latin typeface="Arial"/>
                <a:cs typeface="Arial"/>
              </a:rPr>
              <a:t>à</a:t>
            </a:r>
            <a:r>
              <a:rPr lang="vi-VN" sz="1800" spc="-20" dirty="0">
                <a:latin typeface="Arial"/>
                <a:cs typeface="Arial"/>
              </a:rPr>
              <a:t> </a:t>
            </a:r>
            <a:r>
              <a:rPr lang="vi-VN" sz="1800" dirty="0">
                <a:latin typeface="Arial"/>
                <a:cs typeface="Arial"/>
              </a:rPr>
              <a:t>mã số</a:t>
            </a:r>
            <a:r>
              <a:rPr lang="vi-VN" sz="1800" spc="-20" dirty="0">
                <a:latin typeface="Arial"/>
                <a:cs typeface="Arial"/>
              </a:rPr>
              <a:t> </a:t>
            </a:r>
            <a:r>
              <a:rPr lang="vi-VN" sz="1800" spc="-10" dirty="0">
                <a:latin typeface="Arial"/>
                <a:cs typeface="Arial"/>
              </a:rPr>
              <a:t>di cư</a:t>
            </a:r>
            <a:endParaRPr lang="vi-VN" sz="1800" dirty="0">
              <a:latin typeface="Arial"/>
              <a:cs typeface="Arial"/>
            </a:endParaRPr>
          </a:p>
          <a:p>
            <a:pPr marL="555625" indent="-120650">
              <a:lnSpc>
                <a:spcPct val="100000"/>
              </a:lnSpc>
              <a:spcBef>
                <a:spcPts val="125"/>
              </a:spcBef>
              <a:buFont typeface="Menlo"/>
              <a:buChar char="•"/>
              <a:tabLst>
                <a:tab pos="556260" algn="l"/>
              </a:tabLst>
            </a:pPr>
            <a:r>
              <a:rPr lang="vi-VN" sz="1800" dirty="0">
                <a:solidFill>
                  <a:srgbClr val="3333B2"/>
                </a:solidFill>
                <a:latin typeface="Arial"/>
                <a:cs typeface="Arial"/>
              </a:rPr>
              <a:t>Sự cách ly</a:t>
            </a:r>
            <a:r>
              <a:rPr lang="vi-VN" sz="1800" spc="-25" dirty="0">
                <a:solidFill>
                  <a:srgbClr val="3333B2"/>
                </a:solidFill>
                <a:latin typeface="Arial"/>
                <a:cs typeface="Arial"/>
              </a:rPr>
              <a:t> </a:t>
            </a:r>
            <a:r>
              <a:rPr lang="vi-VN" sz="1800" dirty="0">
                <a:latin typeface="Arial"/>
                <a:cs typeface="Arial"/>
              </a:rPr>
              <a:t>của</a:t>
            </a:r>
            <a:r>
              <a:rPr lang="vi-VN" sz="1800" spc="-25" dirty="0">
                <a:latin typeface="Arial"/>
                <a:cs typeface="Arial"/>
              </a:rPr>
              <a:t> </a:t>
            </a:r>
            <a:r>
              <a:rPr lang="vi-VN" sz="1800" dirty="0">
                <a:latin typeface="Arial"/>
                <a:cs typeface="Arial"/>
              </a:rPr>
              <a:t>thất bại</a:t>
            </a:r>
            <a:r>
              <a:rPr lang="vi-VN" sz="1800" spc="-25" dirty="0">
                <a:latin typeface="Arial"/>
                <a:cs typeface="Arial"/>
              </a:rPr>
              <a:t> </a:t>
            </a:r>
            <a:r>
              <a:rPr lang="vi-VN" sz="1800" dirty="0">
                <a:latin typeface="Arial"/>
                <a:cs typeface="Arial"/>
              </a:rPr>
              <a:t>hoặc</a:t>
            </a:r>
            <a:r>
              <a:rPr lang="vi-VN" sz="1800" spc="-25" dirty="0">
                <a:latin typeface="Arial"/>
                <a:cs typeface="Arial"/>
              </a:rPr>
              <a:t> </a:t>
            </a:r>
            <a:r>
              <a:rPr lang="vi-VN" sz="1800" spc="-10" dirty="0">
                <a:latin typeface="Arial"/>
                <a:cs typeface="Arial"/>
              </a:rPr>
              <a:t>bị tấn công</a:t>
            </a:r>
            <a:r>
              <a:rPr lang="vi-VN" sz="1800" spc="-25" dirty="0">
                <a:latin typeface="Arial"/>
                <a:cs typeface="Arial"/>
              </a:rPr>
              <a:t> </a:t>
            </a:r>
            <a:r>
              <a:rPr lang="vi-VN" sz="1800" spc="-10" dirty="0">
                <a:latin typeface="Arial"/>
                <a:cs typeface="Arial"/>
              </a:rPr>
              <a:t>thành phần</a:t>
            </a:r>
            <a:endParaRPr lang="en-US" sz="1800" spc="-10" dirty="0">
              <a:latin typeface="Arial"/>
              <a:cs typeface="Arial"/>
            </a:endParaRPr>
          </a:p>
          <a:p>
            <a:pPr marL="555625" indent="-120650">
              <a:lnSpc>
                <a:spcPct val="100000"/>
              </a:lnSpc>
              <a:spcBef>
                <a:spcPts val="125"/>
              </a:spcBef>
              <a:buFont typeface="Menlo"/>
              <a:buChar char="•"/>
              <a:tabLst>
                <a:tab pos="556260" algn="l"/>
              </a:tabLst>
            </a:pPr>
            <a:endParaRPr lang="en-US" spc="-10" dirty="0">
              <a:latin typeface="Arial"/>
              <a:cs typeface="Arial"/>
            </a:endParaRPr>
          </a:p>
          <a:p>
            <a:pPr marL="434975">
              <a:spcBef>
                <a:spcPts val="125"/>
              </a:spcBef>
              <a:tabLst>
                <a:tab pos="556260" algn="l"/>
              </a:tabLst>
            </a:pPr>
            <a:endParaRPr lang="en-US" spc="-10" dirty="0">
              <a:latin typeface="Arial"/>
              <a:cs typeface="Arial"/>
            </a:endParaRPr>
          </a:p>
          <a:p>
            <a:pPr marL="434975">
              <a:spcBef>
                <a:spcPts val="125"/>
              </a:spcBef>
              <a:tabLst>
                <a:tab pos="556260" algn="l"/>
              </a:tabLst>
            </a:pPr>
            <a:endParaRPr lang="en-US" sz="1800" dirty="0">
              <a:solidFill>
                <a:srgbClr val="3333B2"/>
              </a:solidFill>
              <a:latin typeface="Arial"/>
              <a:cs typeface="Arial"/>
            </a:endParaRPr>
          </a:p>
          <a:p>
            <a:pPr marL="434975">
              <a:spcBef>
                <a:spcPts val="125"/>
              </a:spcBef>
              <a:tabLst>
                <a:tab pos="556260" algn="l"/>
              </a:tabLst>
            </a:pPr>
            <a:r>
              <a:rPr lang="vi-VN" sz="1800" dirty="0">
                <a:solidFill>
                  <a:srgbClr val="3333B2"/>
                </a:solidFill>
                <a:latin typeface="Arial"/>
                <a:cs typeface="Arial"/>
              </a:rPr>
              <a:t>Nguyên tắc:</a:t>
            </a:r>
            <a:r>
              <a:rPr lang="vi-VN" sz="1800" spc="5" dirty="0">
                <a:solidFill>
                  <a:srgbClr val="3333B2"/>
                </a:solidFill>
                <a:latin typeface="Arial"/>
                <a:cs typeface="Arial"/>
              </a:rPr>
              <a:t> </a:t>
            </a:r>
            <a:r>
              <a:rPr lang="vi-VN" sz="1800" dirty="0">
                <a:solidFill>
                  <a:srgbClr val="3333B2"/>
                </a:solidFill>
                <a:latin typeface="Arial"/>
                <a:cs typeface="Arial"/>
              </a:rPr>
              <a:t>bắt chước</a:t>
            </a:r>
            <a:r>
              <a:rPr lang="vi-VN" sz="1800" spc="-50" dirty="0">
                <a:solidFill>
                  <a:srgbClr val="3333B2"/>
                </a:solidFill>
                <a:latin typeface="Arial"/>
                <a:cs typeface="Arial"/>
              </a:rPr>
              <a:t> </a:t>
            </a:r>
            <a:r>
              <a:rPr lang="vi-VN" sz="1800" spc="-10" dirty="0">
                <a:solidFill>
                  <a:srgbClr val="3333B2"/>
                </a:solidFill>
                <a:latin typeface="Arial"/>
                <a:cs typeface="Arial"/>
              </a:rPr>
              <a:t>giao diện</a:t>
            </a:r>
            <a:endParaRPr lang="vi-VN" sz="1800" dirty="0">
              <a:latin typeface="Arial"/>
              <a:cs typeface="Arial"/>
            </a:endParaRPr>
          </a:p>
          <a:p>
            <a:pPr marL="434975">
              <a:lnSpc>
                <a:spcPct val="100000"/>
              </a:lnSpc>
              <a:spcBef>
                <a:spcPts val="125"/>
              </a:spcBef>
              <a:tabLst>
                <a:tab pos="556260" algn="l"/>
              </a:tabLst>
            </a:pPr>
            <a:endParaRPr lang="vi-VN" sz="1800" dirty="0">
              <a:latin typeface="Arial"/>
              <a:cs typeface="Arial"/>
            </a:endParaRPr>
          </a:p>
        </p:txBody>
      </p:sp>
      <p:pic>
        <p:nvPicPr>
          <p:cNvPr id="8" name="object 6">
            <a:extLst>
              <a:ext uri="{FF2B5EF4-FFF2-40B4-BE49-F238E27FC236}">
                <a16:creationId xmlns:a16="http://schemas.microsoft.com/office/drawing/2014/main" id="{1333F2C2-0C3C-413C-B693-69029F4DB28C}"/>
              </a:ext>
            </a:extLst>
          </p:cNvPr>
          <p:cNvPicPr/>
          <p:nvPr/>
        </p:nvPicPr>
        <p:blipFill>
          <a:blip r:embed="rId3" cstate="print"/>
          <a:stretch>
            <a:fillRect/>
          </a:stretch>
        </p:blipFill>
        <p:spPr>
          <a:xfrm>
            <a:off x="3130731" y="4640688"/>
            <a:ext cx="2857585" cy="1983677"/>
          </a:xfrm>
          <a:prstGeom prst="rect">
            <a:avLst/>
          </a:prstGeom>
        </p:spPr>
      </p:pic>
      <p:pic>
        <p:nvPicPr>
          <p:cNvPr id="9" name="object 7">
            <a:extLst>
              <a:ext uri="{FF2B5EF4-FFF2-40B4-BE49-F238E27FC236}">
                <a16:creationId xmlns:a16="http://schemas.microsoft.com/office/drawing/2014/main" id="{6CE69E86-7B7F-461D-A010-051B231C69C0}"/>
              </a:ext>
            </a:extLst>
          </p:cNvPr>
          <p:cNvPicPr/>
          <p:nvPr/>
        </p:nvPicPr>
        <p:blipFill>
          <a:blip r:embed="rId4" cstate="print"/>
          <a:stretch>
            <a:fillRect/>
          </a:stretch>
        </p:blipFill>
        <p:spPr>
          <a:xfrm>
            <a:off x="6445347" y="3789522"/>
            <a:ext cx="2546254" cy="2834843"/>
          </a:xfrm>
          <a:prstGeom prst="rect">
            <a:avLst/>
          </a:prstGeom>
        </p:spPr>
      </p:pic>
    </p:spTree>
    <p:extLst>
      <p:ext uri="{BB962C8B-B14F-4D97-AF65-F5344CB8AC3E}">
        <p14:creationId xmlns:p14="http://schemas.microsoft.com/office/powerpoint/2010/main" val="36164807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C292D3A2-38CE-4A1B-BAC6-83C37E051BFB}"/>
              </a:ext>
            </a:extLst>
          </p:cNvPr>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txBody>
          <a:bodyPr/>
          <a:lstStyle/>
          <a:p>
            <a:endParaRPr lang="en-US" dirty="0"/>
          </a:p>
        </p:txBody>
      </p:sp>
      <p:sp>
        <p:nvSpPr>
          <p:cNvPr id="3" name="TextBox 5">
            <a:extLst>
              <a:ext uri="{FF2B5EF4-FFF2-40B4-BE49-F238E27FC236}">
                <a16:creationId xmlns:a16="http://schemas.microsoft.com/office/drawing/2014/main" id="{5C41A8FE-9F0F-4DC9-BE99-579445363D35}"/>
              </a:ext>
            </a:extLst>
          </p:cNvPr>
          <p:cNvSpPr txBox="1"/>
          <p:nvPr/>
        </p:nvSpPr>
        <p:spPr>
          <a:xfrm>
            <a:off x="381000" y="228600"/>
            <a:ext cx="8290560" cy="615553"/>
          </a:xfrm>
          <a:prstGeom prst="rect">
            <a:avLst/>
          </a:prstGeom>
        </p:spPr>
        <p:txBody>
          <a:bodyPr wrap="square" lIns="0" tIns="0" rIns="0" bIns="0" rtlCol="0" anchor="t">
            <a:spAutoFit/>
          </a:bodyPr>
          <a:lstStyle/>
          <a:p>
            <a:pPr marL="50800">
              <a:lnSpc>
                <a:spcPct val="100000"/>
              </a:lnSpc>
              <a:spcBef>
                <a:spcPts val="95"/>
              </a:spcBef>
            </a:pPr>
            <a:r>
              <a:rPr lang="vi-VN" sz="4000" b="1" dirty="0">
                <a:solidFill>
                  <a:srgbClr val="FFFF00"/>
                </a:solidFill>
              </a:rPr>
              <a:t>Bắt chước</a:t>
            </a:r>
            <a:r>
              <a:rPr lang="vi-VN" sz="4000" b="1" spc="-85" dirty="0">
                <a:solidFill>
                  <a:srgbClr val="FFFF00"/>
                </a:solidFill>
              </a:rPr>
              <a:t> </a:t>
            </a:r>
            <a:r>
              <a:rPr lang="vi-VN" sz="4000" b="1" spc="-10" dirty="0">
                <a:solidFill>
                  <a:srgbClr val="FFFF00"/>
                </a:solidFill>
              </a:rPr>
              <a:t>giao diện</a:t>
            </a:r>
            <a:endParaRPr lang="en-US" sz="4000" b="1" dirty="0">
              <a:solidFill>
                <a:srgbClr val="FFFF00"/>
              </a:solidFill>
              <a:latin typeface="Arial"/>
              <a:cs typeface="Arial"/>
            </a:endParaRPr>
          </a:p>
        </p:txBody>
      </p:sp>
      <p:sp>
        <p:nvSpPr>
          <p:cNvPr id="4" name="TextBox 3">
            <a:extLst>
              <a:ext uri="{FF2B5EF4-FFF2-40B4-BE49-F238E27FC236}">
                <a16:creationId xmlns:a16="http://schemas.microsoft.com/office/drawing/2014/main" id="{BA9C6806-92D9-4A7C-96A9-A24B6D519411}"/>
              </a:ext>
            </a:extLst>
          </p:cNvPr>
          <p:cNvSpPr txBox="1"/>
          <p:nvPr/>
        </p:nvSpPr>
        <p:spPr>
          <a:xfrm>
            <a:off x="381000" y="1752600"/>
            <a:ext cx="6934200" cy="3469796"/>
          </a:xfrm>
          <a:prstGeom prst="rect">
            <a:avLst/>
          </a:prstGeom>
          <a:noFill/>
        </p:spPr>
        <p:txBody>
          <a:bodyPr wrap="square">
            <a:spAutoFit/>
          </a:bodyPr>
          <a:lstStyle/>
          <a:p>
            <a:pPr marL="25400" algn="just">
              <a:lnSpc>
                <a:spcPct val="100000"/>
              </a:lnSpc>
              <a:spcBef>
                <a:spcPts val="95"/>
              </a:spcBef>
            </a:pPr>
            <a:r>
              <a:rPr lang="vi-VN" dirty="0">
                <a:solidFill>
                  <a:srgbClr val="3333B2"/>
                </a:solidFill>
                <a:latin typeface="Arial"/>
                <a:cs typeface="Arial"/>
              </a:rPr>
              <a:t>Bốn</a:t>
            </a:r>
            <a:r>
              <a:rPr lang="vi-VN" spc="-15" dirty="0">
                <a:solidFill>
                  <a:srgbClr val="3333B2"/>
                </a:solidFill>
                <a:latin typeface="Arial"/>
                <a:cs typeface="Arial"/>
              </a:rPr>
              <a:t> </a:t>
            </a:r>
            <a:r>
              <a:rPr lang="vi-VN" dirty="0">
                <a:solidFill>
                  <a:srgbClr val="3333B2"/>
                </a:solidFill>
                <a:latin typeface="Arial"/>
                <a:cs typeface="Arial"/>
              </a:rPr>
              <a:t>loại</a:t>
            </a:r>
            <a:r>
              <a:rPr lang="vi-VN" spc="-15" dirty="0">
                <a:solidFill>
                  <a:srgbClr val="3333B2"/>
                </a:solidFill>
                <a:latin typeface="Arial"/>
                <a:cs typeface="Arial"/>
              </a:rPr>
              <a:t> </a:t>
            </a:r>
            <a:r>
              <a:rPr lang="vi-VN" spc="-10" dirty="0">
                <a:solidFill>
                  <a:srgbClr val="3333B2"/>
                </a:solidFill>
                <a:latin typeface="Arial"/>
                <a:cs typeface="Arial"/>
              </a:rPr>
              <a:t>giao diện</a:t>
            </a:r>
            <a:r>
              <a:rPr lang="en-US" spc="-10" dirty="0">
                <a:solidFill>
                  <a:srgbClr val="3333B2"/>
                </a:solidFill>
                <a:latin typeface="Arial"/>
                <a:cs typeface="Arial"/>
              </a:rPr>
              <a:t> </a:t>
            </a:r>
            <a:r>
              <a:rPr lang="en-US" dirty="0">
                <a:solidFill>
                  <a:srgbClr val="3333B2"/>
                </a:solidFill>
                <a:latin typeface="Arial"/>
                <a:cs typeface="Arial"/>
              </a:rPr>
              <a:t>t</a:t>
            </a:r>
            <a:r>
              <a:rPr lang="vi-VN" dirty="0">
                <a:solidFill>
                  <a:srgbClr val="3333B2"/>
                </a:solidFill>
                <a:latin typeface="Arial"/>
                <a:cs typeface="Arial"/>
              </a:rPr>
              <a:t>ại</a:t>
            </a:r>
            <a:r>
              <a:rPr lang="vi-VN" spc="-15" dirty="0">
                <a:solidFill>
                  <a:srgbClr val="3333B2"/>
                </a:solidFill>
                <a:latin typeface="Arial"/>
                <a:cs typeface="Arial"/>
              </a:rPr>
              <a:t> </a:t>
            </a:r>
            <a:r>
              <a:rPr lang="vi-VN" dirty="0">
                <a:solidFill>
                  <a:srgbClr val="3333B2"/>
                </a:solidFill>
                <a:latin typeface="Arial"/>
                <a:cs typeface="Arial"/>
              </a:rPr>
              <a:t>ba </a:t>
            </a:r>
            <a:r>
              <a:rPr lang="vi-VN" spc="-10" dirty="0">
                <a:solidFill>
                  <a:srgbClr val="3333B2"/>
                </a:solidFill>
                <a:latin typeface="Arial"/>
                <a:cs typeface="Arial"/>
              </a:rPr>
              <a:t>mức độ</a:t>
            </a:r>
            <a:r>
              <a:rPr lang="en-US" spc="-10" dirty="0">
                <a:solidFill>
                  <a:srgbClr val="3333B2"/>
                </a:solidFill>
                <a:latin typeface="Arial"/>
                <a:cs typeface="Arial"/>
              </a:rPr>
              <a:t> </a:t>
            </a:r>
            <a:r>
              <a:rPr lang="vi-VN" spc="-10" dirty="0">
                <a:solidFill>
                  <a:srgbClr val="3333B2"/>
                </a:solidFill>
                <a:latin typeface="Arial"/>
                <a:cs typeface="Arial"/>
              </a:rPr>
              <a:t>khác nhau</a:t>
            </a:r>
            <a:r>
              <a:rPr lang="en-US" spc="-15" dirty="0">
                <a:solidFill>
                  <a:srgbClr val="3333B2"/>
                </a:solidFill>
                <a:latin typeface="Arial"/>
                <a:cs typeface="Arial"/>
              </a:rPr>
              <a:t>:</a:t>
            </a:r>
          </a:p>
          <a:p>
            <a:pPr marL="25400" algn="just">
              <a:lnSpc>
                <a:spcPct val="100000"/>
              </a:lnSpc>
              <a:spcBef>
                <a:spcPts val="95"/>
              </a:spcBef>
            </a:pPr>
            <a:endParaRPr lang="vi-VN" dirty="0">
              <a:latin typeface="Arial"/>
              <a:cs typeface="Arial"/>
            </a:endParaRPr>
          </a:p>
          <a:p>
            <a:pPr marL="278130" marR="232410" indent="-158750" algn="just">
              <a:lnSpc>
                <a:spcPct val="111600"/>
              </a:lnSpc>
              <a:spcBef>
                <a:spcPts val="575"/>
              </a:spcBef>
              <a:buClr>
                <a:srgbClr val="3333B2"/>
              </a:buClr>
              <a:buAutoNum type="arabicPeriod"/>
              <a:tabLst>
                <a:tab pos="278765" algn="l"/>
              </a:tabLst>
            </a:pPr>
            <a:r>
              <a:rPr lang="en-US" dirty="0">
                <a:solidFill>
                  <a:srgbClr val="C80000"/>
                </a:solidFill>
                <a:latin typeface="Arial"/>
                <a:cs typeface="Arial"/>
              </a:rPr>
              <a:t> K</a:t>
            </a:r>
            <a:r>
              <a:rPr lang="vi-VN" dirty="0">
                <a:solidFill>
                  <a:srgbClr val="C80000"/>
                </a:solidFill>
                <a:latin typeface="Arial"/>
                <a:cs typeface="Arial"/>
              </a:rPr>
              <a:t>iến trúc </a:t>
            </a:r>
            <a:r>
              <a:rPr lang="en-US" dirty="0" err="1">
                <a:solidFill>
                  <a:srgbClr val="C80000"/>
                </a:solidFill>
                <a:latin typeface="Arial"/>
                <a:cs typeface="Arial"/>
              </a:rPr>
              <a:t>bộ</a:t>
            </a:r>
            <a:r>
              <a:rPr lang="en-US" dirty="0">
                <a:solidFill>
                  <a:srgbClr val="C80000"/>
                </a:solidFill>
                <a:latin typeface="Arial"/>
                <a:cs typeface="Arial"/>
              </a:rPr>
              <a:t> </a:t>
            </a:r>
            <a:r>
              <a:rPr lang="en-US" dirty="0" err="1">
                <a:solidFill>
                  <a:srgbClr val="C80000"/>
                </a:solidFill>
                <a:latin typeface="Arial"/>
                <a:cs typeface="Arial"/>
              </a:rPr>
              <a:t>chỉ</a:t>
            </a:r>
            <a:r>
              <a:rPr lang="en-US" dirty="0">
                <a:solidFill>
                  <a:srgbClr val="C80000"/>
                </a:solidFill>
                <a:latin typeface="Arial"/>
                <a:cs typeface="Arial"/>
              </a:rPr>
              <a:t> </a:t>
            </a:r>
            <a:r>
              <a:rPr lang="en-US" dirty="0" err="1">
                <a:solidFill>
                  <a:srgbClr val="C80000"/>
                </a:solidFill>
                <a:latin typeface="Arial"/>
                <a:cs typeface="Arial"/>
              </a:rPr>
              <a:t>thị</a:t>
            </a:r>
            <a:r>
              <a:rPr lang="vi-VN" dirty="0">
                <a:latin typeface="Arial"/>
                <a:cs typeface="Arial"/>
              </a:rPr>
              <a:t>:</a:t>
            </a:r>
            <a:r>
              <a:rPr lang="vi-VN" spc="20" dirty="0">
                <a:latin typeface="Arial"/>
                <a:cs typeface="Arial"/>
              </a:rPr>
              <a:t> </a:t>
            </a:r>
            <a:r>
              <a:rPr lang="en-US" dirty="0" err="1">
                <a:latin typeface="Arial"/>
                <a:cs typeface="Arial"/>
              </a:rPr>
              <a:t>hệ</a:t>
            </a:r>
            <a:r>
              <a:rPr lang="en-US" dirty="0">
                <a:latin typeface="Arial"/>
                <a:cs typeface="Arial"/>
              </a:rPr>
              <a:t> </a:t>
            </a:r>
            <a:r>
              <a:rPr lang="en-US" dirty="0" err="1">
                <a:latin typeface="Arial"/>
                <a:cs typeface="Arial"/>
              </a:rPr>
              <a:t>thống</a:t>
            </a:r>
            <a:r>
              <a:rPr lang="en-US" dirty="0">
                <a:latin typeface="Arial"/>
                <a:cs typeface="Arial"/>
              </a:rPr>
              <a:t> </a:t>
            </a:r>
            <a:r>
              <a:rPr lang="vi-VN" dirty="0">
                <a:latin typeface="Arial"/>
                <a:cs typeface="Arial"/>
              </a:rPr>
              <a:t>của</a:t>
            </a:r>
            <a:r>
              <a:rPr lang="vi-VN" spc="-30" dirty="0">
                <a:latin typeface="Arial"/>
                <a:cs typeface="Arial"/>
              </a:rPr>
              <a:t> </a:t>
            </a:r>
            <a:r>
              <a:rPr lang="vi-VN" dirty="0">
                <a:latin typeface="Arial"/>
                <a:cs typeface="Arial"/>
              </a:rPr>
              <a:t>máy </a:t>
            </a:r>
            <a:r>
              <a:rPr lang="en-US" dirty="0" err="1">
                <a:latin typeface="Arial"/>
                <a:cs typeface="Arial"/>
              </a:rPr>
              <a:t>chỉ</a:t>
            </a:r>
            <a:r>
              <a:rPr lang="en-US" dirty="0">
                <a:latin typeface="Arial"/>
                <a:cs typeface="Arial"/>
              </a:rPr>
              <a:t> </a:t>
            </a:r>
            <a:r>
              <a:rPr lang="en-US" dirty="0" err="1">
                <a:latin typeface="Arial"/>
                <a:cs typeface="Arial"/>
              </a:rPr>
              <a:t>thị</a:t>
            </a:r>
            <a:r>
              <a:rPr lang="vi-VN" dirty="0">
                <a:latin typeface="Arial"/>
                <a:cs typeface="Arial"/>
              </a:rPr>
              <a:t>,</a:t>
            </a:r>
            <a:r>
              <a:rPr lang="vi-VN" spc="-30" dirty="0">
                <a:latin typeface="Arial"/>
                <a:cs typeface="Arial"/>
              </a:rPr>
              <a:t> </a:t>
            </a:r>
            <a:r>
              <a:rPr lang="vi-VN" dirty="0">
                <a:latin typeface="Arial"/>
                <a:cs typeface="Arial"/>
              </a:rPr>
              <a:t>với</a:t>
            </a:r>
            <a:r>
              <a:rPr lang="vi-VN" spc="-30" dirty="0">
                <a:latin typeface="Arial"/>
                <a:cs typeface="Arial"/>
              </a:rPr>
              <a:t> </a:t>
            </a:r>
            <a:r>
              <a:rPr lang="vi-VN" spc="-25" dirty="0">
                <a:latin typeface="Arial"/>
                <a:cs typeface="Arial"/>
              </a:rPr>
              <a:t>hai </a:t>
            </a:r>
            <a:r>
              <a:rPr lang="vi-VN" spc="-10" dirty="0">
                <a:latin typeface="Arial"/>
                <a:cs typeface="Arial"/>
              </a:rPr>
              <a:t>tập hợp con:</a:t>
            </a:r>
            <a:endParaRPr lang="vi-VN" dirty="0">
              <a:latin typeface="Arial"/>
              <a:cs typeface="Arial"/>
            </a:endParaRPr>
          </a:p>
          <a:p>
            <a:pPr marL="531495" marR="17780" lvl="1" indent="-120650" algn="just">
              <a:lnSpc>
                <a:spcPct val="111600"/>
              </a:lnSpc>
              <a:spcBef>
                <a:spcPts val="200"/>
              </a:spcBef>
              <a:buClr>
                <a:srgbClr val="3333B2"/>
              </a:buClr>
              <a:buFont typeface="Menlo"/>
              <a:buChar char="•"/>
              <a:tabLst>
                <a:tab pos="532130" algn="l"/>
              </a:tabLst>
            </a:pPr>
            <a:r>
              <a:rPr lang="en-US" spc="-10" dirty="0" err="1">
                <a:latin typeface="Arial"/>
                <a:cs typeface="Arial"/>
              </a:rPr>
              <a:t>Chỉ</a:t>
            </a:r>
            <a:r>
              <a:rPr lang="en-US" spc="-10" dirty="0">
                <a:latin typeface="Arial"/>
                <a:cs typeface="Arial"/>
              </a:rPr>
              <a:t> </a:t>
            </a:r>
            <a:r>
              <a:rPr lang="en-US" spc="-10" dirty="0" err="1">
                <a:latin typeface="Arial"/>
                <a:cs typeface="Arial"/>
              </a:rPr>
              <a:t>thị</a:t>
            </a:r>
            <a:r>
              <a:rPr lang="en-US" spc="-10" dirty="0">
                <a:latin typeface="Arial"/>
                <a:cs typeface="Arial"/>
              </a:rPr>
              <a:t> đ</a:t>
            </a:r>
            <a:r>
              <a:rPr lang="vi-VN" spc="-10" dirty="0">
                <a:latin typeface="Arial"/>
                <a:cs typeface="Arial"/>
              </a:rPr>
              <a:t>ặc quyền</a:t>
            </a:r>
            <a:r>
              <a:rPr lang="vi-VN" dirty="0">
                <a:latin typeface="Arial"/>
                <a:cs typeface="Arial"/>
              </a:rPr>
              <a:t>:</a:t>
            </a:r>
            <a:r>
              <a:rPr lang="vi-VN" spc="30" dirty="0">
                <a:latin typeface="Arial"/>
                <a:cs typeface="Arial"/>
              </a:rPr>
              <a:t> </a:t>
            </a:r>
            <a:r>
              <a:rPr lang="vi-VN" spc="-10" dirty="0">
                <a:latin typeface="Arial"/>
                <a:cs typeface="Arial"/>
              </a:rPr>
              <a:t>cho phép</a:t>
            </a:r>
            <a:r>
              <a:rPr lang="vi-VN" spc="-25" dirty="0">
                <a:latin typeface="Arial"/>
                <a:cs typeface="Arial"/>
              </a:rPr>
              <a:t> </a:t>
            </a:r>
            <a:r>
              <a:rPr lang="en-US" dirty="0" err="1">
                <a:latin typeface="Arial"/>
                <a:cs typeface="Arial"/>
              </a:rPr>
              <a:t>khởi</a:t>
            </a:r>
            <a:r>
              <a:rPr lang="en-US" dirty="0">
                <a:latin typeface="Arial"/>
                <a:cs typeface="Arial"/>
              </a:rPr>
              <a:t> </a:t>
            </a:r>
            <a:r>
              <a:rPr lang="en-US" dirty="0" err="1">
                <a:latin typeface="Arial"/>
                <a:cs typeface="Arial"/>
              </a:rPr>
              <a:t>chạy</a:t>
            </a:r>
            <a:r>
              <a:rPr lang="en-US" dirty="0">
                <a:latin typeface="Arial"/>
                <a:cs typeface="Arial"/>
              </a:rPr>
              <a:t> </a:t>
            </a:r>
            <a:r>
              <a:rPr lang="vi-VN" dirty="0">
                <a:latin typeface="Arial"/>
                <a:cs typeface="Arial"/>
              </a:rPr>
              <a:t>chỉ</a:t>
            </a:r>
            <a:r>
              <a:rPr lang="en-US" dirty="0">
                <a:latin typeface="Arial"/>
                <a:cs typeface="Arial"/>
              </a:rPr>
              <a:t> </a:t>
            </a:r>
            <a:r>
              <a:rPr lang="en-US" dirty="0" err="1">
                <a:latin typeface="Arial"/>
                <a:cs typeface="Arial"/>
              </a:rPr>
              <a:t>bởi</a:t>
            </a:r>
            <a:r>
              <a:rPr lang="en-US" dirty="0">
                <a:latin typeface="Arial"/>
                <a:cs typeface="Arial"/>
              </a:rPr>
              <a:t> </a:t>
            </a:r>
            <a:r>
              <a:rPr lang="vi-VN" spc="-10" dirty="0">
                <a:latin typeface="Arial"/>
                <a:cs typeface="Arial"/>
              </a:rPr>
              <a:t>hệ điều hành.</a:t>
            </a:r>
            <a:endParaRPr lang="vi-VN" dirty="0">
              <a:latin typeface="Arial"/>
              <a:cs typeface="Arial"/>
            </a:endParaRPr>
          </a:p>
          <a:p>
            <a:pPr marL="531495" lvl="1" indent="-121285" algn="just">
              <a:lnSpc>
                <a:spcPct val="100000"/>
              </a:lnSpc>
              <a:spcBef>
                <a:spcPts val="125"/>
              </a:spcBef>
              <a:buClr>
                <a:srgbClr val="3333B2"/>
              </a:buClr>
              <a:buFont typeface="Menlo"/>
              <a:buChar char="•"/>
              <a:tabLst>
                <a:tab pos="532130" algn="l"/>
              </a:tabLst>
            </a:pPr>
            <a:r>
              <a:rPr lang="en-US" dirty="0" err="1">
                <a:latin typeface="Arial"/>
                <a:cs typeface="Arial"/>
              </a:rPr>
              <a:t>Chỉ</a:t>
            </a:r>
            <a:r>
              <a:rPr lang="en-US" dirty="0">
                <a:latin typeface="Arial"/>
                <a:cs typeface="Arial"/>
              </a:rPr>
              <a:t> </a:t>
            </a:r>
            <a:r>
              <a:rPr lang="en-US" dirty="0" err="1">
                <a:latin typeface="Arial"/>
                <a:cs typeface="Arial"/>
              </a:rPr>
              <a:t>thị</a:t>
            </a:r>
            <a:r>
              <a:rPr lang="en-US" dirty="0">
                <a:latin typeface="Arial"/>
                <a:cs typeface="Arial"/>
              </a:rPr>
              <a:t> </a:t>
            </a:r>
            <a:r>
              <a:rPr lang="en-US" dirty="0" err="1">
                <a:latin typeface="Arial"/>
                <a:cs typeface="Arial"/>
              </a:rPr>
              <a:t>chung</a:t>
            </a:r>
            <a:r>
              <a:rPr lang="vi-VN" dirty="0">
                <a:latin typeface="Arial"/>
                <a:cs typeface="Arial"/>
              </a:rPr>
              <a:t>:</a:t>
            </a:r>
            <a:r>
              <a:rPr lang="vi-VN" spc="20" dirty="0">
                <a:latin typeface="Arial"/>
                <a:cs typeface="Arial"/>
              </a:rPr>
              <a:t> </a:t>
            </a:r>
            <a:r>
              <a:rPr lang="vi-VN" dirty="0">
                <a:latin typeface="Arial"/>
                <a:cs typeface="Arial"/>
              </a:rPr>
              <a:t>Có thể</a:t>
            </a:r>
            <a:r>
              <a:rPr lang="vi-VN" spc="-30" dirty="0">
                <a:latin typeface="Arial"/>
                <a:cs typeface="Arial"/>
              </a:rPr>
              <a:t> </a:t>
            </a:r>
            <a:r>
              <a:rPr lang="vi-VN" spc="-10" dirty="0">
                <a:latin typeface="Arial"/>
                <a:cs typeface="Arial"/>
              </a:rPr>
              <a:t>thực hiện</a:t>
            </a:r>
            <a:r>
              <a:rPr lang="vi-VN" spc="-30" dirty="0">
                <a:latin typeface="Arial"/>
                <a:cs typeface="Arial"/>
              </a:rPr>
              <a:t> </a:t>
            </a:r>
            <a:r>
              <a:rPr lang="en-US" dirty="0" err="1">
                <a:latin typeface="Arial"/>
                <a:cs typeface="Arial"/>
              </a:rPr>
              <a:t>bởi</a:t>
            </a:r>
            <a:r>
              <a:rPr lang="vi-VN" spc="-30" dirty="0">
                <a:latin typeface="Arial"/>
                <a:cs typeface="Arial"/>
              </a:rPr>
              <a:t> </a:t>
            </a:r>
            <a:r>
              <a:rPr lang="vi-VN" dirty="0">
                <a:latin typeface="Arial"/>
                <a:cs typeface="Arial"/>
              </a:rPr>
              <a:t>bất kì</a:t>
            </a:r>
            <a:r>
              <a:rPr lang="vi-VN" spc="-30" dirty="0">
                <a:latin typeface="Arial"/>
                <a:cs typeface="Arial"/>
              </a:rPr>
              <a:t> </a:t>
            </a:r>
            <a:r>
              <a:rPr lang="vi-VN" spc="-10" dirty="0">
                <a:latin typeface="Arial"/>
                <a:cs typeface="Arial"/>
              </a:rPr>
              <a:t>chương trình</a:t>
            </a:r>
            <a:r>
              <a:rPr lang="en-US" spc="-10" dirty="0">
                <a:latin typeface="Arial"/>
                <a:cs typeface="Arial"/>
              </a:rPr>
              <a:t> </a:t>
            </a:r>
            <a:r>
              <a:rPr lang="en-US" spc="-10" dirty="0" err="1">
                <a:latin typeface="Arial"/>
                <a:cs typeface="Arial"/>
              </a:rPr>
              <a:t>nào</a:t>
            </a:r>
            <a:r>
              <a:rPr lang="vi-VN" spc="-10" dirty="0">
                <a:latin typeface="Arial"/>
                <a:cs typeface="Arial"/>
              </a:rPr>
              <a:t>.</a:t>
            </a:r>
            <a:endParaRPr lang="en-US" spc="-10" dirty="0">
              <a:latin typeface="Arial"/>
              <a:cs typeface="Arial"/>
            </a:endParaRPr>
          </a:p>
          <a:p>
            <a:pPr marL="531495" lvl="1" indent="-121285" algn="just">
              <a:lnSpc>
                <a:spcPct val="100000"/>
              </a:lnSpc>
              <a:spcBef>
                <a:spcPts val="125"/>
              </a:spcBef>
              <a:buClr>
                <a:srgbClr val="3333B2"/>
              </a:buClr>
              <a:buFont typeface="Menlo"/>
              <a:buChar char="•"/>
              <a:tabLst>
                <a:tab pos="532130" algn="l"/>
              </a:tabLst>
            </a:pPr>
            <a:endParaRPr lang="vi-VN" dirty="0">
              <a:latin typeface="Arial"/>
              <a:cs typeface="Arial"/>
            </a:endParaRPr>
          </a:p>
          <a:p>
            <a:pPr marL="278130" indent="-158750" algn="just">
              <a:lnSpc>
                <a:spcPct val="100000"/>
              </a:lnSpc>
              <a:spcBef>
                <a:spcPts val="325"/>
              </a:spcBef>
              <a:buClr>
                <a:srgbClr val="3333B2"/>
              </a:buClr>
              <a:buAutoNum type="arabicPeriod"/>
              <a:tabLst>
                <a:tab pos="278765" algn="l"/>
              </a:tabLst>
            </a:pPr>
            <a:r>
              <a:rPr lang="en-US" dirty="0">
                <a:solidFill>
                  <a:srgbClr val="C80000"/>
                </a:solidFill>
                <a:latin typeface="Arial"/>
                <a:cs typeface="Arial"/>
              </a:rPr>
              <a:t> </a:t>
            </a:r>
            <a:r>
              <a:rPr lang="en-US" dirty="0" err="1">
                <a:solidFill>
                  <a:srgbClr val="C80000"/>
                </a:solidFill>
                <a:latin typeface="Arial"/>
                <a:cs typeface="Arial"/>
              </a:rPr>
              <a:t>Lời</a:t>
            </a:r>
            <a:r>
              <a:rPr lang="en-US" dirty="0">
                <a:solidFill>
                  <a:srgbClr val="C80000"/>
                </a:solidFill>
                <a:latin typeface="Arial"/>
                <a:cs typeface="Arial"/>
              </a:rPr>
              <a:t> </a:t>
            </a:r>
            <a:r>
              <a:rPr lang="en-US" dirty="0" err="1">
                <a:solidFill>
                  <a:srgbClr val="C80000"/>
                </a:solidFill>
                <a:latin typeface="Arial"/>
                <a:cs typeface="Arial"/>
              </a:rPr>
              <a:t>gọi</a:t>
            </a:r>
            <a:r>
              <a:rPr lang="en-US" dirty="0">
                <a:solidFill>
                  <a:srgbClr val="C80000"/>
                </a:solidFill>
                <a:latin typeface="Arial"/>
                <a:cs typeface="Arial"/>
              </a:rPr>
              <a:t> h</a:t>
            </a:r>
            <a:r>
              <a:rPr lang="vi-VN" dirty="0">
                <a:solidFill>
                  <a:srgbClr val="C80000"/>
                </a:solidFill>
                <a:latin typeface="Arial"/>
                <a:cs typeface="Arial"/>
              </a:rPr>
              <a:t>ệ thống</a:t>
            </a:r>
            <a:r>
              <a:rPr lang="vi-VN" spc="-25" dirty="0">
                <a:solidFill>
                  <a:srgbClr val="C80000"/>
                </a:solidFill>
                <a:latin typeface="Arial"/>
                <a:cs typeface="Arial"/>
              </a:rPr>
              <a:t> </a:t>
            </a:r>
            <a:r>
              <a:rPr lang="en-US" dirty="0" err="1">
                <a:latin typeface="Arial"/>
                <a:cs typeface="Arial"/>
              </a:rPr>
              <a:t>cung</a:t>
            </a:r>
            <a:r>
              <a:rPr lang="en-US" dirty="0">
                <a:latin typeface="Arial"/>
                <a:cs typeface="Arial"/>
              </a:rPr>
              <a:t> </a:t>
            </a:r>
            <a:r>
              <a:rPr lang="en-US" dirty="0" err="1">
                <a:latin typeface="Arial"/>
                <a:cs typeface="Arial"/>
              </a:rPr>
              <a:t>cấp</a:t>
            </a:r>
            <a:r>
              <a:rPr lang="en-US" dirty="0">
                <a:latin typeface="Arial"/>
                <a:cs typeface="Arial"/>
              </a:rPr>
              <a:t> </a:t>
            </a:r>
            <a:r>
              <a:rPr lang="en-US" dirty="0" err="1">
                <a:latin typeface="Arial"/>
                <a:cs typeface="Arial"/>
              </a:rPr>
              <a:t>bởi</a:t>
            </a:r>
            <a:r>
              <a:rPr lang="en-US" dirty="0">
                <a:latin typeface="Arial"/>
                <a:cs typeface="Arial"/>
              </a:rPr>
              <a:t> </a:t>
            </a:r>
            <a:r>
              <a:rPr lang="en-US" dirty="0" err="1">
                <a:latin typeface="Arial"/>
                <a:cs typeface="Arial"/>
              </a:rPr>
              <a:t>một</a:t>
            </a:r>
            <a:r>
              <a:rPr lang="en-US" dirty="0">
                <a:latin typeface="Arial"/>
                <a:cs typeface="Arial"/>
              </a:rPr>
              <a:t> </a:t>
            </a:r>
            <a:r>
              <a:rPr lang="en-US" dirty="0" err="1">
                <a:latin typeface="Arial"/>
                <a:cs typeface="Arial"/>
              </a:rPr>
              <a:t>hệ</a:t>
            </a:r>
            <a:r>
              <a:rPr lang="en-US" dirty="0">
                <a:latin typeface="Arial"/>
                <a:cs typeface="Arial"/>
              </a:rPr>
              <a:t> </a:t>
            </a:r>
            <a:r>
              <a:rPr lang="en-US" dirty="0" err="1">
                <a:latin typeface="Arial"/>
                <a:cs typeface="Arial"/>
              </a:rPr>
              <a:t>điều</a:t>
            </a:r>
            <a:r>
              <a:rPr lang="en-US" dirty="0">
                <a:latin typeface="Arial"/>
                <a:cs typeface="Arial"/>
              </a:rPr>
              <a:t> </a:t>
            </a:r>
            <a:r>
              <a:rPr lang="en-US" dirty="0" err="1">
                <a:latin typeface="Arial"/>
                <a:cs typeface="Arial"/>
              </a:rPr>
              <a:t>hành</a:t>
            </a:r>
            <a:endParaRPr lang="en-US" dirty="0">
              <a:latin typeface="Arial"/>
              <a:cs typeface="Arial"/>
            </a:endParaRPr>
          </a:p>
          <a:p>
            <a:pPr marL="278130" indent="-158750" algn="just">
              <a:lnSpc>
                <a:spcPct val="100000"/>
              </a:lnSpc>
              <a:spcBef>
                <a:spcPts val="325"/>
              </a:spcBef>
              <a:buClr>
                <a:srgbClr val="3333B2"/>
              </a:buClr>
              <a:buAutoNum type="arabicPeriod"/>
              <a:tabLst>
                <a:tab pos="278765" algn="l"/>
              </a:tabLst>
            </a:pPr>
            <a:endParaRPr lang="vi-VN" dirty="0">
              <a:latin typeface="Arial"/>
              <a:cs typeface="Arial"/>
            </a:endParaRPr>
          </a:p>
          <a:p>
            <a:pPr marL="278130" indent="-158750" algn="just">
              <a:lnSpc>
                <a:spcPct val="100000"/>
              </a:lnSpc>
              <a:spcBef>
                <a:spcPts val="125"/>
              </a:spcBef>
              <a:buClr>
                <a:srgbClr val="3333B2"/>
              </a:buClr>
              <a:buAutoNum type="arabicPeriod"/>
              <a:tabLst>
                <a:tab pos="278765" algn="l"/>
              </a:tabLst>
            </a:pPr>
            <a:r>
              <a:rPr lang="en-US" dirty="0">
                <a:solidFill>
                  <a:srgbClr val="C80000"/>
                </a:solidFill>
                <a:latin typeface="Arial"/>
                <a:cs typeface="Arial"/>
              </a:rPr>
              <a:t> </a:t>
            </a:r>
            <a:r>
              <a:rPr lang="en-US" dirty="0" err="1">
                <a:solidFill>
                  <a:srgbClr val="C80000"/>
                </a:solidFill>
                <a:latin typeface="Arial"/>
                <a:cs typeface="Arial"/>
              </a:rPr>
              <a:t>Lời</a:t>
            </a:r>
            <a:r>
              <a:rPr lang="en-US" dirty="0">
                <a:solidFill>
                  <a:srgbClr val="C80000"/>
                </a:solidFill>
                <a:latin typeface="Arial"/>
                <a:cs typeface="Arial"/>
              </a:rPr>
              <a:t> </a:t>
            </a:r>
            <a:r>
              <a:rPr lang="en-US" dirty="0" err="1">
                <a:solidFill>
                  <a:srgbClr val="C80000"/>
                </a:solidFill>
                <a:latin typeface="Arial"/>
                <a:cs typeface="Arial"/>
              </a:rPr>
              <a:t>gọi</a:t>
            </a:r>
            <a:r>
              <a:rPr lang="en-US" dirty="0">
                <a:solidFill>
                  <a:srgbClr val="C80000"/>
                </a:solidFill>
                <a:latin typeface="Arial"/>
                <a:cs typeface="Arial"/>
              </a:rPr>
              <a:t> </a:t>
            </a:r>
            <a:r>
              <a:rPr lang="vi-VN" dirty="0">
                <a:solidFill>
                  <a:srgbClr val="C80000"/>
                </a:solidFill>
                <a:latin typeface="Arial"/>
                <a:cs typeface="Arial"/>
              </a:rPr>
              <a:t>Thư viện</a:t>
            </a:r>
            <a:r>
              <a:rPr lang="vi-VN" dirty="0">
                <a:latin typeface="Arial"/>
                <a:cs typeface="Arial"/>
              </a:rPr>
              <a:t>,</a:t>
            </a:r>
            <a:r>
              <a:rPr lang="vi-VN" spc="-15" dirty="0">
                <a:latin typeface="Arial"/>
                <a:cs typeface="Arial"/>
              </a:rPr>
              <a:t> </a:t>
            </a:r>
            <a:r>
              <a:rPr lang="vi-VN" dirty="0">
                <a:latin typeface="Arial"/>
                <a:cs typeface="Arial"/>
              </a:rPr>
              <a:t>được biết đến</a:t>
            </a:r>
            <a:r>
              <a:rPr lang="vi-VN" spc="-15" dirty="0">
                <a:latin typeface="Arial"/>
                <a:cs typeface="Arial"/>
              </a:rPr>
              <a:t> </a:t>
            </a:r>
            <a:r>
              <a:rPr lang="en-US" dirty="0" err="1">
                <a:latin typeface="Arial"/>
                <a:cs typeface="Arial"/>
              </a:rPr>
              <a:t>như</a:t>
            </a:r>
            <a:r>
              <a:rPr lang="en-US" dirty="0">
                <a:latin typeface="Arial"/>
                <a:cs typeface="Arial"/>
              </a:rPr>
              <a:t> </a:t>
            </a:r>
            <a:r>
              <a:rPr lang="en-US" dirty="0" err="1">
                <a:latin typeface="Arial"/>
                <a:cs typeface="Arial"/>
              </a:rPr>
              <a:t>một</a:t>
            </a:r>
            <a:r>
              <a:rPr lang="en-US" dirty="0">
                <a:latin typeface="Arial"/>
                <a:cs typeface="Arial"/>
              </a:rPr>
              <a:t> </a:t>
            </a:r>
            <a:r>
              <a:rPr lang="vi-VN" spc="-10" dirty="0">
                <a:solidFill>
                  <a:srgbClr val="C80000"/>
                </a:solidFill>
                <a:latin typeface="Arial"/>
                <a:cs typeface="Arial"/>
              </a:rPr>
              <a:t>giao diện </a:t>
            </a:r>
            <a:r>
              <a:rPr lang="en-US" spc="-10" dirty="0" err="1">
                <a:solidFill>
                  <a:srgbClr val="C80000"/>
                </a:solidFill>
                <a:latin typeface="Arial"/>
                <a:cs typeface="Arial"/>
              </a:rPr>
              <a:t>chương</a:t>
            </a:r>
            <a:r>
              <a:rPr lang="en-US" spc="-10" dirty="0">
                <a:solidFill>
                  <a:srgbClr val="C80000"/>
                </a:solidFill>
                <a:latin typeface="Arial"/>
                <a:cs typeface="Arial"/>
              </a:rPr>
              <a:t>    </a:t>
            </a:r>
            <a:r>
              <a:rPr lang="en-US" spc="-10" dirty="0" err="1">
                <a:solidFill>
                  <a:srgbClr val="C80000"/>
                </a:solidFill>
                <a:latin typeface="Arial"/>
                <a:cs typeface="Arial"/>
              </a:rPr>
              <a:t>trình</a:t>
            </a:r>
            <a:r>
              <a:rPr lang="en-US" spc="-10" dirty="0">
                <a:solidFill>
                  <a:srgbClr val="C80000"/>
                </a:solidFill>
                <a:latin typeface="Arial"/>
                <a:cs typeface="Arial"/>
              </a:rPr>
              <a:t> </a:t>
            </a:r>
            <a:r>
              <a:rPr lang="vi-VN" dirty="0">
                <a:solidFill>
                  <a:srgbClr val="C80000"/>
                </a:solidFill>
                <a:latin typeface="Arial"/>
                <a:cs typeface="Arial"/>
              </a:rPr>
              <a:t>ứng dụng</a:t>
            </a:r>
            <a:r>
              <a:rPr lang="vi-VN" spc="-15" dirty="0">
                <a:solidFill>
                  <a:srgbClr val="C80000"/>
                </a:solidFill>
                <a:latin typeface="Arial"/>
                <a:cs typeface="Arial"/>
              </a:rPr>
              <a:t> </a:t>
            </a:r>
            <a:r>
              <a:rPr lang="vi-VN" spc="-10" dirty="0">
                <a:latin typeface="Arial"/>
                <a:cs typeface="Arial"/>
              </a:rPr>
              <a:t>(API)</a:t>
            </a:r>
            <a:endParaRPr lang="vi-VN" dirty="0">
              <a:latin typeface="Arial"/>
              <a:cs typeface="Arial"/>
            </a:endParaRPr>
          </a:p>
        </p:txBody>
      </p:sp>
    </p:spTree>
    <p:extLst>
      <p:ext uri="{BB962C8B-B14F-4D97-AF65-F5344CB8AC3E}">
        <p14:creationId xmlns:p14="http://schemas.microsoft.com/office/powerpoint/2010/main" val="9308641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34CBCAB1-4EA7-438B-BE76-9EA817C87DB8}"/>
              </a:ext>
            </a:extLst>
          </p:cNvPr>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txBody>
          <a:bodyPr/>
          <a:lstStyle/>
          <a:p>
            <a:pPr marL="12700">
              <a:lnSpc>
                <a:spcPct val="100000"/>
              </a:lnSpc>
              <a:spcBef>
                <a:spcPts val="95"/>
              </a:spcBef>
            </a:pPr>
            <a:r>
              <a:rPr lang="en-US" sz="4000" b="1" spc="-20" dirty="0" err="1">
                <a:solidFill>
                  <a:srgbClr val="FFFF00"/>
                </a:solidFill>
                <a:latin typeface="Arial"/>
                <a:cs typeface="Arial"/>
              </a:rPr>
              <a:t>Cách</a:t>
            </a:r>
            <a:r>
              <a:rPr lang="en-US" sz="4000" b="1" spc="-20" dirty="0">
                <a:solidFill>
                  <a:srgbClr val="FFFF00"/>
                </a:solidFill>
                <a:latin typeface="Arial"/>
                <a:cs typeface="Arial"/>
              </a:rPr>
              <a:t> </a:t>
            </a:r>
            <a:r>
              <a:rPr lang="en-US" sz="4000" b="1" spc="-20" dirty="0" err="1">
                <a:solidFill>
                  <a:srgbClr val="FFFF00"/>
                </a:solidFill>
                <a:latin typeface="Arial"/>
                <a:cs typeface="Arial"/>
              </a:rPr>
              <a:t>thức</a:t>
            </a:r>
            <a:r>
              <a:rPr lang="en-US" sz="4000" b="1" spc="-30" dirty="0">
                <a:solidFill>
                  <a:srgbClr val="FFFF00"/>
                </a:solidFill>
                <a:latin typeface="Arial"/>
                <a:cs typeface="Arial"/>
              </a:rPr>
              <a:t> </a:t>
            </a:r>
            <a:r>
              <a:rPr lang="en-US" sz="4000" b="1" spc="-10" dirty="0" err="1">
                <a:solidFill>
                  <a:srgbClr val="FFFF00"/>
                </a:solidFill>
                <a:latin typeface="Arial"/>
                <a:cs typeface="Arial"/>
              </a:rPr>
              <a:t>ảo</a:t>
            </a:r>
            <a:r>
              <a:rPr lang="en-US" sz="4000" b="1" spc="-10" dirty="0">
                <a:solidFill>
                  <a:srgbClr val="FFFF00"/>
                </a:solidFill>
                <a:latin typeface="Arial"/>
                <a:cs typeface="Arial"/>
              </a:rPr>
              <a:t> </a:t>
            </a:r>
            <a:r>
              <a:rPr lang="en-US" sz="4000" b="1" spc="-10" dirty="0" err="1">
                <a:solidFill>
                  <a:srgbClr val="FFFF00"/>
                </a:solidFill>
                <a:latin typeface="Arial"/>
                <a:cs typeface="Arial"/>
              </a:rPr>
              <a:t>hóa</a:t>
            </a:r>
            <a:endParaRPr lang="en-US" sz="4000" b="1" dirty="0">
              <a:solidFill>
                <a:srgbClr val="FFFF00"/>
              </a:solidFill>
              <a:latin typeface="Arial"/>
              <a:cs typeface="Arial"/>
            </a:endParaRPr>
          </a:p>
        </p:txBody>
      </p:sp>
      <p:pic>
        <p:nvPicPr>
          <p:cNvPr id="3" name="object 6">
            <a:extLst>
              <a:ext uri="{FF2B5EF4-FFF2-40B4-BE49-F238E27FC236}">
                <a16:creationId xmlns:a16="http://schemas.microsoft.com/office/drawing/2014/main" id="{CA546B04-125F-4BD3-93D6-A5AD176DB0AD}"/>
              </a:ext>
            </a:extLst>
          </p:cNvPr>
          <p:cNvPicPr/>
          <p:nvPr/>
        </p:nvPicPr>
        <p:blipFill>
          <a:blip r:embed="rId3" cstate="print"/>
          <a:stretch>
            <a:fillRect/>
          </a:stretch>
        </p:blipFill>
        <p:spPr>
          <a:xfrm>
            <a:off x="419393" y="1499239"/>
            <a:ext cx="2757350" cy="1947569"/>
          </a:xfrm>
          <a:prstGeom prst="rect">
            <a:avLst/>
          </a:prstGeom>
        </p:spPr>
      </p:pic>
      <p:pic>
        <p:nvPicPr>
          <p:cNvPr id="4" name="object 7">
            <a:extLst>
              <a:ext uri="{FF2B5EF4-FFF2-40B4-BE49-F238E27FC236}">
                <a16:creationId xmlns:a16="http://schemas.microsoft.com/office/drawing/2014/main" id="{DDAE3583-87CB-47E5-AE0B-A5A142A7F125}"/>
              </a:ext>
            </a:extLst>
          </p:cNvPr>
          <p:cNvPicPr/>
          <p:nvPr/>
        </p:nvPicPr>
        <p:blipFill>
          <a:blip r:embed="rId4" cstate="print"/>
          <a:stretch>
            <a:fillRect/>
          </a:stretch>
        </p:blipFill>
        <p:spPr>
          <a:xfrm>
            <a:off x="3596136" y="1490530"/>
            <a:ext cx="2757350" cy="1947569"/>
          </a:xfrm>
          <a:prstGeom prst="rect">
            <a:avLst/>
          </a:prstGeom>
        </p:spPr>
      </p:pic>
      <p:pic>
        <p:nvPicPr>
          <p:cNvPr id="5" name="object 8">
            <a:extLst>
              <a:ext uri="{FF2B5EF4-FFF2-40B4-BE49-F238E27FC236}">
                <a16:creationId xmlns:a16="http://schemas.microsoft.com/office/drawing/2014/main" id="{66616AAB-3E81-439D-B105-A596BC0145A7}"/>
              </a:ext>
            </a:extLst>
          </p:cNvPr>
          <p:cNvPicPr/>
          <p:nvPr/>
        </p:nvPicPr>
        <p:blipFill>
          <a:blip r:embed="rId5" cstate="print"/>
          <a:stretch>
            <a:fillRect/>
          </a:stretch>
        </p:blipFill>
        <p:spPr>
          <a:xfrm>
            <a:off x="6790296" y="1230817"/>
            <a:ext cx="2673141" cy="2215991"/>
          </a:xfrm>
          <a:prstGeom prst="rect">
            <a:avLst/>
          </a:prstGeom>
        </p:spPr>
      </p:pic>
      <p:sp>
        <p:nvSpPr>
          <p:cNvPr id="6" name="TextBox 5">
            <a:extLst>
              <a:ext uri="{FF2B5EF4-FFF2-40B4-BE49-F238E27FC236}">
                <a16:creationId xmlns:a16="http://schemas.microsoft.com/office/drawing/2014/main" id="{5435E269-4160-4D69-9985-24097A7E2E66}"/>
              </a:ext>
            </a:extLst>
          </p:cNvPr>
          <p:cNvSpPr txBox="1"/>
          <p:nvPr/>
        </p:nvSpPr>
        <p:spPr>
          <a:xfrm>
            <a:off x="322430" y="3655033"/>
            <a:ext cx="9108740" cy="2782813"/>
          </a:xfrm>
          <a:prstGeom prst="rect">
            <a:avLst/>
          </a:prstGeom>
          <a:noFill/>
        </p:spPr>
        <p:txBody>
          <a:bodyPr wrap="square" rtlCol="0">
            <a:spAutoFit/>
          </a:bodyPr>
          <a:lstStyle/>
          <a:p>
            <a:pPr marL="616585" indent="-342900">
              <a:lnSpc>
                <a:spcPct val="100000"/>
              </a:lnSpc>
              <a:spcBef>
                <a:spcPts val="95"/>
              </a:spcBef>
              <a:buAutoNum type="alphaLcParenBoth"/>
              <a:tabLst>
                <a:tab pos="1562100" algn="l"/>
                <a:tab pos="2835275" algn="l"/>
              </a:tabLst>
            </a:pPr>
            <a:r>
              <a:rPr lang="en-US" sz="1800" dirty="0">
                <a:solidFill>
                  <a:srgbClr val="3333B2"/>
                </a:solidFill>
                <a:latin typeface="Arial"/>
                <a:cs typeface="Arial"/>
              </a:rPr>
              <a:t>Process </a:t>
            </a:r>
            <a:r>
              <a:rPr lang="vi-VN" sz="1800" spc="-25" dirty="0">
                <a:solidFill>
                  <a:srgbClr val="3333B2"/>
                </a:solidFill>
                <a:latin typeface="Arial"/>
                <a:cs typeface="Arial"/>
              </a:rPr>
              <a:t>VM </a:t>
            </a:r>
            <a:r>
              <a:rPr lang="en-US" sz="1800" spc="-25" dirty="0">
                <a:solidFill>
                  <a:srgbClr val="3333B2"/>
                </a:solidFill>
                <a:latin typeface="Arial"/>
                <a:cs typeface="Arial"/>
              </a:rPr>
              <a:t>                    </a:t>
            </a:r>
            <a:r>
              <a:rPr lang="vi-VN" sz="1800" dirty="0">
                <a:solidFill>
                  <a:srgbClr val="3333B2"/>
                </a:solidFill>
                <a:latin typeface="Arial"/>
                <a:cs typeface="Arial"/>
              </a:rPr>
              <a:t>(b)</a:t>
            </a:r>
            <a:r>
              <a:rPr lang="vi-VN" sz="1800" spc="-40" dirty="0">
                <a:solidFill>
                  <a:srgbClr val="3333B2"/>
                </a:solidFill>
                <a:latin typeface="Arial"/>
                <a:cs typeface="Arial"/>
              </a:rPr>
              <a:t> </a:t>
            </a:r>
            <a:r>
              <a:rPr lang="en-US" sz="1800" dirty="0">
                <a:solidFill>
                  <a:srgbClr val="3333B2"/>
                </a:solidFill>
                <a:latin typeface="Arial"/>
                <a:cs typeface="Arial"/>
              </a:rPr>
              <a:t>Native </a:t>
            </a:r>
            <a:r>
              <a:rPr lang="vi-VN" sz="1800" spc="-25" dirty="0">
                <a:solidFill>
                  <a:srgbClr val="3333B2"/>
                </a:solidFill>
                <a:latin typeface="Arial"/>
                <a:cs typeface="Arial"/>
              </a:rPr>
              <a:t>VMM </a:t>
            </a:r>
            <a:r>
              <a:rPr lang="en-US" sz="1800" spc="-25" dirty="0">
                <a:solidFill>
                  <a:srgbClr val="3333B2"/>
                </a:solidFill>
                <a:latin typeface="Arial"/>
                <a:cs typeface="Arial"/>
              </a:rPr>
              <a:t>                               </a:t>
            </a:r>
            <a:r>
              <a:rPr lang="vi-VN" sz="1800" dirty="0">
                <a:solidFill>
                  <a:srgbClr val="3333B2"/>
                </a:solidFill>
                <a:latin typeface="Arial"/>
                <a:cs typeface="Arial"/>
              </a:rPr>
              <a:t>(c)</a:t>
            </a:r>
            <a:r>
              <a:rPr lang="en-US" sz="1800" dirty="0">
                <a:solidFill>
                  <a:srgbClr val="3333B2"/>
                </a:solidFill>
                <a:latin typeface="Arial"/>
                <a:cs typeface="Arial"/>
              </a:rPr>
              <a:t> Hosted</a:t>
            </a:r>
            <a:r>
              <a:rPr lang="vi-VN" sz="1800" spc="-25" dirty="0">
                <a:solidFill>
                  <a:srgbClr val="3333B2"/>
                </a:solidFill>
                <a:latin typeface="Arial"/>
                <a:cs typeface="Arial"/>
              </a:rPr>
              <a:t> VMM </a:t>
            </a:r>
            <a:endParaRPr lang="en-US" sz="1800" spc="-25" dirty="0">
              <a:solidFill>
                <a:srgbClr val="3333B2"/>
              </a:solidFill>
              <a:latin typeface="Arial"/>
              <a:cs typeface="Arial"/>
            </a:endParaRPr>
          </a:p>
          <a:p>
            <a:pPr marL="1016635" indent="-742950">
              <a:lnSpc>
                <a:spcPct val="100000"/>
              </a:lnSpc>
              <a:spcBef>
                <a:spcPts val="95"/>
              </a:spcBef>
              <a:buAutoNum type="alphaLcParenBoth"/>
              <a:tabLst>
                <a:tab pos="1562100" algn="l"/>
                <a:tab pos="2835275" algn="l"/>
              </a:tabLst>
            </a:pPr>
            <a:endParaRPr lang="vi-VN" sz="3600" dirty="0">
              <a:latin typeface="Arial"/>
              <a:cs typeface="Arial"/>
            </a:endParaRPr>
          </a:p>
          <a:p>
            <a:pPr marL="12700" algn="just">
              <a:lnSpc>
                <a:spcPct val="100000"/>
              </a:lnSpc>
            </a:pPr>
            <a:r>
              <a:rPr lang="vi-VN" sz="2000" spc="-10" dirty="0">
                <a:solidFill>
                  <a:srgbClr val="3333B2"/>
                </a:solidFill>
                <a:latin typeface="Arial"/>
                <a:cs typeface="Arial"/>
              </a:rPr>
              <a:t>Sự khác biệt</a:t>
            </a:r>
            <a:endParaRPr lang="en-US" sz="2000" spc="-10" dirty="0">
              <a:solidFill>
                <a:srgbClr val="3333B2"/>
              </a:solidFill>
              <a:latin typeface="Arial"/>
              <a:cs typeface="Arial"/>
            </a:endParaRPr>
          </a:p>
          <a:p>
            <a:pPr marL="469900" indent="-457200" algn="just">
              <a:lnSpc>
                <a:spcPct val="100000"/>
              </a:lnSpc>
              <a:buFont typeface="+mj-lt"/>
              <a:buAutoNum type="alphaLcParenR"/>
            </a:pPr>
            <a:r>
              <a:rPr lang="vi-VN" sz="2000" dirty="0">
                <a:latin typeface="Arial"/>
                <a:cs typeface="Arial"/>
              </a:rPr>
              <a:t>Một tập lệnh riêng biệt, một trình thông dịch/trình giả lập, chạy trên một hệ điều hành.</a:t>
            </a:r>
            <a:endParaRPr lang="en-US" sz="2000" dirty="0">
              <a:latin typeface="Arial"/>
              <a:cs typeface="Arial"/>
            </a:endParaRPr>
          </a:p>
          <a:p>
            <a:pPr marL="469900" indent="-457200" algn="just">
              <a:lnSpc>
                <a:spcPct val="100000"/>
              </a:lnSpc>
              <a:buFont typeface="+mj-lt"/>
              <a:buAutoNum type="alphaLcParenR"/>
            </a:pPr>
            <a:r>
              <a:rPr lang="vi-VN" sz="2000" dirty="0">
                <a:latin typeface="Arial"/>
                <a:cs typeface="Arial"/>
              </a:rPr>
              <a:t>Các lệnh cấp thấp, cùng với một hệ điều hành tối giản nhất.</a:t>
            </a:r>
            <a:endParaRPr lang="en-US" sz="2000" dirty="0">
              <a:latin typeface="Arial"/>
              <a:cs typeface="Arial"/>
            </a:endParaRPr>
          </a:p>
          <a:p>
            <a:pPr marL="469900" indent="-457200" algn="just">
              <a:lnSpc>
                <a:spcPct val="100000"/>
              </a:lnSpc>
              <a:buFont typeface="+mj-lt"/>
              <a:buAutoNum type="alphaLcParenR"/>
            </a:pPr>
            <a:r>
              <a:rPr lang="vi-VN" sz="2000" dirty="0">
                <a:latin typeface="Arial"/>
                <a:cs typeface="Arial"/>
              </a:rPr>
              <a:t>Các lệnh cấp thấp, nhưng ủy quyền hầu hết công việc cho một hệ điều hành đầy đủ tính năng.</a:t>
            </a:r>
          </a:p>
        </p:txBody>
      </p:sp>
    </p:spTree>
    <p:extLst>
      <p:ext uri="{BB962C8B-B14F-4D97-AF65-F5344CB8AC3E}">
        <p14:creationId xmlns:p14="http://schemas.microsoft.com/office/powerpoint/2010/main" val="1777262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A4173886-5E31-4C4C-B39D-533B0A6325E9}"/>
              </a:ext>
            </a:extLst>
          </p:cNvPr>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txBody>
          <a:bodyPr/>
          <a:lstStyle/>
          <a:p>
            <a:endParaRPr lang="en-US" dirty="0"/>
          </a:p>
        </p:txBody>
      </p:sp>
      <p:sp>
        <p:nvSpPr>
          <p:cNvPr id="3" name="TextBox 5">
            <a:extLst>
              <a:ext uri="{FF2B5EF4-FFF2-40B4-BE49-F238E27FC236}">
                <a16:creationId xmlns:a16="http://schemas.microsoft.com/office/drawing/2014/main" id="{3F2F96BE-1B94-4542-BDD7-A94FDB89D910}"/>
              </a:ext>
            </a:extLst>
          </p:cNvPr>
          <p:cNvSpPr txBox="1"/>
          <p:nvPr/>
        </p:nvSpPr>
        <p:spPr>
          <a:xfrm>
            <a:off x="381000" y="228600"/>
            <a:ext cx="8290560" cy="615553"/>
          </a:xfrm>
          <a:prstGeom prst="rect">
            <a:avLst/>
          </a:prstGeom>
        </p:spPr>
        <p:txBody>
          <a:bodyPr wrap="square" lIns="0" tIns="0" rIns="0" bIns="0" rtlCol="0" anchor="t">
            <a:spAutoFit/>
          </a:bodyPr>
          <a:lstStyle/>
          <a:p>
            <a:pPr marL="50800">
              <a:lnSpc>
                <a:spcPct val="100000"/>
              </a:lnSpc>
              <a:spcBef>
                <a:spcPts val="95"/>
              </a:spcBef>
            </a:pPr>
            <a:r>
              <a:rPr lang="en-US" sz="4000" b="1" dirty="0">
                <a:solidFill>
                  <a:srgbClr val="FFFF00"/>
                </a:solidFill>
                <a:latin typeface="Arial"/>
                <a:cs typeface="Arial"/>
              </a:rPr>
              <a:t>Chi </a:t>
            </a:r>
            <a:r>
              <a:rPr lang="en-US" sz="4000" b="1" dirty="0" err="1">
                <a:solidFill>
                  <a:srgbClr val="FFFF00"/>
                </a:solidFill>
                <a:latin typeface="Arial"/>
                <a:cs typeface="Arial"/>
              </a:rPr>
              <a:t>tiết</a:t>
            </a:r>
            <a:r>
              <a:rPr lang="en-US" sz="4000" b="1" dirty="0">
                <a:solidFill>
                  <a:srgbClr val="FFFF00"/>
                </a:solidFill>
                <a:latin typeface="Arial"/>
                <a:cs typeface="Arial"/>
              </a:rPr>
              <a:t> </a:t>
            </a:r>
            <a:r>
              <a:rPr lang="en-US" sz="4000" b="1" dirty="0" err="1">
                <a:solidFill>
                  <a:srgbClr val="FFFF00"/>
                </a:solidFill>
                <a:latin typeface="Arial"/>
                <a:cs typeface="Arial"/>
              </a:rPr>
              <a:t>trong</a:t>
            </a:r>
            <a:r>
              <a:rPr lang="en-US" sz="4000" b="1" spc="-35" dirty="0">
                <a:solidFill>
                  <a:srgbClr val="FFFF00"/>
                </a:solidFill>
                <a:latin typeface="Arial"/>
                <a:cs typeface="Arial"/>
              </a:rPr>
              <a:t> </a:t>
            </a:r>
            <a:r>
              <a:rPr lang="en-US" sz="4000" b="1" dirty="0" err="1">
                <a:solidFill>
                  <a:srgbClr val="FFFF00"/>
                </a:solidFill>
                <a:latin typeface="Arial"/>
                <a:cs typeface="Arial"/>
              </a:rPr>
              <a:t>Máy</a:t>
            </a:r>
            <a:r>
              <a:rPr lang="en-US" sz="4000" b="1" dirty="0">
                <a:solidFill>
                  <a:srgbClr val="FFFF00"/>
                </a:solidFill>
                <a:latin typeface="Arial"/>
                <a:cs typeface="Arial"/>
              </a:rPr>
              <a:t> </a:t>
            </a:r>
            <a:r>
              <a:rPr lang="en-US" sz="4000" b="1" dirty="0" err="1">
                <a:solidFill>
                  <a:srgbClr val="FFFF00"/>
                </a:solidFill>
                <a:latin typeface="Arial"/>
                <a:cs typeface="Arial"/>
              </a:rPr>
              <a:t>ảo</a:t>
            </a:r>
            <a:r>
              <a:rPr lang="en-US" sz="4000" b="1" dirty="0">
                <a:solidFill>
                  <a:srgbClr val="FFFF00"/>
                </a:solidFill>
                <a:latin typeface="Arial"/>
                <a:cs typeface="Arial"/>
              </a:rPr>
              <a:t>: </a:t>
            </a:r>
            <a:r>
              <a:rPr lang="en-US" sz="4000" b="1" dirty="0" err="1">
                <a:solidFill>
                  <a:srgbClr val="FFFF00"/>
                </a:solidFill>
                <a:latin typeface="Arial"/>
                <a:cs typeface="Arial"/>
              </a:rPr>
              <a:t>Hiệu</a:t>
            </a:r>
            <a:r>
              <a:rPr lang="en-US" sz="4000" b="1" dirty="0">
                <a:solidFill>
                  <a:srgbClr val="FFFF00"/>
                </a:solidFill>
                <a:latin typeface="Arial"/>
                <a:cs typeface="Arial"/>
              </a:rPr>
              <a:t> </a:t>
            </a:r>
            <a:r>
              <a:rPr lang="en-US" sz="4000" b="1" dirty="0" err="1">
                <a:solidFill>
                  <a:srgbClr val="FFFF00"/>
                </a:solidFill>
                <a:latin typeface="Arial"/>
                <a:cs typeface="Arial"/>
              </a:rPr>
              <a:t>suất</a:t>
            </a:r>
            <a:r>
              <a:rPr lang="en-US" sz="4000" b="1" dirty="0">
                <a:solidFill>
                  <a:srgbClr val="FFFF00"/>
                </a:solidFill>
                <a:latin typeface="Arial"/>
                <a:cs typeface="Arial"/>
              </a:rPr>
              <a:t> </a:t>
            </a:r>
          </a:p>
        </p:txBody>
      </p:sp>
      <p:sp>
        <p:nvSpPr>
          <p:cNvPr id="4" name="TextBox 3">
            <a:extLst>
              <a:ext uri="{FF2B5EF4-FFF2-40B4-BE49-F238E27FC236}">
                <a16:creationId xmlns:a16="http://schemas.microsoft.com/office/drawing/2014/main" id="{30C30008-427A-44CC-B4DD-6BF35574DF37}"/>
              </a:ext>
            </a:extLst>
          </p:cNvPr>
          <p:cNvSpPr txBox="1"/>
          <p:nvPr/>
        </p:nvSpPr>
        <p:spPr>
          <a:xfrm>
            <a:off x="361406" y="4343400"/>
            <a:ext cx="8706394" cy="2056973"/>
          </a:xfrm>
          <a:prstGeom prst="rect">
            <a:avLst/>
          </a:prstGeom>
          <a:noFill/>
        </p:spPr>
        <p:txBody>
          <a:bodyPr wrap="square">
            <a:spAutoFit/>
          </a:bodyPr>
          <a:lstStyle/>
          <a:p>
            <a:pPr marL="25400" algn="just">
              <a:lnSpc>
                <a:spcPct val="100000"/>
              </a:lnSpc>
              <a:spcBef>
                <a:spcPts val="95"/>
              </a:spcBef>
            </a:pPr>
            <a:r>
              <a:rPr lang="vi-VN" dirty="0">
                <a:solidFill>
                  <a:srgbClr val="FF0000"/>
                </a:solidFill>
                <a:latin typeface="Arial"/>
                <a:cs typeface="Arial"/>
              </a:rPr>
              <a:t>Lệnh đặc biệt </a:t>
            </a:r>
            <a:r>
              <a:rPr lang="vi-VN" dirty="0">
                <a:solidFill>
                  <a:srgbClr val="3333B2"/>
                </a:solidFill>
                <a:latin typeface="Arial"/>
                <a:cs typeface="Arial"/>
              </a:rPr>
              <a:t>(Special instructions).</a:t>
            </a:r>
            <a:endParaRPr lang="en-US" dirty="0">
              <a:solidFill>
                <a:srgbClr val="3333B2"/>
              </a:solidFill>
              <a:latin typeface="Arial"/>
              <a:cs typeface="Arial"/>
            </a:endParaRPr>
          </a:p>
          <a:p>
            <a:pPr marL="311150" indent="-285750" algn="just">
              <a:lnSpc>
                <a:spcPct val="100000"/>
              </a:lnSpc>
              <a:spcBef>
                <a:spcPts val="95"/>
              </a:spcBef>
              <a:buFont typeface="Arial" panose="020B0604020202020204" pitchFamily="34" charset="0"/>
              <a:buChar char="•"/>
            </a:pPr>
            <a:r>
              <a:rPr lang="vi-VN" dirty="0">
                <a:solidFill>
                  <a:srgbClr val="FF0000"/>
                </a:solidFill>
                <a:latin typeface="Arial"/>
                <a:cs typeface="Arial"/>
              </a:rPr>
              <a:t>Lệnh nhạy cảm với điều khiển </a:t>
            </a:r>
            <a:r>
              <a:rPr lang="vi-VN" dirty="0">
                <a:solidFill>
                  <a:srgbClr val="0070C0"/>
                </a:solidFill>
                <a:latin typeface="Arial"/>
                <a:cs typeface="Arial"/>
              </a:rPr>
              <a:t>(Control-sensitive instruction): </a:t>
            </a:r>
            <a:r>
              <a:rPr lang="vi-VN" dirty="0">
                <a:latin typeface="Arial"/>
                <a:cs typeface="Arial"/>
              </a:rPr>
              <a:t>Có thể ảnh hưởng đến cấu hình của máy (ví dụ: lệnh ảnh hưởng đến thanh ghi dịch địa chỉ hoặc bảng ngắt).</a:t>
            </a:r>
            <a:endParaRPr lang="en-US" dirty="0">
              <a:latin typeface="Arial"/>
              <a:cs typeface="Arial"/>
            </a:endParaRPr>
          </a:p>
          <a:p>
            <a:pPr marL="311150" indent="-285750" algn="just">
              <a:lnSpc>
                <a:spcPct val="100000"/>
              </a:lnSpc>
              <a:spcBef>
                <a:spcPts val="95"/>
              </a:spcBef>
              <a:buFont typeface="Arial" panose="020B0604020202020204" pitchFamily="34" charset="0"/>
              <a:buChar char="•"/>
            </a:pPr>
            <a:r>
              <a:rPr lang="vi-VN" dirty="0">
                <a:solidFill>
                  <a:srgbClr val="FF0000"/>
                </a:solidFill>
                <a:latin typeface="Arial"/>
                <a:cs typeface="Arial"/>
              </a:rPr>
              <a:t>Lệnh nhạy cảm với hành vi </a:t>
            </a:r>
            <a:r>
              <a:rPr lang="vi-VN" dirty="0">
                <a:solidFill>
                  <a:srgbClr val="0070C0"/>
                </a:solidFill>
                <a:latin typeface="Arial"/>
                <a:cs typeface="Arial"/>
              </a:rPr>
              <a:t>(Behavior-sensitive instruction): </a:t>
            </a:r>
            <a:r>
              <a:rPr lang="vi-VN" dirty="0">
                <a:latin typeface="Arial"/>
                <a:cs typeface="Arial"/>
              </a:rPr>
              <a:t>Hiệu ứng của nó phụ thuộc một phần vào ngữ cảnh (ví dụ: lệnh POPF thiết lập cờ bật ngắt, nhưng chỉ trong chế độ hệ thống).</a:t>
            </a:r>
          </a:p>
        </p:txBody>
      </p:sp>
      <p:pic>
        <p:nvPicPr>
          <p:cNvPr id="5" name="object 6">
            <a:extLst>
              <a:ext uri="{FF2B5EF4-FFF2-40B4-BE49-F238E27FC236}">
                <a16:creationId xmlns:a16="http://schemas.microsoft.com/office/drawing/2014/main" id="{37B45944-2BF1-4E9C-9D55-A27D075BC91E}"/>
              </a:ext>
            </a:extLst>
          </p:cNvPr>
          <p:cNvPicPr/>
          <p:nvPr/>
        </p:nvPicPr>
        <p:blipFill>
          <a:blip r:embed="rId3" cstate="print"/>
          <a:stretch>
            <a:fillRect/>
          </a:stretch>
        </p:blipFill>
        <p:spPr>
          <a:xfrm>
            <a:off x="352697" y="1452963"/>
            <a:ext cx="4876800" cy="2540959"/>
          </a:xfrm>
          <a:prstGeom prst="rect">
            <a:avLst/>
          </a:prstGeom>
        </p:spPr>
      </p:pic>
      <p:sp>
        <p:nvSpPr>
          <p:cNvPr id="7" name="TextBox 6">
            <a:extLst>
              <a:ext uri="{FF2B5EF4-FFF2-40B4-BE49-F238E27FC236}">
                <a16:creationId xmlns:a16="http://schemas.microsoft.com/office/drawing/2014/main" id="{BBA6D191-7027-4CEB-ADF5-2E7C6ECE0092}"/>
              </a:ext>
            </a:extLst>
          </p:cNvPr>
          <p:cNvSpPr txBox="1"/>
          <p:nvPr/>
        </p:nvSpPr>
        <p:spPr>
          <a:xfrm>
            <a:off x="5638799" y="1323297"/>
            <a:ext cx="3962401" cy="2321148"/>
          </a:xfrm>
          <a:prstGeom prst="rect">
            <a:avLst/>
          </a:prstGeom>
          <a:noFill/>
        </p:spPr>
        <p:txBody>
          <a:bodyPr wrap="square">
            <a:spAutoFit/>
          </a:bodyPr>
          <a:lstStyle/>
          <a:p>
            <a:pPr marL="311150" indent="-285750">
              <a:lnSpc>
                <a:spcPct val="100000"/>
              </a:lnSpc>
              <a:spcBef>
                <a:spcPts val="95"/>
              </a:spcBef>
              <a:buFont typeface="Arial" panose="020B0604020202020204" pitchFamily="34" charset="0"/>
              <a:buChar char="•"/>
            </a:pPr>
            <a:r>
              <a:rPr lang="vi-VN" sz="1800" dirty="0">
                <a:solidFill>
                  <a:srgbClr val="FF0000"/>
                </a:solidFill>
                <a:latin typeface="Arial"/>
                <a:cs typeface="Arial"/>
              </a:rPr>
              <a:t>Lệnh đặc quyền </a:t>
            </a:r>
            <a:r>
              <a:rPr lang="vi-VN" sz="1800" dirty="0">
                <a:solidFill>
                  <a:srgbClr val="3333B2"/>
                </a:solidFill>
                <a:latin typeface="Arial"/>
                <a:cs typeface="Arial"/>
              </a:rPr>
              <a:t>(Privileged instruction): </a:t>
            </a:r>
            <a:r>
              <a:rPr lang="vi-VN" sz="1800" dirty="0">
                <a:latin typeface="Arial"/>
                <a:cs typeface="Arial"/>
              </a:rPr>
              <a:t>Nếu và chỉ nếu được thực thi trong chế độ người dùng, nó sẽ gây ra một bẫy (trap) đến hệ điều hành.</a:t>
            </a:r>
            <a:endParaRPr lang="en-US" sz="1800" dirty="0">
              <a:latin typeface="Arial"/>
              <a:cs typeface="Arial"/>
            </a:endParaRPr>
          </a:p>
          <a:p>
            <a:pPr marL="311150" indent="-285750">
              <a:lnSpc>
                <a:spcPct val="100000"/>
              </a:lnSpc>
              <a:spcBef>
                <a:spcPts val="95"/>
              </a:spcBef>
              <a:buFont typeface="Arial" panose="020B0604020202020204" pitchFamily="34" charset="0"/>
              <a:buChar char="•"/>
            </a:pPr>
            <a:r>
              <a:rPr lang="vi-VN" sz="1800" dirty="0">
                <a:solidFill>
                  <a:srgbClr val="FF0000"/>
                </a:solidFill>
                <a:latin typeface="Arial"/>
                <a:cs typeface="Arial"/>
              </a:rPr>
              <a:t>Lệnh không đặc quyề</a:t>
            </a:r>
            <a:r>
              <a:rPr lang="en-US" sz="1800" dirty="0">
                <a:solidFill>
                  <a:srgbClr val="FF0000"/>
                </a:solidFill>
                <a:latin typeface="Arial"/>
                <a:cs typeface="Arial"/>
              </a:rPr>
              <a:t>n</a:t>
            </a:r>
            <a:r>
              <a:rPr lang="vi-VN" sz="1800" dirty="0">
                <a:solidFill>
                  <a:srgbClr val="FF0000"/>
                </a:solidFill>
                <a:latin typeface="Arial"/>
                <a:cs typeface="Arial"/>
              </a:rPr>
              <a:t> </a:t>
            </a:r>
            <a:r>
              <a:rPr lang="vi-VN" sz="1800" dirty="0">
                <a:solidFill>
                  <a:srgbClr val="3333B2"/>
                </a:solidFill>
                <a:latin typeface="Arial"/>
                <a:cs typeface="Arial"/>
              </a:rPr>
              <a:t>(Nonprivileged instruction): </a:t>
            </a:r>
            <a:r>
              <a:rPr lang="vi-VN" sz="1800" dirty="0">
                <a:latin typeface="Arial"/>
                <a:cs typeface="Arial"/>
              </a:rPr>
              <a:t>Bao gồm tất cả các lệnh còn lại.</a:t>
            </a:r>
            <a:endParaRPr lang="en-US" sz="1800" dirty="0">
              <a:latin typeface="Arial"/>
              <a:cs typeface="Arial"/>
            </a:endParaRPr>
          </a:p>
        </p:txBody>
      </p:sp>
    </p:spTree>
    <p:extLst>
      <p:ext uri="{BB962C8B-B14F-4D97-AF65-F5344CB8AC3E}">
        <p14:creationId xmlns:p14="http://schemas.microsoft.com/office/powerpoint/2010/main" val="28523325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8E26BAD0-0820-4E10-B87A-47C5D3CF37B1}"/>
              </a:ext>
            </a:extLst>
          </p:cNvPr>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txBody>
          <a:bodyPr/>
          <a:lstStyle/>
          <a:p>
            <a:r>
              <a:rPr lang="vi-VN" spc="-10">
                <a:latin typeface="Arial"/>
                <a:cs typeface="Arial"/>
              </a:rPr>
              <a:t>ợ</a:t>
            </a:r>
            <a:endParaRPr lang="en-US" dirty="0"/>
          </a:p>
        </p:txBody>
      </p:sp>
      <p:sp>
        <p:nvSpPr>
          <p:cNvPr id="3" name="TextBox 5">
            <a:extLst>
              <a:ext uri="{FF2B5EF4-FFF2-40B4-BE49-F238E27FC236}">
                <a16:creationId xmlns:a16="http://schemas.microsoft.com/office/drawing/2014/main" id="{AD1C0DEE-78B2-4896-95DF-FD4CD21C7D07}"/>
              </a:ext>
            </a:extLst>
          </p:cNvPr>
          <p:cNvSpPr txBox="1"/>
          <p:nvPr/>
        </p:nvSpPr>
        <p:spPr>
          <a:xfrm>
            <a:off x="381000" y="228600"/>
            <a:ext cx="8290560" cy="615553"/>
          </a:xfrm>
          <a:prstGeom prst="rect">
            <a:avLst/>
          </a:prstGeom>
        </p:spPr>
        <p:txBody>
          <a:bodyPr wrap="square" lIns="0" tIns="0" rIns="0" bIns="0" rtlCol="0" anchor="t">
            <a:spAutoFit/>
          </a:bodyPr>
          <a:lstStyle/>
          <a:p>
            <a:pPr marL="50800">
              <a:lnSpc>
                <a:spcPct val="100000"/>
              </a:lnSpc>
              <a:spcBef>
                <a:spcPts val="95"/>
              </a:spcBef>
            </a:pPr>
            <a:r>
              <a:rPr lang="en-US" sz="4000" b="1" spc="-10" dirty="0" err="1">
                <a:solidFill>
                  <a:srgbClr val="FFFF00"/>
                </a:solidFill>
                <a:latin typeface="Arial" panose="020B0604020202020204" pitchFamily="34" charset="0"/>
                <a:cs typeface="Arial" panose="020B0604020202020204" pitchFamily="34" charset="0"/>
              </a:rPr>
              <a:t>Điều</a:t>
            </a:r>
            <a:r>
              <a:rPr lang="en-US" sz="4000" b="1" spc="-10" dirty="0">
                <a:solidFill>
                  <a:srgbClr val="FFFF00"/>
                </a:solidFill>
                <a:latin typeface="Arial" panose="020B0604020202020204" pitchFamily="34" charset="0"/>
                <a:cs typeface="Arial" panose="020B0604020202020204" pitchFamily="34" charset="0"/>
              </a:rPr>
              <a:t> </a:t>
            </a:r>
            <a:r>
              <a:rPr lang="en-US" sz="4000" b="1" spc="-10" dirty="0" err="1">
                <a:solidFill>
                  <a:srgbClr val="FFFF00"/>
                </a:solidFill>
                <a:latin typeface="Arial" panose="020B0604020202020204" pitchFamily="34" charset="0"/>
                <a:cs typeface="Arial" panose="020B0604020202020204" pitchFamily="34" charset="0"/>
              </a:rPr>
              <a:t>kiện</a:t>
            </a:r>
            <a:r>
              <a:rPr lang="en-US" sz="4000" b="1" spc="-10" dirty="0">
                <a:solidFill>
                  <a:srgbClr val="FFFF00"/>
                </a:solidFill>
                <a:latin typeface="Arial" panose="020B0604020202020204" pitchFamily="34" charset="0"/>
                <a:cs typeface="Arial" panose="020B0604020202020204" pitchFamily="34" charset="0"/>
              </a:rPr>
              <a:t> </a:t>
            </a:r>
            <a:r>
              <a:rPr lang="en-US" sz="4000" b="1" spc="-10" dirty="0" err="1">
                <a:solidFill>
                  <a:srgbClr val="FFFF00"/>
                </a:solidFill>
                <a:latin typeface="Arial" panose="020B0604020202020204" pitchFamily="34" charset="0"/>
                <a:cs typeface="Arial" panose="020B0604020202020204" pitchFamily="34" charset="0"/>
              </a:rPr>
              <a:t>ảo</a:t>
            </a:r>
            <a:r>
              <a:rPr lang="en-US" sz="4000" b="1" spc="-10" dirty="0">
                <a:solidFill>
                  <a:srgbClr val="FFFF00"/>
                </a:solidFill>
                <a:latin typeface="Arial" panose="020B0604020202020204" pitchFamily="34" charset="0"/>
                <a:cs typeface="Arial" panose="020B0604020202020204" pitchFamily="34" charset="0"/>
              </a:rPr>
              <a:t> </a:t>
            </a:r>
            <a:r>
              <a:rPr lang="en-US" sz="4000" b="1" spc="-10" dirty="0" err="1">
                <a:solidFill>
                  <a:srgbClr val="FFFF00"/>
                </a:solidFill>
                <a:latin typeface="Arial" panose="020B0604020202020204" pitchFamily="34" charset="0"/>
                <a:cs typeface="Arial" panose="020B0604020202020204" pitchFamily="34" charset="0"/>
              </a:rPr>
              <a:t>hóa</a:t>
            </a:r>
            <a:endParaRPr lang="en-US" sz="4000" b="1" dirty="0">
              <a:solidFill>
                <a:srgbClr val="FFFF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45F904E-BCD8-423F-A0B2-FF9F37E03338}"/>
              </a:ext>
            </a:extLst>
          </p:cNvPr>
          <p:cNvSpPr txBox="1"/>
          <p:nvPr/>
        </p:nvSpPr>
        <p:spPr>
          <a:xfrm>
            <a:off x="152400" y="1318027"/>
            <a:ext cx="6934200" cy="1477328"/>
          </a:xfrm>
          <a:prstGeom prst="rect">
            <a:avLst/>
          </a:prstGeom>
          <a:noFill/>
        </p:spPr>
        <p:txBody>
          <a:bodyPr wrap="square">
            <a:spAutoFit/>
          </a:bodyPr>
          <a:lstStyle/>
          <a:p>
            <a:pPr algn="just"/>
            <a:r>
              <a:rPr lang="vi-VN" b="1" dirty="0">
                <a:solidFill>
                  <a:srgbClr val="FF0000"/>
                </a:solidFill>
              </a:rPr>
              <a:t>Điều kiện cần</a:t>
            </a:r>
          </a:p>
          <a:p>
            <a:pPr algn="just"/>
            <a:r>
              <a:rPr lang="vi-VN" dirty="0"/>
              <a:t>Đối với bất kỳ máy tính thông thường nào, một bộ giám sát máy ảo (</a:t>
            </a:r>
            <a:r>
              <a:rPr lang="vi-VN" b="1" dirty="0"/>
              <a:t>Virtual Machine Monitor - VMM</a:t>
            </a:r>
            <a:r>
              <a:rPr lang="vi-VN" dirty="0"/>
              <a:t>) có thể được xây dựng nếu tập hợp các lệnh nhạy cảm của máy tính đó là một </a:t>
            </a:r>
            <a:r>
              <a:rPr lang="vi-VN" b="1" dirty="0"/>
              <a:t>tập con</a:t>
            </a:r>
            <a:r>
              <a:rPr lang="vi-VN" dirty="0"/>
              <a:t> của tập hợp các lệnh đặc quyền.</a:t>
            </a:r>
          </a:p>
        </p:txBody>
      </p:sp>
      <p:sp>
        <p:nvSpPr>
          <p:cNvPr id="5" name="TextBox 4">
            <a:extLst>
              <a:ext uri="{FF2B5EF4-FFF2-40B4-BE49-F238E27FC236}">
                <a16:creationId xmlns:a16="http://schemas.microsoft.com/office/drawing/2014/main" id="{BC82DD74-2A68-4727-A02C-73B1DF75AA4E}"/>
              </a:ext>
            </a:extLst>
          </p:cNvPr>
          <p:cNvSpPr txBox="1"/>
          <p:nvPr/>
        </p:nvSpPr>
        <p:spPr>
          <a:xfrm>
            <a:off x="152400" y="2919584"/>
            <a:ext cx="8763000" cy="923330"/>
          </a:xfrm>
          <a:prstGeom prst="rect">
            <a:avLst/>
          </a:prstGeom>
          <a:noFill/>
        </p:spPr>
        <p:txBody>
          <a:bodyPr wrap="square">
            <a:spAutoFit/>
          </a:bodyPr>
          <a:lstStyle/>
          <a:p>
            <a:pPr algn="just"/>
            <a:r>
              <a:rPr lang="vi-VN" b="1" dirty="0">
                <a:solidFill>
                  <a:srgbClr val="0070C0"/>
                </a:solidFill>
              </a:rPr>
              <a:t>Vấn đề</a:t>
            </a:r>
            <a:r>
              <a:rPr lang="en-US" b="1" dirty="0">
                <a:solidFill>
                  <a:srgbClr val="0070C0"/>
                </a:solidFill>
              </a:rPr>
              <a:t>:</a:t>
            </a:r>
            <a:r>
              <a:rPr lang="en-US" dirty="0"/>
              <a:t> </a:t>
            </a:r>
            <a:r>
              <a:rPr lang="vi-VN" dirty="0"/>
              <a:t>Điều kiện trên </a:t>
            </a:r>
            <a:r>
              <a:rPr lang="vi-VN" b="1" dirty="0"/>
              <a:t>không phải lúc nào cũng được thỏa mãn</a:t>
            </a:r>
            <a:r>
              <a:rPr lang="vi-VN" dirty="0"/>
              <a:t>.</a:t>
            </a:r>
          </a:p>
          <a:p>
            <a:pPr marL="285750" indent="-285750" algn="just">
              <a:buFont typeface="Courier New" panose="02070309020205020404" pitchFamily="49" charset="0"/>
              <a:buChar char="o"/>
            </a:pPr>
            <a:r>
              <a:rPr lang="vi-VN" dirty="0"/>
              <a:t>Một số lệnh nhạy cảm có thể được thực thi trong </a:t>
            </a:r>
            <a:r>
              <a:rPr lang="vi-VN" b="1" dirty="0"/>
              <a:t>chế độ người dùng</a:t>
            </a:r>
            <a:r>
              <a:rPr lang="vi-VN" dirty="0"/>
              <a:t> mà không gây ra bẫy (</a:t>
            </a:r>
            <a:r>
              <a:rPr lang="vi-VN" b="1" dirty="0"/>
              <a:t>trap</a:t>
            </a:r>
            <a:r>
              <a:rPr lang="vi-VN" dirty="0"/>
              <a:t>) đến hệ điều hành.</a:t>
            </a:r>
          </a:p>
        </p:txBody>
      </p:sp>
      <p:sp>
        <p:nvSpPr>
          <p:cNvPr id="6" name="TextBox 5">
            <a:extLst>
              <a:ext uri="{FF2B5EF4-FFF2-40B4-BE49-F238E27FC236}">
                <a16:creationId xmlns:a16="http://schemas.microsoft.com/office/drawing/2014/main" id="{CE269C4B-B0F7-4FB5-9C41-808050351533}"/>
              </a:ext>
            </a:extLst>
          </p:cNvPr>
          <p:cNvSpPr txBox="1"/>
          <p:nvPr/>
        </p:nvSpPr>
        <p:spPr>
          <a:xfrm>
            <a:off x="152400" y="3875571"/>
            <a:ext cx="9220200" cy="2246769"/>
          </a:xfrm>
          <a:prstGeom prst="rect">
            <a:avLst/>
          </a:prstGeom>
          <a:noFill/>
        </p:spPr>
        <p:txBody>
          <a:bodyPr wrap="square">
            <a:spAutoFit/>
          </a:bodyPr>
          <a:lstStyle/>
          <a:p>
            <a:pPr algn="just"/>
            <a:r>
              <a:rPr lang="en-US" sz="2000" b="1" dirty="0" err="1">
                <a:solidFill>
                  <a:srgbClr val="0070C0"/>
                </a:solidFill>
                <a:latin typeface="Arial" panose="020B0604020202020204" pitchFamily="34" charset="0"/>
                <a:cs typeface="Arial" panose="020B0604020202020204" pitchFamily="34" charset="0"/>
              </a:rPr>
              <a:t>Giải</a:t>
            </a:r>
            <a:r>
              <a:rPr lang="en-US" sz="2000" b="1" dirty="0">
                <a:solidFill>
                  <a:srgbClr val="0070C0"/>
                </a:solidFill>
                <a:latin typeface="Arial" panose="020B0604020202020204" pitchFamily="34" charset="0"/>
                <a:cs typeface="Arial" panose="020B0604020202020204" pitchFamily="34" charset="0"/>
              </a:rPr>
              <a:t> </a:t>
            </a:r>
            <a:r>
              <a:rPr lang="en-US" sz="2000" b="1" dirty="0" err="1">
                <a:solidFill>
                  <a:srgbClr val="0070C0"/>
                </a:solidFill>
                <a:latin typeface="Arial" panose="020B0604020202020204" pitchFamily="34" charset="0"/>
                <a:cs typeface="Arial" panose="020B0604020202020204" pitchFamily="34" charset="0"/>
              </a:rPr>
              <a:t>pháp</a:t>
            </a:r>
            <a:endParaRPr lang="en-US" sz="2000" b="1" dirty="0">
              <a:solidFill>
                <a:srgbClr val="0070C0"/>
              </a:solidFill>
              <a:latin typeface="Arial" panose="020B0604020202020204" pitchFamily="34" charset="0"/>
              <a:cs typeface="Arial" panose="020B0604020202020204" pitchFamily="34" charset="0"/>
            </a:endParaRPr>
          </a:p>
          <a:p>
            <a:pPr algn="just">
              <a:buFont typeface="+mj-lt"/>
              <a:buAutoNum type="arabicPeriod"/>
            </a:pP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Mô</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phỏng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tất</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cả</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các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lệnh</a:t>
            </a:r>
            <a:r>
              <a:rPr lang="en-US" sz="2000" dirty="0">
                <a:latin typeface="Arial" panose="020B0604020202020204" pitchFamily="34" charset="0"/>
                <a:cs typeface="Arial" panose="020B0604020202020204" pitchFamily="34" charset="0"/>
              </a:rPr>
              <a:t>.</a:t>
            </a:r>
          </a:p>
          <a:p>
            <a:pPr algn="just">
              <a:buFont typeface="+mj-lt"/>
              <a:buAutoNum type="arabicPeriod"/>
            </a:pPr>
            <a:r>
              <a:rPr lang="en-US" sz="2000" b="1" dirty="0">
                <a:latin typeface="Arial" panose="020B0604020202020204" pitchFamily="34" charset="0"/>
                <a:cs typeface="Arial" panose="020B0604020202020204" pitchFamily="34" charset="0"/>
              </a:rPr>
              <a:t>  Bao </a:t>
            </a:r>
            <a:r>
              <a:rPr lang="en-US" sz="2000" b="1" dirty="0" err="1">
                <a:latin typeface="Arial" panose="020B0604020202020204" pitchFamily="34" charset="0"/>
                <a:cs typeface="Arial" panose="020B0604020202020204" pitchFamily="34" charset="0"/>
              </a:rPr>
              <a:t>bọc</a:t>
            </a:r>
            <a:r>
              <a:rPr lang="en-US" sz="2000" b="1" dirty="0">
                <a:latin typeface="Arial" panose="020B0604020202020204" pitchFamily="34" charset="0"/>
                <a:cs typeface="Arial" panose="020B0604020202020204" pitchFamily="34" charset="0"/>
              </a:rPr>
              <a:t> (wrap) </a:t>
            </a:r>
            <a:r>
              <a:rPr lang="en-US" sz="2000" b="1" dirty="0" err="1">
                <a:latin typeface="Arial" panose="020B0604020202020204" pitchFamily="34" charset="0"/>
                <a:cs typeface="Arial" panose="020B0604020202020204" pitchFamily="34" charset="0"/>
              </a:rPr>
              <a:t>các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lệnh</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nhạy</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cảm</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không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đặc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quyền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chuyển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quyền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soát</a:t>
            </a:r>
            <a:r>
              <a:rPr lang="en-US" sz="2000" dirty="0">
                <a:latin typeface="Arial" panose="020B0604020202020204" pitchFamily="34" charset="0"/>
                <a:cs typeface="Arial" panose="020B0604020202020204" pitchFamily="34" charset="0"/>
              </a:rPr>
              <a:t> sang VMM.</a:t>
            </a:r>
          </a:p>
          <a:p>
            <a:pPr algn="just">
              <a:buFont typeface="+mj-lt"/>
              <a:buAutoNum type="arabicPeriod"/>
            </a:pP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Ảo</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hóa</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bán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phần</a:t>
            </a:r>
            <a:r>
              <a:rPr lang="en-US" sz="2000" b="1" dirty="0">
                <a:latin typeface="Arial" panose="020B0604020202020204" pitchFamily="34" charset="0"/>
                <a:cs typeface="Arial" panose="020B0604020202020204" pitchFamily="34" charset="0"/>
              </a:rPr>
              <a:t> (Paravirtualization)</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Chỉnh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sửa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hệ</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hành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khách</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Guest OS</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để</a:t>
            </a:r>
            <a:r>
              <a:rPr lang="en-US" sz="2000" dirty="0">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ngăn</a:t>
            </a:r>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chặn</a:t>
            </a:r>
            <a:r>
              <a:rPr lang="en-US" sz="2000" dirty="0">
                <a:solidFill>
                  <a:srgbClr val="FF0000"/>
                </a:solidFill>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việc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lệnh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nhạy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cảm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đặc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quyền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hoặc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biến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chúng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thành</a:t>
            </a:r>
            <a:r>
              <a:rPr lang="en-US" sz="2000" dirty="0">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không</a:t>
            </a:r>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nhạy</a:t>
            </a:r>
            <a:r>
              <a:rPr lang="en-US" sz="2000" dirty="0">
                <a:solidFill>
                  <a:srgbClr val="FF0000"/>
                </a:solidFill>
                <a:latin typeface="Arial" panose="020B0604020202020204" pitchFamily="34" charset="0"/>
                <a:cs typeface="Arial" panose="020B0604020202020204" pitchFamily="34" charset="0"/>
              </a:rPr>
              <a:t> </a:t>
            </a:r>
            <a:r>
              <a:rPr lang="en-US" sz="2000" dirty="0" err="1">
                <a:solidFill>
                  <a:srgbClr val="FF0000"/>
                </a:solidFill>
                <a:latin typeface="Arial" panose="020B0604020202020204" pitchFamily="34" charset="0"/>
                <a:cs typeface="Arial" panose="020B0604020202020204" pitchFamily="34" charset="0"/>
              </a:rPr>
              <a:t>cảm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bằng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thay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đổi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ngữ</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cảnh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thi</a:t>
            </a:r>
            <a:r>
              <a:rPr lang="en-US"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5570297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CC28C1B1-ED32-4677-853B-2977F5BC9E9F}"/>
              </a:ext>
            </a:extLst>
          </p:cNvPr>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txBody>
          <a:bodyPr/>
          <a:lstStyle/>
          <a:p>
            <a:endParaRPr lang="en-US" dirty="0"/>
          </a:p>
        </p:txBody>
      </p:sp>
      <p:sp>
        <p:nvSpPr>
          <p:cNvPr id="3" name="TextBox 5">
            <a:extLst>
              <a:ext uri="{FF2B5EF4-FFF2-40B4-BE49-F238E27FC236}">
                <a16:creationId xmlns:a16="http://schemas.microsoft.com/office/drawing/2014/main" id="{9E309E5B-9F80-447F-A8FE-4025C9ACCAC6}"/>
              </a:ext>
            </a:extLst>
          </p:cNvPr>
          <p:cNvSpPr txBox="1"/>
          <p:nvPr/>
        </p:nvSpPr>
        <p:spPr>
          <a:xfrm>
            <a:off x="381000" y="228600"/>
            <a:ext cx="8290560" cy="615553"/>
          </a:xfrm>
          <a:prstGeom prst="rect">
            <a:avLst/>
          </a:prstGeom>
        </p:spPr>
        <p:txBody>
          <a:bodyPr wrap="square" lIns="0" tIns="0" rIns="0" bIns="0" rtlCol="0" anchor="t">
            <a:spAutoFit/>
          </a:bodyPr>
          <a:lstStyle/>
          <a:p>
            <a:pPr marL="12700">
              <a:lnSpc>
                <a:spcPct val="100000"/>
              </a:lnSpc>
              <a:spcBef>
                <a:spcPts val="95"/>
              </a:spcBef>
            </a:pPr>
            <a:r>
              <a:rPr lang="en-US" sz="4000" b="1" spc="-10" dirty="0">
                <a:solidFill>
                  <a:srgbClr val="FFFF00"/>
                </a:solidFill>
                <a:latin typeface="Arial"/>
                <a:cs typeface="Arial"/>
              </a:rPr>
              <a:t>Container</a:t>
            </a:r>
            <a:endParaRPr lang="en-US" sz="4000" b="1" dirty="0">
              <a:solidFill>
                <a:srgbClr val="FFFF00"/>
              </a:solidFill>
              <a:latin typeface="Arial"/>
              <a:cs typeface="Arial"/>
            </a:endParaRPr>
          </a:p>
        </p:txBody>
      </p:sp>
      <p:sp>
        <p:nvSpPr>
          <p:cNvPr id="4" name="TextBox 3">
            <a:extLst>
              <a:ext uri="{FF2B5EF4-FFF2-40B4-BE49-F238E27FC236}">
                <a16:creationId xmlns:a16="http://schemas.microsoft.com/office/drawing/2014/main" id="{C562C76C-925A-48AD-B4B2-B961BC6EF5AA}"/>
              </a:ext>
            </a:extLst>
          </p:cNvPr>
          <p:cNvSpPr txBox="1"/>
          <p:nvPr/>
        </p:nvSpPr>
        <p:spPr>
          <a:xfrm>
            <a:off x="228600" y="1785292"/>
            <a:ext cx="5064035" cy="3744615"/>
          </a:xfrm>
          <a:prstGeom prst="rect">
            <a:avLst/>
          </a:prstGeom>
          <a:noFill/>
        </p:spPr>
        <p:txBody>
          <a:bodyPr wrap="square">
            <a:spAutoFit/>
          </a:bodyPr>
          <a:lstStyle/>
          <a:p>
            <a:pPr marL="311150" indent="-285750">
              <a:lnSpc>
                <a:spcPct val="100000"/>
              </a:lnSpc>
              <a:spcBef>
                <a:spcPts val="95"/>
              </a:spcBef>
              <a:buFont typeface="Arial" panose="020B0604020202020204" pitchFamily="34" charset="0"/>
              <a:buChar char="•"/>
            </a:pPr>
            <a:r>
              <a:rPr lang="vi-VN" dirty="0">
                <a:solidFill>
                  <a:srgbClr val="FF0000"/>
                </a:solidFill>
                <a:latin typeface="Arial"/>
                <a:cs typeface="Arial"/>
              </a:rPr>
              <a:t>Không gian tên </a:t>
            </a:r>
            <a:r>
              <a:rPr lang="vi-VN" dirty="0">
                <a:solidFill>
                  <a:srgbClr val="3333B2"/>
                </a:solidFill>
                <a:latin typeface="Arial"/>
                <a:cs typeface="Arial"/>
              </a:rPr>
              <a:t>(Namespaces): </a:t>
            </a:r>
            <a:r>
              <a:rPr lang="vi-VN" dirty="0">
                <a:latin typeface="Arial"/>
                <a:cs typeface="Arial"/>
              </a:rPr>
              <a:t>Một tập hợp các tiến trình trong container được cung cấp một không gian riêng biệt cho các định danh của chúng.</a:t>
            </a:r>
            <a:endParaRPr lang="en-US" dirty="0">
              <a:latin typeface="Arial"/>
              <a:cs typeface="Arial"/>
            </a:endParaRPr>
          </a:p>
          <a:p>
            <a:pPr marL="311150" indent="-285750">
              <a:lnSpc>
                <a:spcPct val="100000"/>
              </a:lnSpc>
              <a:spcBef>
                <a:spcPts val="95"/>
              </a:spcBef>
              <a:buFont typeface="Arial" panose="020B0604020202020204" pitchFamily="34" charset="0"/>
              <a:buChar char="•"/>
            </a:pPr>
            <a:endParaRPr lang="en-US" dirty="0">
              <a:solidFill>
                <a:srgbClr val="3333B2"/>
              </a:solidFill>
              <a:latin typeface="Arial"/>
              <a:cs typeface="Arial"/>
            </a:endParaRPr>
          </a:p>
          <a:p>
            <a:pPr marL="311150" indent="-285750">
              <a:lnSpc>
                <a:spcPct val="100000"/>
              </a:lnSpc>
              <a:spcBef>
                <a:spcPts val="95"/>
              </a:spcBef>
              <a:buFont typeface="Arial" panose="020B0604020202020204" pitchFamily="34" charset="0"/>
              <a:buChar char="•"/>
            </a:pPr>
            <a:r>
              <a:rPr lang="vi-VN" dirty="0">
                <a:solidFill>
                  <a:srgbClr val="FF0000"/>
                </a:solidFill>
                <a:latin typeface="Arial"/>
                <a:cs typeface="Arial"/>
              </a:rPr>
              <a:t>Hệ thống tệp hợp nhất </a:t>
            </a:r>
            <a:r>
              <a:rPr lang="vi-VN" dirty="0">
                <a:solidFill>
                  <a:srgbClr val="3333B2"/>
                </a:solidFill>
                <a:latin typeface="Arial"/>
                <a:cs typeface="Arial"/>
              </a:rPr>
              <a:t>(Union file system): </a:t>
            </a:r>
            <a:r>
              <a:rPr lang="vi-VN" dirty="0">
                <a:latin typeface="Arial"/>
                <a:cs typeface="Arial"/>
              </a:rPr>
              <a:t>Kết hợp nhiều hệ thống tệp theo dạng phân lớp, trong đó chỉ lớp cao nhất mới cho phép thao tác ghi (và lớp này thuộc về container).</a:t>
            </a:r>
            <a:endParaRPr lang="en-US" dirty="0">
              <a:latin typeface="Arial"/>
              <a:cs typeface="Arial"/>
            </a:endParaRPr>
          </a:p>
          <a:p>
            <a:pPr marL="311150" indent="-285750">
              <a:lnSpc>
                <a:spcPct val="100000"/>
              </a:lnSpc>
              <a:spcBef>
                <a:spcPts val="95"/>
              </a:spcBef>
              <a:buFont typeface="Arial" panose="020B0604020202020204" pitchFamily="34" charset="0"/>
              <a:buChar char="•"/>
            </a:pPr>
            <a:endParaRPr lang="en-US" dirty="0">
              <a:solidFill>
                <a:srgbClr val="3333B2"/>
              </a:solidFill>
              <a:latin typeface="Arial"/>
              <a:cs typeface="Arial"/>
            </a:endParaRPr>
          </a:p>
          <a:p>
            <a:pPr marL="311150" indent="-285750">
              <a:lnSpc>
                <a:spcPct val="100000"/>
              </a:lnSpc>
              <a:spcBef>
                <a:spcPts val="95"/>
              </a:spcBef>
              <a:buFont typeface="Arial" panose="020B0604020202020204" pitchFamily="34" charset="0"/>
              <a:buChar char="•"/>
            </a:pPr>
            <a:r>
              <a:rPr lang="vi-VN" dirty="0">
                <a:solidFill>
                  <a:srgbClr val="FF0000"/>
                </a:solidFill>
                <a:latin typeface="Arial"/>
                <a:cs typeface="Arial"/>
              </a:rPr>
              <a:t>Nhóm kiểm soát </a:t>
            </a:r>
            <a:r>
              <a:rPr lang="vi-VN" dirty="0">
                <a:solidFill>
                  <a:srgbClr val="3333B2"/>
                </a:solidFill>
                <a:latin typeface="Arial"/>
                <a:cs typeface="Arial"/>
              </a:rPr>
              <a:t>(Control groups - cgroups): </a:t>
            </a:r>
            <a:r>
              <a:rPr lang="vi-VN" dirty="0">
                <a:latin typeface="Arial"/>
                <a:cs typeface="Arial"/>
              </a:rPr>
              <a:t>Áp đặt giới hạn tài nguyên đối với một tập hợp các tiến trình.</a:t>
            </a:r>
          </a:p>
        </p:txBody>
      </p:sp>
      <p:pic>
        <p:nvPicPr>
          <p:cNvPr id="5" name="object 6">
            <a:extLst>
              <a:ext uri="{FF2B5EF4-FFF2-40B4-BE49-F238E27FC236}">
                <a16:creationId xmlns:a16="http://schemas.microsoft.com/office/drawing/2014/main" id="{1F8030CB-66B3-4B70-9AA3-D1BEC4738C30}"/>
              </a:ext>
            </a:extLst>
          </p:cNvPr>
          <p:cNvPicPr/>
          <p:nvPr/>
        </p:nvPicPr>
        <p:blipFill>
          <a:blip r:embed="rId3" cstate="print"/>
          <a:stretch>
            <a:fillRect/>
          </a:stretch>
        </p:blipFill>
        <p:spPr>
          <a:xfrm>
            <a:off x="5987600" y="2212776"/>
            <a:ext cx="3757291" cy="3733800"/>
          </a:xfrm>
          <a:prstGeom prst="rect">
            <a:avLst/>
          </a:prstGeom>
        </p:spPr>
      </p:pic>
    </p:spTree>
    <p:extLst>
      <p:ext uri="{BB962C8B-B14F-4D97-AF65-F5344CB8AC3E}">
        <p14:creationId xmlns:p14="http://schemas.microsoft.com/office/powerpoint/2010/main" val="41347874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2F3CF007-99FF-4194-B8A9-7951E5F96B0E}"/>
              </a:ext>
            </a:extLst>
          </p:cNvPr>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txBody>
          <a:bodyPr/>
          <a:lstStyle/>
          <a:p>
            <a:endParaRPr lang="en-US" dirty="0"/>
          </a:p>
        </p:txBody>
      </p:sp>
      <p:sp>
        <p:nvSpPr>
          <p:cNvPr id="3" name="TextBox 5">
            <a:extLst>
              <a:ext uri="{FF2B5EF4-FFF2-40B4-BE49-F238E27FC236}">
                <a16:creationId xmlns:a16="http://schemas.microsoft.com/office/drawing/2014/main" id="{13090D0A-3D3A-408A-8132-9C18410443CA}"/>
              </a:ext>
            </a:extLst>
          </p:cNvPr>
          <p:cNvSpPr txBox="1"/>
          <p:nvPr/>
        </p:nvSpPr>
        <p:spPr>
          <a:xfrm>
            <a:off x="381000" y="228600"/>
            <a:ext cx="8290560" cy="615553"/>
          </a:xfrm>
          <a:prstGeom prst="rect">
            <a:avLst/>
          </a:prstGeom>
        </p:spPr>
        <p:txBody>
          <a:bodyPr wrap="square" lIns="0" tIns="0" rIns="0" bIns="0" rtlCol="0" anchor="t">
            <a:spAutoFit/>
          </a:bodyPr>
          <a:lstStyle/>
          <a:p>
            <a:pPr marL="50800">
              <a:lnSpc>
                <a:spcPct val="100000"/>
              </a:lnSpc>
              <a:spcBef>
                <a:spcPts val="95"/>
              </a:spcBef>
            </a:pPr>
            <a:r>
              <a:rPr lang="en-US" sz="4000" b="1" dirty="0" err="1">
                <a:solidFill>
                  <a:srgbClr val="FFFF00"/>
                </a:solidFill>
              </a:rPr>
              <a:t>Ví</a:t>
            </a:r>
            <a:r>
              <a:rPr lang="en-US" sz="4000" b="1" dirty="0">
                <a:solidFill>
                  <a:srgbClr val="FFFF00"/>
                </a:solidFill>
              </a:rPr>
              <a:t> </a:t>
            </a:r>
            <a:r>
              <a:rPr lang="en-US" sz="4000" b="1" dirty="0" err="1">
                <a:solidFill>
                  <a:srgbClr val="FFFF00"/>
                </a:solidFill>
              </a:rPr>
              <a:t>dụ</a:t>
            </a:r>
            <a:r>
              <a:rPr lang="en-US" sz="4000" b="1" dirty="0">
                <a:solidFill>
                  <a:srgbClr val="FFFF00"/>
                </a:solidFill>
              </a:rPr>
              <a:t>:</a:t>
            </a:r>
            <a:r>
              <a:rPr lang="en-US" sz="4000" b="1" spc="15" dirty="0">
                <a:solidFill>
                  <a:srgbClr val="FFFF00"/>
                </a:solidFill>
              </a:rPr>
              <a:t> </a:t>
            </a:r>
            <a:r>
              <a:rPr lang="en-US" sz="4000" b="1" spc="-10" dirty="0" err="1">
                <a:solidFill>
                  <a:srgbClr val="FFFF00"/>
                </a:solidFill>
              </a:rPr>
              <a:t>PlanetLab</a:t>
            </a:r>
            <a:endParaRPr lang="en-US" sz="4000" b="1" dirty="0">
              <a:solidFill>
                <a:srgbClr val="FFFF00"/>
              </a:solidFill>
              <a:latin typeface="Arial"/>
              <a:cs typeface="Arial"/>
            </a:endParaRPr>
          </a:p>
        </p:txBody>
      </p:sp>
      <p:sp>
        <p:nvSpPr>
          <p:cNvPr id="4" name="TextBox 3">
            <a:extLst>
              <a:ext uri="{FF2B5EF4-FFF2-40B4-BE49-F238E27FC236}">
                <a16:creationId xmlns:a16="http://schemas.microsoft.com/office/drawing/2014/main" id="{AAD3416E-9B1B-4E20-8EB1-3797F80F980F}"/>
              </a:ext>
            </a:extLst>
          </p:cNvPr>
          <p:cNvSpPr txBox="1"/>
          <p:nvPr/>
        </p:nvSpPr>
        <p:spPr>
          <a:xfrm>
            <a:off x="762000" y="1828800"/>
            <a:ext cx="6934200" cy="3785652"/>
          </a:xfrm>
          <a:prstGeom prst="rect">
            <a:avLst/>
          </a:prstGeom>
          <a:noFill/>
        </p:spPr>
        <p:txBody>
          <a:bodyPr wrap="square">
            <a:spAutoFit/>
          </a:bodyPr>
          <a:lstStyle/>
          <a:p>
            <a:r>
              <a:rPr lang="en-US" sz="2000" b="1" dirty="0" err="1">
                <a:solidFill>
                  <a:srgbClr val="0070C0"/>
                </a:solidFill>
                <a:latin typeface="Arial" panose="020B0604020202020204" pitchFamily="34" charset="0"/>
                <a:cs typeface="Arial" panose="020B0604020202020204" pitchFamily="34" charset="0"/>
              </a:rPr>
              <a:t>Bản</a:t>
            </a:r>
            <a:r>
              <a:rPr lang="en-US" sz="2000" b="1" dirty="0">
                <a:solidFill>
                  <a:srgbClr val="0070C0"/>
                </a:solidFill>
                <a:latin typeface="Arial" panose="020B0604020202020204" pitchFamily="34" charset="0"/>
                <a:cs typeface="Arial" panose="020B0604020202020204" pitchFamily="34" charset="0"/>
              </a:rPr>
              <a:t> </a:t>
            </a:r>
            <a:r>
              <a:rPr lang="en-US" sz="2000" b="1" dirty="0" err="1">
                <a:solidFill>
                  <a:srgbClr val="0070C0"/>
                </a:solidFill>
                <a:latin typeface="Arial" panose="020B0604020202020204" pitchFamily="34" charset="0"/>
                <a:cs typeface="Arial" panose="020B0604020202020204" pitchFamily="34" charset="0"/>
              </a:rPr>
              <a:t>chất</a:t>
            </a:r>
            <a:endParaRPr lang="en-US" sz="2000" b="1" dirty="0">
              <a:solidFill>
                <a:srgbClr val="0070C0"/>
              </a:solidFill>
              <a:latin typeface="Arial" panose="020B0604020202020204" pitchFamily="34" charset="0"/>
              <a:cs typeface="Arial" panose="020B0604020202020204" pitchFamily="34" charset="0"/>
            </a:endParaRPr>
          </a:p>
          <a:p>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tổ</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chức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nhau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đóng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góp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máy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họ</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chia </a:t>
            </a:r>
            <a:r>
              <a:rPr lang="en-US" sz="2000" dirty="0" err="1">
                <a:latin typeface="Arial" panose="020B0604020202020204" pitchFamily="34" charset="0"/>
                <a:cs typeface="Arial" panose="020B0604020202020204" pitchFamily="34" charset="0"/>
              </a:rPr>
              <a:t>sẻ</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chúng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nghiệm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nhau</a:t>
            </a:r>
            <a:r>
              <a:rPr lang="en-US" sz="2000" dirty="0">
                <a:latin typeface="Arial" panose="020B0604020202020204" pitchFamily="34" charset="0"/>
                <a:cs typeface="Arial" panose="020B0604020202020204" pitchFamily="34" charset="0"/>
              </a:rPr>
              <a:t>.</a:t>
            </a:r>
          </a:p>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r>
              <a:rPr lang="en-US" sz="2000" b="1" dirty="0" err="1">
                <a:solidFill>
                  <a:srgbClr val="FF0000"/>
                </a:solidFill>
                <a:latin typeface="Arial" panose="020B0604020202020204" pitchFamily="34" charset="0"/>
                <a:cs typeface="Arial" panose="020B0604020202020204" pitchFamily="34" charset="0"/>
              </a:rPr>
              <a:t>Vấn</a:t>
            </a:r>
            <a:r>
              <a:rPr lang="en-US" sz="2000" b="1" dirty="0">
                <a:solidFill>
                  <a:srgbClr val="FF0000"/>
                </a:solidFill>
                <a:latin typeface="Arial" panose="020B0604020202020204" pitchFamily="34" charset="0"/>
                <a:cs typeface="Arial" panose="020B0604020202020204" pitchFamily="34" charset="0"/>
              </a:rPr>
              <a:t> </a:t>
            </a:r>
            <a:r>
              <a:rPr lang="en-US" sz="2000" b="1" dirty="0" err="1">
                <a:solidFill>
                  <a:srgbClr val="FF0000"/>
                </a:solidFill>
                <a:latin typeface="Arial" panose="020B0604020202020204" pitchFamily="34" charset="0"/>
                <a:cs typeface="Arial" panose="020B0604020202020204" pitchFamily="34" charset="0"/>
              </a:rPr>
              <a:t>đề</a:t>
            </a:r>
            <a:r>
              <a:rPr lang="en-US" sz="2000" b="1" dirty="0">
                <a:solidFill>
                  <a:srgbClr val="FF0000"/>
                </a:solidFill>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Cần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đảm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bảo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rằng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ứng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nhau</a:t>
            </a:r>
            <a:r>
              <a:rPr lang="en-US" sz="2000"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không</a:t>
            </a:r>
            <a:r>
              <a:rPr lang="en-US" sz="2000" b="1" dirty="0">
                <a:latin typeface="Arial" panose="020B0604020202020204" pitchFamily="34" charset="0"/>
                <a:cs typeface="Arial" panose="020B0604020202020204" pitchFamily="34" charset="0"/>
              </a:rPr>
              <a:t> can </a:t>
            </a:r>
            <a:r>
              <a:rPr lang="en-US" sz="2000" b="1" dirty="0" err="1">
                <a:latin typeface="Arial" panose="020B0604020202020204" pitchFamily="34" charset="0"/>
                <a:cs typeface="Arial" panose="020B0604020202020204" pitchFamily="34" charset="0"/>
              </a:rPr>
              <a:t>thiệp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lẫn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nhau</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b="1" dirty="0">
                <a:solidFill>
                  <a:srgbClr val="0070C0"/>
                </a:solidFill>
                <a:latin typeface="Arial" panose="020B0604020202020204" pitchFamily="34" charset="0"/>
                <a:cs typeface="Arial" panose="020B0604020202020204" pitchFamily="34" charset="0"/>
              </a:rPr>
              <a:t>-&gt;  </a:t>
            </a:r>
            <a:r>
              <a:rPr lang="en-US" sz="2000" b="1" dirty="0" err="1">
                <a:solidFill>
                  <a:srgbClr val="0070C0"/>
                </a:solidFill>
                <a:latin typeface="Arial" panose="020B0604020202020204" pitchFamily="34" charset="0"/>
                <a:cs typeface="Arial" panose="020B0604020202020204" pitchFamily="34" charset="0"/>
              </a:rPr>
              <a:t>Giải</a:t>
            </a:r>
            <a:r>
              <a:rPr lang="en-US" sz="2000" b="1" dirty="0">
                <a:solidFill>
                  <a:srgbClr val="0070C0"/>
                </a:solidFill>
                <a:latin typeface="Arial" panose="020B0604020202020204" pitchFamily="34" charset="0"/>
                <a:cs typeface="Arial" panose="020B0604020202020204" pitchFamily="34" charset="0"/>
              </a:rPr>
              <a:t> </a:t>
            </a:r>
            <a:r>
              <a:rPr lang="en-US" sz="2000" b="1" dirty="0" err="1">
                <a:solidFill>
                  <a:srgbClr val="0070C0"/>
                </a:solidFill>
                <a:latin typeface="Arial" panose="020B0604020202020204" pitchFamily="34" charset="0"/>
                <a:cs typeface="Arial" panose="020B0604020202020204" pitchFamily="34" charset="0"/>
              </a:rPr>
              <a:t>pháp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ảo</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hóa</a:t>
            </a:r>
            <a:r>
              <a:rPr lang="en-US" sz="2000" b="1" dirty="0">
                <a:latin typeface="Arial" panose="020B0604020202020204" pitchFamily="34" charset="0"/>
                <a:cs typeface="Arial" panose="020B0604020202020204" pitchFamily="34" charset="0"/>
              </a:rPr>
              <a:t> (virtualization)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cô</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lập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nguyên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giúp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ứng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hoạt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lập</a:t>
            </a:r>
            <a:r>
              <a:rPr lang="en-US"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1666044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77545731-8BD2-4986-98E2-707F7243B86C}"/>
              </a:ext>
            </a:extLst>
          </p:cNvPr>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txBody>
          <a:bodyPr/>
          <a:lstStyle/>
          <a:p>
            <a:endParaRPr lang="en-US" dirty="0"/>
          </a:p>
        </p:txBody>
      </p:sp>
      <p:sp>
        <p:nvSpPr>
          <p:cNvPr id="3" name="TextBox 5">
            <a:extLst>
              <a:ext uri="{FF2B5EF4-FFF2-40B4-BE49-F238E27FC236}">
                <a16:creationId xmlns:a16="http://schemas.microsoft.com/office/drawing/2014/main" id="{D4D93234-51E9-4737-AB94-FF47112B7181}"/>
              </a:ext>
            </a:extLst>
          </p:cNvPr>
          <p:cNvSpPr txBox="1"/>
          <p:nvPr/>
        </p:nvSpPr>
        <p:spPr>
          <a:xfrm>
            <a:off x="381000" y="228600"/>
            <a:ext cx="8290560" cy="615553"/>
          </a:xfrm>
          <a:prstGeom prst="rect">
            <a:avLst/>
          </a:prstGeom>
        </p:spPr>
        <p:txBody>
          <a:bodyPr wrap="square" lIns="0" tIns="0" rIns="0" bIns="0" rtlCol="0" anchor="t">
            <a:spAutoFit/>
          </a:bodyPr>
          <a:lstStyle/>
          <a:p>
            <a:pPr marL="50800">
              <a:lnSpc>
                <a:spcPct val="100000"/>
              </a:lnSpc>
              <a:spcBef>
                <a:spcPts val="95"/>
              </a:spcBef>
            </a:pPr>
            <a:r>
              <a:rPr lang="vi-VN" sz="4000" b="1" dirty="0">
                <a:solidFill>
                  <a:srgbClr val="FFFF00"/>
                </a:solidFill>
              </a:rPr>
              <a:t>Tổ chức cơ bản của PlanetLab</a:t>
            </a:r>
            <a:endParaRPr lang="en-US" sz="4000" b="1" dirty="0">
              <a:solidFill>
                <a:srgbClr val="FFFF00"/>
              </a:solidFill>
              <a:latin typeface="Arial"/>
              <a:cs typeface="Arial"/>
            </a:endParaRPr>
          </a:p>
        </p:txBody>
      </p:sp>
      <p:sp>
        <p:nvSpPr>
          <p:cNvPr id="4" name="TextBox 3">
            <a:extLst>
              <a:ext uri="{FF2B5EF4-FFF2-40B4-BE49-F238E27FC236}">
                <a16:creationId xmlns:a16="http://schemas.microsoft.com/office/drawing/2014/main" id="{E977A659-E453-4CFF-87F3-EE1685CA111F}"/>
              </a:ext>
            </a:extLst>
          </p:cNvPr>
          <p:cNvSpPr txBox="1"/>
          <p:nvPr/>
        </p:nvSpPr>
        <p:spPr>
          <a:xfrm>
            <a:off x="838200" y="4648200"/>
            <a:ext cx="6934200" cy="1754326"/>
          </a:xfrm>
          <a:prstGeom prst="rect">
            <a:avLst/>
          </a:prstGeom>
          <a:noFill/>
        </p:spPr>
        <p:txBody>
          <a:bodyPr wrap="square">
            <a:spAutoFit/>
          </a:bodyPr>
          <a:lstStyle/>
          <a:p>
            <a:pPr algn="just"/>
            <a:r>
              <a:rPr lang="vi-VN" b="1" dirty="0">
                <a:solidFill>
                  <a:srgbClr val="0070C0"/>
                </a:solidFill>
              </a:rPr>
              <a:t>Vserver</a:t>
            </a:r>
          </a:p>
          <a:p>
            <a:pPr algn="just"/>
            <a:r>
              <a:rPr lang="vi-VN" b="1" dirty="0"/>
              <a:t>Môi trường độc lập và được bảo vệ</a:t>
            </a:r>
            <a:r>
              <a:rPr lang="vi-VN" dirty="0"/>
              <a:t>, có thư viện, phiên bản máy chủ riêng, v.v.</a:t>
            </a:r>
          </a:p>
          <a:p>
            <a:pPr algn="just"/>
            <a:r>
              <a:rPr lang="vi-VN" b="1" dirty="0"/>
              <a:t>Ứng dụng phân tán</a:t>
            </a:r>
            <a:r>
              <a:rPr lang="vi-VN" dirty="0"/>
              <a:t> được gán một tập hợp các </a:t>
            </a:r>
            <a:r>
              <a:rPr lang="vi-VN" b="1" dirty="0"/>
              <a:t>Vserver</a:t>
            </a:r>
            <a:r>
              <a:rPr lang="vi-VN" dirty="0"/>
              <a:t> nằm trên nhiều máy khác nhau, giúp chúng chạy một cách </a:t>
            </a:r>
            <a:r>
              <a:rPr lang="vi-VN" b="1" dirty="0"/>
              <a:t>cô lập</a:t>
            </a:r>
            <a:r>
              <a:rPr lang="vi-VN" dirty="0"/>
              <a:t> nhưng vẫn tận dụng được tài nguyên của hệ thống phân tán.</a:t>
            </a:r>
          </a:p>
        </p:txBody>
      </p:sp>
      <p:pic>
        <p:nvPicPr>
          <p:cNvPr id="5" name="object 6">
            <a:extLst>
              <a:ext uri="{FF2B5EF4-FFF2-40B4-BE49-F238E27FC236}">
                <a16:creationId xmlns:a16="http://schemas.microsoft.com/office/drawing/2014/main" id="{AD32ED9F-BC5F-43DA-8EA2-9FF97BEBA616}"/>
              </a:ext>
            </a:extLst>
          </p:cNvPr>
          <p:cNvPicPr/>
          <p:nvPr/>
        </p:nvPicPr>
        <p:blipFill>
          <a:blip r:embed="rId3" cstate="print"/>
          <a:stretch>
            <a:fillRect/>
          </a:stretch>
        </p:blipFill>
        <p:spPr>
          <a:xfrm>
            <a:off x="2133600" y="1654880"/>
            <a:ext cx="5334000" cy="2634643"/>
          </a:xfrm>
          <a:prstGeom prst="rect">
            <a:avLst/>
          </a:prstGeom>
        </p:spPr>
      </p:pic>
    </p:spTree>
    <p:extLst>
      <p:ext uri="{BB962C8B-B14F-4D97-AF65-F5344CB8AC3E}">
        <p14:creationId xmlns:p14="http://schemas.microsoft.com/office/powerpoint/2010/main" val="36317615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2759AB5A-5F82-480E-B423-EA341E9931CF}"/>
              </a:ext>
            </a:extLst>
          </p:cNvPr>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txBody>
          <a:bodyPr/>
          <a:lstStyle/>
          <a:p>
            <a:endParaRPr lang="en-US" dirty="0"/>
          </a:p>
        </p:txBody>
      </p:sp>
      <p:sp>
        <p:nvSpPr>
          <p:cNvPr id="3" name="TextBox 5">
            <a:extLst>
              <a:ext uri="{FF2B5EF4-FFF2-40B4-BE49-F238E27FC236}">
                <a16:creationId xmlns:a16="http://schemas.microsoft.com/office/drawing/2014/main" id="{1CED1635-A32C-4B00-82FB-12E1E56E605B}"/>
              </a:ext>
            </a:extLst>
          </p:cNvPr>
          <p:cNvSpPr txBox="1"/>
          <p:nvPr/>
        </p:nvSpPr>
        <p:spPr>
          <a:xfrm>
            <a:off x="381000" y="228600"/>
            <a:ext cx="8290560" cy="615553"/>
          </a:xfrm>
          <a:prstGeom prst="rect">
            <a:avLst/>
          </a:prstGeom>
        </p:spPr>
        <p:txBody>
          <a:bodyPr wrap="square" lIns="0" tIns="0" rIns="0" bIns="0" rtlCol="0" anchor="t">
            <a:spAutoFit/>
          </a:bodyPr>
          <a:lstStyle/>
          <a:p>
            <a:pPr marL="50800">
              <a:lnSpc>
                <a:spcPct val="100000"/>
              </a:lnSpc>
              <a:spcBef>
                <a:spcPts val="95"/>
              </a:spcBef>
            </a:pPr>
            <a:r>
              <a:rPr lang="en-US" sz="4000" b="1" dirty="0" err="1">
                <a:solidFill>
                  <a:srgbClr val="FFFF00"/>
                </a:solidFill>
              </a:rPr>
              <a:t>PlanetLab</a:t>
            </a:r>
            <a:r>
              <a:rPr lang="en-US" sz="4000" b="1" dirty="0">
                <a:solidFill>
                  <a:srgbClr val="FFFF00"/>
                </a:solidFill>
              </a:rPr>
              <a:t>: </a:t>
            </a:r>
            <a:r>
              <a:rPr lang="en-US" sz="4000" b="1" dirty="0" err="1">
                <a:solidFill>
                  <a:srgbClr val="FFFF00"/>
                </a:solidFill>
              </a:rPr>
              <a:t>Vservers</a:t>
            </a:r>
            <a:r>
              <a:rPr lang="en-US" sz="4000" b="1" dirty="0">
                <a:solidFill>
                  <a:srgbClr val="FFFF00"/>
                </a:solidFill>
              </a:rPr>
              <a:t> </a:t>
            </a:r>
            <a:r>
              <a:rPr lang="en-US" sz="4000" b="1" dirty="0" err="1">
                <a:solidFill>
                  <a:srgbClr val="FFFF00"/>
                </a:solidFill>
              </a:rPr>
              <a:t>và</a:t>
            </a:r>
            <a:r>
              <a:rPr lang="en-US" sz="4000" b="1" dirty="0">
                <a:solidFill>
                  <a:srgbClr val="FFFF00"/>
                </a:solidFill>
              </a:rPr>
              <a:t> Slices</a:t>
            </a:r>
            <a:endParaRPr lang="en-US" sz="4000" b="1" dirty="0">
              <a:solidFill>
                <a:srgbClr val="FFFF00"/>
              </a:solidFill>
              <a:latin typeface="Arial"/>
              <a:cs typeface="Arial"/>
            </a:endParaRPr>
          </a:p>
        </p:txBody>
      </p:sp>
      <p:sp>
        <p:nvSpPr>
          <p:cNvPr id="4" name="TextBox 3">
            <a:extLst>
              <a:ext uri="{FF2B5EF4-FFF2-40B4-BE49-F238E27FC236}">
                <a16:creationId xmlns:a16="http://schemas.microsoft.com/office/drawing/2014/main" id="{58F2399A-8537-46C9-9D02-03771E5F5D13}"/>
              </a:ext>
            </a:extLst>
          </p:cNvPr>
          <p:cNvSpPr txBox="1"/>
          <p:nvPr/>
        </p:nvSpPr>
        <p:spPr>
          <a:xfrm>
            <a:off x="381000" y="1494353"/>
            <a:ext cx="7467600" cy="3970318"/>
          </a:xfrm>
          <a:prstGeom prst="rect">
            <a:avLst/>
          </a:prstGeom>
          <a:noFill/>
        </p:spPr>
        <p:txBody>
          <a:bodyPr wrap="square">
            <a:spAutoFit/>
          </a:bodyPr>
          <a:lstStyle/>
          <a:p>
            <a:r>
              <a:rPr lang="vi-VN" dirty="0">
                <a:solidFill>
                  <a:srgbClr val="0070C0"/>
                </a:solidFill>
              </a:rPr>
              <a:t>Bản chất</a:t>
            </a:r>
            <a:endParaRPr lang="en-US" dirty="0">
              <a:solidFill>
                <a:srgbClr val="0070C0"/>
              </a:solidFill>
            </a:endParaRPr>
          </a:p>
          <a:p>
            <a:pPr marL="285750" indent="-285750">
              <a:buFont typeface="Arial" panose="020B0604020202020204" pitchFamily="34" charset="0"/>
              <a:buChar char="•"/>
            </a:pPr>
            <a:r>
              <a:rPr lang="vi-VN" dirty="0"/>
              <a:t>Mỗi Vserver hoạt động trong môi trường riêng của nó (tương tự như chroot).</a:t>
            </a:r>
            <a:endParaRPr lang="en-US" dirty="0"/>
          </a:p>
          <a:p>
            <a:pPr marL="285750" indent="-285750">
              <a:buFont typeface="Arial" panose="020B0604020202020204" pitchFamily="34" charset="0"/>
              <a:buChar char="•"/>
            </a:pPr>
            <a:r>
              <a:rPr lang="vi-VN" dirty="0"/>
              <a:t>Các cải tiến trong Linux bao gồm điều chỉnh phù hợp ID tiến trình (ví dụ: tiến trình init có ID 0).</a:t>
            </a:r>
            <a:endParaRPr lang="en-US" dirty="0"/>
          </a:p>
          <a:p>
            <a:pPr marL="285750" indent="-285750">
              <a:buFont typeface="Arial" panose="020B0604020202020204" pitchFamily="34" charset="0"/>
              <a:buChar char="•"/>
            </a:pPr>
            <a:r>
              <a:rPr lang="vi-VN" dirty="0"/>
              <a:t>Hai tiến trình trong các Vserver khác nhau có thể có cùng User ID, nhưng không đồng nghĩa là chúng thuộc cùng một người dùng. </a:t>
            </a:r>
            <a:endParaRPr lang="en-US" dirty="0"/>
          </a:p>
          <a:p>
            <a:endParaRPr lang="en-US" dirty="0"/>
          </a:p>
          <a:p>
            <a:endParaRPr lang="en-US" dirty="0"/>
          </a:p>
          <a:p>
            <a:endParaRPr lang="en-US" dirty="0"/>
          </a:p>
          <a:p>
            <a:endParaRPr lang="en-US" dirty="0"/>
          </a:p>
          <a:p>
            <a:endParaRPr lang="en-US" dirty="0"/>
          </a:p>
          <a:p>
            <a:r>
              <a:rPr lang="vi-VN" dirty="0">
                <a:solidFill>
                  <a:srgbClr val="0070C0"/>
                </a:solidFill>
              </a:rPr>
              <a:t>Sự tách biệt dẫn đến </a:t>
            </a:r>
            <a:endParaRPr lang="en-US" dirty="0">
              <a:solidFill>
                <a:srgbClr val="0070C0"/>
              </a:solidFill>
            </a:endParaRPr>
          </a:p>
          <a:p>
            <a:r>
              <a:rPr lang="en-US" dirty="0">
                <a:solidFill>
                  <a:srgbClr val="0070C0"/>
                </a:solidFill>
              </a:rPr>
              <a:t>  </a:t>
            </a:r>
            <a:r>
              <a:rPr lang="vi-VN" dirty="0">
                <a:solidFill>
                  <a:srgbClr val="0070C0"/>
                </a:solidFill>
              </a:rPr>
              <a:t>khái niệm </a:t>
            </a:r>
            <a:r>
              <a:rPr lang="vi-VN" dirty="0">
                <a:solidFill>
                  <a:srgbClr val="FF0000"/>
                </a:solidFill>
              </a:rPr>
              <a:t>Slices</a:t>
            </a:r>
            <a:endParaRPr lang="en-US" dirty="0">
              <a:solidFill>
                <a:srgbClr val="0070C0"/>
              </a:solidFill>
            </a:endParaRPr>
          </a:p>
        </p:txBody>
      </p:sp>
      <p:pic>
        <p:nvPicPr>
          <p:cNvPr id="9" name="Picture 8">
            <a:extLst>
              <a:ext uri="{FF2B5EF4-FFF2-40B4-BE49-F238E27FC236}">
                <a16:creationId xmlns:a16="http://schemas.microsoft.com/office/drawing/2014/main" id="{942926C9-CC43-4098-93CE-6A60E7333EB4}"/>
              </a:ext>
            </a:extLst>
          </p:cNvPr>
          <p:cNvPicPr>
            <a:picLocks noChangeAspect="1"/>
          </p:cNvPicPr>
          <p:nvPr/>
        </p:nvPicPr>
        <p:blipFill>
          <a:blip r:embed="rId3"/>
          <a:stretch>
            <a:fillRect/>
          </a:stretch>
        </p:blipFill>
        <p:spPr>
          <a:xfrm>
            <a:off x="3657600" y="3886200"/>
            <a:ext cx="5375366" cy="2781860"/>
          </a:xfrm>
          <a:prstGeom prst="rect">
            <a:avLst/>
          </a:prstGeom>
        </p:spPr>
      </p:pic>
    </p:spTree>
    <p:extLst>
      <p:ext uri="{BB962C8B-B14F-4D97-AF65-F5344CB8AC3E}">
        <p14:creationId xmlns:p14="http://schemas.microsoft.com/office/powerpoint/2010/main" val="36229931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6A47E712-0C01-4ED1-A94F-D6611F21BF7F}"/>
              </a:ext>
            </a:extLst>
          </p:cNvPr>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txBody>
          <a:bodyPr/>
          <a:lstStyle/>
          <a:p>
            <a:endParaRPr lang="en-US" dirty="0"/>
          </a:p>
        </p:txBody>
      </p:sp>
      <p:sp>
        <p:nvSpPr>
          <p:cNvPr id="3" name="TextBox 5">
            <a:extLst>
              <a:ext uri="{FF2B5EF4-FFF2-40B4-BE49-F238E27FC236}">
                <a16:creationId xmlns:a16="http://schemas.microsoft.com/office/drawing/2014/main" id="{219E7E7D-C305-44E6-BD63-641BBB83111F}"/>
              </a:ext>
            </a:extLst>
          </p:cNvPr>
          <p:cNvSpPr txBox="1"/>
          <p:nvPr/>
        </p:nvSpPr>
        <p:spPr>
          <a:xfrm>
            <a:off x="381000" y="228600"/>
            <a:ext cx="8290560" cy="615553"/>
          </a:xfrm>
          <a:prstGeom prst="rect">
            <a:avLst/>
          </a:prstGeom>
        </p:spPr>
        <p:txBody>
          <a:bodyPr wrap="square" lIns="0" tIns="0" rIns="0" bIns="0" rtlCol="0" anchor="t">
            <a:spAutoFit/>
          </a:bodyPr>
          <a:lstStyle/>
          <a:p>
            <a:pPr marL="50800">
              <a:lnSpc>
                <a:spcPct val="100000"/>
              </a:lnSpc>
              <a:spcBef>
                <a:spcPts val="95"/>
              </a:spcBef>
            </a:pPr>
            <a:r>
              <a:rPr lang="en-US" sz="4000" b="1" dirty="0" err="1">
                <a:solidFill>
                  <a:srgbClr val="FFFF00"/>
                </a:solidFill>
              </a:rPr>
              <a:t>Máy</a:t>
            </a:r>
            <a:r>
              <a:rPr lang="en-US" sz="4000" b="1" dirty="0">
                <a:solidFill>
                  <a:srgbClr val="FFFF00"/>
                </a:solidFill>
              </a:rPr>
              <a:t> </a:t>
            </a:r>
            <a:r>
              <a:rPr lang="en-US" sz="4000" b="1" dirty="0" err="1">
                <a:solidFill>
                  <a:srgbClr val="FFFF00"/>
                </a:solidFill>
              </a:rPr>
              <a:t>ảo</a:t>
            </a:r>
            <a:r>
              <a:rPr lang="en-US" sz="4000" b="1" dirty="0">
                <a:solidFill>
                  <a:srgbClr val="FFFF00"/>
                </a:solidFill>
              </a:rPr>
              <a:t> </a:t>
            </a:r>
            <a:r>
              <a:rPr lang="en-US" sz="4000" b="1" dirty="0" err="1">
                <a:solidFill>
                  <a:srgbClr val="FFFF00"/>
                </a:solidFill>
              </a:rPr>
              <a:t>và</a:t>
            </a:r>
            <a:r>
              <a:rPr lang="en-US" sz="4000" b="1" dirty="0">
                <a:solidFill>
                  <a:srgbClr val="FFFF00"/>
                </a:solidFill>
              </a:rPr>
              <a:t> </a:t>
            </a:r>
            <a:r>
              <a:rPr lang="en-US" sz="4000" b="1" dirty="0" err="1">
                <a:solidFill>
                  <a:srgbClr val="FFFF00"/>
                </a:solidFill>
              </a:rPr>
              <a:t>Điện</a:t>
            </a:r>
            <a:r>
              <a:rPr lang="en-US" sz="4000" b="1" dirty="0">
                <a:solidFill>
                  <a:srgbClr val="FFFF00"/>
                </a:solidFill>
              </a:rPr>
              <a:t> </a:t>
            </a:r>
            <a:r>
              <a:rPr lang="en-US" sz="4000" b="1" dirty="0" err="1">
                <a:solidFill>
                  <a:srgbClr val="FFFF00"/>
                </a:solidFill>
              </a:rPr>
              <a:t>toán</a:t>
            </a:r>
            <a:r>
              <a:rPr lang="en-US" sz="4000" b="1" dirty="0">
                <a:solidFill>
                  <a:srgbClr val="FFFF00"/>
                </a:solidFill>
              </a:rPr>
              <a:t> </a:t>
            </a:r>
            <a:r>
              <a:rPr lang="en-US" sz="4000" b="1" dirty="0" err="1">
                <a:solidFill>
                  <a:srgbClr val="FFFF00"/>
                </a:solidFill>
              </a:rPr>
              <a:t>đám</a:t>
            </a:r>
            <a:r>
              <a:rPr lang="en-US" sz="4000" b="1" dirty="0">
                <a:solidFill>
                  <a:srgbClr val="FFFF00"/>
                </a:solidFill>
              </a:rPr>
              <a:t> </a:t>
            </a:r>
            <a:r>
              <a:rPr lang="en-US" sz="4000" b="1" dirty="0" err="1">
                <a:solidFill>
                  <a:srgbClr val="FFFF00"/>
                </a:solidFill>
              </a:rPr>
              <a:t>mây</a:t>
            </a:r>
            <a:endParaRPr lang="en-US" sz="4000" b="1" dirty="0">
              <a:solidFill>
                <a:srgbClr val="FFFF00"/>
              </a:solidFill>
              <a:latin typeface="Arial"/>
              <a:cs typeface="Arial"/>
            </a:endParaRPr>
          </a:p>
        </p:txBody>
      </p:sp>
      <p:sp>
        <p:nvSpPr>
          <p:cNvPr id="4" name="TextBox 3">
            <a:extLst>
              <a:ext uri="{FF2B5EF4-FFF2-40B4-BE49-F238E27FC236}">
                <a16:creationId xmlns:a16="http://schemas.microsoft.com/office/drawing/2014/main" id="{DE840FA3-AADF-40B1-B0C5-35BAC83AAB63}"/>
              </a:ext>
            </a:extLst>
          </p:cNvPr>
          <p:cNvSpPr txBox="1"/>
          <p:nvPr/>
        </p:nvSpPr>
        <p:spPr>
          <a:xfrm>
            <a:off x="533400" y="1810940"/>
            <a:ext cx="7772400" cy="3847207"/>
          </a:xfrm>
          <a:prstGeom prst="rect">
            <a:avLst/>
          </a:prstGeom>
          <a:noFill/>
        </p:spPr>
        <p:txBody>
          <a:bodyPr wrap="square">
            <a:spAutoFit/>
          </a:bodyPr>
          <a:lstStyle/>
          <a:p>
            <a:pPr algn="just"/>
            <a:r>
              <a:rPr lang="vi-VN" sz="2800" dirty="0">
                <a:solidFill>
                  <a:srgbClr val="0070C0"/>
                </a:solidFill>
              </a:rPr>
              <a:t>Ba loại dịch vụ đám mây</a:t>
            </a:r>
            <a:endParaRPr lang="en-US" sz="2800" dirty="0">
              <a:solidFill>
                <a:srgbClr val="0070C0"/>
              </a:solidFill>
            </a:endParaRPr>
          </a:p>
          <a:p>
            <a:pPr algn="just"/>
            <a:endParaRPr lang="en-US" dirty="0"/>
          </a:p>
          <a:p>
            <a:pPr marL="285750" indent="-285750" algn="just">
              <a:buFont typeface="Arial" panose="020B0604020202020204" pitchFamily="34" charset="0"/>
              <a:buChar char="•"/>
            </a:pPr>
            <a:r>
              <a:rPr lang="vi-VN" dirty="0">
                <a:solidFill>
                  <a:srgbClr val="FF0000"/>
                </a:solidFill>
              </a:rPr>
              <a:t>Infrastructure-as-a-Service</a:t>
            </a:r>
            <a:r>
              <a:rPr lang="vi-VN" dirty="0"/>
              <a:t> (IaaS): Cung cấp cơ sở hạ tầng cơ bản.</a:t>
            </a:r>
            <a:endParaRPr lang="en-US" dirty="0"/>
          </a:p>
          <a:p>
            <a:pPr marL="285750" indent="-285750" algn="just">
              <a:buFont typeface="Arial" panose="020B0604020202020204" pitchFamily="34" charset="0"/>
              <a:buChar char="•"/>
            </a:pPr>
            <a:r>
              <a:rPr lang="vi-VN" dirty="0">
                <a:solidFill>
                  <a:srgbClr val="FF0000"/>
                </a:solidFill>
              </a:rPr>
              <a:t>Platform-as-a-Service</a:t>
            </a:r>
            <a:r>
              <a:rPr lang="vi-VN" dirty="0"/>
              <a:t> (PaaS): Cung cấp các dịch vụ ở cấp hệ thống.</a:t>
            </a:r>
            <a:endParaRPr lang="en-US" dirty="0"/>
          </a:p>
          <a:p>
            <a:pPr marL="285750" indent="-285750" algn="just">
              <a:buFont typeface="Arial" panose="020B0604020202020204" pitchFamily="34" charset="0"/>
              <a:buChar char="•"/>
            </a:pPr>
            <a:r>
              <a:rPr lang="vi-VN" dirty="0">
                <a:solidFill>
                  <a:srgbClr val="FF0000"/>
                </a:solidFill>
              </a:rPr>
              <a:t>Software-as-a-Service</a:t>
            </a:r>
            <a:r>
              <a:rPr lang="vi-VN" dirty="0"/>
              <a:t> (SaaS): Cung cấp các ứng dụng thực tế.</a:t>
            </a:r>
            <a:endParaRPr lang="en-US" dirty="0"/>
          </a:p>
          <a:p>
            <a:pPr algn="just"/>
            <a:endParaRPr lang="en-US" dirty="0"/>
          </a:p>
          <a:p>
            <a:pPr algn="just"/>
            <a:endParaRPr lang="en-US" dirty="0"/>
          </a:p>
          <a:p>
            <a:pPr algn="just"/>
            <a:r>
              <a:rPr lang="vi-VN" dirty="0">
                <a:solidFill>
                  <a:srgbClr val="FF0000"/>
                </a:solidFill>
              </a:rPr>
              <a:t>IaaS</a:t>
            </a:r>
            <a:r>
              <a:rPr lang="vi-VN" dirty="0"/>
              <a:t> (Cơ sở hạ tầng như một dịch vụ)</a:t>
            </a:r>
            <a:endParaRPr lang="en-US" dirty="0"/>
          </a:p>
          <a:p>
            <a:pPr algn="just"/>
            <a:r>
              <a:rPr lang="vi-VN" dirty="0"/>
              <a:t>Thay vì cho thuê một máy vật lý, nhà cung cấp đám mây cho thuê một máy ảo (VM) hoặc bộ giám sát máy ảo (VMM).</a:t>
            </a:r>
            <a:endParaRPr lang="en-US" dirty="0"/>
          </a:p>
          <a:p>
            <a:pPr algn="just"/>
            <a:r>
              <a:rPr lang="vi-VN" dirty="0"/>
              <a:t>Máy ảo có thể chia sẻ máy chủ vật lý với khách hàng khác, nhưng vẫn đảm bảo gần như tách biệt hoàn toàn giữa các khách hàng.</a:t>
            </a:r>
            <a:r>
              <a:rPr lang="en-US" dirty="0"/>
              <a:t> </a:t>
            </a:r>
            <a:r>
              <a:rPr lang="vi-VN" dirty="0"/>
              <a:t>Tuy nhiên, việc cô lập hiệu suất có thể không được đảm bảo tuyệt đối.</a:t>
            </a:r>
            <a:endParaRPr lang="en-US" dirty="0"/>
          </a:p>
        </p:txBody>
      </p:sp>
    </p:spTree>
    <p:extLst>
      <p:ext uri="{BB962C8B-B14F-4D97-AF65-F5344CB8AC3E}">
        <p14:creationId xmlns:p14="http://schemas.microsoft.com/office/powerpoint/2010/main" val="14427790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236451" y="294069"/>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Client </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36</a:t>
              </a:r>
            </a:p>
          </p:txBody>
        </p:sp>
      </p:grpSp>
      <p:sp>
        <p:nvSpPr>
          <p:cNvPr id="9" name="Freeform 9"/>
          <p:cNvSpPr/>
          <p:nvPr/>
        </p:nvSpPr>
        <p:spPr>
          <a:xfrm>
            <a:off x="421178" y="2826214"/>
            <a:ext cx="8660014" cy="2478929"/>
          </a:xfrm>
          <a:custGeom>
            <a:avLst/>
            <a:gdLst/>
            <a:ahLst/>
            <a:cxnLst/>
            <a:rect l="l" t="t" r="r" b="b"/>
            <a:pathLst>
              <a:path w="8660014" h="2478929">
                <a:moveTo>
                  <a:pt x="0" y="0"/>
                </a:moveTo>
                <a:lnTo>
                  <a:pt x="8660015" y="0"/>
                </a:lnTo>
                <a:lnTo>
                  <a:pt x="8660015" y="2478929"/>
                </a:lnTo>
                <a:lnTo>
                  <a:pt x="0" y="2478929"/>
                </a:lnTo>
                <a:lnTo>
                  <a:pt x="0" y="0"/>
                </a:lnTo>
                <a:close/>
              </a:path>
            </a:pathLst>
          </a:custGeom>
          <a:blipFill>
            <a:blip r:embed="rId4"/>
            <a:stretch>
              <a:fillRect/>
            </a:stretch>
          </a:blipFill>
        </p:spPr>
      </p:sp>
      <p:sp>
        <p:nvSpPr>
          <p:cNvPr id="10" name="TextBox 10"/>
          <p:cNvSpPr txBox="1"/>
          <p:nvPr/>
        </p:nvSpPr>
        <p:spPr>
          <a:xfrm>
            <a:off x="236451" y="1370300"/>
            <a:ext cx="6237162"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Tương tác máy client-server </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1" name="TextBox 11"/>
          <p:cNvSpPr txBox="1"/>
          <p:nvPr/>
        </p:nvSpPr>
        <p:spPr>
          <a:xfrm>
            <a:off x="245976" y="1922750"/>
            <a:ext cx="8189000" cy="6572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Phân biệt các giải pháp cấp ứng dụng và cấp phần mềm trung gian</a:t>
            </a:r>
          </a:p>
          <a:p>
            <a:pPr algn="just">
              <a:lnSpc>
                <a:spcPts val="2400"/>
              </a:lnSpc>
            </a:pPr>
            <a:endParaRPr lang="en-US" sz="2000"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236451" y="294069"/>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Client </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90080" y="6802138"/>
            <a:ext cx="2275840" cy="367436"/>
            <a:chOff x="0" y="0"/>
            <a:chExt cx="3034453" cy="489915"/>
          </a:xfrm>
        </p:grpSpPr>
        <p:sp>
          <p:nvSpPr>
            <p:cNvPr id="7" name="Freeform 7"/>
            <p:cNvSpPr/>
            <p:nvPr/>
          </p:nvSpPr>
          <p:spPr>
            <a:xfrm>
              <a:off x="0" y="0"/>
              <a:ext cx="3034453" cy="489915"/>
            </a:xfrm>
            <a:custGeom>
              <a:avLst/>
              <a:gdLst/>
              <a:ahLst/>
              <a:cxnLst/>
              <a:rect l="l" t="t" r="r" b="b"/>
              <a:pathLst>
                <a:path w="3034453" h="489915">
                  <a:moveTo>
                    <a:pt x="0" y="0"/>
                  </a:moveTo>
                  <a:lnTo>
                    <a:pt x="3034453" y="0"/>
                  </a:lnTo>
                  <a:lnTo>
                    <a:pt x="3034453" y="489915"/>
                  </a:lnTo>
                  <a:lnTo>
                    <a:pt x="0" y="489915"/>
                  </a:lnTo>
                  <a:close/>
                </a:path>
              </a:pathLst>
            </a:custGeom>
            <a:solidFill>
              <a:srgbClr val="000000">
                <a:alpha val="0"/>
              </a:srgbClr>
            </a:solidFill>
          </p:spPr>
        </p:sp>
        <p:sp>
          <p:nvSpPr>
            <p:cNvPr id="8" name="TextBox 8"/>
            <p:cNvSpPr txBox="1"/>
            <p:nvPr/>
          </p:nvSpPr>
          <p:spPr>
            <a:xfrm>
              <a:off x="0" y="-47625"/>
              <a:ext cx="3034453" cy="537540"/>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37</a:t>
              </a:r>
            </a:p>
          </p:txBody>
        </p:sp>
      </p:grpSp>
      <p:sp>
        <p:nvSpPr>
          <p:cNvPr id="9" name="Freeform 9"/>
          <p:cNvSpPr/>
          <p:nvPr/>
        </p:nvSpPr>
        <p:spPr>
          <a:xfrm>
            <a:off x="1065019" y="2603760"/>
            <a:ext cx="7372333" cy="3271473"/>
          </a:xfrm>
          <a:custGeom>
            <a:avLst/>
            <a:gdLst/>
            <a:ahLst/>
            <a:cxnLst/>
            <a:rect l="l" t="t" r="r" b="b"/>
            <a:pathLst>
              <a:path w="7372333" h="3271473">
                <a:moveTo>
                  <a:pt x="0" y="0"/>
                </a:moveTo>
                <a:lnTo>
                  <a:pt x="7372333" y="0"/>
                </a:lnTo>
                <a:lnTo>
                  <a:pt x="7372333" y="3271473"/>
                </a:lnTo>
                <a:lnTo>
                  <a:pt x="0" y="3271473"/>
                </a:lnTo>
                <a:lnTo>
                  <a:pt x="0" y="0"/>
                </a:lnTo>
                <a:close/>
              </a:path>
            </a:pathLst>
          </a:custGeom>
          <a:blipFill>
            <a:blip r:embed="rId4"/>
            <a:stretch>
              <a:fillRect/>
            </a:stretch>
          </a:blipFill>
        </p:spPr>
      </p:sp>
      <p:sp>
        <p:nvSpPr>
          <p:cNvPr id="10" name="TextBox 10"/>
          <p:cNvSpPr txBox="1"/>
          <p:nvPr/>
        </p:nvSpPr>
        <p:spPr>
          <a:xfrm>
            <a:off x="236451" y="1360775"/>
            <a:ext cx="6237162"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Ví dụ: Hệ thống X Window</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1" name="TextBox 11"/>
          <p:cNvSpPr txBox="1"/>
          <p:nvPr/>
        </p:nvSpPr>
        <p:spPr>
          <a:xfrm>
            <a:off x="236451" y="1860810"/>
            <a:ext cx="2015728" cy="676275"/>
          </a:xfrm>
          <a:prstGeom prst="rect">
            <a:avLst/>
          </a:prstGeom>
        </p:spPr>
        <p:txBody>
          <a:bodyPr lIns="0" tIns="0" rIns="0" bIns="0" rtlCol="0" anchor="t">
            <a:spAutoFit/>
          </a:bodyPr>
          <a:lstStyle/>
          <a:p>
            <a:pPr algn="just">
              <a:lnSpc>
                <a:spcPts val="2504"/>
              </a:lnSpc>
            </a:pPr>
            <a:r>
              <a:rPr lang="en-US" sz="2086" b="1">
                <a:solidFill>
                  <a:srgbClr val="000000"/>
                </a:solidFill>
                <a:latin typeface="Arial Bold"/>
                <a:ea typeface="Arial Bold"/>
                <a:cs typeface="Arial Bold"/>
                <a:sym typeface="Arial Bold"/>
              </a:rPr>
              <a:t>Tổ chức cơ bản</a:t>
            </a:r>
          </a:p>
          <a:p>
            <a:pPr algn="just">
              <a:lnSpc>
                <a:spcPts val="2504"/>
              </a:lnSpc>
            </a:pPr>
            <a:endParaRPr lang="en-US" sz="2086"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236451" y="294069"/>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Client </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38</a:t>
              </a:r>
            </a:p>
          </p:txBody>
        </p:sp>
      </p:grpSp>
      <p:sp>
        <p:nvSpPr>
          <p:cNvPr id="9" name="Freeform 9"/>
          <p:cNvSpPr/>
          <p:nvPr/>
        </p:nvSpPr>
        <p:spPr>
          <a:xfrm>
            <a:off x="1472999" y="2660910"/>
            <a:ext cx="6331353" cy="2809538"/>
          </a:xfrm>
          <a:custGeom>
            <a:avLst/>
            <a:gdLst/>
            <a:ahLst/>
            <a:cxnLst/>
            <a:rect l="l" t="t" r="r" b="b"/>
            <a:pathLst>
              <a:path w="6331353" h="2809538">
                <a:moveTo>
                  <a:pt x="0" y="0"/>
                </a:moveTo>
                <a:lnTo>
                  <a:pt x="6331353" y="0"/>
                </a:lnTo>
                <a:lnTo>
                  <a:pt x="6331353" y="2809538"/>
                </a:lnTo>
                <a:lnTo>
                  <a:pt x="0" y="2809538"/>
                </a:lnTo>
                <a:lnTo>
                  <a:pt x="0" y="0"/>
                </a:lnTo>
                <a:close/>
              </a:path>
            </a:pathLst>
          </a:custGeom>
          <a:blipFill>
            <a:blip r:embed="rId4"/>
            <a:stretch>
              <a:fillRect/>
            </a:stretch>
          </a:blipFill>
        </p:spPr>
      </p:sp>
      <p:sp>
        <p:nvSpPr>
          <p:cNvPr id="10" name="TextBox 10"/>
          <p:cNvSpPr txBox="1"/>
          <p:nvPr/>
        </p:nvSpPr>
        <p:spPr>
          <a:xfrm>
            <a:off x="236451" y="1360775"/>
            <a:ext cx="6237162"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Ví dụ: Hệ thống X Window</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1" name="TextBox 11"/>
          <p:cNvSpPr txBox="1"/>
          <p:nvPr/>
        </p:nvSpPr>
        <p:spPr>
          <a:xfrm>
            <a:off x="236451" y="1860810"/>
            <a:ext cx="2015728" cy="676275"/>
          </a:xfrm>
          <a:prstGeom prst="rect">
            <a:avLst/>
          </a:prstGeom>
        </p:spPr>
        <p:txBody>
          <a:bodyPr lIns="0" tIns="0" rIns="0" bIns="0" rtlCol="0" anchor="t">
            <a:spAutoFit/>
          </a:bodyPr>
          <a:lstStyle/>
          <a:p>
            <a:pPr algn="just">
              <a:lnSpc>
                <a:spcPts val="2504"/>
              </a:lnSpc>
            </a:pPr>
            <a:r>
              <a:rPr lang="en-US" sz="2086" b="1">
                <a:solidFill>
                  <a:srgbClr val="000000"/>
                </a:solidFill>
                <a:latin typeface="Arial Bold"/>
                <a:ea typeface="Arial Bold"/>
                <a:cs typeface="Arial Bold"/>
                <a:sym typeface="Arial Bold"/>
              </a:rPr>
              <a:t>Tổ chức cơ bản</a:t>
            </a:r>
          </a:p>
          <a:p>
            <a:pPr algn="just">
              <a:lnSpc>
                <a:spcPts val="2504"/>
              </a:lnSpc>
            </a:pPr>
            <a:endParaRPr lang="en-US" sz="2086" b="1">
              <a:solidFill>
                <a:srgbClr val="000000"/>
              </a:solidFill>
              <a:latin typeface="Arial Bold"/>
              <a:ea typeface="Arial Bold"/>
              <a:cs typeface="Arial Bold"/>
              <a:sym typeface="Arial Bold"/>
            </a:endParaRPr>
          </a:p>
        </p:txBody>
      </p:sp>
      <p:sp>
        <p:nvSpPr>
          <p:cNvPr id="12" name="TextBox 12"/>
          <p:cNvSpPr txBox="1"/>
          <p:nvPr/>
        </p:nvSpPr>
        <p:spPr>
          <a:xfrm>
            <a:off x="845145" y="5551383"/>
            <a:ext cx="8908455" cy="1285875"/>
          </a:xfrm>
          <a:prstGeom prst="rect">
            <a:avLst/>
          </a:prstGeom>
        </p:spPr>
        <p:txBody>
          <a:bodyPr lIns="0" tIns="0" rIns="0" bIns="0" rtlCol="0" anchor="t">
            <a:spAutoFit/>
          </a:bodyPr>
          <a:lstStyle/>
          <a:p>
            <a:pPr algn="just">
              <a:lnSpc>
                <a:spcPts val="2504"/>
              </a:lnSpc>
            </a:pPr>
            <a:r>
              <a:rPr lang="en-US" sz="2086">
                <a:solidFill>
                  <a:srgbClr val="FF0000"/>
                </a:solidFill>
                <a:latin typeface="Arial"/>
                <a:ea typeface="Arial"/>
                <a:cs typeface="Arial"/>
                <a:sym typeface="Arial"/>
              </a:rPr>
              <a:t>Máy khách và máy chủ X </a:t>
            </a:r>
          </a:p>
          <a:p>
            <a:pPr algn="just">
              <a:lnSpc>
                <a:spcPts val="2400"/>
              </a:lnSpc>
            </a:pPr>
            <a:r>
              <a:rPr lang="en-US" sz="2000">
                <a:solidFill>
                  <a:srgbClr val="000000"/>
                </a:solidFill>
                <a:latin typeface="Arial"/>
                <a:ea typeface="Arial"/>
                <a:cs typeface="Arial"/>
                <a:sym typeface="Arial"/>
              </a:rPr>
              <a:t>Ứng dụng hoạt động như một </a:t>
            </a:r>
            <a:r>
              <a:rPr lang="en-US" sz="2000">
                <a:solidFill>
                  <a:srgbClr val="FF0000"/>
                </a:solidFill>
                <a:latin typeface="Arial"/>
                <a:ea typeface="Arial"/>
                <a:cs typeface="Arial"/>
                <a:sym typeface="Arial"/>
              </a:rPr>
              <a:t>máy khách</a:t>
            </a:r>
            <a:r>
              <a:rPr lang="en-US" sz="2000">
                <a:solidFill>
                  <a:srgbClr val="000000"/>
                </a:solidFill>
                <a:latin typeface="Arial"/>
                <a:ea typeface="Arial"/>
                <a:cs typeface="Arial"/>
                <a:sym typeface="Arial"/>
              </a:rPr>
              <a:t> đối với hạt nhân X, hạt nhân X chạy như một </a:t>
            </a:r>
            <a:r>
              <a:rPr lang="en-US" sz="2000">
                <a:solidFill>
                  <a:srgbClr val="FF0000"/>
                </a:solidFill>
                <a:latin typeface="Arial"/>
                <a:ea typeface="Arial"/>
                <a:cs typeface="Arial"/>
                <a:sym typeface="Arial"/>
              </a:rPr>
              <a:t>máy chủ</a:t>
            </a:r>
            <a:r>
              <a:rPr lang="en-US" sz="2000">
                <a:solidFill>
                  <a:srgbClr val="000000"/>
                </a:solidFill>
                <a:latin typeface="Arial"/>
                <a:ea typeface="Arial"/>
                <a:cs typeface="Arial"/>
                <a:sym typeface="Arial"/>
              </a:rPr>
              <a:t> trên máy của máy khách.</a:t>
            </a:r>
          </a:p>
          <a:p>
            <a:pPr algn="just">
              <a:lnSpc>
                <a:spcPts val="2504"/>
              </a:lnSpc>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236451" y="294069"/>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Client </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39</a:t>
              </a:r>
            </a:p>
          </p:txBody>
        </p:sp>
      </p:grpSp>
      <p:sp>
        <p:nvSpPr>
          <p:cNvPr id="9" name="TextBox 9"/>
          <p:cNvSpPr txBox="1"/>
          <p:nvPr/>
        </p:nvSpPr>
        <p:spPr>
          <a:xfrm>
            <a:off x="236451" y="1417925"/>
            <a:ext cx="6237162" cy="952500"/>
          </a:xfrm>
          <a:prstGeom prst="rect">
            <a:avLst/>
          </a:prstGeom>
        </p:spPr>
        <p:txBody>
          <a:bodyPr lIns="0" tIns="0" rIns="0" bIns="0" rtlCol="0" anchor="t">
            <a:spAutoFit/>
          </a:bodyPr>
          <a:lstStyle/>
          <a:p>
            <a:pPr algn="just">
              <a:lnSpc>
                <a:spcPts val="3583"/>
              </a:lnSpc>
            </a:pPr>
            <a:r>
              <a:rPr lang="en-US" sz="2986" b="1">
                <a:solidFill>
                  <a:srgbClr val="000000"/>
                </a:solidFill>
                <a:latin typeface="Arial Bold"/>
                <a:ea typeface="Arial Bold"/>
                <a:cs typeface="Arial Bold"/>
                <a:sym typeface="Arial Bold"/>
              </a:rPr>
              <a:t>Cải thiện X </a:t>
            </a:r>
          </a:p>
          <a:p>
            <a:pPr algn="just">
              <a:lnSpc>
                <a:spcPts val="3583"/>
              </a:lnSpc>
              <a:spcBef>
                <a:spcPct val="0"/>
              </a:spcBef>
            </a:pPr>
            <a:endParaRPr lang="en-US" sz="2986" b="1">
              <a:solidFill>
                <a:srgbClr val="000000"/>
              </a:solidFill>
              <a:latin typeface="Arial Bold"/>
              <a:ea typeface="Arial Bold"/>
              <a:cs typeface="Arial Bold"/>
              <a:sym typeface="Arial Bold"/>
            </a:endParaRPr>
          </a:p>
        </p:txBody>
      </p:sp>
      <p:sp>
        <p:nvSpPr>
          <p:cNvPr id="10" name="TextBox 10"/>
          <p:cNvSpPr txBox="1"/>
          <p:nvPr/>
        </p:nvSpPr>
        <p:spPr>
          <a:xfrm>
            <a:off x="512636" y="2018000"/>
            <a:ext cx="8509444" cy="3337121"/>
          </a:xfrm>
          <a:prstGeom prst="rect">
            <a:avLst/>
          </a:prstGeom>
        </p:spPr>
        <p:txBody>
          <a:bodyPr lIns="0" tIns="0" rIns="0" bIns="0" rtlCol="0" anchor="t">
            <a:spAutoFit/>
          </a:bodyPr>
          <a:lstStyle/>
          <a:p>
            <a:pPr algn="just">
              <a:lnSpc>
                <a:spcPts val="2422"/>
              </a:lnSpc>
            </a:pPr>
            <a:r>
              <a:rPr lang="en-US" sz="1938" b="1">
                <a:solidFill>
                  <a:srgbClr val="000000"/>
                </a:solidFill>
                <a:latin typeface="Arial Bold"/>
                <a:ea typeface="Arial Bold"/>
                <a:cs typeface="Arial Bold"/>
                <a:sym typeface="Arial Bold"/>
              </a:rPr>
              <a:t>Quan sát thực tế:</a:t>
            </a:r>
          </a:p>
          <a:p>
            <a:pPr algn="just">
              <a:lnSpc>
                <a:spcPts val="2422"/>
              </a:lnSpc>
            </a:pPr>
            <a:r>
              <a:rPr lang="en-US" sz="1938">
                <a:solidFill>
                  <a:srgbClr val="000000"/>
                </a:solidFill>
                <a:latin typeface="Arial"/>
                <a:ea typeface="Arial"/>
                <a:cs typeface="Arial"/>
                <a:sym typeface="Arial"/>
              </a:rPr>
              <a:t>• Thường không có sự tách biệt rõ ràng giữa logic ứng dụng và lệnh giao diện người dùng </a:t>
            </a:r>
          </a:p>
          <a:p>
            <a:pPr algn="just">
              <a:lnSpc>
                <a:spcPts val="2422"/>
              </a:lnSpc>
            </a:pPr>
            <a:r>
              <a:rPr lang="en-US" sz="1938">
                <a:solidFill>
                  <a:srgbClr val="000000"/>
                </a:solidFill>
                <a:latin typeface="Arial"/>
                <a:ea typeface="Arial"/>
                <a:cs typeface="Arial"/>
                <a:sym typeface="Arial"/>
              </a:rPr>
              <a:t>• Các ứng dụng có xu hướng hoạt động theo cách đồng bộ chặt chẽ với X hạt nhân </a:t>
            </a:r>
          </a:p>
          <a:p>
            <a:pPr algn="just">
              <a:lnSpc>
                <a:spcPts val="2325"/>
              </a:lnSpc>
            </a:pPr>
            <a:r>
              <a:rPr lang="en-US" sz="1938" b="1">
                <a:solidFill>
                  <a:srgbClr val="000000"/>
                </a:solidFill>
                <a:latin typeface="Arial Bold"/>
                <a:ea typeface="Arial Bold"/>
                <a:cs typeface="Arial Bold"/>
                <a:sym typeface="Arial Bold"/>
              </a:rPr>
              <a:t>Các cách tiếp cận thay thế:</a:t>
            </a:r>
          </a:p>
          <a:p>
            <a:pPr algn="just">
              <a:lnSpc>
                <a:spcPts val="2325"/>
              </a:lnSpc>
            </a:pPr>
            <a:r>
              <a:rPr lang="en-US" sz="1938">
                <a:solidFill>
                  <a:srgbClr val="000000"/>
                </a:solidFill>
                <a:latin typeface="Arial"/>
                <a:ea typeface="Arial"/>
                <a:cs typeface="Arial"/>
                <a:sym typeface="Arial"/>
              </a:rPr>
              <a:t>• Cho phép các ứng dụng kiểm soát toàn bộ màn hình , lên đến cấp độ pixel (ví dụ: VNC) </a:t>
            </a:r>
          </a:p>
          <a:p>
            <a:pPr algn="just">
              <a:lnSpc>
                <a:spcPts val="2325"/>
              </a:lnSpc>
            </a:pPr>
            <a:r>
              <a:rPr lang="en-US" sz="1938">
                <a:solidFill>
                  <a:srgbClr val="000000"/>
                </a:solidFill>
                <a:latin typeface="Arial"/>
                <a:ea typeface="Arial"/>
                <a:cs typeface="Arial"/>
                <a:sym typeface="Arial"/>
              </a:rPr>
              <a:t>• Chỉ cung cấp một vài thao tác hiển thị cấp cao (phụ thuộc vào địa phương trình điều khiển video), cho phép hiển thị hiệu quả hơn.</a:t>
            </a:r>
          </a:p>
          <a:p>
            <a:pPr algn="just">
              <a:lnSpc>
                <a:spcPts val="2325"/>
              </a:lnSpc>
            </a:pPr>
            <a:endParaRPr lang="en-US" sz="1938">
              <a:solidFill>
                <a:srgbClr val="000000"/>
              </a:solidFill>
              <a:latin typeface="Arial"/>
              <a:ea typeface="Arial"/>
              <a:cs typeface="Arial"/>
              <a:sym typeface="Arial"/>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236451" y="294069"/>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Client </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40</a:t>
              </a:r>
            </a:p>
          </p:txBody>
        </p:sp>
      </p:grpSp>
      <p:sp>
        <p:nvSpPr>
          <p:cNvPr id="9" name="Freeform 9"/>
          <p:cNvSpPr/>
          <p:nvPr/>
        </p:nvSpPr>
        <p:spPr>
          <a:xfrm>
            <a:off x="2434202" y="3743325"/>
            <a:ext cx="4245692" cy="2674786"/>
          </a:xfrm>
          <a:custGeom>
            <a:avLst/>
            <a:gdLst/>
            <a:ahLst/>
            <a:cxnLst/>
            <a:rect l="l" t="t" r="r" b="b"/>
            <a:pathLst>
              <a:path w="4245692" h="2674786">
                <a:moveTo>
                  <a:pt x="0" y="0"/>
                </a:moveTo>
                <a:lnTo>
                  <a:pt x="4245692" y="0"/>
                </a:lnTo>
                <a:lnTo>
                  <a:pt x="4245692" y="2674786"/>
                </a:lnTo>
                <a:lnTo>
                  <a:pt x="0" y="2674786"/>
                </a:lnTo>
                <a:lnTo>
                  <a:pt x="0" y="0"/>
                </a:lnTo>
                <a:close/>
              </a:path>
            </a:pathLst>
          </a:custGeom>
          <a:blipFill>
            <a:blip r:embed="rId4"/>
            <a:stretch>
              <a:fillRect/>
            </a:stretch>
          </a:blipFill>
        </p:spPr>
      </p:sp>
      <p:sp>
        <p:nvSpPr>
          <p:cNvPr id="10" name="TextBox 10"/>
          <p:cNvSpPr txBox="1"/>
          <p:nvPr/>
        </p:nvSpPr>
        <p:spPr>
          <a:xfrm>
            <a:off x="236451" y="1379825"/>
            <a:ext cx="6237162" cy="89535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Môi trường máy tính để bàn ảo</a:t>
            </a:r>
          </a:p>
          <a:p>
            <a:pPr algn="just">
              <a:lnSpc>
                <a:spcPts val="3583"/>
              </a:lnSpc>
              <a:spcBef>
                <a:spcPct val="0"/>
              </a:spcBef>
            </a:pPr>
            <a:endParaRPr lang="en-US" sz="2600" b="1">
              <a:solidFill>
                <a:srgbClr val="000000"/>
              </a:solidFill>
              <a:latin typeface="Arial Bold"/>
              <a:ea typeface="Arial Bold"/>
              <a:cs typeface="Arial Bold"/>
              <a:sym typeface="Arial Bold"/>
            </a:endParaRPr>
          </a:p>
        </p:txBody>
      </p:sp>
      <p:sp>
        <p:nvSpPr>
          <p:cNvPr id="11" name="TextBox 11"/>
          <p:cNvSpPr txBox="1"/>
          <p:nvPr/>
        </p:nvSpPr>
        <p:spPr>
          <a:xfrm>
            <a:off x="512636" y="1866900"/>
            <a:ext cx="9240964" cy="18764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Phát triển hợp lý </a:t>
            </a:r>
          </a:p>
          <a:p>
            <a:pPr algn="just">
              <a:lnSpc>
                <a:spcPts val="2400"/>
              </a:lnSpc>
            </a:pPr>
            <a:r>
              <a:rPr lang="en-US" sz="2000">
                <a:solidFill>
                  <a:srgbClr val="000000"/>
                </a:solidFill>
                <a:latin typeface="Arial"/>
                <a:ea typeface="Arial"/>
                <a:cs typeface="Arial"/>
                <a:sym typeface="Arial"/>
              </a:rPr>
              <a:t>Với số lượng ứng dụng đám mây ngày càng tăng, câu hỏi đặt ra là làm thế nào để sử dụng các ứng dụng đó từ cơ sở của người dùng? </a:t>
            </a:r>
          </a:p>
          <a:p>
            <a:pPr algn="just">
              <a:lnSpc>
                <a:spcPts val="2400"/>
              </a:lnSpc>
            </a:pPr>
            <a:r>
              <a:rPr lang="en-US" sz="2000" b="1">
                <a:solidFill>
                  <a:srgbClr val="000000"/>
                </a:solidFill>
                <a:latin typeface="Arial Bold"/>
                <a:ea typeface="Arial Bold"/>
                <a:cs typeface="Arial Bold"/>
                <a:sym typeface="Arial Bold"/>
              </a:rPr>
              <a:t>• Vấn đề:</a:t>
            </a:r>
            <a:r>
              <a:rPr lang="en-US" sz="2000">
                <a:solidFill>
                  <a:srgbClr val="000000"/>
                </a:solidFill>
                <a:latin typeface="Arial"/>
                <a:ea typeface="Arial"/>
                <a:cs typeface="Arial"/>
                <a:sym typeface="Arial"/>
              </a:rPr>
              <a:t> phát triển giao diện người dùng mạng tối ưu </a:t>
            </a:r>
          </a:p>
          <a:p>
            <a:pPr algn="just">
              <a:lnSpc>
                <a:spcPts val="2400"/>
              </a:lnSpc>
            </a:pPr>
            <a:r>
              <a:rPr lang="en-US" sz="2000" b="1">
                <a:solidFill>
                  <a:srgbClr val="000000"/>
                </a:solidFill>
                <a:latin typeface="Arial Bold"/>
                <a:ea typeface="Arial Bold"/>
                <a:cs typeface="Arial Bold"/>
                <a:sym typeface="Arial Bold"/>
              </a:rPr>
              <a:t>• Trả lời:</a:t>
            </a:r>
            <a:r>
              <a:rPr lang="en-US" sz="2000">
                <a:solidFill>
                  <a:srgbClr val="000000"/>
                </a:solidFill>
                <a:latin typeface="Arial"/>
                <a:ea typeface="Arial"/>
                <a:cs typeface="Arial"/>
                <a:sym typeface="Arial"/>
              </a:rPr>
              <a:t> sử dụng trình duyệt Web để thiết lập trải nghiệm liền mạch</a:t>
            </a:r>
          </a:p>
          <a:p>
            <a:pPr algn="just">
              <a:lnSpc>
                <a:spcPts val="2400"/>
              </a:lnSpc>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236451" y="294069"/>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Client </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41</a:t>
              </a:r>
            </a:p>
          </p:txBody>
        </p:sp>
      </p:grpSp>
      <p:sp>
        <p:nvSpPr>
          <p:cNvPr id="9" name="Freeform 9"/>
          <p:cNvSpPr/>
          <p:nvPr/>
        </p:nvSpPr>
        <p:spPr>
          <a:xfrm>
            <a:off x="1712745" y="2130766"/>
            <a:ext cx="5958981" cy="4327710"/>
          </a:xfrm>
          <a:custGeom>
            <a:avLst/>
            <a:gdLst/>
            <a:ahLst/>
            <a:cxnLst/>
            <a:rect l="l" t="t" r="r" b="b"/>
            <a:pathLst>
              <a:path w="5958981" h="4327710">
                <a:moveTo>
                  <a:pt x="0" y="0"/>
                </a:moveTo>
                <a:lnTo>
                  <a:pt x="5958982" y="0"/>
                </a:lnTo>
                <a:lnTo>
                  <a:pt x="5958982" y="4327710"/>
                </a:lnTo>
                <a:lnTo>
                  <a:pt x="0" y="4327710"/>
                </a:lnTo>
                <a:lnTo>
                  <a:pt x="0" y="0"/>
                </a:lnTo>
                <a:close/>
              </a:path>
            </a:pathLst>
          </a:custGeom>
          <a:blipFill>
            <a:blip r:embed="rId4"/>
            <a:stretch>
              <a:fillRect/>
            </a:stretch>
          </a:blipFill>
        </p:spPr>
      </p:sp>
      <p:sp>
        <p:nvSpPr>
          <p:cNvPr id="10" name="TextBox 10"/>
          <p:cNvSpPr txBox="1"/>
          <p:nvPr/>
        </p:nvSpPr>
        <p:spPr>
          <a:xfrm>
            <a:off x="236451" y="1446500"/>
            <a:ext cx="6237162"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Giải phẫu của trình duyệt Web</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512636" y="294069"/>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3. Client </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90080" y="6706659"/>
            <a:ext cx="2275840" cy="535092"/>
            <a:chOff x="0" y="0"/>
            <a:chExt cx="3034453" cy="713456"/>
          </a:xfrm>
        </p:grpSpPr>
        <p:sp>
          <p:nvSpPr>
            <p:cNvPr id="7" name="Freeform 7"/>
            <p:cNvSpPr/>
            <p:nvPr/>
          </p:nvSpPr>
          <p:spPr>
            <a:xfrm>
              <a:off x="0" y="0"/>
              <a:ext cx="3034453" cy="713456"/>
            </a:xfrm>
            <a:custGeom>
              <a:avLst/>
              <a:gdLst/>
              <a:ahLst/>
              <a:cxnLst/>
              <a:rect l="l" t="t" r="r" b="b"/>
              <a:pathLst>
                <a:path w="3034453" h="713456">
                  <a:moveTo>
                    <a:pt x="0" y="0"/>
                  </a:moveTo>
                  <a:lnTo>
                    <a:pt x="3034453" y="0"/>
                  </a:lnTo>
                  <a:lnTo>
                    <a:pt x="3034453" y="713456"/>
                  </a:lnTo>
                  <a:lnTo>
                    <a:pt x="0" y="713456"/>
                  </a:lnTo>
                  <a:close/>
                </a:path>
              </a:pathLst>
            </a:custGeom>
            <a:solidFill>
              <a:srgbClr val="000000">
                <a:alpha val="0"/>
              </a:srgbClr>
            </a:solidFill>
          </p:spPr>
        </p:sp>
        <p:sp>
          <p:nvSpPr>
            <p:cNvPr id="8" name="TextBox 8"/>
            <p:cNvSpPr txBox="1"/>
            <p:nvPr/>
          </p:nvSpPr>
          <p:spPr>
            <a:xfrm>
              <a:off x="0" y="-47625"/>
              <a:ext cx="3034453" cy="761081"/>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42</a:t>
              </a:r>
            </a:p>
          </p:txBody>
        </p:sp>
      </p:grpSp>
      <p:sp>
        <p:nvSpPr>
          <p:cNvPr id="9" name="TextBox 9"/>
          <p:cNvSpPr txBox="1"/>
          <p:nvPr/>
        </p:nvSpPr>
        <p:spPr>
          <a:xfrm>
            <a:off x="236451" y="1294100"/>
            <a:ext cx="6237162"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Phần mềm phía máy khách</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0" name="TextBox 10"/>
          <p:cNvSpPr txBox="1"/>
          <p:nvPr/>
        </p:nvSpPr>
        <p:spPr>
          <a:xfrm>
            <a:off x="512636" y="1879490"/>
            <a:ext cx="9240964" cy="2209800"/>
          </a:xfrm>
          <a:prstGeom prst="rect">
            <a:avLst/>
          </a:prstGeom>
        </p:spPr>
        <p:txBody>
          <a:bodyPr lIns="0" tIns="0" rIns="0" bIns="0" rtlCol="0" anchor="t">
            <a:spAutoFit/>
          </a:bodyPr>
          <a:lstStyle/>
          <a:p>
            <a:pPr algn="just">
              <a:lnSpc>
                <a:spcPts val="2639"/>
              </a:lnSpc>
            </a:pPr>
            <a:r>
              <a:rPr lang="en-US" sz="2199" b="1">
                <a:solidFill>
                  <a:srgbClr val="000000"/>
                </a:solidFill>
                <a:latin typeface="Arial Bold"/>
                <a:ea typeface="Arial Bold"/>
                <a:cs typeface="Arial Bold"/>
                <a:sym typeface="Arial Bold"/>
              </a:rPr>
              <a:t>Nói chung được thiết kế để phân phối minh bạch</a:t>
            </a:r>
            <a:r>
              <a:rPr lang="en-US" sz="2199">
                <a:solidFill>
                  <a:srgbClr val="000000"/>
                </a:solidFill>
                <a:latin typeface="Arial"/>
                <a:ea typeface="Arial"/>
                <a:cs typeface="Arial"/>
                <a:sym typeface="Arial"/>
              </a:rPr>
              <a:t> </a:t>
            </a:r>
          </a:p>
          <a:p>
            <a:pPr algn="just">
              <a:lnSpc>
                <a:spcPts val="2400"/>
              </a:lnSpc>
            </a:pPr>
            <a:r>
              <a:rPr lang="en-US" sz="2000" b="1">
                <a:solidFill>
                  <a:srgbClr val="000000"/>
                </a:solidFill>
                <a:latin typeface="Arial Bold"/>
                <a:ea typeface="Arial Bold"/>
                <a:cs typeface="Arial Bold"/>
                <a:sym typeface="Arial Bold"/>
              </a:rPr>
              <a:t>• Tính minh bạch trong truy cập:</a:t>
            </a:r>
            <a:r>
              <a:rPr lang="en-US" sz="2000">
                <a:solidFill>
                  <a:srgbClr val="000000"/>
                </a:solidFill>
                <a:latin typeface="Arial"/>
                <a:ea typeface="Arial"/>
                <a:cs typeface="Arial"/>
                <a:sym typeface="Arial"/>
              </a:rPr>
              <a:t> stub phía máy khách cho RPC </a:t>
            </a:r>
          </a:p>
          <a:p>
            <a:pPr algn="just">
              <a:lnSpc>
                <a:spcPts val="2400"/>
              </a:lnSpc>
            </a:pPr>
            <a:r>
              <a:rPr lang="en-US" sz="2000" b="1">
                <a:solidFill>
                  <a:srgbClr val="000000"/>
                </a:solidFill>
                <a:latin typeface="Arial Bold"/>
                <a:ea typeface="Arial Bold"/>
                <a:cs typeface="Arial Bold"/>
                <a:sym typeface="Arial Bold"/>
              </a:rPr>
              <a:t>• Tính minh bạch về vị trí/di chuyển:</a:t>
            </a:r>
            <a:r>
              <a:rPr lang="en-US" sz="2000">
                <a:solidFill>
                  <a:srgbClr val="000000"/>
                </a:solidFill>
                <a:latin typeface="Arial"/>
                <a:ea typeface="Arial"/>
                <a:cs typeface="Arial"/>
                <a:sym typeface="Arial"/>
              </a:rPr>
              <a:t> cho phép phần mềm phía máy khách theo dõi vị trí thực tế </a:t>
            </a:r>
          </a:p>
          <a:p>
            <a:pPr algn="just">
              <a:lnSpc>
                <a:spcPts val="2400"/>
              </a:lnSpc>
            </a:pPr>
            <a:r>
              <a:rPr lang="en-US" sz="2000" b="1">
                <a:solidFill>
                  <a:srgbClr val="000000"/>
                </a:solidFill>
                <a:latin typeface="Arial Bold"/>
                <a:ea typeface="Arial Bold"/>
                <a:cs typeface="Arial Bold"/>
                <a:sym typeface="Arial Bold"/>
              </a:rPr>
              <a:t>• Tính minh bạch của việc sao chép:</a:t>
            </a:r>
            <a:r>
              <a:rPr lang="en-US" sz="2000">
                <a:solidFill>
                  <a:srgbClr val="000000"/>
                </a:solidFill>
                <a:latin typeface="Arial"/>
                <a:ea typeface="Arial"/>
                <a:cs typeface="Arial"/>
                <a:sym typeface="Arial"/>
              </a:rPr>
              <a:t> nhiều lệnh gọi được xử lý bởi stub máy khách:</a:t>
            </a:r>
            <a:r>
              <a:rPr lang="en-US" sz="2000" b="1">
                <a:solidFill>
                  <a:srgbClr val="000000"/>
                </a:solidFill>
                <a:latin typeface="Arial Bold"/>
                <a:ea typeface="Arial Bold"/>
                <a:cs typeface="Arial Bold"/>
                <a:sym typeface="Arial Bold"/>
              </a:rPr>
              <a:t> </a:t>
            </a:r>
          </a:p>
          <a:p>
            <a:pPr algn="just">
              <a:lnSpc>
                <a:spcPts val="2400"/>
              </a:lnSpc>
            </a:pPr>
            <a:endParaRPr lang="en-US" sz="2000" b="1">
              <a:solidFill>
                <a:srgbClr val="000000"/>
              </a:solidFill>
              <a:latin typeface="Arial Bold"/>
              <a:ea typeface="Arial Bold"/>
              <a:cs typeface="Arial Bold"/>
              <a:sym typeface="Arial Bold"/>
            </a:endParaRPr>
          </a:p>
        </p:txBody>
      </p:sp>
      <p:sp>
        <p:nvSpPr>
          <p:cNvPr id="11" name="Freeform 11"/>
          <p:cNvSpPr/>
          <p:nvPr/>
        </p:nvSpPr>
        <p:spPr>
          <a:xfrm>
            <a:off x="1737517" y="3842382"/>
            <a:ext cx="6188840" cy="2189302"/>
          </a:xfrm>
          <a:custGeom>
            <a:avLst/>
            <a:gdLst/>
            <a:ahLst/>
            <a:cxnLst/>
            <a:rect l="l" t="t" r="r" b="b"/>
            <a:pathLst>
              <a:path w="6188840" h="2189302">
                <a:moveTo>
                  <a:pt x="0" y="0"/>
                </a:moveTo>
                <a:lnTo>
                  <a:pt x="6188840" y="0"/>
                </a:lnTo>
                <a:lnTo>
                  <a:pt x="6188840" y="2189302"/>
                </a:lnTo>
                <a:lnTo>
                  <a:pt x="0" y="2189302"/>
                </a:lnTo>
                <a:lnTo>
                  <a:pt x="0" y="0"/>
                </a:lnTo>
                <a:close/>
              </a:path>
            </a:pathLst>
          </a:custGeom>
          <a:blipFill>
            <a:blip r:embed="rId4"/>
            <a:stretch>
              <a:fillRect/>
            </a:stretch>
          </a:blipFill>
        </p:spPr>
      </p:sp>
      <p:sp>
        <p:nvSpPr>
          <p:cNvPr id="12" name="TextBox 12"/>
          <p:cNvSpPr txBox="1"/>
          <p:nvPr/>
        </p:nvSpPr>
        <p:spPr>
          <a:xfrm>
            <a:off x="265252" y="6078855"/>
            <a:ext cx="9488348" cy="962025"/>
          </a:xfrm>
          <a:prstGeom prst="rect">
            <a:avLst/>
          </a:prstGeom>
        </p:spPr>
        <p:txBody>
          <a:bodyPr lIns="0" tIns="0" rIns="0" bIns="0" rtlCol="0" anchor="t">
            <a:spAutoFit/>
          </a:bodyPr>
          <a:lstStyle/>
          <a:p>
            <a:pPr algn="ctr">
              <a:lnSpc>
                <a:spcPts val="2400"/>
              </a:lnSpc>
            </a:pPr>
            <a:r>
              <a:rPr lang="en-US" sz="2000" b="1">
                <a:solidFill>
                  <a:srgbClr val="000000"/>
                </a:solidFill>
                <a:latin typeface="Arial Bold"/>
                <a:ea typeface="Arial Bold"/>
                <a:cs typeface="Arial Bold"/>
                <a:sym typeface="Arial Bold"/>
              </a:rPr>
              <a:t>• Minh bạch lỗi:</a:t>
            </a:r>
            <a:r>
              <a:rPr lang="en-US" sz="2000">
                <a:solidFill>
                  <a:srgbClr val="000000"/>
                </a:solidFill>
                <a:latin typeface="Arial"/>
                <a:ea typeface="Arial"/>
                <a:cs typeface="Arial"/>
                <a:sym typeface="Arial"/>
              </a:rPr>
              <a:t> thường chỉ có thể được đặt tại máy khách (chúng tôi đang cố gắng máy chủ mặt nạ và lỗi giao tiếp).</a:t>
            </a:r>
          </a:p>
          <a:p>
            <a:pPr algn="ctr">
              <a:lnSpc>
                <a:spcPts val="240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512636" y="29793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43</a:t>
              </a:r>
            </a:p>
          </p:txBody>
        </p:sp>
      </p:grpSp>
      <p:sp>
        <p:nvSpPr>
          <p:cNvPr id="9" name="TextBox 9"/>
          <p:cNvSpPr txBox="1"/>
          <p:nvPr/>
        </p:nvSpPr>
        <p:spPr>
          <a:xfrm>
            <a:off x="512636" y="1511107"/>
            <a:ext cx="6237162"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Máy chủ: Tổ chức chung</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0" name="TextBox 10"/>
          <p:cNvSpPr txBox="1"/>
          <p:nvPr/>
        </p:nvSpPr>
        <p:spPr>
          <a:xfrm>
            <a:off x="826483" y="2085975"/>
            <a:ext cx="8037598" cy="1571625"/>
          </a:xfrm>
          <a:prstGeom prst="rect">
            <a:avLst/>
          </a:prstGeom>
        </p:spPr>
        <p:txBody>
          <a:bodyPr lIns="0" tIns="0" rIns="0" bIns="0" rtlCol="0" anchor="t">
            <a:spAutoFit/>
          </a:bodyPr>
          <a:lstStyle/>
          <a:p>
            <a:pPr algn="l">
              <a:lnSpc>
                <a:spcPts val="2400"/>
              </a:lnSpc>
            </a:pPr>
            <a:r>
              <a:rPr lang="en-US" sz="2000" b="1">
                <a:solidFill>
                  <a:srgbClr val="000000"/>
                </a:solidFill>
                <a:latin typeface="Arial Bold"/>
                <a:ea typeface="Arial Bold"/>
                <a:cs typeface="Arial Bold"/>
                <a:sym typeface="Arial Bold"/>
              </a:rPr>
              <a:t>Mô hình cơ bản </a:t>
            </a:r>
          </a:p>
          <a:p>
            <a:pPr algn="l">
              <a:lnSpc>
                <a:spcPts val="2400"/>
              </a:lnSpc>
            </a:pPr>
            <a:r>
              <a:rPr lang="en-US" sz="2000">
                <a:solidFill>
                  <a:srgbClr val="000000"/>
                </a:solidFill>
                <a:latin typeface="Arial"/>
                <a:ea typeface="Arial"/>
                <a:cs typeface="Arial"/>
                <a:sym typeface="Arial"/>
              </a:rPr>
              <a:t>Một quy trình triển khai một dịch vụ cụ thể thay mặt cho một nhóm khách hàng. Nó chờ yêu cầu đến từ khách hàng và sau đó đảm bảo rằng yêu cầu được xử lý, sau đó nó chờ yêu cầu đến tiếp theo.</a:t>
            </a:r>
          </a:p>
          <a:p>
            <a:pPr algn="l">
              <a:lnSpc>
                <a:spcPts val="2400"/>
              </a:lnSpc>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512636" y="29793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44</a:t>
              </a:r>
            </a:p>
          </p:txBody>
        </p:sp>
      </p:grpSp>
      <p:sp>
        <p:nvSpPr>
          <p:cNvPr id="9" name="TextBox 9"/>
          <p:cNvSpPr txBox="1"/>
          <p:nvPr/>
        </p:nvSpPr>
        <p:spPr>
          <a:xfrm>
            <a:off x="512636" y="1511107"/>
            <a:ext cx="6237162"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Máy chủ: Tổ chức chung</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0" name="TextBox 10"/>
          <p:cNvSpPr txBox="1"/>
          <p:nvPr/>
        </p:nvSpPr>
        <p:spPr>
          <a:xfrm>
            <a:off x="512636" y="2085975"/>
            <a:ext cx="8401774" cy="40100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Mô hình cơ bản </a:t>
            </a:r>
          </a:p>
          <a:p>
            <a:pPr algn="just">
              <a:lnSpc>
                <a:spcPts val="2400"/>
              </a:lnSpc>
            </a:pPr>
            <a:r>
              <a:rPr lang="en-US" sz="2000">
                <a:solidFill>
                  <a:srgbClr val="000000"/>
                </a:solidFill>
                <a:latin typeface="Arial"/>
                <a:ea typeface="Arial"/>
                <a:cs typeface="Arial"/>
                <a:sym typeface="Arial"/>
              </a:rPr>
              <a:t>Một quy trình triển khai một dịch vụ cụ thể thay mặt cho một nhóm khách hàng. Nó chờ yêu cầu đến từ khách hàng và sau đó đảm bảo rằng yêu cầu được xử lý, sau đó nó chờ yêu cầu đến tiếp theo. </a:t>
            </a:r>
          </a:p>
          <a:p>
            <a:pPr algn="just">
              <a:lnSpc>
                <a:spcPts val="2400"/>
              </a:lnSpc>
            </a:pPr>
            <a:r>
              <a:rPr lang="en-US" sz="2000" b="1">
                <a:solidFill>
                  <a:srgbClr val="000000"/>
                </a:solidFill>
                <a:latin typeface="Arial Bold"/>
                <a:ea typeface="Arial Bold"/>
                <a:cs typeface="Arial Bold"/>
                <a:sym typeface="Arial Bold"/>
              </a:rPr>
              <a:t>Hai loại cơ bản</a:t>
            </a:r>
            <a:r>
              <a:rPr lang="en-US" sz="2000">
                <a:solidFill>
                  <a:srgbClr val="000000"/>
                </a:solidFill>
                <a:latin typeface="Arial"/>
                <a:ea typeface="Arial"/>
                <a:cs typeface="Arial"/>
                <a:sym typeface="Arial"/>
              </a:rPr>
              <a:t> </a:t>
            </a:r>
          </a:p>
          <a:p>
            <a:pPr algn="just">
              <a:lnSpc>
                <a:spcPts val="2400"/>
              </a:lnSpc>
            </a:pPr>
            <a:r>
              <a:rPr lang="en-US" sz="2000">
                <a:solidFill>
                  <a:srgbClr val="FF0000"/>
                </a:solidFill>
                <a:latin typeface="Arial"/>
                <a:ea typeface="Arial"/>
                <a:cs typeface="Arial"/>
                <a:sym typeface="Arial"/>
              </a:rPr>
              <a:t>• Máy chủ lặp:</a:t>
            </a:r>
            <a:r>
              <a:rPr lang="en-US" sz="2000">
                <a:solidFill>
                  <a:srgbClr val="000000"/>
                </a:solidFill>
                <a:latin typeface="Arial"/>
                <a:ea typeface="Arial"/>
                <a:cs typeface="Arial"/>
                <a:sym typeface="Arial"/>
              </a:rPr>
              <a:t> Máy chủ xử lý yêu cầu trước khi tham dự lần tiếp theo lời yêu cầu. </a:t>
            </a:r>
          </a:p>
          <a:p>
            <a:pPr algn="just">
              <a:lnSpc>
                <a:spcPts val="2400"/>
              </a:lnSpc>
            </a:pPr>
            <a:r>
              <a:rPr lang="en-US" sz="2000">
                <a:solidFill>
                  <a:srgbClr val="FF0000"/>
                </a:solidFill>
                <a:latin typeface="Arial"/>
                <a:ea typeface="Arial"/>
                <a:cs typeface="Arial"/>
                <a:sym typeface="Arial"/>
              </a:rPr>
              <a:t>• Máy chủ đồng thời:</a:t>
            </a:r>
            <a:r>
              <a:rPr lang="en-US" sz="2000">
                <a:solidFill>
                  <a:srgbClr val="000000"/>
                </a:solidFill>
                <a:latin typeface="Arial"/>
                <a:ea typeface="Arial"/>
                <a:cs typeface="Arial"/>
                <a:sym typeface="Arial"/>
              </a:rPr>
              <a:t> Sử dụng bộ điều phối, bộ này sẽ tiếp nhận yêu cầu đến sau đó chuyển đến một luồng/quy trình riêng biệt. </a:t>
            </a:r>
          </a:p>
          <a:p>
            <a:pPr algn="just">
              <a:lnSpc>
                <a:spcPts val="2400"/>
              </a:lnSpc>
            </a:pPr>
            <a:r>
              <a:rPr lang="en-US" sz="2000" b="1">
                <a:solidFill>
                  <a:srgbClr val="FF0000"/>
                </a:solidFill>
                <a:latin typeface="Arial Bold"/>
                <a:ea typeface="Arial Bold"/>
                <a:cs typeface="Arial Bold"/>
                <a:sym typeface="Arial Bold"/>
              </a:rPr>
              <a:t>Quan sát </a:t>
            </a:r>
          </a:p>
          <a:p>
            <a:pPr algn="just">
              <a:lnSpc>
                <a:spcPts val="2400"/>
              </a:lnSpc>
            </a:pPr>
            <a:r>
              <a:rPr lang="en-US" sz="2000">
                <a:solidFill>
                  <a:srgbClr val="000000"/>
                </a:solidFill>
                <a:latin typeface="Arial"/>
                <a:ea typeface="Arial"/>
                <a:cs typeface="Arial"/>
                <a:sym typeface="Arial"/>
              </a:rPr>
              <a:t>Máy chủ đồng thời là chuẩn mực: chúng có thể dễ dàng xử lý nhiều yêu cầu, đặc biệt là khi có hoạt động chặn (đối với đĩa hoặc máy chủ khác).</a:t>
            </a:r>
          </a:p>
          <a:p>
            <a:pPr algn="just">
              <a:lnSpc>
                <a:spcPts val="2400"/>
              </a:lnSpc>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082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45</a:t>
              </a:r>
            </a:p>
          </p:txBody>
        </p:sp>
      </p:grpSp>
      <p:sp>
        <p:nvSpPr>
          <p:cNvPr id="9" name="Freeform 9"/>
          <p:cNvSpPr/>
          <p:nvPr/>
        </p:nvSpPr>
        <p:spPr>
          <a:xfrm>
            <a:off x="1578886" y="2227137"/>
            <a:ext cx="4619346" cy="1725574"/>
          </a:xfrm>
          <a:custGeom>
            <a:avLst/>
            <a:gdLst/>
            <a:ahLst/>
            <a:cxnLst/>
            <a:rect l="l" t="t" r="r" b="b"/>
            <a:pathLst>
              <a:path w="4619346" h="1725574">
                <a:moveTo>
                  <a:pt x="0" y="0"/>
                </a:moveTo>
                <a:lnTo>
                  <a:pt x="4619346" y="0"/>
                </a:lnTo>
                <a:lnTo>
                  <a:pt x="4619346" y="1725574"/>
                </a:lnTo>
                <a:lnTo>
                  <a:pt x="0" y="1725574"/>
                </a:lnTo>
                <a:lnTo>
                  <a:pt x="0" y="0"/>
                </a:lnTo>
                <a:close/>
              </a:path>
            </a:pathLst>
          </a:custGeom>
          <a:blipFill>
            <a:blip r:embed="rId4"/>
            <a:stretch>
              <a:fillRect/>
            </a:stretch>
          </a:blipFill>
        </p:spPr>
      </p:sp>
      <p:sp>
        <p:nvSpPr>
          <p:cNvPr id="10" name="Freeform 10"/>
          <p:cNvSpPr/>
          <p:nvPr/>
        </p:nvSpPr>
        <p:spPr>
          <a:xfrm>
            <a:off x="742791" y="4491670"/>
            <a:ext cx="8103248" cy="1884005"/>
          </a:xfrm>
          <a:custGeom>
            <a:avLst/>
            <a:gdLst/>
            <a:ahLst/>
            <a:cxnLst/>
            <a:rect l="l" t="t" r="r" b="b"/>
            <a:pathLst>
              <a:path w="8103248" h="1884005">
                <a:moveTo>
                  <a:pt x="0" y="0"/>
                </a:moveTo>
                <a:lnTo>
                  <a:pt x="8103248" y="0"/>
                </a:lnTo>
                <a:lnTo>
                  <a:pt x="8103248" y="1884005"/>
                </a:lnTo>
                <a:lnTo>
                  <a:pt x="0" y="1884005"/>
                </a:lnTo>
                <a:lnTo>
                  <a:pt x="0" y="0"/>
                </a:lnTo>
                <a:close/>
              </a:path>
            </a:pathLst>
          </a:custGeom>
          <a:blipFill>
            <a:blip r:embed="rId5"/>
            <a:stretch>
              <a:fillRect/>
            </a:stretch>
          </a:blipFill>
        </p:spPr>
      </p:sp>
      <p:sp>
        <p:nvSpPr>
          <p:cNvPr id="11" name="TextBox 11"/>
          <p:cNvSpPr txBox="1"/>
          <p:nvPr/>
        </p:nvSpPr>
        <p:spPr>
          <a:xfrm>
            <a:off x="430251" y="1427037"/>
            <a:ext cx="8753284" cy="1495425"/>
          </a:xfrm>
          <a:prstGeom prst="rect">
            <a:avLst/>
          </a:prstGeom>
        </p:spPr>
        <p:txBody>
          <a:bodyPr lIns="0" tIns="0" rIns="0" bIns="0" rtlCol="0" anchor="t">
            <a:spAutoFit/>
          </a:bodyPr>
          <a:lstStyle/>
          <a:p>
            <a:pPr algn="just">
              <a:lnSpc>
                <a:spcPts val="2880"/>
              </a:lnSpc>
            </a:pPr>
            <a:r>
              <a:rPr lang="en-US" sz="2400" b="1">
                <a:solidFill>
                  <a:srgbClr val="000000"/>
                </a:solidFill>
                <a:latin typeface="Arial Bold"/>
                <a:ea typeface="Arial Bold"/>
                <a:cs typeface="Arial Bold"/>
                <a:sym typeface="Arial Bold"/>
              </a:rPr>
              <a:t>Quan sát: hầu hết các dịch vụ đều được gắn với một cổng cụ thể</a:t>
            </a:r>
          </a:p>
          <a:p>
            <a:pPr algn="just">
              <a:lnSpc>
                <a:spcPts val="2880"/>
              </a:lnSpc>
            </a:pPr>
            <a:endParaRPr lang="en-US" sz="2400" b="1">
              <a:solidFill>
                <a:srgbClr val="000000"/>
              </a:solidFill>
              <a:latin typeface="Arial Bold"/>
              <a:ea typeface="Arial Bold"/>
              <a:cs typeface="Arial Bold"/>
              <a:sym typeface="Arial Bold"/>
            </a:endParaRPr>
          </a:p>
          <a:p>
            <a:pPr algn="just">
              <a:lnSpc>
                <a:spcPts val="2880"/>
              </a:lnSpc>
              <a:spcBef>
                <a:spcPct val="0"/>
              </a:spcBef>
            </a:pPr>
            <a:endParaRPr lang="en-US" sz="2400" b="1">
              <a:solidFill>
                <a:srgbClr val="000000"/>
              </a:solidFill>
              <a:latin typeface="Arial Bold"/>
              <a:ea typeface="Arial Bold"/>
              <a:cs typeface="Arial Bold"/>
              <a:sym typeface="Arial Bold"/>
            </a:endParaRPr>
          </a:p>
        </p:txBody>
      </p:sp>
      <p:sp>
        <p:nvSpPr>
          <p:cNvPr id="12" name="TextBox 12"/>
          <p:cNvSpPr txBox="1"/>
          <p:nvPr/>
        </p:nvSpPr>
        <p:spPr>
          <a:xfrm>
            <a:off x="417773" y="4053520"/>
            <a:ext cx="8753284" cy="409575"/>
          </a:xfrm>
          <a:prstGeom prst="rect">
            <a:avLst/>
          </a:prstGeom>
        </p:spPr>
        <p:txBody>
          <a:bodyPr lIns="0" tIns="0" rIns="0" bIns="0" rtlCol="0" anchor="t">
            <a:spAutoFit/>
          </a:bodyPr>
          <a:lstStyle/>
          <a:p>
            <a:pPr algn="just">
              <a:lnSpc>
                <a:spcPts val="2880"/>
              </a:lnSpc>
              <a:spcBef>
                <a:spcPct val="0"/>
              </a:spcBef>
            </a:pPr>
            <a:r>
              <a:rPr lang="en-US" sz="2400" b="1">
                <a:solidFill>
                  <a:srgbClr val="000000"/>
                </a:solidFill>
                <a:latin typeface="Arial Bold"/>
                <a:ea typeface="Arial Bold"/>
                <a:cs typeface="Arial Bold"/>
                <a:sym typeface="Arial Bold"/>
              </a:rPr>
              <a:t>Chỉ định điểm cuối một cách động: hai cách tiếp cận</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512636" y="29793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46</a:t>
              </a:r>
            </a:p>
          </p:txBody>
        </p:sp>
      </p:grpSp>
      <p:sp>
        <p:nvSpPr>
          <p:cNvPr id="9" name="TextBox 9"/>
          <p:cNvSpPr txBox="1"/>
          <p:nvPr/>
        </p:nvSpPr>
        <p:spPr>
          <a:xfrm>
            <a:off x="512636" y="1511107"/>
            <a:ext cx="6237162"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Giao tiếp ngoài băng tần </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0" name="TextBox 10"/>
          <p:cNvSpPr txBox="1"/>
          <p:nvPr/>
        </p:nvSpPr>
        <p:spPr>
          <a:xfrm>
            <a:off x="522161" y="2009775"/>
            <a:ext cx="8401774" cy="12668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Sự cố </a:t>
            </a:r>
          </a:p>
          <a:p>
            <a:pPr algn="just">
              <a:lnSpc>
                <a:spcPts val="2400"/>
              </a:lnSpc>
            </a:pPr>
            <a:r>
              <a:rPr lang="en-US" sz="2000">
                <a:solidFill>
                  <a:srgbClr val="000000"/>
                </a:solidFill>
                <a:latin typeface="Arial"/>
                <a:ea typeface="Arial"/>
                <a:cs typeface="Arial"/>
                <a:sym typeface="Arial"/>
              </a:rPr>
              <a:t>Có thể ngắt máy chủ sau khi đã chấp nhận (hoặc đang trong quá trình chấp nhận) yêu cầu dịch vụ không?</a:t>
            </a:r>
          </a:p>
          <a:p>
            <a:pPr algn="just">
              <a:lnSpc>
                <a:spcPts val="2400"/>
              </a:lnSpc>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512636" y="29793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47</a:t>
              </a:r>
            </a:p>
          </p:txBody>
        </p:sp>
      </p:grpSp>
      <p:sp>
        <p:nvSpPr>
          <p:cNvPr id="9" name="TextBox 9"/>
          <p:cNvSpPr txBox="1"/>
          <p:nvPr/>
        </p:nvSpPr>
        <p:spPr>
          <a:xfrm>
            <a:off x="512636" y="1511107"/>
            <a:ext cx="6237162"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Giao tiếp ngoài băng tần </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0" name="TextBox 10"/>
          <p:cNvSpPr txBox="1"/>
          <p:nvPr/>
        </p:nvSpPr>
        <p:spPr>
          <a:xfrm>
            <a:off x="522161" y="2009775"/>
            <a:ext cx="8401774" cy="27908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Sự cố </a:t>
            </a:r>
          </a:p>
          <a:p>
            <a:pPr algn="just">
              <a:lnSpc>
                <a:spcPts val="2400"/>
              </a:lnSpc>
            </a:pPr>
            <a:r>
              <a:rPr lang="en-US" sz="2000">
                <a:solidFill>
                  <a:srgbClr val="000000"/>
                </a:solidFill>
                <a:latin typeface="Arial"/>
                <a:ea typeface="Arial"/>
                <a:cs typeface="Arial"/>
                <a:sym typeface="Arial"/>
              </a:rPr>
              <a:t>Có thể ngắt máy chủ sau khi đã chấp nhận (hoặc đang trong quá trình chấp nhận) yêu cầu dịch vụ không? </a:t>
            </a:r>
          </a:p>
          <a:p>
            <a:pPr algn="just">
              <a:lnSpc>
                <a:spcPts val="2400"/>
              </a:lnSpc>
            </a:pPr>
            <a:r>
              <a:rPr lang="en-US" sz="2000" b="1">
                <a:solidFill>
                  <a:srgbClr val="000000"/>
                </a:solidFill>
                <a:latin typeface="Arial Bold"/>
                <a:ea typeface="Arial Bold"/>
                <a:cs typeface="Arial Bold"/>
                <a:sym typeface="Arial Bold"/>
              </a:rPr>
              <a:t>Giải pháp 1: Sử dụng một cổng riêng cho dữ liệu khẩn cấp</a:t>
            </a:r>
            <a:r>
              <a:rPr lang="en-US" sz="2000">
                <a:solidFill>
                  <a:srgbClr val="000000"/>
                </a:solidFill>
                <a:latin typeface="Arial"/>
                <a:ea typeface="Arial"/>
                <a:cs typeface="Arial"/>
                <a:sym typeface="Arial"/>
              </a:rPr>
              <a:t> </a:t>
            </a:r>
          </a:p>
          <a:p>
            <a:pPr algn="just">
              <a:lnSpc>
                <a:spcPts val="2400"/>
              </a:lnSpc>
            </a:pPr>
            <a:r>
              <a:rPr lang="en-US" sz="2000">
                <a:solidFill>
                  <a:srgbClr val="000000"/>
                </a:solidFill>
                <a:latin typeface="Arial"/>
                <a:ea typeface="Arial"/>
                <a:cs typeface="Arial"/>
                <a:sym typeface="Arial"/>
              </a:rPr>
              <a:t>• Máy chủ có luồng/quy trình riêng cho các thông báo khẩn cấp </a:t>
            </a:r>
          </a:p>
          <a:p>
            <a:pPr algn="just">
              <a:lnSpc>
                <a:spcPts val="2400"/>
              </a:lnSpc>
            </a:pPr>
            <a:r>
              <a:rPr lang="en-US" sz="2000">
                <a:solidFill>
                  <a:srgbClr val="000000"/>
                </a:solidFill>
                <a:latin typeface="Arial"/>
                <a:ea typeface="Arial"/>
                <a:cs typeface="Arial"/>
                <a:sym typeface="Arial"/>
              </a:rPr>
              <a:t>• Thông báo khẩn cấp đến =&gt; </a:t>
            </a:r>
            <a:r>
              <a:rPr lang="en-US" sz="2000" b="1">
                <a:solidFill>
                  <a:srgbClr val="000000"/>
                </a:solidFill>
                <a:latin typeface="Arial Bold"/>
                <a:ea typeface="Arial Bold"/>
                <a:cs typeface="Arial Bold"/>
                <a:sym typeface="Arial Bold"/>
              </a:rPr>
              <a:t>yêu cầu liên quan bị giữ lại</a:t>
            </a:r>
            <a:r>
              <a:rPr lang="en-US" sz="2000">
                <a:solidFill>
                  <a:srgbClr val="000000"/>
                </a:solidFill>
                <a:latin typeface="Arial"/>
                <a:ea typeface="Arial"/>
                <a:cs typeface="Arial"/>
                <a:sym typeface="Arial"/>
              </a:rPr>
              <a:t> </a:t>
            </a:r>
          </a:p>
          <a:p>
            <a:pPr algn="just">
              <a:lnSpc>
                <a:spcPts val="2400"/>
              </a:lnSpc>
            </a:pPr>
            <a:r>
              <a:rPr lang="en-US" sz="2000">
                <a:solidFill>
                  <a:srgbClr val="000000"/>
                </a:solidFill>
                <a:latin typeface="Arial"/>
                <a:ea typeface="Arial"/>
                <a:cs typeface="Arial"/>
                <a:sym typeface="Arial"/>
              </a:rPr>
              <a:t>• Lưu ý: chúng tôi yêu cầu hệ điều hành(OS) </a:t>
            </a:r>
            <a:r>
              <a:rPr lang="en-US" sz="2000" b="1">
                <a:solidFill>
                  <a:srgbClr val="000000"/>
                </a:solidFill>
                <a:latin typeface="Arial Bold"/>
                <a:ea typeface="Arial Bold"/>
                <a:cs typeface="Arial Bold"/>
                <a:sym typeface="Arial Bold"/>
              </a:rPr>
              <a:t>hỗ trợ lập lịch dựa trên mức độ ưu tiên</a:t>
            </a:r>
          </a:p>
          <a:p>
            <a:pPr algn="just">
              <a:lnSpc>
                <a:spcPts val="2400"/>
              </a:lnSpc>
            </a:pPr>
            <a:endParaRPr lang="en-US" sz="2000"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512636" y="29793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90080" y="6780108"/>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48</a:t>
              </a:r>
            </a:p>
          </p:txBody>
        </p:sp>
      </p:grpSp>
      <p:sp>
        <p:nvSpPr>
          <p:cNvPr id="9" name="TextBox 9"/>
          <p:cNvSpPr txBox="1"/>
          <p:nvPr/>
        </p:nvSpPr>
        <p:spPr>
          <a:xfrm>
            <a:off x="512636" y="1511107"/>
            <a:ext cx="6237162"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Giao tiếp ngoài băng tần </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0" name="TextBox 10"/>
          <p:cNvSpPr txBox="1"/>
          <p:nvPr/>
        </p:nvSpPr>
        <p:spPr>
          <a:xfrm>
            <a:off x="522161" y="2009775"/>
            <a:ext cx="8401774" cy="40100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Sự cố </a:t>
            </a:r>
          </a:p>
          <a:p>
            <a:pPr algn="just">
              <a:lnSpc>
                <a:spcPts val="2400"/>
              </a:lnSpc>
            </a:pPr>
            <a:r>
              <a:rPr lang="en-US" sz="2000">
                <a:solidFill>
                  <a:srgbClr val="000000"/>
                </a:solidFill>
                <a:latin typeface="Arial"/>
                <a:ea typeface="Arial"/>
                <a:cs typeface="Arial"/>
                <a:sym typeface="Arial"/>
              </a:rPr>
              <a:t>Có thể ngắt máy chủ sau khi đã chấp nhận (hoặc đang trong quá trình chấp nhận) yêu cầu dịch vụ không? </a:t>
            </a:r>
          </a:p>
          <a:p>
            <a:pPr algn="just">
              <a:lnSpc>
                <a:spcPts val="2400"/>
              </a:lnSpc>
            </a:pPr>
            <a:r>
              <a:rPr lang="en-US" sz="2000" b="1">
                <a:solidFill>
                  <a:srgbClr val="000000"/>
                </a:solidFill>
                <a:latin typeface="Arial Bold"/>
                <a:ea typeface="Arial Bold"/>
                <a:cs typeface="Arial Bold"/>
                <a:sym typeface="Arial Bold"/>
              </a:rPr>
              <a:t>Giải pháp 1: Sử dụng một cổng riêng cho dữ liệu khẩn cấp </a:t>
            </a:r>
          </a:p>
          <a:p>
            <a:pPr algn="just">
              <a:lnSpc>
                <a:spcPts val="2400"/>
              </a:lnSpc>
            </a:pPr>
            <a:r>
              <a:rPr lang="en-US" sz="2000">
                <a:solidFill>
                  <a:srgbClr val="000000"/>
                </a:solidFill>
                <a:latin typeface="Arial"/>
                <a:ea typeface="Arial"/>
                <a:cs typeface="Arial"/>
                <a:sym typeface="Arial"/>
              </a:rPr>
              <a:t>• Máy chủ có luồng/quy trình riêng cho các thông báo khẩn cấp </a:t>
            </a:r>
          </a:p>
          <a:p>
            <a:pPr algn="just">
              <a:lnSpc>
                <a:spcPts val="2400"/>
              </a:lnSpc>
            </a:pPr>
            <a:r>
              <a:rPr lang="en-US" sz="2000">
                <a:solidFill>
                  <a:srgbClr val="000000"/>
                </a:solidFill>
                <a:latin typeface="Arial"/>
                <a:ea typeface="Arial"/>
                <a:cs typeface="Arial"/>
                <a:sym typeface="Arial"/>
              </a:rPr>
              <a:t>• Thông báo khẩn cấp đến =&gt; yêu cầu liên quan bị giữ lại </a:t>
            </a:r>
          </a:p>
          <a:p>
            <a:pPr algn="just">
              <a:lnSpc>
                <a:spcPts val="2400"/>
              </a:lnSpc>
            </a:pPr>
            <a:r>
              <a:rPr lang="en-US" sz="2000">
                <a:solidFill>
                  <a:srgbClr val="000000"/>
                </a:solidFill>
                <a:latin typeface="Arial"/>
                <a:ea typeface="Arial"/>
                <a:cs typeface="Arial"/>
                <a:sym typeface="Arial"/>
              </a:rPr>
              <a:t>• Lưu ý: chúng tôi yêu cầu hệ điều hành(OS) hỗ trợ lập lịch dựa trên mức độ ưu tiên </a:t>
            </a:r>
          </a:p>
          <a:p>
            <a:pPr algn="just">
              <a:lnSpc>
                <a:spcPts val="2400"/>
              </a:lnSpc>
            </a:pPr>
            <a:r>
              <a:rPr lang="en-US" sz="2000" b="1">
                <a:solidFill>
                  <a:srgbClr val="000000"/>
                </a:solidFill>
                <a:latin typeface="Arial Bold"/>
                <a:ea typeface="Arial Bold"/>
                <a:cs typeface="Arial Bold"/>
                <a:sym typeface="Arial Bold"/>
              </a:rPr>
              <a:t>Giải pháp 2: Sử dụng các tiện ích của lớp vận chuyển</a:t>
            </a:r>
            <a:r>
              <a:rPr lang="en-US" sz="2000">
                <a:solidFill>
                  <a:srgbClr val="000000"/>
                </a:solidFill>
                <a:latin typeface="Arial"/>
                <a:ea typeface="Arial"/>
                <a:cs typeface="Arial"/>
                <a:sym typeface="Arial"/>
              </a:rPr>
              <a:t> </a:t>
            </a:r>
          </a:p>
          <a:p>
            <a:pPr algn="just">
              <a:lnSpc>
                <a:spcPts val="2400"/>
              </a:lnSpc>
            </a:pPr>
            <a:r>
              <a:rPr lang="en-US" sz="2000">
                <a:solidFill>
                  <a:srgbClr val="000000"/>
                </a:solidFill>
                <a:latin typeface="Arial"/>
                <a:ea typeface="Arial"/>
                <a:cs typeface="Arial"/>
                <a:sym typeface="Arial"/>
              </a:rPr>
              <a:t>• Ví dụ: TCP cho phép các thông điệp khẩn cấp trong cùng một kết nối </a:t>
            </a:r>
          </a:p>
          <a:p>
            <a:pPr algn="just">
              <a:lnSpc>
                <a:spcPts val="2400"/>
              </a:lnSpc>
            </a:pPr>
            <a:r>
              <a:rPr lang="en-US" sz="2000">
                <a:solidFill>
                  <a:srgbClr val="000000"/>
                </a:solidFill>
                <a:latin typeface="Arial"/>
                <a:ea typeface="Arial"/>
                <a:cs typeface="Arial"/>
                <a:sym typeface="Arial"/>
              </a:rPr>
              <a:t>• Các thông điệp khẩn cấp có thể được bắt bằng cách sử dụng các kỹ thuật báo hiệu của hệ điều hành(OS)</a:t>
            </a:r>
          </a:p>
          <a:p>
            <a:pPr algn="just">
              <a:lnSpc>
                <a:spcPts val="2400"/>
              </a:lnSpc>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082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49</a:t>
              </a:r>
            </a:p>
          </p:txBody>
        </p:sp>
      </p:grpSp>
      <p:sp>
        <p:nvSpPr>
          <p:cNvPr id="9" name="TextBox 9"/>
          <p:cNvSpPr txBox="1"/>
          <p:nvPr/>
        </p:nvSpPr>
        <p:spPr>
          <a:xfrm>
            <a:off x="430251" y="1427037"/>
            <a:ext cx="875328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Máy chủ và trạng thái </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0" name="TextBox 10"/>
          <p:cNvSpPr txBox="1"/>
          <p:nvPr/>
        </p:nvSpPr>
        <p:spPr>
          <a:xfrm>
            <a:off x="449301" y="1874712"/>
            <a:ext cx="8753284" cy="24860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Máy chủ không trạng thái </a:t>
            </a:r>
          </a:p>
          <a:p>
            <a:pPr algn="just">
              <a:lnSpc>
                <a:spcPts val="2400"/>
              </a:lnSpc>
            </a:pPr>
            <a:r>
              <a:rPr lang="en-US" sz="2000">
                <a:solidFill>
                  <a:srgbClr val="000000"/>
                </a:solidFill>
                <a:latin typeface="Arial"/>
                <a:ea typeface="Arial"/>
                <a:cs typeface="Arial"/>
                <a:sym typeface="Arial"/>
              </a:rPr>
              <a:t>Không bao giờ giữ thông tin </a:t>
            </a:r>
            <a:r>
              <a:rPr lang="en-US" sz="2000" b="1">
                <a:solidFill>
                  <a:srgbClr val="000000"/>
                </a:solidFill>
                <a:latin typeface="Arial Bold"/>
                <a:ea typeface="Arial Bold"/>
                <a:cs typeface="Arial Bold"/>
                <a:sym typeface="Arial Bold"/>
              </a:rPr>
              <a:t>chính xác</a:t>
            </a:r>
            <a:r>
              <a:rPr lang="en-US" sz="2000">
                <a:solidFill>
                  <a:srgbClr val="000000"/>
                </a:solidFill>
                <a:latin typeface="Arial"/>
                <a:ea typeface="Arial"/>
                <a:cs typeface="Arial"/>
                <a:sym typeface="Arial"/>
              </a:rPr>
              <a:t> về trạng thái của khách hàng sau khi đã xử lý yêu cầu: </a:t>
            </a:r>
          </a:p>
          <a:p>
            <a:pPr algn="just">
              <a:lnSpc>
                <a:spcPts val="2400"/>
              </a:lnSpc>
            </a:pPr>
            <a:r>
              <a:rPr lang="en-US" sz="2000">
                <a:solidFill>
                  <a:srgbClr val="000000"/>
                </a:solidFill>
                <a:latin typeface="Arial"/>
                <a:ea typeface="Arial"/>
                <a:cs typeface="Arial"/>
                <a:sym typeface="Arial"/>
              </a:rPr>
              <a:t>• Không ghi lại xem một tập tin đã được mở hay chưa (chỉ cần đóng lại sau khi truy cập) </a:t>
            </a:r>
          </a:p>
          <a:p>
            <a:pPr algn="just">
              <a:lnSpc>
                <a:spcPts val="2400"/>
              </a:lnSpc>
            </a:pPr>
            <a:r>
              <a:rPr lang="en-US" sz="2000">
                <a:solidFill>
                  <a:srgbClr val="000000"/>
                </a:solidFill>
                <a:latin typeface="Arial"/>
                <a:ea typeface="Arial"/>
                <a:cs typeface="Arial"/>
                <a:sym typeface="Arial"/>
              </a:rPr>
              <a:t>• Không hứa sẽ vô hiệu hóa bộ nhớ đệm của khách hàng </a:t>
            </a:r>
          </a:p>
          <a:p>
            <a:pPr algn="just">
              <a:lnSpc>
                <a:spcPts val="2400"/>
              </a:lnSpc>
            </a:pPr>
            <a:r>
              <a:rPr lang="en-US" sz="2000">
                <a:solidFill>
                  <a:srgbClr val="000000"/>
                </a:solidFill>
                <a:latin typeface="Arial"/>
                <a:ea typeface="Arial"/>
                <a:cs typeface="Arial"/>
                <a:sym typeface="Arial"/>
              </a:rPr>
              <a:t>• Không theo dõi khách hàng của bạn</a:t>
            </a:r>
          </a:p>
          <a:p>
            <a:pPr algn="just">
              <a:lnSpc>
                <a:spcPts val="240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082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50</a:t>
              </a:r>
            </a:p>
          </p:txBody>
        </p:sp>
      </p:grpSp>
      <p:sp>
        <p:nvSpPr>
          <p:cNvPr id="9" name="TextBox 9"/>
          <p:cNvSpPr txBox="1"/>
          <p:nvPr/>
        </p:nvSpPr>
        <p:spPr>
          <a:xfrm>
            <a:off x="430251" y="1417512"/>
            <a:ext cx="875328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Máy chủ và trạng thái</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0" name="TextBox 10"/>
          <p:cNvSpPr txBox="1"/>
          <p:nvPr/>
        </p:nvSpPr>
        <p:spPr>
          <a:xfrm>
            <a:off x="636808" y="1937923"/>
            <a:ext cx="8518152" cy="43148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Máy chủ không trạng thái </a:t>
            </a:r>
          </a:p>
          <a:p>
            <a:pPr algn="just">
              <a:lnSpc>
                <a:spcPts val="2400"/>
              </a:lnSpc>
            </a:pPr>
            <a:r>
              <a:rPr lang="en-US" sz="2000">
                <a:solidFill>
                  <a:srgbClr val="000000"/>
                </a:solidFill>
                <a:latin typeface="Arial"/>
                <a:ea typeface="Arial"/>
                <a:cs typeface="Arial"/>
                <a:sym typeface="Arial"/>
              </a:rPr>
              <a:t>Không bao giờ giữ thông tin chính xác về trạng thái của khách hàng sau khi đã xử lý yêu cầu: </a:t>
            </a:r>
          </a:p>
          <a:p>
            <a:pPr algn="just">
              <a:lnSpc>
                <a:spcPts val="2400"/>
              </a:lnSpc>
            </a:pPr>
            <a:r>
              <a:rPr lang="en-US" sz="2000">
                <a:solidFill>
                  <a:srgbClr val="000000"/>
                </a:solidFill>
                <a:latin typeface="Arial"/>
                <a:ea typeface="Arial"/>
                <a:cs typeface="Arial"/>
                <a:sym typeface="Arial"/>
              </a:rPr>
              <a:t>• Không ghi lại xem một tập tin đã được mở hay chưa (chỉ cần đóng lại sau khi truy cập) </a:t>
            </a:r>
          </a:p>
          <a:p>
            <a:pPr algn="just">
              <a:lnSpc>
                <a:spcPts val="2400"/>
              </a:lnSpc>
            </a:pPr>
            <a:r>
              <a:rPr lang="en-US" sz="2000">
                <a:solidFill>
                  <a:srgbClr val="000000"/>
                </a:solidFill>
                <a:latin typeface="Arial"/>
                <a:ea typeface="Arial"/>
                <a:cs typeface="Arial"/>
                <a:sym typeface="Arial"/>
              </a:rPr>
              <a:t>• Không hứa sẽ vô hiệu hóa bộ nhớ đệm của khách hàng </a:t>
            </a:r>
          </a:p>
          <a:p>
            <a:pPr algn="just">
              <a:lnSpc>
                <a:spcPts val="2400"/>
              </a:lnSpc>
            </a:pPr>
            <a:r>
              <a:rPr lang="en-US" sz="2000">
                <a:solidFill>
                  <a:srgbClr val="000000"/>
                </a:solidFill>
                <a:latin typeface="Arial"/>
                <a:ea typeface="Arial"/>
                <a:cs typeface="Arial"/>
                <a:sym typeface="Arial"/>
              </a:rPr>
              <a:t>• Không theo dõi khách hàng của bạn </a:t>
            </a:r>
          </a:p>
          <a:p>
            <a:pPr algn="just">
              <a:lnSpc>
                <a:spcPts val="2400"/>
              </a:lnSpc>
            </a:pPr>
            <a:r>
              <a:rPr lang="en-US" sz="2000" b="1">
                <a:solidFill>
                  <a:srgbClr val="000000"/>
                </a:solidFill>
                <a:latin typeface="Arial Bold"/>
                <a:ea typeface="Arial Bold"/>
                <a:cs typeface="Arial Bold"/>
                <a:sym typeface="Arial Bold"/>
              </a:rPr>
              <a:t>Hậu quả </a:t>
            </a:r>
          </a:p>
          <a:p>
            <a:pPr algn="just">
              <a:lnSpc>
                <a:spcPts val="2400"/>
              </a:lnSpc>
            </a:pPr>
            <a:r>
              <a:rPr lang="en-US" sz="2000">
                <a:solidFill>
                  <a:srgbClr val="000000"/>
                </a:solidFill>
                <a:latin typeface="Arial"/>
                <a:ea typeface="Arial"/>
                <a:cs typeface="Arial"/>
                <a:sym typeface="Arial"/>
              </a:rPr>
              <a:t>• Máy khách và máy chủ </a:t>
            </a:r>
            <a:r>
              <a:rPr lang="en-US" sz="2000" b="1">
                <a:solidFill>
                  <a:srgbClr val="000000"/>
                </a:solidFill>
                <a:latin typeface="Arial Bold"/>
                <a:ea typeface="Arial Bold"/>
                <a:cs typeface="Arial Bold"/>
                <a:sym typeface="Arial Bold"/>
              </a:rPr>
              <a:t>hoàn toàn độc lập</a:t>
            </a:r>
            <a:r>
              <a:rPr lang="en-US" sz="2000">
                <a:solidFill>
                  <a:srgbClr val="000000"/>
                </a:solidFill>
                <a:latin typeface="Arial"/>
                <a:ea typeface="Arial"/>
                <a:cs typeface="Arial"/>
                <a:sym typeface="Arial"/>
              </a:rPr>
              <a:t> </a:t>
            </a:r>
          </a:p>
          <a:p>
            <a:pPr algn="just">
              <a:lnSpc>
                <a:spcPts val="2400"/>
              </a:lnSpc>
            </a:pPr>
            <a:r>
              <a:rPr lang="en-US" sz="2000">
                <a:solidFill>
                  <a:srgbClr val="000000"/>
                </a:solidFill>
                <a:latin typeface="Arial"/>
                <a:ea typeface="Arial"/>
                <a:cs typeface="Arial"/>
                <a:sym typeface="Arial"/>
              </a:rPr>
              <a:t>• Giảm thiểu tình trạng không nhất quán về trạng thái do máy khách hoặc máy chủ gặp sự cố </a:t>
            </a:r>
          </a:p>
          <a:p>
            <a:pPr algn="just">
              <a:lnSpc>
                <a:spcPts val="2400"/>
              </a:lnSpc>
            </a:pPr>
            <a:r>
              <a:rPr lang="en-US" sz="2000">
                <a:solidFill>
                  <a:srgbClr val="000000"/>
                </a:solidFill>
                <a:latin typeface="Arial"/>
                <a:ea typeface="Arial"/>
                <a:cs typeface="Arial"/>
                <a:sym typeface="Arial"/>
              </a:rPr>
              <a:t>• Có thể </a:t>
            </a:r>
            <a:r>
              <a:rPr lang="en-US" sz="2000" b="1">
                <a:solidFill>
                  <a:srgbClr val="000000"/>
                </a:solidFill>
                <a:latin typeface="Arial Bold"/>
                <a:ea typeface="Arial Bold"/>
                <a:cs typeface="Arial Bold"/>
                <a:sym typeface="Arial Bold"/>
              </a:rPr>
              <a:t>mất hiệu suất</a:t>
            </a:r>
            <a:r>
              <a:rPr lang="en-US" sz="2000">
                <a:solidFill>
                  <a:srgbClr val="000000"/>
                </a:solidFill>
                <a:latin typeface="Arial"/>
                <a:ea typeface="Arial"/>
                <a:cs typeface="Arial"/>
                <a:sym typeface="Arial"/>
              </a:rPr>
              <a:t> vì, ví dụ, máy chủ không thể đoán trước hành vi của máy khách (hãy nghĩ đến việc tải trước các khối tệp)</a:t>
            </a:r>
          </a:p>
          <a:p>
            <a:pPr algn="just">
              <a:lnSpc>
                <a:spcPts val="240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082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626973"/>
            <a:chOff x="0" y="0"/>
            <a:chExt cx="3034453" cy="835964"/>
          </a:xfrm>
        </p:grpSpPr>
        <p:sp>
          <p:nvSpPr>
            <p:cNvPr id="7" name="Freeform 7"/>
            <p:cNvSpPr/>
            <p:nvPr/>
          </p:nvSpPr>
          <p:spPr>
            <a:xfrm>
              <a:off x="0" y="0"/>
              <a:ext cx="3034453" cy="835964"/>
            </a:xfrm>
            <a:custGeom>
              <a:avLst/>
              <a:gdLst/>
              <a:ahLst/>
              <a:cxnLst/>
              <a:rect l="l" t="t" r="r" b="b"/>
              <a:pathLst>
                <a:path w="3034453" h="835964">
                  <a:moveTo>
                    <a:pt x="0" y="0"/>
                  </a:moveTo>
                  <a:lnTo>
                    <a:pt x="3034453" y="0"/>
                  </a:lnTo>
                  <a:lnTo>
                    <a:pt x="3034453" y="835964"/>
                  </a:lnTo>
                  <a:lnTo>
                    <a:pt x="0" y="835964"/>
                  </a:lnTo>
                  <a:close/>
                </a:path>
              </a:pathLst>
            </a:custGeom>
            <a:solidFill>
              <a:srgbClr val="000000">
                <a:alpha val="0"/>
              </a:srgbClr>
            </a:solidFill>
          </p:spPr>
        </p:sp>
        <p:sp>
          <p:nvSpPr>
            <p:cNvPr id="8" name="TextBox 8"/>
            <p:cNvSpPr txBox="1"/>
            <p:nvPr/>
          </p:nvSpPr>
          <p:spPr>
            <a:xfrm>
              <a:off x="0" y="-47625"/>
              <a:ext cx="3034453" cy="883589"/>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51</a:t>
              </a:r>
            </a:p>
          </p:txBody>
        </p:sp>
      </p:grpSp>
      <p:sp>
        <p:nvSpPr>
          <p:cNvPr id="9" name="TextBox 9"/>
          <p:cNvSpPr txBox="1"/>
          <p:nvPr/>
        </p:nvSpPr>
        <p:spPr>
          <a:xfrm>
            <a:off x="430251" y="1360362"/>
            <a:ext cx="875328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Máy chủ và trạng thái</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0" name="TextBox 10"/>
          <p:cNvSpPr txBox="1"/>
          <p:nvPr/>
        </p:nvSpPr>
        <p:spPr>
          <a:xfrm>
            <a:off x="655858" y="1816772"/>
            <a:ext cx="8626614" cy="52292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Máy chủ không trạng thái:</a:t>
            </a:r>
          </a:p>
          <a:p>
            <a:pPr algn="just">
              <a:lnSpc>
                <a:spcPts val="2400"/>
              </a:lnSpc>
            </a:pPr>
            <a:r>
              <a:rPr lang="en-US" sz="2000">
                <a:solidFill>
                  <a:srgbClr val="000000"/>
                </a:solidFill>
                <a:latin typeface="Arial"/>
                <a:ea typeface="Arial"/>
                <a:cs typeface="Arial"/>
                <a:sym typeface="Arial"/>
              </a:rPr>
              <a:t>Không bao giờ giữ thông tin chính xác về trạng thái của khách hàng sau khi đã xử lý yêu cầu: </a:t>
            </a:r>
          </a:p>
          <a:p>
            <a:pPr algn="just">
              <a:lnSpc>
                <a:spcPts val="2400"/>
              </a:lnSpc>
            </a:pPr>
            <a:r>
              <a:rPr lang="en-US" sz="2000">
                <a:solidFill>
                  <a:srgbClr val="000000"/>
                </a:solidFill>
                <a:latin typeface="Arial"/>
                <a:ea typeface="Arial"/>
                <a:cs typeface="Arial"/>
                <a:sym typeface="Arial"/>
              </a:rPr>
              <a:t>• Không ghi lại xem một tập tin đã được mở hay chưa (chỉ cần đóng lại sau khi truy cập) </a:t>
            </a:r>
          </a:p>
          <a:p>
            <a:pPr algn="just">
              <a:lnSpc>
                <a:spcPts val="2400"/>
              </a:lnSpc>
            </a:pPr>
            <a:r>
              <a:rPr lang="en-US" sz="2000">
                <a:solidFill>
                  <a:srgbClr val="000000"/>
                </a:solidFill>
                <a:latin typeface="Arial"/>
                <a:ea typeface="Arial"/>
                <a:cs typeface="Arial"/>
                <a:sym typeface="Arial"/>
              </a:rPr>
              <a:t>• Không hứa sẽ vô hiệu hóa bộ nhớ đệm của khách hàng </a:t>
            </a:r>
          </a:p>
          <a:p>
            <a:pPr algn="just">
              <a:lnSpc>
                <a:spcPts val="2400"/>
              </a:lnSpc>
            </a:pPr>
            <a:r>
              <a:rPr lang="en-US" sz="2000">
                <a:solidFill>
                  <a:srgbClr val="000000"/>
                </a:solidFill>
                <a:latin typeface="Arial"/>
                <a:ea typeface="Arial"/>
                <a:cs typeface="Arial"/>
                <a:sym typeface="Arial"/>
              </a:rPr>
              <a:t>• Không theo dõi khách hàng của bạn </a:t>
            </a:r>
          </a:p>
          <a:p>
            <a:pPr algn="just">
              <a:lnSpc>
                <a:spcPts val="2400"/>
              </a:lnSpc>
            </a:pPr>
            <a:r>
              <a:rPr lang="en-US" sz="2000" b="1">
                <a:solidFill>
                  <a:srgbClr val="000000"/>
                </a:solidFill>
                <a:latin typeface="Arial Bold"/>
                <a:ea typeface="Arial Bold"/>
                <a:cs typeface="Arial Bold"/>
                <a:sym typeface="Arial Bold"/>
              </a:rPr>
              <a:t>Hậu quả:</a:t>
            </a:r>
          </a:p>
          <a:p>
            <a:pPr algn="just">
              <a:lnSpc>
                <a:spcPts val="2400"/>
              </a:lnSpc>
            </a:pPr>
            <a:r>
              <a:rPr lang="en-US" sz="2000">
                <a:solidFill>
                  <a:srgbClr val="000000"/>
                </a:solidFill>
                <a:latin typeface="Arial"/>
                <a:ea typeface="Arial"/>
                <a:cs typeface="Arial"/>
                <a:sym typeface="Arial"/>
              </a:rPr>
              <a:t>• Máy khách và máy chủ </a:t>
            </a:r>
            <a:r>
              <a:rPr lang="en-US" sz="2000" b="1">
                <a:solidFill>
                  <a:srgbClr val="000000"/>
                </a:solidFill>
                <a:latin typeface="Arial Bold"/>
                <a:ea typeface="Arial Bold"/>
                <a:cs typeface="Arial Bold"/>
                <a:sym typeface="Arial Bold"/>
              </a:rPr>
              <a:t>hoàn toàn độc lập</a:t>
            </a:r>
            <a:r>
              <a:rPr lang="en-US" sz="2000">
                <a:solidFill>
                  <a:srgbClr val="000000"/>
                </a:solidFill>
                <a:latin typeface="Arial"/>
                <a:ea typeface="Arial"/>
                <a:cs typeface="Arial"/>
                <a:sym typeface="Arial"/>
              </a:rPr>
              <a:t> </a:t>
            </a:r>
          </a:p>
          <a:p>
            <a:pPr algn="just">
              <a:lnSpc>
                <a:spcPts val="2400"/>
              </a:lnSpc>
            </a:pPr>
            <a:r>
              <a:rPr lang="en-US" sz="2000">
                <a:solidFill>
                  <a:srgbClr val="000000"/>
                </a:solidFill>
                <a:latin typeface="Arial"/>
                <a:ea typeface="Arial"/>
                <a:cs typeface="Arial"/>
                <a:sym typeface="Arial"/>
              </a:rPr>
              <a:t>• Giảm thiểu tình trạng không nhất quán về trạng thái do máy khách hoặc máy chủ gặp sự cố </a:t>
            </a:r>
          </a:p>
          <a:p>
            <a:pPr algn="just">
              <a:lnSpc>
                <a:spcPts val="2400"/>
              </a:lnSpc>
            </a:pPr>
            <a:r>
              <a:rPr lang="en-US" sz="2000">
                <a:solidFill>
                  <a:srgbClr val="000000"/>
                </a:solidFill>
                <a:latin typeface="Arial"/>
                <a:ea typeface="Arial"/>
                <a:cs typeface="Arial"/>
                <a:sym typeface="Arial"/>
              </a:rPr>
              <a:t>• Có thể </a:t>
            </a:r>
            <a:r>
              <a:rPr lang="en-US" sz="2000" b="1">
                <a:solidFill>
                  <a:srgbClr val="000000"/>
                </a:solidFill>
                <a:latin typeface="Arial Bold"/>
                <a:ea typeface="Arial Bold"/>
                <a:cs typeface="Arial Bold"/>
                <a:sym typeface="Arial Bold"/>
              </a:rPr>
              <a:t>mất hiệu suất</a:t>
            </a:r>
            <a:r>
              <a:rPr lang="en-US" sz="2000">
                <a:solidFill>
                  <a:srgbClr val="000000"/>
                </a:solidFill>
                <a:latin typeface="Arial"/>
                <a:ea typeface="Arial"/>
                <a:cs typeface="Arial"/>
                <a:sym typeface="Arial"/>
              </a:rPr>
              <a:t> vì, ví dụ, máy chủ không thể đoán trước hành vi của máy khách (hãy nghĩ đến việc tải trước các khối tệp)</a:t>
            </a:r>
          </a:p>
          <a:p>
            <a:pPr algn="just">
              <a:lnSpc>
                <a:spcPts val="2400"/>
              </a:lnSpc>
            </a:pPr>
            <a:r>
              <a:rPr lang="en-US" sz="2000" b="1">
                <a:solidFill>
                  <a:srgbClr val="FF0000"/>
                </a:solidFill>
                <a:latin typeface="Arial Bold"/>
                <a:ea typeface="Arial Bold"/>
                <a:cs typeface="Arial Bold"/>
                <a:sym typeface="Arial Bold"/>
              </a:rPr>
              <a:t>Câu hỏi:</a:t>
            </a:r>
          </a:p>
          <a:p>
            <a:pPr algn="just">
              <a:lnSpc>
                <a:spcPts val="2400"/>
              </a:lnSpc>
            </a:pPr>
            <a:r>
              <a:rPr lang="en-US" sz="2000">
                <a:solidFill>
                  <a:srgbClr val="000000"/>
                </a:solidFill>
                <a:latin typeface="Arial"/>
                <a:ea typeface="Arial"/>
                <a:cs typeface="Arial"/>
                <a:sym typeface="Arial"/>
              </a:rPr>
              <a:t>Liệu giao tiếp hướng kết nối có phù hợp với thiết kế không trạng thái không?</a:t>
            </a:r>
          </a:p>
          <a:p>
            <a:pPr algn="just">
              <a:lnSpc>
                <a:spcPts val="2400"/>
              </a:lnSpc>
            </a:pPr>
            <a:endParaRPr lang="en-US" sz="2000">
              <a:solidFill>
                <a:srgbClr val="000000"/>
              </a:solidFill>
              <a:latin typeface="Arial"/>
              <a:ea typeface="Arial"/>
              <a:cs typeface="Arial"/>
              <a:sym typeface="Arial"/>
            </a:endParaRPr>
          </a:p>
          <a:p>
            <a:pPr algn="just">
              <a:lnSpc>
                <a:spcPts val="240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082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52</a:t>
              </a:r>
            </a:p>
          </p:txBody>
        </p:sp>
      </p:grpSp>
      <p:sp>
        <p:nvSpPr>
          <p:cNvPr id="9" name="TextBox 9"/>
          <p:cNvSpPr txBox="1"/>
          <p:nvPr/>
        </p:nvSpPr>
        <p:spPr>
          <a:xfrm>
            <a:off x="408248" y="1419650"/>
            <a:ext cx="8753284" cy="447675"/>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a:ea typeface="Arial Bold"/>
                <a:cs typeface="Arial Bold"/>
                <a:sym typeface="Arial Bold"/>
              </a:rPr>
              <a:t>Máy chủ và trạng thái</a:t>
            </a:r>
          </a:p>
        </p:txBody>
      </p:sp>
      <p:sp>
        <p:nvSpPr>
          <p:cNvPr id="10" name="TextBox 10"/>
          <p:cNvSpPr txBox="1"/>
          <p:nvPr/>
        </p:nvSpPr>
        <p:spPr>
          <a:xfrm>
            <a:off x="684433" y="1960437"/>
            <a:ext cx="8753284" cy="193357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Máy chủ có trạng thái </a:t>
            </a:r>
          </a:p>
          <a:p>
            <a:pPr algn="just">
              <a:lnSpc>
                <a:spcPts val="2400"/>
              </a:lnSpc>
            </a:pPr>
            <a:r>
              <a:rPr lang="en-US" sz="2000" b="1">
                <a:solidFill>
                  <a:srgbClr val="000000"/>
                </a:solidFill>
                <a:latin typeface="Arial Bold"/>
                <a:ea typeface="Arial Bold"/>
                <a:cs typeface="Arial Bold"/>
                <a:sym typeface="Arial Bold"/>
              </a:rPr>
              <a:t>Theo dõi trạng thái của máy khách:</a:t>
            </a:r>
            <a:r>
              <a:rPr lang="en-US" sz="2000">
                <a:solidFill>
                  <a:srgbClr val="000000"/>
                </a:solidFill>
                <a:latin typeface="Arial"/>
                <a:ea typeface="Arial"/>
                <a:cs typeface="Arial"/>
                <a:sym typeface="Arial"/>
              </a:rPr>
              <a:t> </a:t>
            </a:r>
          </a:p>
          <a:p>
            <a:pPr algn="just">
              <a:lnSpc>
                <a:spcPts val="2400"/>
              </a:lnSpc>
            </a:pPr>
            <a:r>
              <a:rPr lang="en-US" sz="2000">
                <a:solidFill>
                  <a:srgbClr val="000000"/>
                </a:solidFill>
                <a:latin typeface="Arial"/>
                <a:ea typeface="Arial"/>
                <a:cs typeface="Arial"/>
                <a:sym typeface="Arial"/>
              </a:rPr>
              <a:t>• Ghi lại rằng tệp đã được mở, để có thể thực hiện việc tải trước </a:t>
            </a:r>
          </a:p>
          <a:p>
            <a:pPr algn="just">
              <a:lnSpc>
                <a:spcPts val="2400"/>
              </a:lnSpc>
            </a:pPr>
            <a:r>
              <a:rPr lang="en-US" sz="2000">
                <a:solidFill>
                  <a:srgbClr val="000000"/>
                </a:solidFill>
                <a:latin typeface="Arial"/>
                <a:ea typeface="Arial"/>
                <a:cs typeface="Arial"/>
                <a:sym typeface="Arial"/>
              </a:rPr>
              <a:t>• Biết dữ liệu nào máy khách đã lưu vào bộ nhớ đệm và cho phép máy khách giữ các bản sao cục bộ của dữ liệu được chia sẻ</a:t>
            </a:r>
          </a:p>
          <a:p>
            <a:pPr algn="just">
              <a:lnSpc>
                <a:spcPts val="288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082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53</a:t>
              </a:r>
            </a:p>
          </p:txBody>
        </p:sp>
      </p:grpSp>
      <p:sp>
        <p:nvSpPr>
          <p:cNvPr id="9" name="TextBox 9"/>
          <p:cNvSpPr txBox="1"/>
          <p:nvPr/>
        </p:nvSpPr>
        <p:spPr>
          <a:xfrm>
            <a:off x="430251" y="1417512"/>
            <a:ext cx="8753284" cy="447675"/>
          </a:xfrm>
          <a:prstGeom prst="rect">
            <a:avLst/>
          </a:prstGeom>
        </p:spPr>
        <p:txBody>
          <a:bodyPr lIns="0" tIns="0" rIns="0" bIns="0" rtlCol="0" anchor="t">
            <a:spAutoFit/>
          </a:bodyPr>
          <a:lstStyle/>
          <a:p>
            <a:pPr algn="just">
              <a:lnSpc>
                <a:spcPts val="3120"/>
              </a:lnSpc>
              <a:spcBef>
                <a:spcPct val="0"/>
              </a:spcBef>
            </a:pPr>
            <a:r>
              <a:rPr lang="en-US" sz="2600" b="1">
                <a:solidFill>
                  <a:srgbClr val="000000"/>
                </a:solidFill>
                <a:latin typeface="Arial Bold"/>
                <a:ea typeface="Arial Bold"/>
                <a:cs typeface="Arial Bold"/>
                <a:sym typeface="Arial Bold"/>
              </a:rPr>
              <a:t>Máy chủ và trạng thái</a:t>
            </a:r>
          </a:p>
        </p:txBody>
      </p:sp>
      <p:sp>
        <p:nvSpPr>
          <p:cNvPr id="10" name="TextBox 10"/>
          <p:cNvSpPr txBox="1"/>
          <p:nvPr/>
        </p:nvSpPr>
        <p:spPr>
          <a:xfrm>
            <a:off x="684433" y="1905000"/>
            <a:ext cx="8753284" cy="345757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Máy chủ có trạng thái </a:t>
            </a:r>
          </a:p>
          <a:p>
            <a:pPr algn="just">
              <a:lnSpc>
                <a:spcPts val="2400"/>
              </a:lnSpc>
            </a:pPr>
            <a:r>
              <a:rPr lang="en-US" sz="2000" b="1">
                <a:solidFill>
                  <a:srgbClr val="000000"/>
                </a:solidFill>
                <a:latin typeface="Arial Bold"/>
                <a:ea typeface="Arial Bold"/>
                <a:cs typeface="Arial Bold"/>
                <a:sym typeface="Arial Bold"/>
              </a:rPr>
              <a:t>Theo dõi trạng thái của máy khách:</a:t>
            </a:r>
            <a:r>
              <a:rPr lang="en-US" sz="2000">
                <a:solidFill>
                  <a:srgbClr val="000000"/>
                </a:solidFill>
                <a:latin typeface="Arial"/>
                <a:ea typeface="Arial"/>
                <a:cs typeface="Arial"/>
                <a:sym typeface="Arial"/>
              </a:rPr>
              <a:t> </a:t>
            </a:r>
          </a:p>
          <a:p>
            <a:pPr algn="just">
              <a:lnSpc>
                <a:spcPts val="2400"/>
              </a:lnSpc>
            </a:pPr>
            <a:r>
              <a:rPr lang="en-US" sz="2000">
                <a:solidFill>
                  <a:srgbClr val="000000"/>
                </a:solidFill>
                <a:latin typeface="Arial"/>
                <a:ea typeface="Arial"/>
                <a:cs typeface="Arial"/>
                <a:sym typeface="Arial"/>
              </a:rPr>
              <a:t>• Ghi lại rằng tệp đã được mở, để có thể thực hiện việc tải trước </a:t>
            </a:r>
          </a:p>
          <a:p>
            <a:pPr algn="just">
              <a:lnSpc>
                <a:spcPts val="2400"/>
              </a:lnSpc>
            </a:pPr>
            <a:r>
              <a:rPr lang="en-US" sz="2000">
                <a:solidFill>
                  <a:srgbClr val="000000"/>
                </a:solidFill>
                <a:latin typeface="Arial"/>
                <a:ea typeface="Arial"/>
                <a:cs typeface="Arial"/>
                <a:sym typeface="Arial"/>
              </a:rPr>
              <a:t>• Biết dữ liệu nào máy khách đã lưu vào bộ nhớ đệm và cho phép máy khách giữ các bản sao cục bộ của dữ liệu được chia sẻ</a:t>
            </a:r>
          </a:p>
          <a:p>
            <a:pPr algn="just">
              <a:lnSpc>
                <a:spcPts val="2400"/>
              </a:lnSpc>
            </a:pPr>
            <a:r>
              <a:rPr lang="en-US" sz="2000" b="1">
                <a:solidFill>
                  <a:srgbClr val="FF0000"/>
                </a:solidFill>
                <a:latin typeface="Arial Bold"/>
                <a:ea typeface="Arial Bold"/>
                <a:cs typeface="Arial Bold"/>
                <a:sym typeface="Arial Bold"/>
              </a:rPr>
              <a:t>Quan sát</a:t>
            </a:r>
            <a:r>
              <a:rPr lang="en-US" sz="2000">
                <a:solidFill>
                  <a:srgbClr val="000000"/>
                </a:solidFill>
                <a:latin typeface="Arial"/>
                <a:ea typeface="Arial"/>
                <a:cs typeface="Arial"/>
                <a:sym typeface="Arial"/>
              </a:rPr>
              <a:t> </a:t>
            </a:r>
          </a:p>
          <a:p>
            <a:pPr algn="just">
              <a:lnSpc>
                <a:spcPts val="2400"/>
              </a:lnSpc>
            </a:pPr>
            <a:r>
              <a:rPr lang="en-US" sz="2000" b="1">
                <a:solidFill>
                  <a:srgbClr val="000000"/>
                </a:solidFill>
                <a:latin typeface="Arial Bold"/>
                <a:ea typeface="Arial Bold"/>
                <a:cs typeface="Arial Bold"/>
                <a:sym typeface="Arial Bold"/>
              </a:rPr>
              <a:t>Hiệu suất của máy chủ có trạng thái có thể cực kỳ cao</a:t>
            </a:r>
            <a:r>
              <a:rPr lang="en-US" sz="2000">
                <a:solidFill>
                  <a:srgbClr val="000000"/>
                </a:solidFill>
                <a:latin typeface="Arial"/>
                <a:ea typeface="Arial"/>
                <a:cs typeface="Arial"/>
                <a:sym typeface="Arial"/>
              </a:rPr>
              <a:t>, miễn là máy khách được phép giữ bản sao cục bộ. Thực tế cho thấy, </a:t>
            </a:r>
            <a:r>
              <a:rPr lang="en-US" sz="2000" b="1">
                <a:solidFill>
                  <a:srgbClr val="000000"/>
                </a:solidFill>
                <a:latin typeface="Arial Bold"/>
                <a:ea typeface="Arial Bold"/>
                <a:cs typeface="Arial Bold"/>
                <a:sym typeface="Arial Bold"/>
              </a:rPr>
              <a:t>độ tin cậy thường không phải là vấn đề lớn.</a:t>
            </a:r>
          </a:p>
          <a:p>
            <a:pPr algn="just">
              <a:lnSpc>
                <a:spcPts val="2400"/>
              </a:lnSpc>
            </a:pPr>
            <a:endParaRPr lang="en-US" sz="2000" b="1">
              <a:solidFill>
                <a:srgbClr val="000000"/>
              </a:solidFill>
              <a:latin typeface="Arial Bold"/>
              <a:ea typeface="Arial Bold"/>
              <a:cs typeface="Arial Bold"/>
              <a:sym typeface="Arial Bold"/>
            </a:endParaRPr>
          </a:p>
          <a:p>
            <a:pPr algn="just">
              <a:lnSpc>
                <a:spcPts val="2880"/>
              </a:lnSpc>
              <a:spcBef>
                <a:spcPct val="0"/>
              </a:spcBef>
            </a:pPr>
            <a:endParaRPr lang="en-US" sz="2000"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082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54</a:t>
              </a:r>
            </a:p>
          </p:txBody>
        </p:sp>
      </p:grpSp>
      <p:sp>
        <p:nvSpPr>
          <p:cNvPr id="9" name="Freeform 9"/>
          <p:cNvSpPr/>
          <p:nvPr/>
        </p:nvSpPr>
        <p:spPr>
          <a:xfrm>
            <a:off x="636090" y="2143886"/>
            <a:ext cx="3400664" cy="3703258"/>
          </a:xfrm>
          <a:custGeom>
            <a:avLst/>
            <a:gdLst/>
            <a:ahLst/>
            <a:cxnLst/>
            <a:rect l="l" t="t" r="r" b="b"/>
            <a:pathLst>
              <a:path w="3400664" h="3703258">
                <a:moveTo>
                  <a:pt x="0" y="0"/>
                </a:moveTo>
                <a:lnTo>
                  <a:pt x="3400664" y="0"/>
                </a:lnTo>
                <a:lnTo>
                  <a:pt x="3400664" y="3703258"/>
                </a:lnTo>
                <a:lnTo>
                  <a:pt x="0" y="3703258"/>
                </a:lnTo>
                <a:lnTo>
                  <a:pt x="0" y="0"/>
                </a:lnTo>
                <a:close/>
              </a:path>
            </a:pathLst>
          </a:custGeom>
          <a:blipFill>
            <a:blip r:embed="rId4"/>
            <a:stretch>
              <a:fillRect b="-4194"/>
            </a:stretch>
          </a:blipFill>
        </p:spPr>
      </p:sp>
      <p:sp>
        <p:nvSpPr>
          <p:cNvPr id="10" name="TextBox 10"/>
          <p:cNvSpPr txBox="1"/>
          <p:nvPr/>
        </p:nvSpPr>
        <p:spPr>
          <a:xfrm>
            <a:off x="430251" y="1417512"/>
            <a:ext cx="8753284" cy="161925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Máy chủ đối tượng </a:t>
            </a:r>
          </a:p>
          <a:p>
            <a:pPr algn="just">
              <a:lnSpc>
                <a:spcPts val="3120"/>
              </a:lnSpc>
            </a:pPr>
            <a:endParaRPr lang="en-US" sz="2600" b="1">
              <a:solidFill>
                <a:srgbClr val="000000"/>
              </a:solidFill>
              <a:latin typeface="Arial Bold"/>
              <a:ea typeface="Arial Bold"/>
              <a:cs typeface="Arial Bold"/>
              <a:sym typeface="Arial Bold"/>
            </a:endParaRPr>
          </a:p>
          <a:p>
            <a:pPr algn="just">
              <a:lnSpc>
                <a:spcPts val="3120"/>
              </a:lnSpc>
            </a:pPr>
            <a:endParaRPr lang="en-US" sz="2600" b="1">
              <a:solidFill>
                <a:srgbClr val="000000"/>
              </a:solidFill>
              <a:latin typeface="Arial Bold"/>
              <a:ea typeface="Arial Bold"/>
              <a:cs typeface="Arial Bold"/>
              <a:sym typeface="Arial Bold"/>
            </a:endParaRP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1" name="TextBox 11"/>
          <p:cNvSpPr txBox="1"/>
          <p:nvPr/>
        </p:nvSpPr>
        <p:spPr>
          <a:xfrm>
            <a:off x="4426017" y="2208087"/>
            <a:ext cx="5011700" cy="27908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·Chính sách kích hoạt:</a:t>
            </a:r>
            <a:r>
              <a:rPr lang="en-US" sz="2000">
                <a:solidFill>
                  <a:srgbClr val="000000"/>
                </a:solidFill>
                <a:latin typeface="Arial"/>
                <a:ea typeface="Arial"/>
                <a:cs typeface="Arial"/>
                <a:sym typeface="Arial"/>
              </a:rPr>
              <a:t> những hành động cần thực hiện khi có yêu cầu kích hoạt: </a:t>
            </a:r>
          </a:p>
          <a:p>
            <a:pPr algn="just">
              <a:lnSpc>
                <a:spcPts val="2400"/>
              </a:lnSpc>
            </a:pPr>
            <a:r>
              <a:rPr lang="en-US" sz="2000">
                <a:solidFill>
                  <a:srgbClr val="000000"/>
                </a:solidFill>
                <a:latin typeface="Arial"/>
                <a:ea typeface="Arial"/>
                <a:cs typeface="Arial"/>
                <a:sym typeface="Arial"/>
              </a:rPr>
              <a:t> • Mã và dữ liệu của đối tượng? </a:t>
            </a:r>
          </a:p>
          <a:p>
            <a:pPr algn="just">
              <a:lnSpc>
                <a:spcPts val="2400"/>
              </a:lnSpc>
            </a:pPr>
            <a:r>
              <a:rPr lang="en-US" sz="2000">
                <a:solidFill>
                  <a:srgbClr val="000000"/>
                </a:solidFill>
                <a:latin typeface="Arial"/>
                <a:ea typeface="Arial"/>
                <a:cs typeface="Arial"/>
                <a:sym typeface="Arial"/>
              </a:rPr>
              <a:t> • Sử dụng mô hình luồng nào? </a:t>
            </a:r>
          </a:p>
          <a:p>
            <a:pPr algn="just">
              <a:lnSpc>
                <a:spcPts val="2400"/>
              </a:lnSpc>
            </a:pPr>
            <a:r>
              <a:rPr lang="en-US" sz="2000">
                <a:solidFill>
                  <a:srgbClr val="000000"/>
                </a:solidFill>
                <a:latin typeface="Arial"/>
                <a:ea typeface="Arial"/>
                <a:cs typeface="Arial"/>
                <a:sym typeface="Arial"/>
              </a:rPr>
              <a:t> • Giữ nguyên trạng thái đã sửa đổi của đối tượng, nếu có? </a:t>
            </a:r>
          </a:p>
          <a:p>
            <a:pPr algn="just">
              <a:lnSpc>
                <a:spcPts val="2400"/>
              </a:lnSpc>
            </a:pPr>
            <a:r>
              <a:rPr lang="en-US" sz="2000" b="1">
                <a:solidFill>
                  <a:srgbClr val="000000"/>
                </a:solidFill>
                <a:latin typeface="Arial Bold"/>
                <a:ea typeface="Arial Bold"/>
                <a:cs typeface="Arial Bold"/>
                <a:sym typeface="Arial Bold"/>
              </a:rPr>
              <a:t>· Bộ điều hợp đối tượng:</a:t>
            </a:r>
            <a:r>
              <a:rPr lang="en-US" sz="2000">
                <a:solidFill>
                  <a:srgbClr val="000000"/>
                </a:solidFill>
                <a:latin typeface="Arial"/>
                <a:ea typeface="Arial"/>
                <a:cs typeface="Arial"/>
                <a:sym typeface="Arial"/>
              </a:rPr>
              <a:t> triển khai chính sách kích hoạt cụ thể</a:t>
            </a:r>
          </a:p>
          <a:p>
            <a:pPr algn="just">
              <a:lnSpc>
                <a:spcPts val="240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082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55</a:t>
              </a:r>
            </a:p>
          </p:txBody>
        </p:sp>
      </p:grpSp>
      <p:sp>
        <p:nvSpPr>
          <p:cNvPr id="9" name="Freeform 9"/>
          <p:cNvSpPr/>
          <p:nvPr/>
        </p:nvSpPr>
        <p:spPr>
          <a:xfrm>
            <a:off x="547565" y="2012403"/>
            <a:ext cx="8518656" cy="3758857"/>
          </a:xfrm>
          <a:custGeom>
            <a:avLst/>
            <a:gdLst/>
            <a:ahLst/>
            <a:cxnLst/>
            <a:rect l="l" t="t" r="r" b="b"/>
            <a:pathLst>
              <a:path w="8518656" h="3758857">
                <a:moveTo>
                  <a:pt x="0" y="0"/>
                </a:moveTo>
                <a:lnTo>
                  <a:pt x="8518656" y="0"/>
                </a:lnTo>
                <a:lnTo>
                  <a:pt x="8518656" y="3758856"/>
                </a:lnTo>
                <a:lnTo>
                  <a:pt x="0" y="3758856"/>
                </a:lnTo>
                <a:lnTo>
                  <a:pt x="0" y="0"/>
                </a:lnTo>
                <a:close/>
              </a:path>
            </a:pathLst>
          </a:custGeom>
          <a:blipFill>
            <a:blip r:embed="rId4"/>
            <a:stretch>
              <a:fillRect/>
            </a:stretch>
          </a:blipFill>
        </p:spPr>
      </p:sp>
      <p:sp>
        <p:nvSpPr>
          <p:cNvPr id="10" name="TextBox 10"/>
          <p:cNvSpPr txBox="1"/>
          <p:nvPr/>
        </p:nvSpPr>
        <p:spPr>
          <a:xfrm>
            <a:off x="430251" y="1427037"/>
            <a:ext cx="8753284" cy="1495425"/>
          </a:xfrm>
          <a:prstGeom prst="rect">
            <a:avLst/>
          </a:prstGeom>
        </p:spPr>
        <p:txBody>
          <a:bodyPr lIns="0" tIns="0" rIns="0" bIns="0" rtlCol="0" anchor="t">
            <a:spAutoFit/>
          </a:bodyPr>
          <a:lstStyle/>
          <a:p>
            <a:pPr algn="just">
              <a:lnSpc>
                <a:spcPts val="2880"/>
              </a:lnSpc>
            </a:pPr>
            <a:r>
              <a:rPr lang="en-US" sz="2400" b="1">
                <a:solidFill>
                  <a:srgbClr val="000000"/>
                </a:solidFill>
                <a:latin typeface="Arial Bold"/>
                <a:ea typeface="Arial Bold"/>
                <a:cs typeface="Arial Bold"/>
                <a:sym typeface="Arial Bold"/>
              </a:rPr>
              <a:t>Ví dụ: Hệ thống chạy Ice – một máy chủ</a:t>
            </a:r>
          </a:p>
          <a:p>
            <a:pPr algn="just">
              <a:lnSpc>
                <a:spcPts val="2880"/>
              </a:lnSpc>
            </a:pPr>
            <a:endParaRPr lang="en-US" sz="2400" b="1">
              <a:solidFill>
                <a:srgbClr val="000000"/>
              </a:solidFill>
              <a:latin typeface="Arial Bold"/>
              <a:ea typeface="Arial Bold"/>
              <a:cs typeface="Arial Bold"/>
              <a:sym typeface="Arial Bold"/>
            </a:endParaRPr>
          </a:p>
          <a:p>
            <a:pPr algn="just">
              <a:lnSpc>
                <a:spcPts val="2880"/>
              </a:lnSpc>
            </a:pPr>
            <a:endParaRPr lang="en-US" sz="2400" b="1">
              <a:solidFill>
                <a:srgbClr val="000000"/>
              </a:solidFill>
              <a:latin typeface="Arial Bold"/>
              <a:ea typeface="Arial Bold"/>
              <a:cs typeface="Arial Bold"/>
              <a:sym typeface="Arial Bold"/>
            </a:endParaRPr>
          </a:p>
          <a:p>
            <a:pPr algn="just">
              <a:lnSpc>
                <a:spcPts val="2880"/>
              </a:lnSpc>
              <a:spcBef>
                <a:spcPct val="0"/>
              </a:spcBef>
            </a:pPr>
            <a:endParaRPr lang="en-US" sz="2400"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082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56</a:t>
              </a:r>
            </a:p>
          </p:txBody>
        </p:sp>
      </p:grpSp>
      <p:sp>
        <p:nvSpPr>
          <p:cNvPr id="9" name="Freeform 9"/>
          <p:cNvSpPr/>
          <p:nvPr/>
        </p:nvSpPr>
        <p:spPr>
          <a:xfrm>
            <a:off x="738080" y="1901566"/>
            <a:ext cx="7326585" cy="3232856"/>
          </a:xfrm>
          <a:custGeom>
            <a:avLst/>
            <a:gdLst/>
            <a:ahLst/>
            <a:cxnLst/>
            <a:rect l="l" t="t" r="r" b="b"/>
            <a:pathLst>
              <a:path w="7326585" h="3232856">
                <a:moveTo>
                  <a:pt x="0" y="0"/>
                </a:moveTo>
                <a:lnTo>
                  <a:pt x="7326585" y="0"/>
                </a:lnTo>
                <a:lnTo>
                  <a:pt x="7326585" y="3232856"/>
                </a:lnTo>
                <a:lnTo>
                  <a:pt x="0" y="3232856"/>
                </a:lnTo>
                <a:lnTo>
                  <a:pt x="0" y="0"/>
                </a:lnTo>
                <a:close/>
              </a:path>
            </a:pathLst>
          </a:custGeom>
          <a:blipFill>
            <a:blip r:embed="rId4"/>
            <a:stretch>
              <a:fillRect/>
            </a:stretch>
          </a:blipFill>
        </p:spPr>
      </p:sp>
      <p:sp>
        <p:nvSpPr>
          <p:cNvPr id="10" name="TextBox 10"/>
          <p:cNvSpPr txBox="1"/>
          <p:nvPr/>
        </p:nvSpPr>
        <p:spPr>
          <a:xfrm>
            <a:off x="430251" y="1427037"/>
            <a:ext cx="8753284" cy="1495425"/>
          </a:xfrm>
          <a:prstGeom prst="rect">
            <a:avLst/>
          </a:prstGeom>
        </p:spPr>
        <p:txBody>
          <a:bodyPr lIns="0" tIns="0" rIns="0" bIns="0" rtlCol="0" anchor="t">
            <a:spAutoFit/>
          </a:bodyPr>
          <a:lstStyle/>
          <a:p>
            <a:pPr algn="just">
              <a:lnSpc>
                <a:spcPts val="2880"/>
              </a:lnSpc>
            </a:pPr>
            <a:r>
              <a:rPr lang="en-US" sz="2400" b="1">
                <a:solidFill>
                  <a:srgbClr val="000000"/>
                </a:solidFill>
                <a:latin typeface="Arial Bold"/>
                <a:ea typeface="Arial Bold"/>
                <a:cs typeface="Arial Bold"/>
                <a:sym typeface="Arial Bold"/>
              </a:rPr>
              <a:t>Ví dụ: Hệ thống chạy Ice – một máy chủ</a:t>
            </a:r>
          </a:p>
          <a:p>
            <a:pPr algn="just">
              <a:lnSpc>
                <a:spcPts val="2880"/>
              </a:lnSpc>
            </a:pPr>
            <a:endParaRPr lang="en-US" sz="2400" b="1">
              <a:solidFill>
                <a:srgbClr val="000000"/>
              </a:solidFill>
              <a:latin typeface="Arial Bold"/>
              <a:ea typeface="Arial Bold"/>
              <a:cs typeface="Arial Bold"/>
              <a:sym typeface="Arial Bold"/>
            </a:endParaRPr>
          </a:p>
          <a:p>
            <a:pPr algn="just">
              <a:lnSpc>
                <a:spcPts val="2880"/>
              </a:lnSpc>
            </a:pPr>
            <a:endParaRPr lang="en-US" sz="2400" b="1">
              <a:solidFill>
                <a:srgbClr val="000000"/>
              </a:solidFill>
              <a:latin typeface="Arial Bold"/>
              <a:ea typeface="Arial Bold"/>
              <a:cs typeface="Arial Bold"/>
              <a:sym typeface="Arial Bold"/>
            </a:endParaRPr>
          </a:p>
          <a:p>
            <a:pPr algn="just">
              <a:lnSpc>
                <a:spcPts val="2880"/>
              </a:lnSpc>
              <a:spcBef>
                <a:spcPct val="0"/>
              </a:spcBef>
            </a:pPr>
            <a:endParaRPr lang="en-US" sz="2400" b="1">
              <a:solidFill>
                <a:srgbClr val="000000"/>
              </a:solidFill>
              <a:latin typeface="Arial Bold"/>
              <a:ea typeface="Arial Bold"/>
              <a:cs typeface="Arial Bold"/>
              <a:sym typeface="Arial Bold"/>
            </a:endParaRPr>
          </a:p>
        </p:txBody>
      </p:sp>
      <p:sp>
        <p:nvSpPr>
          <p:cNvPr id="11" name="TextBox 11"/>
          <p:cNvSpPr txBox="1"/>
          <p:nvPr/>
        </p:nvSpPr>
        <p:spPr>
          <a:xfrm>
            <a:off x="550069" y="5371036"/>
            <a:ext cx="4643557" cy="962025"/>
          </a:xfrm>
          <a:prstGeom prst="rect">
            <a:avLst/>
          </a:prstGeom>
        </p:spPr>
        <p:txBody>
          <a:bodyPr lIns="0" tIns="0" rIns="0" bIns="0" rtlCol="0" anchor="t">
            <a:spAutoFit/>
          </a:bodyPr>
          <a:lstStyle/>
          <a:p>
            <a:pPr algn="ctr">
              <a:lnSpc>
                <a:spcPts val="2400"/>
              </a:lnSpc>
            </a:pPr>
            <a:r>
              <a:rPr lang="en-US" sz="2000">
                <a:solidFill>
                  <a:srgbClr val="000000"/>
                </a:solidFill>
                <a:latin typeface="Arial"/>
                <a:ea typeface="Arial"/>
                <a:cs typeface="Arial"/>
                <a:sym typeface="Arial"/>
              </a:rPr>
              <a:t>Object1 says: Hello World from printer1 ! </a:t>
            </a:r>
          </a:p>
          <a:p>
            <a:pPr algn="ctr">
              <a:lnSpc>
                <a:spcPts val="2400"/>
              </a:lnSpc>
            </a:pPr>
            <a:r>
              <a:rPr lang="en-US" sz="2000">
                <a:solidFill>
                  <a:srgbClr val="000000"/>
                </a:solidFill>
                <a:latin typeface="Arial"/>
                <a:ea typeface="Arial"/>
                <a:cs typeface="Arial"/>
                <a:sym typeface="Arial"/>
              </a:rPr>
              <a:t>Object2 says: Hello World from printer2 !</a:t>
            </a:r>
          </a:p>
          <a:p>
            <a:pPr algn="ctr">
              <a:lnSpc>
                <a:spcPts val="240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082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57</a:t>
              </a:r>
            </a:p>
          </p:txBody>
        </p:sp>
      </p:grpSp>
      <p:sp>
        <p:nvSpPr>
          <p:cNvPr id="9" name="Freeform 9"/>
          <p:cNvSpPr/>
          <p:nvPr/>
        </p:nvSpPr>
        <p:spPr>
          <a:xfrm>
            <a:off x="1182279" y="1979487"/>
            <a:ext cx="6658718" cy="4211639"/>
          </a:xfrm>
          <a:custGeom>
            <a:avLst/>
            <a:gdLst/>
            <a:ahLst/>
            <a:cxnLst/>
            <a:rect l="l" t="t" r="r" b="b"/>
            <a:pathLst>
              <a:path w="6658718" h="4211639">
                <a:moveTo>
                  <a:pt x="0" y="0"/>
                </a:moveTo>
                <a:lnTo>
                  <a:pt x="6658718" y="0"/>
                </a:lnTo>
                <a:lnTo>
                  <a:pt x="6658718" y="4211639"/>
                </a:lnTo>
                <a:lnTo>
                  <a:pt x="0" y="4211639"/>
                </a:lnTo>
                <a:lnTo>
                  <a:pt x="0" y="0"/>
                </a:lnTo>
                <a:close/>
              </a:path>
            </a:pathLst>
          </a:custGeom>
          <a:blipFill>
            <a:blip r:embed="rId4"/>
            <a:stretch>
              <a:fillRect/>
            </a:stretch>
          </a:blipFill>
        </p:spPr>
      </p:sp>
      <p:sp>
        <p:nvSpPr>
          <p:cNvPr id="10" name="TextBox 10"/>
          <p:cNvSpPr txBox="1"/>
          <p:nvPr/>
        </p:nvSpPr>
        <p:spPr>
          <a:xfrm>
            <a:off x="430251" y="1427037"/>
            <a:ext cx="8753284" cy="409575"/>
          </a:xfrm>
          <a:prstGeom prst="rect">
            <a:avLst/>
          </a:prstGeom>
        </p:spPr>
        <p:txBody>
          <a:bodyPr lIns="0" tIns="0" rIns="0" bIns="0" rtlCol="0" anchor="t">
            <a:spAutoFit/>
          </a:bodyPr>
          <a:lstStyle/>
          <a:p>
            <a:pPr algn="just">
              <a:lnSpc>
                <a:spcPts val="2880"/>
              </a:lnSpc>
              <a:spcBef>
                <a:spcPct val="0"/>
              </a:spcBef>
            </a:pPr>
            <a:r>
              <a:rPr lang="en-US" sz="2400" b="1">
                <a:solidFill>
                  <a:srgbClr val="000000"/>
                </a:solidFill>
                <a:latin typeface="Arial Bold"/>
                <a:ea typeface="Arial Bold"/>
                <a:cs typeface="Arial Bold"/>
                <a:sym typeface="Arial Bold"/>
              </a:rPr>
              <a:t>Ví dụ: máy chủ Web Apache</a:t>
            </a: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082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58</a:t>
              </a:r>
            </a:p>
          </p:txBody>
        </p:sp>
      </p:grpSp>
      <p:sp>
        <p:nvSpPr>
          <p:cNvPr id="9" name="Freeform 9"/>
          <p:cNvSpPr/>
          <p:nvPr/>
        </p:nvSpPr>
        <p:spPr>
          <a:xfrm>
            <a:off x="1111670" y="2164039"/>
            <a:ext cx="6753410" cy="3064360"/>
          </a:xfrm>
          <a:custGeom>
            <a:avLst/>
            <a:gdLst/>
            <a:ahLst/>
            <a:cxnLst/>
            <a:rect l="l" t="t" r="r" b="b"/>
            <a:pathLst>
              <a:path w="6753410" h="3064360">
                <a:moveTo>
                  <a:pt x="0" y="0"/>
                </a:moveTo>
                <a:lnTo>
                  <a:pt x="6753410" y="0"/>
                </a:lnTo>
                <a:lnTo>
                  <a:pt x="6753410" y="3064360"/>
                </a:lnTo>
                <a:lnTo>
                  <a:pt x="0" y="3064360"/>
                </a:lnTo>
                <a:lnTo>
                  <a:pt x="0" y="0"/>
                </a:lnTo>
                <a:close/>
              </a:path>
            </a:pathLst>
          </a:custGeom>
          <a:blipFill>
            <a:blip r:embed="rId4"/>
            <a:stretch>
              <a:fillRect/>
            </a:stretch>
          </a:blipFill>
        </p:spPr>
      </p:sp>
      <p:sp>
        <p:nvSpPr>
          <p:cNvPr id="10" name="TextBox 10"/>
          <p:cNvSpPr txBox="1"/>
          <p:nvPr/>
        </p:nvSpPr>
        <p:spPr>
          <a:xfrm>
            <a:off x="398723" y="1310113"/>
            <a:ext cx="875328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Ba tầng khác nhau </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1" name="TextBox 11"/>
          <p:cNvSpPr txBox="1"/>
          <p:nvPr/>
        </p:nvSpPr>
        <p:spPr>
          <a:xfrm>
            <a:off x="652905" y="5209349"/>
            <a:ext cx="8753284" cy="1266825"/>
          </a:xfrm>
          <a:prstGeom prst="rect">
            <a:avLst/>
          </a:prstGeom>
        </p:spPr>
        <p:txBody>
          <a:bodyPr lIns="0" tIns="0" rIns="0" bIns="0" rtlCol="0" anchor="t">
            <a:spAutoFit/>
          </a:bodyPr>
          <a:lstStyle/>
          <a:p>
            <a:pPr algn="just">
              <a:lnSpc>
                <a:spcPts val="2400"/>
              </a:lnSpc>
            </a:pPr>
            <a:r>
              <a:rPr lang="en-US" sz="2000" b="1">
                <a:solidFill>
                  <a:srgbClr val="FF0000"/>
                </a:solidFill>
                <a:latin typeface="Arial Bold"/>
                <a:ea typeface="Arial Bold"/>
                <a:cs typeface="Arial Bold"/>
                <a:sym typeface="Arial Bold"/>
              </a:rPr>
              <a:t>Yếu tố quan trọng </a:t>
            </a:r>
          </a:p>
          <a:p>
            <a:pPr algn="just">
              <a:lnSpc>
                <a:spcPts val="2400"/>
              </a:lnSpc>
            </a:pPr>
            <a:r>
              <a:rPr lang="en-US" sz="2000">
                <a:solidFill>
                  <a:srgbClr val="000000"/>
                </a:solidFill>
                <a:latin typeface="Arial"/>
                <a:ea typeface="Arial"/>
                <a:cs typeface="Arial"/>
                <a:sym typeface="Arial"/>
              </a:rPr>
              <a:t>Tầng đầu tiên thường chịu trách nhiệm chuyển tiếp các yêu cầu đến máy chủ thích hợp: </a:t>
            </a:r>
            <a:r>
              <a:rPr lang="en-US" sz="2000" b="1">
                <a:solidFill>
                  <a:srgbClr val="000000"/>
                </a:solidFill>
                <a:latin typeface="Arial Bold"/>
                <a:ea typeface="Arial Bold"/>
                <a:cs typeface="Arial Bold"/>
                <a:sym typeface="Arial Bold"/>
              </a:rPr>
              <a:t>phân phối yêu cầu</a:t>
            </a:r>
          </a:p>
          <a:p>
            <a:pPr algn="just">
              <a:lnSpc>
                <a:spcPts val="2400"/>
              </a:lnSpc>
              <a:spcBef>
                <a:spcPct val="0"/>
              </a:spcBef>
            </a:pPr>
            <a:endParaRPr lang="en-US" sz="2000" b="1">
              <a:solidFill>
                <a:srgbClr val="000000"/>
              </a:solidFill>
              <a:latin typeface="Arial Bold"/>
              <a:ea typeface="Arial Bold"/>
              <a:cs typeface="Arial Bold"/>
              <a:sym typeface="Arial Bold"/>
            </a:endParaRPr>
          </a:p>
        </p:txBody>
      </p:sp>
      <p:sp>
        <p:nvSpPr>
          <p:cNvPr id="12" name="TextBox 12"/>
          <p:cNvSpPr txBox="1"/>
          <p:nvPr/>
        </p:nvSpPr>
        <p:spPr>
          <a:xfrm>
            <a:off x="652905" y="1776838"/>
            <a:ext cx="8753284" cy="6572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Tổ chức chung </a:t>
            </a:r>
          </a:p>
          <a:p>
            <a:pPr algn="just">
              <a:lnSpc>
                <a:spcPts val="2400"/>
              </a:lnSpc>
              <a:spcBef>
                <a:spcPct val="0"/>
              </a:spcBef>
            </a:pPr>
            <a:endParaRPr lang="en-US" sz="2000"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082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59</a:t>
              </a:r>
            </a:p>
          </p:txBody>
        </p:sp>
      </p:grpSp>
      <p:sp>
        <p:nvSpPr>
          <p:cNvPr id="9" name="Freeform 9"/>
          <p:cNvSpPr/>
          <p:nvPr/>
        </p:nvSpPr>
        <p:spPr>
          <a:xfrm>
            <a:off x="2203804" y="3252483"/>
            <a:ext cx="5162172" cy="3015455"/>
          </a:xfrm>
          <a:custGeom>
            <a:avLst/>
            <a:gdLst/>
            <a:ahLst/>
            <a:cxnLst/>
            <a:rect l="l" t="t" r="r" b="b"/>
            <a:pathLst>
              <a:path w="5162172" h="3015455">
                <a:moveTo>
                  <a:pt x="0" y="0"/>
                </a:moveTo>
                <a:lnTo>
                  <a:pt x="5162172" y="0"/>
                </a:lnTo>
                <a:lnTo>
                  <a:pt x="5162172" y="3015455"/>
                </a:lnTo>
                <a:lnTo>
                  <a:pt x="0" y="3015455"/>
                </a:lnTo>
                <a:lnTo>
                  <a:pt x="0" y="0"/>
                </a:lnTo>
                <a:close/>
              </a:path>
            </a:pathLst>
          </a:custGeom>
          <a:blipFill>
            <a:blip r:embed="rId4"/>
            <a:stretch>
              <a:fillRect/>
            </a:stretch>
          </a:blipFill>
        </p:spPr>
      </p:sp>
      <p:sp>
        <p:nvSpPr>
          <p:cNvPr id="10" name="TextBox 10"/>
          <p:cNvSpPr txBox="1"/>
          <p:nvPr/>
        </p:nvSpPr>
        <p:spPr>
          <a:xfrm>
            <a:off x="430251" y="1417512"/>
            <a:ext cx="875328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Xử lý yêu cầu </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1" name="TextBox 11"/>
          <p:cNvSpPr txBox="1"/>
          <p:nvPr/>
        </p:nvSpPr>
        <p:spPr>
          <a:xfrm>
            <a:off x="408248" y="1855662"/>
            <a:ext cx="8753284" cy="15716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Quan sát </a:t>
            </a:r>
          </a:p>
          <a:p>
            <a:pPr algn="just">
              <a:lnSpc>
                <a:spcPts val="2400"/>
              </a:lnSpc>
            </a:pPr>
            <a:r>
              <a:rPr lang="en-US" sz="2000">
                <a:solidFill>
                  <a:srgbClr val="000000"/>
                </a:solidFill>
                <a:latin typeface="Arial"/>
                <a:ea typeface="Arial"/>
                <a:cs typeface="Arial"/>
                <a:sym typeface="Arial"/>
              </a:rPr>
              <a:t>Việc để tầng đầu tiên xử lý mọi giao tiếp từ/đến cụm có thể dẫn đến tình trạng tắc nghẽn. </a:t>
            </a:r>
          </a:p>
          <a:p>
            <a:pPr algn="just">
              <a:lnSpc>
                <a:spcPts val="2400"/>
              </a:lnSpc>
            </a:pPr>
            <a:r>
              <a:rPr lang="en-US" sz="2000" b="1">
                <a:solidFill>
                  <a:srgbClr val="000000"/>
                </a:solidFill>
                <a:latin typeface="Arial Bold"/>
                <a:ea typeface="Arial Bold"/>
                <a:cs typeface="Arial Bold"/>
                <a:sym typeface="Arial Bold"/>
              </a:rPr>
              <a:t>Một giải pháp: Chuyển giao TCP</a:t>
            </a:r>
          </a:p>
          <a:p>
            <a:pPr algn="just">
              <a:lnSpc>
                <a:spcPts val="2400"/>
              </a:lnSpc>
              <a:spcBef>
                <a:spcPct val="0"/>
              </a:spcBef>
            </a:pPr>
            <a:endParaRPr lang="en-US" sz="2000"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2939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60</a:t>
              </a:r>
            </a:p>
          </p:txBody>
        </p:sp>
      </p:grpSp>
      <p:sp>
        <p:nvSpPr>
          <p:cNvPr id="9" name="TextBox 9"/>
          <p:cNvSpPr txBox="1"/>
          <p:nvPr/>
        </p:nvSpPr>
        <p:spPr>
          <a:xfrm>
            <a:off x="303473" y="1336063"/>
            <a:ext cx="875328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Khi các máy chủ được phân bổ trên Internet </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0" name="TextBox 10"/>
          <p:cNvSpPr txBox="1"/>
          <p:nvPr/>
        </p:nvSpPr>
        <p:spPr>
          <a:xfrm>
            <a:off x="546341" y="1751774"/>
            <a:ext cx="8753284" cy="49244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Quan sát </a:t>
            </a:r>
          </a:p>
          <a:p>
            <a:pPr algn="just">
              <a:lnSpc>
                <a:spcPts val="2400"/>
              </a:lnSpc>
            </a:pPr>
            <a:r>
              <a:rPr lang="en-US" sz="2000">
                <a:solidFill>
                  <a:srgbClr val="000000"/>
                </a:solidFill>
                <a:latin typeface="Arial"/>
                <a:ea typeface="Arial"/>
                <a:cs typeface="Arial"/>
                <a:sym typeface="Arial"/>
              </a:rPr>
              <a:t>Việc phân bổ máy chủ trên Internet có thể gây ra các vấn đề về quản trị. </a:t>
            </a:r>
          </a:p>
          <a:p>
            <a:pPr algn="just">
              <a:lnSpc>
                <a:spcPts val="2400"/>
              </a:lnSpc>
            </a:pPr>
            <a:r>
              <a:rPr lang="en-US" sz="2000">
                <a:solidFill>
                  <a:srgbClr val="000000"/>
                </a:solidFill>
                <a:latin typeface="Arial"/>
                <a:ea typeface="Arial"/>
                <a:cs typeface="Arial"/>
                <a:sym typeface="Arial"/>
              </a:rPr>
              <a:t>Những vấn đề này có thể được giải quyết phần lớn bằng cách sử dụng các trung tâm dữ liệu từ một nhà cung cấp dịch vụ đám mây duy nhất. </a:t>
            </a:r>
          </a:p>
          <a:p>
            <a:pPr algn="just">
              <a:lnSpc>
                <a:spcPts val="2400"/>
              </a:lnSpc>
            </a:pPr>
            <a:r>
              <a:rPr lang="en-US" sz="2000">
                <a:solidFill>
                  <a:srgbClr val="000000"/>
                </a:solidFill>
                <a:latin typeface="Arial"/>
                <a:ea typeface="Arial"/>
                <a:cs typeface="Arial"/>
                <a:sym typeface="Arial"/>
              </a:rPr>
              <a:t>Yêu cầu điều phối: nếu địa phương là quan trọng </a:t>
            </a:r>
          </a:p>
          <a:p>
            <a:pPr algn="just">
              <a:lnSpc>
                <a:spcPts val="2400"/>
              </a:lnSpc>
            </a:pPr>
            <a:endParaRPr lang="en-US" sz="2000">
              <a:solidFill>
                <a:srgbClr val="000000"/>
              </a:solidFill>
              <a:latin typeface="Arial"/>
              <a:ea typeface="Arial"/>
              <a:cs typeface="Arial"/>
              <a:sym typeface="Arial"/>
            </a:endParaRPr>
          </a:p>
          <a:p>
            <a:pPr algn="just">
              <a:lnSpc>
                <a:spcPts val="2400"/>
              </a:lnSpc>
            </a:pPr>
            <a:r>
              <a:rPr lang="en-US" sz="2000" b="1">
                <a:solidFill>
                  <a:srgbClr val="000000"/>
                </a:solidFill>
                <a:latin typeface="Arial Bold"/>
                <a:ea typeface="Arial Bold"/>
                <a:cs typeface="Arial Bold"/>
                <a:sym typeface="Arial Bold"/>
              </a:rPr>
              <a:t>Cách tiếp cận phổ biến: sử dụng DNS: </a:t>
            </a:r>
          </a:p>
          <a:p>
            <a:pPr algn="just">
              <a:lnSpc>
                <a:spcPts val="2400"/>
              </a:lnSpc>
            </a:pPr>
            <a:r>
              <a:rPr lang="en-US" sz="2000">
                <a:solidFill>
                  <a:srgbClr val="000000"/>
                </a:solidFill>
                <a:latin typeface="Arial"/>
                <a:ea typeface="Arial"/>
                <a:cs typeface="Arial"/>
                <a:sym typeface="Arial"/>
              </a:rPr>
              <a:t>1. Khách hàng tra cứu dịch vụ cụ thể thông qua DNS - địa chỉ IP của khách hàng là một phần của yêu cầu </a:t>
            </a:r>
          </a:p>
          <a:p>
            <a:pPr algn="just">
              <a:lnSpc>
                <a:spcPts val="2400"/>
              </a:lnSpc>
            </a:pPr>
            <a:r>
              <a:rPr lang="en-US" sz="2000">
                <a:solidFill>
                  <a:srgbClr val="000000"/>
                </a:solidFill>
                <a:latin typeface="Arial"/>
                <a:ea typeface="Arial"/>
                <a:cs typeface="Arial"/>
                <a:sym typeface="Arial"/>
              </a:rPr>
              <a:t>2. Máy chủ DNS theo dõi các máy chủ bản sao cho dịch vụ được yêu cầu và trả về địa chỉ của máy chủ cục bộ nhất. </a:t>
            </a:r>
          </a:p>
          <a:p>
            <a:pPr algn="just">
              <a:lnSpc>
                <a:spcPts val="2400"/>
              </a:lnSpc>
            </a:pPr>
            <a:r>
              <a:rPr lang="en-US" sz="2000" b="1">
                <a:solidFill>
                  <a:srgbClr val="FF0000"/>
                </a:solidFill>
                <a:latin typeface="Arial Bold"/>
                <a:ea typeface="Arial Bold"/>
                <a:cs typeface="Arial Bold"/>
                <a:sym typeface="Arial Bold"/>
              </a:rPr>
              <a:t>Tính minh bạch của máy khách</a:t>
            </a:r>
            <a:r>
              <a:rPr lang="en-US" sz="2000" b="1">
                <a:solidFill>
                  <a:srgbClr val="000000"/>
                </a:solidFill>
                <a:latin typeface="Arial Bold"/>
                <a:ea typeface="Arial Bold"/>
                <a:cs typeface="Arial Bold"/>
                <a:sym typeface="Arial Bold"/>
              </a:rPr>
              <a:t> </a:t>
            </a:r>
          </a:p>
          <a:p>
            <a:pPr algn="just">
              <a:lnSpc>
                <a:spcPts val="2400"/>
              </a:lnSpc>
            </a:pPr>
            <a:r>
              <a:rPr lang="en-US" sz="2000">
                <a:solidFill>
                  <a:srgbClr val="000000"/>
                </a:solidFill>
                <a:latin typeface="Arial"/>
                <a:ea typeface="Arial"/>
                <a:cs typeface="Arial"/>
                <a:sym typeface="Arial"/>
              </a:rPr>
              <a:t>Để máy khách không biết về việc phân phối, hãy để trình phân giải DNS hoạt động thay mặt cho máy khách. Vấn đề là trình giải quyết có thể thực sự không nằm ở </a:t>
            </a:r>
            <a:r>
              <a:rPr lang="en-US" sz="2000" b="1">
                <a:solidFill>
                  <a:srgbClr val="000000"/>
                </a:solidFill>
                <a:latin typeface="Arial Bold"/>
                <a:ea typeface="Arial Bold"/>
                <a:cs typeface="Arial Bold"/>
                <a:sym typeface="Arial Bold"/>
              </a:rPr>
              <a:t>vị trí cục bộ</a:t>
            </a:r>
            <a:r>
              <a:rPr lang="en-US" sz="2000">
                <a:solidFill>
                  <a:srgbClr val="000000"/>
                </a:solidFill>
                <a:latin typeface="Arial"/>
                <a:ea typeface="Arial"/>
                <a:cs typeface="Arial"/>
                <a:sym typeface="Arial"/>
              </a:rPr>
              <a:t> so với máy khách thực tế.</a:t>
            </a:r>
          </a:p>
          <a:p>
            <a:pPr algn="just">
              <a:lnSpc>
                <a:spcPts val="240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408248" y="278882"/>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6926745" y="64475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61</a:t>
              </a:r>
            </a:p>
          </p:txBody>
        </p:sp>
      </p:grpSp>
      <p:sp>
        <p:nvSpPr>
          <p:cNvPr id="9" name="Freeform 9"/>
          <p:cNvSpPr/>
          <p:nvPr/>
        </p:nvSpPr>
        <p:spPr>
          <a:xfrm>
            <a:off x="861658" y="2027217"/>
            <a:ext cx="7890469" cy="4310169"/>
          </a:xfrm>
          <a:custGeom>
            <a:avLst/>
            <a:gdLst/>
            <a:ahLst/>
            <a:cxnLst/>
            <a:rect l="l" t="t" r="r" b="b"/>
            <a:pathLst>
              <a:path w="7890469" h="4310169">
                <a:moveTo>
                  <a:pt x="0" y="0"/>
                </a:moveTo>
                <a:lnTo>
                  <a:pt x="7890470" y="0"/>
                </a:lnTo>
                <a:lnTo>
                  <a:pt x="7890470" y="4310169"/>
                </a:lnTo>
                <a:lnTo>
                  <a:pt x="0" y="4310169"/>
                </a:lnTo>
                <a:lnTo>
                  <a:pt x="0" y="0"/>
                </a:lnTo>
                <a:close/>
              </a:path>
            </a:pathLst>
          </a:custGeom>
          <a:blipFill>
            <a:blip r:embed="rId4"/>
            <a:stretch>
              <a:fillRect/>
            </a:stretch>
          </a:blipFill>
        </p:spPr>
      </p:sp>
      <p:sp>
        <p:nvSpPr>
          <p:cNvPr id="10" name="TextBox 10"/>
          <p:cNvSpPr txBox="1"/>
          <p:nvPr/>
        </p:nvSpPr>
        <p:spPr>
          <a:xfrm>
            <a:off x="430251" y="1427037"/>
            <a:ext cx="8753284" cy="771525"/>
          </a:xfrm>
          <a:prstGeom prst="rect">
            <a:avLst/>
          </a:prstGeom>
        </p:spPr>
        <p:txBody>
          <a:bodyPr lIns="0" tIns="0" rIns="0" bIns="0" rtlCol="0" anchor="t">
            <a:spAutoFit/>
          </a:bodyPr>
          <a:lstStyle/>
          <a:p>
            <a:pPr algn="just">
              <a:lnSpc>
                <a:spcPts val="2880"/>
              </a:lnSpc>
            </a:pPr>
            <a:r>
              <a:rPr lang="en-US" sz="2400" b="1">
                <a:solidFill>
                  <a:srgbClr val="000000"/>
                </a:solidFill>
                <a:latin typeface="Arial Bold"/>
                <a:ea typeface="Arial Bold"/>
                <a:cs typeface="Arial Bold"/>
                <a:sym typeface="Arial Bold"/>
              </a:rPr>
              <a:t>Phiên bản đơn giản hóa của Akamai CDN</a:t>
            </a:r>
          </a:p>
          <a:p>
            <a:pPr algn="just">
              <a:lnSpc>
                <a:spcPts val="2880"/>
              </a:lnSpc>
              <a:spcBef>
                <a:spcPct val="0"/>
              </a:spcBef>
            </a:pPr>
            <a:endParaRPr lang="en-US" sz="2400" b="1">
              <a:solidFill>
                <a:srgbClr val="000000"/>
              </a:solidFill>
              <a:latin typeface="Arial Bold"/>
              <a:ea typeface="Arial Bold"/>
              <a:cs typeface="Arial Bold"/>
              <a:sym typeface="Arial Bold"/>
            </a:endParaRP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grpSp>
        <p:nvGrpSpPr>
          <p:cNvPr id="3" name="Group 3"/>
          <p:cNvGrpSpPr/>
          <p:nvPr/>
        </p:nvGrpSpPr>
        <p:grpSpPr>
          <a:xfrm>
            <a:off x="306896" y="164829"/>
            <a:ext cx="9029469" cy="1057181"/>
            <a:chOff x="0" y="0"/>
            <a:chExt cx="12039292" cy="1409575"/>
          </a:xfrm>
        </p:grpSpPr>
        <p:sp>
          <p:nvSpPr>
            <p:cNvPr id="4" name="Freeform 4"/>
            <p:cNvSpPr/>
            <p:nvPr/>
          </p:nvSpPr>
          <p:spPr>
            <a:xfrm>
              <a:off x="0" y="0"/>
              <a:ext cx="12039291" cy="1409575"/>
            </a:xfrm>
            <a:custGeom>
              <a:avLst/>
              <a:gdLst/>
              <a:ahLst/>
              <a:cxnLst/>
              <a:rect l="l" t="t" r="r" b="b"/>
              <a:pathLst>
                <a:path w="12039291" h="1409575">
                  <a:moveTo>
                    <a:pt x="0" y="0"/>
                  </a:moveTo>
                  <a:lnTo>
                    <a:pt x="12039291" y="0"/>
                  </a:lnTo>
                  <a:lnTo>
                    <a:pt x="12039291" y="1409575"/>
                  </a:lnTo>
                  <a:lnTo>
                    <a:pt x="0" y="1409575"/>
                  </a:lnTo>
                  <a:close/>
                </a:path>
              </a:pathLst>
            </a:custGeom>
            <a:solidFill>
              <a:srgbClr val="000000">
                <a:alpha val="0"/>
              </a:srgbClr>
            </a:solidFill>
          </p:spPr>
        </p:sp>
        <p:sp>
          <p:nvSpPr>
            <p:cNvPr id="5" name="TextBox 5"/>
            <p:cNvSpPr txBox="1"/>
            <p:nvPr/>
          </p:nvSpPr>
          <p:spPr>
            <a:xfrm>
              <a:off x="0" y="-57150"/>
              <a:ext cx="12039292" cy="1466725"/>
            </a:xfrm>
            <a:prstGeom prst="rect">
              <a:avLst/>
            </a:prstGeom>
          </p:spPr>
          <p:txBody>
            <a:bodyPr lIns="0" tIns="0" rIns="0" bIns="0" rtlCol="0" anchor="ctr"/>
            <a:lstStyle/>
            <a:p>
              <a:pPr algn="l">
                <a:lnSpc>
                  <a:spcPts val="3583"/>
                </a:lnSpc>
              </a:pPr>
              <a:r>
                <a:rPr lang="en-US" sz="2986" b="1">
                  <a:solidFill>
                    <a:srgbClr val="FFFF00"/>
                  </a:solidFill>
                  <a:latin typeface="Arial Bold"/>
                  <a:ea typeface="Arial Bold"/>
                  <a:cs typeface="Arial Bold"/>
                  <a:sym typeface="Arial Bold"/>
                </a:rPr>
                <a:t>4. Server</a:t>
              </a:r>
            </a:p>
            <a:p>
              <a:pPr algn="l">
                <a:lnSpc>
                  <a:spcPts val="3583"/>
                </a:lnSpc>
              </a:pPr>
              <a:endParaRPr lang="en-US" sz="2986" b="1">
                <a:solidFill>
                  <a:srgbClr val="FFFF00"/>
                </a:solidFill>
                <a:latin typeface="Arial Bold"/>
                <a:ea typeface="Arial Bold"/>
                <a:cs typeface="Arial Bold"/>
                <a:sym typeface="Arial Bold"/>
              </a:endParaRPr>
            </a:p>
          </p:txBody>
        </p:sp>
      </p:grpSp>
      <p:grpSp>
        <p:nvGrpSpPr>
          <p:cNvPr id="6" name="Group 6"/>
          <p:cNvGrpSpPr/>
          <p:nvPr/>
        </p:nvGrpSpPr>
        <p:grpSpPr>
          <a:xfrm>
            <a:off x="7050570" y="6523799"/>
            <a:ext cx="2275840" cy="389467"/>
            <a:chOff x="0" y="0"/>
            <a:chExt cx="3034453" cy="519289"/>
          </a:xfrm>
        </p:grpSpPr>
        <p:sp>
          <p:nvSpPr>
            <p:cNvPr id="7" name="Freeform 7"/>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solidFill>
              <a:srgbClr val="000000">
                <a:alpha val="0"/>
              </a:srgbClr>
            </a:solidFill>
          </p:spPr>
        </p:sp>
        <p:sp>
          <p:nvSpPr>
            <p:cNvPr id="8" name="TextBox 8"/>
            <p:cNvSpPr txBox="1"/>
            <p:nvPr/>
          </p:nvSpPr>
          <p:spPr>
            <a:xfrm>
              <a:off x="0" y="-47625"/>
              <a:ext cx="3034453" cy="566914"/>
            </a:xfrm>
            <a:prstGeom prst="rect">
              <a:avLst/>
            </a:prstGeom>
          </p:spPr>
          <p:txBody>
            <a:bodyPr lIns="0" tIns="0" rIns="0" bIns="0" rtlCol="0" anchor="ctr"/>
            <a:lstStyle/>
            <a:p>
              <a:pPr algn="r">
                <a:lnSpc>
                  <a:spcPts val="2304"/>
                </a:lnSpc>
              </a:pPr>
              <a:r>
                <a:rPr lang="en-US" sz="1920">
                  <a:solidFill>
                    <a:srgbClr val="0000FF"/>
                  </a:solidFill>
                  <a:latin typeface="Arial"/>
                  <a:ea typeface="Arial"/>
                  <a:cs typeface="Arial"/>
                  <a:sym typeface="Arial"/>
                </a:rPr>
                <a:t>62</a:t>
              </a:r>
            </a:p>
          </p:txBody>
        </p:sp>
      </p:grpSp>
      <p:sp>
        <p:nvSpPr>
          <p:cNvPr id="9" name="Freeform 9"/>
          <p:cNvSpPr/>
          <p:nvPr/>
        </p:nvSpPr>
        <p:spPr>
          <a:xfrm>
            <a:off x="1518828" y="1763628"/>
            <a:ext cx="6715945" cy="3668585"/>
          </a:xfrm>
          <a:custGeom>
            <a:avLst/>
            <a:gdLst/>
            <a:ahLst/>
            <a:cxnLst/>
            <a:rect l="l" t="t" r="r" b="b"/>
            <a:pathLst>
              <a:path w="6715945" h="3668585">
                <a:moveTo>
                  <a:pt x="0" y="0"/>
                </a:moveTo>
                <a:lnTo>
                  <a:pt x="6715944" y="0"/>
                </a:lnTo>
                <a:lnTo>
                  <a:pt x="6715944" y="3668585"/>
                </a:lnTo>
                <a:lnTo>
                  <a:pt x="0" y="3668585"/>
                </a:lnTo>
                <a:lnTo>
                  <a:pt x="0" y="0"/>
                </a:lnTo>
                <a:close/>
              </a:path>
            </a:pathLst>
          </a:custGeom>
          <a:blipFill>
            <a:blip r:embed="rId4"/>
            <a:stretch>
              <a:fillRect/>
            </a:stretch>
          </a:blipFill>
        </p:spPr>
      </p:sp>
      <p:sp>
        <p:nvSpPr>
          <p:cNvPr id="10" name="TextBox 10"/>
          <p:cNvSpPr txBox="1"/>
          <p:nvPr/>
        </p:nvSpPr>
        <p:spPr>
          <a:xfrm>
            <a:off x="306896" y="1315953"/>
            <a:ext cx="8753284" cy="838200"/>
          </a:xfrm>
          <a:prstGeom prst="rect">
            <a:avLst/>
          </a:prstGeom>
        </p:spPr>
        <p:txBody>
          <a:bodyPr lIns="0" tIns="0" rIns="0" bIns="0" rtlCol="0" anchor="t">
            <a:spAutoFit/>
          </a:bodyPr>
          <a:lstStyle/>
          <a:p>
            <a:pPr algn="just">
              <a:lnSpc>
                <a:spcPts val="3120"/>
              </a:lnSpc>
            </a:pPr>
            <a:r>
              <a:rPr lang="en-US" sz="2600" b="1">
                <a:solidFill>
                  <a:srgbClr val="000000"/>
                </a:solidFill>
                <a:latin typeface="Arial Bold"/>
                <a:ea typeface="Arial Bold"/>
                <a:cs typeface="Arial Bold"/>
                <a:sym typeface="Arial Bold"/>
              </a:rPr>
              <a:t>Phiên bản đơn giản hóa của Akamai CDN</a:t>
            </a:r>
          </a:p>
          <a:p>
            <a:pPr algn="just">
              <a:lnSpc>
                <a:spcPts val="3120"/>
              </a:lnSpc>
              <a:spcBef>
                <a:spcPct val="0"/>
              </a:spcBef>
            </a:pPr>
            <a:endParaRPr lang="en-US" sz="2600" b="1">
              <a:solidFill>
                <a:srgbClr val="000000"/>
              </a:solidFill>
              <a:latin typeface="Arial Bold"/>
              <a:ea typeface="Arial Bold"/>
              <a:cs typeface="Arial Bold"/>
              <a:sym typeface="Arial Bold"/>
            </a:endParaRPr>
          </a:p>
        </p:txBody>
      </p:sp>
      <p:sp>
        <p:nvSpPr>
          <p:cNvPr id="11" name="TextBox 11"/>
          <p:cNvSpPr txBox="1"/>
          <p:nvPr/>
        </p:nvSpPr>
        <p:spPr>
          <a:xfrm>
            <a:off x="449301" y="5413163"/>
            <a:ext cx="8610879" cy="1876425"/>
          </a:xfrm>
          <a:prstGeom prst="rect">
            <a:avLst/>
          </a:prstGeom>
        </p:spPr>
        <p:txBody>
          <a:bodyPr lIns="0" tIns="0" rIns="0" bIns="0" rtlCol="0" anchor="t">
            <a:spAutoFit/>
          </a:bodyPr>
          <a:lstStyle/>
          <a:p>
            <a:pPr algn="just">
              <a:lnSpc>
                <a:spcPts val="2400"/>
              </a:lnSpc>
            </a:pPr>
            <a:r>
              <a:rPr lang="en-US" sz="2000" b="1">
                <a:solidFill>
                  <a:srgbClr val="000000"/>
                </a:solidFill>
                <a:latin typeface="Arial Bold"/>
                <a:ea typeface="Arial Bold"/>
                <a:cs typeface="Arial Bold"/>
                <a:sym typeface="Arial Bold"/>
              </a:rPr>
              <a:t>Lưu ý quan trọng </a:t>
            </a:r>
          </a:p>
          <a:p>
            <a:pPr algn="just">
              <a:lnSpc>
                <a:spcPts val="2400"/>
              </a:lnSpc>
            </a:pPr>
            <a:r>
              <a:rPr lang="en-US" sz="2000">
                <a:solidFill>
                  <a:srgbClr val="000000"/>
                </a:solidFill>
                <a:latin typeface="Arial"/>
                <a:ea typeface="Arial"/>
                <a:cs typeface="Arial"/>
                <a:sym typeface="Arial"/>
              </a:rPr>
              <a:t>Bộ nhớ đệm thường đủ tinh vi để lưu trữ nhiều thứ hơn là chỉ dữ liệu thụ động. Phần lớn mã ứng dụng của máy chủ gốc cũng có thể được chuyển vào bộ nhớ đệm .</a:t>
            </a:r>
          </a:p>
          <a:p>
            <a:pPr algn="just">
              <a:lnSpc>
                <a:spcPts val="2400"/>
              </a:lnSpc>
            </a:pPr>
            <a:endParaRPr lang="en-US" sz="2000">
              <a:solidFill>
                <a:srgbClr val="000000"/>
              </a:solidFill>
              <a:latin typeface="Arial"/>
              <a:ea typeface="Arial"/>
              <a:cs typeface="Arial"/>
              <a:sym typeface="Arial"/>
            </a:endParaRPr>
          </a:p>
          <a:p>
            <a:pPr algn="just">
              <a:lnSpc>
                <a:spcPts val="2400"/>
              </a:lnSpc>
              <a:spcBef>
                <a:spcPct val="0"/>
              </a:spcBef>
            </a:pPr>
            <a:endParaRPr lang="en-US" sz="2000">
              <a:solidFill>
                <a:srgbClr val="000000"/>
              </a:solidFill>
              <a:latin typeface="Arial"/>
              <a:ea typeface="Arial"/>
              <a:cs typeface="Arial"/>
              <a:sym typeface="Arial"/>
            </a:endParaRP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3475080" y="3007074"/>
            <a:ext cx="2803439" cy="971464"/>
          </a:xfrm>
          <a:prstGeom prst="rect">
            <a:avLst/>
          </a:prstGeom>
        </p:spPr>
        <p:txBody>
          <a:bodyPr lIns="0" tIns="0" rIns="0" bIns="0" rtlCol="0" anchor="t">
            <a:spAutoFit/>
          </a:bodyPr>
          <a:lstStyle/>
          <a:p>
            <a:pPr algn="l">
              <a:lnSpc>
                <a:spcPts val="3639"/>
              </a:lnSpc>
            </a:pPr>
            <a:r>
              <a:rPr lang="en-US" sz="3033" b="1">
                <a:solidFill>
                  <a:srgbClr val="000000"/>
                </a:solidFill>
                <a:latin typeface="Arial Bold"/>
                <a:ea typeface="Arial Bold"/>
                <a:cs typeface="Arial Bold"/>
                <a:sym typeface="Arial Bold"/>
              </a:rPr>
              <a:t>Code Migration</a:t>
            </a:r>
          </a:p>
          <a:p>
            <a:pPr algn="l">
              <a:lnSpc>
                <a:spcPts val="3639"/>
              </a:lnSpc>
              <a:spcBef>
                <a:spcPct val="0"/>
              </a:spcBef>
            </a:pPr>
            <a:r>
              <a:rPr lang="en-US" sz="3033" b="1">
                <a:solidFill>
                  <a:srgbClr val="000000"/>
                </a:solidFill>
                <a:latin typeface="Arial Bold"/>
                <a:ea typeface="Arial Bold"/>
                <a:cs typeface="Arial Bold"/>
                <a:sym typeface="Arial Bold"/>
              </a:rPr>
              <a:t>(Di chuyển mã)</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sp>
      <p:sp>
        <p:nvSpPr>
          <p:cNvPr id="3" name="TextBox 3"/>
          <p:cNvSpPr txBox="1"/>
          <p:nvPr/>
        </p:nvSpPr>
        <p:spPr>
          <a:xfrm>
            <a:off x="357868"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4" name="TextBox 4"/>
          <p:cNvSpPr txBox="1"/>
          <p:nvPr/>
        </p:nvSpPr>
        <p:spPr>
          <a:xfrm>
            <a:off x="226254" y="1576517"/>
            <a:ext cx="9301092" cy="4562217"/>
          </a:xfrm>
          <a:prstGeom prst="rect">
            <a:avLst/>
          </a:prstGeom>
        </p:spPr>
        <p:txBody>
          <a:bodyPr lIns="0" tIns="0" rIns="0" bIns="0" rtlCol="0" anchor="t">
            <a:spAutoFit/>
          </a:bodyPr>
          <a:lstStyle/>
          <a:p>
            <a:pPr algn="l">
              <a:lnSpc>
                <a:spcPts val="3348"/>
              </a:lnSpc>
              <a:spcBef>
                <a:spcPct val="0"/>
              </a:spcBef>
            </a:pPr>
            <a:r>
              <a:rPr lang="en-US" sz="2790" b="1">
                <a:solidFill>
                  <a:srgbClr val="000000"/>
                </a:solidFill>
                <a:latin typeface="Arial Bold"/>
                <a:ea typeface="Arial Bold"/>
                <a:cs typeface="Arial Bold"/>
                <a:sym typeface="Arial Bold"/>
              </a:rPr>
              <a:t>Lý do để di chuyển mã nguồn</a:t>
            </a:r>
          </a:p>
          <a:p>
            <a:pPr marL="537659" lvl="1" indent="-268830" algn="l">
              <a:lnSpc>
                <a:spcPts val="2988"/>
              </a:lnSpc>
              <a:spcBef>
                <a:spcPct val="0"/>
              </a:spcBef>
              <a:buFont typeface="Arial"/>
              <a:buChar char="•"/>
            </a:pPr>
            <a:r>
              <a:rPr lang="en-US" sz="2490">
                <a:solidFill>
                  <a:srgbClr val="000000"/>
                </a:solidFill>
                <a:latin typeface="Arial"/>
                <a:ea typeface="Arial"/>
                <a:cs typeface="Arial"/>
                <a:sym typeface="Arial"/>
              </a:rPr>
              <a:t>Phân phối tải:</a:t>
            </a:r>
          </a:p>
          <a:p>
            <a:pPr algn="l">
              <a:lnSpc>
                <a:spcPts val="2988"/>
              </a:lnSpc>
              <a:spcBef>
                <a:spcPct val="0"/>
              </a:spcBef>
            </a:pPr>
            <a:r>
              <a:rPr lang="en-US" sz="2490">
                <a:solidFill>
                  <a:srgbClr val="000000"/>
                </a:solidFill>
                <a:latin typeface="Arial"/>
                <a:ea typeface="Arial"/>
                <a:cs typeface="Arial"/>
                <a:sym typeface="Arial"/>
              </a:rPr>
              <a:t>+ Đảm bảo rằng các máy chủ trong trung tâm dữ liệu được sử dụng hiệu quả (ví dụ: tránh lãng phí năng lượng).</a:t>
            </a:r>
          </a:p>
          <a:p>
            <a:pPr algn="l">
              <a:lnSpc>
                <a:spcPts val="2988"/>
              </a:lnSpc>
              <a:spcBef>
                <a:spcPct val="0"/>
              </a:spcBef>
            </a:pPr>
            <a:r>
              <a:rPr lang="en-US" sz="2490">
                <a:solidFill>
                  <a:srgbClr val="000000"/>
                </a:solidFill>
                <a:latin typeface="Arial"/>
                <a:ea typeface="Arial"/>
                <a:cs typeface="Arial"/>
                <a:sym typeface="Arial"/>
              </a:rPr>
              <a:t>+ Giảm thiểu việc truyền tải dữ liệu bằng cách đảm bảo rằng các tác vụ tính toán được thực hiện gần nơi dữ liệu được lưu trữ (đặc biệt trong môi trường điện toán di động).</a:t>
            </a:r>
          </a:p>
          <a:p>
            <a:pPr marL="537659" lvl="1" indent="-268830" algn="l">
              <a:lnSpc>
                <a:spcPts val="2988"/>
              </a:lnSpc>
              <a:spcBef>
                <a:spcPct val="0"/>
              </a:spcBef>
              <a:buFont typeface="Arial"/>
              <a:buChar char="•"/>
            </a:pPr>
            <a:r>
              <a:rPr lang="en-US" sz="2490">
                <a:solidFill>
                  <a:srgbClr val="000000"/>
                </a:solidFill>
                <a:latin typeface="Arial"/>
                <a:ea typeface="Arial"/>
                <a:cs typeface="Arial"/>
                <a:sym typeface="Arial"/>
              </a:rPr>
              <a:t>Tính linh hoạt:</a:t>
            </a:r>
          </a:p>
          <a:p>
            <a:pPr algn="l">
              <a:lnSpc>
                <a:spcPts val="2988"/>
              </a:lnSpc>
              <a:spcBef>
                <a:spcPct val="0"/>
              </a:spcBef>
            </a:pPr>
            <a:r>
              <a:rPr lang="en-US" sz="2490">
                <a:solidFill>
                  <a:srgbClr val="000000"/>
                </a:solidFill>
                <a:latin typeface="Arial"/>
                <a:ea typeface="Arial"/>
                <a:cs typeface="Arial"/>
                <a:sym typeface="Arial"/>
              </a:rPr>
              <a:t>+ Cho phép di chuyển mã nguồn đến máy khách khi cần thiết, thay vì phải cài đặt sẵn phần mềm.</a:t>
            </a:r>
          </a:p>
          <a:p>
            <a:pPr algn="l">
              <a:lnSpc>
                <a:spcPts val="2988"/>
              </a:lnSpc>
              <a:spcBef>
                <a:spcPct val="0"/>
              </a:spcBef>
            </a:pPr>
            <a:r>
              <a:rPr lang="en-US" sz="2490">
                <a:solidFill>
                  <a:srgbClr val="000000"/>
                </a:solidFill>
                <a:latin typeface="Arial"/>
                <a:ea typeface="Arial"/>
                <a:cs typeface="Arial"/>
                <a:sym typeface="Arial"/>
              </a:rPr>
              <a:t>+ Tăng khả năng cấu hình động, giúp hệ thống thích ứng linh hoạt với các yêu cầu khác nhau.</a:t>
            </a: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sp>
      <p:sp>
        <p:nvSpPr>
          <p:cNvPr id="3" name="Freeform 3"/>
          <p:cNvSpPr/>
          <p:nvPr/>
        </p:nvSpPr>
        <p:spPr>
          <a:xfrm>
            <a:off x="1555599" y="1520283"/>
            <a:ext cx="6642402" cy="4274634"/>
          </a:xfrm>
          <a:custGeom>
            <a:avLst/>
            <a:gdLst/>
            <a:ahLst/>
            <a:cxnLst/>
            <a:rect l="l" t="t" r="r" b="b"/>
            <a:pathLst>
              <a:path w="6642402" h="4274634">
                <a:moveTo>
                  <a:pt x="0" y="0"/>
                </a:moveTo>
                <a:lnTo>
                  <a:pt x="6642402" y="0"/>
                </a:lnTo>
                <a:lnTo>
                  <a:pt x="6642402" y="4274634"/>
                </a:lnTo>
                <a:lnTo>
                  <a:pt x="0" y="4274634"/>
                </a:lnTo>
                <a:lnTo>
                  <a:pt x="0" y="0"/>
                </a:lnTo>
                <a:close/>
              </a:path>
            </a:pathLst>
          </a:custGeom>
          <a:blipFill>
            <a:blip r:embed="rId3"/>
            <a:stretch>
              <a:fillRect/>
            </a:stretch>
          </a:blipFill>
        </p:spPr>
      </p:sp>
      <p:sp>
        <p:nvSpPr>
          <p:cNvPr id="4" name="TextBox 4"/>
          <p:cNvSpPr txBox="1"/>
          <p:nvPr/>
        </p:nvSpPr>
        <p:spPr>
          <a:xfrm>
            <a:off x="357868"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5" name="TextBox 5"/>
          <p:cNvSpPr txBox="1"/>
          <p:nvPr/>
        </p:nvSpPr>
        <p:spPr>
          <a:xfrm>
            <a:off x="731520" y="6176277"/>
            <a:ext cx="8553746" cy="407403"/>
          </a:xfrm>
          <a:prstGeom prst="rect">
            <a:avLst/>
          </a:prstGeom>
        </p:spPr>
        <p:txBody>
          <a:bodyPr lIns="0" tIns="0" rIns="0" bIns="0" rtlCol="0" anchor="t">
            <a:spAutoFit/>
          </a:bodyPr>
          <a:lstStyle/>
          <a:p>
            <a:pPr algn="l">
              <a:lnSpc>
                <a:spcPts val="2859"/>
              </a:lnSpc>
              <a:spcBef>
                <a:spcPct val="0"/>
              </a:spcBef>
            </a:pPr>
            <a:r>
              <a:rPr lang="en-US" sz="2382">
                <a:solidFill>
                  <a:srgbClr val="000000"/>
                </a:solidFill>
                <a:latin typeface="Arial"/>
                <a:ea typeface="Arial"/>
                <a:cs typeface="Arial"/>
                <a:sym typeface="Arial"/>
              </a:rPr>
              <a:t>Nguyên tắc cấu hình động máy khách để giao tiếp với máy chủ.</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sp>
      <p:sp>
        <p:nvSpPr>
          <p:cNvPr id="3" name="TextBox 3"/>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4" name="TextBox 4"/>
          <p:cNvSpPr txBox="1"/>
          <p:nvPr/>
        </p:nvSpPr>
        <p:spPr>
          <a:xfrm>
            <a:off x="365760" y="1350699"/>
            <a:ext cx="9113274" cy="5619428"/>
          </a:xfrm>
          <a:prstGeom prst="rect">
            <a:avLst/>
          </a:prstGeom>
        </p:spPr>
        <p:txBody>
          <a:bodyPr lIns="0" tIns="0" rIns="0" bIns="0" rtlCol="0" anchor="t">
            <a:spAutoFit/>
          </a:bodyPr>
          <a:lstStyle/>
          <a:p>
            <a:pPr algn="l">
              <a:lnSpc>
                <a:spcPts val="2999"/>
              </a:lnSpc>
              <a:spcBef>
                <a:spcPct val="0"/>
              </a:spcBef>
            </a:pPr>
            <a:r>
              <a:rPr lang="en-US" sz="2499">
                <a:solidFill>
                  <a:srgbClr val="000000"/>
                </a:solidFill>
                <a:latin typeface="Arial"/>
                <a:ea typeface="Arial"/>
                <a:cs typeface="Arial"/>
                <a:sym typeface="Arial"/>
              </a:rPr>
              <a:t>  Hình minh họa mô tả cách một client có thể tải động mã nguồn để giao tiếp với server, thay vì phải có sẵn mã từ trước. Quá trình diễn ra như sau:</a:t>
            </a:r>
          </a:p>
          <a:p>
            <a:pPr algn="l">
              <a:lnSpc>
                <a:spcPts val="2999"/>
              </a:lnSpc>
              <a:spcBef>
                <a:spcPct val="0"/>
              </a:spcBef>
            </a:pPr>
            <a:r>
              <a:rPr lang="en-US" sz="2499">
                <a:solidFill>
                  <a:srgbClr val="000000"/>
                </a:solidFill>
                <a:latin typeface="Arial"/>
                <a:ea typeface="Arial"/>
                <a:cs typeface="Arial"/>
                <a:sym typeface="Arial"/>
              </a:rPr>
              <a:t>- Client tải mã nguồn (Client fetches code):</a:t>
            </a:r>
          </a:p>
          <a:p>
            <a:pPr marL="539749" lvl="1" indent="-269875" algn="l">
              <a:lnSpc>
                <a:spcPts val="2999"/>
              </a:lnSpc>
              <a:spcBef>
                <a:spcPct val="0"/>
              </a:spcBef>
              <a:buFont typeface="Arial"/>
              <a:buChar char="•"/>
            </a:pPr>
            <a:r>
              <a:rPr lang="en-US" sz="2499">
                <a:solidFill>
                  <a:srgbClr val="000000"/>
                </a:solidFill>
                <a:latin typeface="Arial"/>
                <a:ea typeface="Arial"/>
                <a:cs typeface="Arial"/>
                <a:sym typeface="Arial"/>
              </a:rPr>
              <a:t> Khi client cần giao tiếp với server, nó sẽ tải về mã nguồn đặc thù cho dịch vụ từ kho mã nguồn (code repository).</a:t>
            </a:r>
          </a:p>
          <a:p>
            <a:pPr marL="539749" lvl="1" indent="-269875" algn="l">
              <a:lnSpc>
                <a:spcPts val="2999"/>
              </a:lnSpc>
              <a:spcBef>
                <a:spcPct val="0"/>
              </a:spcBef>
              <a:buFont typeface="Arial"/>
              <a:buChar char="•"/>
            </a:pPr>
            <a:r>
              <a:rPr lang="en-US" sz="2499">
                <a:solidFill>
                  <a:srgbClr val="000000"/>
                </a:solidFill>
                <a:latin typeface="Arial"/>
                <a:ea typeface="Arial"/>
                <a:cs typeface="Arial"/>
                <a:sym typeface="Arial"/>
              </a:rPr>
              <a:t> Kho mã này có thể nằm trên chính máy chủ hoặc một máy chủ khác.</a:t>
            </a:r>
          </a:p>
          <a:p>
            <a:pPr algn="l">
              <a:lnSpc>
                <a:spcPts val="2999"/>
              </a:lnSpc>
              <a:spcBef>
                <a:spcPct val="0"/>
              </a:spcBef>
            </a:pPr>
            <a:r>
              <a:rPr lang="en-US" sz="2499">
                <a:solidFill>
                  <a:srgbClr val="000000"/>
                </a:solidFill>
                <a:latin typeface="Arial"/>
                <a:ea typeface="Arial"/>
                <a:cs typeface="Arial"/>
                <a:sym typeface="Arial"/>
              </a:rPr>
              <a:t>- Client và Server bắt đầu giao tiếp (Client and server communicate):</a:t>
            </a:r>
          </a:p>
          <a:p>
            <a:pPr marL="539749" lvl="1" indent="-269875" algn="l">
              <a:lnSpc>
                <a:spcPts val="2999"/>
              </a:lnSpc>
              <a:spcBef>
                <a:spcPct val="0"/>
              </a:spcBef>
              <a:buFont typeface="Arial"/>
              <a:buChar char="•"/>
            </a:pPr>
            <a:r>
              <a:rPr lang="en-US" sz="2499">
                <a:solidFill>
                  <a:srgbClr val="000000"/>
                </a:solidFill>
                <a:latin typeface="Arial"/>
                <a:ea typeface="Arial"/>
                <a:cs typeface="Arial"/>
                <a:sym typeface="Arial"/>
              </a:rPr>
              <a:t> Sau khi tải xong mã cần thiết và khởi tạo, client có thể thực hiện giao tiếp với server thông qua giao thức tương ứng.</a:t>
            </a:r>
          </a:p>
          <a:p>
            <a:pPr marL="539749" lvl="1" indent="-269875" algn="l">
              <a:lnSpc>
                <a:spcPts val="2999"/>
              </a:lnSpc>
              <a:spcBef>
                <a:spcPct val="0"/>
              </a:spcBef>
              <a:buFont typeface="Arial"/>
              <a:buChar char="•"/>
            </a:pPr>
            <a:r>
              <a:rPr lang="en-US" sz="2499">
                <a:solidFill>
                  <a:srgbClr val="000000"/>
                </a:solidFill>
                <a:latin typeface="Arial"/>
                <a:ea typeface="Arial"/>
                <a:cs typeface="Arial"/>
                <a:sym typeface="Arial"/>
              </a:rPr>
              <a:t> Điều này giúp giảm tải yêu cầu cài đặt trước phần mềm trên client, đồng thời đảm bảo client luôn có phiên bản mã mới nhất.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199059" y="1647718"/>
            <a:ext cx="9355482" cy="4353161"/>
          </a:xfrm>
          <a:prstGeom prst="rect">
            <a:avLst/>
          </a:prstGeom>
        </p:spPr>
        <p:txBody>
          <a:bodyPr lIns="0" tIns="0" rIns="0" bIns="0" rtlCol="0" anchor="t">
            <a:spAutoFit/>
          </a:bodyPr>
          <a:lstStyle/>
          <a:p>
            <a:pPr algn="l">
              <a:lnSpc>
                <a:spcPts val="3104"/>
              </a:lnSpc>
              <a:spcBef>
                <a:spcPct val="0"/>
              </a:spcBef>
            </a:pPr>
            <a:r>
              <a:rPr lang="en-US" sz="2586" b="1">
                <a:solidFill>
                  <a:srgbClr val="000000"/>
                </a:solidFill>
                <a:latin typeface="Arial Bold"/>
                <a:ea typeface="Arial Bold"/>
                <a:cs typeface="Arial Bold"/>
                <a:sym typeface="Arial Bold"/>
              </a:rPr>
              <a:t>Ý nghĩa của mô hình</a:t>
            </a:r>
          </a:p>
          <a:p>
            <a:pPr marL="558463" lvl="1" indent="-279232" algn="l">
              <a:lnSpc>
                <a:spcPts val="3104"/>
              </a:lnSpc>
              <a:spcBef>
                <a:spcPct val="0"/>
              </a:spcBef>
              <a:buFont typeface="Arial"/>
              <a:buChar char="•"/>
            </a:pPr>
            <a:r>
              <a:rPr lang="en-US" sz="2586">
                <a:solidFill>
                  <a:srgbClr val="000000"/>
                </a:solidFill>
                <a:latin typeface="Arial"/>
                <a:ea typeface="Arial"/>
                <a:cs typeface="Arial"/>
                <a:sym typeface="Arial"/>
              </a:rPr>
              <a:t>Giảm tải cho server: Thay vì xử lý mọi thứ trên server, một số tác vụ có thể được thực hiện trên client.</a:t>
            </a:r>
          </a:p>
          <a:p>
            <a:pPr marL="558463" lvl="1" indent="-279232" algn="l">
              <a:lnSpc>
                <a:spcPts val="3104"/>
              </a:lnSpc>
              <a:spcBef>
                <a:spcPct val="0"/>
              </a:spcBef>
              <a:buFont typeface="Arial"/>
              <a:buChar char="•"/>
            </a:pPr>
            <a:r>
              <a:rPr lang="en-US" sz="2586">
                <a:solidFill>
                  <a:srgbClr val="000000"/>
                </a:solidFill>
                <a:latin typeface="Arial"/>
                <a:ea typeface="Arial"/>
                <a:cs typeface="Arial"/>
                <a:sym typeface="Arial"/>
              </a:rPr>
              <a:t>Tiết kiệm băng thông và tối ưu hiệu suất: Client chỉ tải những gì cần thiết, giúp giảm thiểu lượng dữ liệu truyền tải.</a:t>
            </a:r>
          </a:p>
          <a:p>
            <a:pPr marL="558463" lvl="1" indent="-279232" algn="l">
              <a:lnSpc>
                <a:spcPts val="3104"/>
              </a:lnSpc>
              <a:spcBef>
                <a:spcPct val="0"/>
              </a:spcBef>
              <a:buFont typeface="Arial"/>
              <a:buChar char="•"/>
            </a:pPr>
            <a:r>
              <a:rPr lang="en-US" sz="2586">
                <a:solidFill>
                  <a:srgbClr val="000000"/>
                </a:solidFill>
                <a:latin typeface="Arial"/>
                <a:ea typeface="Arial"/>
                <a:cs typeface="Arial"/>
                <a:sym typeface="Arial"/>
              </a:rPr>
              <a:t>Linh hoạt và dễ bảo trì: Việc tải mã động giúp cập nhật phần mềm dễ dàng mà không cần cài đặt lại toàn bộ ứng dụng.</a:t>
            </a:r>
          </a:p>
          <a:p>
            <a:pPr marL="558463" lvl="1" indent="-279232" algn="l">
              <a:lnSpc>
                <a:spcPts val="3104"/>
              </a:lnSpc>
              <a:spcBef>
                <a:spcPct val="0"/>
              </a:spcBef>
              <a:buFont typeface="Arial"/>
              <a:buChar char="•"/>
            </a:pPr>
            <a:r>
              <a:rPr lang="en-US" sz="2586">
                <a:solidFill>
                  <a:srgbClr val="000000"/>
                </a:solidFill>
                <a:latin typeface="Arial"/>
                <a:ea typeface="Arial"/>
                <a:cs typeface="Arial"/>
                <a:sym typeface="Arial"/>
              </a:rPr>
              <a:t>Hữu ích trong điện toán di động: Mô hình này đặc biệt phù hợp với các ứng dụng web, cloud computing và mobile computing, nơi mà việc phân bổ tài nguyên hợp lý là rất quan trọng.</a:t>
            </a:r>
          </a:p>
        </p:txBody>
      </p:sp>
      <p:sp>
        <p:nvSpPr>
          <p:cNvPr id="4" name="TextBox 4"/>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sp>
      <p:sp>
        <p:nvSpPr>
          <p:cNvPr id="3" name="Freeform 3"/>
          <p:cNvSpPr/>
          <p:nvPr/>
        </p:nvSpPr>
        <p:spPr>
          <a:xfrm>
            <a:off x="1721926" y="2990839"/>
            <a:ext cx="6309748" cy="3927818"/>
          </a:xfrm>
          <a:custGeom>
            <a:avLst/>
            <a:gdLst/>
            <a:ahLst/>
            <a:cxnLst/>
            <a:rect l="l" t="t" r="r" b="b"/>
            <a:pathLst>
              <a:path w="6309748" h="3927818">
                <a:moveTo>
                  <a:pt x="0" y="0"/>
                </a:moveTo>
                <a:lnTo>
                  <a:pt x="6309748" y="0"/>
                </a:lnTo>
                <a:lnTo>
                  <a:pt x="6309748" y="3927818"/>
                </a:lnTo>
                <a:lnTo>
                  <a:pt x="0" y="3927818"/>
                </a:lnTo>
                <a:lnTo>
                  <a:pt x="0" y="0"/>
                </a:lnTo>
                <a:close/>
              </a:path>
            </a:pathLst>
          </a:custGeom>
          <a:blipFill>
            <a:blip r:embed="rId3"/>
            <a:stretch>
              <a:fillRect/>
            </a:stretch>
          </a:blipFill>
        </p:spPr>
      </p:sp>
      <p:sp>
        <p:nvSpPr>
          <p:cNvPr id="4" name="TextBox 4"/>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5" name="TextBox 5"/>
          <p:cNvSpPr txBox="1"/>
          <p:nvPr/>
        </p:nvSpPr>
        <p:spPr>
          <a:xfrm>
            <a:off x="311929" y="1447875"/>
            <a:ext cx="9441671" cy="1542964"/>
          </a:xfrm>
          <a:prstGeom prst="rect">
            <a:avLst/>
          </a:prstGeom>
        </p:spPr>
        <p:txBody>
          <a:bodyPr lIns="0" tIns="0" rIns="0" bIns="0" rtlCol="0" anchor="t">
            <a:spAutoFit/>
          </a:bodyPr>
          <a:lstStyle/>
          <a:p>
            <a:pPr algn="l">
              <a:lnSpc>
                <a:spcPts val="2971"/>
              </a:lnSpc>
              <a:spcBef>
                <a:spcPct val="0"/>
              </a:spcBef>
            </a:pPr>
            <a:r>
              <a:rPr lang="en-US" sz="2476" b="1">
                <a:solidFill>
                  <a:srgbClr val="000000"/>
                </a:solidFill>
                <a:latin typeface="Arial Bold"/>
                <a:ea typeface="Arial Bold"/>
                <a:cs typeface="Arial Bold"/>
                <a:sym typeface="Arial Bold"/>
              </a:rPr>
              <a:t>Bảo mật và quyền riêng tư</a:t>
            </a:r>
          </a:p>
          <a:p>
            <a:pPr algn="l">
              <a:lnSpc>
                <a:spcPts val="2971"/>
              </a:lnSpc>
              <a:spcBef>
                <a:spcPct val="0"/>
              </a:spcBef>
            </a:pPr>
            <a:r>
              <a:rPr lang="en-US" sz="2476" b="1">
                <a:solidFill>
                  <a:srgbClr val="000000"/>
                </a:solidFill>
                <a:latin typeface="Arial Bold"/>
                <a:ea typeface="Arial Bold"/>
                <a:cs typeface="Arial Bold"/>
                <a:sym typeface="Arial Bold"/>
              </a:rPr>
              <a:t>  </a:t>
            </a:r>
            <a:r>
              <a:rPr lang="en-US" sz="2476">
                <a:solidFill>
                  <a:srgbClr val="000000"/>
                </a:solidFill>
                <a:latin typeface="Arial"/>
                <a:ea typeface="Arial"/>
                <a:cs typeface="Arial"/>
                <a:sym typeface="Arial"/>
              </a:rPr>
              <a:t>Trong nhiều trường hợp, dữ liệu không thể được di chuyển đến một vị trí khác vì nhiều lý do, thường là do các ràng buộc pháp lý.</a:t>
            </a:r>
          </a:p>
          <a:p>
            <a:pPr algn="l">
              <a:lnSpc>
                <a:spcPts val="2971"/>
              </a:lnSpc>
              <a:spcBef>
                <a:spcPct val="0"/>
              </a:spcBef>
            </a:pPr>
            <a:r>
              <a:rPr lang="en-US" sz="2476" b="1">
                <a:solidFill>
                  <a:srgbClr val="000000"/>
                </a:solidFill>
                <a:latin typeface="Arial Bold"/>
                <a:ea typeface="Arial Bold"/>
                <a:cs typeface="Arial Bold"/>
                <a:sym typeface="Arial Bold"/>
              </a:rPr>
              <a:t>Giải pháp:</a:t>
            </a:r>
            <a:r>
              <a:rPr lang="en-US" sz="2476">
                <a:solidFill>
                  <a:srgbClr val="000000"/>
                </a:solidFill>
                <a:latin typeface="Arial"/>
                <a:ea typeface="Arial"/>
                <a:cs typeface="Arial"/>
                <a:sym typeface="Arial"/>
              </a:rPr>
              <a:t> Di chuyển mã nguồn đến nơi dữ liệu được lưu trữ.</a:t>
            </a:r>
          </a:p>
        </p:txBody>
      </p:sp>
      <p:sp>
        <p:nvSpPr>
          <p:cNvPr id="6" name="TextBox 6"/>
          <p:cNvSpPr txBox="1"/>
          <p:nvPr/>
        </p:nvSpPr>
        <p:spPr>
          <a:xfrm>
            <a:off x="1187904" y="6871032"/>
            <a:ext cx="7689721" cy="419079"/>
          </a:xfrm>
          <a:prstGeom prst="rect">
            <a:avLst/>
          </a:prstGeom>
        </p:spPr>
        <p:txBody>
          <a:bodyPr lIns="0" tIns="0" rIns="0" bIns="0" rtlCol="0" anchor="t">
            <a:spAutoFit/>
          </a:bodyPr>
          <a:lstStyle/>
          <a:p>
            <a:pPr algn="l">
              <a:lnSpc>
                <a:spcPts val="2984"/>
              </a:lnSpc>
              <a:spcBef>
                <a:spcPct val="0"/>
              </a:spcBef>
            </a:pPr>
            <a:r>
              <a:rPr lang="en-US" sz="2486">
                <a:solidFill>
                  <a:srgbClr val="000000"/>
                </a:solidFill>
                <a:latin typeface="Arial"/>
                <a:ea typeface="Arial"/>
                <a:cs typeface="Arial"/>
                <a:sym typeface="Arial"/>
              </a:rPr>
              <a:t>Ví dụ: Học máy liên kết (Federated Machine Learning) </a:t>
            </a:r>
          </a:p>
        </p:txBody>
      </p: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sp>
      <p:sp>
        <p:nvSpPr>
          <p:cNvPr id="3" name="TextBox 3"/>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4" name="TextBox 4"/>
          <p:cNvSpPr txBox="1"/>
          <p:nvPr/>
        </p:nvSpPr>
        <p:spPr>
          <a:xfrm>
            <a:off x="416704" y="1133128"/>
            <a:ext cx="8152992" cy="419079"/>
          </a:xfrm>
          <a:prstGeom prst="rect">
            <a:avLst/>
          </a:prstGeom>
        </p:spPr>
        <p:txBody>
          <a:bodyPr lIns="0" tIns="0" rIns="0" bIns="0" rtlCol="0" anchor="t">
            <a:spAutoFit/>
          </a:bodyPr>
          <a:lstStyle/>
          <a:p>
            <a:pPr algn="l">
              <a:lnSpc>
                <a:spcPts val="2984"/>
              </a:lnSpc>
              <a:spcBef>
                <a:spcPct val="0"/>
              </a:spcBef>
            </a:pPr>
            <a:r>
              <a:rPr lang="en-US" sz="2486" b="1">
                <a:solidFill>
                  <a:srgbClr val="000000"/>
                </a:solidFill>
                <a:latin typeface="Arial Bold"/>
                <a:ea typeface="Arial Bold"/>
                <a:cs typeface="Arial Bold"/>
                <a:sym typeface="Arial Bold"/>
              </a:rPr>
              <a:t>Ví dụ: Học máy liên kết (Federated Machine Learning) </a:t>
            </a:r>
          </a:p>
        </p:txBody>
      </p:sp>
      <p:sp>
        <p:nvSpPr>
          <p:cNvPr id="5" name="TextBox 5"/>
          <p:cNvSpPr txBox="1"/>
          <p:nvPr/>
        </p:nvSpPr>
        <p:spPr>
          <a:xfrm>
            <a:off x="129904" y="1475560"/>
            <a:ext cx="9623696" cy="5839640"/>
          </a:xfrm>
          <a:prstGeom prst="rect">
            <a:avLst/>
          </a:prstGeom>
        </p:spPr>
        <p:txBody>
          <a:bodyPr lIns="0" tIns="0" rIns="0" bIns="0" rtlCol="0" anchor="t">
            <a:spAutoFit/>
          </a:bodyPr>
          <a:lstStyle/>
          <a:p>
            <a:pPr algn="l">
              <a:lnSpc>
                <a:spcPts val="2471"/>
              </a:lnSpc>
              <a:spcBef>
                <a:spcPct val="0"/>
              </a:spcBef>
            </a:pPr>
            <a:r>
              <a:rPr lang="en-US" sz="2059">
                <a:solidFill>
                  <a:srgbClr val="000000"/>
                </a:solidFill>
                <a:latin typeface="Arial"/>
                <a:ea typeface="Arial"/>
                <a:cs typeface="Arial"/>
                <a:sym typeface="Arial"/>
              </a:rPr>
              <a:t>Quy trình hoạt động</a:t>
            </a:r>
          </a:p>
          <a:p>
            <a:pPr algn="l">
              <a:lnSpc>
                <a:spcPts val="2471"/>
              </a:lnSpc>
              <a:spcBef>
                <a:spcPct val="0"/>
              </a:spcBef>
            </a:pPr>
            <a:r>
              <a:rPr lang="en-US" sz="2059">
                <a:solidFill>
                  <a:srgbClr val="000000"/>
                </a:solidFill>
                <a:latin typeface="Arial"/>
                <a:ea typeface="Arial"/>
                <a:cs typeface="Arial"/>
                <a:sym typeface="Arial"/>
              </a:rPr>
              <a:t>- Mô hình tổng hợp (Aggregated model) được gửi từ máy chủ trung tâm (Central server) đến các thiết bị cục bộ (Local participant)</a:t>
            </a:r>
          </a:p>
          <a:p>
            <a:pPr marL="444646" lvl="1" indent="-222323" algn="l">
              <a:lnSpc>
                <a:spcPts val="2471"/>
              </a:lnSpc>
              <a:spcBef>
                <a:spcPct val="0"/>
              </a:spcBef>
              <a:buFont typeface="Arial"/>
              <a:buChar char="•"/>
            </a:pPr>
            <a:r>
              <a:rPr lang="en-US" sz="2059">
                <a:solidFill>
                  <a:srgbClr val="000000"/>
                </a:solidFill>
                <a:latin typeface="Arial"/>
                <a:ea typeface="Arial"/>
                <a:cs typeface="Arial"/>
                <a:sym typeface="Arial"/>
              </a:rPr>
              <a:t>Máy chủ trung tâm giữ một phiên bản mô hình tổng hợp.</a:t>
            </a:r>
          </a:p>
          <a:p>
            <a:pPr marL="444646" lvl="1" indent="-222323" algn="l">
              <a:lnSpc>
                <a:spcPts val="2471"/>
              </a:lnSpc>
              <a:spcBef>
                <a:spcPct val="0"/>
              </a:spcBef>
              <a:buFont typeface="Arial"/>
              <a:buChar char="•"/>
            </a:pPr>
            <a:r>
              <a:rPr lang="en-US" sz="2059">
                <a:solidFill>
                  <a:srgbClr val="000000"/>
                </a:solidFill>
                <a:latin typeface="Arial"/>
                <a:ea typeface="Arial"/>
                <a:cs typeface="Arial"/>
                <a:sym typeface="Arial"/>
              </a:rPr>
              <a:t> Mô hình này được phân phối đến các thiết bị cục bộ (ví dụ: điện thoại, máy tính cá nhân, máy chủ doanh nghiệp).</a:t>
            </a:r>
          </a:p>
          <a:p>
            <a:pPr algn="l">
              <a:lnSpc>
                <a:spcPts val="2471"/>
              </a:lnSpc>
              <a:spcBef>
                <a:spcPct val="0"/>
              </a:spcBef>
            </a:pPr>
            <a:r>
              <a:rPr lang="en-US" sz="2059">
                <a:solidFill>
                  <a:srgbClr val="000000"/>
                </a:solidFill>
                <a:latin typeface="Arial"/>
                <a:ea typeface="Arial"/>
                <a:cs typeface="Arial"/>
                <a:sym typeface="Arial"/>
              </a:rPr>
              <a:t>- Mô hình cục bộ học từ dữ liệu địa phương</a:t>
            </a:r>
          </a:p>
          <a:p>
            <a:pPr marL="444646" lvl="1" indent="-222323" algn="l">
              <a:lnSpc>
                <a:spcPts val="2471"/>
              </a:lnSpc>
              <a:spcBef>
                <a:spcPct val="0"/>
              </a:spcBef>
              <a:buFont typeface="Arial"/>
              <a:buChar char="•"/>
            </a:pPr>
            <a:r>
              <a:rPr lang="en-US" sz="2059">
                <a:solidFill>
                  <a:srgbClr val="000000"/>
                </a:solidFill>
                <a:latin typeface="Arial"/>
                <a:ea typeface="Arial"/>
                <a:cs typeface="Arial"/>
                <a:sym typeface="Arial"/>
              </a:rPr>
              <a:t>Mỗi thiết bị cục bộ sử dụng dữ liệu riêng của mình để cải thiện mô hình.</a:t>
            </a:r>
          </a:p>
          <a:p>
            <a:pPr marL="444646" lvl="1" indent="-222323" algn="l">
              <a:lnSpc>
                <a:spcPts val="2471"/>
              </a:lnSpc>
              <a:spcBef>
                <a:spcPct val="0"/>
              </a:spcBef>
              <a:buFont typeface="Arial"/>
              <a:buChar char="•"/>
            </a:pPr>
            <a:r>
              <a:rPr lang="en-US" sz="2059">
                <a:solidFill>
                  <a:srgbClr val="000000"/>
                </a:solidFill>
                <a:latin typeface="Arial"/>
                <a:ea typeface="Arial"/>
                <a:cs typeface="Arial"/>
                <a:sym typeface="Arial"/>
              </a:rPr>
              <a:t>Quá trình này diễn ra tại chỗ, nghĩa là dữ liệu không bị gửi đi nơi khác, giúp đảm bảo quyền riêng tư.</a:t>
            </a:r>
          </a:p>
          <a:p>
            <a:pPr algn="l">
              <a:lnSpc>
                <a:spcPts val="2471"/>
              </a:lnSpc>
              <a:spcBef>
                <a:spcPct val="0"/>
              </a:spcBef>
            </a:pPr>
            <a:r>
              <a:rPr lang="en-US" sz="2059">
                <a:solidFill>
                  <a:srgbClr val="000000"/>
                </a:solidFill>
                <a:latin typeface="Arial"/>
                <a:ea typeface="Arial"/>
                <a:cs typeface="Arial"/>
                <a:sym typeface="Arial"/>
              </a:rPr>
              <a:t>- Thiết bị cục bộ gửi cập nhật (Updates) về máy chủ trung tâm</a:t>
            </a:r>
          </a:p>
          <a:p>
            <a:pPr marL="444646" lvl="1" indent="-222323" algn="l">
              <a:lnSpc>
                <a:spcPts val="2471"/>
              </a:lnSpc>
              <a:spcBef>
                <a:spcPct val="0"/>
              </a:spcBef>
              <a:buFont typeface="Arial"/>
              <a:buChar char="•"/>
            </a:pPr>
            <a:r>
              <a:rPr lang="en-US" sz="2059">
                <a:solidFill>
                  <a:srgbClr val="000000"/>
                </a:solidFill>
                <a:latin typeface="Arial"/>
                <a:ea typeface="Arial"/>
                <a:cs typeface="Arial"/>
                <a:sym typeface="Arial"/>
              </a:rPr>
              <a:t> Sau khi đào tạo, mỗi thiết bị chỉ gửi các thông số mô hình đã cập nhật thay vì dữ liệu thô.</a:t>
            </a:r>
          </a:p>
          <a:p>
            <a:pPr marL="444646" lvl="1" indent="-222323" algn="l">
              <a:lnSpc>
                <a:spcPts val="2471"/>
              </a:lnSpc>
              <a:spcBef>
                <a:spcPct val="0"/>
              </a:spcBef>
              <a:buFont typeface="Arial"/>
              <a:buChar char="•"/>
            </a:pPr>
            <a:r>
              <a:rPr lang="en-US" sz="2059">
                <a:solidFill>
                  <a:srgbClr val="000000"/>
                </a:solidFill>
                <a:latin typeface="Arial"/>
                <a:ea typeface="Arial"/>
                <a:cs typeface="Arial"/>
                <a:sym typeface="Arial"/>
              </a:rPr>
              <a:t> Điều này giúp giảm rủi ro rò rỉ thông tin cá nhân.</a:t>
            </a:r>
          </a:p>
          <a:p>
            <a:pPr algn="l">
              <a:lnSpc>
                <a:spcPts val="2471"/>
              </a:lnSpc>
              <a:spcBef>
                <a:spcPct val="0"/>
              </a:spcBef>
            </a:pPr>
            <a:r>
              <a:rPr lang="en-US" sz="2059">
                <a:solidFill>
                  <a:srgbClr val="000000"/>
                </a:solidFill>
                <a:latin typeface="Arial"/>
                <a:ea typeface="Arial"/>
                <a:cs typeface="Arial"/>
                <a:sym typeface="Arial"/>
              </a:rPr>
              <a:t>- Máy chủ trung tâm tổng hợp các bản cập nhật và tạo mô hình mới</a:t>
            </a:r>
          </a:p>
          <a:p>
            <a:pPr marL="444646" lvl="1" indent="-222323" algn="l">
              <a:lnSpc>
                <a:spcPts val="2471"/>
              </a:lnSpc>
              <a:spcBef>
                <a:spcPct val="0"/>
              </a:spcBef>
              <a:buFont typeface="Arial"/>
              <a:buChar char="•"/>
            </a:pPr>
            <a:r>
              <a:rPr lang="en-US" sz="2059">
                <a:solidFill>
                  <a:srgbClr val="000000"/>
                </a:solidFill>
                <a:latin typeface="Arial"/>
                <a:ea typeface="Arial"/>
                <a:cs typeface="Arial"/>
                <a:sym typeface="Arial"/>
              </a:rPr>
              <a:t>Máy chủ nhận các cập nhật từ nhiều thiết bị.</a:t>
            </a:r>
          </a:p>
          <a:p>
            <a:pPr marL="444646" lvl="1" indent="-222323" algn="l">
              <a:lnSpc>
                <a:spcPts val="2471"/>
              </a:lnSpc>
              <a:spcBef>
                <a:spcPct val="0"/>
              </a:spcBef>
              <a:buFont typeface="Arial"/>
              <a:buChar char="•"/>
            </a:pPr>
            <a:r>
              <a:rPr lang="en-US" sz="2059">
                <a:solidFill>
                  <a:srgbClr val="000000"/>
                </a:solidFill>
                <a:latin typeface="Arial"/>
                <a:ea typeface="Arial"/>
                <a:cs typeface="Arial"/>
                <a:sym typeface="Arial"/>
              </a:rPr>
              <a:t>Sau đó, nó tổng hợp lại để tạo ra một mô hình tốt hơn, phản ánh thông tin từ nhiều nguồn dữ liệu khác nhau.</a:t>
            </a:r>
          </a:p>
          <a:p>
            <a:pPr marL="444646" lvl="1" indent="-222323" algn="l">
              <a:lnSpc>
                <a:spcPts val="2471"/>
              </a:lnSpc>
              <a:spcBef>
                <a:spcPct val="0"/>
              </a:spcBef>
              <a:buFont typeface="Arial"/>
              <a:buChar char="•"/>
            </a:pPr>
            <a:r>
              <a:rPr lang="en-US" sz="2059">
                <a:solidFill>
                  <a:srgbClr val="000000"/>
                </a:solidFill>
                <a:latin typeface="Arial"/>
                <a:ea typeface="Arial"/>
                <a:cs typeface="Arial"/>
                <a:sym typeface="Arial"/>
              </a:rPr>
              <a:t>Mô hình mới này lại được gửi về các thiết bị cục bộ, và chu trình lặp lại.</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2"/>
            <a:stretch>
              <a:fillRect/>
            </a:stretch>
          </a:blipFill>
        </p:spPr>
      </p:sp>
      <p:sp>
        <p:nvSpPr>
          <p:cNvPr id="3" name="TextBox 3"/>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4" name="TextBox 4"/>
          <p:cNvSpPr txBox="1"/>
          <p:nvPr/>
        </p:nvSpPr>
        <p:spPr>
          <a:xfrm>
            <a:off x="170478" y="2233234"/>
            <a:ext cx="9389079" cy="3265766"/>
          </a:xfrm>
          <a:prstGeom prst="rect">
            <a:avLst/>
          </a:prstGeom>
        </p:spPr>
        <p:txBody>
          <a:bodyPr lIns="0" tIns="0" rIns="0" bIns="0" rtlCol="0" anchor="t">
            <a:spAutoFit/>
          </a:bodyPr>
          <a:lstStyle/>
          <a:p>
            <a:pPr algn="l">
              <a:lnSpc>
                <a:spcPts val="2872"/>
              </a:lnSpc>
              <a:spcBef>
                <a:spcPct val="0"/>
              </a:spcBef>
            </a:pPr>
            <a:r>
              <a:rPr lang="en-US" sz="2393">
                <a:solidFill>
                  <a:srgbClr val="000000"/>
                </a:solidFill>
                <a:latin typeface="Arial"/>
                <a:ea typeface="Arial"/>
                <a:cs typeface="Arial"/>
                <a:sym typeface="Arial"/>
              </a:rPr>
              <a:t>Lợi ích của Federated Learning</a:t>
            </a:r>
          </a:p>
          <a:p>
            <a:pPr algn="l">
              <a:lnSpc>
                <a:spcPts val="2872"/>
              </a:lnSpc>
              <a:spcBef>
                <a:spcPct val="0"/>
              </a:spcBef>
            </a:pPr>
            <a:r>
              <a:rPr lang="en-US" sz="2393">
                <a:solidFill>
                  <a:srgbClr val="000000"/>
                </a:solidFill>
                <a:latin typeface="Arial"/>
                <a:ea typeface="Arial"/>
                <a:cs typeface="Arial"/>
                <a:sym typeface="Arial"/>
              </a:rPr>
              <a:t>- Bảo mật &amp; quyền riêng tư cao: Dữ liệu cá nhân không rời khỏi thiết bị.</a:t>
            </a:r>
          </a:p>
          <a:p>
            <a:pPr algn="l">
              <a:lnSpc>
                <a:spcPts val="2872"/>
              </a:lnSpc>
              <a:spcBef>
                <a:spcPct val="0"/>
              </a:spcBef>
            </a:pPr>
            <a:r>
              <a:rPr lang="en-US" sz="2393">
                <a:solidFill>
                  <a:srgbClr val="000000"/>
                </a:solidFill>
                <a:latin typeface="Arial"/>
                <a:ea typeface="Arial"/>
                <a:cs typeface="Arial"/>
                <a:sym typeface="Arial"/>
              </a:rPr>
              <a:t>- Giảm tải truyền dữ liệu: Chỉ gửi tham số mô hình thay vì dữ liệu thô.</a:t>
            </a:r>
          </a:p>
          <a:p>
            <a:pPr algn="l">
              <a:lnSpc>
                <a:spcPts val="2872"/>
              </a:lnSpc>
              <a:spcBef>
                <a:spcPct val="0"/>
              </a:spcBef>
            </a:pPr>
            <a:r>
              <a:rPr lang="en-US" sz="2393">
                <a:solidFill>
                  <a:srgbClr val="000000"/>
                </a:solidFill>
                <a:latin typeface="Arial"/>
                <a:ea typeface="Arial"/>
                <a:cs typeface="Arial"/>
                <a:sym typeface="Arial"/>
              </a:rPr>
              <a:t>- Tận dụng tài nguyên cục bộ: Giảm phụ thuộc vào trung tâm dữ liệu lớn.</a:t>
            </a:r>
          </a:p>
          <a:p>
            <a:pPr algn="l">
              <a:lnSpc>
                <a:spcPts val="2872"/>
              </a:lnSpc>
              <a:spcBef>
                <a:spcPct val="0"/>
              </a:spcBef>
            </a:pPr>
            <a:r>
              <a:rPr lang="en-US" sz="2393">
                <a:solidFill>
                  <a:srgbClr val="000000"/>
                </a:solidFill>
                <a:latin typeface="Arial"/>
                <a:ea typeface="Arial"/>
                <a:cs typeface="Arial"/>
                <a:sym typeface="Arial"/>
              </a:rPr>
              <a:t>- Ứng dụng thực tế: AI trên điện thoại (như bàn phím thông minh, nhận diện giọng nói), IoT, chăm sóc sức khỏe (phân tích dữ liệu y tế mà không vi phạm bảo mật).</a:t>
            </a:r>
          </a:p>
        </p:txBody>
      </p:sp>
      <p:sp>
        <p:nvSpPr>
          <p:cNvPr id="5" name="TextBox 5"/>
          <p:cNvSpPr txBox="1"/>
          <p:nvPr/>
        </p:nvSpPr>
        <p:spPr>
          <a:xfrm>
            <a:off x="416704" y="1341580"/>
            <a:ext cx="8152992" cy="419079"/>
          </a:xfrm>
          <a:prstGeom prst="rect">
            <a:avLst/>
          </a:prstGeom>
        </p:spPr>
        <p:txBody>
          <a:bodyPr lIns="0" tIns="0" rIns="0" bIns="0" rtlCol="0" anchor="t">
            <a:spAutoFit/>
          </a:bodyPr>
          <a:lstStyle/>
          <a:p>
            <a:pPr algn="l">
              <a:lnSpc>
                <a:spcPts val="2984"/>
              </a:lnSpc>
              <a:spcBef>
                <a:spcPct val="0"/>
              </a:spcBef>
            </a:pPr>
            <a:r>
              <a:rPr lang="en-US" sz="2486" b="1">
                <a:solidFill>
                  <a:srgbClr val="000000"/>
                </a:solidFill>
                <a:latin typeface="Arial Bold"/>
                <a:ea typeface="Arial Bold"/>
                <a:cs typeface="Arial Bold"/>
                <a:sym typeface="Arial Bold"/>
              </a:rPr>
              <a:t>Ví dụ: Học máy liên kết (Federated Machine Learning)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Freeform 3"/>
          <p:cNvSpPr/>
          <p:nvPr/>
        </p:nvSpPr>
        <p:spPr>
          <a:xfrm>
            <a:off x="1845662" y="1624238"/>
            <a:ext cx="6062277" cy="5690962"/>
          </a:xfrm>
          <a:custGeom>
            <a:avLst/>
            <a:gdLst/>
            <a:ahLst/>
            <a:cxnLst/>
            <a:rect l="l" t="t" r="r" b="b"/>
            <a:pathLst>
              <a:path w="6062277" h="5690962">
                <a:moveTo>
                  <a:pt x="0" y="0"/>
                </a:moveTo>
                <a:lnTo>
                  <a:pt x="6062276" y="0"/>
                </a:lnTo>
                <a:lnTo>
                  <a:pt x="6062276" y="5690962"/>
                </a:lnTo>
                <a:lnTo>
                  <a:pt x="0" y="5690962"/>
                </a:lnTo>
                <a:lnTo>
                  <a:pt x="0" y="0"/>
                </a:lnTo>
                <a:close/>
              </a:path>
            </a:pathLst>
          </a:custGeom>
          <a:blipFill>
            <a:blip r:embed="rId4"/>
            <a:stretch>
              <a:fillRect/>
            </a:stretch>
          </a:blipFill>
        </p:spPr>
      </p:sp>
      <p:sp>
        <p:nvSpPr>
          <p:cNvPr id="4" name="TextBox 4"/>
          <p:cNvSpPr txBox="1"/>
          <p:nvPr/>
        </p:nvSpPr>
        <p:spPr>
          <a:xfrm>
            <a:off x="241499" y="1192779"/>
            <a:ext cx="5544344" cy="476229"/>
          </a:xfrm>
          <a:prstGeom prst="rect">
            <a:avLst/>
          </a:prstGeom>
        </p:spPr>
        <p:txBody>
          <a:bodyPr lIns="0" tIns="0" rIns="0" bIns="0" rtlCol="0" anchor="t">
            <a:spAutoFit/>
          </a:bodyPr>
          <a:lstStyle/>
          <a:p>
            <a:pPr algn="ctr">
              <a:lnSpc>
                <a:spcPts val="3344"/>
              </a:lnSpc>
              <a:spcBef>
                <a:spcPct val="0"/>
              </a:spcBef>
            </a:pPr>
            <a:r>
              <a:rPr lang="en-US" sz="2786" b="1">
                <a:solidFill>
                  <a:srgbClr val="000000"/>
                </a:solidFill>
                <a:latin typeface="Arial Bold"/>
                <a:ea typeface="Arial Bold"/>
                <a:cs typeface="Arial Bold"/>
                <a:sym typeface="Arial Bold"/>
              </a:rPr>
              <a:t>Mô hình cho tính di động của mã</a:t>
            </a:r>
          </a:p>
        </p:txBody>
      </p:sp>
      <p:sp>
        <p:nvSpPr>
          <p:cNvPr id="5" name="TextBox 5"/>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4" name="TextBox 4"/>
          <p:cNvSpPr txBox="1"/>
          <p:nvPr/>
        </p:nvSpPr>
        <p:spPr>
          <a:xfrm>
            <a:off x="156895" y="1575934"/>
            <a:ext cx="9439810" cy="5362040"/>
          </a:xfrm>
          <a:prstGeom prst="rect">
            <a:avLst/>
          </a:prstGeom>
        </p:spPr>
        <p:txBody>
          <a:bodyPr lIns="0" tIns="0" rIns="0" bIns="0" rtlCol="0" anchor="t">
            <a:spAutoFit/>
          </a:bodyPr>
          <a:lstStyle/>
          <a:p>
            <a:pPr algn="just">
              <a:lnSpc>
                <a:spcPts val="2846"/>
              </a:lnSpc>
              <a:spcBef>
                <a:spcPct val="0"/>
              </a:spcBef>
            </a:pPr>
            <a:r>
              <a:rPr lang="en-US" sz="2371">
                <a:solidFill>
                  <a:srgbClr val="000000"/>
                </a:solidFill>
                <a:latin typeface="Arial"/>
                <a:ea typeface="Arial"/>
                <a:cs typeface="Arial"/>
                <a:sym typeface="Arial"/>
              </a:rPr>
              <a:t>Mô hình trong hình minh họa bốn mô hình thực thi mã trong hệ thống phân tán:</a:t>
            </a:r>
          </a:p>
          <a:p>
            <a:pPr algn="just">
              <a:lnSpc>
                <a:spcPts val="2846"/>
              </a:lnSpc>
              <a:spcBef>
                <a:spcPct val="0"/>
              </a:spcBef>
            </a:pPr>
            <a:r>
              <a:rPr lang="en-US" sz="2371">
                <a:solidFill>
                  <a:srgbClr val="000000"/>
                </a:solidFill>
                <a:latin typeface="Arial"/>
                <a:ea typeface="Arial"/>
                <a:cs typeface="Arial"/>
                <a:sym typeface="Arial"/>
              </a:rPr>
              <a:t>1. Client-Server (CS - Máy khách-Máy chủ)</a:t>
            </a:r>
          </a:p>
          <a:p>
            <a:pPr marL="512073" lvl="1" indent="-256036" algn="just">
              <a:lnSpc>
                <a:spcPts val="2846"/>
              </a:lnSpc>
              <a:spcBef>
                <a:spcPct val="0"/>
              </a:spcBef>
              <a:buFont typeface="Arial"/>
              <a:buChar char="•"/>
            </a:pPr>
            <a:r>
              <a:rPr lang="en-US" sz="2371">
                <a:solidFill>
                  <a:srgbClr val="000000"/>
                </a:solidFill>
                <a:latin typeface="Arial"/>
                <a:ea typeface="Arial"/>
                <a:cs typeface="Arial"/>
                <a:sym typeface="Arial"/>
              </a:rPr>
              <a:t> Trước khi thực thi: Mã (code) và thực thi (exec) nằm trên máy chủ, còn máy khách không có dữ liệu này.</a:t>
            </a:r>
          </a:p>
          <a:p>
            <a:pPr marL="512073" lvl="1" indent="-256036" algn="just">
              <a:lnSpc>
                <a:spcPts val="2846"/>
              </a:lnSpc>
              <a:spcBef>
                <a:spcPct val="0"/>
              </a:spcBef>
              <a:buFont typeface="Arial"/>
              <a:buChar char="•"/>
            </a:pPr>
            <a:r>
              <a:rPr lang="en-US" sz="2371">
                <a:solidFill>
                  <a:srgbClr val="000000"/>
                </a:solidFill>
                <a:latin typeface="Arial"/>
                <a:ea typeface="Arial"/>
                <a:cs typeface="Arial"/>
                <a:sym typeface="Arial"/>
              </a:rPr>
              <a:t> Sau khi thực thi: Máy chủ thực hiện xử lý mã, còn máy khách không tham gia thực thi.</a:t>
            </a:r>
          </a:p>
          <a:p>
            <a:pPr algn="just">
              <a:lnSpc>
                <a:spcPts val="2846"/>
              </a:lnSpc>
              <a:spcBef>
                <a:spcPct val="0"/>
              </a:spcBef>
            </a:pPr>
            <a:r>
              <a:rPr lang="en-US" sz="2371">
                <a:solidFill>
                  <a:srgbClr val="000000"/>
                </a:solidFill>
                <a:latin typeface="Arial"/>
                <a:ea typeface="Arial"/>
                <a:cs typeface="Arial"/>
                <a:sym typeface="Arial"/>
              </a:rPr>
              <a:t>2. Remote Evaluation (REV - Đánh giá từ xa)</a:t>
            </a:r>
          </a:p>
          <a:p>
            <a:pPr marL="512073" lvl="1" indent="-256036" algn="just">
              <a:lnSpc>
                <a:spcPts val="2846"/>
              </a:lnSpc>
              <a:spcBef>
                <a:spcPct val="0"/>
              </a:spcBef>
              <a:buFont typeface="Arial"/>
              <a:buChar char="•"/>
            </a:pPr>
            <a:r>
              <a:rPr lang="en-US" sz="2371">
                <a:solidFill>
                  <a:srgbClr val="000000"/>
                </a:solidFill>
                <a:latin typeface="Arial"/>
                <a:ea typeface="Arial"/>
                <a:cs typeface="Arial"/>
                <a:sym typeface="Arial"/>
              </a:rPr>
              <a:t> Trước khi thực thi: Mã nằm trên máy khách, nhưng việc thực thi và tài nguyên nằm trên máy chủ.</a:t>
            </a:r>
          </a:p>
          <a:p>
            <a:pPr marL="512073" lvl="1" indent="-256036" algn="just">
              <a:lnSpc>
                <a:spcPts val="2846"/>
              </a:lnSpc>
              <a:spcBef>
                <a:spcPct val="0"/>
              </a:spcBef>
              <a:buFont typeface="Arial"/>
              <a:buChar char="•"/>
            </a:pPr>
            <a:r>
              <a:rPr lang="en-US" sz="2371">
                <a:solidFill>
                  <a:srgbClr val="000000"/>
                </a:solidFill>
                <a:latin typeface="Arial"/>
                <a:ea typeface="Arial"/>
                <a:cs typeface="Arial"/>
                <a:sym typeface="Arial"/>
              </a:rPr>
              <a:t>Trong quá trình thực thi: Máy khách gửi mã đến máy chủ để thực thi.</a:t>
            </a:r>
          </a:p>
          <a:p>
            <a:pPr marL="512073" lvl="1" indent="-256036" algn="just">
              <a:lnSpc>
                <a:spcPts val="2846"/>
              </a:lnSpc>
              <a:spcBef>
                <a:spcPct val="0"/>
              </a:spcBef>
              <a:buFont typeface="Arial"/>
              <a:buChar char="•"/>
            </a:pPr>
            <a:r>
              <a:rPr lang="en-US" sz="2371">
                <a:solidFill>
                  <a:srgbClr val="000000"/>
                </a:solidFill>
                <a:latin typeface="Arial"/>
                <a:ea typeface="Arial"/>
                <a:cs typeface="Arial"/>
                <a:sym typeface="Arial"/>
              </a:rPr>
              <a:t> Sau khi thực thi: Máy chủ thực hiện thực thi mã đã nhận và máy khách không có thay đổi gì.</a:t>
            </a:r>
          </a:p>
          <a:p>
            <a:pPr algn="just">
              <a:lnSpc>
                <a:spcPts val="2846"/>
              </a:lnSpc>
              <a:spcBef>
                <a:spcPct val="0"/>
              </a:spcBef>
            </a:pPr>
            <a:endParaRPr lang="en-US" sz="2371">
              <a:solidFill>
                <a:srgbClr val="000000"/>
              </a:solidFill>
              <a:latin typeface="Arial"/>
              <a:ea typeface="Arial"/>
              <a:cs typeface="Arial"/>
              <a:sym typeface="Arial"/>
            </a:endParaRPr>
          </a:p>
        </p:txBody>
      </p:sp>
    </p:spTree>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4" name="TextBox 4"/>
          <p:cNvSpPr txBox="1"/>
          <p:nvPr/>
        </p:nvSpPr>
        <p:spPr>
          <a:xfrm>
            <a:off x="215731" y="1707159"/>
            <a:ext cx="9400586" cy="4876521"/>
          </a:xfrm>
          <a:prstGeom prst="rect">
            <a:avLst/>
          </a:prstGeom>
        </p:spPr>
        <p:txBody>
          <a:bodyPr lIns="0" tIns="0" rIns="0" bIns="0" rtlCol="0" anchor="t">
            <a:spAutoFit/>
          </a:bodyPr>
          <a:lstStyle/>
          <a:p>
            <a:pPr algn="l">
              <a:lnSpc>
                <a:spcPts val="2984"/>
              </a:lnSpc>
              <a:spcBef>
                <a:spcPct val="0"/>
              </a:spcBef>
            </a:pPr>
            <a:r>
              <a:rPr lang="en-US" sz="2486">
                <a:solidFill>
                  <a:srgbClr val="000000"/>
                </a:solidFill>
                <a:latin typeface="Arial"/>
                <a:ea typeface="Arial"/>
                <a:cs typeface="Arial"/>
                <a:sym typeface="Arial"/>
              </a:rPr>
              <a:t>3. Code-on-Demand (CoD - Mã theo yêu cầu)</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Trước khi thực thi: Mã và thực thi nằm trên máy chủ, còn máy khách chỉ có bộ thực thi (exec) và tài nguyên.</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Trong quá trình thực thi: Máy khách tải mã từ máy chủ về.</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Sau khi thực thi: Máy khách có mã, thực thi được cập nhật (*), trong khi máy chủ vẫn giữ bản gốc.</a:t>
            </a:r>
          </a:p>
          <a:p>
            <a:pPr algn="l">
              <a:lnSpc>
                <a:spcPts val="2984"/>
              </a:lnSpc>
              <a:spcBef>
                <a:spcPct val="0"/>
              </a:spcBef>
            </a:pPr>
            <a:r>
              <a:rPr lang="en-US" sz="2486">
                <a:solidFill>
                  <a:srgbClr val="000000"/>
                </a:solidFill>
                <a:latin typeface="Arial"/>
                <a:ea typeface="Arial"/>
                <a:cs typeface="Arial"/>
                <a:sym typeface="Arial"/>
              </a:rPr>
              <a:t>4. Mobile Agents (MA - Tác nhân di động)</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Trước khi thực thi: Mã và thực thi nằm trên máy khách.</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Trong quá trình thực thi: Mã và thực thi được di chuyển đến máy chủ.</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Sau khi thực thi: Việc thực thi xảy ra trên máy chủ, nhưng tài nguyên có thể vẫn ở máy khách hoặc di chuyển theo.</a:t>
            </a:r>
          </a:p>
          <a:p>
            <a:pPr algn="l">
              <a:lnSpc>
                <a:spcPts val="2984"/>
              </a:lnSpc>
              <a:spcBef>
                <a:spcPct val="0"/>
              </a:spcBef>
            </a:pPr>
            <a:endParaRPr lang="en-US" sz="2486">
              <a:solidFill>
                <a:srgbClr val="000000"/>
              </a:solidFill>
              <a:latin typeface="Arial"/>
              <a:ea typeface="Arial"/>
              <a:cs typeface="Arial"/>
              <a:sym typeface="Arial"/>
            </a:endParaRPr>
          </a:p>
        </p:txBody>
      </p:sp>
    </p:spTree>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4" name="TextBox 4"/>
          <p:cNvSpPr txBox="1"/>
          <p:nvPr/>
        </p:nvSpPr>
        <p:spPr>
          <a:xfrm>
            <a:off x="137283" y="2193255"/>
            <a:ext cx="9616317" cy="3390707"/>
          </a:xfrm>
          <a:prstGeom prst="rect">
            <a:avLst/>
          </a:prstGeom>
        </p:spPr>
        <p:txBody>
          <a:bodyPr lIns="0" tIns="0" rIns="0" bIns="0" rtlCol="0" anchor="t">
            <a:spAutoFit/>
          </a:bodyPr>
          <a:lstStyle/>
          <a:p>
            <a:pPr algn="l">
              <a:lnSpc>
                <a:spcPts val="2984"/>
              </a:lnSpc>
              <a:spcBef>
                <a:spcPct val="0"/>
              </a:spcBef>
            </a:pPr>
            <a:r>
              <a:rPr lang="en-US" sz="2486" b="1">
                <a:solidFill>
                  <a:srgbClr val="000000"/>
                </a:solidFill>
                <a:latin typeface="Arial Bold"/>
                <a:ea typeface="Arial Bold"/>
                <a:cs typeface="Arial Bold"/>
                <a:sym typeface="Arial Bold"/>
              </a:rPr>
              <a:t>Di động mạnh và di động yếu</a:t>
            </a:r>
          </a:p>
          <a:p>
            <a:pPr algn="l">
              <a:lnSpc>
                <a:spcPts val="2984"/>
              </a:lnSpc>
              <a:spcBef>
                <a:spcPct val="0"/>
              </a:spcBef>
            </a:pPr>
            <a:r>
              <a:rPr lang="en-US" sz="2486">
                <a:solidFill>
                  <a:srgbClr val="000000"/>
                </a:solidFill>
                <a:latin typeface="Arial"/>
                <a:ea typeface="Arial"/>
                <a:cs typeface="Arial"/>
                <a:sym typeface="Arial"/>
              </a:rPr>
              <a:t>+ Thành phần của đối tượng:</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Phân đoạn mã (Code segment): Chứa mã thực tế của đối tượng.</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Phân đoạn dữ liệu (Data segment): Chứa trạng thái của đối tượng.</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Trạng thái thực thi (Execution state): Chứa ngữ cảnh của luồng đang thực thi mã của đối tượng.</a:t>
            </a:r>
          </a:p>
          <a:p>
            <a:pPr algn="l">
              <a:lnSpc>
                <a:spcPts val="2984"/>
              </a:lnSpc>
              <a:spcBef>
                <a:spcPct val="0"/>
              </a:spcBef>
            </a:pPr>
            <a:endParaRPr lang="en-US" sz="2486">
              <a:solidFill>
                <a:srgbClr val="000000"/>
              </a:solidFill>
              <a:latin typeface="Arial"/>
              <a:ea typeface="Arial"/>
              <a:cs typeface="Arial"/>
              <a:sym typeface="Arial"/>
            </a:endParaRPr>
          </a:p>
        </p:txBody>
      </p:sp>
    </p:spTree>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4" name="TextBox 4"/>
          <p:cNvSpPr txBox="1"/>
          <p:nvPr/>
        </p:nvSpPr>
        <p:spPr>
          <a:xfrm>
            <a:off x="205925" y="1624242"/>
            <a:ext cx="9341750" cy="5134254"/>
          </a:xfrm>
          <a:prstGeom prst="rect">
            <a:avLst/>
          </a:prstGeom>
        </p:spPr>
        <p:txBody>
          <a:bodyPr lIns="0" tIns="0" rIns="0" bIns="0" rtlCol="0" anchor="t">
            <a:spAutoFit/>
          </a:bodyPr>
          <a:lstStyle/>
          <a:p>
            <a:pPr algn="l">
              <a:lnSpc>
                <a:spcPts val="3104"/>
              </a:lnSpc>
              <a:spcBef>
                <a:spcPct val="0"/>
              </a:spcBef>
            </a:pPr>
            <a:r>
              <a:rPr lang="en-US" sz="2586" b="1">
                <a:solidFill>
                  <a:srgbClr val="000000"/>
                </a:solidFill>
                <a:latin typeface="Arial Bold"/>
                <a:ea typeface="Arial Bold"/>
                <a:cs typeface="Arial Bold"/>
                <a:sym typeface="Arial Bold"/>
              </a:rPr>
              <a:t>Di động yếu (Weak mobility):</a:t>
            </a:r>
          </a:p>
          <a:p>
            <a:pPr marL="558463" lvl="1" indent="-279232" algn="l">
              <a:lnSpc>
                <a:spcPts val="3104"/>
              </a:lnSpc>
              <a:spcBef>
                <a:spcPct val="0"/>
              </a:spcBef>
              <a:buFont typeface="Arial"/>
              <a:buChar char="•"/>
            </a:pPr>
            <a:r>
              <a:rPr lang="en-US" sz="2586">
                <a:solidFill>
                  <a:srgbClr val="000000"/>
                </a:solidFill>
                <a:latin typeface="Arial"/>
                <a:ea typeface="Arial"/>
                <a:cs typeface="Arial"/>
                <a:sym typeface="Arial"/>
              </a:rPr>
              <a:t>Chỉ di chuyển phân đoạn mã và dữ liệu (và khởi động lại quá trình thực thi).</a:t>
            </a:r>
          </a:p>
          <a:p>
            <a:pPr marL="558463" lvl="1" indent="-279232" algn="l">
              <a:lnSpc>
                <a:spcPts val="3104"/>
              </a:lnSpc>
              <a:spcBef>
                <a:spcPct val="0"/>
              </a:spcBef>
              <a:buFont typeface="Arial"/>
              <a:buChar char="•"/>
            </a:pPr>
            <a:r>
              <a:rPr lang="en-US" sz="2586">
                <a:solidFill>
                  <a:srgbClr val="000000"/>
                </a:solidFill>
                <a:latin typeface="Arial"/>
                <a:ea typeface="Arial"/>
                <a:cs typeface="Arial"/>
                <a:sym typeface="Arial"/>
              </a:rPr>
              <a:t>Tương đối đơn giản, đặc biệt khi mã có tính di động cao.</a:t>
            </a:r>
          </a:p>
          <a:p>
            <a:pPr marL="558463" lvl="1" indent="-279232" algn="l">
              <a:lnSpc>
                <a:spcPts val="3104"/>
              </a:lnSpc>
              <a:spcBef>
                <a:spcPct val="0"/>
              </a:spcBef>
              <a:buFont typeface="Arial"/>
              <a:buChar char="•"/>
            </a:pPr>
            <a:r>
              <a:rPr lang="en-US" sz="2586">
                <a:solidFill>
                  <a:srgbClr val="000000"/>
                </a:solidFill>
                <a:latin typeface="Arial"/>
                <a:ea typeface="Arial"/>
                <a:cs typeface="Arial"/>
                <a:sym typeface="Arial"/>
              </a:rPr>
              <a:t>Phân biệt giữa việc đẩy mã (code shipping - push) và lấy mã (code fetching - pull).</a:t>
            </a:r>
          </a:p>
          <a:p>
            <a:pPr algn="l">
              <a:lnSpc>
                <a:spcPts val="3104"/>
              </a:lnSpc>
              <a:spcBef>
                <a:spcPct val="0"/>
              </a:spcBef>
            </a:pPr>
            <a:r>
              <a:rPr lang="en-US" sz="2586" b="1">
                <a:solidFill>
                  <a:srgbClr val="000000"/>
                </a:solidFill>
                <a:latin typeface="Arial Bold"/>
                <a:ea typeface="Arial Bold"/>
                <a:cs typeface="Arial Bold"/>
                <a:sym typeface="Arial Bold"/>
              </a:rPr>
              <a:t>Di động mạnh (Strong mobility):</a:t>
            </a:r>
          </a:p>
          <a:p>
            <a:pPr marL="558463" lvl="1" indent="-279232" algn="l">
              <a:lnSpc>
                <a:spcPts val="3104"/>
              </a:lnSpc>
              <a:spcBef>
                <a:spcPct val="0"/>
              </a:spcBef>
              <a:buFont typeface="Arial"/>
              <a:buChar char="•"/>
            </a:pPr>
            <a:r>
              <a:rPr lang="en-US" sz="2586">
                <a:solidFill>
                  <a:srgbClr val="000000"/>
                </a:solidFill>
                <a:latin typeface="Arial"/>
                <a:ea typeface="Arial"/>
                <a:cs typeface="Arial"/>
                <a:sym typeface="Arial"/>
              </a:rPr>
              <a:t>Di chuyển toàn bộ đối tượng, bao gồm cả trạng thái thực thi.</a:t>
            </a:r>
          </a:p>
          <a:p>
            <a:pPr marL="558463" lvl="1" indent="-279232" algn="l">
              <a:lnSpc>
                <a:spcPts val="3104"/>
              </a:lnSpc>
              <a:spcBef>
                <a:spcPct val="0"/>
              </a:spcBef>
              <a:buFont typeface="Arial"/>
              <a:buChar char="•"/>
            </a:pPr>
            <a:r>
              <a:rPr lang="en-US" sz="2586">
                <a:solidFill>
                  <a:srgbClr val="000000"/>
                </a:solidFill>
                <a:latin typeface="Arial"/>
                <a:ea typeface="Arial"/>
                <a:cs typeface="Arial"/>
                <a:sym typeface="Arial"/>
              </a:rPr>
              <a:t>Di cư (Migration): Di chuyển toàn bộ đối tượng từ một máy sang máy khác.</a:t>
            </a:r>
          </a:p>
          <a:p>
            <a:pPr marL="558463" lvl="1" indent="-279232" algn="l">
              <a:lnSpc>
                <a:spcPts val="3104"/>
              </a:lnSpc>
              <a:spcBef>
                <a:spcPct val="0"/>
              </a:spcBef>
              <a:buFont typeface="Arial"/>
              <a:buChar char="•"/>
            </a:pPr>
            <a:r>
              <a:rPr lang="en-US" sz="2586">
                <a:solidFill>
                  <a:srgbClr val="000000"/>
                </a:solidFill>
                <a:latin typeface="Arial"/>
                <a:ea typeface="Arial"/>
                <a:cs typeface="Arial"/>
                <a:sym typeface="Arial"/>
              </a:rPr>
              <a:t>Nhân bản (Cloning): Tạo một bản sao và đặt nó vào cùng trạng thái thực thi như đối tượng gốc.</a:t>
            </a:r>
          </a:p>
        </p:txBody>
      </p:sp>
    </p:spTree>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4" name="TextBox 4"/>
          <p:cNvSpPr txBox="1"/>
          <p:nvPr/>
        </p:nvSpPr>
        <p:spPr>
          <a:xfrm>
            <a:off x="137283" y="1196613"/>
            <a:ext cx="9616317" cy="6048031"/>
          </a:xfrm>
          <a:prstGeom prst="rect">
            <a:avLst/>
          </a:prstGeom>
        </p:spPr>
        <p:txBody>
          <a:bodyPr lIns="0" tIns="0" rIns="0" bIns="0" rtlCol="0" anchor="t">
            <a:spAutoFit/>
          </a:bodyPr>
          <a:lstStyle/>
          <a:p>
            <a:pPr algn="l">
              <a:lnSpc>
                <a:spcPts val="3344"/>
              </a:lnSpc>
              <a:spcBef>
                <a:spcPct val="0"/>
              </a:spcBef>
            </a:pPr>
            <a:r>
              <a:rPr lang="en-US" sz="2786" b="1">
                <a:solidFill>
                  <a:srgbClr val="000000"/>
                </a:solidFill>
                <a:latin typeface="Arial Bold"/>
                <a:ea typeface="Arial Bold"/>
                <a:cs typeface="Arial Bold"/>
                <a:sym typeface="Arial Bold"/>
              </a:rPr>
              <a:t>Di chuyển trong hệ thống không đồng nhất</a:t>
            </a:r>
          </a:p>
          <a:p>
            <a:pPr algn="l">
              <a:lnSpc>
                <a:spcPts val="2984"/>
              </a:lnSpc>
              <a:spcBef>
                <a:spcPct val="0"/>
              </a:spcBef>
            </a:pPr>
            <a:r>
              <a:rPr lang="en-US" sz="2486" b="1" i="1">
                <a:solidFill>
                  <a:srgbClr val="000000"/>
                </a:solidFill>
                <a:latin typeface="Arial Bold Italics"/>
                <a:ea typeface="Arial Bold Italics"/>
                <a:cs typeface="Arial Bold Italics"/>
                <a:sym typeface="Arial Bold Italics"/>
              </a:rPr>
              <a:t>Vấn đề chính:</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Máy đích có thể không phù hợp để thực thi mã đã di chuyển.</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Định nghĩa của tiến trình, luồng (thread), ngữ cảnh bộ xử lý phụ thuộc nhiều vào phần cứng, hệ điều hành và hệ thống runtime của từng máy.</a:t>
            </a:r>
          </a:p>
          <a:p>
            <a:pPr algn="l">
              <a:lnSpc>
                <a:spcPts val="2984"/>
              </a:lnSpc>
              <a:spcBef>
                <a:spcPct val="0"/>
              </a:spcBef>
            </a:pPr>
            <a:r>
              <a:rPr lang="en-US" sz="2486" i="1">
                <a:solidFill>
                  <a:srgbClr val="000000"/>
                </a:solidFill>
                <a:latin typeface="Arial Italics"/>
                <a:ea typeface="Arial Italics"/>
                <a:cs typeface="Arial Italics"/>
                <a:sym typeface="Arial Italics"/>
              </a:rPr>
              <a:t>Giải pháp duy nhất:</a:t>
            </a:r>
            <a:r>
              <a:rPr lang="en-US" sz="2486">
                <a:solidFill>
                  <a:srgbClr val="000000"/>
                </a:solidFill>
                <a:latin typeface="Arial"/>
                <a:ea typeface="Arial"/>
                <a:cs typeface="Arial"/>
                <a:sym typeface="Arial"/>
              </a:rPr>
              <a:t> Sử dụng máy ảo trừu tượng (abstract machine) được triển khai trên nhiều nền tảng khác nhau:</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Các ngôn ngữ thông dịch (interpreted languages) có máy ảo riêng.</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Trình giám sát máy ảo (virtual machine monitors).</a:t>
            </a:r>
          </a:p>
          <a:p>
            <a:pPr algn="l">
              <a:lnSpc>
                <a:spcPts val="2984"/>
              </a:lnSpc>
              <a:spcBef>
                <a:spcPct val="0"/>
              </a:spcBef>
            </a:pPr>
            <a:r>
              <a:rPr lang="en-US" sz="2486" b="1" i="1">
                <a:solidFill>
                  <a:srgbClr val="000000"/>
                </a:solidFill>
                <a:latin typeface="Arial Bold Italics"/>
                <a:ea typeface="Arial Bold Italics"/>
                <a:cs typeface="Arial Bold Italics"/>
                <a:sym typeface="Arial Bold Italics"/>
              </a:rPr>
              <a:t>Quan sát:</a:t>
            </a:r>
          </a:p>
          <a:p>
            <a:pPr marL="536874" lvl="1" indent="-268437" algn="l">
              <a:lnSpc>
                <a:spcPts val="2984"/>
              </a:lnSpc>
              <a:spcBef>
                <a:spcPct val="0"/>
              </a:spcBef>
              <a:buFont typeface="Arial"/>
              <a:buChar char="•"/>
            </a:pPr>
            <a:r>
              <a:rPr lang="en-US" sz="2486">
                <a:solidFill>
                  <a:srgbClr val="000000"/>
                </a:solidFill>
                <a:latin typeface="Arial"/>
                <a:ea typeface="Arial"/>
                <a:cs typeface="Arial"/>
                <a:sym typeface="Arial"/>
              </a:rPr>
              <a:t>Vì các container phụ thuộc trực tiếp vào hệ điều hành bên dưới, nên việc di chuyển chúng trong môi trường không đồng nhất không hề đơn giản, thậm chí có thể không khả thi, tương tự như di chuyển tiến trình giữa các hệ thống.</a:t>
            </a:r>
          </a:p>
        </p:txBody>
      </p:sp>
    </p:spTree>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4" name="TextBox 4"/>
          <p:cNvSpPr txBox="1"/>
          <p:nvPr/>
        </p:nvSpPr>
        <p:spPr>
          <a:xfrm>
            <a:off x="416704" y="1704275"/>
            <a:ext cx="9204467" cy="3686390"/>
          </a:xfrm>
          <a:prstGeom prst="rect">
            <a:avLst/>
          </a:prstGeom>
        </p:spPr>
        <p:txBody>
          <a:bodyPr lIns="0" tIns="0" rIns="0" bIns="0" rtlCol="0" anchor="t">
            <a:spAutoFit/>
          </a:bodyPr>
          <a:lstStyle/>
          <a:p>
            <a:pPr algn="l">
              <a:lnSpc>
                <a:spcPts val="3464"/>
              </a:lnSpc>
              <a:spcBef>
                <a:spcPct val="0"/>
              </a:spcBef>
            </a:pPr>
            <a:r>
              <a:rPr lang="en-US" sz="2886" b="1">
                <a:solidFill>
                  <a:srgbClr val="000000"/>
                </a:solidFill>
                <a:latin typeface="Arial Bold"/>
                <a:ea typeface="Arial Bold"/>
                <a:cs typeface="Arial Bold"/>
                <a:sym typeface="Arial Bold"/>
              </a:rPr>
              <a:t>Di chuyển máy ảo (VM Migration)</a:t>
            </a:r>
          </a:p>
          <a:p>
            <a:pPr algn="l">
              <a:lnSpc>
                <a:spcPts val="3464"/>
              </a:lnSpc>
              <a:spcBef>
                <a:spcPct val="0"/>
              </a:spcBef>
            </a:pPr>
            <a:endParaRPr lang="en-US" sz="2886" b="1">
              <a:solidFill>
                <a:srgbClr val="000000"/>
              </a:solidFill>
              <a:latin typeface="Arial Bold"/>
              <a:ea typeface="Arial Bold"/>
              <a:cs typeface="Arial Bold"/>
              <a:sym typeface="Arial Bold"/>
            </a:endParaRPr>
          </a:p>
          <a:p>
            <a:pPr algn="l">
              <a:lnSpc>
                <a:spcPts val="3224"/>
              </a:lnSpc>
              <a:spcBef>
                <a:spcPct val="0"/>
              </a:spcBef>
            </a:pPr>
            <a:r>
              <a:rPr lang="en-US" sz="2686" i="1">
                <a:solidFill>
                  <a:srgbClr val="000000"/>
                </a:solidFill>
                <a:latin typeface="Arial Italics"/>
                <a:ea typeface="Arial Italics"/>
                <a:cs typeface="Arial Italics"/>
                <a:sym typeface="Arial Italics"/>
              </a:rPr>
              <a:t>Ba phương pháp di chuyển ảnh máy ảo:</a:t>
            </a:r>
          </a:p>
          <a:p>
            <a:pPr algn="l">
              <a:lnSpc>
                <a:spcPts val="3104"/>
              </a:lnSpc>
              <a:spcBef>
                <a:spcPct val="0"/>
              </a:spcBef>
            </a:pPr>
            <a:r>
              <a:rPr lang="en-US" sz="2586">
                <a:solidFill>
                  <a:srgbClr val="000000"/>
                </a:solidFill>
                <a:latin typeface="Arial"/>
                <a:ea typeface="Arial"/>
                <a:cs typeface="Arial"/>
                <a:sym typeface="Arial"/>
              </a:rPr>
              <a:t>  1. </a:t>
            </a:r>
            <a:r>
              <a:rPr lang="en-US" sz="2586" b="1" i="1">
                <a:solidFill>
                  <a:srgbClr val="000000"/>
                </a:solidFill>
                <a:latin typeface="Arial Bold Italics"/>
                <a:ea typeface="Arial Bold Italics"/>
                <a:cs typeface="Arial Bold Italics"/>
                <a:sym typeface="Arial Bold Italics"/>
              </a:rPr>
              <a:t>Đẩy (pushing)</a:t>
            </a:r>
            <a:r>
              <a:rPr lang="en-US" sz="2586">
                <a:solidFill>
                  <a:srgbClr val="000000"/>
                </a:solidFill>
                <a:latin typeface="Arial"/>
                <a:ea typeface="Arial"/>
                <a:cs typeface="Arial"/>
                <a:sym typeface="Arial"/>
              </a:rPr>
              <a:t> các trang bộ nhớ sang máy mới và gửi lại các trang bị sửa đổi trong quá trình di chuyển.</a:t>
            </a:r>
          </a:p>
          <a:p>
            <a:pPr algn="l">
              <a:lnSpc>
                <a:spcPts val="3104"/>
              </a:lnSpc>
              <a:spcBef>
                <a:spcPct val="0"/>
              </a:spcBef>
            </a:pPr>
            <a:r>
              <a:rPr lang="en-US" sz="2586">
                <a:solidFill>
                  <a:srgbClr val="000000"/>
                </a:solidFill>
                <a:latin typeface="Arial"/>
                <a:ea typeface="Arial"/>
                <a:cs typeface="Arial"/>
                <a:sym typeface="Arial"/>
              </a:rPr>
              <a:t>  2. </a:t>
            </a:r>
            <a:r>
              <a:rPr lang="en-US" sz="2586" b="1" i="1">
                <a:solidFill>
                  <a:srgbClr val="000000"/>
                </a:solidFill>
                <a:latin typeface="Arial Bold Italics"/>
                <a:ea typeface="Arial Bold Italics"/>
                <a:cs typeface="Arial Bold Italics"/>
                <a:sym typeface="Arial Bold Italics"/>
              </a:rPr>
              <a:t>Dừng (stopping)</a:t>
            </a:r>
            <a:r>
              <a:rPr lang="en-US" sz="2586">
                <a:solidFill>
                  <a:srgbClr val="000000"/>
                </a:solidFill>
                <a:latin typeface="Arial"/>
                <a:ea typeface="Arial"/>
                <a:cs typeface="Arial"/>
                <a:sym typeface="Arial"/>
              </a:rPr>
              <a:t> máy ảo hiện tại, di chuyển toàn bộ bộ nhớ, sau đó khởi động máy ảo mới.</a:t>
            </a:r>
          </a:p>
          <a:p>
            <a:pPr algn="l">
              <a:lnSpc>
                <a:spcPts val="3104"/>
              </a:lnSpc>
              <a:spcBef>
                <a:spcPct val="0"/>
              </a:spcBef>
            </a:pPr>
            <a:r>
              <a:rPr lang="en-US" sz="2586">
                <a:solidFill>
                  <a:srgbClr val="000000"/>
                </a:solidFill>
                <a:latin typeface="Arial"/>
                <a:ea typeface="Arial"/>
                <a:cs typeface="Arial"/>
                <a:sym typeface="Arial"/>
              </a:rPr>
              <a:t>  3. </a:t>
            </a:r>
            <a:r>
              <a:rPr lang="en-US" sz="2586" b="1" i="1">
                <a:solidFill>
                  <a:srgbClr val="000000"/>
                </a:solidFill>
                <a:latin typeface="Arial Bold Italics"/>
                <a:ea typeface="Arial Bold Italics"/>
                <a:cs typeface="Arial Bold Italics"/>
                <a:sym typeface="Arial Bold Italics"/>
              </a:rPr>
              <a:t>Kéo (pulling)</a:t>
            </a:r>
            <a:r>
              <a:rPr lang="en-US" sz="2586">
                <a:solidFill>
                  <a:srgbClr val="000000"/>
                </a:solidFill>
                <a:latin typeface="Arial"/>
                <a:ea typeface="Arial"/>
                <a:cs typeface="Arial"/>
                <a:sym typeface="Arial"/>
              </a:rPr>
              <a:t> Máy ảo mới bắt đầu ngay lập tức và chỉ sao chép các trang bộ nhớ khi cần thiết.</a:t>
            </a:r>
          </a:p>
        </p:txBody>
      </p:sp>
    </p:spTree>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4" name="TextBox 4"/>
          <p:cNvSpPr txBox="1"/>
          <p:nvPr/>
        </p:nvSpPr>
        <p:spPr>
          <a:xfrm>
            <a:off x="225537" y="1480452"/>
            <a:ext cx="9302527" cy="4457936"/>
          </a:xfrm>
          <a:prstGeom prst="rect">
            <a:avLst/>
          </a:prstGeom>
        </p:spPr>
        <p:txBody>
          <a:bodyPr lIns="0" tIns="0" rIns="0" bIns="0" rtlCol="0" anchor="t">
            <a:spAutoFit/>
          </a:bodyPr>
          <a:lstStyle/>
          <a:p>
            <a:pPr algn="l">
              <a:lnSpc>
                <a:spcPts val="3464"/>
              </a:lnSpc>
              <a:spcBef>
                <a:spcPct val="0"/>
              </a:spcBef>
            </a:pPr>
            <a:r>
              <a:rPr lang="en-US" sz="2886" b="1">
                <a:solidFill>
                  <a:srgbClr val="000000"/>
                </a:solidFill>
                <a:latin typeface="Arial Bold"/>
                <a:ea typeface="Arial Bold"/>
                <a:cs typeface="Arial Bold"/>
                <a:sym typeface="Arial Bold"/>
              </a:rPr>
              <a:t>Hiệu suất của việc di chuyển máy ảo</a:t>
            </a:r>
          </a:p>
          <a:p>
            <a:pPr algn="l">
              <a:lnSpc>
                <a:spcPts val="3464"/>
              </a:lnSpc>
              <a:spcBef>
                <a:spcPct val="0"/>
              </a:spcBef>
            </a:pPr>
            <a:endParaRPr lang="en-US" sz="2886" b="1">
              <a:solidFill>
                <a:srgbClr val="000000"/>
              </a:solidFill>
              <a:latin typeface="Arial Bold"/>
              <a:ea typeface="Arial Bold"/>
              <a:cs typeface="Arial Bold"/>
              <a:sym typeface="Arial Bold"/>
            </a:endParaRPr>
          </a:p>
          <a:p>
            <a:pPr algn="l">
              <a:lnSpc>
                <a:spcPts val="3104"/>
              </a:lnSpc>
              <a:spcBef>
                <a:spcPct val="0"/>
              </a:spcBef>
            </a:pPr>
            <a:r>
              <a:rPr lang="en-US" sz="2586" b="1" i="1">
                <a:solidFill>
                  <a:srgbClr val="000000"/>
                </a:solidFill>
                <a:latin typeface="Arial Bold Italics"/>
                <a:ea typeface="Arial Bold Italics"/>
                <a:cs typeface="Arial Bold Italics"/>
                <a:sym typeface="Arial Bold Italics"/>
              </a:rPr>
              <a:t>Vấn đề:</a:t>
            </a:r>
          </a:p>
          <a:p>
            <a:pPr marL="558463" lvl="1" indent="-279232" algn="l">
              <a:lnSpc>
                <a:spcPts val="3104"/>
              </a:lnSpc>
              <a:spcBef>
                <a:spcPct val="0"/>
              </a:spcBef>
              <a:buFont typeface="Arial"/>
              <a:buChar char="•"/>
            </a:pPr>
            <a:r>
              <a:rPr lang="en-US" sz="2586">
                <a:solidFill>
                  <a:srgbClr val="000000"/>
                </a:solidFill>
                <a:latin typeface="Arial"/>
                <a:ea typeface="Arial"/>
                <a:cs typeface="Arial"/>
                <a:sym typeface="Arial"/>
              </a:rPr>
              <a:t>Một quá trình di chuyển hoàn chỉnh có thể mất đến vài chục giây.</a:t>
            </a:r>
          </a:p>
          <a:p>
            <a:pPr marL="558463" lvl="1" indent="-279232" algn="l">
              <a:lnSpc>
                <a:spcPts val="3104"/>
              </a:lnSpc>
              <a:spcBef>
                <a:spcPct val="0"/>
              </a:spcBef>
              <a:buFont typeface="Arial"/>
              <a:buChar char="•"/>
            </a:pPr>
            <a:r>
              <a:rPr lang="en-US" sz="2586">
                <a:solidFill>
                  <a:srgbClr val="000000"/>
                </a:solidFill>
                <a:latin typeface="Arial"/>
                <a:ea typeface="Arial"/>
                <a:cs typeface="Arial"/>
                <a:sym typeface="Arial"/>
              </a:rPr>
              <a:t>Trong thời gian di chuyển, dịch vụ có thể không khả dụng trong vài giây.</a:t>
            </a:r>
          </a:p>
          <a:p>
            <a:pPr algn="l">
              <a:lnSpc>
                <a:spcPts val="3104"/>
              </a:lnSpc>
              <a:spcBef>
                <a:spcPct val="0"/>
              </a:spcBef>
            </a:pPr>
            <a:r>
              <a:rPr lang="en-US" sz="2586" b="1" i="1">
                <a:solidFill>
                  <a:srgbClr val="000000"/>
                </a:solidFill>
                <a:latin typeface="Arial Bold Italics"/>
                <a:ea typeface="Arial Bold Italics"/>
                <a:cs typeface="Arial Bold Italics"/>
                <a:sym typeface="Arial Bold Italics"/>
              </a:rPr>
              <a:t>Đo lường:</a:t>
            </a:r>
          </a:p>
          <a:p>
            <a:pPr marL="558463" lvl="1" indent="-279232" algn="l">
              <a:lnSpc>
                <a:spcPts val="3104"/>
              </a:lnSpc>
              <a:spcBef>
                <a:spcPct val="0"/>
              </a:spcBef>
              <a:buFont typeface="Arial"/>
              <a:buChar char="•"/>
            </a:pPr>
            <a:r>
              <a:rPr lang="en-US" sz="2586">
                <a:solidFill>
                  <a:srgbClr val="000000"/>
                </a:solidFill>
                <a:latin typeface="Arial"/>
                <a:ea typeface="Arial"/>
                <a:cs typeface="Arial"/>
                <a:sym typeface="Arial"/>
              </a:rPr>
              <a:t>Các phép đo liên quan đến thời gian phản hồi trong quá trình di chuyển máy ảo giúp đánh giá tác động của quá trình này đến hiệu suất hệ thống.</a:t>
            </a:r>
          </a:p>
        </p:txBody>
      </p:sp>
    </p:spTree>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Freeform 3"/>
          <p:cNvSpPr/>
          <p:nvPr/>
        </p:nvSpPr>
        <p:spPr>
          <a:xfrm>
            <a:off x="890119" y="2199295"/>
            <a:ext cx="7973362" cy="4933518"/>
          </a:xfrm>
          <a:custGeom>
            <a:avLst/>
            <a:gdLst/>
            <a:ahLst/>
            <a:cxnLst/>
            <a:rect l="l" t="t" r="r" b="b"/>
            <a:pathLst>
              <a:path w="7973362" h="4933518">
                <a:moveTo>
                  <a:pt x="0" y="0"/>
                </a:moveTo>
                <a:lnTo>
                  <a:pt x="7973362" y="0"/>
                </a:lnTo>
                <a:lnTo>
                  <a:pt x="7973362" y="4933518"/>
                </a:lnTo>
                <a:lnTo>
                  <a:pt x="0" y="4933518"/>
                </a:lnTo>
                <a:lnTo>
                  <a:pt x="0" y="0"/>
                </a:lnTo>
                <a:close/>
              </a:path>
            </a:pathLst>
          </a:custGeom>
          <a:blipFill>
            <a:blip r:embed="rId4"/>
            <a:stretch>
              <a:fillRect/>
            </a:stretch>
          </a:blipFill>
        </p:spPr>
      </p:sp>
      <p:sp>
        <p:nvSpPr>
          <p:cNvPr id="4" name="TextBox 4"/>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5" name="TextBox 5"/>
          <p:cNvSpPr txBox="1"/>
          <p:nvPr/>
        </p:nvSpPr>
        <p:spPr>
          <a:xfrm>
            <a:off x="236213" y="1249075"/>
            <a:ext cx="9281174" cy="754549"/>
          </a:xfrm>
          <a:prstGeom prst="rect">
            <a:avLst/>
          </a:prstGeom>
        </p:spPr>
        <p:txBody>
          <a:bodyPr lIns="0" tIns="0" rIns="0" bIns="0" rtlCol="0" anchor="t">
            <a:spAutoFit/>
          </a:bodyPr>
          <a:lstStyle/>
          <a:p>
            <a:pPr algn="l">
              <a:lnSpc>
                <a:spcPts val="2839"/>
              </a:lnSpc>
              <a:spcBef>
                <a:spcPct val="0"/>
              </a:spcBef>
            </a:pPr>
            <a:r>
              <a:rPr lang="en-US" sz="2366" b="1">
                <a:solidFill>
                  <a:srgbClr val="000000"/>
                </a:solidFill>
                <a:latin typeface="Arial Bold"/>
                <a:ea typeface="Arial Bold"/>
                <a:cs typeface="Arial Bold"/>
                <a:sym typeface="Arial Bold"/>
              </a:rPr>
              <a:t>Các phép đo liên quan đến thời gian phản hồi trong quá trình di chuyển máy ảo</a:t>
            </a:r>
          </a:p>
        </p:txBody>
      </p:sp>
    </p:spTree>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4" name="TextBox 4"/>
          <p:cNvSpPr txBox="1"/>
          <p:nvPr/>
        </p:nvSpPr>
        <p:spPr>
          <a:xfrm>
            <a:off x="137283" y="1507456"/>
            <a:ext cx="9616317" cy="5114324"/>
          </a:xfrm>
          <a:prstGeom prst="rect">
            <a:avLst/>
          </a:prstGeom>
        </p:spPr>
        <p:txBody>
          <a:bodyPr lIns="0" tIns="0" rIns="0" bIns="0" rtlCol="0" anchor="t">
            <a:spAutoFit/>
          </a:bodyPr>
          <a:lstStyle/>
          <a:p>
            <a:pPr algn="l">
              <a:lnSpc>
                <a:spcPts val="2864"/>
              </a:lnSpc>
              <a:spcBef>
                <a:spcPct val="0"/>
              </a:spcBef>
            </a:pPr>
            <a:r>
              <a:rPr lang="en-US" sz="2386">
                <a:solidFill>
                  <a:srgbClr val="000000"/>
                </a:solidFill>
                <a:latin typeface="Arial"/>
                <a:ea typeface="Arial"/>
                <a:cs typeface="Arial"/>
                <a:sym typeface="Arial"/>
              </a:rPr>
              <a:t>Hình ảnh trên minh họa tác động của quá trình di chuyển máy ảo (VM Migration) lên thời gian phản hồi (Response Time) của hệ thống. </a:t>
            </a:r>
          </a:p>
          <a:p>
            <a:pPr algn="l">
              <a:lnSpc>
                <a:spcPts val="2864"/>
              </a:lnSpc>
              <a:spcBef>
                <a:spcPct val="0"/>
              </a:spcBef>
            </a:pPr>
            <a:r>
              <a:rPr lang="en-US" sz="2386" i="1">
                <a:solidFill>
                  <a:srgbClr val="000000"/>
                </a:solidFill>
                <a:latin typeface="Arial Italics"/>
                <a:ea typeface="Arial Italics"/>
                <a:cs typeface="Arial Italics"/>
                <a:sym typeface="Arial Italics"/>
              </a:rPr>
              <a:t>1. Giai đoạn trước khi di chuyển (Trước "Migration")</a:t>
            </a:r>
          </a:p>
          <a:p>
            <a:pPr marL="515284" lvl="1" indent="-257642" algn="l">
              <a:lnSpc>
                <a:spcPts val="2864"/>
              </a:lnSpc>
              <a:spcBef>
                <a:spcPct val="0"/>
              </a:spcBef>
              <a:buFont typeface="Arial"/>
              <a:buChar char="•"/>
            </a:pPr>
            <a:r>
              <a:rPr lang="en-US" sz="2386">
                <a:solidFill>
                  <a:srgbClr val="000000"/>
                </a:solidFill>
                <a:latin typeface="Arial"/>
                <a:ea typeface="Arial"/>
                <a:cs typeface="Arial"/>
                <a:sym typeface="Arial"/>
              </a:rPr>
              <a:t>Ở giai đoạn ban đầu, hệ thống hoạt động bình thường, thời gian phản hồi ổn định và thấp.</a:t>
            </a:r>
          </a:p>
          <a:p>
            <a:pPr marL="515284" lvl="1" indent="-257642" algn="l">
              <a:lnSpc>
                <a:spcPts val="2864"/>
              </a:lnSpc>
              <a:spcBef>
                <a:spcPct val="0"/>
              </a:spcBef>
              <a:buFont typeface="Arial"/>
              <a:buChar char="•"/>
            </a:pPr>
            <a:r>
              <a:rPr lang="en-US" sz="2386">
                <a:solidFill>
                  <a:srgbClr val="000000"/>
                </a:solidFill>
                <a:latin typeface="Arial"/>
                <a:ea typeface="Arial"/>
                <a:cs typeface="Arial"/>
                <a:sym typeface="Arial"/>
              </a:rPr>
              <a:t>Điều này cho thấy dịch vụ đang chạy mượt mà, không có sự cố hoặc ảnh hưởng từ bên ngoài.</a:t>
            </a:r>
          </a:p>
          <a:p>
            <a:pPr algn="l">
              <a:lnSpc>
                <a:spcPts val="2864"/>
              </a:lnSpc>
              <a:spcBef>
                <a:spcPct val="0"/>
              </a:spcBef>
            </a:pPr>
            <a:r>
              <a:rPr lang="en-US" sz="2386" i="1">
                <a:solidFill>
                  <a:srgbClr val="000000"/>
                </a:solidFill>
                <a:latin typeface="Arial Italics"/>
                <a:ea typeface="Arial Italics"/>
                <a:cs typeface="Arial Italics"/>
                <a:sym typeface="Arial Italics"/>
              </a:rPr>
              <a:t>2. Giai đoạn di chuyển máy ảo ("Migration")</a:t>
            </a:r>
          </a:p>
          <a:p>
            <a:pPr marL="515284" lvl="1" indent="-257642" algn="l">
              <a:lnSpc>
                <a:spcPts val="2864"/>
              </a:lnSpc>
              <a:spcBef>
                <a:spcPct val="0"/>
              </a:spcBef>
              <a:buFont typeface="Arial"/>
              <a:buChar char="•"/>
            </a:pPr>
            <a:r>
              <a:rPr lang="en-US" sz="2386">
                <a:solidFill>
                  <a:srgbClr val="000000"/>
                </a:solidFill>
                <a:latin typeface="Arial"/>
                <a:ea typeface="Arial"/>
                <a:cs typeface="Arial"/>
                <a:sym typeface="Arial"/>
              </a:rPr>
              <a:t>Khi bắt đầu quá trình di chuyển, thời gian phản hồi bắt đầu tăng lên và dao động mạnh.</a:t>
            </a:r>
          </a:p>
          <a:p>
            <a:pPr marL="515284" lvl="1" indent="-257642" algn="l">
              <a:lnSpc>
                <a:spcPts val="2864"/>
              </a:lnSpc>
              <a:spcBef>
                <a:spcPct val="0"/>
              </a:spcBef>
              <a:buFont typeface="Arial"/>
              <a:buChar char="•"/>
            </a:pPr>
            <a:r>
              <a:rPr lang="en-US" sz="2386">
                <a:solidFill>
                  <a:srgbClr val="000000"/>
                </a:solidFill>
                <a:latin typeface="Arial"/>
                <a:ea typeface="Arial"/>
                <a:cs typeface="Arial"/>
                <a:sym typeface="Arial"/>
              </a:rPr>
              <a:t>Nguyên nhân là do hệ thống phải sao chép dữ liệu từ máy nguồn sang máy đích, làm tiêu tốn tài nguyên mạng và CPU.</a:t>
            </a:r>
          </a:p>
          <a:p>
            <a:pPr marL="515284" lvl="1" indent="-257642" algn="l">
              <a:lnSpc>
                <a:spcPts val="2864"/>
              </a:lnSpc>
              <a:spcBef>
                <a:spcPct val="0"/>
              </a:spcBef>
              <a:buFont typeface="Arial"/>
              <a:buChar char="•"/>
            </a:pPr>
            <a:r>
              <a:rPr lang="en-US" sz="2386">
                <a:solidFill>
                  <a:srgbClr val="000000"/>
                </a:solidFill>
                <a:latin typeface="Arial"/>
                <a:ea typeface="Arial"/>
                <a:cs typeface="Arial"/>
                <a:sym typeface="Arial"/>
              </a:rPr>
              <a:t>Trong giai đoạn này, ứng dụng vẫn chạy nhưng có thể bị chậm do việc truyền tải dữ liệu giữa hai máy.</a:t>
            </a:r>
          </a:p>
        </p:txBody>
      </p:sp>
    </p:spTree>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stretch>
              <a:fillRect/>
            </a:stretch>
          </a:blipFill>
        </p:spPr>
      </p:sp>
      <p:sp>
        <p:nvSpPr>
          <p:cNvPr id="3" name="TextBox 3"/>
          <p:cNvSpPr txBox="1"/>
          <p:nvPr/>
        </p:nvSpPr>
        <p:spPr>
          <a:xfrm>
            <a:off x="416704" y="288000"/>
            <a:ext cx="3154298" cy="581004"/>
          </a:xfrm>
          <a:prstGeom prst="rect">
            <a:avLst/>
          </a:prstGeom>
        </p:spPr>
        <p:txBody>
          <a:bodyPr lIns="0" tIns="0" rIns="0" bIns="0" rtlCol="0" anchor="t">
            <a:spAutoFit/>
          </a:bodyPr>
          <a:lstStyle/>
          <a:p>
            <a:pPr algn="ctr">
              <a:lnSpc>
                <a:spcPts val="4063"/>
              </a:lnSpc>
              <a:spcBef>
                <a:spcPct val="0"/>
              </a:spcBef>
            </a:pPr>
            <a:r>
              <a:rPr lang="en-US" sz="3386" b="1">
                <a:solidFill>
                  <a:srgbClr val="FFFF00"/>
                </a:solidFill>
                <a:latin typeface="Arial Bold"/>
                <a:ea typeface="Arial Bold"/>
                <a:cs typeface="Arial Bold"/>
                <a:sym typeface="Arial Bold"/>
              </a:rPr>
              <a:t>Code migration</a:t>
            </a:r>
          </a:p>
        </p:txBody>
      </p:sp>
      <p:sp>
        <p:nvSpPr>
          <p:cNvPr id="4" name="TextBox 4"/>
          <p:cNvSpPr txBox="1"/>
          <p:nvPr/>
        </p:nvSpPr>
        <p:spPr>
          <a:xfrm>
            <a:off x="57775" y="1128292"/>
            <a:ext cx="9695825" cy="5687112"/>
          </a:xfrm>
          <a:prstGeom prst="rect">
            <a:avLst/>
          </a:prstGeom>
        </p:spPr>
        <p:txBody>
          <a:bodyPr lIns="0" tIns="0" rIns="0" bIns="0" rtlCol="0" anchor="t">
            <a:spAutoFit/>
          </a:bodyPr>
          <a:lstStyle/>
          <a:p>
            <a:pPr algn="l">
              <a:lnSpc>
                <a:spcPts val="2797"/>
              </a:lnSpc>
              <a:spcBef>
                <a:spcPct val="0"/>
              </a:spcBef>
            </a:pPr>
            <a:endParaRPr/>
          </a:p>
          <a:p>
            <a:pPr algn="l">
              <a:lnSpc>
                <a:spcPts val="2797"/>
              </a:lnSpc>
              <a:spcBef>
                <a:spcPct val="0"/>
              </a:spcBef>
            </a:pPr>
            <a:r>
              <a:rPr lang="en-US" sz="2331" i="1">
                <a:solidFill>
                  <a:srgbClr val="000000"/>
                </a:solidFill>
                <a:latin typeface="Arial Italics"/>
                <a:ea typeface="Arial Italics"/>
                <a:cs typeface="Arial Italics"/>
                <a:sym typeface="Arial Italics"/>
              </a:rPr>
              <a:t>3. Thời gian gián đoạn dịch vụ ("Downtime")</a:t>
            </a:r>
          </a:p>
          <a:p>
            <a:pPr marL="503268" lvl="1" indent="-251634" algn="l">
              <a:lnSpc>
                <a:spcPts val="2797"/>
              </a:lnSpc>
              <a:spcBef>
                <a:spcPct val="0"/>
              </a:spcBef>
              <a:buFont typeface="Arial"/>
              <a:buChar char="•"/>
            </a:pPr>
            <a:r>
              <a:rPr lang="en-US" sz="2331">
                <a:solidFill>
                  <a:srgbClr val="000000"/>
                </a:solidFill>
                <a:latin typeface="Arial"/>
                <a:ea typeface="Arial"/>
                <a:cs typeface="Arial"/>
                <a:sym typeface="Arial"/>
              </a:rPr>
              <a:t>Đây là giai đoạn ngắn nhưng quan trọng, khi máy ảo tạm dừng hoàn toàn để hoàn tất việc chuyển dữ liệu cuối cùng sang máy đích.</a:t>
            </a:r>
          </a:p>
          <a:p>
            <a:pPr marL="503268" lvl="1" indent="-251634" algn="l">
              <a:lnSpc>
                <a:spcPts val="2797"/>
              </a:lnSpc>
              <a:spcBef>
                <a:spcPct val="0"/>
              </a:spcBef>
              <a:buFont typeface="Arial"/>
              <a:buChar char="•"/>
            </a:pPr>
            <a:r>
              <a:rPr lang="en-US" sz="2331">
                <a:solidFill>
                  <a:srgbClr val="000000"/>
                </a:solidFill>
                <a:latin typeface="Arial"/>
                <a:ea typeface="Arial"/>
                <a:cs typeface="Arial"/>
                <a:sym typeface="Arial"/>
              </a:rPr>
              <a:t>Trong thời gian này, hệ thống có thể không phản hồi, gây gián đoạn dịch vụ tạm thời.</a:t>
            </a:r>
          </a:p>
          <a:p>
            <a:pPr marL="503268" lvl="1" indent="-251634" algn="l">
              <a:lnSpc>
                <a:spcPts val="2797"/>
              </a:lnSpc>
              <a:spcBef>
                <a:spcPct val="0"/>
              </a:spcBef>
              <a:buFont typeface="Arial"/>
              <a:buChar char="•"/>
            </a:pPr>
            <a:r>
              <a:rPr lang="en-US" sz="2331">
                <a:solidFill>
                  <a:srgbClr val="000000"/>
                </a:solidFill>
                <a:latin typeface="Arial"/>
                <a:ea typeface="Arial"/>
                <a:cs typeface="Arial"/>
                <a:sym typeface="Arial"/>
              </a:rPr>
              <a:t>Trên đồ thị, downtime được biểu diễn bằng một đoạn ngắn nhưng có biên độ lớn, cho thấy thời gian phản hồi tăng vọt và có thể dịch vụ bị ngừng hoạt động trong khoảng thời gian này.</a:t>
            </a:r>
          </a:p>
          <a:p>
            <a:pPr algn="l">
              <a:lnSpc>
                <a:spcPts val="2797"/>
              </a:lnSpc>
              <a:spcBef>
                <a:spcPct val="0"/>
              </a:spcBef>
            </a:pPr>
            <a:r>
              <a:rPr lang="en-US" sz="2331" i="1">
                <a:solidFill>
                  <a:srgbClr val="000000"/>
                </a:solidFill>
                <a:latin typeface="Arial Italics"/>
                <a:ea typeface="Arial Italics"/>
                <a:cs typeface="Arial Italics"/>
                <a:sym typeface="Arial Italics"/>
              </a:rPr>
              <a:t>4. Giai đoạn sau khi di chuyển (Sau "Migration")</a:t>
            </a:r>
          </a:p>
          <a:p>
            <a:pPr marL="503268" lvl="1" indent="-251634" algn="l">
              <a:lnSpc>
                <a:spcPts val="2797"/>
              </a:lnSpc>
              <a:spcBef>
                <a:spcPct val="0"/>
              </a:spcBef>
              <a:buFont typeface="Arial"/>
              <a:buChar char="•"/>
            </a:pPr>
            <a:r>
              <a:rPr lang="en-US" sz="2331">
                <a:solidFill>
                  <a:srgbClr val="000000"/>
                </a:solidFill>
                <a:latin typeface="Arial"/>
                <a:ea typeface="Arial"/>
                <a:cs typeface="Arial"/>
                <a:sym typeface="Arial"/>
              </a:rPr>
              <a:t>Khi quá trình di chuyển kết thúc, thời gian phản hồi có một đỉnh nhọn, thể hiện hệ thống đang khôi phục lại hoạt động bình thường.</a:t>
            </a:r>
          </a:p>
          <a:p>
            <a:pPr marL="503268" lvl="1" indent="-251634" algn="l">
              <a:lnSpc>
                <a:spcPts val="2797"/>
              </a:lnSpc>
              <a:spcBef>
                <a:spcPct val="0"/>
              </a:spcBef>
              <a:buFont typeface="Arial"/>
              <a:buChar char="•"/>
            </a:pPr>
            <a:r>
              <a:rPr lang="en-US" sz="2331">
                <a:solidFill>
                  <a:srgbClr val="000000"/>
                </a:solidFill>
                <a:latin typeface="Arial"/>
                <a:ea typeface="Arial"/>
                <a:cs typeface="Arial"/>
                <a:sym typeface="Arial"/>
              </a:rPr>
              <a:t>Điều này có thể do các quá trình tái khởi động dịch vụ hoặc điều chỉnh lại tài nguyên trên máy đích.</a:t>
            </a:r>
          </a:p>
          <a:p>
            <a:pPr marL="503268" lvl="1" indent="-251634" algn="l">
              <a:lnSpc>
                <a:spcPts val="2797"/>
              </a:lnSpc>
              <a:spcBef>
                <a:spcPct val="0"/>
              </a:spcBef>
              <a:buFont typeface="Arial"/>
              <a:buChar char="•"/>
            </a:pPr>
            <a:r>
              <a:rPr lang="en-US" sz="2331">
                <a:solidFill>
                  <a:srgbClr val="000000"/>
                </a:solidFill>
                <a:latin typeface="Arial"/>
                <a:ea typeface="Arial"/>
                <a:cs typeface="Arial"/>
                <a:sym typeface="Arial"/>
              </a:rPr>
              <a:t>Sau một khoảng thời gian ngắn, hệ thống trở lại trạng thái ổn định, với thời gian phản hồi giống như ban đầu.</a:t>
            </a:r>
          </a:p>
        </p:txBody>
      </p:sp>
    </p:spTree>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753600" cy="7315200"/>
            <a:chOff x="0" y="0"/>
            <a:chExt cx="13004800" cy="9753600"/>
          </a:xfrm>
        </p:grpSpPr>
        <p:sp>
          <p:nvSpPr>
            <p:cNvPr id="3" name="Freeform 3"/>
            <p:cNvSpPr/>
            <p:nvPr/>
          </p:nvSpPr>
          <p:spPr>
            <a:xfrm>
              <a:off x="0" y="0"/>
              <a:ext cx="13004800" cy="9753600"/>
            </a:xfrm>
            <a:custGeom>
              <a:avLst/>
              <a:gdLst/>
              <a:ahLst/>
              <a:cxnLst/>
              <a:rect l="l" t="t" r="r" b="b"/>
              <a:pathLst>
                <a:path w="13004800" h="9753600">
                  <a:moveTo>
                    <a:pt x="0" y="0"/>
                  </a:moveTo>
                  <a:lnTo>
                    <a:pt x="13004800" y="0"/>
                  </a:lnTo>
                  <a:lnTo>
                    <a:pt x="13004800" y="9753600"/>
                  </a:lnTo>
                  <a:lnTo>
                    <a:pt x="0" y="9753600"/>
                  </a:lnTo>
                  <a:close/>
                </a:path>
              </a:pathLst>
            </a:custGeom>
            <a:solidFill>
              <a:srgbClr val="FFFFFF"/>
            </a:solidFill>
          </p:spPr>
        </p:sp>
      </p:grpSp>
      <p:grpSp>
        <p:nvGrpSpPr>
          <p:cNvPr id="4" name="Group 4"/>
          <p:cNvGrpSpPr/>
          <p:nvPr/>
        </p:nvGrpSpPr>
        <p:grpSpPr>
          <a:xfrm>
            <a:off x="0" y="0"/>
            <a:ext cx="9751163" cy="7315200"/>
            <a:chOff x="0" y="0"/>
            <a:chExt cx="13001550" cy="9753600"/>
          </a:xfrm>
        </p:grpSpPr>
        <p:sp>
          <p:nvSpPr>
            <p:cNvPr id="5" name="Freeform 5"/>
            <p:cNvSpPr/>
            <p:nvPr/>
          </p:nvSpPr>
          <p:spPr>
            <a:xfrm>
              <a:off x="0" y="0"/>
              <a:ext cx="13001498" cy="9753600"/>
            </a:xfrm>
            <a:custGeom>
              <a:avLst/>
              <a:gdLst/>
              <a:ahLst/>
              <a:cxnLst/>
              <a:rect l="l" t="t" r="r" b="b"/>
              <a:pathLst>
                <a:path w="13001498" h="9753600">
                  <a:moveTo>
                    <a:pt x="0" y="0"/>
                  </a:moveTo>
                  <a:lnTo>
                    <a:pt x="13001498" y="0"/>
                  </a:lnTo>
                  <a:lnTo>
                    <a:pt x="13001498" y="9753600"/>
                  </a:lnTo>
                  <a:lnTo>
                    <a:pt x="0" y="9753600"/>
                  </a:lnTo>
                  <a:close/>
                </a:path>
              </a:pathLst>
            </a:custGeom>
            <a:solidFill>
              <a:srgbClr val="FFFFFF"/>
            </a:solidFill>
          </p:spPr>
        </p:sp>
      </p:grpSp>
      <p:grpSp>
        <p:nvGrpSpPr>
          <p:cNvPr id="6" name="Group 6"/>
          <p:cNvGrpSpPr/>
          <p:nvPr/>
        </p:nvGrpSpPr>
        <p:grpSpPr>
          <a:xfrm rot="5400000">
            <a:off x="-2042467" y="2042466"/>
            <a:ext cx="7315200" cy="3230269"/>
            <a:chOff x="0" y="0"/>
            <a:chExt cx="9753600" cy="4307025"/>
          </a:xfrm>
        </p:grpSpPr>
        <p:sp>
          <p:nvSpPr>
            <p:cNvPr id="7" name="Freeform 7"/>
            <p:cNvSpPr/>
            <p:nvPr/>
          </p:nvSpPr>
          <p:spPr>
            <a:xfrm>
              <a:off x="0" y="0"/>
              <a:ext cx="9753600" cy="4307078"/>
            </a:xfrm>
            <a:custGeom>
              <a:avLst/>
              <a:gdLst/>
              <a:ahLst/>
              <a:cxnLst/>
              <a:rect l="l" t="t" r="r" b="b"/>
              <a:pathLst>
                <a:path w="9753600" h="4307078">
                  <a:moveTo>
                    <a:pt x="9753600" y="0"/>
                  </a:moveTo>
                  <a:lnTo>
                    <a:pt x="0" y="0"/>
                  </a:lnTo>
                  <a:lnTo>
                    <a:pt x="0" y="4307078"/>
                  </a:lnTo>
                  <a:lnTo>
                    <a:pt x="9753600" y="4307078"/>
                  </a:lnTo>
                  <a:close/>
                </a:path>
              </a:pathLst>
            </a:custGeom>
            <a:gradFill rotWithShape="1">
              <a:gsLst>
                <a:gs pos="0">
                  <a:srgbClr val="000000">
                    <a:alpha val="100000"/>
                  </a:srgbClr>
                </a:gs>
                <a:gs pos="8000">
                  <a:srgbClr val="000000">
                    <a:alpha val="100000"/>
                  </a:srgbClr>
                </a:gs>
                <a:gs pos="100000">
                  <a:srgbClr val="366092">
                    <a:alpha val="100000"/>
                  </a:srgbClr>
                </a:gs>
              </a:gsLst>
              <a:lin ang="19200000"/>
            </a:gradFill>
          </p:spPr>
        </p:sp>
      </p:grpSp>
      <p:grpSp>
        <p:nvGrpSpPr>
          <p:cNvPr id="8" name="Group 8"/>
          <p:cNvGrpSpPr/>
          <p:nvPr/>
        </p:nvGrpSpPr>
        <p:grpSpPr>
          <a:xfrm rot="5400000">
            <a:off x="-2042468" y="2053279"/>
            <a:ext cx="7315199" cy="3230271"/>
            <a:chOff x="0" y="0"/>
            <a:chExt cx="9753599" cy="4307028"/>
          </a:xfrm>
        </p:grpSpPr>
        <p:sp>
          <p:nvSpPr>
            <p:cNvPr id="9" name="Freeform 9"/>
            <p:cNvSpPr/>
            <p:nvPr/>
          </p:nvSpPr>
          <p:spPr>
            <a:xfrm>
              <a:off x="0" y="0"/>
              <a:ext cx="9753600" cy="4307078"/>
            </a:xfrm>
            <a:custGeom>
              <a:avLst/>
              <a:gdLst/>
              <a:ahLst/>
              <a:cxnLst/>
              <a:rect l="l" t="t" r="r" b="b"/>
              <a:pathLst>
                <a:path w="9753600" h="4307078">
                  <a:moveTo>
                    <a:pt x="9753600" y="0"/>
                  </a:moveTo>
                  <a:lnTo>
                    <a:pt x="0" y="0"/>
                  </a:lnTo>
                  <a:lnTo>
                    <a:pt x="0" y="4307078"/>
                  </a:lnTo>
                  <a:lnTo>
                    <a:pt x="9753600" y="4307078"/>
                  </a:lnTo>
                  <a:close/>
                </a:path>
              </a:pathLst>
            </a:custGeom>
            <a:gradFill rotWithShape="1">
              <a:gsLst>
                <a:gs pos="0">
                  <a:srgbClr val="000000">
                    <a:alpha val="0"/>
                  </a:srgbClr>
                </a:gs>
                <a:gs pos="99000">
                  <a:srgbClr val="4F81BD">
                    <a:alpha val="45882"/>
                  </a:srgbClr>
                </a:gs>
                <a:gs pos="100000">
                  <a:srgbClr val="4F81BD">
                    <a:alpha val="45882"/>
                  </a:srgbClr>
                </a:gs>
              </a:gsLst>
              <a:lin ang="18000000"/>
            </a:gradFill>
          </p:spPr>
        </p:sp>
      </p:grpSp>
      <p:grpSp>
        <p:nvGrpSpPr>
          <p:cNvPr id="10" name="Group 10"/>
          <p:cNvGrpSpPr/>
          <p:nvPr/>
        </p:nvGrpSpPr>
        <p:grpSpPr>
          <a:xfrm rot="5400000">
            <a:off x="280742" y="4365670"/>
            <a:ext cx="2668778" cy="3230273"/>
            <a:chOff x="0" y="0"/>
            <a:chExt cx="3558370" cy="4307031"/>
          </a:xfrm>
        </p:grpSpPr>
        <p:sp>
          <p:nvSpPr>
            <p:cNvPr id="11" name="Freeform 11"/>
            <p:cNvSpPr/>
            <p:nvPr/>
          </p:nvSpPr>
          <p:spPr>
            <a:xfrm>
              <a:off x="0" y="0"/>
              <a:ext cx="3558413" cy="4307078"/>
            </a:xfrm>
            <a:custGeom>
              <a:avLst/>
              <a:gdLst/>
              <a:ahLst/>
              <a:cxnLst/>
              <a:rect l="l" t="t" r="r" b="b"/>
              <a:pathLst>
                <a:path w="3558413" h="4307078">
                  <a:moveTo>
                    <a:pt x="3558413" y="0"/>
                  </a:moveTo>
                  <a:lnTo>
                    <a:pt x="0" y="0"/>
                  </a:lnTo>
                  <a:lnTo>
                    <a:pt x="0" y="4307078"/>
                  </a:lnTo>
                  <a:lnTo>
                    <a:pt x="3558413" y="4307078"/>
                  </a:lnTo>
                  <a:close/>
                </a:path>
              </a:pathLst>
            </a:custGeom>
            <a:gradFill rotWithShape="1">
              <a:gsLst>
                <a:gs pos="0">
                  <a:srgbClr val="4F81BD">
                    <a:alpha val="28627"/>
                  </a:srgbClr>
                </a:gs>
                <a:gs pos="2000">
                  <a:srgbClr val="4F81BD">
                    <a:alpha val="28627"/>
                  </a:srgbClr>
                </a:gs>
                <a:gs pos="100000">
                  <a:srgbClr val="000000">
                    <a:alpha val="29803"/>
                  </a:srgbClr>
                </a:gs>
              </a:gsLst>
              <a:lin ang="2400000"/>
            </a:gradFill>
          </p:spPr>
        </p:sp>
      </p:grpSp>
      <p:grpSp>
        <p:nvGrpSpPr>
          <p:cNvPr id="12" name="Group 12"/>
          <p:cNvGrpSpPr/>
          <p:nvPr/>
        </p:nvGrpSpPr>
        <p:grpSpPr>
          <a:xfrm rot="-964587">
            <a:off x="-401389" y="1034366"/>
            <a:ext cx="3120285" cy="4457556"/>
            <a:chOff x="0" y="0"/>
            <a:chExt cx="4160380" cy="5943408"/>
          </a:xfrm>
        </p:grpSpPr>
        <p:sp>
          <p:nvSpPr>
            <p:cNvPr id="13" name="Freeform 13"/>
            <p:cNvSpPr/>
            <p:nvPr/>
          </p:nvSpPr>
          <p:spPr>
            <a:xfrm>
              <a:off x="0" y="0"/>
              <a:ext cx="4160393" cy="5943346"/>
            </a:xfrm>
            <a:custGeom>
              <a:avLst/>
              <a:gdLst/>
              <a:ahLst/>
              <a:cxnLst/>
              <a:rect l="l" t="t" r="r" b="b"/>
              <a:pathLst>
                <a:path w="4160393" h="5943346">
                  <a:moveTo>
                    <a:pt x="2594356" y="133604"/>
                  </a:moveTo>
                  <a:cubicBezTo>
                    <a:pt x="3501644" y="509905"/>
                    <a:pt x="4160393" y="1638173"/>
                    <a:pt x="4160393" y="2971673"/>
                  </a:cubicBezTo>
                  <a:cubicBezTo>
                    <a:pt x="4160393" y="4612894"/>
                    <a:pt x="3162554" y="5943346"/>
                    <a:pt x="1931670" y="5943346"/>
                  </a:cubicBezTo>
                  <a:cubicBezTo>
                    <a:pt x="1162304" y="5943346"/>
                    <a:pt x="484124" y="5423662"/>
                    <a:pt x="83566" y="4633087"/>
                  </a:cubicBezTo>
                  <a:lnTo>
                    <a:pt x="0" y="4450080"/>
                  </a:lnTo>
                  <a:lnTo>
                    <a:pt x="886714" y="347472"/>
                  </a:lnTo>
                  <a:lnTo>
                    <a:pt x="1064006" y="233553"/>
                  </a:lnTo>
                  <a:cubicBezTo>
                    <a:pt x="1330706" y="83185"/>
                    <a:pt x="1623822" y="0"/>
                    <a:pt x="1931543" y="0"/>
                  </a:cubicBezTo>
                  <a:cubicBezTo>
                    <a:pt x="2162302" y="0"/>
                    <a:pt x="2384933" y="46736"/>
                    <a:pt x="2594356" y="133604"/>
                  </a:cubicBezTo>
                  <a:close/>
                </a:path>
              </a:pathLst>
            </a:custGeom>
            <a:gradFill rotWithShape="1">
              <a:gsLst>
                <a:gs pos="0">
                  <a:srgbClr val="000000">
                    <a:alpha val="0"/>
                  </a:srgbClr>
                </a:gs>
                <a:gs pos="29000">
                  <a:srgbClr val="000000">
                    <a:alpha val="0"/>
                  </a:srgbClr>
                </a:gs>
                <a:gs pos="100000">
                  <a:srgbClr val="4F81BD">
                    <a:alpha val="42745"/>
                  </a:srgbClr>
                </a:gs>
              </a:gsLst>
              <a:lin ang="2764587"/>
            </a:gradFill>
          </p:spPr>
        </p:sp>
      </p:grpSp>
      <p:grpSp>
        <p:nvGrpSpPr>
          <p:cNvPr id="14" name="Group 14"/>
          <p:cNvGrpSpPr/>
          <p:nvPr/>
        </p:nvGrpSpPr>
        <p:grpSpPr>
          <a:xfrm rot="5400000">
            <a:off x="-2042475" y="2031650"/>
            <a:ext cx="7315203" cy="3230268"/>
            <a:chOff x="0" y="0"/>
            <a:chExt cx="9753604" cy="4307024"/>
          </a:xfrm>
        </p:grpSpPr>
        <p:sp>
          <p:nvSpPr>
            <p:cNvPr id="15" name="Freeform 15"/>
            <p:cNvSpPr/>
            <p:nvPr/>
          </p:nvSpPr>
          <p:spPr>
            <a:xfrm>
              <a:off x="0" y="0"/>
              <a:ext cx="9753600" cy="4307078"/>
            </a:xfrm>
            <a:custGeom>
              <a:avLst/>
              <a:gdLst/>
              <a:ahLst/>
              <a:cxnLst/>
              <a:rect l="l" t="t" r="r" b="b"/>
              <a:pathLst>
                <a:path w="9753600" h="4307078">
                  <a:moveTo>
                    <a:pt x="9753600" y="0"/>
                  </a:moveTo>
                  <a:lnTo>
                    <a:pt x="0" y="0"/>
                  </a:lnTo>
                  <a:lnTo>
                    <a:pt x="0" y="4307078"/>
                  </a:lnTo>
                  <a:lnTo>
                    <a:pt x="9753600" y="4307078"/>
                  </a:lnTo>
                  <a:close/>
                </a:path>
              </a:pathLst>
            </a:custGeom>
            <a:gradFill rotWithShape="1">
              <a:gsLst>
                <a:gs pos="0">
                  <a:srgbClr val="000000">
                    <a:alpha val="0"/>
                  </a:srgbClr>
                </a:gs>
                <a:gs pos="99000">
                  <a:srgbClr val="93B3D7">
                    <a:alpha val="10980"/>
                  </a:srgbClr>
                </a:gs>
                <a:gs pos="100000">
                  <a:srgbClr val="93B3D7">
                    <a:alpha val="10980"/>
                  </a:srgbClr>
                </a:gs>
              </a:gsLst>
              <a:lin ang="1800000"/>
            </a:gradFill>
          </p:spPr>
        </p:sp>
      </p:grpSp>
      <p:grpSp>
        <p:nvGrpSpPr>
          <p:cNvPr id="16" name="Group 16"/>
          <p:cNvGrpSpPr/>
          <p:nvPr/>
        </p:nvGrpSpPr>
        <p:grpSpPr>
          <a:xfrm>
            <a:off x="373378" y="625981"/>
            <a:ext cx="2561093" cy="3613330"/>
            <a:chOff x="0" y="0"/>
            <a:chExt cx="3414791" cy="4817774"/>
          </a:xfrm>
        </p:grpSpPr>
        <p:sp>
          <p:nvSpPr>
            <p:cNvPr id="17" name="Freeform 17"/>
            <p:cNvSpPr/>
            <p:nvPr/>
          </p:nvSpPr>
          <p:spPr>
            <a:xfrm>
              <a:off x="0" y="0"/>
              <a:ext cx="3414791" cy="4817773"/>
            </a:xfrm>
            <a:custGeom>
              <a:avLst/>
              <a:gdLst/>
              <a:ahLst/>
              <a:cxnLst/>
              <a:rect l="l" t="t" r="r" b="b"/>
              <a:pathLst>
                <a:path w="3414791" h="4817773">
                  <a:moveTo>
                    <a:pt x="0" y="0"/>
                  </a:moveTo>
                  <a:lnTo>
                    <a:pt x="3414791" y="0"/>
                  </a:lnTo>
                  <a:lnTo>
                    <a:pt x="3414791" y="4817773"/>
                  </a:lnTo>
                  <a:lnTo>
                    <a:pt x="0" y="4817773"/>
                  </a:lnTo>
                  <a:close/>
                </a:path>
              </a:pathLst>
            </a:custGeom>
            <a:solidFill>
              <a:srgbClr val="000000">
                <a:alpha val="0"/>
              </a:srgbClr>
            </a:solidFill>
          </p:spPr>
        </p:sp>
        <p:sp>
          <p:nvSpPr>
            <p:cNvPr id="18" name="TextBox 18"/>
            <p:cNvSpPr txBox="1"/>
            <p:nvPr/>
          </p:nvSpPr>
          <p:spPr>
            <a:xfrm>
              <a:off x="0" y="-66675"/>
              <a:ext cx="3414791" cy="4884449"/>
            </a:xfrm>
            <a:prstGeom prst="rect">
              <a:avLst/>
            </a:prstGeom>
          </p:spPr>
          <p:txBody>
            <a:bodyPr lIns="0" tIns="0" rIns="0" bIns="0" rtlCol="0" anchor="b"/>
            <a:lstStyle/>
            <a:p>
              <a:pPr algn="r">
                <a:lnSpc>
                  <a:spcPts val="4479"/>
                </a:lnSpc>
              </a:pPr>
              <a:r>
                <a:rPr lang="en-US" sz="3733" b="1">
                  <a:solidFill>
                    <a:srgbClr val="FFFFFF"/>
                  </a:solidFill>
                  <a:latin typeface="Arial Bold"/>
                  <a:ea typeface="Arial Bold"/>
                  <a:cs typeface="Arial Bold"/>
                  <a:sym typeface="Arial Bold"/>
                </a:rPr>
                <a:t>CẢM ƠN MỌI NGƯỜI ĐÃ LẮNG NGHE!!!</a:t>
              </a:r>
            </a:p>
          </p:txBody>
        </p:sp>
      </p:grpSp>
      <p:grpSp>
        <p:nvGrpSpPr>
          <p:cNvPr id="19" name="Group 19"/>
          <p:cNvGrpSpPr/>
          <p:nvPr/>
        </p:nvGrpSpPr>
        <p:grpSpPr>
          <a:xfrm>
            <a:off x="3848207" y="692781"/>
            <a:ext cx="5244278" cy="5915783"/>
            <a:chOff x="0" y="0"/>
            <a:chExt cx="6992371" cy="7887711"/>
          </a:xfrm>
        </p:grpSpPr>
        <p:sp>
          <p:nvSpPr>
            <p:cNvPr id="20" name="Freeform 20"/>
            <p:cNvSpPr/>
            <p:nvPr/>
          </p:nvSpPr>
          <p:spPr>
            <a:xfrm>
              <a:off x="0" y="0"/>
              <a:ext cx="6992371" cy="7887712"/>
            </a:xfrm>
            <a:custGeom>
              <a:avLst/>
              <a:gdLst/>
              <a:ahLst/>
              <a:cxnLst/>
              <a:rect l="l" t="t" r="r" b="b"/>
              <a:pathLst>
                <a:path w="6992371" h="7887712">
                  <a:moveTo>
                    <a:pt x="0" y="0"/>
                  </a:moveTo>
                  <a:lnTo>
                    <a:pt x="6992371" y="0"/>
                  </a:lnTo>
                  <a:lnTo>
                    <a:pt x="6992371" y="7887712"/>
                  </a:lnTo>
                  <a:lnTo>
                    <a:pt x="0" y="7887712"/>
                  </a:lnTo>
                  <a:close/>
                </a:path>
              </a:pathLst>
            </a:custGeom>
            <a:solidFill>
              <a:srgbClr val="000000">
                <a:alpha val="0"/>
              </a:srgbClr>
            </a:solidFill>
          </p:spPr>
        </p:sp>
        <p:sp>
          <p:nvSpPr>
            <p:cNvPr id="21" name="TextBox 21"/>
            <p:cNvSpPr txBox="1"/>
            <p:nvPr/>
          </p:nvSpPr>
          <p:spPr>
            <a:xfrm>
              <a:off x="0" y="-47625"/>
              <a:ext cx="6992371" cy="7935336"/>
            </a:xfrm>
            <a:prstGeom prst="rect">
              <a:avLst/>
            </a:prstGeom>
          </p:spPr>
          <p:txBody>
            <a:bodyPr lIns="0" tIns="0" rIns="0" bIns="0" rtlCol="0" anchor="ctr"/>
            <a:lstStyle/>
            <a:p>
              <a:pPr algn="ctr">
                <a:lnSpc>
                  <a:spcPts val="2560"/>
                </a:lnSpc>
              </a:pPr>
              <a:r>
                <a:rPr lang="en-US" sz="2133" b="1">
                  <a:solidFill>
                    <a:srgbClr val="FF0000"/>
                  </a:solidFill>
                  <a:latin typeface="Arial Bold"/>
                  <a:ea typeface="Arial Bold"/>
                  <a:cs typeface="Arial Bold"/>
                  <a:sym typeface="Arial Bold"/>
                </a:rPr>
                <a:t>THANKS FOR WATCHING AND LISTENNING!!!!</a:t>
              </a:r>
            </a:p>
            <a:p>
              <a:pPr algn="l">
                <a:lnSpc>
                  <a:spcPts val="2560"/>
                </a:lnSpc>
              </a:pPr>
              <a:endParaRPr lang="en-US" sz="2133" b="1">
                <a:solidFill>
                  <a:srgbClr val="FF0000"/>
                </a:solidFill>
                <a:latin typeface="Arial Bold"/>
                <a:ea typeface="Arial Bold"/>
                <a:cs typeface="Arial Bold"/>
                <a:sym typeface="Arial Bold"/>
              </a:endParaRPr>
            </a:p>
          </p:txBody>
        </p:sp>
      </p:grpSp>
      <p:grpSp>
        <p:nvGrpSpPr>
          <p:cNvPr id="22" name="Group 22"/>
          <p:cNvGrpSpPr/>
          <p:nvPr/>
        </p:nvGrpSpPr>
        <p:grpSpPr>
          <a:xfrm>
            <a:off x="9363456" y="6886042"/>
            <a:ext cx="358446" cy="389467"/>
            <a:chOff x="0" y="0"/>
            <a:chExt cx="477928" cy="519289"/>
          </a:xfrm>
        </p:grpSpPr>
        <p:sp>
          <p:nvSpPr>
            <p:cNvPr id="23" name="Freeform 23"/>
            <p:cNvSpPr/>
            <p:nvPr/>
          </p:nvSpPr>
          <p:spPr>
            <a:xfrm>
              <a:off x="0" y="0"/>
              <a:ext cx="477928" cy="519289"/>
            </a:xfrm>
            <a:custGeom>
              <a:avLst/>
              <a:gdLst/>
              <a:ahLst/>
              <a:cxnLst/>
              <a:rect l="l" t="t" r="r" b="b"/>
              <a:pathLst>
                <a:path w="477928" h="519289">
                  <a:moveTo>
                    <a:pt x="0" y="0"/>
                  </a:moveTo>
                  <a:lnTo>
                    <a:pt x="477928" y="0"/>
                  </a:lnTo>
                  <a:lnTo>
                    <a:pt x="477928" y="519289"/>
                  </a:lnTo>
                  <a:lnTo>
                    <a:pt x="0" y="519289"/>
                  </a:lnTo>
                  <a:close/>
                </a:path>
              </a:pathLst>
            </a:custGeom>
            <a:solidFill>
              <a:srgbClr val="000000">
                <a:alpha val="0"/>
              </a:srgbClr>
            </a:solidFill>
          </p:spPr>
        </p:sp>
        <p:sp>
          <p:nvSpPr>
            <p:cNvPr id="24" name="TextBox 24"/>
            <p:cNvSpPr txBox="1"/>
            <p:nvPr/>
          </p:nvSpPr>
          <p:spPr>
            <a:xfrm>
              <a:off x="0" y="-28575"/>
              <a:ext cx="477928" cy="547864"/>
            </a:xfrm>
            <a:prstGeom prst="rect">
              <a:avLst/>
            </a:prstGeom>
          </p:spPr>
          <p:txBody>
            <a:bodyPr lIns="0" tIns="0" rIns="0" bIns="0" rtlCol="0" anchor="ctr"/>
            <a:lstStyle/>
            <a:p>
              <a:pPr algn="r">
                <a:lnSpc>
                  <a:spcPts val="1280"/>
                </a:lnSpc>
              </a:pPr>
              <a:r>
                <a:rPr lang="en-US" sz="1066">
                  <a:solidFill>
                    <a:srgbClr val="7F7F7F"/>
                  </a:solidFill>
                  <a:latin typeface="Arial"/>
                  <a:ea typeface="Arial"/>
                  <a:cs typeface="Arial"/>
                  <a:sym typeface="Arial"/>
                </a:rPr>
                <a:t>34</a:t>
              </a:r>
            </a:p>
          </p:txBody>
        </p:sp>
      </p:gr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TotalTime>
  <Words>8157</Words>
  <Application>Microsoft Office PowerPoint</Application>
  <PresentationFormat>Custom</PresentationFormat>
  <Paragraphs>769</Paragraphs>
  <Slides>88</Slides>
  <Notes>72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88</vt:i4>
      </vt:variant>
    </vt:vector>
  </HeadingPairs>
  <TitlesOfParts>
    <vt:vector size="96" baseType="lpstr">
      <vt:lpstr>Menlo</vt:lpstr>
      <vt:lpstr>Arial Bold</vt:lpstr>
      <vt:lpstr>Arial Bold Italics</vt:lpstr>
      <vt:lpstr>Calibri</vt:lpstr>
      <vt:lpstr>Arial Italics</vt:lpstr>
      <vt:lpstr>Courier New</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HTPT_chuong3.pptx</dc:title>
  <dc:creator>Admin</dc:creator>
  <cp:lastModifiedBy>DƯƠNG XUÂN BÁCH</cp:lastModifiedBy>
  <cp:revision>2</cp:revision>
  <dcterms:created xsi:type="dcterms:W3CDTF">2006-08-16T00:00:00Z</dcterms:created>
  <dcterms:modified xsi:type="dcterms:W3CDTF">2025-02-16T20:26:40Z</dcterms:modified>
  <dc:identifier>DAGfO8UFJBU</dc:identifier>
</cp:coreProperties>
</file>