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4597400" cy="3454400"/>
  <p:notesSz cx="4597400" cy="3454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9" d="100"/>
          <a:sy n="159" d="100"/>
        </p:scale>
        <p:origin x="1536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4805" y="1070864"/>
            <a:ext cx="3907790" cy="7254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3333B3"/>
                </a:solidFill>
                <a:latin typeface="Noto Sans Mono"/>
                <a:cs typeface="Noto Sans Mon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9610" y="1934464"/>
            <a:ext cx="3218180" cy="863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3333B3"/>
                </a:solidFill>
                <a:latin typeface="Noto Sans Mono"/>
                <a:cs typeface="Noto Sans Mon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3333B3"/>
                </a:solidFill>
                <a:latin typeface="Noto Sans Mono"/>
                <a:cs typeface="Noto Sans Mon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29870" y="794512"/>
            <a:ext cx="1999869" cy="2279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67661" y="794512"/>
            <a:ext cx="1999869" cy="2279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3333B3"/>
                </a:solidFill>
                <a:latin typeface="Noto Sans Mono"/>
                <a:cs typeface="Noto Sans Mon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3022" y="799273"/>
            <a:ext cx="1443355" cy="192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3333B3"/>
                </a:solidFill>
                <a:latin typeface="Noto Sans Mono"/>
                <a:cs typeface="Noto Sans Mon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9870" y="794512"/>
            <a:ext cx="4137660" cy="2279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3116" y="3212592"/>
            <a:ext cx="1471168" cy="17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29870" y="3212592"/>
            <a:ext cx="1057402" cy="17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0128" y="3212592"/>
            <a:ext cx="1057402" cy="17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BucketName.s3.amazonaws.com/ObjectNam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4098" y="1085584"/>
            <a:ext cx="121856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(Phiên bản thứ 4, phiên bản </a:t>
            </a:r>
            <a:r>
              <a:rPr sz="500" spc="-25" dirty="0">
                <a:solidFill>
                  <a:srgbClr val="3333B3"/>
                </a:solidFill>
                <a:latin typeface="Noto Sans Mono"/>
                <a:cs typeface="Noto Sans Mono"/>
              </a:rPr>
              <a:t>01)</a:t>
            </a:r>
            <a:endParaRPr sz="500" dirty="0">
              <a:latin typeface="Noto Sans Mono"/>
              <a:cs typeface="Noto Sans Mo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252" y="2457105"/>
            <a:ext cx="1694180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Noto Sans Mono"/>
                <a:cs typeface="Noto Sans Mono"/>
              </a:rPr>
              <a:t>Chương</a:t>
            </a:r>
            <a:r>
              <a:rPr sz="1100" spc="-35" dirty="0">
                <a:latin typeface="Noto Sans Mono"/>
                <a:cs typeface="Noto Sans Mono"/>
              </a:rPr>
              <a:t> </a:t>
            </a:r>
            <a:r>
              <a:rPr sz="1100" dirty="0">
                <a:latin typeface="Noto Sans Mono"/>
                <a:cs typeface="Noto Sans Mono"/>
              </a:rPr>
              <a:t>02:</a:t>
            </a:r>
            <a:r>
              <a:rPr sz="1100" spc="-35" dirty="0">
                <a:latin typeface="Noto Sans Mono"/>
                <a:cs typeface="Noto Sans Mono"/>
              </a:rPr>
              <a:t> </a:t>
            </a:r>
            <a:r>
              <a:rPr sz="1100" dirty="0">
                <a:latin typeface="Noto Sans Mono"/>
                <a:cs typeface="Noto Sans Mono"/>
              </a:rPr>
              <a:t>Kiến</a:t>
            </a:r>
            <a:r>
              <a:rPr sz="1100" spc="-35" dirty="0">
                <a:latin typeface="Noto Sans Mono"/>
                <a:cs typeface="Noto Sans Mono"/>
              </a:rPr>
              <a:t> </a:t>
            </a:r>
            <a:r>
              <a:rPr sz="1100" spc="-20" dirty="0">
                <a:latin typeface="Noto Sans Mono"/>
                <a:cs typeface="Noto Sans Mono"/>
              </a:rPr>
              <a:t>trúc</a:t>
            </a:r>
            <a:endParaRPr sz="11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Hệ</a:t>
            </a:r>
            <a:r>
              <a:rPr spc="-30" dirty="0"/>
              <a:t> </a:t>
            </a:r>
            <a:r>
              <a:rPr dirty="0"/>
              <a:t>thống</a:t>
            </a:r>
            <a:r>
              <a:rPr spc="-30" dirty="0"/>
              <a:t> </a:t>
            </a:r>
            <a:r>
              <a:rPr dirty="0"/>
              <a:t>phân</a:t>
            </a:r>
            <a:r>
              <a:rPr spc="-30" dirty="0"/>
              <a:t> </a:t>
            </a:r>
            <a:r>
              <a:rPr spc="-25" dirty="0"/>
              <a:t>tán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590" y="7971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10" dirty="0">
                <a:latin typeface="Arial"/>
                <a:cs typeface="Arial"/>
              </a:rPr>
              <a:t>Machine</a:t>
            </a:r>
            <a:r>
              <a:rPr sz="350" spc="1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Translated</a:t>
            </a:r>
            <a:r>
              <a:rPr sz="350" spc="1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1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627" y="244704"/>
            <a:ext cx="1306830" cy="15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Phong</a:t>
            </a:r>
            <a:r>
              <a:rPr sz="850" spc="-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cách</a:t>
            </a:r>
            <a:r>
              <a:rPr sz="850" spc="-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kiến</a:t>
            </a:r>
            <a:r>
              <a:rPr sz="850" spc="-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0" dirty="0">
                <a:solidFill>
                  <a:srgbClr val="3333B3"/>
                </a:solidFill>
                <a:latin typeface="Noto Sans Mono"/>
                <a:cs typeface="Noto Sans Mono"/>
              </a:rPr>
              <a:t>trúc</a:t>
            </a:r>
            <a:endParaRPr sz="8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771" y="30537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658" y="553871"/>
            <a:ext cx="3621404" cy="18853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9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Ý</a:t>
            </a:r>
            <a:r>
              <a:rPr sz="5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tưởng</a:t>
            </a:r>
            <a:r>
              <a:rPr sz="5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cơ</a:t>
            </a:r>
            <a:r>
              <a:rPr sz="5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25" dirty="0">
                <a:solidFill>
                  <a:srgbClr val="3333B3"/>
                </a:solidFill>
                <a:latin typeface="Noto Sans Mono"/>
                <a:cs typeface="Noto Sans Mono"/>
              </a:rPr>
              <a:t>bản</a:t>
            </a:r>
            <a:endParaRPr sz="550" dirty="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550" dirty="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00" dirty="0">
                <a:latin typeface="Noto Sans Mono"/>
                <a:cs typeface="Noto Sans Mono"/>
              </a:rPr>
              <a:t>Một</a:t>
            </a:r>
            <a:r>
              <a:rPr sz="400" spc="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phong</a:t>
            </a:r>
            <a:r>
              <a:rPr sz="400" spc="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cách</a:t>
            </a:r>
            <a:r>
              <a:rPr sz="400" spc="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đ</a:t>
            </a:r>
            <a:r>
              <a:rPr sz="400" spc="-6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ược</a:t>
            </a:r>
            <a:r>
              <a:rPr sz="400" spc="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hình</a:t>
            </a:r>
            <a:r>
              <a:rPr sz="400" spc="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thành</a:t>
            </a:r>
            <a:r>
              <a:rPr sz="400" spc="2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theo</a:t>
            </a:r>
            <a:r>
              <a:rPr sz="400" spc="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các</a:t>
            </a:r>
            <a:r>
              <a:rPr sz="400" spc="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đ</a:t>
            </a:r>
            <a:r>
              <a:rPr sz="400" spc="-7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iều</a:t>
            </a:r>
            <a:r>
              <a:rPr sz="400" spc="20" dirty="0">
                <a:latin typeface="Noto Sans Mono"/>
                <a:cs typeface="Noto Sans Mono"/>
              </a:rPr>
              <a:t> </a:t>
            </a:r>
            <a:r>
              <a:rPr sz="400" spc="-10" dirty="0">
                <a:latin typeface="Noto Sans Mono"/>
                <a:cs typeface="Noto Sans Mono"/>
              </a:rPr>
              <a:t>khoản</a:t>
            </a:r>
            <a:endParaRPr sz="400" dirty="0">
              <a:latin typeface="Noto Sans Mono"/>
              <a:cs typeface="Noto Sans Mono"/>
            </a:endParaRPr>
          </a:p>
          <a:p>
            <a:pPr marL="153035" marR="726440" indent="86995">
              <a:lnSpc>
                <a:spcPct val="182600"/>
              </a:lnSpc>
              <a:spcBef>
                <a:spcPts val="425"/>
              </a:spcBef>
              <a:buClr>
                <a:srgbClr val="3333B3"/>
              </a:buClr>
              <a:buChar char="•"/>
              <a:tabLst>
                <a:tab pos="240029" algn="l"/>
              </a:tabLst>
            </a:pP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thành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phần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(có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thể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thay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thế)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giao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diện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xác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6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ịnh </a:t>
            </a:r>
            <a:r>
              <a:rPr sz="550" dirty="0">
                <a:latin typeface="Noto Sans Mono"/>
                <a:cs typeface="Noto Sans Mono"/>
              </a:rPr>
              <a:t>rõ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ràng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cách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thành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phần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kết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nối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nhau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dữ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liệu</a:t>
            </a:r>
            <a:r>
              <a:rPr sz="550" spc="5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trao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ổi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giữa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thành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phần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cách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các</a:t>
            </a:r>
            <a:endParaRPr sz="550" dirty="0">
              <a:latin typeface="Noto Sans Mono"/>
              <a:cs typeface="Noto Sans Mono"/>
            </a:endParaRPr>
          </a:p>
          <a:p>
            <a:pPr marL="270510" marR="989965" indent="-118110">
              <a:lnSpc>
                <a:spcPct val="182600"/>
              </a:lnSpc>
            </a:pPr>
            <a:r>
              <a:rPr sz="550" dirty="0">
                <a:latin typeface="Noto Sans Mono"/>
                <a:cs typeface="Noto Sans Mono"/>
              </a:rPr>
              <a:t>thành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phần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ầu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nối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này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cấu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hình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chung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thành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một </a:t>
            </a:r>
            <a:r>
              <a:rPr sz="550" dirty="0">
                <a:latin typeface="Noto Sans Mono"/>
                <a:cs typeface="Noto Sans Mono"/>
              </a:rPr>
              <a:t>hệ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thống.</a:t>
            </a:r>
            <a:endParaRPr sz="550" dirty="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</a:pPr>
            <a:endParaRPr sz="550" dirty="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550" dirty="0">
              <a:latin typeface="Noto Sans Mono"/>
              <a:cs typeface="Noto Sans Mono"/>
            </a:endParaRPr>
          </a:p>
          <a:p>
            <a:pPr marL="20320">
              <a:lnSpc>
                <a:spcPct val="100000"/>
              </a:lnSpc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Đầu</a:t>
            </a:r>
            <a:r>
              <a:rPr sz="6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25" dirty="0">
                <a:solidFill>
                  <a:srgbClr val="3333B3"/>
                </a:solidFill>
                <a:latin typeface="Noto Sans Mono"/>
                <a:cs typeface="Noto Sans Mono"/>
              </a:rPr>
              <a:t>nối</a:t>
            </a:r>
            <a:endParaRPr sz="650" dirty="0">
              <a:latin typeface="Noto Sans Mono"/>
              <a:cs typeface="Noto Sans Mono"/>
            </a:endParaRPr>
          </a:p>
          <a:p>
            <a:pPr marL="19050" marR="5080" indent="-6985">
              <a:lnSpc>
                <a:spcPct val="182600"/>
              </a:lnSpc>
              <a:spcBef>
                <a:spcPts val="145"/>
              </a:spcBef>
            </a:pP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cơ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chế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làm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trung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gian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cho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việc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giao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tiếp,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phối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hợp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hoặc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hợp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tác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giữa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thành </a:t>
            </a:r>
            <a:r>
              <a:rPr sz="550" dirty="0">
                <a:latin typeface="Noto Sans Mono"/>
                <a:cs typeface="Noto Sans Mono"/>
              </a:rPr>
              <a:t>phần.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Ví</a:t>
            </a:r>
            <a:r>
              <a:rPr sz="550" spc="8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dụ: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tiện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ích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cho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cuộc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gọi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thủ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tục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(từ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xa),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nhắn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tin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hoặc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phát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trực</a:t>
            </a:r>
            <a:r>
              <a:rPr sz="550" spc="500" dirty="0">
                <a:latin typeface="Noto Sans Mono"/>
                <a:cs typeface="Noto Sans Mono"/>
              </a:rPr>
              <a:t>  </a:t>
            </a:r>
            <a:r>
              <a:rPr sz="550" spc="-10" dirty="0">
                <a:latin typeface="Noto Sans Mono"/>
                <a:cs typeface="Noto Sans Mono"/>
              </a:rPr>
              <a:t>tuyến.</a:t>
            </a:r>
            <a:endParaRPr sz="550" dirty="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90" y="16130"/>
            <a:ext cx="6705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25" spc="-112" baseline="15873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525" spc="-112" baseline="15873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525" spc="-112" baseline="15873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525" spc="-112" baseline="15873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525" spc="-112" baseline="15873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525" spc="-112" baseline="15873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525" spc="-112" baseline="15873" dirty="0">
                <a:latin typeface="Arial"/>
                <a:cs typeface="Arial"/>
              </a:rPr>
              <a:t>nslated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baseline="15873" dirty="0">
                <a:latin typeface="Arial"/>
                <a:cs typeface="Arial"/>
              </a:rPr>
              <a:t>by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spc="-15" baseline="15873" dirty="0">
                <a:latin typeface="Arial"/>
                <a:cs typeface="Arial"/>
              </a:rPr>
              <a:t>Google</a:t>
            </a:r>
            <a:endParaRPr sz="525" baseline="1587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7170" y="239998"/>
            <a:ext cx="1973580" cy="4451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Kiến trúc phân </a:t>
            </a:r>
            <a:r>
              <a:rPr sz="900" spc="-25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endParaRPr sz="9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900">
              <a:latin typeface="Noto Sans Mono"/>
              <a:cs typeface="Noto Sans Mono"/>
            </a:endParaRPr>
          </a:p>
          <a:p>
            <a:pPr marL="262890">
              <a:lnSpc>
                <a:spcPct val="100000"/>
              </a:lnSpc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Các</a:t>
            </a:r>
            <a:r>
              <a:rPr sz="650" spc="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tổ</a:t>
            </a:r>
            <a:r>
              <a:rPr sz="650" spc="1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chức</a:t>
            </a:r>
            <a:r>
              <a:rPr sz="650" spc="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có</a:t>
            </a:r>
            <a:r>
              <a:rPr sz="650" spc="1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nhiều</a:t>
            </a:r>
            <a:r>
              <a:rPr sz="650" spc="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r>
              <a:rPr sz="650" spc="1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khác</a:t>
            </a:r>
            <a:r>
              <a:rPr sz="650" spc="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nhau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363" y="3361456"/>
            <a:ext cx="52832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phân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25" dirty="0">
                <a:latin typeface="Noto Sans Mono"/>
                <a:cs typeface="Noto Sans Mono"/>
              </a:rPr>
              <a:t>lớp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771" y="1983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51227" y="2687505"/>
            <a:ext cx="155575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-25" dirty="0">
                <a:latin typeface="Noto Sans Mono"/>
                <a:cs typeface="Noto Sans Mono"/>
              </a:rPr>
              <a:t>(b)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0688" y="2712758"/>
            <a:ext cx="166370" cy="819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10" dirty="0">
                <a:latin typeface="Noto Sans Mono"/>
                <a:cs typeface="Noto Sans Mono"/>
              </a:rPr>
              <a:t>(Một)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568" y="2687505"/>
            <a:ext cx="155575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-25" dirty="0">
                <a:latin typeface="Noto Sans Mono"/>
                <a:cs typeface="Noto Sans Mono"/>
              </a:rPr>
              <a:t>(c)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590" y="5423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90771" y="1983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363" y="3361456"/>
            <a:ext cx="52832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phân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25" dirty="0">
                <a:latin typeface="Noto Sans Mono"/>
                <a:cs typeface="Noto Sans Mono"/>
              </a:rPr>
              <a:t>lớp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685" y="239998"/>
            <a:ext cx="2016125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Ví dụ: giao thức truyền </a:t>
            </a:r>
            <a:r>
              <a:rPr sz="900" spc="-10" dirty="0">
                <a:solidFill>
                  <a:srgbClr val="3333B3"/>
                </a:solidFill>
                <a:latin typeface="Noto Sans Mono"/>
                <a:cs typeface="Noto Sans Mono"/>
              </a:rPr>
              <a:t>thông</a:t>
            </a:r>
            <a:endParaRPr sz="9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00">
              <a:latin typeface="Noto Sans Mono"/>
              <a:cs typeface="Noto Sans Mono"/>
            </a:endParaRPr>
          </a:p>
          <a:p>
            <a:pPr marR="5080" algn="ctr">
              <a:lnSpc>
                <a:spcPct val="100000"/>
              </a:lnSpc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Giao</a:t>
            </a:r>
            <a:r>
              <a:rPr sz="6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thức,</a:t>
            </a:r>
            <a:r>
              <a:rPr sz="6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dịch</a:t>
            </a:r>
            <a:r>
              <a:rPr sz="6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vụ,</a:t>
            </a:r>
            <a:r>
              <a:rPr sz="6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giao</a:t>
            </a:r>
            <a:r>
              <a:rPr sz="6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diện</a:t>
            </a:r>
            <a:endParaRPr sz="650">
              <a:latin typeface="Noto Sans Mono"/>
              <a:cs typeface="Noto San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8233" y="239998"/>
            <a:ext cx="119697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Giao tiếp hai </a:t>
            </a:r>
            <a:r>
              <a:rPr sz="900" spc="-25" dirty="0">
                <a:solidFill>
                  <a:srgbClr val="3333B3"/>
                </a:solidFill>
                <a:latin typeface="Noto Sans Mono"/>
                <a:cs typeface="Noto Sans Mono"/>
              </a:rPr>
              <a:t>bên</a:t>
            </a:r>
            <a:endParaRPr sz="900">
              <a:latin typeface="Noto Sans Mono"/>
              <a:cs typeface="Noto Sans Mo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363" y="3361456"/>
            <a:ext cx="52832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phân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25" dirty="0">
                <a:latin typeface="Noto Sans Mono"/>
                <a:cs typeface="Noto Sans Mono"/>
              </a:rPr>
              <a:t>lớp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7188" y="1416190"/>
            <a:ext cx="5334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50" dirty="0">
                <a:latin typeface="Noto Sans Mono"/>
                <a:cs typeface="Noto Sans Mono"/>
              </a:rPr>
              <a:t>9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0771" y="1983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464" y="1513872"/>
            <a:ext cx="1861185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382395" algn="l"/>
              </a:tabLst>
            </a:pPr>
            <a:r>
              <a:rPr sz="350" dirty="0">
                <a:latin typeface="Noto Sans Mono"/>
                <a:cs typeface="Noto Sans Mono"/>
              </a:rPr>
              <a:t>10</a:t>
            </a:r>
            <a:r>
              <a:rPr sz="350" spc="2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kết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nối.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đ</a:t>
            </a:r>
            <a:r>
              <a:rPr sz="350" spc="-55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óng()</a:t>
            </a:r>
            <a:r>
              <a:rPr sz="350" dirty="0">
                <a:latin typeface="Noto Sans Mono"/>
                <a:cs typeface="Noto Sans Mono"/>
              </a:rPr>
              <a:t>	</a:t>
            </a:r>
            <a:r>
              <a:rPr sz="600" baseline="6944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600" spc="-15" baseline="6944" dirty="0">
                <a:solidFill>
                  <a:srgbClr val="009500"/>
                </a:solidFill>
                <a:latin typeface="Noto Sans Mono"/>
                <a:cs typeface="Noto Sans Mono"/>
              </a:rPr>
              <a:t> đ</a:t>
            </a:r>
            <a:r>
              <a:rPr sz="600" spc="-127" baseline="6944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600" baseline="6944" dirty="0">
                <a:solidFill>
                  <a:srgbClr val="009500"/>
                </a:solidFill>
                <a:latin typeface="Noto Sans Mono"/>
                <a:cs typeface="Noto Sans Mono"/>
              </a:rPr>
              <a:t>óng</a:t>
            </a:r>
            <a:r>
              <a:rPr sz="600" spc="-15" baseline="6944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600" baseline="6944" dirty="0">
                <a:solidFill>
                  <a:srgbClr val="009500"/>
                </a:solidFill>
                <a:latin typeface="Noto Sans Mono"/>
                <a:cs typeface="Noto Sans Mono"/>
              </a:rPr>
              <a:t>kết</a:t>
            </a:r>
            <a:r>
              <a:rPr sz="600" spc="-7" baseline="6944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600" spc="-37" baseline="6944" dirty="0">
                <a:solidFill>
                  <a:srgbClr val="009500"/>
                </a:solidFill>
                <a:latin typeface="Noto Sans Mono"/>
                <a:cs typeface="Noto Sans Mono"/>
              </a:rPr>
              <a:t>nối</a:t>
            </a:r>
            <a:endParaRPr sz="600" baseline="6944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929" y="1427487"/>
            <a:ext cx="1254125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10" dirty="0">
                <a:latin typeface="Noto Sans Mono"/>
                <a:cs typeface="Noto Sans Mono"/>
              </a:rPr>
              <a:t>conn.send(msg.encode())</a:t>
            </a:r>
            <a:r>
              <a:rPr sz="400" spc="25" dirty="0"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400" spc="2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trả</a:t>
            </a:r>
            <a:r>
              <a:rPr sz="400" spc="2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về</a:t>
            </a:r>
            <a:r>
              <a:rPr sz="400" spc="2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phản</a:t>
            </a:r>
            <a:r>
              <a:rPr sz="400" spc="2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spc="-25" dirty="0">
                <a:solidFill>
                  <a:srgbClr val="009500"/>
                </a:solidFill>
                <a:latin typeface="Noto Sans Mono"/>
                <a:cs typeface="Noto Sans Mono"/>
              </a:rPr>
              <a:t>hồi</a:t>
            </a:r>
            <a:endParaRPr sz="40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4664" y="2202460"/>
            <a:ext cx="1011555" cy="391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95885" indent="-635" algn="just">
              <a:lnSpc>
                <a:spcPct val="144900"/>
              </a:lnSpc>
              <a:spcBef>
                <a:spcPts val="120"/>
              </a:spcBef>
            </a:pPr>
            <a:r>
              <a:rPr sz="400" dirty="0">
                <a:latin typeface="Noto Sans Mono"/>
                <a:cs typeface="Noto Sans Mono"/>
              </a:rPr>
              <a:t>5</a:t>
            </a:r>
            <a:r>
              <a:rPr sz="400" spc="1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msg</a:t>
            </a:r>
            <a:r>
              <a:rPr sz="400" spc="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=</a:t>
            </a:r>
            <a:r>
              <a:rPr sz="400" spc="15" dirty="0"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"Xin</a:t>
            </a:r>
            <a:r>
              <a:rPr sz="400" spc="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chào</a:t>
            </a:r>
            <a:r>
              <a:rPr sz="400" spc="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thế</a:t>
            </a:r>
            <a:r>
              <a:rPr sz="400" spc="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giới"</a:t>
            </a:r>
            <a:r>
              <a:rPr sz="400" spc="1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spc="-50" dirty="0">
                <a:latin typeface="Noto Sans Mono"/>
                <a:cs typeface="Noto Sans Mono"/>
              </a:rPr>
              <a:t>6</a:t>
            </a:r>
            <a:r>
              <a:rPr sz="400" dirty="0">
                <a:latin typeface="Noto Sans Mono"/>
                <a:cs typeface="Noto Sans Mono"/>
              </a:rPr>
              <a:t> s.send(msg.encode())</a:t>
            </a:r>
            <a:r>
              <a:rPr sz="400" spc="3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7</a:t>
            </a:r>
            <a:r>
              <a:rPr sz="400" spc="4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data</a:t>
            </a:r>
            <a:r>
              <a:rPr sz="400" spc="40" dirty="0">
                <a:latin typeface="Noto Sans Mono"/>
                <a:cs typeface="Noto Sans Mono"/>
              </a:rPr>
              <a:t> </a:t>
            </a:r>
            <a:r>
              <a:rPr sz="400" spc="-50" dirty="0">
                <a:latin typeface="Noto Sans Mono"/>
                <a:cs typeface="Noto Sans Mono"/>
              </a:rPr>
              <a:t>=</a:t>
            </a:r>
            <a:r>
              <a:rPr sz="400" dirty="0">
                <a:latin typeface="Noto Sans Mono"/>
                <a:cs typeface="Noto Sans Mono"/>
              </a:rPr>
              <a:t> s.recv(1024)</a:t>
            </a:r>
            <a:r>
              <a:rPr sz="400" spc="55" dirty="0">
                <a:latin typeface="Noto Sans Mono"/>
                <a:cs typeface="Noto Sans Mono"/>
              </a:rPr>
              <a:t> </a:t>
            </a:r>
            <a:r>
              <a:rPr sz="400" spc="-50" dirty="0">
                <a:latin typeface="Noto Sans Mono"/>
                <a:cs typeface="Noto Sans Mono"/>
              </a:rPr>
              <a:t>8</a:t>
            </a:r>
            <a:endParaRPr sz="400">
              <a:latin typeface="Noto Sans Mono"/>
              <a:cs typeface="Noto Sans Mono"/>
            </a:endParaRPr>
          </a:p>
          <a:p>
            <a:pPr marL="13335" algn="just">
              <a:lnSpc>
                <a:spcPct val="100000"/>
              </a:lnSpc>
              <a:spcBef>
                <a:spcPts val="295"/>
              </a:spcBef>
            </a:pPr>
            <a:r>
              <a:rPr sz="400" dirty="0">
                <a:latin typeface="Noto Sans Mono"/>
                <a:cs typeface="Noto Sans Mono"/>
              </a:rPr>
              <a:t>print(data.decode())</a:t>
            </a:r>
            <a:r>
              <a:rPr sz="400" spc="4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9</a:t>
            </a:r>
            <a:r>
              <a:rPr sz="400" spc="50" dirty="0">
                <a:latin typeface="Noto Sans Mono"/>
                <a:cs typeface="Noto Sans Mono"/>
              </a:rPr>
              <a:t> </a:t>
            </a:r>
            <a:r>
              <a:rPr sz="400" spc="-10" dirty="0">
                <a:latin typeface="Noto Sans Mono"/>
                <a:cs typeface="Noto Sans Mono"/>
              </a:rPr>
              <a:t>s.close()</a:t>
            </a:r>
            <a:endParaRPr sz="40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907" y="1733568"/>
            <a:ext cx="2926080" cy="4959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</a:pPr>
            <a:r>
              <a:rPr sz="400" dirty="0">
                <a:solidFill>
                  <a:srgbClr val="3333B3"/>
                </a:solidFill>
                <a:latin typeface="Noto Sans Mono"/>
                <a:cs typeface="Noto Sans Mono"/>
              </a:rPr>
              <a:t>Khách</a:t>
            </a:r>
            <a:r>
              <a:rPr sz="400" spc="8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00" spc="-20" dirty="0">
                <a:solidFill>
                  <a:srgbClr val="3333B3"/>
                </a:solidFill>
                <a:latin typeface="Noto Sans Mono"/>
                <a:cs typeface="Noto Sans Mono"/>
              </a:rPr>
              <a:t>hàng</a:t>
            </a:r>
            <a:endParaRPr sz="4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0">
              <a:latin typeface="Noto Sans Mono"/>
              <a:cs typeface="Noto Sans Mono"/>
            </a:endParaRPr>
          </a:p>
          <a:p>
            <a:pPr marL="13970">
              <a:lnSpc>
                <a:spcPct val="100000"/>
              </a:lnSpc>
            </a:pPr>
            <a:r>
              <a:rPr sz="400" dirty="0">
                <a:latin typeface="Noto Sans Mono"/>
                <a:cs typeface="Noto Sans Mono"/>
              </a:rPr>
              <a:t>1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FF0059"/>
                </a:solidFill>
                <a:latin typeface="Noto Sans Mono"/>
                <a:cs typeface="Noto Sans Mono"/>
              </a:rPr>
              <a:t>từ</a:t>
            </a:r>
            <a:r>
              <a:rPr sz="400" spc="-10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ổ</a:t>
            </a:r>
            <a:r>
              <a:rPr sz="400" spc="-1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cắm</a:t>
            </a:r>
            <a:r>
              <a:rPr sz="400" spc="-10" dirty="0"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FF0059"/>
                </a:solidFill>
                <a:latin typeface="Noto Sans Mono"/>
                <a:cs typeface="Noto Sans Mono"/>
              </a:rPr>
              <a:t>nhập</a:t>
            </a:r>
            <a:r>
              <a:rPr sz="400" spc="-10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00" spc="-50" dirty="0">
                <a:latin typeface="Noto Sans Mono"/>
                <a:cs typeface="Noto Sans Mono"/>
              </a:rPr>
              <a:t>*</a:t>
            </a:r>
            <a:endParaRPr sz="40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350" spc="-50" dirty="0">
                <a:latin typeface="Noto Sans Mono"/>
                <a:cs typeface="Noto Sans Mono"/>
              </a:rPr>
              <a:t>2</a:t>
            </a:r>
            <a:endParaRPr sz="350">
              <a:latin typeface="Noto Sans Mono"/>
              <a:cs typeface="Noto Sans Mono"/>
            </a:endParaRPr>
          </a:p>
          <a:p>
            <a:pPr marL="13335">
              <a:lnSpc>
                <a:spcPct val="100000"/>
              </a:lnSpc>
              <a:spcBef>
                <a:spcPts val="395"/>
              </a:spcBef>
            </a:pPr>
            <a:r>
              <a:rPr sz="350" dirty="0">
                <a:latin typeface="Noto Sans Mono"/>
                <a:cs typeface="Noto Sans Mono"/>
              </a:rPr>
              <a:t>3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giây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=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ổ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cắm(AF_INET,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SOCK_STREAM)</a:t>
            </a:r>
            <a:endParaRPr sz="350">
              <a:latin typeface="Noto Sans Mono"/>
              <a:cs typeface="Noto Sans Mono"/>
            </a:endParaRPr>
          </a:p>
          <a:p>
            <a:pPr marL="13970">
              <a:lnSpc>
                <a:spcPct val="100000"/>
              </a:lnSpc>
              <a:spcBef>
                <a:spcPts val="220"/>
              </a:spcBef>
            </a:pPr>
            <a:r>
              <a:rPr sz="450" dirty="0">
                <a:latin typeface="Noto Sans Mono"/>
                <a:cs typeface="Noto Sans Mono"/>
              </a:rPr>
              <a:t>4</a:t>
            </a:r>
            <a:r>
              <a:rPr sz="450" spc="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s.connect((HOST,</a:t>
            </a:r>
            <a:r>
              <a:rPr sz="450" spc="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PORT))</a:t>
            </a:r>
            <a:r>
              <a:rPr sz="450" spc="5" dirty="0"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kết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nối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tới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máy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chủ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(chặn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cho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đ</a:t>
            </a:r>
            <a:r>
              <a:rPr sz="450" spc="-9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ến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khi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đ</a:t>
            </a:r>
            <a:r>
              <a:rPr sz="450" spc="-9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ược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009500"/>
                </a:solidFill>
                <a:latin typeface="Noto Sans Mono"/>
                <a:cs typeface="Noto Sans Mono"/>
              </a:rPr>
              <a:t>chấp</a:t>
            </a:r>
            <a:r>
              <a:rPr sz="450" spc="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50" spc="-10" dirty="0">
                <a:solidFill>
                  <a:srgbClr val="009500"/>
                </a:solidFill>
                <a:latin typeface="Noto Sans Mono"/>
                <a:cs typeface="Noto Sans Mono"/>
              </a:rPr>
              <a:t>nhận)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8507" y="545513"/>
            <a:ext cx="1965325" cy="876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1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Máy</a:t>
            </a:r>
            <a:r>
              <a:rPr sz="55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25" dirty="0">
                <a:solidFill>
                  <a:srgbClr val="3333B3"/>
                </a:solidFill>
                <a:latin typeface="Noto Sans Mono"/>
                <a:cs typeface="Noto Sans Mono"/>
              </a:rPr>
              <a:t>chủ</a:t>
            </a:r>
            <a:endParaRPr sz="550" dirty="0">
              <a:latin typeface="Noto Sans Mono"/>
              <a:cs typeface="Noto Sans Mono"/>
            </a:endParaRPr>
          </a:p>
          <a:p>
            <a:pPr marL="39370">
              <a:lnSpc>
                <a:spcPct val="100000"/>
              </a:lnSpc>
              <a:spcBef>
                <a:spcPts val="545"/>
              </a:spcBef>
            </a:pPr>
            <a:r>
              <a:rPr sz="400" dirty="0">
                <a:latin typeface="Noto Sans Mono"/>
                <a:cs typeface="Noto Sans Mono"/>
              </a:rPr>
              <a:t>1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FF0059"/>
                </a:solidFill>
                <a:latin typeface="Noto Sans Mono"/>
                <a:cs typeface="Noto Sans Mono"/>
              </a:rPr>
              <a:t>từ</a:t>
            </a:r>
            <a:r>
              <a:rPr sz="400" spc="-10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ổ</a:t>
            </a:r>
            <a:r>
              <a:rPr sz="400" spc="-1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cắm</a:t>
            </a:r>
            <a:r>
              <a:rPr sz="400" spc="-10" dirty="0"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FF0059"/>
                </a:solidFill>
                <a:latin typeface="Noto Sans Mono"/>
                <a:cs typeface="Noto Sans Mono"/>
              </a:rPr>
              <a:t>nhập</a:t>
            </a:r>
            <a:r>
              <a:rPr sz="400" spc="-10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00" spc="-50" dirty="0">
                <a:latin typeface="Noto Sans Mono"/>
                <a:cs typeface="Noto Sans Mono"/>
              </a:rPr>
              <a:t>*</a:t>
            </a:r>
            <a:endParaRPr sz="400" dirty="0">
              <a:latin typeface="Noto Sans Mono"/>
              <a:cs typeface="Noto Sans Mono"/>
            </a:endParaRPr>
          </a:p>
          <a:p>
            <a:pPr marL="38100">
              <a:lnSpc>
                <a:spcPct val="100000"/>
              </a:lnSpc>
              <a:spcBef>
                <a:spcPts val="150"/>
              </a:spcBef>
            </a:pPr>
            <a:r>
              <a:rPr sz="350" spc="-50" dirty="0">
                <a:latin typeface="Noto Sans Mono"/>
                <a:cs typeface="Noto Sans Mono"/>
              </a:rPr>
              <a:t>2</a:t>
            </a:r>
            <a:endParaRPr sz="350" dirty="0">
              <a:latin typeface="Noto Sans Mono"/>
              <a:cs typeface="Noto Sans Mono"/>
            </a:endParaRPr>
          </a:p>
          <a:p>
            <a:pPr marL="94615" indent="-55880">
              <a:lnSpc>
                <a:spcPct val="100000"/>
              </a:lnSpc>
              <a:spcBef>
                <a:spcPts val="395"/>
              </a:spcBef>
              <a:buAutoNum type="arabicPlain" startAt="3"/>
              <a:tabLst>
                <a:tab pos="94615" algn="l"/>
              </a:tabLst>
            </a:pPr>
            <a:r>
              <a:rPr sz="350" dirty="0">
                <a:latin typeface="Noto Sans Mono"/>
                <a:cs typeface="Noto Sans Mono"/>
              </a:rPr>
              <a:t>giây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=</a:t>
            </a:r>
            <a:r>
              <a:rPr sz="350" spc="4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ổ</a:t>
            </a:r>
            <a:r>
              <a:rPr sz="350" spc="4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cắm(AF_INET,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SOCK_STREAM)</a:t>
            </a:r>
            <a:endParaRPr sz="350" dirty="0">
              <a:latin typeface="Noto Sans Mono"/>
              <a:cs typeface="Noto Sans Mono"/>
            </a:endParaRPr>
          </a:p>
          <a:p>
            <a:pPr marL="98425" indent="-59055">
              <a:lnSpc>
                <a:spcPct val="100000"/>
              </a:lnSpc>
              <a:spcBef>
                <a:spcPts val="270"/>
              </a:spcBef>
              <a:buAutoNum type="arabicPlain" startAt="3"/>
              <a:tabLst>
                <a:tab pos="98425" algn="l"/>
              </a:tabLst>
            </a:pPr>
            <a:r>
              <a:rPr sz="400" dirty="0">
                <a:latin typeface="Noto Sans Mono"/>
                <a:cs typeface="Noto Sans Mono"/>
              </a:rPr>
              <a:t>(conn,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addr)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=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s.accept()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trả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về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socket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và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addr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mới.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client</a:t>
            </a:r>
            <a:endParaRPr sz="400" dirty="0">
              <a:latin typeface="Noto Sans Mono"/>
              <a:cs typeface="Noto Sans Mono"/>
            </a:endParaRPr>
          </a:p>
          <a:p>
            <a:pPr marL="104139" indent="-65405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AutoNum type="arabicPlain" startAt="3"/>
              <a:tabLst>
                <a:tab pos="104139" algn="l"/>
              </a:tabLst>
            </a:pPr>
            <a:r>
              <a:rPr sz="600" baseline="6944" dirty="0">
                <a:solidFill>
                  <a:srgbClr val="FF0059"/>
                </a:solidFill>
                <a:latin typeface="Noto Sans Mono"/>
                <a:cs typeface="Noto Sans Mono"/>
              </a:rPr>
              <a:t>trong</a:t>
            </a:r>
            <a:r>
              <a:rPr sz="600" spc="150" baseline="6944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600" baseline="6944" dirty="0">
                <a:solidFill>
                  <a:srgbClr val="FF0059"/>
                </a:solidFill>
                <a:latin typeface="Noto Sans Mono"/>
                <a:cs typeface="Noto Sans Mono"/>
              </a:rPr>
              <a:t>khi</a:t>
            </a:r>
            <a:r>
              <a:rPr sz="600" spc="150" baseline="6944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600" baseline="6944" dirty="0">
                <a:latin typeface="Noto Sans Mono"/>
                <a:cs typeface="Noto Sans Mono"/>
              </a:rPr>
              <a:t>Đúng:</a:t>
            </a:r>
            <a:r>
              <a:rPr sz="600" spc="150" baseline="6944" dirty="0"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400" spc="10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mãi</a:t>
            </a:r>
            <a:r>
              <a:rPr sz="400" spc="10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spc="-25" dirty="0">
                <a:solidFill>
                  <a:srgbClr val="009500"/>
                </a:solidFill>
                <a:latin typeface="Noto Sans Mono"/>
                <a:cs typeface="Noto Sans Mono"/>
              </a:rPr>
              <a:t>mãi</a:t>
            </a:r>
            <a:endParaRPr sz="400" dirty="0">
              <a:latin typeface="Noto Sans Mono"/>
              <a:cs typeface="Noto Sans Mono"/>
            </a:endParaRPr>
          </a:p>
          <a:p>
            <a:pPr marL="100330" indent="-59055">
              <a:lnSpc>
                <a:spcPct val="100000"/>
              </a:lnSpc>
              <a:spcBef>
                <a:spcPts val="280"/>
              </a:spcBef>
              <a:buAutoNum type="arabicPlain" startAt="3"/>
              <a:tabLst>
                <a:tab pos="100330" algn="l"/>
              </a:tabLst>
            </a:pPr>
            <a:r>
              <a:rPr sz="400" dirty="0">
                <a:latin typeface="Noto Sans Mono"/>
                <a:cs typeface="Noto Sans Mono"/>
              </a:rPr>
              <a:t>data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=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conn.recv(1024)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nhận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dữ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liệu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từ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máy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khách</a:t>
            </a:r>
            <a:endParaRPr sz="400" dirty="0">
              <a:latin typeface="Noto Sans Mono"/>
              <a:cs typeface="Noto Sans Mono"/>
            </a:endParaRPr>
          </a:p>
          <a:p>
            <a:pPr marL="93345" indent="-53975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AutoNum type="arabicPlain" startAt="3"/>
              <a:tabLst>
                <a:tab pos="93345" algn="l"/>
              </a:tabLst>
            </a:pPr>
            <a:r>
              <a:rPr sz="350" dirty="0">
                <a:solidFill>
                  <a:srgbClr val="FF0059"/>
                </a:solidFill>
                <a:latin typeface="Noto Sans Mono"/>
                <a:cs typeface="Noto Sans Mono"/>
              </a:rPr>
              <a:t>nếu không có </a:t>
            </a:r>
            <a:r>
              <a:rPr sz="350" dirty="0">
                <a:latin typeface="Noto Sans Mono"/>
                <a:cs typeface="Noto Sans Mono"/>
              </a:rPr>
              <a:t>dữ liệu: </a:t>
            </a:r>
            <a:r>
              <a:rPr sz="350" dirty="0">
                <a:solidFill>
                  <a:srgbClr val="FF0059"/>
                </a:solidFill>
                <a:latin typeface="Noto Sans Mono"/>
                <a:cs typeface="Noto Sans Mono"/>
              </a:rPr>
              <a:t>break </a:t>
            </a:r>
            <a:r>
              <a:rPr sz="350" dirty="0">
                <a:solidFill>
                  <a:srgbClr val="009500"/>
                </a:solidFill>
                <a:latin typeface="Noto Sans Mono"/>
                <a:cs typeface="Noto Sans Mono"/>
              </a:rPr>
              <a:t># dừng </a:t>
            </a:r>
            <a:r>
              <a:rPr sz="525" baseline="-15873" dirty="0">
                <a:solidFill>
                  <a:srgbClr val="009500"/>
                </a:solidFill>
                <a:latin typeface="Noto Sans Mono"/>
                <a:cs typeface="Noto Sans Mono"/>
              </a:rPr>
              <a:t>nếu máy khách </a:t>
            </a:r>
            <a:r>
              <a:rPr sz="525" spc="-30" baseline="-15873" dirty="0">
                <a:solidFill>
                  <a:srgbClr val="009500"/>
                </a:solidFill>
                <a:latin typeface="Noto Sans Mono"/>
                <a:cs typeface="Noto Sans Mono"/>
              </a:rPr>
              <a:t>dừng</a:t>
            </a:r>
            <a:endParaRPr sz="525" baseline="-15873" dirty="0">
              <a:latin typeface="Noto Sans Mono"/>
              <a:cs typeface="Noto Sans Mono"/>
            </a:endParaRPr>
          </a:p>
          <a:p>
            <a:pPr marL="98425" indent="-59055">
              <a:lnSpc>
                <a:spcPct val="100000"/>
              </a:lnSpc>
              <a:spcBef>
                <a:spcPts val="365"/>
              </a:spcBef>
              <a:buAutoNum type="arabicPlain" startAt="3"/>
              <a:tabLst>
                <a:tab pos="98425" algn="l"/>
              </a:tabLst>
            </a:pPr>
            <a:r>
              <a:rPr sz="400" dirty="0">
                <a:latin typeface="Noto Sans Mono"/>
                <a:cs typeface="Noto Sans Mono"/>
              </a:rPr>
              <a:t>msg</a:t>
            </a:r>
            <a:r>
              <a:rPr sz="400" spc="-1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=</a:t>
            </a:r>
            <a:r>
              <a:rPr sz="400" spc="-5" dirty="0">
                <a:latin typeface="Noto Sans Mono"/>
                <a:cs typeface="Noto Sans Mono"/>
              </a:rPr>
              <a:t> </a:t>
            </a:r>
            <a:r>
              <a:rPr sz="400" spc="-10" dirty="0">
                <a:latin typeface="Noto Sans Mono"/>
                <a:cs typeface="Noto Sans Mono"/>
              </a:rPr>
              <a:t>data.decode()+"*"</a:t>
            </a:r>
            <a:r>
              <a:rPr sz="400" spc="-5" dirty="0"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400" spc="-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xử</a:t>
            </a:r>
            <a:r>
              <a:rPr sz="400" spc="-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lý</a:t>
            </a:r>
            <a:r>
              <a:rPr sz="400" spc="-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dữ</a:t>
            </a:r>
            <a:r>
              <a:rPr sz="400" spc="-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liệu</a:t>
            </a:r>
            <a:r>
              <a:rPr sz="400" spc="-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đ</a:t>
            </a:r>
            <a:r>
              <a:rPr sz="400" spc="-8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ến</a:t>
            </a:r>
            <a:r>
              <a:rPr sz="400" spc="-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thành</a:t>
            </a:r>
            <a:r>
              <a:rPr sz="400" spc="-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phản</a:t>
            </a:r>
            <a:r>
              <a:rPr sz="400" spc="-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spc="-25" dirty="0">
                <a:solidFill>
                  <a:srgbClr val="009500"/>
                </a:solidFill>
                <a:latin typeface="Noto Sans Mono"/>
                <a:cs typeface="Noto Sans Mono"/>
              </a:rPr>
              <a:t>hồi</a:t>
            </a:r>
            <a:endParaRPr sz="400" dirty="0">
              <a:latin typeface="Noto Sans Mono"/>
              <a:cs typeface="Noto Sans 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0268" y="2202192"/>
            <a:ext cx="645160" cy="469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4625">
              <a:lnSpc>
                <a:spcPct val="149400"/>
              </a:lnSpc>
              <a:spcBef>
                <a:spcPts val="100"/>
              </a:spcBef>
            </a:pP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soạn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tin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spc="-20" dirty="0">
                <a:solidFill>
                  <a:srgbClr val="009500"/>
                </a:solidFill>
                <a:latin typeface="Noto Sans Mono"/>
                <a:cs typeface="Noto Sans Mono"/>
              </a:rPr>
              <a:t>nhắn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gửi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tin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spc="-20" dirty="0">
                <a:solidFill>
                  <a:srgbClr val="009500"/>
                </a:solidFill>
                <a:latin typeface="Noto Sans Mono"/>
                <a:cs typeface="Noto Sans Mono"/>
              </a:rPr>
              <a:t>nhắn</a:t>
            </a:r>
            <a:endParaRPr sz="400">
              <a:latin typeface="Noto Sans Mono"/>
              <a:cs typeface="Noto Sans Mono"/>
            </a:endParaRPr>
          </a:p>
          <a:p>
            <a:pPr marL="12700" marR="5080">
              <a:lnSpc>
                <a:spcPct val="149400"/>
              </a:lnSpc>
            </a:pP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400" spc="-1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nhận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đ</a:t>
            </a:r>
            <a:r>
              <a:rPr sz="400" spc="-8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ược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phản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spc="-25" dirty="0">
                <a:solidFill>
                  <a:srgbClr val="009500"/>
                </a:solidFill>
                <a:latin typeface="Noto Sans Mono"/>
                <a:cs typeface="Noto Sans Mono"/>
              </a:rPr>
              <a:t>hồi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in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kết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spc="-25" dirty="0">
                <a:solidFill>
                  <a:srgbClr val="009500"/>
                </a:solidFill>
                <a:latin typeface="Noto Sans Mono"/>
                <a:cs typeface="Noto Sans Mono"/>
              </a:rPr>
              <a:t>quả</a:t>
            </a:r>
            <a:endParaRPr sz="40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#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đ</a:t>
            </a:r>
            <a:r>
              <a:rPr sz="400" spc="-8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óng</a:t>
            </a:r>
            <a:r>
              <a:rPr sz="400" spc="-10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009500"/>
                </a:solidFill>
                <a:latin typeface="Noto Sans Mono"/>
                <a:cs typeface="Noto Sans Mono"/>
              </a:rPr>
              <a:t>kết</a:t>
            </a:r>
            <a:r>
              <a:rPr sz="400" spc="-5" dirty="0">
                <a:solidFill>
                  <a:srgbClr val="009500"/>
                </a:solidFill>
                <a:latin typeface="Noto Sans Mono"/>
                <a:cs typeface="Noto Sans Mono"/>
              </a:rPr>
              <a:t> </a:t>
            </a:r>
            <a:r>
              <a:rPr sz="400" spc="-25" dirty="0">
                <a:solidFill>
                  <a:srgbClr val="009500"/>
                </a:solidFill>
                <a:latin typeface="Noto Sans Mono"/>
                <a:cs typeface="Noto Sans Mono"/>
              </a:rPr>
              <a:t>nối</a:t>
            </a:r>
            <a:endParaRPr sz="400">
              <a:latin typeface="Noto Sans Mono"/>
              <a:cs typeface="Noto Sans Mo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590" y="5423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627" y="212048"/>
            <a:ext cx="13950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3333B3"/>
                </a:solidFill>
                <a:latin typeface="Noto Sans Mono"/>
                <a:cs typeface="Noto Sans Mono"/>
              </a:rPr>
              <a:t>Phân</a:t>
            </a:r>
            <a:r>
              <a:rPr sz="10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050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r>
              <a:rPr sz="10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050" dirty="0">
                <a:solidFill>
                  <a:srgbClr val="3333B3"/>
                </a:solidFill>
                <a:latin typeface="Noto Sans Mono"/>
                <a:cs typeface="Noto Sans Mono"/>
              </a:rPr>
              <a:t>ứng</a:t>
            </a:r>
            <a:r>
              <a:rPr sz="10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050" spc="-20" dirty="0">
                <a:solidFill>
                  <a:srgbClr val="3333B3"/>
                </a:solidFill>
                <a:latin typeface="Noto Sans Mono"/>
                <a:cs typeface="Noto Sans Mono"/>
              </a:rPr>
              <a:t>dụng</a:t>
            </a:r>
            <a:endParaRPr sz="10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63" y="3361456"/>
            <a:ext cx="52832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phân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25" dirty="0">
                <a:latin typeface="Noto Sans Mono"/>
                <a:cs typeface="Noto Sans Mono"/>
              </a:rPr>
              <a:t>lớp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771" y="1983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213" y="553715"/>
            <a:ext cx="3531235" cy="980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Chế</a:t>
            </a:r>
            <a:r>
              <a:rPr sz="70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spc="-1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700" spc="-1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ộ</a:t>
            </a:r>
            <a:r>
              <a:rPr sz="700" spc="-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xem</a:t>
            </a:r>
            <a:r>
              <a:rPr sz="700" spc="-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ba</a:t>
            </a:r>
            <a:r>
              <a:rPr sz="700" spc="-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r>
              <a:rPr sz="700" spc="-1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truyền</a:t>
            </a:r>
            <a:r>
              <a:rPr sz="700" spc="-10" dirty="0">
                <a:solidFill>
                  <a:srgbClr val="3333B3"/>
                </a:solidFill>
                <a:latin typeface="Noto Sans Mono"/>
                <a:cs typeface="Noto Sans Mono"/>
              </a:rPr>
              <a:t> thống</a:t>
            </a:r>
            <a:endParaRPr sz="700" dirty="0">
              <a:latin typeface="Noto Sans Mono"/>
              <a:cs typeface="Noto Sans Mono"/>
            </a:endParaRPr>
          </a:p>
          <a:p>
            <a:pPr marL="241935" marR="5080" indent="-90170">
              <a:lnSpc>
                <a:spcPct val="167300"/>
              </a:lnSpc>
              <a:spcBef>
                <a:spcPts val="575"/>
              </a:spcBef>
              <a:buChar char="•"/>
              <a:tabLst>
                <a:tab pos="270510" algn="l"/>
              </a:tabLst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r>
              <a:rPr sz="600" spc="-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giao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diện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ứng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dụng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chứa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các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đ</a:t>
            </a:r>
            <a:r>
              <a:rPr sz="600" spc="-1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ơn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vị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đ</a:t>
            </a:r>
            <a:r>
              <a:rPr sz="600" spc="-1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ể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giao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tiếp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với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người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dùng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20" dirty="0" err="1">
                <a:latin typeface="Noto Sans Mono"/>
                <a:cs typeface="Noto Sans Mono"/>
              </a:rPr>
              <a:t>hoặc</a:t>
            </a:r>
            <a:r>
              <a:rPr sz="600" spc="-20" dirty="0">
                <a:latin typeface="Noto Sans Mono"/>
                <a:cs typeface="Noto Sans Mono"/>
              </a:rPr>
              <a:t> </a:t>
            </a:r>
            <a:r>
              <a:rPr lang="en-US" sz="600" spc="-20" dirty="0">
                <a:latin typeface="Noto Sans Mono"/>
                <a:cs typeface="Noto Sans Mono"/>
              </a:rPr>
              <a:t> </a:t>
            </a:r>
            <a:r>
              <a:rPr sz="600" dirty="0" err="1">
                <a:latin typeface="Noto Sans Mono"/>
                <a:cs typeface="Noto Sans Mono"/>
              </a:rPr>
              <a:t>các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ứng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dụng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bên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ngoài</a:t>
            </a:r>
            <a:endParaRPr sz="600" dirty="0">
              <a:latin typeface="Noto Sans Mono"/>
              <a:cs typeface="Noto Sans Mono"/>
            </a:endParaRPr>
          </a:p>
          <a:p>
            <a:pPr marL="241935" marR="472440" indent="-90170">
              <a:lnSpc>
                <a:spcPct val="167400"/>
              </a:lnSpc>
              <a:buChar char="•"/>
              <a:tabLst>
                <a:tab pos="269875" algn="l"/>
              </a:tabLst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xử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lý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chứa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các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chức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năng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của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một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ứng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dụng,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tức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là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không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spc="-25" dirty="0">
                <a:latin typeface="Noto Sans Mono"/>
                <a:cs typeface="Noto Sans Mono"/>
              </a:rPr>
              <a:t>có 	</a:t>
            </a:r>
            <a:r>
              <a:rPr sz="600" dirty="0">
                <a:latin typeface="Noto Sans Mono"/>
                <a:cs typeface="Noto Sans Mono"/>
              </a:rPr>
              <a:t>dữ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liệu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cụ</a:t>
            </a:r>
            <a:r>
              <a:rPr sz="600" spc="-25" dirty="0">
                <a:latin typeface="Noto Sans Mono"/>
                <a:cs typeface="Noto Sans Mono"/>
              </a:rPr>
              <a:t> thể</a:t>
            </a:r>
            <a:endParaRPr sz="600" dirty="0">
              <a:latin typeface="Noto Sans Mono"/>
              <a:cs typeface="Noto Sans Mono"/>
            </a:endParaRPr>
          </a:p>
          <a:p>
            <a:pPr marL="254635" indent="-102235">
              <a:lnSpc>
                <a:spcPct val="100000"/>
              </a:lnSpc>
              <a:spcBef>
                <a:spcPts val="450"/>
              </a:spcBef>
              <a:buChar char="•"/>
              <a:tabLst>
                <a:tab pos="254635" algn="l"/>
              </a:tabLst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r>
              <a:rPr sz="6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dữ</a:t>
            </a:r>
            <a:r>
              <a:rPr sz="6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liệu</a:t>
            </a:r>
            <a:r>
              <a:rPr sz="6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chứa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dữ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liệu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mà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khách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hàng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muốn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thao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tác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thông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qua</a:t>
            </a:r>
            <a:endParaRPr sz="650" dirty="0">
              <a:latin typeface="Noto Sans Mono"/>
              <a:cs typeface="Noto Sans Mono"/>
            </a:endParaRPr>
          </a:p>
          <a:p>
            <a:pPr marL="271145">
              <a:lnSpc>
                <a:spcPct val="100000"/>
              </a:lnSpc>
              <a:spcBef>
                <a:spcPts val="459"/>
              </a:spcBef>
            </a:pPr>
            <a:r>
              <a:rPr sz="600" dirty="0">
                <a:latin typeface="Noto Sans Mono"/>
                <a:cs typeface="Noto Sans Mono"/>
              </a:rPr>
              <a:t>thành</a:t>
            </a:r>
            <a:r>
              <a:rPr sz="600" spc="-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phần</a:t>
            </a:r>
            <a:r>
              <a:rPr sz="600" spc="-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ứng</a:t>
            </a:r>
            <a:r>
              <a:rPr sz="600" spc="-35" dirty="0">
                <a:latin typeface="Noto Sans Mono"/>
                <a:cs typeface="Noto Sans Mono"/>
              </a:rPr>
              <a:t> </a:t>
            </a:r>
            <a:r>
              <a:rPr sz="600" spc="-20" dirty="0">
                <a:latin typeface="Noto Sans Mono"/>
                <a:cs typeface="Noto Sans Mono"/>
              </a:rPr>
              <a:t>dụng</a:t>
            </a:r>
            <a:endParaRPr sz="600" dirty="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5423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627" y="212048"/>
            <a:ext cx="13950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3333B3"/>
                </a:solidFill>
                <a:latin typeface="Noto Sans Mono"/>
                <a:cs typeface="Noto Sans Mono"/>
              </a:rPr>
              <a:t>Phân</a:t>
            </a:r>
            <a:r>
              <a:rPr sz="10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050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r>
              <a:rPr sz="10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050" dirty="0">
                <a:solidFill>
                  <a:srgbClr val="3333B3"/>
                </a:solidFill>
                <a:latin typeface="Noto Sans Mono"/>
                <a:cs typeface="Noto Sans Mono"/>
              </a:rPr>
              <a:t>ứng</a:t>
            </a:r>
            <a:r>
              <a:rPr sz="10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050" spc="-20" dirty="0">
                <a:solidFill>
                  <a:srgbClr val="3333B3"/>
                </a:solidFill>
                <a:latin typeface="Noto Sans Mono"/>
                <a:cs typeface="Noto Sans Mono"/>
              </a:rPr>
              <a:t>dụng</a:t>
            </a:r>
            <a:endParaRPr sz="10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63" y="3361456"/>
            <a:ext cx="52832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phân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25" dirty="0">
                <a:latin typeface="Noto Sans Mono"/>
                <a:cs typeface="Noto Sans Mono"/>
              </a:rPr>
              <a:t>lớp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771" y="1983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213" y="572794"/>
            <a:ext cx="3839210" cy="1741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Chế đ</a:t>
            </a:r>
            <a:r>
              <a:rPr sz="600" spc="-1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ộ xem ba lớp truyền </a:t>
            </a:r>
            <a:r>
              <a:rPr sz="600" spc="-10" dirty="0">
                <a:solidFill>
                  <a:srgbClr val="3333B3"/>
                </a:solidFill>
                <a:latin typeface="Noto Sans Mono"/>
                <a:cs typeface="Noto Sans Mono"/>
              </a:rPr>
              <a:t>thống</a:t>
            </a:r>
            <a:endParaRPr sz="600">
              <a:latin typeface="Noto Sans Mono"/>
              <a:cs typeface="Noto Sans Mono"/>
            </a:endParaRPr>
          </a:p>
          <a:p>
            <a:pPr marL="241935" marR="313055" indent="-90170">
              <a:lnSpc>
                <a:spcPct val="167300"/>
              </a:lnSpc>
              <a:spcBef>
                <a:spcPts val="540"/>
              </a:spcBef>
              <a:buChar char="•"/>
              <a:tabLst>
                <a:tab pos="270510" algn="l"/>
              </a:tabLst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r>
              <a:rPr sz="600" spc="-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giao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diện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ứng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dụng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chứa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các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đ</a:t>
            </a:r>
            <a:r>
              <a:rPr sz="600" spc="-1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ơn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vị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đ</a:t>
            </a:r>
            <a:r>
              <a:rPr sz="600" spc="-1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ể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giao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tiếp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với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người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dùng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20" dirty="0">
                <a:latin typeface="Noto Sans Mono"/>
                <a:cs typeface="Noto Sans Mono"/>
              </a:rPr>
              <a:t>hoặc 	</a:t>
            </a:r>
            <a:r>
              <a:rPr sz="600" dirty="0">
                <a:latin typeface="Noto Sans Mono"/>
                <a:cs typeface="Noto Sans Mono"/>
              </a:rPr>
              <a:t>các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ứng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dụng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bên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ngoài</a:t>
            </a:r>
            <a:endParaRPr sz="600">
              <a:latin typeface="Noto Sans Mono"/>
              <a:cs typeface="Noto Sans Mono"/>
            </a:endParaRPr>
          </a:p>
          <a:p>
            <a:pPr marL="241935" marR="780415" indent="-90170">
              <a:lnSpc>
                <a:spcPct val="167400"/>
              </a:lnSpc>
              <a:buChar char="•"/>
              <a:tabLst>
                <a:tab pos="269875" algn="l"/>
              </a:tabLst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xử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lý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chứa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các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chức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năng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của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một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ứng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dụng,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tức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là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không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spc="-25" dirty="0">
                <a:latin typeface="Noto Sans Mono"/>
                <a:cs typeface="Noto Sans Mono"/>
              </a:rPr>
              <a:t>có 	</a:t>
            </a:r>
            <a:r>
              <a:rPr sz="600" dirty="0">
                <a:latin typeface="Noto Sans Mono"/>
                <a:cs typeface="Noto Sans Mono"/>
              </a:rPr>
              <a:t>dữ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liệu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cụ</a:t>
            </a:r>
            <a:r>
              <a:rPr sz="600" spc="-25" dirty="0">
                <a:latin typeface="Noto Sans Mono"/>
                <a:cs typeface="Noto Sans Mono"/>
              </a:rPr>
              <a:t> thể</a:t>
            </a:r>
            <a:endParaRPr sz="600">
              <a:latin typeface="Noto Sans Mono"/>
              <a:cs typeface="Noto Sans Mono"/>
            </a:endParaRPr>
          </a:p>
          <a:p>
            <a:pPr marL="254635" indent="-102235">
              <a:lnSpc>
                <a:spcPct val="100000"/>
              </a:lnSpc>
              <a:spcBef>
                <a:spcPts val="450"/>
              </a:spcBef>
              <a:buChar char="•"/>
              <a:tabLst>
                <a:tab pos="254635" algn="l"/>
              </a:tabLst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r>
              <a:rPr sz="6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dữ</a:t>
            </a:r>
            <a:r>
              <a:rPr sz="6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liệu</a:t>
            </a:r>
            <a:r>
              <a:rPr sz="6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chứa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dữ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liệu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mà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khách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hàng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muốn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thao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tác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thông</a:t>
            </a:r>
            <a:r>
              <a:rPr sz="650" spc="70" dirty="0"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qua</a:t>
            </a:r>
            <a:endParaRPr sz="650">
              <a:latin typeface="Noto Sans Mono"/>
              <a:cs typeface="Noto Sans Mono"/>
            </a:endParaRPr>
          </a:p>
          <a:p>
            <a:pPr marL="271145">
              <a:lnSpc>
                <a:spcPct val="100000"/>
              </a:lnSpc>
              <a:spcBef>
                <a:spcPts val="459"/>
              </a:spcBef>
            </a:pPr>
            <a:r>
              <a:rPr sz="600" dirty="0">
                <a:latin typeface="Noto Sans Mono"/>
                <a:cs typeface="Noto Sans Mono"/>
              </a:rPr>
              <a:t>thành</a:t>
            </a:r>
            <a:r>
              <a:rPr sz="600" spc="-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phần</a:t>
            </a:r>
            <a:r>
              <a:rPr sz="600" spc="-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ứng</a:t>
            </a:r>
            <a:r>
              <a:rPr sz="600" spc="-35" dirty="0">
                <a:latin typeface="Noto Sans Mono"/>
                <a:cs typeface="Noto Sans Mono"/>
              </a:rPr>
              <a:t> </a:t>
            </a:r>
            <a:r>
              <a:rPr sz="600" spc="-20" dirty="0">
                <a:latin typeface="Noto Sans Mono"/>
                <a:cs typeface="Noto Sans Mono"/>
              </a:rPr>
              <a:t>dụng</a:t>
            </a:r>
            <a:endParaRPr sz="6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</a:pPr>
            <a:endParaRPr sz="6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00">
              <a:latin typeface="Noto Sans Mono"/>
              <a:cs typeface="Noto Sans Mono"/>
            </a:endParaRPr>
          </a:p>
          <a:p>
            <a:pPr marL="18415">
              <a:lnSpc>
                <a:spcPct val="100000"/>
              </a:lnSpc>
            </a:pPr>
            <a:r>
              <a:rPr sz="600" dirty="0">
                <a:solidFill>
                  <a:srgbClr val="C80000"/>
                </a:solidFill>
                <a:latin typeface="Noto Sans Mono"/>
                <a:cs typeface="Noto Sans Mono"/>
              </a:rPr>
              <a:t>Quan sát </a:t>
            </a:r>
            <a:r>
              <a:rPr sz="600" spc="-25" dirty="0">
                <a:latin typeface="Noto Sans Mono"/>
                <a:cs typeface="Noto Sans Mono"/>
              </a:rPr>
              <a:t>Lớp</a:t>
            </a:r>
            <a:endParaRPr sz="600">
              <a:latin typeface="Noto Sans Mono"/>
              <a:cs typeface="Noto Sans Mono"/>
            </a:endParaRPr>
          </a:p>
          <a:p>
            <a:pPr marL="16510" marR="5080" indent="-4445">
              <a:lnSpc>
                <a:spcPct val="167400"/>
              </a:lnSpc>
              <a:spcBef>
                <a:spcPts val="170"/>
              </a:spcBef>
            </a:pPr>
            <a:r>
              <a:rPr sz="600" dirty="0">
                <a:latin typeface="Noto Sans Mono"/>
                <a:cs typeface="Noto Sans Mono"/>
              </a:rPr>
              <a:t>này đ</a:t>
            </a:r>
            <a:r>
              <a:rPr sz="600" spc="-12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ược tìm thấy trong nhiều hệ thống thông tin phân tán, sử dụng công nghệ cơ </a:t>
            </a:r>
            <a:r>
              <a:rPr sz="600" spc="-25" dirty="0">
                <a:latin typeface="Noto Sans Mono"/>
                <a:cs typeface="Noto Sans Mono"/>
              </a:rPr>
              <a:t>sở </a:t>
            </a:r>
            <a:r>
              <a:rPr sz="600" dirty="0">
                <a:latin typeface="Noto Sans Mono"/>
                <a:cs typeface="Noto Sans Mono"/>
              </a:rPr>
              <a:t>dữ liệu truyền thống và các ứng dụng đ</a:t>
            </a:r>
            <a:r>
              <a:rPr sz="600" spc="-12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i </a:t>
            </a:r>
            <a:r>
              <a:rPr sz="600" spc="-20" dirty="0">
                <a:latin typeface="Noto Sans Mono"/>
                <a:cs typeface="Noto Sans Mono"/>
              </a:rPr>
              <a:t>kèm.</a:t>
            </a:r>
            <a:endParaRPr sz="6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5423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627" y="212048"/>
            <a:ext cx="13950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3333B3"/>
                </a:solidFill>
                <a:latin typeface="Noto Sans Mono"/>
                <a:cs typeface="Noto Sans Mono"/>
              </a:rPr>
              <a:t>Phân</a:t>
            </a:r>
            <a:r>
              <a:rPr sz="10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050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r>
              <a:rPr sz="10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050" dirty="0">
                <a:solidFill>
                  <a:srgbClr val="3333B3"/>
                </a:solidFill>
                <a:latin typeface="Noto Sans Mono"/>
                <a:cs typeface="Noto Sans Mono"/>
              </a:rPr>
              <a:t>ứng</a:t>
            </a:r>
            <a:r>
              <a:rPr sz="10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050" spc="-20" dirty="0">
                <a:solidFill>
                  <a:srgbClr val="3333B3"/>
                </a:solidFill>
                <a:latin typeface="Noto Sans Mono"/>
                <a:cs typeface="Noto Sans Mono"/>
              </a:rPr>
              <a:t>dụng</a:t>
            </a:r>
            <a:endParaRPr sz="10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63" y="3361456"/>
            <a:ext cx="52832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phân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25" dirty="0">
                <a:latin typeface="Noto Sans Mono"/>
                <a:cs typeface="Noto Sans Mono"/>
              </a:rPr>
              <a:t>lớp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771" y="1983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826" y="556525"/>
            <a:ext cx="1884680" cy="12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Ví</a:t>
            </a:r>
            <a:r>
              <a:rPr sz="65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dụ:</a:t>
            </a:r>
            <a:r>
              <a:rPr sz="65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một</a:t>
            </a:r>
            <a:r>
              <a:rPr sz="65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công</a:t>
            </a:r>
            <a:r>
              <a:rPr sz="65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cụ</a:t>
            </a:r>
            <a:r>
              <a:rPr sz="65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tìm</a:t>
            </a:r>
            <a:r>
              <a:rPr sz="65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kiếm</a:t>
            </a:r>
            <a:r>
              <a:rPr sz="65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650" spc="-10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ơn</a:t>
            </a:r>
            <a:r>
              <a:rPr sz="65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giản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5423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90771" y="2157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43" y="3359546"/>
            <a:ext cx="556260" cy="781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hướng</a:t>
            </a:r>
            <a:r>
              <a:rPr sz="300" spc="2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dịch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vụ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782" y="2458095"/>
            <a:ext cx="367093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Noto Sans Mono"/>
                <a:cs typeface="Noto Sans Mono"/>
              </a:rPr>
              <a:t>Đối</a:t>
            </a:r>
            <a:r>
              <a:rPr sz="500" spc="-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tượng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spc="-1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500" spc="-10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óng</a:t>
            </a:r>
            <a:r>
              <a:rPr sz="500" spc="-1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spc="-25" dirty="0">
                <a:solidFill>
                  <a:srgbClr val="3333B3"/>
                </a:solidFill>
                <a:latin typeface="Noto Sans Mono"/>
                <a:cs typeface="Noto Sans Mono"/>
              </a:rPr>
              <a:t>gói</a:t>
            </a:r>
            <a:endParaRPr sz="500">
              <a:latin typeface="Noto Sans Mono"/>
              <a:cs typeface="Noto Sans Mono"/>
            </a:endParaRPr>
          </a:p>
          <a:p>
            <a:pPr marL="15875" marR="5080" indent="-3810">
              <a:lnSpc>
                <a:spcPct val="200800"/>
              </a:lnSpc>
              <a:spcBef>
                <a:spcPts val="170"/>
              </a:spcBef>
            </a:pPr>
            <a:r>
              <a:rPr sz="500" spc="-10" dirty="0">
                <a:latin typeface="Noto Sans Mono"/>
                <a:cs typeface="Noto Sans Mono"/>
              </a:rPr>
              <a:t>đ</a:t>
            </a:r>
            <a:r>
              <a:rPr sz="500" spc="-10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-3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cho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là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spc="-1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500" spc="-10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óng</a:t>
            </a:r>
            <a:r>
              <a:rPr sz="500" spc="-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gói</a:t>
            </a:r>
            <a:r>
              <a:rPr sz="500" spc="-1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dữ</a:t>
            </a:r>
            <a:r>
              <a:rPr sz="500" spc="-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liệu</a:t>
            </a:r>
            <a:r>
              <a:rPr sz="500" spc="-1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và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cung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cấp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các</a:t>
            </a:r>
            <a:r>
              <a:rPr sz="500" spc="-1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phương</a:t>
            </a:r>
            <a:r>
              <a:rPr sz="500" spc="-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thức</a:t>
            </a:r>
            <a:r>
              <a:rPr sz="500" spc="-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trên</a:t>
            </a:r>
            <a:r>
              <a:rPr sz="500" spc="-1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dữ</a:t>
            </a:r>
            <a:r>
              <a:rPr sz="500" spc="-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liệu</a:t>
            </a:r>
            <a:r>
              <a:rPr sz="500" spc="-10" dirty="0">
                <a:solidFill>
                  <a:srgbClr val="C80000"/>
                </a:solidFill>
                <a:latin typeface="Noto Sans Mono"/>
                <a:cs typeface="Noto Sans Mono"/>
              </a:rPr>
              <a:t> đ</a:t>
            </a:r>
            <a:r>
              <a:rPr sz="500" spc="-10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ó</a:t>
            </a:r>
            <a:r>
              <a:rPr sz="500" spc="-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mà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không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tiết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lộ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phần </a:t>
            </a:r>
            <a:r>
              <a:rPr sz="500" dirty="0">
                <a:latin typeface="Noto Sans Mono"/>
                <a:cs typeface="Noto Sans Mono"/>
              </a:rPr>
              <a:t>triển</a:t>
            </a:r>
            <a:r>
              <a:rPr sz="500" spc="-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khai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bên</a:t>
            </a:r>
            <a:r>
              <a:rPr sz="500" spc="-20" dirty="0">
                <a:latin typeface="Noto Sans Mono"/>
                <a:cs typeface="Noto Sans Mono"/>
              </a:rPr>
              <a:t> </a:t>
            </a:r>
            <a:r>
              <a:rPr sz="500" spc="-10" dirty="0">
                <a:latin typeface="Noto Sans Mono"/>
                <a:cs typeface="Noto Sans Mono"/>
              </a:rPr>
              <a:t>trong.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808" y="266162"/>
            <a:ext cx="3971925" cy="857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Phong</a:t>
            </a:r>
            <a:r>
              <a:rPr sz="5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cách</a:t>
            </a:r>
            <a:r>
              <a:rPr sz="5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dựa</a:t>
            </a:r>
            <a:r>
              <a:rPr sz="5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trên</a:t>
            </a:r>
            <a:r>
              <a:rPr sz="5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550" spc="-9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ối</a:t>
            </a:r>
            <a:r>
              <a:rPr sz="5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10" dirty="0">
                <a:solidFill>
                  <a:srgbClr val="3333B3"/>
                </a:solidFill>
                <a:latin typeface="Noto Sans Mono"/>
                <a:cs typeface="Noto Sans Mono"/>
              </a:rPr>
              <a:t>tượng</a:t>
            </a:r>
            <a:endParaRPr sz="5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</a:pPr>
            <a:endParaRPr sz="5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550">
              <a:latin typeface="Noto Sans Mono"/>
              <a:cs typeface="Noto Sans Mono"/>
            </a:endParaRPr>
          </a:p>
          <a:p>
            <a:pPr marL="269240">
              <a:lnSpc>
                <a:spcPct val="100000"/>
              </a:lnSpc>
              <a:spcBef>
                <a:spcPts val="5"/>
              </a:spcBef>
            </a:pPr>
            <a:r>
              <a:rPr sz="600" dirty="0">
                <a:latin typeface="Noto Sans Mono"/>
                <a:cs typeface="Noto Sans Mono"/>
              </a:rPr>
              <a:t>Thành</a:t>
            </a:r>
            <a:r>
              <a:rPr sz="600" spc="-45" dirty="0">
                <a:latin typeface="Noto Sans Mono"/>
                <a:cs typeface="Noto Sans Mono"/>
              </a:rPr>
              <a:t> </a:t>
            </a:r>
            <a:r>
              <a:rPr sz="600" spc="-20" dirty="0">
                <a:latin typeface="Noto Sans Mono"/>
                <a:cs typeface="Noto Sans Mono"/>
              </a:rPr>
              <a:t>phần</a:t>
            </a:r>
            <a:endParaRPr sz="600">
              <a:latin typeface="Noto Sans Mono"/>
              <a:cs typeface="Noto Sans Mono"/>
            </a:endParaRPr>
          </a:p>
          <a:p>
            <a:pPr marL="262255" marR="5080" indent="635">
              <a:lnSpc>
                <a:spcPct val="177400"/>
              </a:lnSpc>
              <a:spcBef>
                <a:spcPts val="95"/>
              </a:spcBef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cốt</a:t>
            </a:r>
            <a:r>
              <a:rPr sz="600" spc="-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lõi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là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các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đ</a:t>
            </a:r>
            <a:r>
              <a:rPr sz="600" spc="-1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ối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tượng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đ</a:t>
            </a:r>
            <a:r>
              <a:rPr sz="600" spc="-1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ược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kết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nối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với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nhau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thông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qua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các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lệnh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gọi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thủ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20" dirty="0">
                <a:latin typeface="Noto Sans Mono"/>
                <a:cs typeface="Noto Sans Mono"/>
              </a:rPr>
              <a:t>tục.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-35" dirty="0">
                <a:latin typeface="Noto Sans Mono"/>
                <a:cs typeface="Noto Sans Mono"/>
              </a:rPr>
              <a:t> </a:t>
            </a:r>
            <a:r>
              <a:rPr sz="500" spc="-10" dirty="0">
                <a:latin typeface="Noto Sans Mono"/>
                <a:cs typeface="Noto Sans Mono"/>
              </a:rPr>
              <a:t>đ</a:t>
            </a:r>
            <a:r>
              <a:rPr sz="500" spc="-10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ối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tượng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thể</a:t>
            </a:r>
            <a:r>
              <a:rPr sz="500" spc="-10" dirty="0">
                <a:latin typeface="Noto Sans Mono"/>
                <a:cs typeface="Noto Sans Mono"/>
              </a:rPr>
              <a:t> đ</a:t>
            </a:r>
            <a:r>
              <a:rPr sz="500" spc="-10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spc="-10" dirty="0">
                <a:latin typeface="Noto Sans Mono"/>
                <a:cs typeface="Noto Sans Mono"/>
              </a:rPr>
              <a:t>đ</a:t>
            </a:r>
            <a:r>
              <a:rPr sz="500" spc="-10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ặt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trên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máy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khác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nhau;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do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spc="-10" dirty="0">
                <a:latin typeface="Noto Sans Mono"/>
                <a:cs typeface="Noto Sans Mono"/>
              </a:rPr>
              <a:t>đ</a:t>
            </a:r>
            <a:r>
              <a:rPr sz="500" spc="-10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ó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lệnh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gọi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thể</a:t>
            </a:r>
            <a:r>
              <a:rPr sz="500" spc="-10" dirty="0">
                <a:latin typeface="Noto Sans Mono"/>
                <a:cs typeface="Noto Sans Mono"/>
              </a:rPr>
              <a:t> đ</a:t>
            </a:r>
            <a:r>
              <a:rPr sz="500" spc="-10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thực</a:t>
            </a:r>
            <a:r>
              <a:rPr sz="500" spc="-10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hiện </a:t>
            </a:r>
            <a:r>
              <a:rPr sz="500" dirty="0">
                <a:latin typeface="Noto Sans Mono"/>
                <a:cs typeface="Noto Sans Mono"/>
              </a:rPr>
              <a:t>trên</a:t>
            </a:r>
            <a:r>
              <a:rPr sz="500" spc="-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toàn</a:t>
            </a:r>
            <a:r>
              <a:rPr sz="500" spc="-15" dirty="0">
                <a:latin typeface="Noto Sans Mono"/>
                <a:cs typeface="Noto Sans Mono"/>
              </a:rPr>
              <a:t> </a:t>
            </a:r>
            <a:r>
              <a:rPr sz="500" spc="-10" dirty="0">
                <a:latin typeface="Noto Sans Mono"/>
                <a:cs typeface="Noto Sans Mono"/>
              </a:rPr>
              <a:t>mạng.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10105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9139" y="238165"/>
            <a:ext cx="1183640" cy="16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Kiến</a:t>
            </a:r>
            <a:r>
              <a:rPr sz="9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trúc</a:t>
            </a:r>
            <a:r>
              <a:rPr sz="9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spc="-10" dirty="0">
                <a:solidFill>
                  <a:srgbClr val="3333B3"/>
                </a:solidFill>
                <a:latin typeface="Noto Sans Mono"/>
                <a:cs typeface="Noto Sans Mono"/>
              </a:rPr>
              <a:t>RESTful</a:t>
            </a:r>
            <a:endParaRPr sz="900">
              <a:latin typeface="Noto Sans Mono"/>
              <a:cs typeface="Noto Sans Mo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343" y="3359546"/>
            <a:ext cx="556260" cy="781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hướng</a:t>
            </a:r>
            <a:r>
              <a:rPr sz="300" spc="2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dịch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vụ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258" y="1243730"/>
            <a:ext cx="3237230" cy="718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1.</a:t>
            </a:r>
            <a:r>
              <a:rPr sz="50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Tài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nguyên</a:t>
            </a:r>
            <a:r>
              <a:rPr sz="500" spc="6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xác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ịnh</a:t>
            </a:r>
            <a:r>
              <a:rPr sz="500" spc="6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thông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qua</a:t>
            </a:r>
            <a:r>
              <a:rPr sz="500" spc="6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lược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ồ</a:t>
            </a:r>
            <a:r>
              <a:rPr sz="500" spc="6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ặt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tên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duy</a:t>
            </a:r>
            <a:r>
              <a:rPr sz="500" spc="6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nhất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spc="-25" dirty="0">
                <a:solidFill>
                  <a:srgbClr val="3333B3"/>
                </a:solidFill>
                <a:latin typeface="Noto Sans Mono"/>
                <a:cs typeface="Noto Sans Mono"/>
              </a:rPr>
              <a:t>2.</a:t>
            </a:r>
            <a:endParaRPr sz="500">
              <a:latin typeface="Noto Sans Mono"/>
              <a:cs typeface="Noto Sans Mono"/>
            </a:endParaRPr>
          </a:p>
          <a:p>
            <a:pPr marL="13335">
              <a:lnSpc>
                <a:spcPct val="100000"/>
              </a:lnSpc>
              <a:spcBef>
                <a:spcPts val="430"/>
              </a:spcBef>
            </a:pPr>
            <a:r>
              <a:rPr sz="500" dirty="0">
                <a:latin typeface="Noto Sans Mono"/>
                <a:cs typeface="Noto Sans Mono"/>
              </a:rPr>
              <a:t>Tất</a:t>
            </a:r>
            <a:r>
              <a:rPr sz="500" spc="6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cả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dịch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vụ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ều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cung</a:t>
            </a:r>
            <a:r>
              <a:rPr sz="500" spc="6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cấp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cùng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giao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diện</a:t>
            </a:r>
            <a:endParaRPr sz="5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50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</a:pP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3.</a:t>
            </a:r>
            <a:r>
              <a:rPr sz="50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tin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nhắn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6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gửi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ến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hoặc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từ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dịch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vụ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6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tự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mô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tả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ầy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ủ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spc="-25" dirty="0">
                <a:solidFill>
                  <a:srgbClr val="3333B3"/>
                </a:solidFill>
                <a:latin typeface="Noto Sans Mono"/>
                <a:cs typeface="Noto Sans Mono"/>
              </a:rPr>
              <a:t>4.</a:t>
            </a:r>
            <a:endParaRPr sz="500">
              <a:latin typeface="Noto Sans Mono"/>
              <a:cs typeface="Noto Sans Mono"/>
            </a:endParaRPr>
          </a:p>
          <a:p>
            <a:pPr marL="171450" marR="5080" indent="-159385">
              <a:lnSpc>
                <a:spcPct val="200800"/>
              </a:lnSpc>
            </a:pPr>
            <a:r>
              <a:rPr sz="500" dirty="0">
                <a:latin typeface="Noto Sans Mono"/>
                <a:cs typeface="Noto Sans Mono"/>
              </a:rPr>
              <a:t>Sau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khi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thực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hiện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hoạt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ộng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tại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dịch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vụ,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thành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phần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ó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quên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mọi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thứ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về </a:t>
            </a:r>
            <a:r>
              <a:rPr sz="500" dirty="0">
                <a:latin typeface="Noto Sans Mono"/>
                <a:cs typeface="Noto Sans Mono"/>
              </a:rPr>
              <a:t>người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gọi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1925" y="2982313"/>
            <a:ext cx="2851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Noto Sans Mono"/>
                <a:cs typeface="Noto Sans Mono"/>
              </a:rPr>
              <a:t>BƯU</a:t>
            </a:r>
            <a:r>
              <a:rPr sz="400" spc="60" dirty="0">
                <a:latin typeface="Noto Sans Mono"/>
                <a:cs typeface="Noto Sans Mono"/>
              </a:rPr>
              <a:t> </a:t>
            </a:r>
            <a:r>
              <a:rPr sz="400" spc="-20" dirty="0">
                <a:latin typeface="Noto Sans Mono"/>
                <a:cs typeface="Noto Sans Mono"/>
              </a:rPr>
              <a:t>KIỆN</a:t>
            </a:r>
            <a:endParaRPr sz="4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436" y="2196219"/>
            <a:ext cx="780415" cy="984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Các</a:t>
            </a:r>
            <a:r>
              <a:rPr sz="45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hoạt</a:t>
            </a:r>
            <a:r>
              <a:rPr sz="45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450" spc="-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ộng</a:t>
            </a:r>
            <a:r>
              <a:rPr sz="45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cơ</a:t>
            </a:r>
            <a:r>
              <a:rPr sz="45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spc="-25" dirty="0">
                <a:solidFill>
                  <a:srgbClr val="3333B3"/>
                </a:solidFill>
                <a:latin typeface="Noto Sans Mono"/>
                <a:cs typeface="Noto Sans Mono"/>
              </a:rPr>
              <a:t>bản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067" y="568074"/>
            <a:ext cx="388366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30"/>
              </a:spcBef>
            </a:pP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Bản</a:t>
            </a:r>
            <a:r>
              <a:rPr sz="45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chất</a:t>
            </a:r>
            <a:r>
              <a:rPr sz="4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spc="-25" dirty="0">
                <a:latin typeface="Noto Sans Mono"/>
                <a:cs typeface="Noto Sans Mono"/>
              </a:rPr>
              <a:t>Xem</a:t>
            </a:r>
            <a:endParaRPr sz="450">
              <a:latin typeface="Noto Sans Mono"/>
              <a:cs typeface="Noto Sans Mono"/>
            </a:endParaRPr>
          </a:p>
          <a:p>
            <a:pPr marL="16510" marR="5080" indent="-4445">
              <a:lnSpc>
                <a:spcPct val="223100"/>
              </a:lnSpc>
              <a:spcBef>
                <a:spcPts val="170"/>
              </a:spcBef>
            </a:pPr>
            <a:r>
              <a:rPr sz="450" dirty="0">
                <a:latin typeface="Noto Sans Mono"/>
                <a:cs typeface="Noto Sans Mono"/>
              </a:rPr>
              <a:t>hệ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thống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phân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tán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như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một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tập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hợp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các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tài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nguyên,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đ</a:t>
            </a:r>
            <a:r>
              <a:rPr sz="450" spc="-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ược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quản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lý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riêng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lẻ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bởi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các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thành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phần.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Tài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nguyên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spc="-25" dirty="0">
                <a:latin typeface="Noto Sans Mono"/>
                <a:cs typeface="Noto Sans Mono"/>
              </a:rPr>
              <a:t>có </a:t>
            </a:r>
            <a:r>
              <a:rPr sz="450" dirty="0">
                <a:latin typeface="Noto Sans Mono"/>
                <a:cs typeface="Noto Sans Mono"/>
              </a:rPr>
              <a:t>thể</a:t>
            </a:r>
            <a:r>
              <a:rPr sz="450" spc="4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đ</a:t>
            </a:r>
            <a:r>
              <a:rPr sz="450" spc="-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ược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thêm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vào,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xóa,</a:t>
            </a:r>
            <a:r>
              <a:rPr sz="450" spc="4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truy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xuất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và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sửa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đ</a:t>
            </a:r>
            <a:r>
              <a:rPr sz="450" spc="-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ổi</a:t>
            </a:r>
            <a:r>
              <a:rPr sz="450" spc="4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bởi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các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ứng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dụng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(từ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spc="-20" dirty="0">
                <a:latin typeface="Noto Sans Mono"/>
                <a:cs typeface="Noto Sans Mono"/>
              </a:rPr>
              <a:t>xa).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1925" y="2836962"/>
            <a:ext cx="829310" cy="984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50" dirty="0">
                <a:latin typeface="Noto Sans Mono"/>
                <a:cs typeface="Noto Sans Mono"/>
              </a:rPr>
              <a:t>XÓA</a:t>
            </a:r>
            <a:r>
              <a:rPr sz="450" spc="4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Xóa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một</a:t>
            </a:r>
            <a:r>
              <a:rPr sz="450" spc="4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tài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spc="-10" dirty="0">
                <a:latin typeface="Noto Sans Mono"/>
                <a:cs typeface="Noto Sans Mono"/>
              </a:rPr>
              <a:t>nguyên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0771" y="2157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04899" y="2714176"/>
            <a:ext cx="2175510" cy="97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dirty="0">
                <a:latin typeface="Noto Sans Mono"/>
                <a:cs typeface="Noto Sans Mono"/>
              </a:rPr>
              <a:t>Lấy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lại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trạng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thái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của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một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tài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nguyên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trong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một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số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biểu</a:t>
            </a:r>
            <a:r>
              <a:rPr sz="450" spc="30" dirty="0">
                <a:latin typeface="Noto Sans Mono"/>
                <a:cs typeface="Noto Sans Mono"/>
              </a:rPr>
              <a:t> </a:t>
            </a:r>
            <a:r>
              <a:rPr sz="450" spc="-20" dirty="0">
                <a:latin typeface="Noto Sans Mono"/>
                <a:cs typeface="Noto Sans Mono"/>
              </a:rPr>
              <a:t>diễn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00924" y="2565068"/>
            <a:ext cx="91503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latin typeface="Noto Sans Mono"/>
                <a:cs typeface="Noto Sans Mono"/>
              </a:rPr>
              <a:t>Tạo</a:t>
            </a:r>
            <a:r>
              <a:rPr sz="400" spc="5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một</a:t>
            </a:r>
            <a:r>
              <a:rPr sz="400" spc="6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nguồn</a:t>
            </a:r>
            <a:r>
              <a:rPr sz="400" spc="5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tài</a:t>
            </a:r>
            <a:r>
              <a:rPr sz="400" spc="6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nguyên</a:t>
            </a:r>
            <a:r>
              <a:rPr sz="400" spc="55" dirty="0">
                <a:latin typeface="Noto Sans Mono"/>
                <a:cs typeface="Noto Sans Mono"/>
              </a:rPr>
              <a:t> </a:t>
            </a:r>
            <a:r>
              <a:rPr sz="400" spc="-25" dirty="0">
                <a:latin typeface="Noto Sans Mono"/>
                <a:cs typeface="Noto Sans Mono"/>
              </a:rPr>
              <a:t>mới</a:t>
            </a:r>
            <a:endParaRPr sz="400">
              <a:latin typeface="Noto Sans Mono"/>
              <a:cs typeface="Noto Sans Mo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1925" y="2423049"/>
            <a:ext cx="591185" cy="374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0"/>
              </a:spcBef>
            </a:pPr>
            <a:r>
              <a:rPr sz="450" dirty="0">
                <a:latin typeface="Noto Sans Mono"/>
                <a:cs typeface="Noto Sans Mono"/>
              </a:rPr>
              <a:t>Mô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tả</a:t>
            </a:r>
            <a:r>
              <a:rPr sz="450" spc="2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hoạt</a:t>
            </a:r>
            <a:r>
              <a:rPr sz="450" spc="2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đ</a:t>
            </a:r>
            <a:r>
              <a:rPr sz="450" spc="-80" dirty="0">
                <a:latin typeface="Noto Sans Mono"/>
                <a:cs typeface="Noto Sans Mono"/>
              </a:rPr>
              <a:t> </a:t>
            </a:r>
            <a:r>
              <a:rPr sz="450" spc="-25" dirty="0">
                <a:latin typeface="Noto Sans Mono"/>
                <a:cs typeface="Noto Sans Mono"/>
              </a:rPr>
              <a:t>ộng</a:t>
            </a:r>
            <a:endParaRPr sz="450">
              <a:latin typeface="Noto Sans Mono"/>
              <a:cs typeface="Noto Sans Mono"/>
            </a:endParaRPr>
          </a:p>
          <a:p>
            <a:pPr marL="14604" marR="458470" indent="-2540">
              <a:lnSpc>
                <a:spcPts val="1090"/>
              </a:lnSpc>
              <a:spcBef>
                <a:spcPts val="100"/>
              </a:spcBef>
            </a:pPr>
            <a:r>
              <a:rPr sz="450" spc="-25" dirty="0">
                <a:latin typeface="Noto Sans Mono"/>
                <a:cs typeface="Noto Sans Mono"/>
              </a:rPr>
              <a:t>ĐẶT LẤY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3311" y="3001128"/>
            <a:ext cx="1784985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dirty="0">
                <a:latin typeface="Noto Sans Mono"/>
                <a:cs typeface="Noto Sans Mono"/>
              </a:rPr>
              <a:t>Sửa</a:t>
            </a:r>
            <a:r>
              <a:rPr sz="400" spc="-20" dirty="0">
                <a:latin typeface="Noto Sans Mono"/>
                <a:cs typeface="Noto Sans Mono"/>
              </a:rPr>
              <a:t> </a:t>
            </a:r>
            <a:r>
              <a:rPr sz="400" spc="-10" dirty="0">
                <a:latin typeface="Noto Sans Mono"/>
                <a:cs typeface="Noto Sans Mono"/>
              </a:rPr>
              <a:t>đ</a:t>
            </a:r>
            <a:r>
              <a:rPr sz="400" spc="-8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ổi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một</a:t>
            </a:r>
            <a:r>
              <a:rPr sz="400" spc="-1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tài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nguyên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bằng</a:t>
            </a:r>
            <a:r>
              <a:rPr sz="400" spc="-1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cách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chuyển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một</a:t>
            </a:r>
            <a:r>
              <a:rPr sz="400" spc="-1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trạng</a:t>
            </a:r>
            <a:r>
              <a:rPr sz="400" spc="-1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thái</a:t>
            </a:r>
            <a:r>
              <a:rPr sz="400" spc="-10" dirty="0">
                <a:latin typeface="Noto Sans Mono"/>
                <a:cs typeface="Noto Sans Mono"/>
              </a:rPr>
              <a:t> </a:t>
            </a:r>
            <a:r>
              <a:rPr sz="400" spc="-25" dirty="0">
                <a:latin typeface="Noto Sans Mono"/>
                <a:cs typeface="Noto Sans Mono"/>
              </a:rPr>
              <a:t>mới</a:t>
            </a:r>
            <a:endParaRPr sz="400">
              <a:latin typeface="Noto Sans Mono"/>
              <a:cs typeface="Noto Sans Mo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590" y="10105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0700" y="553651"/>
            <a:ext cx="3763645" cy="8401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0"/>
              </a:spcBef>
            </a:pPr>
            <a:r>
              <a:rPr sz="550" spc="-10" dirty="0">
                <a:solidFill>
                  <a:srgbClr val="3333B3"/>
                </a:solidFill>
                <a:latin typeface="Noto Sans Mono"/>
                <a:cs typeface="Noto Sans Mono"/>
              </a:rPr>
              <a:t>Essence</a:t>
            </a:r>
            <a:endParaRPr sz="550">
              <a:latin typeface="Noto Sans Mono"/>
              <a:cs typeface="Noto Sans Mono"/>
            </a:endParaRPr>
          </a:p>
          <a:p>
            <a:pPr marL="13970" marR="5080" indent="-1905">
              <a:lnSpc>
                <a:spcPct val="182600"/>
              </a:lnSpc>
              <a:spcBef>
                <a:spcPts val="170"/>
              </a:spcBef>
            </a:pP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Objects</a:t>
            </a:r>
            <a:r>
              <a:rPr sz="550" spc="6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(tức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là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tệp)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ặt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vào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các</a:t>
            </a:r>
            <a:r>
              <a:rPr sz="550" spc="6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bucket</a:t>
            </a:r>
            <a:r>
              <a:rPr sz="550" spc="6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(tức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là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thư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mục).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Không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thể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65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ặt </a:t>
            </a:r>
            <a:r>
              <a:rPr sz="550" dirty="0">
                <a:latin typeface="Noto Sans Mono"/>
                <a:cs typeface="Noto Sans Mono"/>
              </a:rPr>
              <a:t>bucket</a:t>
            </a:r>
            <a:r>
              <a:rPr sz="550" spc="9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vào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bucket.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thao</a:t>
            </a:r>
            <a:r>
              <a:rPr sz="550" spc="9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tác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trên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ObjectName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trong</a:t>
            </a:r>
            <a:r>
              <a:rPr sz="550" spc="9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bucket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BucketName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yêu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cầu</a:t>
            </a:r>
            <a:r>
              <a:rPr sz="550" spc="9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mã</a:t>
            </a:r>
            <a:endParaRPr sz="550">
              <a:latin typeface="Noto Sans Mono"/>
              <a:cs typeface="Noto Sans Mono"/>
            </a:endParaRPr>
          </a:p>
          <a:p>
            <a:pPr marL="15875">
              <a:lnSpc>
                <a:spcPct val="100000"/>
              </a:lnSpc>
              <a:spcBef>
                <a:spcPts val="545"/>
              </a:spcBef>
            </a:pP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ịnh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danh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sau:</a:t>
            </a:r>
            <a:endParaRPr sz="5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550">
              <a:latin typeface="Noto Sans Mono"/>
              <a:cs typeface="Noto Sans Mono"/>
            </a:endParaRPr>
          </a:p>
          <a:p>
            <a:pPr marL="523240">
              <a:lnSpc>
                <a:spcPct val="100000"/>
              </a:lnSpc>
              <a:spcBef>
                <a:spcPts val="5"/>
              </a:spcBef>
            </a:pPr>
            <a:r>
              <a:rPr sz="650" spc="-10" dirty="0">
                <a:latin typeface="Noto Sans Mono"/>
                <a:cs typeface="Noto Sans Mono"/>
                <a:hlinkClick r:id="rId3"/>
              </a:rPr>
              <a:t>http://BucketName.s3.amazonaws.com/ObjectName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43" y="3359546"/>
            <a:ext cx="556260" cy="781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hướng</a:t>
            </a:r>
            <a:r>
              <a:rPr sz="300" spc="2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dịch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vụ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685" y="228094"/>
            <a:ext cx="298386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Ví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dụ: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Dịch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vụ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lưu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trữ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900" spc="-1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ơn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giản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của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spc="-10" dirty="0">
                <a:solidFill>
                  <a:srgbClr val="3333B3"/>
                </a:solidFill>
                <a:latin typeface="Noto Sans Mono"/>
                <a:cs typeface="Noto Sans Mono"/>
              </a:rPr>
              <a:t>Amazon</a:t>
            </a:r>
            <a:endParaRPr sz="9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0771" y="2157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4658" y="1659269"/>
            <a:ext cx="2896235" cy="796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4D994D"/>
                </a:solidFill>
                <a:latin typeface="Noto Sans Mono"/>
                <a:cs typeface="Noto Sans Mono"/>
              </a:rPr>
              <a:t>Các</a:t>
            </a:r>
            <a:r>
              <a:rPr sz="550" spc="-5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4D994D"/>
                </a:solidFill>
                <a:latin typeface="Noto Sans Mono"/>
                <a:cs typeface="Noto Sans Mono"/>
              </a:rPr>
              <a:t>hoạt</a:t>
            </a:r>
            <a:r>
              <a:rPr sz="550" spc="-5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4D994D"/>
                </a:solidFill>
                <a:latin typeface="Noto Sans Mono"/>
                <a:cs typeface="Noto Sans Mono"/>
              </a:rPr>
              <a:t>đ</a:t>
            </a:r>
            <a:r>
              <a:rPr sz="550" spc="-114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4D994D"/>
                </a:solidFill>
                <a:latin typeface="Noto Sans Mono"/>
                <a:cs typeface="Noto Sans Mono"/>
              </a:rPr>
              <a:t>ộng</a:t>
            </a:r>
            <a:r>
              <a:rPr sz="550" spc="-5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4D994D"/>
                </a:solidFill>
                <a:latin typeface="Noto Sans Mono"/>
                <a:cs typeface="Noto Sans Mono"/>
              </a:rPr>
              <a:t>đ</a:t>
            </a:r>
            <a:r>
              <a:rPr sz="550" spc="-114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4D994D"/>
                </a:solidFill>
                <a:latin typeface="Noto Sans Mono"/>
                <a:cs typeface="Noto Sans Mono"/>
              </a:rPr>
              <a:t>iển</a:t>
            </a:r>
            <a:r>
              <a:rPr sz="550" spc="-5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550" spc="-20" dirty="0">
                <a:solidFill>
                  <a:srgbClr val="4D994D"/>
                </a:solidFill>
                <a:latin typeface="Noto Sans Mono"/>
                <a:cs typeface="Noto Sans Mono"/>
              </a:rPr>
              <a:t>hình</a:t>
            </a:r>
            <a:endParaRPr sz="55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550" dirty="0">
                <a:latin typeface="Noto Sans Mono"/>
                <a:cs typeface="Noto Sans Mono"/>
              </a:rPr>
              <a:t>Tất</a:t>
            </a:r>
            <a:r>
              <a:rPr sz="550" spc="9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cả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hoạt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ộng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thực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hiện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bằng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cách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gửi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yêu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cầu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HTTP:</a:t>
            </a:r>
            <a:endParaRPr sz="550">
              <a:latin typeface="Noto Sans Mono"/>
              <a:cs typeface="Noto Sans Mono"/>
            </a:endParaRPr>
          </a:p>
          <a:p>
            <a:pPr marL="153035" marR="259715" indent="88265">
              <a:lnSpc>
                <a:spcPct val="182600"/>
              </a:lnSpc>
              <a:spcBef>
                <a:spcPts val="400"/>
              </a:spcBef>
              <a:buClr>
                <a:srgbClr val="3333B3"/>
              </a:buClr>
              <a:buChar char="•"/>
              <a:tabLst>
                <a:tab pos="241300" algn="l"/>
              </a:tabLst>
            </a:pPr>
            <a:r>
              <a:rPr sz="550" dirty="0">
                <a:latin typeface="Noto Sans Mono"/>
                <a:cs typeface="Noto Sans Mono"/>
              </a:rPr>
              <a:t>Tạo</a:t>
            </a:r>
            <a:r>
              <a:rPr sz="550" spc="1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bucket/đ</a:t>
            </a:r>
            <a:r>
              <a:rPr sz="550" spc="-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ối</a:t>
            </a:r>
            <a:r>
              <a:rPr sz="550" spc="1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tượng:</a:t>
            </a:r>
            <a:r>
              <a:rPr sz="550" spc="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PUT,</a:t>
            </a:r>
            <a:r>
              <a:rPr sz="550" spc="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cùng</a:t>
            </a:r>
            <a:r>
              <a:rPr sz="550" spc="1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URI</a:t>
            </a:r>
            <a:r>
              <a:rPr sz="550" spc="110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50" spc="114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Liệt</a:t>
            </a:r>
            <a:r>
              <a:rPr sz="550" spc="114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kê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ối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tượng: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GET</a:t>
            </a:r>
            <a:r>
              <a:rPr sz="550" spc="1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trên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tên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bucket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50" spc="1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Đọc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một</a:t>
            </a:r>
            <a:endParaRPr sz="550">
              <a:latin typeface="Noto Sans Mono"/>
              <a:cs typeface="Noto Sans Mono"/>
            </a:endParaRPr>
          </a:p>
          <a:p>
            <a:pPr marL="153035">
              <a:lnSpc>
                <a:spcPct val="100000"/>
              </a:lnSpc>
              <a:spcBef>
                <a:spcPts val="545"/>
              </a:spcBef>
            </a:pP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ối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tượng: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GET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trên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URI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ầy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0" dirty="0">
                <a:latin typeface="Noto Sans Mono"/>
                <a:cs typeface="Noto Sans Mono"/>
              </a:rPr>
              <a:t> ủ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90" y="10105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0808" y="216473"/>
            <a:ext cx="4018279" cy="1013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Trên</a:t>
            </a:r>
            <a:r>
              <a:rPr sz="850" spc="-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giao</a:t>
            </a:r>
            <a:r>
              <a:rPr sz="850" spc="-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0" dirty="0">
                <a:solidFill>
                  <a:srgbClr val="3333B3"/>
                </a:solidFill>
                <a:latin typeface="Noto Sans Mono"/>
                <a:cs typeface="Noto Sans Mono"/>
              </a:rPr>
              <a:t>diện</a:t>
            </a:r>
            <a:endParaRPr sz="8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850">
              <a:latin typeface="Noto Sans Mono"/>
              <a:cs typeface="Noto Sans Mono"/>
            </a:endParaRPr>
          </a:p>
          <a:p>
            <a:pPr marL="270510">
              <a:lnSpc>
                <a:spcPct val="100000"/>
              </a:lnSpc>
            </a:pPr>
            <a:r>
              <a:rPr sz="600" spc="-25" dirty="0">
                <a:solidFill>
                  <a:srgbClr val="C80000"/>
                </a:solidFill>
                <a:latin typeface="Noto Sans Mono"/>
                <a:cs typeface="Noto Sans Mono"/>
              </a:rPr>
              <a:t>Vấn</a:t>
            </a:r>
            <a:endParaRPr sz="600">
              <a:latin typeface="Noto Sans Mono"/>
              <a:cs typeface="Noto Sans Mono"/>
            </a:endParaRPr>
          </a:p>
          <a:p>
            <a:pPr marL="261620" marR="5080" indent="4445">
              <a:lnSpc>
                <a:spcPct val="167400"/>
              </a:lnSpc>
              <a:spcBef>
                <a:spcPts val="170"/>
              </a:spcBef>
            </a:pPr>
            <a:r>
              <a:rPr sz="600" spc="-1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600" spc="-12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C80000"/>
                </a:solidFill>
                <a:latin typeface="Noto Sans Mono"/>
                <a:cs typeface="Noto Sans Mono"/>
              </a:rPr>
              <a:t>ề</a:t>
            </a:r>
            <a:r>
              <a:rPr sz="600" spc="-6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Nhiều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người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thích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cách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tiếp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cận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RESTful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vì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giao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diện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với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dịch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vụ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rất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đ</a:t>
            </a:r>
            <a:r>
              <a:rPr sz="600" spc="-1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ơn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giản. </a:t>
            </a:r>
            <a:r>
              <a:rPr sz="600" dirty="0">
                <a:latin typeface="Noto Sans Mono"/>
                <a:cs typeface="Noto Sans Mono"/>
              </a:rPr>
              <a:t>Vấn</a:t>
            </a:r>
            <a:r>
              <a:rPr sz="600" spc="-50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đ</a:t>
            </a:r>
            <a:r>
              <a:rPr sz="600" spc="-1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ề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là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cần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phải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thực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hiện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nhiều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thao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tác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trong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không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gian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tham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số.</a:t>
            </a:r>
            <a:endParaRPr sz="6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00">
              <a:latin typeface="Noto Sans Mono"/>
              <a:cs typeface="Noto Sans Mono"/>
            </a:endParaRPr>
          </a:p>
          <a:p>
            <a:pPr marL="255904">
              <a:lnSpc>
                <a:spcPct val="100000"/>
              </a:lnSpc>
            </a:pP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Giao</a:t>
            </a:r>
            <a:r>
              <a:rPr sz="80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diện</a:t>
            </a:r>
            <a:r>
              <a:rPr sz="80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Amazon</a:t>
            </a:r>
            <a:r>
              <a:rPr sz="80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S3</a:t>
            </a:r>
            <a:r>
              <a:rPr sz="80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spc="-20" dirty="0">
                <a:solidFill>
                  <a:srgbClr val="3333B3"/>
                </a:solidFill>
                <a:latin typeface="Noto Sans Mono"/>
                <a:cs typeface="Noto Sans Mono"/>
              </a:rPr>
              <a:t>SOAP</a:t>
            </a:r>
            <a:endParaRPr sz="8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43" y="3359546"/>
            <a:ext cx="556260" cy="781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hướng</a:t>
            </a:r>
            <a:r>
              <a:rPr sz="300" spc="2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dịch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vụ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771" y="2157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90" y="10105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90771" y="2157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43" y="3359546"/>
            <a:ext cx="556260" cy="781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hướng</a:t>
            </a:r>
            <a:r>
              <a:rPr sz="300" spc="2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dịch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vụ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808" y="216473"/>
            <a:ext cx="4010025" cy="801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Trên</a:t>
            </a:r>
            <a:r>
              <a:rPr sz="850" spc="-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giao</a:t>
            </a:r>
            <a:r>
              <a:rPr sz="850" spc="-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0" dirty="0">
                <a:solidFill>
                  <a:srgbClr val="3333B3"/>
                </a:solidFill>
                <a:latin typeface="Noto Sans Mono"/>
                <a:cs typeface="Noto Sans Mono"/>
              </a:rPr>
              <a:t>diện</a:t>
            </a:r>
            <a:endParaRPr sz="8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50">
              <a:latin typeface="Noto Sans Mono"/>
              <a:cs typeface="Noto Sans Mono"/>
            </a:endParaRPr>
          </a:p>
          <a:p>
            <a:pPr marL="264160">
              <a:lnSpc>
                <a:spcPct val="100000"/>
              </a:lnSpc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Đơn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giản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hóa</a:t>
            </a:r>
            <a:endParaRPr sz="650">
              <a:latin typeface="Noto Sans Mono"/>
              <a:cs typeface="Noto Sans Mono"/>
            </a:endParaRPr>
          </a:p>
          <a:p>
            <a:pPr marL="261620" marR="5080" indent="-5715">
              <a:lnSpc>
                <a:spcPct val="154500"/>
              </a:lnSpc>
              <a:spcBef>
                <a:spcPts val="170"/>
              </a:spcBef>
            </a:pPr>
            <a:r>
              <a:rPr sz="650" dirty="0">
                <a:latin typeface="Noto Sans Mono"/>
                <a:cs typeface="Noto Sans Mono"/>
              </a:rPr>
              <a:t>Giả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sử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một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thùng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giao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diện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cung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cấp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thao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tác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tạo,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yêu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cầu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chuỗi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ầu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vào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như </a:t>
            </a:r>
            <a:r>
              <a:rPr sz="650" dirty="0">
                <a:latin typeface="Noto Sans Mono"/>
                <a:cs typeface="Noto Sans Mono"/>
              </a:rPr>
              <a:t>mybucket,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ể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tạo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thùng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10" dirty="0">
                <a:latin typeface="Noto Sans Mono"/>
                <a:cs typeface="Noto Sans Mono"/>
              </a:rPr>
              <a:t>“mybucket”.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90" y="10105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90771" y="2157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43" y="3359546"/>
            <a:ext cx="556260" cy="781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hướng</a:t>
            </a:r>
            <a:r>
              <a:rPr sz="300" spc="2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dịch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vụ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808" y="216473"/>
            <a:ext cx="4010025" cy="1353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Trên</a:t>
            </a:r>
            <a:r>
              <a:rPr sz="850" spc="-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giao</a:t>
            </a:r>
            <a:r>
              <a:rPr sz="850" spc="-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0" dirty="0">
                <a:solidFill>
                  <a:srgbClr val="3333B3"/>
                </a:solidFill>
                <a:latin typeface="Noto Sans Mono"/>
                <a:cs typeface="Noto Sans Mono"/>
              </a:rPr>
              <a:t>diện</a:t>
            </a:r>
            <a:endParaRPr sz="8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50">
              <a:latin typeface="Noto Sans Mono"/>
              <a:cs typeface="Noto Sans Mono"/>
            </a:endParaRPr>
          </a:p>
          <a:p>
            <a:pPr marL="264160">
              <a:lnSpc>
                <a:spcPct val="100000"/>
              </a:lnSpc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Đơn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giản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hóa</a:t>
            </a:r>
            <a:endParaRPr sz="650">
              <a:latin typeface="Noto Sans Mono"/>
              <a:cs typeface="Noto Sans Mono"/>
            </a:endParaRPr>
          </a:p>
          <a:p>
            <a:pPr marL="261620" marR="5080" indent="-5715">
              <a:lnSpc>
                <a:spcPct val="154500"/>
              </a:lnSpc>
              <a:spcBef>
                <a:spcPts val="170"/>
              </a:spcBef>
            </a:pPr>
            <a:r>
              <a:rPr sz="650" dirty="0">
                <a:latin typeface="Noto Sans Mono"/>
                <a:cs typeface="Noto Sans Mono"/>
              </a:rPr>
              <a:t>Giả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sử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một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thùng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giao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diện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cung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cấp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thao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tác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tạo,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yêu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cầu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chuỗi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ầu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vào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như </a:t>
            </a:r>
            <a:r>
              <a:rPr sz="650" dirty="0">
                <a:latin typeface="Noto Sans Mono"/>
                <a:cs typeface="Noto Sans Mono"/>
              </a:rPr>
              <a:t>mybucket,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ể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tạo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thùng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10" dirty="0">
                <a:latin typeface="Noto Sans Mono"/>
                <a:cs typeface="Noto Sans Mono"/>
              </a:rPr>
              <a:t>“mybucket”.</a:t>
            </a:r>
            <a:endParaRPr sz="6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650">
              <a:latin typeface="Noto Sans Mono"/>
              <a:cs typeface="Noto Sans Mono"/>
            </a:endParaRPr>
          </a:p>
          <a:p>
            <a:pPr marL="264160">
              <a:lnSpc>
                <a:spcPct val="100000"/>
              </a:lnSpc>
              <a:spcBef>
                <a:spcPts val="5"/>
              </a:spcBef>
            </a:pPr>
            <a:r>
              <a:rPr sz="650" spc="-25" dirty="0">
                <a:latin typeface="Noto Sans Mono"/>
                <a:cs typeface="Noto Sans Mono"/>
              </a:rPr>
              <a:t>Xô</a:t>
            </a:r>
            <a:endParaRPr sz="650">
              <a:latin typeface="Noto Sans Mono"/>
              <a:cs typeface="Noto Sans Mono"/>
            </a:endParaRPr>
          </a:p>
          <a:p>
            <a:pPr marL="513715" marR="2251710" indent="-101600">
              <a:lnSpc>
                <a:spcPct val="154500"/>
              </a:lnSpc>
              <a:spcBef>
                <a:spcPts val="110"/>
              </a:spcBef>
            </a:pPr>
            <a:r>
              <a:rPr sz="650" dirty="0">
                <a:latin typeface="Noto Sans Mono"/>
                <a:cs typeface="Noto Sans Mono"/>
              </a:rPr>
              <a:t>nhập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20" dirty="0">
                <a:solidFill>
                  <a:srgbClr val="4D994D"/>
                </a:solidFill>
                <a:latin typeface="Noto Sans Mono"/>
                <a:cs typeface="Noto Sans Mono"/>
              </a:rPr>
              <a:t>SOAP </a:t>
            </a:r>
            <a:r>
              <a:rPr sz="650" spc="-10" dirty="0">
                <a:latin typeface="Noto Sans Mono"/>
                <a:cs typeface="Noto Sans Mono"/>
              </a:rPr>
              <a:t>bucket.create("mybucket")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90" y="10105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90771" y="2157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43" y="3359546"/>
            <a:ext cx="556260" cy="781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hướng</a:t>
            </a:r>
            <a:r>
              <a:rPr sz="300" spc="2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dịch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vụ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808" y="216473"/>
            <a:ext cx="4010025" cy="1819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Trên</a:t>
            </a:r>
            <a:r>
              <a:rPr sz="850" spc="-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giao</a:t>
            </a:r>
            <a:r>
              <a:rPr sz="850" spc="-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0" dirty="0">
                <a:solidFill>
                  <a:srgbClr val="3333B3"/>
                </a:solidFill>
                <a:latin typeface="Noto Sans Mono"/>
                <a:cs typeface="Noto Sans Mono"/>
              </a:rPr>
              <a:t>diện</a:t>
            </a:r>
            <a:endParaRPr sz="8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50">
              <a:latin typeface="Noto Sans Mono"/>
              <a:cs typeface="Noto Sans Mono"/>
            </a:endParaRPr>
          </a:p>
          <a:p>
            <a:pPr marL="264160">
              <a:lnSpc>
                <a:spcPct val="100000"/>
              </a:lnSpc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Đơn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giản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hóa</a:t>
            </a:r>
            <a:endParaRPr sz="650">
              <a:latin typeface="Noto Sans Mono"/>
              <a:cs typeface="Noto Sans Mono"/>
            </a:endParaRPr>
          </a:p>
          <a:p>
            <a:pPr marL="261620" marR="5080" indent="-5715">
              <a:lnSpc>
                <a:spcPct val="154500"/>
              </a:lnSpc>
              <a:spcBef>
                <a:spcPts val="170"/>
              </a:spcBef>
            </a:pPr>
            <a:r>
              <a:rPr sz="650" dirty="0">
                <a:latin typeface="Noto Sans Mono"/>
                <a:cs typeface="Noto Sans Mono"/>
              </a:rPr>
              <a:t>Giả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sử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một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thùng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giao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diện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cung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cấp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thao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tác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tạo,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yêu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cầu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chuỗi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ầu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vào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như </a:t>
            </a:r>
            <a:r>
              <a:rPr sz="650" dirty="0">
                <a:latin typeface="Noto Sans Mono"/>
                <a:cs typeface="Noto Sans Mono"/>
              </a:rPr>
              <a:t>mybucket,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ể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tạo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thùng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10" dirty="0">
                <a:latin typeface="Noto Sans Mono"/>
                <a:cs typeface="Noto Sans Mono"/>
              </a:rPr>
              <a:t>“mybucket”.</a:t>
            </a:r>
            <a:endParaRPr sz="6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650">
              <a:latin typeface="Noto Sans Mono"/>
              <a:cs typeface="Noto Sans Mono"/>
            </a:endParaRPr>
          </a:p>
          <a:p>
            <a:pPr marL="264160">
              <a:lnSpc>
                <a:spcPct val="100000"/>
              </a:lnSpc>
              <a:spcBef>
                <a:spcPts val="5"/>
              </a:spcBef>
            </a:pPr>
            <a:r>
              <a:rPr sz="650" spc="-25" dirty="0">
                <a:latin typeface="Noto Sans Mono"/>
                <a:cs typeface="Noto Sans Mono"/>
              </a:rPr>
              <a:t>Xô</a:t>
            </a:r>
            <a:endParaRPr sz="650">
              <a:latin typeface="Noto Sans Mono"/>
              <a:cs typeface="Noto Sans Mono"/>
            </a:endParaRPr>
          </a:p>
          <a:p>
            <a:pPr marL="513715" marR="2251710" indent="-101600">
              <a:lnSpc>
                <a:spcPct val="154500"/>
              </a:lnSpc>
              <a:spcBef>
                <a:spcPts val="110"/>
              </a:spcBef>
            </a:pPr>
            <a:r>
              <a:rPr sz="650" dirty="0">
                <a:latin typeface="Noto Sans Mono"/>
                <a:cs typeface="Noto Sans Mono"/>
              </a:rPr>
              <a:t>nhập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20" dirty="0">
                <a:solidFill>
                  <a:srgbClr val="4D994D"/>
                </a:solidFill>
                <a:latin typeface="Noto Sans Mono"/>
                <a:cs typeface="Noto Sans Mono"/>
              </a:rPr>
              <a:t>SOAP </a:t>
            </a:r>
            <a:r>
              <a:rPr sz="650" spc="-10" dirty="0">
                <a:latin typeface="Noto Sans Mono"/>
                <a:cs typeface="Noto Sans Mono"/>
              </a:rPr>
              <a:t>bucket.create("mybucket")</a:t>
            </a:r>
            <a:endParaRPr sz="6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650">
              <a:latin typeface="Noto Sans Mono"/>
              <a:cs typeface="Noto Sans Mono"/>
            </a:endParaRPr>
          </a:p>
          <a:p>
            <a:pPr marL="269875">
              <a:lnSpc>
                <a:spcPct val="100000"/>
              </a:lnSpc>
            </a:pPr>
            <a:r>
              <a:rPr sz="650" spc="-10" dirty="0">
                <a:solidFill>
                  <a:srgbClr val="4D994D"/>
                </a:solidFill>
                <a:latin typeface="Noto Sans Mono"/>
                <a:cs typeface="Noto Sans Mono"/>
              </a:rPr>
              <a:t>RESTful</a:t>
            </a:r>
            <a:endParaRPr sz="650">
              <a:latin typeface="Noto Sans Mono"/>
              <a:cs typeface="Noto Sans Mono"/>
            </a:endParaRPr>
          </a:p>
          <a:p>
            <a:pPr marL="509905">
              <a:lnSpc>
                <a:spcPct val="100000"/>
              </a:lnSpc>
              <a:spcBef>
                <a:spcPts val="509"/>
              </a:spcBef>
            </a:pPr>
            <a:r>
              <a:rPr sz="650" dirty="0">
                <a:latin typeface="Noto Sans Mono"/>
                <a:cs typeface="Noto Sans Mono"/>
              </a:rPr>
              <a:t>PUT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10" dirty="0">
                <a:latin typeface="Noto Sans Mono"/>
                <a:cs typeface="Noto Sans Mono"/>
              </a:rPr>
              <a:t>"https://mybucket.s3.amazonsws.com/"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90" y="10105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90771" y="21571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43" y="3359546"/>
            <a:ext cx="556260" cy="781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hướng</a:t>
            </a:r>
            <a:r>
              <a:rPr sz="300" spc="2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dịch</a:t>
            </a:r>
            <a:r>
              <a:rPr sz="300" spc="2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vụ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658" y="2226464"/>
            <a:ext cx="11766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Kết</a:t>
            </a:r>
            <a:r>
              <a:rPr sz="550" spc="1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luận</a:t>
            </a:r>
            <a:r>
              <a:rPr sz="5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2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thể</a:t>
            </a:r>
            <a:endParaRPr sz="55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550" dirty="0">
                <a:latin typeface="Noto Sans Mono"/>
                <a:cs typeface="Noto Sans Mono"/>
              </a:rPr>
              <a:t>rút</a:t>
            </a:r>
            <a:r>
              <a:rPr sz="550" spc="1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ra</a:t>
            </a:r>
            <a:r>
              <a:rPr sz="550" spc="1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1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iều</a:t>
            </a:r>
            <a:r>
              <a:rPr sz="550" spc="1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gì</a:t>
            </a:r>
            <a:r>
              <a:rPr sz="550" spc="1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không?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808" y="216473"/>
            <a:ext cx="4010025" cy="1819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Trên</a:t>
            </a:r>
            <a:r>
              <a:rPr sz="850" spc="-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giao</a:t>
            </a:r>
            <a:r>
              <a:rPr sz="850" spc="-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0" dirty="0">
                <a:solidFill>
                  <a:srgbClr val="3333B3"/>
                </a:solidFill>
                <a:latin typeface="Noto Sans Mono"/>
                <a:cs typeface="Noto Sans Mono"/>
              </a:rPr>
              <a:t>diện</a:t>
            </a:r>
            <a:endParaRPr sz="8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50">
              <a:latin typeface="Noto Sans Mono"/>
              <a:cs typeface="Noto Sans Mono"/>
            </a:endParaRPr>
          </a:p>
          <a:p>
            <a:pPr marL="264160">
              <a:lnSpc>
                <a:spcPct val="100000"/>
              </a:lnSpc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Đơn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giản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hóa</a:t>
            </a:r>
            <a:endParaRPr sz="650">
              <a:latin typeface="Noto Sans Mono"/>
              <a:cs typeface="Noto Sans Mono"/>
            </a:endParaRPr>
          </a:p>
          <a:p>
            <a:pPr marL="261620" marR="5080" indent="-5715">
              <a:lnSpc>
                <a:spcPct val="154500"/>
              </a:lnSpc>
              <a:spcBef>
                <a:spcPts val="170"/>
              </a:spcBef>
            </a:pPr>
            <a:r>
              <a:rPr sz="650" dirty="0">
                <a:latin typeface="Noto Sans Mono"/>
                <a:cs typeface="Noto Sans Mono"/>
              </a:rPr>
              <a:t>Giả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sử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một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thùng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giao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diện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cung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cấp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thao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tác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tạo,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yêu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cầu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chuỗi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ầu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vào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như </a:t>
            </a:r>
            <a:r>
              <a:rPr sz="650" dirty="0">
                <a:latin typeface="Noto Sans Mono"/>
                <a:cs typeface="Noto Sans Mono"/>
              </a:rPr>
              <a:t>mybucket,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ể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tạo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thùng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10" dirty="0">
                <a:latin typeface="Noto Sans Mono"/>
                <a:cs typeface="Noto Sans Mono"/>
              </a:rPr>
              <a:t>“mybucket”.</a:t>
            </a:r>
            <a:endParaRPr sz="6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650">
              <a:latin typeface="Noto Sans Mono"/>
              <a:cs typeface="Noto Sans Mono"/>
            </a:endParaRPr>
          </a:p>
          <a:p>
            <a:pPr marL="264160">
              <a:lnSpc>
                <a:spcPct val="100000"/>
              </a:lnSpc>
              <a:spcBef>
                <a:spcPts val="5"/>
              </a:spcBef>
            </a:pPr>
            <a:r>
              <a:rPr sz="650" spc="-25" dirty="0">
                <a:latin typeface="Noto Sans Mono"/>
                <a:cs typeface="Noto Sans Mono"/>
              </a:rPr>
              <a:t>Xô</a:t>
            </a:r>
            <a:endParaRPr sz="650">
              <a:latin typeface="Noto Sans Mono"/>
              <a:cs typeface="Noto Sans Mono"/>
            </a:endParaRPr>
          </a:p>
          <a:p>
            <a:pPr marL="513715" marR="2251710" indent="-101600">
              <a:lnSpc>
                <a:spcPct val="154500"/>
              </a:lnSpc>
              <a:spcBef>
                <a:spcPts val="110"/>
              </a:spcBef>
            </a:pPr>
            <a:r>
              <a:rPr sz="650" dirty="0">
                <a:latin typeface="Noto Sans Mono"/>
                <a:cs typeface="Noto Sans Mono"/>
              </a:rPr>
              <a:t>nhập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20" dirty="0">
                <a:solidFill>
                  <a:srgbClr val="4D994D"/>
                </a:solidFill>
                <a:latin typeface="Noto Sans Mono"/>
                <a:cs typeface="Noto Sans Mono"/>
              </a:rPr>
              <a:t>SOAP </a:t>
            </a:r>
            <a:r>
              <a:rPr sz="650" spc="-10" dirty="0">
                <a:latin typeface="Noto Sans Mono"/>
                <a:cs typeface="Noto Sans Mono"/>
              </a:rPr>
              <a:t>bucket.create("mybucket")</a:t>
            </a:r>
            <a:endParaRPr sz="6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650">
              <a:latin typeface="Noto Sans Mono"/>
              <a:cs typeface="Noto Sans Mono"/>
            </a:endParaRPr>
          </a:p>
          <a:p>
            <a:pPr marL="269875">
              <a:lnSpc>
                <a:spcPct val="100000"/>
              </a:lnSpc>
            </a:pPr>
            <a:r>
              <a:rPr sz="650" spc="-10" dirty="0">
                <a:solidFill>
                  <a:srgbClr val="4D994D"/>
                </a:solidFill>
                <a:latin typeface="Noto Sans Mono"/>
                <a:cs typeface="Noto Sans Mono"/>
              </a:rPr>
              <a:t>RESTful</a:t>
            </a:r>
            <a:endParaRPr sz="650">
              <a:latin typeface="Noto Sans Mono"/>
              <a:cs typeface="Noto Sans Mono"/>
            </a:endParaRPr>
          </a:p>
          <a:p>
            <a:pPr marL="509905">
              <a:lnSpc>
                <a:spcPct val="100000"/>
              </a:lnSpc>
              <a:spcBef>
                <a:spcPts val="509"/>
              </a:spcBef>
            </a:pPr>
            <a:r>
              <a:rPr sz="650" dirty="0">
                <a:latin typeface="Noto Sans Mono"/>
                <a:cs typeface="Noto Sans Mono"/>
              </a:rPr>
              <a:t>PUT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10" dirty="0">
                <a:latin typeface="Noto Sans Mono"/>
                <a:cs typeface="Noto Sans Mono"/>
              </a:rPr>
              <a:t>"https://mybucket.s3.amazonsws.com/"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10105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7826" y="1487318"/>
            <a:ext cx="2065655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Không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gian</a:t>
            </a:r>
            <a:r>
              <a:rPr sz="55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dữ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liệu</a:t>
            </a:r>
            <a:r>
              <a:rPr sz="55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chia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sẻ</a:t>
            </a:r>
            <a:r>
              <a:rPr sz="55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và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dựa</a:t>
            </a:r>
            <a:r>
              <a:rPr sz="55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trên</a:t>
            </a:r>
            <a:r>
              <a:rPr sz="55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sự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20" dirty="0">
                <a:solidFill>
                  <a:srgbClr val="3333B3"/>
                </a:solidFill>
                <a:latin typeface="Noto Sans Mono"/>
                <a:cs typeface="Noto Sans Mono"/>
              </a:rPr>
              <a:t>kiện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057" y="3360337"/>
            <a:ext cx="625475" cy="774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xuất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spc="-10" dirty="0">
                <a:latin typeface="Noto Sans Mono"/>
                <a:cs typeface="Noto Sans Mono"/>
              </a:rPr>
              <a:t>bản-</a:t>
            </a:r>
            <a:r>
              <a:rPr sz="300" dirty="0">
                <a:latin typeface="Noto Sans Mono"/>
                <a:cs typeface="Noto Sans Mono"/>
              </a:rPr>
              <a:t>đ</a:t>
            </a:r>
            <a:r>
              <a:rPr sz="300" spc="-5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ăng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ký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323" y="237933"/>
            <a:ext cx="1776095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Phối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spc="-25" dirty="0">
                <a:solidFill>
                  <a:srgbClr val="3333B3"/>
                </a:solidFill>
                <a:latin typeface="Noto Sans Mono"/>
                <a:cs typeface="Noto Sans Mono"/>
              </a:rPr>
              <a:t>hợp</a:t>
            </a:r>
            <a:endParaRPr sz="7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700">
              <a:latin typeface="Noto Sans Mono"/>
              <a:cs typeface="Noto Sans Mono"/>
            </a:endParaRPr>
          </a:p>
          <a:p>
            <a:pPr marL="255270">
              <a:lnSpc>
                <a:spcPct val="100000"/>
              </a:lnSpc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Sự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kết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hợp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thời</a:t>
            </a:r>
            <a:r>
              <a:rPr sz="55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gian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và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tham</a:t>
            </a:r>
            <a:r>
              <a:rPr sz="55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10" dirty="0">
                <a:solidFill>
                  <a:srgbClr val="3333B3"/>
                </a:solidFill>
                <a:latin typeface="Noto Sans Mono"/>
                <a:cs typeface="Noto Sans Mono"/>
              </a:rPr>
              <a:t>chiếu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0771" y="21724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802" y="970224"/>
            <a:ext cx="97980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105"/>
              </a:spcBef>
            </a:pPr>
            <a:r>
              <a:rPr sz="450" dirty="0">
                <a:latin typeface="Noto Sans Mono"/>
                <a:cs typeface="Noto Sans Mono"/>
              </a:rPr>
              <a:t>Được</a:t>
            </a:r>
            <a:r>
              <a:rPr sz="450" spc="-1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ghép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nối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tham</a:t>
            </a:r>
            <a:r>
              <a:rPr sz="450" spc="-10" dirty="0">
                <a:latin typeface="Noto Sans Mono"/>
                <a:cs typeface="Noto Sans Mono"/>
              </a:rPr>
              <a:t> chiếu</a:t>
            </a:r>
            <a:endParaRPr sz="45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450" dirty="0">
                <a:latin typeface="Noto Sans Mono"/>
                <a:cs typeface="Noto Sans Mono"/>
              </a:rPr>
              <a:t>Tách</a:t>
            </a:r>
            <a:r>
              <a:rPr sz="450" spc="-1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rời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tham</a:t>
            </a:r>
            <a:r>
              <a:rPr sz="450" spc="-10" dirty="0">
                <a:latin typeface="Noto Sans Mono"/>
                <a:cs typeface="Noto Sans Mono"/>
              </a:rPr>
              <a:t> chiếu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6252" y="819094"/>
            <a:ext cx="1176020" cy="3638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dirty="0">
                <a:latin typeface="Noto Sans Mono"/>
                <a:cs typeface="Noto Sans Mono"/>
              </a:rPr>
              <a:t>Kết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hợp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tạm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thời</a:t>
            </a:r>
            <a:r>
              <a:rPr sz="450" spc="-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Kết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hợp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tạm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spc="-20" dirty="0">
                <a:latin typeface="Noto Sans Mono"/>
                <a:cs typeface="Noto Sans Mono"/>
              </a:rPr>
              <a:t>thời</a:t>
            </a:r>
            <a:endParaRPr sz="450">
              <a:latin typeface="Noto Sans Mono"/>
              <a:cs typeface="Noto Sans Mono"/>
            </a:endParaRPr>
          </a:p>
          <a:p>
            <a:pPr marR="187325" algn="ctr">
              <a:lnSpc>
                <a:spcPct val="100000"/>
              </a:lnSpc>
              <a:spcBef>
                <a:spcPts val="595"/>
              </a:spcBef>
            </a:pPr>
            <a:r>
              <a:rPr sz="350" dirty="0">
                <a:latin typeface="Noto Sans Mono"/>
                <a:cs typeface="Noto Sans Mono"/>
              </a:rPr>
              <a:t>Trực</a:t>
            </a:r>
            <a:r>
              <a:rPr sz="350" spc="50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tiếp</a:t>
            </a:r>
            <a:endParaRPr sz="3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350">
              <a:latin typeface="Noto Sans Mono"/>
              <a:cs typeface="Noto Sans Mono"/>
            </a:endParaRPr>
          </a:p>
          <a:p>
            <a:pPr marR="187325" algn="ctr">
              <a:lnSpc>
                <a:spcPct val="100000"/>
              </a:lnSpc>
              <a:spcBef>
                <a:spcPts val="5"/>
              </a:spcBef>
            </a:pPr>
            <a:r>
              <a:rPr sz="450" dirty="0">
                <a:latin typeface="Noto Sans Mono"/>
                <a:cs typeface="Noto Sans Mono"/>
              </a:rPr>
              <a:t>Dựa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trên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sự</a:t>
            </a:r>
            <a:r>
              <a:rPr sz="450" spc="-5" dirty="0">
                <a:latin typeface="Noto Sans Mono"/>
                <a:cs typeface="Noto Sans Mono"/>
              </a:rPr>
              <a:t> </a:t>
            </a:r>
            <a:r>
              <a:rPr sz="450" spc="-20" dirty="0">
                <a:latin typeface="Noto Sans Mono"/>
                <a:cs typeface="Noto Sans Mono"/>
              </a:rPr>
              <a:t>kiện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26180" y="950386"/>
            <a:ext cx="269875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dirty="0">
                <a:latin typeface="Noto Sans Mono"/>
                <a:cs typeface="Noto Sans Mono"/>
              </a:rPr>
              <a:t>Hộp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spc="-25" dirty="0">
                <a:latin typeface="Noto Sans Mono"/>
                <a:cs typeface="Noto Sans Mono"/>
              </a:rPr>
              <a:t>thư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2053" y="1120992"/>
            <a:ext cx="869950" cy="78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latin typeface="Noto Sans Mono"/>
                <a:cs typeface="Noto Sans Mono"/>
              </a:rPr>
              <a:t>Không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gian</a:t>
            </a:r>
            <a:r>
              <a:rPr sz="350" spc="-1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dữ</a:t>
            </a:r>
            <a:r>
              <a:rPr sz="350" spc="-1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liệu</a:t>
            </a:r>
            <a:r>
              <a:rPr sz="350" spc="-20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đ</a:t>
            </a:r>
            <a:r>
              <a:rPr sz="350" spc="-7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ược</a:t>
            </a:r>
            <a:r>
              <a:rPr sz="350" spc="-1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chia</a:t>
            </a:r>
            <a:r>
              <a:rPr sz="350" spc="-15" dirty="0">
                <a:latin typeface="Noto Sans Mono"/>
                <a:cs typeface="Noto Sans Mono"/>
              </a:rPr>
              <a:t> </a:t>
            </a:r>
            <a:r>
              <a:rPr sz="350" spc="-35" dirty="0">
                <a:latin typeface="Noto Sans Mono"/>
                <a:cs typeface="Noto Sans Mono"/>
              </a:rPr>
              <a:t>sẻ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90" y="10257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tr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8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5932" y="1388988"/>
            <a:ext cx="69596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Chi</a:t>
            </a:r>
            <a:r>
              <a:rPr sz="70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tiết</a:t>
            </a:r>
            <a:r>
              <a:rPr sz="70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spc="-25" dirty="0">
                <a:solidFill>
                  <a:srgbClr val="3333B3"/>
                </a:solidFill>
                <a:latin typeface="Noto Sans Mono"/>
                <a:cs typeface="Noto Sans Mono"/>
              </a:rPr>
              <a:t>hơn</a:t>
            </a:r>
            <a:endParaRPr sz="700">
              <a:latin typeface="Noto Sans Mono"/>
              <a:cs typeface="Noto Sans 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057" y="3360337"/>
            <a:ext cx="625475" cy="774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xuất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spc="-10" dirty="0">
                <a:latin typeface="Noto Sans Mono"/>
                <a:cs typeface="Noto Sans Mono"/>
              </a:rPr>
              <a:t>bản-</a:t>
            </a:r>
            <a:r>
              <a:rPr sz="300" dirty="0">
                <a:latin typeface="Noto Sans Mono"/>
                <a:cs typeface="Noto Sans Mono"/>
              </a:rPr>
              <a:t>đ</a:t>
            </a:r>
            <a:r>
              <a:rPr sz="300" spc="-5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ăng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ký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685" y="231984"/>
            <a:ext cx="1888489" cy="4578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Ví</a:t>
            </a:r>
            <a:r>
              <a:rPr sz="850" spc="-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dụ:</a:t>
            </a:r>
            <a:r>
              <a:rPr sz="850" spc="-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Không</a:t>
            </a:r>
            <a:r>
              <a:rPr sz="850" spc="-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gian</a:t>
            </a:r>
            <a:r>
              <a:rPr sz="850" spc="-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tuple</a:t>
            </a:r>
            <a:r>
              <a:rPr sz="850" spc="-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10" dirty="0">
                <a:solidFill>
                  <a:srgbClr val="3333B3"/>
                </a:solidFill>
                <a:latin typeface="Noto Sans Mono"/>
                <a:cs typeface="Noto Sans Mono"/>
              </a:rPr>
              <a:t>Linda</a:t>
            </a:r>
            <a:endParaRPr sz="8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850">
              <a:latin typeface="Noto Sans Mono"/>
              <a:cs typeface="Noto Sans Mono"/>
            </a:endParaRPr>
          </a:p>
          <a:p>
            <a:pPr marL="248920">
              <a:lnSpc>
                <a:spcPct val="100000"/>
              </a:lnSpc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Ba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thao</a:t>
            </a:r>
            <a:r>
              <a:rPr sz="7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tác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700" spc="-10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ơn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spc="-20" dirty="0">
                <a:solidFill>
                  <a:srgbClr val="3333B3"/>
                </a:solidFill>
                <a:latin typeface="Noto Sans Mono"/>
                <a:cs typeface="Noto Sans Mono"/>
              </a:rPr>
              <a:t>giản</a:t>
            </a:r>
            <a:endParaRPr sz="7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0771" y="21724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5263" y="1931618"/>
            <a:ext cx="3783329" cy="267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0489" indent="-97790">
              <a:lnSpc>
                <a:spcPct val="100000"/>
              </a:lnSpc>
              <a:spcBef>
                <a:spcPts val="95"/>
              </a:spcBef>
              <a:buClr>
                <a:srgbClr val="3333B3"/>
              </a:buClr>
              <a:buChar char="•"/>
              <a:tabLst>
                <a:tab pos="110489" algn="l"/>
              </a:tabLst>
            </a:pPr>
            <a:r>
              <a:rPr sz="650" dirty="0">
                <a:latin typeface="Noto Sans Mono"/>
                <a:cs typeface="Noto Sans Mono"/>
              </a:rPr>
              <a:t>Cả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in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và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rd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ều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là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các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hoạt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ộng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chặn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: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người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gọi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sẽ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bị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chặn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ến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khi</a:t>
            </a:r>
            <a:endParaRPr sz="650">
              <a:latin typeface="Noto Sans Mono"/>
              <a:cs typeface="Noto Sans Mono"/>
            </a:endParaRPr>
          </a:p>
          <a:p>
            <a:pPr marL="133985">
              <a:lnSpc>
                <a:spcPct val="100000"/>
              </a:lnSpc>
              <a:spcBef>
                <a:spcPts val="530"/>
              </a:spcBef>
            </a:pP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ã</a:t>
            </a:r>
            <a:r>
              <a:rPr sz="500" spc="3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tìm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thấy</a:t>
            </a:r>
            <a:r>
              <a:rPr sz="500" spc="3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hoặc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ã</a:t>
            </a:r>
            <a:r>
              <a:rPr sz="500" spc="3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sẵn</a:t>
            </a:r>
            <a:r>
              <a:rPr sz="500" spc="3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bộ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dữ</a:t>
            </a:r>
            <a:r>
              <a:rPr sz="500" spc="3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liệu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phù</a:t>
            </a:r>
            <a:r>
              <a:rPr sz="500" spc="30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hợp.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5263" y="1635704"/>
            <a:ext cx="313817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1440" indent="-78740">
              <a:lnSpc>
                <a:spcPct val="100000"/>
              </a:lnSpc>
              <a:spcBef>
                <a:spcPts val="120"/>
              </a:spcBef>
              <a:buClr>
                <a:srgbClr val="3333B3"/>
              </a:buClr>
              <a:buChar char="•"/>
              <a:tabLst>
                <a:tab pos="91440" algn="l"/>
              </a:tabLst>
            </a:pPr>
            <a:r>
              <a:rPr sz="500" dirty="0">
                <a:latin typeface="Noto Sans Mono"/>
                <a:cs typeface="Noto Sans Mono"/>
              </a:rPr>
              <a:t>Gọi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out(t)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hai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lần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liên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tiếp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sẽ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dẫn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ến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việc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lưu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trữ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hai</a:t>
            </a:r>
            <a:r>
              <a:rPr sz="500" spc="4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bản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sao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của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tuple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spc="-50" dirty="0">
                <a:latin typeface="Noto Sans Mono"/>
                <a:cs typeface="Noto Sans Mono"/>
              </a:rPr>
              <a:t>t</a:t>
            </a:r>
            <a:endParaRPr sz="500">
              <a:latin typeface="Noto Sans Mono"/>
              <a:cs typeface="Noto Sans Mono"/>
            </a:endParaRPr>
          </a:p>
          <a:p>
            <a:pPr marL="127635">
              <a:lnSpc>
                <a:spcPct val="100000"/>
              </a:lnSpc>
              <a:spcBef>
                <a:spcPts val="605"/>
              </a:spcBef>
            </a:pPr>
            <a:r>
              <a:rPr sz="500" dirty="0">
                <a:latin typeface="Noto Sans Mono"/>
                <a:cs typeface="Noto Sans Mono"/>
              </a:rPr>
              <a:t>không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gian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bộ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mô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hình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hóa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như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500" spc="-8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a</a:t>
            </a:r>
            <a:r>
              <a:rPr sz="50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spc="-20" dirty="0">
                <a:solidFill>
                  <a:srgbClr val="3333B3"/>
                </a:solidFill>
                <a:latin typeface="Noto Sans Mono"/>
                <a:cs typeface="Noto Sans Mono"/>
              </a:rPr>
              <a:t>tập.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2842" y="1635704"/>
            <a:ext cx="65405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50" dirty="0">
                <a:latin typeface="Noto Sans Mono"/>
                <a:cs typeface="Noto Sans Mono"/>
              </a:rPr>
              <a:t>a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5261" y="798952"/>
            <a:ext cx="2479040" cy="4108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1440" indent="-78740">
              <a:lnSpc>
                <a:spcPct val="100000"/>
              </a:lnSpc>
              <a:spcBef>
                <a:spcPts val="120"/>
              </a:spcBef>
              <a:buClr>
                <a:srgbClr val="3333B3"/>
              </a:buClr>
              <a:buChar char="•"/>
              <a:tabLst>
                <a:tab pos="91440" algn="l"/>
              </a:tabLst>
            </a:pPr>
            <a:r>
              <a:rPr sz="500" dirty="0">
                <a:latin typeface="Noto Sans Mono"/>
                <a:cs typeface="Noto Sans Mono"/>
              </a:rPr>
              <a:t>in(t):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xóa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mẫu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tuple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khớp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0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rd(t):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lấy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bản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sao</a:t>
            </a:r>
            <a:endParaRPr sz="500">
              <a:latin typeface="Noto Sans Mono"/>
              <a:cs typeface="Noto Sans Mono"/>
            </a:endParaRPr>
          </a:p>
          <a:p>
            <a:pPr marL="12700" marR="5080">
              <a:lnSpc>
                <a:spcPct val="200800"/>
              </a:lnSpc>
            </a:pPr>
            <a:r>
              <a:rPr sz="500" dirty="0">
                <a:latin typeface="Noto Sans Mono"/>
                <a:cs typeface="Noto Sans Mono"/>
              </a:rPr>
              <a:t>của</a:t>
            </a:r>
            <a:r>
              <a:rPr sz="500" spc="3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mẫu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tuple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khớp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0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out(t):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thêm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tuple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vào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không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gian </a:t>
            </a:r>
            <a:r>
              <a:rPr sz="500" spc="-10" dirty="0">
                <a:latin typeface="Noto Sans Mono"/>
                <a:cs typeface="Noto Sans Mono"/>
              </a:rPr>
              <a:t>tuple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90" y="10257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tr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8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27664" y="2640861"/>
            <a:ext cx="31496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-10" dirty="0">
                <a:solidFill>
                  <a:srgbClr val="3333B3"/>
                </a:solidFill>
                <a:latin typeface="Noto Sans Mono"/>
                <a:cs typeface="Noto Sans Mono"/>
              </a:rPr>
              <a:t>Chuck:</a:t>
            </a:r>
            <a:endParaRPr sz="600">
              <a:latin typeface="Noto Sans Mono"/>
              <a:cs typeface="Noto Sans 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057" y="3360337"/>
            <a:ext cx="625475" cy="774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xuất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spc="-10" dirty="0">
                <a:latin typeface="Noto Sans Mono"/>
                <a:cs typeface="Noto Sans Mono"/>
              </a:rPr>
              <a:t>bản-</a:t>
            </a:r>
            <a:r>
              <a:rPr sz="300" dirty="0">
                <a:latin typeface="Noto Sans Mono"/>
                <a:cs typeface="Noto Sans Mono"/>
              </a:rPr>
              <a:t>đ</a:t>
            </a:r>
            <a:r>
              <a:rPr sz="300" spc="-5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ăng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ký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186" y="891592"/>
            <a:ext cx="21844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-20" dirty="0">
                <a:solidFill>
                  <a:srgbClr val="3333B3"/>
                </a:solidFill>
                <a:latin typeface="Noto Sans Mono"/>
                <a:cs typeface="Noto Sans Mono"/>
              </a:rPr>
              <a:t>Bob:</a:t>
            </a:r>
            <a:endParaRPr sz="6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143" y="1743457"/>
            <a:ext cx="31496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-10" dirty="0">
                <a:solidFill>
                  <a:srgbClr val="3333B3"/>
                </a:solidFill>
                <a:latin typeface="Noto Sans Mono"/>
                <a:cs typeface="Noto Sans Mono"/>
              </a:rPr>
              <a:t>Alice:</a:t>
            </a:r>
            <a:endParaRPr sz="6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685" y="231984"/>
            <a:ext cx="1888489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Ví</a:t>
            </a:r>
            <a:r>
              <a:rPr sz="850" spc="-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dụ:</a:t>
            </a:r>
            <a:r>
              <a:rPr sz="850" spc="-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Không</a:t>
            </a:r>
            <a:r>
              <a:rPr sz="850" spc="-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gian</a:t>
            </a:r>
            <a:r>
              <a:rPr sz="850" spc="-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tuple</a:t>
            </a:r>
            <a:r>
              <a:rPr sz="850" spc="-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10" dirty="0">
                <a:solidFill>
                  <a:srgbClr val="3333B3"/>
                </a:solidFill>
                <a:latin typeface="Noto Sans Mono"/>
                <a:cs typeface="Noto Sans Mono"/>
              </a:rPr>
              <a:t>Linda</a:t>
            </a:r>
            <a:endParaRPr sz="850">
              <a:latin typeface="Noto Sans Mono"/>
              <a:cs typeface="Noto Sans Mono"/>
            </a:endParaRPr>
          </a:p>
          <a:p>
            <a:pPr marL="929640">
              <a:lnSpc>
                <a:spcPct val="100000"/>
              </a:lnSpc>
              <a:spcBef>
                <a:spcPts val="1085"/>
              </a:spcBef>
            </a:pPr>
            <a:r>
              <a:rPr sz="300" dirty="0">
                <a:latin typeface="Noto Sans Mono"/>
                <a:cs typeface="Noto Sans Mono"/>
              </a:rPr>
              <a:t>1</a:t>
            </a:r>
            <a:r>
              <a:rPr sz="300" spc="40" dirty="0"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0059"/>
                </a:solidFill>
                <a:latin typeface="Noto Sans Mono"/>
                <a:cs typeface="Noto Sans Mono"/>
              </a:rPr>
              <a:t>nhập</a:t>
            </a:r>
            <a:r>
              <a:rPr sz="300" spc="40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linda</a:t>
            </a:r>
            <a:r>
              <a:rPr sz="300" spc="40" dirty="0">
                <a:latin typeface="Noto Sans Mono"/>
                <a:cs typeface="Noto Sans Mono"/>
              </a:rPr>
              <a:t> </a:t>
            </a:r>
            <a:r>
              <a:rPr sz="300" spc="-50" dirty="0">
                <a:latin typeface="Noto Sans Mono"/>
                <a:cs typeface="Noto Sans Mono"/>
              </a:rPr>
              <a:t>2</a:t>
            </a:r>
            <a:endParaRPr sz="300">
              <a:latin typeface="Noto Sans Mono"/>
              <a:cs typeface="Noto Sans Mono"/>
            </a:endParaRPr>
          </a:p>
          <a:p>
            <a:pPr marL="928369">
              <a:lnSpc>
                <a:spcPct val="100000"/>
              </a:lnSpc>
              <a:spcBef>
                <a:spcPts val="300"/>
              </a:spcBef>
            </a:pPr>
            <a:r>
              <a:rPr sz="300" dirty="0">
                <a:latin typeface="Noto Sans Mono"/>
                <a:cs typeface="Noto Sans Mono"/>
              </a:rPr>
              <a:t>linda.connect()</a:t>
            </a:r>
            <a:r>
              <a:rPr sz="300" spc="160" dirty="0">
                <a:latin typeface="Noto Sans Mono"/>
                <a:cs typeface="Noto Sans Mono"/>
              </a:rPr>
              <a:t> </a:t>
            </a:r>
            <a:r>
              <a:rPr sz="300" spc="-50" dirty="0">
                <a:latin typeface="Noto Sans Mono"/>
                <a:cs typeface="Noto Sans Mono"/>
              </a:rPr>
              <a:t>3</a:t>
            </a:r>
            <a:endParaRPr sz="3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</a:pPr>
            <a:endParaRPr sz="3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300">
              <a:latin typeface="Noto Sans Mono"/>
              <a:cs typeface="Noto Sans Mono"/>
            </a:endParaRPr>
          </a:p>
          <a:p>
            <a:pPr marL="929640">
              <a:lnSpc>
                <a:spcPct val="100000"/>
              </a:lnSpc>
            </a:pPr>
            <a:r>
              <a:rPr sz="350" dirty="0">
                <a:latin typeface="Noto Sans Mono"/>
                <a:cs typeface="Noto Sans Mono"/>
              </a:rPr>
              <a:t>4</a:t>
            </a:r>
            <a:r>
              <a:rPr sz="350" spc="4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blog</a:t>
            </a:r>
            <a:r>
              <a:rPr sz="350" spc="4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=</a:t>
            </a:r>
            <a:r>
              <a:rPr sz="350" spc="4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linda.TupleSpace()</a:t>
            </a:r>
            <a:r>
              <a:rPr sz="350" spc="50" dirty="0">
                <a:latin typeface="Noto Sans Mono"/>
                <a:cs typeface="Noto Sans Mono"/>
              </a:rPr>
              <a:t> </a:t>
            </a:r>
            <a:r>
              <a:rPr sz="350" spc="-50" dirty="0">
                <a:latin typeface="Noto Sans Mono"/>
                <a:cs typeface="Noto Sans Mono"/>
              </a:rPr>
              <a:t>5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90771" y="19590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8315" y="832690"/>
            <a:ext cx="3184525" cy="131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35" marR="2037080" indent="-2540">
              <a:lnSpc>
                <a:spcPct val="141700"/>
              </a:lnSpc>
              <a:spcBef>
                <a:spcPts val="95"/>
              </a:spcBef>
            </a:pPr>
            <a:r>
              <a:rPr sz="350" spc="-10" dirty="0">
                <a:latin typeface="Noto Sans Mono"/>
                <a:cs typeface="Noto Sans Mono"/>
              </a:rPr>
              <a:t>linda.universe._out(("MicroBlog",blog))</a:t>
            </a:r>
            <a:r>
              <a:rPr sz="350" spc="500" dirty="0">
                <a:latin typeface="Noto Sans Mono"/>
                <a:cs typeface="Noto Sans Mono"/>
              </a:rPr>
              <a:t>  </a:t>
            </a:r>
            <a:r>
              <a:rPr sz="350" spc="-50" dirty="0">
                <a:latin typeface="Noto Sans Mono"/>
                <a:cs typeface="Noto Sans Mono"/>
              </a:rPr>
              <a:t>6</a:t>
            </a:r>
            <a:endParaRPr sz="350" dirty="0">
              <a:latin typeface="Noto Sans Mono"/>
              <a:cs typeface="Noto Sans Mono"/>
            </a:endParaRPr>
          </a:p>
          <a:p>
            <a:pPr marL="49530">
              <a:lnSpc>
                <a:spcPct val="100000"/>
              </a:lnSpc>
              <a:spcBef>
                <a:spcPts val="300"/>
              </a:spcBef>
            </a:pPr>
            <a:r>
              <a:rPr sz="450" dirty="0">
                <a:latin typeface="Noto Sans Mono"/>
                <a:cs typeface="Noto Sans Mono"/>
              </a:rPr>
              <a:t>7</a:t>
            </a:r>
            <a:r>
              <a:rPr sz="450" spc="-2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blog</a:t>
            </a:r>
            <a:r>
              <a:rPr sz="450" spc="-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=</a:t>
            </a:r>
            <a:r>
              <a:rPr sz="450" spc="-20" dirty="0">
                <a:latin typeface="Noto Sans Mono"/>
                <a:cs typeface="Noto Sans Mono"/>
              </a:rPr>
              <a:t> </a:t>
            </a: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linda.universe._rd(("MicroBlog",linda.TupleSpace))[1]</a:t>
            </a:r>
            <a:endParaRPr sz="450" dirty="0">
              <a:latin typeface="Noto Sans Mono"/>
              <a:cs typeface="Noto Sans Mono"/>
            </a:endParaRPr>
          </a:p>
          <a:p>
            <a:pPr marL="50165">
              <a:lnSpc>
                <a:spcPct val="100000"/>
              </a:lnSpc>
              <a:spcBef>
                <a:spcPts val="175"/>
              </a:spcBef>
            </a:pPr>
            <a:r>
              <a:rPr sz="350" spc="-50" dirty="0">
                <a:latin typeface="Noto Sans Mono"/>
                <a:cs typeface="Noto Sans Mono"/>
              </a:rPr>
              <a:t>8</a:t>
            </a:r>
            <a:endParaRPr sz="350" dirty="0">
              <a:latin typeface="Noto Sans Mono"/>
              <a:cs typeface="Noto Sans Mono"/>
            </a:endParaRPr>
          </a:p>
          <a:p>
            <a:pPr marL="51435">
              <a:lnSpc>
                <a:spcPct val="100000"/>
              </a:lnSpc>
              <a:spcBef>
                <a:spcPts val="300"/>
              </a:spcBef>
            </a:pPr>
            <a:r>
              <a:rPr sz="450" dirty="0">
                <a:latin typeface="Noto Sans Mono"/>
                <a:cs typeface="Noto Sans Mono"/>
              </a:rPr>
              <a:t>9</a:t>
            </a:r>
            <a:r>
              <a:rPr sz="450" spc="-30" dirty="0">
                <a:latin typeface="Noto Sans Mono"/>
                <a:cs typeface="Noto Sans Mono"/>
              </a:rPr>
              <a:t> </a:t>
            </a: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blog._out(("bob","distsys","Tôi</a:t>
            </a:r>
            <a:r>
              <a:rPr sz="450" spc="-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450" spc="-9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ang</a:t>
            </a:r>
            <a:r>
              <a:rPr sz="450" spc="-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học</a:t>
            </a:r>
            <a:r>
              <a:rPr sz="450" spc="-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chương</a:t>
            </a:r>
            <a:r>
              <a:rPr sz="450" spc="-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2"))</a:t>
            </a:r>
            <a:r>
              <a:rPr sz="450" spc="-15" dirty="0">
                <a:latin typeface="Noto Sans Mono"/>
                <a:cs typeface="Noto Sans Mono"/>
              </a:rPr>
              <a:t> </a:t>
            </a:r>
            <a:r>
              <a:rPr sz="450" spc="-25" dirty="0">
                <a:latin typeface="Noto Sans Mono"/>
                <a:cs typeface="Noto Sans Mono"/>
              </a:rPr>
              <a:t>10</a:t>
            </a:r>
            <a:endParaRPr sz="450" dirty="0">
              <a:latin typeface="Noto Sans Mono"/>
              <a:cs typeface="Noto Sans Mono"/>
            </a:endParaRPr>
          </a:p>
          <a:p>
            <a:pPr marL="12700" marR="149860">
              <a:lnSpc>
                <a:spcPct val="132800"/>
              </a:lnSpc>
            </a:pP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blog._out(("bob","distsys","</a:t>
            </a:r>
            <a:r>
              <a:rPr sz="450" spc="-3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Ví</a:t>
            </a:r>
            <a:r>
              <a:rPr sz="450" spc="-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dụ</a:t>
            </a:r>
            <a:r>
              <a:rPr sz="450" spc="-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về</a:t>
            </a:r>
            <a:r>
              <a:rPr sz="450" spc="-2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linda</a:t>
            </a:r>
            <a:r>
              <a:rPr sz="450" spc="-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khá</a:t>
            </a:r>
            <a:r>
              <a:rPr sz="450" spc="-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450" spc="-9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ơn</a:t>
            </a:r>
            <a:r>
              <a:rPr sz="450" spc="-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giản"))</a:t>
            </a:r>
            <a:r>
              <a:rPr sz="450" spc="-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11</a:t>
            </a:r>
            <a:r>
              <a:rPr sz="450" spc="-25" dirty="0">
                <a:latin typeface="Noto Sans Mono"/>
                <a:cs typeface="Noto Sans Mono"/>
              </a:rPr>
              <a:t> </a:t>
            </a: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blog._out(("bob","gtcn","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Cuốn</a:t>
            </a:r>
            <a:r>
              <a:rPr sz="450" spc="-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sách</a:t>
            </a:r>
            <a:r>
              <a:rPr sz="450" spc="-2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hay</a:t>
            </a:r>
            <a:r>
              <a:rPr sz="450" spc="-3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450" spc="-9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ấy!"))</a:t>
            </a:r>
            <a:endParaRPr sz="450" dirty="0">
              <a:latin typeface="Noto Sans Mono"/>
              <a:cs typeface="Noto Sans Mono"/>
            </a:endParaRPr>
          </a:p>
          <a:p>
            <a:pPr marL="48260" marR="2617470" indent="1270">
              <a:lnSpc>
                <a:spcPct val="131300"/>
              </a:lnSpc>
              <a:spcBef>
                <a:spcPts val="275"/>
              </a:spcBef>
            </a:pPr>
            <a:r>
              <a:rPr sz="450" dirty="0">
                <a:latin typeface="Noto Sans Mono"/>
                <a:cs typeface="Noto Sans Mono"/>
              </a:rPr>
              <a:t>1</a:t>
            </a:r>
            <a:r>
              <a:rPr sz="450" spc="-35" dirty="0"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FF0059"/>
                </a:solidFill>
                <a:latin typeface="Noto Sans Mono"/>
                <a:cs typeface="Noto Sans Mono"/>
              </a:rPr>
              <a:t>nhập</a:t>
            </a:r>
            <a:r>
              <a:rPr sz="450" spc="-30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linda</a:t>
            </a:r>
            <a:r>
              <a:rPr sz="450" spc="-35" dirty="0">
                <a:latin typeface="Noto Sans Mono"/>
                <a:cs typeface="Noto Sans Mono"/>
              </a:rPr>
              <a:t> </a:t>
            </a:r>
            <a:r>
              <a:rPr sz="450" spc="-50" dirty="0">
                <a:latin typeface="Noto Sans Mono"/>
                <a:cs typeface="Noto Sans Mono"/>
              </a:rPr>
              <a:t>2 </a:t>
            </a:r>
            <a:r>
              <a:rPr sz="450" spc="-10" dirty="0">
                <a:latin typeface="Noto Sans Mono"/>
                <a:cs typeface="Noto Sans Mono"/>
              </a:rPr>
              <a:t>linda.connect() </a:t>
            </a:r>
            <a:r>
              <a:rPr sz="350" spc="-50" dirty="0">
                <a:latin typeface="Noto Sans Mono"/>
                <a:cs typeface="Noto Sans Mono"/>
              </a:rPr>
              <a:t>3</a:t>
            </a:r>
            <a:endParaRPr sz="350" dirty="0">
              <a:latin typeface="Noto Sans Mono"/>
              <a:cs typeface="Noto Sans Mono"/>
            </a:endParaRPr>
          </a:p>
          <a:p>
            <a:pPr marL="49530">
              <a:lnSpc>
                <a:spcPct val="100000"/>
              </a:lnSpc>
              <a:spcBef>
                <a:spcPts val="300"/>
              </a:spcBef>
            </a:pPr>
            <a:r>
              <a:rPr sz="450" dirty="0">
                <a:latin typeface="Noto Sans Mono"/>
                <a:cs typeface="Noto Sans Mono"/>
              </a:rPr>
              <a:t>4</a:t>
            </a:r>
            <a:r>
              <a:rPr sz="450" spc="-2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blog</a:t>
            </a:r>
            <a:r>
              <a:rPr sz="450" spc="-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=</a:t>
            </a:r>
            <a:r>
              <a:rPr sz="450" spc="-20" dirty="0">
                <a:latin typeface="Noto Sans Mono"/>
                <a:cs typeface="Noto Sans Mono"/>
              </a:rPr>
              <a:t> </a:t>
            </a: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linda.universe._rd(("MicroBlog",linda.TupleSpace))[1]</a:t>
            </a:r>
            <a:endParaRPr sz="450" dirty="0">
              <a:latin typeface="Noto Sans Mono"/>
              <a:cs typeface="Noto Sans Mono"/>
            </a:endParaRPr>
          </a:p>
          <a:p>
            <a:pPr marL="48895">
              <a:lnSpc>
                <a:spcPct val="100000"/>
              </a:lnSpc>
              <a:spcBef>
                <a:spcPts val="175"/>
              </a:spcBef>
            </a:pPr>
            <a:r>
              <a:rPr sz="350" spc="-50" dirty="0">
                <a:latin typeface="Noto Sans Mono"/>
                <a:cs typeface="Noto Sans Mono"/>
              </a:rPr>
              <a:t>5</a:t>
            </a:r>
            <a:endParaRPr sz="350" dirty="0">
              <a:latin typeface="Noto Sans Mono"/>
              <a:cs typeface="Noto Sans Mono"/>
            </a:endParaRPr>
          </a:p>
          <a:p>
            <a:pPr marL="49530" marR="5080" indent="1905">
              <a:lnSpc>
                <a:spcPct val="149400"/>
              </a:lnSpc>
              <a:spcBef>
                <a:spcPts val="110"/>
              </a:spcBef>
            </a:pPr>
            <a:r>
              <a:rPr sz="400" spc="10" dirty="0">
                <a:latin typeface="Noto Sans Mono"/>
                <a:cs typeface="Noto Sans Mono"/>
              </a:rPr>
              <a:t>6</a:t>
            </a:r>
            <a:r>
              <a:rPr sz="400" dirty="0">
                <a:latin typeface="Noto Sans Mono"/>
                <a:cs typeface="Noto Sans Mono"/>
              </a:rPr>
              <a:t> </a:t>
            </a:r>
            <a:r>
              <a:rPr sz="400" spc="10" dirty="0">
                <a:solidFill>
                  <a:srgbClr val="C80000"/>
                </a:solidFill>
                <a:latin typeface="Noto Sans Mono"/>
                <a:cs typeface="Noto Sans Mono"/>
              </a:rPr>
              <a:t>blog._out(("alice","gtcn","</a:t>
            </a:r>
            <a:r>
              <a:rPr sz="400" spc="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spc="10" dirty="0">
                <a:solidFill>
                  <a:srgbClr val="C80000"/>
                </a:solidFill>
                <a:latin typeface="Noto Sans Mono"/>
                <a:cs typeface="Noto Sans Mono"/>
              </a:rPr>
              <a:t>Lý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spc="10" dirty="0">
                <a:solidFill>
                  <a:srgbClr val="C80000"/>
                </a:solidFill>
                <a:latin typeface="Noto Sans Mono"/>
                <a:cs typeface="Noto Sans Mono"/>
              </a:rPr>
              <a:t>thuyết</a:t>
            </a:r>
            <a:r>
              <a:rPr sz="400" spc="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400" spc="-7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spc="10" dirty="0">
                <a:solidFill>
                  <a:srgbClr val="C80000"/>
                </a:solidFill>
                <a:latin typeface="Noto Sans Mono"/>
                <a:cs typeface="Noto Sans Mono"/>
              </a:rPr>
              <a:t>ồ</a:t>
            </a:r>
            <a:r>
              <a:rPr sz="400" spc="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spc="10" dirty="0">
                <a:solidFill>
                  <a:srgbClr val="C80000"/>
                </a:solidFill>
                <a:latin typeface="Noto Sans Mono"/>
                <a:cs typeface="Noto Sans Mono"/>
              </a:rPr>
              <a:t>thị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spc="10" dirty="0">
                <a:solidFill>
                  <a:srgbClr val="C80000"/>
                </a:solidFill>
                <a:latin typeface="Noto Sans Mono"/>
                <a:cs typeface="Noto Sans Mono"/>
              </a:rPr>
              <a:t>này</a:t>
            </a:r>
            <a:r>
              <a:rPr sz="400" spc="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spc="10" dirty="0">
                <a:solidFill>
                  <a:srgbClr val="C80000"/>
                </a:solidFill>
                <a:latin typeface="Noto Sans Mono"/>
                <a:cs typeface="Noto Sans Mono"/>
              </a:rPr>
              <a:t>không</a:t>
            </a:r>
            <a:r>
              <a:rPr sz="400" spc="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spc="10" dirty="0">
                <a:solidFill>
                  <a:srgbClr val="C80000"/>
                </a:solidFill>
                <a:latin typeface="Noto Sans Mono"/>
                <a:cs typeface="Noto Sans Mono"/>
              </a:rPr>
              <a:t>dễ"))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spc="10" dirty="0">
                <a:latin typeface="Noto Sans Mono"/>
                <a:cs typeface="Noto Sans Mono"/>
              </a:rPr>
              <a:t>7</a:t>
            </a:r>
            <a:r>
              <a:rPr sz="400" spc="5" dirty="0">
                <a:latin typeface="Noto Sans Mono"/>
                <a:cs typeface="Noto Sans Mono"/>
              </a:rPr>
              <a:t> </a:t>
            </a:r>
            <a:r>
              <a:rPr sz="400" spc="-10" dirty="0">
                <a:solidFill>
                  <a:srgbClr val="C80000"/>
                </a:solidFill>
                <a:latin typeface="Noto Sans Mono"/>
                <a:cs typeface="Noto Sans Mono"/>
              </a:rPr>
              <a:t>blog._out(("alice","distsys","Tôi</a:t>
            </a:r>
            <a:r>
              <a:rPr sz="400" spc="50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thích</a:t>
            </a:r>
            <a:r>
              <a:rPr sz="400" spc="3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hệ</a:t>
            </a:r>
            <a:r>
              <a:rPr sz="400" spc="3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thống</a:t>
            </a:r>
            <a:r>
              <a:rPr sz="400" spc="4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hơn</a:t>
            </a:r>
            <a:r>
              <a:rPr sz="400" spc="3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400" spc="-5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ồ</a:t>
            </a:r>
            <a:r>
              <a:rPr sz="400" spc="4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thị"))</a:t>
            </a:r>
            <a:r>
              <a:rPr sz="400" spc="3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1</a:t>
            </a:r>
            <a:r>
              <a:rPr sz="400" spc="40" dirty="0"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FF0059"/>
                </a:solidFill>
                <a:latin typeface="Noto Sans Mono"/>
                <a:cs typeface="Noto Sans Mono"/>
              </a:rPr>
              <a:t>import</a:t>
            </a:r>
            <a:r>
              <a:rPr sz="400" spc="35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linda</a:t>
            </a:r>
            <a:r>
              <a:rPr sz="400" spc="3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2</a:t>
            </a:r>
            <a:r>
              <a:rPr sz="400" spc="40" dirty="0">
                <a:latin typeface="Noto Sans Mono"/>
                <a:cs typeface="Noto Sans Mono"/>
              </a:rPr>
              <a:t> </a:t>
            </a:r>
            <a:r>
              <a:rPr sz="400" spc="-10" dirty="0">
                <a:latin typeface="Noto Sans Mono"/>
                <a:cs typeface="Noto Sans Mono"/>
              </a:rPr>
              <a:t>linda.connect()</a:t>
            </a:r>
            <a:endParaRPr sz="400" dirty="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8315" y="2327197"/>
            <a:ext cx="2159000" cy="9493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360"/>
              </a:spcBef>
            </a:pPr>
            <a:r>
              <a:rPr sz="350" spc="-50" dirty="0">
                <a:latin typeface="Noto Sans Mono"/>
                <a:cs typeface="Noto Sans Mono"/>
              </a:rPr>
              <a:t>3</a:t>
            </a:r>
            <a:endParaRPr sz="350">
              <a:latin typeface="Noto Sans Mono"/>
              <a:cs typeface="Noto Sans Mono"/>
            </a:endParaRPr>
          </a:p>
          <a:p>
            <a:pPr marL="49530">
              <a:lnSpc>
                <a:spcPct val="100000"/>
              </a:lnSpc>
              <a:spcBef>
                <a:spcPts val="300"/>
              </a:spcBef>
            </a:pPr>
            <a:r>
              <a:rPr sz="450" dirty="0">
                <a:latin typeface="Noto Sans Mono"/>
                <a:cs typeface="Noto Sans Mono"/>
              </a:rPr>
              <a:t>4</a:t>
            </a:r>
            <a:r>
              <a:rPr sz="450" spc="-2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blog</a:t>
            </a:r>
            <a:r>
              <a:rPr sz="450" spc="-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=</a:t>
            </a:r>
            <a:r>
              <a:rPr sz="450" spc="-20" dirty="0">
                <a:latin typeface="Noto Sans Mono"/>
                <a:cs typeface="Noto Sans Mono"/>
              </a:rPr>
              <a:t> </a:t>
            </a: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linda.universe._rd(("MicroBlog",linda.TupleSpace))[1]</a:t>
            </a:r>
            <a:endParaRPr sz="450">
              <a:latin typeface="Noto Sans Mono"/>
              <a:cs typeface="Noto Sans Mono"/>
            </a:endParaRPr>
          </a:p>
          <a:p>
            <a:pPr marL="48895">
              <a:lnSpc>
                <a:spcPct val="100000"/>
              </a:lnSpc>
              <a:spcBef>
                <a:spcPts val="175"/>
              </a:spcBef>
            </a:pPr>
            <a:r>
              <a:rPr sz="350" spc="-50" dirty="0">
                <a:latin typeface="Noto Sans Mono"/>
                <a:cs typeface="Noto Sans Mono"/>
              </a:rPr>
              <a:t>5</a:t>
            </a:r>
            <a:endParaRPr sz="350">
              <a:latin typeface="Noto Sans Mono"/>
              <a:cs typeface="Noto Sans Mono"/>
            </a:endParaRPr>
          </a:p>
          <a:p>
            <a:pPr marL="49530" marR="568960" indent="1905">
              <a:lnSpc>
                <a:spcPct val="132800"/>
              </a:lnSpc>
              <a:spcBef>
                <a:spcPts val="125"/>
              </a:spcBef>
            </a:pPr>
            <a:r>
              <a:rPr sz="450" dirty="0">
                <a:latin typeface="Noto Sans Mono"/>
                <a:cs typeface="Noto Sans Mono"/>
              </a:rPr>
              <a:t>6</a:t>
            </a:r>
            <a:r>
              <a:rPr sz="450" spc="-1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t1</a:t>
            </a:r>
            <a:r>
              <a:rPr sz="450" spc="-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=</a:t>
            </a:r>
            <a:r>
              <a:rPr sz="450" spc="-5" dirty="0">
                <a:latin typeface="Noto Sans Mono"/>
                <a:cs typeface="Noto Sans Mono"/>
              </a:rPr>
              <a:t> </a:t>
            </a:r>
            <a:r>
              <a:rPr sz="450" spc="-10" dirty="0">
                <a:latin typeface="Noto Sans Mono"/>
                <a:cs typeface="Noto Sans Mono"/>
              </a:rPr>
              <a:t>blog._rd(("bob","distsys",str))</a:t>
            </a:r>
            <a:r>
              <a:rPr sz="450" spc="-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7</a:t>
            </a:r>
            <a:r>
              <a:rPr sz="450" spc="-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t2</a:t>
            </a:r>
            <a:r>
              <a:rPr sz="450" spc="-5" dirty="0">
                <a:latin typeface="Noto Sans Mono"/>
                <a:cs typeface="Noto Sans Mono"/>
              </a:rPr>
              <a:t> </a:t>
            </a:r>
            <a:r>
              <a:rPr sz="450" spc="-50" dirty="0">
                <a:latin typeface="Noto Sans Mono"/>
                <a:cs typeface="Noto Sans Mono"/>
              </a:rPr>
              <a:t>= </a:t>
            </a: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blog._rd(("alice","gtcn",str))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8</a:t>
            </a:r>
            <a:r>
              <a:rPr sz="450" spc="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t3</a:t>
            </a:r>
            <a:r>
              <a:rPr sz="450" spc="5" dirty="0">
                <a:latin typeface="Noto Sans Mono"/>
                <a:cs typeface="Noto Sans Mono"/>
              </a:rPr>
              <a:t> </a:t>
            </a:r>
            <a:r>
              <a:rPr sz="450" spc="-50" dirty="0">
                <a:latin typeface="Noto Sans Mono"/>
                <a:cs typeface="Noto Sans Mono"/>
              </a:rPr>
              <a:t>=</a:t>
            </a:r>
            <a:endParaRPr sz="450">
              <a:latin typeface="Noto Sans Mono"/>
              <a:cs typeface="Noto Sans Mono"/>
            </a:endParaRPr>
          </a:p>
          <a:p>
            <a:pPr marL="50165">
              <a:lnSpc>
                <a:spcPct val="100000"/>
              </a:lnSpc>
              <a:spcBef>
                <a:spcPts val="175"/>
              </a:spcBef>
            </a:pPr>
            <a:r>
              <a:rPr sz="450" spc="-10" dirty="0">
                <a:solidFill>
                  <a:srgbClr val="C80000"/>
                </a:solidFill>
                <a:latin typeface="Noto Sans Mono"/>
                <a:cs typeface="Noto Sans Mono"/>
              </a:rPr>
              <a:t>blog._rd(("bob","gtcn",str))</a:t>
            </a:r>
            <a:endParaRPr sz="450">
              <a:latin typeface="Noto Sans Mono"/>
              <a:cs typeface="Noto Sans Mono"/>
            </a:endParaRPr>
          </a:p>
          <a:p>
            <a:pPr marL="51435">
              <a:lnSpc>
                <a:spcPct val="100000"/>
              </a:lnSpc>
              <a:spcBef>
                <a:spcPts val="175"/>
              </a:spcBef>
            </a:pPr>
            <a:r>
              <a:rPr sz="350" spc="-50" dirty="0">
                <a:latin typeface="Noto Sans Mono"/>
                <a:cs typeface="Noto Sans Mono"/>
              </a:rPr>
              <a:t>9</a:t>
            </a:r>
            <a:endParaRPr sz="35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450" dirty="0">
                <a:latin typeface="Noto Sans Mono"/>
                <a:cs typeface="Noto Sans Mono"/>
              </a:rPr>
              <a:t>10</a:t>
            </a:r>
            <a:r>
              <a:rPr sz="450" spc="-25" dirty="0"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FF0059"/>
                </a:solidFill>
                <a:latin typeface="Noto Sans Mono"/>
                <a:cs typeface="Noto Sans Mono"/>
              </a:rPr>
              <a:t>bản</a:t>
            </a:r>
            <a:r>
              <a:rPr sz="450" spc="-25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FF0059"/>
                </a:solidFill>
                <a:latin typeface="Noto Sans Mono"/>
                <a:cs typeface="Noto Sans Mono"/>
              </a:rPr>
              <a:t>in</a:t>
            </a:r>
            <a:r>
              <a:rPr sz="450" spc="-25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50" spc="-25" dirty="0">
                <a:latin typeface="Noto Sans Mono"/>
                <a:cs typeface="Noto Sans Mono"/>
              </a:rPr>
              <a:t>t1</a:t>
            </a:r>
            <a:endParaRPr sz="45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450" dirty="0">
                <a:latin typeface="Noto Sans Mono"/>
                <a:cs typeface="Noto Sans Mono"/>
              </a:rPr>
              <a:t>11</a:t>
            </a:r>
            <a:r>
              <a:rPr sz="450" spc="-25" dirty="0"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FF0059"/>
                </a:solidFill>
                <a:latin typeface="Noto Sans Mono"/>
                <a:cs typeface="Noto Sans Mono"/>
              </a:rPr>
              <a:t>bản</a:t>
            </a:r>
            <a:r>
              <a:rPr sz="450" spc="-25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FF0059"/>
                </a:solidFill>
                <a:latin typeface="Noto Sans Mono"/>
                <a:cs typeface="Noto Sans Mono"/>
              </a:rPr>
              <a:t>in</a:t>
            </a:r>
            <a:r>
              <a:rPr sz="450" spc="-25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50" spc="-25" dirty="0">
                <a:latin typeface="Noto Sans Mono"/>
                <a:cs typeface="Noto Sans Mono"/>
              </a:rPr>
              <a:t>t2</a:t>
            </a:r>
            <a:endParaRPr sz="45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450" dirty="0">
                <a:latin typeface="Noto Sans Mono"/>
                <a:cs typeface="Noto Sans Mono"/>
              </a:rPr>
              <a:t>12</a:t>
            </a:r>
            <a:r>
              <a:rPr sz="450" spc="-25" dirty="0"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FF0059"/>
                </a:solidFill>
                <a:latin typeface="Noto Sans Mono"/>
                <a:cs typeface="Noto Sans Mono"/>
              </a:rPr>
              <a:t>bản</a:t>
            </a:r>
            <a:r>
              <a:rPr sz="450" spc="-25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FF0059"/>
                </a:solidFill>
                <a:latin typeface="Noto Sans Mono"/>
                <a:cs typeface="Noto Sans Mono"/>
              </a:rPr>
              <a:t>in</a:t>
            </a:r>
            <a:r>
              <a:rPr sz="450" spc="-25" dirty="0">
                <a:solidFill>
                  <a:srgbClr val="FF0059"/>
                </a:solidFill>
                <a:latin typeface="Noto Sans Mono"/>
                <a:cs typeface="Noto Sans Mono"/>
              </a:rPr>
              <a:t> </a:t>
            </a:r>
            <a:r>
              <a:rPr sz="450" spc="-25" dirty="0">
                <a:latin typeface="Noto Sans Mono"/>
                <a:cs typeface="Noto Sans Mono"/>
              </a:rPr>
              <a:t>t3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90771" y="21724"/>
            <a:ext cx="55943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Phong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cách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 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57" y="3360337"/>
            <a:ext cx="625475" cy="774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xuất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spc="-10" dirty="0">
                <a:latin typeface="Noto Sans Mono"/>
                <a:cs typeface="Noto Sans Mono"/>
              </a:rPr>
              <a:t>bản-</a:t>
            </a:r>
            <a:r>
              <a:rPr sz="300" dirty="0">
                <a:latin typeface="Noto Sans Mono"/>
                <a:cs typeface="Noto Sans Mono"/>
              </a:rPr>
              <a:t>đ</a:t>
            </a:r>
            <a:r>
              <a:rPr sz="300" spc="-5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ăng</a:t>
            </a:r>
            <a:r>
              <a:rPr sz="300" spc="10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ký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837" y="239741"/>
            <a:ext cx="3336925" cy="1029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Xuất</a:t>
            </a:r>
            <a:r>
              <a:rPr sz="70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bản</a:t>
            </a:r>
            <a:r>
              <a:rPr sz="70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và</a:t>
            </a:r>
            <a:r>
              <a:rPr sz="70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700" spc="-1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ăng</a:t>
            </a:r>
            <a:r>
              <a:rPr sz="70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spc="-25" dirty="0">
                <a:solidFill>
                  <a:srgbClr val="3333B3"/>
                </a:solidFill>
                <a:latin typeface="Noto Sans Mono"/>
                <a:cs typeface="Noto Sans Mono"/>
              </a:rPr>
              <a:t>ký</a:t>
            </a:r>
            <a:endParaRPr sz="7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700">
              <a:latin typeface="Noto Sans Mono"/>
              <a:cs typeface="Noto Sans Mono"/>
            </a:endParaRPr>
          </a:p>
          <a:p>
            <a:pPr marL="262890">
              <a:lnSpc>
                <a:spcPct val="100000"/>
              </a:lnSpc>
              <a:spcBef>
                <a:spcPts val="5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Vấn</a:t>
            </a:r>
            <a:r>
              <a:rPr sz="5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550" spc="-9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ề:</a:t>
            </a:r>
            <a:r>
              <a:rPr sz="550" spc="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làm</a:t>
            </a:r>
            <a:r>
              <a:rPr sz="550" spc="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sao</a:t>
            </a:r>
            <a:r>
              <a:rPr sz="550" spc="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550" spc="-9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ể</a:t>
            </a:r>
            <a:r>
              <a:rPr sz="550" spc="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khớp</a:t>
            </a:r>
            <a:r>
              <a:rPr sz="550" spc="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các</a:t>
            </a:r>
            <a:r>
              <a:rPr sz="550" spc="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sự</a:t>
            </a:r>
            <a:r>
              <a:rPr sz="5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10" dirty="0">
                <a:solidFill>
                  <a:srgbClr val="3333B3"/>
                </a:solidFill>
                <a:latin typeface="Noto Sans Mono"/>
                <a:cs typeface="Noto Sans Mono"/>
              </a:rPr>
              <a:t>kiện?</a:t>
            </a:r>
            <a:endParaRPr sz="5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550">
              <a:latin typeface="Noto Sans Mono"/>
              <a:cs typeface="Noto Sans Mono"/>
            </a:endParaRPr>
          </a:p>
          <a:p>
            <a:pPr marL="467359" indent="-78740">
              <a:lnSpc>
                <a:spcPct val="100000"/>
              </a:lnSpc>
              <a:buClr>
                <a:srgbClr val="3333B3"/>
              </a:buClr>
              <a:buChar char="•"/>
              <a:tabLst>
                <a:tab pos="467359" algn="l"/>
              </a:tabLst>
            </a:pPr>
            <a:r>
              <a:rPr sz="500" dirty="0">
                <a:latin typeface="Noto Sans Mono"/>
                <a:cs typeface="Noto Sans Mono"/>
              </a:rPr>
              <a:t>Giả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sử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sự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kiện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mô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tả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theo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cặp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(thuộc</a:t>
            </a:r>
            <a:r>
              <a:rPr sz="5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tính,</a:t>
            </a:r>
            <a:r>
              <a:rPr sz="5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giá</a:t>
            </a:r>
            <a:r>
              <a:rPr sz="5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trị)</a:t>
            </a:r>
            <a:r>
              <a:rPr sz="5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500" spc="-7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spc="-25" dirty="0">
                <a:solidFill>
                  <a:srgbClr val="C80000"/>
                </a:solidFill>
                <a:latin typeface="Noto Sans Mono"/>
                <a:cs typeface="Noto Sans Mono"/>
              </a:rPr>
              <a:t>ăng</a:t>
            </a:r>
            <a:endParaRPr sz="500">
              <a:latin typeface="Noto Sans Mono"/>
              <a:cs typeface="Noto Sans Mono"/>
            </a:endParaRPr>
          </a:p>
          <a:p>
            <a:pPr marL="388620" marR="5080">
              <a:lnSpc>
                <a:spcPct val="250599"/>
              </a:lnSpc>
              <a:tabLst>
                <a:tab pos="1829435" algn="l"/>
              </a:tabLst>
            </a:pP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ký</a:t>
            </a:r>
            <a:r>
              <a:rPr sz="500" spc="4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theo</a:t>
            </a:r>
            <a:r>
              <a:rPr sz="500" spc="4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chủ</a:t>
            </a:r>
            <a:r>
              <a:rPr sz="500" spc="4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500" spc="-7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ề:</a:t>
            </a:r>
            <a:r>
              <a:rPr sz="500" spc="4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chỉ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ịnh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chuỗi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“thuộc</a:t>
            </a:r>
            <a:r>
              <a:rPr sz="5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tính</a:t>
            </a:r>
            <a:r>
              <a:rPr sz="5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=</a:t>
            </a:r>
            <a:r>
              <a:rPr sz="5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giá</a:t>
            </a:r>
            <a:r>
              <a:rPr sz="5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trị”</a:t>
            </a:r>
            <a:r>
              <a:rPr sz="5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500" spc="-7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ăng</a:t>
            </a:r>
            <a:r>
              <a:rPr sz="500" spc="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ký</a:t>
            </a:r>
            <a:r>
              <a:rPr sz="500" spc="4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theo</a:t>
            </a:r>
            <a:r>
              <a:rPr sz="500" spc="4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spc="-25" dirty="0">
                <a:solidFill>
                  <a:srgbClr val="C80000"/>
                </a:solidFill>
                <a:latin typeface="Noto Sans Mono"/>
                <a:cs typeface="Noto Sans Mono"/>
              </a:rPr>
              <a:t>nội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dung:</a:t>
            </a:r>
            <a:r>
              <a:rPr sz="500" spc="5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chỉ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6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ịnh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chuỗi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“thuộc</a:t>
            </a:r>
            <a:r>
              <a:rPr sz="50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spc="-20" dirty="0">
                <a:solidFill>
                  <a:srgbClr val="3333B3"/>
                </a:solidFill>
                <a:latin typeface="Noto Sans Mono"/>
                <a:cs typeface="Noto Sans Mono"/>
              </a:rPr>
              <a:t>tính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	phạm</a:t>
            </a:r>
            <a:r>
              <a:rPr sz="50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spc="-25" dirty="0">
                <a:solidFill>
                  <a:srgbClr val="3333B3"/>
                </a:solidFill>
                <a:latin typeface="Noto Sans Mono"/>
                <a:cs typeface="Noto Sans Mono"/>
              </a:rPr>
              <a:t>vi”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1019" y="2621370"/>
            <a:ext cx="3569335" cy="4330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Quan</a:t>
            </a:r>
            <a:r>
              <a:rPr sz="500" spc="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sát</a:t>
            </a:r>
            <a:r>
              <a:rPr sz="500" spc="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Các</a:t>
            </a:r>
            <a:endParaRPr sz="500">
              <a:latin typeface="Noto Sans Mono"/>
              <a:cs typeface="Noto Sans Mono"/>
            </a:endParaRPr>
          </a:p>
          <a:p>
            <a:pPr marL="12700" marR="5080" indent="635">
              <a:lnSpc>
                <a:spcPct val="200800"/>
              </a:lnSpc>
              <a:spcBef>
                <a:spcPts val="170"/>
              </a:spcBef>
            </a:pP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ăng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ký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dựa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trên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nội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dung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thể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dễ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dàng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gặp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phải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vấn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ề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nghiêm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trọng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về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khả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năng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mở </a:t>
            </a:r>
            <a:r>
              <a:rPr sz="500" dirty="0">
                <a:latin typeface="Noto Sans Mono"/>
                <a:cs typeface="Noto Sans Mono"/>
              </a:rPr>
              <a:t>rộng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(tại</a:t>
            </a:r>
            <a:r>
              <a:rPr sz="50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spc="-10" dirty="0">
                <a:solidFill>
                  <a:srgbClr val="3333B3"/>
                </a:solidFill>
                <a:latin typeface="Noto Sans Mono"/>
                <a:cs typeface="Noto Sans Mono"/>
              </a:rPr>
              <a:t>sao?)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10257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tr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8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6413" y="260760"/>
            <a:ext cx="2862580" cy="1206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Phần</a:t>
            </a:r>
            <a:r>
              <a:rPr sz="6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mềm</a:t>
            </a:r>
            <a:r>
              <a:rPr sz="6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trung</a:t>
            </a:r>
            <a:r>
              <a:rPr sz="6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gian:</a:t>
            </a:r>
            <a:r>
              <a:rPr sz="6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Hệ</a:t>
            </a:r>
            <a:r>
              <a:rPr sz="6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600" spc="-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iều</a:t>
            </a:r>
            <a:r>
              <a:rPr sz="6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hành</a:t>
            </a:r>
            <a:r>
              <a:rPr sz="6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của</a:t>
            </a:r>
            <a:r>
              <a:rPr sz="6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các</a:t>
            </a:r>
            <a:r>
              <a:rPr sz="6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hệ</a:t>
            </a:r>
            <a:r>
              <a:rPr sz="6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thống</a:t>
            </a:r>
            <a:r>
              <a:rPr sz="6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phân</a:t>
            </a:r>
            <a:r>
              <a:rPr sz="6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tán</a:t>
            </a:r>
            <a:endParaRPr sz="6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2751" y="33334"/>
            <a:ext cx="1026160" cy="75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Phần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mềm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trung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gian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và</a:t>
            </a:r>
            <a:r>
              <a:rPr sz="300" spc="9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spc="-25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312" y="2129731"/>
            <a:ext cx="386143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dirty="0">
                <a:solidFill>
                  <a:srgbClr val="3333B3"/>
                </a:solidFill>
                <a:latin typeface="Noto Sans Mono"/>
                <a:cs typeface="Noto Sans Mono"/>
              </a:rPr>
              <a:t>Nó</a:t>
            </a:r>
            <a:r>
              <a:rPr sz="75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50" dirty="0">
                <a:solidFill>
                  <a:srgbClr val="3333B3"/>
                </a:solidFill>
                <a:latin typeface="Noto Sans Mono"/>
                <a:cs typeface="Noto Sans Mono"/>
              </a:rPr>
              <a:t>chứa</a:t>
            </a:r>
            <a:r>
              <a:rPr sz="7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50" dirty="0">
                <a:solidFill>
                  <a:srgbClr val="3333B3"/>
                </a:solidFill>
                <a:latin typeface="Noto Sans Mono"/>
                <a:cs typeface="Noto Sans Mono"/>
              </a:rPr>
              <a:t>những</a:t>
            </a:r>
            <a:r>
              <a:rPr sz="7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50" spc="-25" dirty="0">
                <a:solidFill>
                  <a:srgbClr val="3333B3"/>
                </a:solidFill>
                <a:latin typeface="Noto Sans Mono"/>
                <a:cs typeface="Noto Sans Mono"/>
              </a:rPr>
              <a:t>gì?</a:t>
            </a:r>
            <a:endParaRPr sz="750">
              <a:latin typeface="Noto Sans Mono"/>
              <a:cs typeface="Noto Sans Mono"/>
            </a:endParaRPr>
          </a:p>
          <a:p>
            <a:pPr marL="20320" marR="5080" indent="635">
              <a:lnSpc>
                <a:spcPct val="154500"/>
              </a:lnSpc>
              <a:spcBef>
                <a:spcPts val="175"/>
              </a:spcBef>
            </a:pPr>
            <a:r>
              <a:rPr sz="650" dirty="0">
                <a:latin typeface="Noto Sans Mono"/>
                <a:cs typeface="Noto Sans Mono"/>
              </a:rPr>
              <a:t>Các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thành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phần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và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chức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năng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thường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dùng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mà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không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cần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phải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ược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ứng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dụng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10" dirty="0">
                <a:latin typeface="Noto Sans Mono"/>
                <a:cs typeface="Noto Sans Mono"/>
              </a:rPr>
              <a:t>triển </a:t>
            </a:r>
            <a:r>
              <a:rPr sz="650" dirty="0">
                <a:latin typeface="Noto Sans Mono"/>
                <a:cs typeface="Noto Sans Mono"/>
              </a:rPr>
              <a:t>khai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riêng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20" dirty="0">
                <a:latin typeface="Noto Sans Mono"/>
                <a:cs typeface="Noto Sans Mono"/>
              </a:rPr>
              <a:t>biệt.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90" y="16130"/>
            <a:ext cx="6705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25" spc="-112" baseline="15873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525" spc="-112" baseline="15873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525" spc="-112" baseline="15873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525" spc="-112" baseline="15873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525" spc="-112" baseline="15873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525" spc="-112" baseline="15873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525" spc="-112" baseline="15873" dirty="0">
                <a:latin typeface="Arial"/>
                <a:cs typeface="Arial"/>
              </a:rPr>
              <a:t>nslated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baseline="15873" dirty="0">
                <a:latin typeface="Arial"/>
                <a:cs typeface="Arial"/>
              </a:rPr>
              <a:t>by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spc="-15" baseline="15873" dirty="0">
                <a:latin typeface="Arial"/>
                <a:cs typeface="Arial"/>
              </a:rPr>
              <a:t>Google</a:t>
            </a:r>
            <a:endParaRPr sz="525" baseline="1587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4658" y="1115643"/>
            <a:ext cx="3710304" cy="4324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14"/>
              </a:spcBef>
            </a:pP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Giải</a:t>
            </a:r>
            <a:r>
              <a:rPr sz="5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spc="-20" dirty="0">
                <a:solidFill>
                  <a:srgbClr val="3333B3"/>
                </a:solidFill>
                <a:latin typeface="Noto Sans Mono"/>
                <a:cs typeface="Noto Sans Mono"/>
              </a:rPr>
              <a:t>pháp</a:t>
            </a:r>
            <a:endParaRPr sz="500">
              <a:latin typeface="Noto Sans Mono"/>
              <a:cs typeface="Noto Sans Mono"/>
            </a:endParaRPr>
          </a:p>
          <a:p>
            <a:pPr marL="16510" marR="5080" indent="-4445">
              <a:lnSpc>
                <a:spcPct val="200800"/>
              </a:lnSpc>
              <a:spcBef>
                <a:spcPts val="175"/>
              </a:spcBef>
            </a:pP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wrapper</a:t>
            </a:r>
            <a:r>
              <a:rPr sz="500" spc="4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hoặc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adapter</a:t>
            </a:r>
            <a:r>
              <a:rPr sz="500" spc="4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cung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cấp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giao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diện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thể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chấp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nhận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ối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với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ứng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dụng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spc="-10" dirty="0">
                <a:latin typeface="Noto Sans Mono"/>
                <a:cs typeface="Noto Sans Mono"/>
              </a:rPr>
              <a:t>khách </a:t>
            </a:r>
            <a:r>
              <a:rPr sz="500" dirty="0">
                <a:latin typeface="Noto Sans Mono"/>
                <a:cs typeface="Noto Sans Mono"/>
              </a:rPr>
              <a:t>hàng.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chức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năng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của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nó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chuyển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ổi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thành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chức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năng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sẵn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tại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thành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spc="-10" dirty="0">
                <a:latin typeface="Noto Sans Mono"/>
                <a:cs typeface="Noto Sans Mono"/>
              </a:rPr>
              <a:t>phần.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047" y="3365146"/>
            <a:ext cx="701040" cy="8255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300" dirty="0">
                <a:latin typeface="Noto Sans Mono"/>
                <a:cs typeface="Noto Sans Mono"/>
              </a:rPr>
              <a:t>Tổ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chức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phần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mềm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trung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spc="-20" dirty="0">
                <a:latin typeface="Noto Sans Mono"/>
                <a:cs typeface="Noto Sans Mono"/>
              </a:rPr>
              <a:t>gian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928" y="264304"/>
            <a:ext cx="3827145" cy="576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Sử</a:t>
            </a:r>
            <a:r>
              <a:rPr sz="600" spc="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dụng</a:t>
            </a:r>
            <a:r>
              <a:rPr sz="60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legacy</a:t>
            </a:r>
            <a:r>
              <a:rPr sz="60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600" spc="-9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ể</a:t>
            </a:r>
            <a:r>
              <a:rPr sz="60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xây</a:t>
            </a:r>
            <a:r>
              <a:rPr sz="60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dựng</a:t>
            </a:r>
            <a:r>
              <a:rPr sz="60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phần</a:t>
            </a:r>
            <a:r>
              <a:rPr sz="600" spc="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mềm</a:t>
            </a:r>
            <a:r>
              <a:rPr sz="60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trung</a:t>
            </a:r>
            <a:r>
              <a:rPr sz="60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spc="-20" dirty="0">
                <a:solidFill>
                  <a:srgbClr val="3333B3"/>
                </a:solidFill>
                <a:latin typeface="Noto Sans Mono"/>
                <a:cs typeface="Noto Sans Mono"/>
              </a:rPr>
              <a:t>gian</a:t>
            </a:r>
            <a:endParaRPr sz="6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600">
              <a:latin typeface="Noto Sans Mono"/>
              <a:cs typeface="Noto Sans Mono"/>
            </a:endParaRPr>
          </a:p>
          <a:p>
            <a:pPr marL="262255">
              <a:lnSpc>
                <a:spcPct val="100000"/>
              </a:lnSpc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Vấn</a:t>
            </a:r>
            <a:r>
              <a:rPr sz="55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550" spc="-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50" dirty="0">
                <a:solidFill>
                  <a:srgbClr val="3333B3"/>
                </a:solidFill>
                <a:latin typeface="Noto Sans Mono"/>
                <a:cs typeface="Noto Sans Mono"/>
              </a:rPr>
              <a:t>ề</a:t>
            </a:r>
            <a:endParaRPr sz="550">
              <a:latin typeface="Noto Sans Mono"/>
              <a:cs typeface="Noto Sans Mono"/>
            </a:endParaRPr>
          </a:p>
          <a:p>
            <a:pPr marL="249554">
              <a:lnSpc>
                <a:spcPct val="100000"/>
              </a:lnSpc>
              <a:spcBef>
                <a:spcPts val="715"/>
              </a:spcBef>
            </a:pP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giao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diện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do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thành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phần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cũ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cung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cấp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rất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thể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không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phù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hợp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mọi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ứng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dụng.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2751" y="21104"/>
            <a:ext cx="1026160" cy="75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Phần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mềm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trung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gian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và</a:t>
            </a:r>
            <a:r>
              <a:rPr sz="300" spc="9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spc="-25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7971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úc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0808" y="244379"/>
            <a:ext cx="2580640" cy="427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Tổ</a:t>
            </a:r>
            <a:r>
              <a:rPr sz="85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chức</a:t>
            </a:r>
            <a:r>
              <a:rPr sz="85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10" dirty="0">
                <a:solidFill>
                  <a:srgbClr val="3333B3"/>
                </a:solidFill>
                <a:latin typeface="Noto Sans Mono"/>
                <a:cs typeface="Noto Sans Mono"/>
              </a:rPr>
              <a:t>wrappers</a:t>
            </a:r>
            <a:endParaRPr sz="8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850">
              <a:latin typeface="Noto Sans Mono"/>
              <a:cs typeface="Noto Sans Mono"/>
            </a:endParaRPr>
          </a:p>
          <a:p>
            <a:pPr marL="256540">
              <a:lnSpc>
                <a:spcPct val="100000"/>
              </a:lnSpc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Hai giải pháp: 1-1 hoặc thông qua một nhà môi </a:t>
            </a:r>
            <a:r>
              <a:rPr sz="600" spc="-20" dirty="0">
                <a:solidFill>
                  <a:srgbClr val="3333B3"/>
                </a:solidFill>
                <a:latin typeface="Noto Sans Mono"/>
                <a:cs typeface="Noto Sans Mono"/>
              </a:rPr>
              <a:t>giới</a:t>
            </a:r>
            <a:endParaRPr sz="6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047" y="3365146"/>
            <a:ext cx="701040" cy="8255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300" dirty="0">
                <a:latin typeface="Noto Sans Mono"/>
                <a:cs typeface="Noto Sans Mono"/>
              </a:rPr>
              <a:t>Tổ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chức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phần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mềm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trung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spc="-20" dirty="0">
                <a:latin typeface="Noto Sans Mono"/>
                <a:cs typeface="Noto Sans Mono"/>
              </a:rPr>
              <a:t>gian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2751" y="20990"/>
            <a:ext cx="1026160" cy="75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Phần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mềm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trung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gian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và</a:t>
            </a:r>
            <a:r>
              <a:rPr sz="300" spc="9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spc="-25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124" y="1977640"/>
            <a:ext cx="2714625" cy="568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Độ phức tạp với N ứng </a:t>
            </a:r>
            <a:r>
              <a:rPr sz="600" spc="-20" dirty="0">
                <a:solidFill>
                  <a:srgbClr val="3333B3"/>
                </a:solidFill>
                <a:latin typeface="Noto Sans Mono"/>
                <a:cs typeface="Noto Sans Mono"/>
              </a:rPr>
              <a:t>dụng</a:t>
            </a:r>
            <a:endParaRPr sz="6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600">
              <a:latin typeface="Noto Sans Mono"/>
              <a:cs typeface="Noto Sans Mono"/>
            </a:endParaRPr>
          </a:p>
          <a:p>
            <a:pPr marL="279400" indent="-108585">
              <a:lnSpc>
                <a:spcPct val="100000"/>
              </a:lnSpc>
              <a:buChar char="•"/>
              <a:tabLst>
                <a:tab pos="279400" algn="l"/>
                <a:tab pos="1550670" algn="l"/>
              </a:tabLst>
            </a:pPr>
            <a:r>
              <a:rPr sz="700" spc="-55" dirty="0">
                <a:solidFill>
                  <a:srgbClr val="3333B3"/>
                </a:solidFill>
                <a:latin typeface="Noto Sans Mono"/>
                <a:cs typeface="Noto Sans Mono"/>
              </a:rPr>
              <a:t>1-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on-1:</a:t>
            </a:r>
            <a:r>
              <a:rPr sz="70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yêu</a:t>
            </a:r>
            <a:r>
              <a:rPr sz="700" spc="5" dirty="0"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cầu</a:t>
            </a:r>
            <a:r>
              <a:rPr sz="700" spc="5" dirty="0"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N</a:t>
            </a:r>
            <a:r>
              <a:rPr sz="700" spc="5" dirty="0">
                <a:latin typeface="Noto Sans Mono"/>
                <a:cs typeface="Noto Sans Mono"/>
              </a:rPr>
              <a:t> </a:t>
            </a:r>
            <a:r>
              <a:rPr sz="700" spc="-25" dirty="0">
                <a:latin typeface="Noto Sans Mono"/>
                <a:cs typeface="Noto Sans Mono"/>
              </a:rPr>
              <a:t>×(N</a:t>
            </a:r>
            <a:r>
              <a:rPr sz="700" dirty="0">
                <a:latin typeface="Noto Sans Mono"/>
                <a:cs typeface="Noto Sans Mono"/>
              </a:rPr>
              <a:t>	1)</a:t>
            </a:r>
            <a:r>
              <a:rPr sz="700" spc="5" dirty="0"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=</a:t>
            </a:r>
            <a:r>
              <a:rPr sz="700" spc="10" dirty="0"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O(N</a:t>
            </a:r>
            <a:r>
              <a:rPr sz="700" spc="280" dirty="0">
                <a:latin typeface="Noto Sans Mono"/>
                <a:cs typeface="Noto Sans Mono"/>
              </a:rPr>
              <a:t> </a:t>
            </a:r>
            <a:r>
              <a:rPr sz="975" baseline="29914" dirty="0">
                <a:latin typeface="Noto Sans Mono"/>
                <a:cs typeface="Noto Sans Mono"/>
              </a:rPr>
              <a:t>2</a:t>
            </a:r>
            <a:r>
              <a:rPr sz="975" spc="-487" baseline="29914" dirty="0"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)</a:t>
            </a:r>
            <a:r>
              <a:rPr sz="700" spc="5" dirty="0"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giấy</a:t>
            </a:r>
            <a:r>
              <a:rPr sz="700" spc="10" dirty="0">
                <a:latin typeface="Noto Sans Mono"/>
                <a:cs typeface="Noto Sans Mono"/>
              </a:rPr>
              <a:t> </a:t>
            </a:r>
            <a:r>
              <a:rPr sz="700" spc="-25" dirty="0">
                <a:latin typeface="Noto Sans Mono"/>
                <a:cs typeface="Noto Sans Mono"/>
              </a:rPr>
              <a:t>gói</a:t>
            </a:r>
            <a:endParaRPr sz="700">
              <a:latin typeface="Noto Sans Mono"/>
              <a:cs typeface="Noto Sans Mono"/>
            </a:endParaRPr>
          </a:p>
          <a:p>
            <a:pPr marL="279400" indent="-108585">
              <a:lnSpc>
                <a:spcPct val="100000"/>
              </a:lnSpc>
              <a:spcBef>
                <a:spcPts val="765"/>
              </a:spcBef>
              <a:buChar char="•"/>
              <a:tabLst>
                <a:tab pos="279400" algn="l"/>
              </a:tabLst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broker:</a:t>
            </a:r>
            <a:r>
              <a:rPr sz="70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yêu</a:t>
            </a:r>
            <a:r>
              <a:rPr sz="700" spc="5" dirty="0"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cầu</a:t>
            </a:r>
            <a:r>
              <a:rPr sz="700" spc="5" dirty="0"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2N</a:t>
            </a:r>
            <a:r>
              <a:rPr sz="700" spc="5" dirty="0"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=</a:t>
            </a:r>
            <a:r>
              <a:rPr sz="700" spc="5" dirty="0">
                <a:latin typeface="Noto Sans Mono"/>
                <a:cs typeface="Noto Sans Mono"/>
              </a:rPr>
              <a:t> </a:t>
            </a:r>
            <a:r>
              <a:rPr sz="700" dirty="0">
                <a:latin typeface="Noto Sans Mono"/>
                <a:cs typeface="Noto Sans Mono"/>
              </a:rPr>
              <a:t>O(N)</a:t>
            </a:r>
            <a:r>
              <a:rPr sz="700" spc="5" dirty="0">
                <a:latin typeface="Noto Sans Mono"/>
                <a:cs typeface="Noto Sans Mono"/>
              </a:rPr>
              <a:t> </a:t>
            </a:r>
            <a:r>
              <a:rPr sz="700" spc="-10" dirty="0">
                <a:latin typeface="Noto Sans Mono"/>
                <a:cs typeface="Noto Sans Mono"/>
              </a:rPr>
              <a:t>wrappers</a:t>
            </a:r>
            <a:endParaRPr sz="7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7971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úc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8534" y="267936"/>
            <a:ext cx="2283460" cy="112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Phát</a:t>
            </a:r>
            <a:r>
              <a:rPr sz="5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triển</a:t>
            </a:r>
            <a:r>
              <a:rPr sz="5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phần</a:t>
            </a:r>
            <a:r>
              <a:rPr sz="5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mềm</a:t>
            </a:r>
            <a:r>
              <a:rPr sz="5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trung</a:t>
            </a:r>
            <a:r>
              <a:rPr sz="5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gian</a:t>
            </a:r>
            <a:r>
              <a:rPr sz="5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có</a:t>
            </a:r>
            <a:r>
              <a:rPr sz="5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khả</a:t>
            </a:r>
            <a:r>
              <a:rPr sz="5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năng</a:t>
            </a:r>
            <a:r>
              <a:rPr sz="5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thích</a:t>
            </a:r>
            <a:r>
              <a:rPr sz="5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25" dirty="0">
                <a:solidFill>
                  <a:srgbClr val="3333B3"/>
                </a:solidFill>
                <a:latin typeface="Noto Sans Mono"/>
                <a:cs typeface="Noto Sans Mono"/>
              </a:rPr>
              <a:t>ứng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047" y="3365146"/>
            <a:ext cx="701040" cy="8255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300" dirty="0">
                <a:latin typeface="Noto Sans Mono"/>
                <a:cs typeface="Noto Sans Mono"/>
              </a:rPr>
              <a:t>Tổ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chức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phần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mềm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trung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spc="-20" dirty="0">
                <a:latin typeface="Noto Sans Mono"/>
                <a:cs typeface="Noto Sans Mono"/>
              </a:rPr>
              <a:t>gian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2751" y="20990"/>
            <a:ext cx="1026160" cy="75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Phần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mềm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trung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gian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và</a:t>
            </a:r>
            <a:r>
              <a:rPr sz="300" spc="9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spc="-25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0551" y="728441"/>
            <a:ext cx="460375" cy="112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latin typeface="Noto Sans Mono"/>
                <a:cs typeface="Noto Sans Mono"/>
              </a:rPr>
              <a:t>bạn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thể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066" y="553651"/>
            <a:ext cx="3123565" cy="440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Vấn</a:t>
            </a:r>
            <a:r>
              <a:rPr sz="55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550" spc="-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50" dirty="0">
                <a:solidFill>
                  <a:srgbClr val="3333B3"/>
                </a:solidFill>
                <a:latin typeface="Noto Sans Mono"/>
                <a:cs typeface="Noto Sans Mono"/>
              </a:rPr>
              <a:t>ề</a:t>
            </a:r>
            <a:endParaRPr sz="550">
              <a:latin typeface="Noto Sans Mono"/>
              <a:cs typeface="Noto Sans Mono"/>
            </a:endParaRPr>
          </a:p>
          <a:p>
            <a:pPr marL="12700" marR="5080" indent="11430">
              <a:lnSpc>
                <a:spcPct val="182600"/>
              </a:lnSpc>
              <a:spcBef>
                <a:spcPts val="170"/>
              </a:spcBef>
            </a:pPr>
            <a:r>
              <a:rPr sz="550" dirty="0">
                <a:latin typeface="Noto Sans Mono"/>
                <a:cs typeface="Noto Sans Mono"/>
              </a:rPr>
              <a:t>Phần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mềm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trung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gian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chứa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giải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pháp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phù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hợp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hầu</a:t>
            </a:r>
            <a:r>
              <a:rPr sz="5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hết</a:t>
            </a:r>
            <a:r>
              <a:rPr sz="5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ứng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dụng </a:t>
            </a:r>
            <a:r>
              <a:rPr sz="550" dirty="0">
                <a:latin typeface="Noto Sans Mono"/>
                <a:cs typeface="Noto Sans Mono"/>
              </a:rPr>
              <a:t>muốn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iều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chỉnh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hành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vi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của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nó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cho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ứng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dụng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cụ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thể.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90" y="7971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úc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0200" y="245642"/>
            <a:ext cx="2200910" cy="157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Chặn</a:t>
            </a:r>
            <a:r>
              <a:rPr sz="8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luồng</a:t>
            </a:r>
            <a:r>
              <a:rPr sz="850" spc="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kiểm</a:t>
            </a:r>
            <a:r>
              <a:rPr sz="8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soát</a:t>
            </a:r>
            <a:r>
              <a:rPr sz="850" spc="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thông</a:t>
            </a:r>
            <a:r>
              <a:rPr sz="8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10" dirty="0">
                <a:solidFill>
                  <a:srgbClr val="3333B3"/>
                </a:solidFill>
                <a:latin typeface="Noto Sans Mono"/>
                <a:cs typeface="Noto Sans Mono"/>
              </a:rPr>
              <a:t>thường</a:t>
            </a:r>
            <a:endParaRPr sz="8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47" y="3365146"/>
            <a:ext cx="701040" cy="8255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300" dirty="0">
                <a:latin typeface="Noto Sans Mono"/>
                <a:cs typeface="Noto Sans Mono"/>
              </a:rPr>
              <a:t>Tổ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chức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phần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mềm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trung</a:t>
            </a:r>
            <a:r>
              <a:rPr sz="300" spc="90" dirty="0">
                <a:latin typeface="Noto Sans Mono"/>
                <a:cs typeface="Noto Sans Mono"/>
              </a:rPr>
              <a:t> </a:t>
            </a:r>
            <a:r>
              <a:rPr sz="300" spc="-20" dirty="0">
                <a:latin typeface="Noto Sans Mono"/>
                <a:cs typeface="Noto Sans Mono"/>
              </a:rPr>
              <a:t>gian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2751" y="21104"/>
            <a:ext cx="1026160" cy="75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Phần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mềm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trung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gian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và</a:t>
            </a:r>
            <a:r>
              <a:rPr sz="300" spc="9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00" spc="9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spc="-25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90" y="7971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r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úc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699103" y="17514"/>
            <a:ext cx="7797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lớp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43" y="3367168"/>
            <a:ext cx="921385" cy="8128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300" dirty="0">
                <a:latin typeface="Noto Sans Mono"/>
                <a:cs typeface="Noto Sans Mono"/>
              </a:rPr>
              <a:t>Kiến</a:t>
            </a:r>
            <a:r>
              <a:rPr sz="300" spc="7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trúc</a:t>
            </a:r>
            <a:r>
              <a:rPr sz="300" spc="7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máy</a:t>
            </a:r>
            <a:r>
              <a:rPr sz="300" spc="7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khách-máy</a:t>
            </a:r>
            <a:r>
              <a:rPr sz="300" spc="7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chủ</a:t>
            </a:r>
            <a:r>
              <a:rPr sz="300" spc="7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đ</a:t>
            </a:r>
            <a:r>
              <a:rPr sz="300" spc="-1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ơn</a:t>
            </a:r>
            <a:r>
              <a:rPr sz="300" spc="75" dirty="0">
                <a:latin typeface="Noto Sans Mono"/>
                <a:cs typeface="Noto Sans Mono"/>
              </a:rPr>
              <a:t> </a:t>
            </a:r>
            <a:r>
              <a:rPr sz="300" spc="-20" dirty="0">
                <a:latin typeface="Noto Sans Mono"/>
                <a:cs typeface="Noto Sans Mono"/>
              </a:rPr>
              <a:t>giản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323" y="238191"/>
            <a:ext cx="2833370" cy="12630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Kiến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trúc</a:t>
            </a:r>
            <a:r>
              <a:rPr sz="90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hệ</a:t>
            </a:r>
            <a:r>
              <a:rPr sz="90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thống</a:t>
            </a:r>
            <a:r>
              <a:rPr sz="90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tập</a:t>
            </a:r>
            <a:r>
              <a:rPr sz="90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spc="-10" dirty="0">
                <a:solidFill>
                  <a:srgbClr val="3333B3"/>
                </a:solidFill>
                <a:latin typeface="Noto Sans Mono"/>
                <a:cs typeface="Noto Sans Mono"/>
              </a:rPr>
              <a:t>trung</a:t>
            </a:r>
            <a:endParaRPr sz="9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Noto Sans Mono"/>
              <a:cs typeface="Noto Sans Mono"/>
            </a:endParaRPr>
          </a:p>
          <a:p>
            <a:pPr marL="266700">
              <a:lnSpc>
                <a:spcPct val="100000"/>
              </a:lnSpc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Mô</a:t>
            </a:r>
            <a:r>
              <a:rPr sz="700" spc="-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hình</a:t>
            </a:r>
            <a:r>
              <a:rPr sz="700" spc="-35" dirty="0">
                <a:solidFill>
                  <a:srgbClr val="3333B3"/>
                </a:solidFill>
                <a:latin typeface="Noto Sans Mono"/>
                <a:cs typeface="Noto Sans Mono"/>
              </a:rPr>
              <a:t> Client-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Server</a:t>
            </a:r>
            <a:r>
              <a:rPr sz="700" spc="-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cơ</a:t>
            </a:r>
            <a:r>
              <a:rPr sz="700" spc="-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spc="-25" dirty="0">
                <a:solidFill>
                  <a:srgbClr val="3333B3"/>
                </a:solidFill>
                <a:latin typeface="Noto Sans Mono"/>
                <a:cs typeface="Noto Sans Mono"/>
              </a:rPr>
              <a:t>bản</a:t>
            </a:r>
            <a:endParaRPr sz="700">
              <a:latin typeface="Noto Sans Mono"/>
              <a:cs typeface="Noto Sans Mono"/>
            </a:endParaRPr>
          </a:p>
          <a:p>
            <a:pPr marL="262255">
              <a:lnSpc>
                <a:spcPct val="100000"/>
              </a:lnSpc>
              <a:spcBef>
                <a:spcPts val="409"/>
              </a:spcBef>
            </a:pPr>
            <a:r>
              <a:rPr sz="600" dirty="0">
                <a:latin typeface="Noto Sans Mono"/>
                <a:cs typeface="Noto Sans Mono"/>
              </a:rPr>
              <a:t>Đặc </a:t>
            </a:r>
            <a:r>
              <a:rPr sz="600" spc="-10" dirty="0">
                <a:latin typeface="Noto Sans Mono"/>
                <a:cs typeface="Noto Sans Mono"/>
              </a:rPr>
              <a:t>trưng:</a:t>
            </a:r>
            <a:endParaRPr sz="6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600">
              <a:latin typeface="Noto Sans Mono"/>
              <a:cs typeface="Noto Sans Mono"/>
            </a:endParaRPr>
          </a:p>
          <a:p>
            <a:pPr marL="474345" indent="-78740">
              <a:lnSpc>
                <a:spcPct val="100000"/>
              </a:lnSpc>
              <a:buClr>
                <a:srgbClr val="3333B3"/>
              </a:buClr>
              <a:buChar char="•"/>
              <a:tabLst>
                <a:tab pos="474345" algn="l"/>
              </a:tabLst>
            </a:pP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những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tiến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trình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cung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cấp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dịch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vụ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(máy</a:t>
            </a:r>
            <a:r>
              <a:rPr sz="500" spc="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chủ)</a:t>
            </a:r>
            <a:r>
              <a:rPr sz="500" spc="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spc="-10" dirty="0">
                <a:latin typeface="Noto Sans Mono"/>
                <a:cs typeface="Noto Sans Mono"/>
              </a:rPr>
              <a:t>những</a:t>
            </a:r>
            <a:endParaRPr sz="500">
              <a:latin typeface="Noto Sans Mono"/>
              <a:cs typeface="Noto Sans Mono"/>
            </a:endParaRPr>
          </a:p>
          <a:p>
            <a:pPr marL="395605" marR="5080">
              <a:lnSpc>
                <a:spcPct val="171700"/>
              </a:lnSpc>
              <a:spcBef>
                <a:spcPts val="175"/>
              </a:spcBef>
            </a:pPr>
            <a:r>
              <a:rPr sz="500" dirty="0">
                <a:latin typeface="Noto Sans Mono"/>
                <a:cs typeface="Noto Sans Mono"/>
              </a:rPr>
              <a:t>tiến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trình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sử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dụng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dịch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vụ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(máy</a:t>
            </a:r>
            <a:r>
              <a:rPr sz="500" spc="5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khách)</a:t>
            </a:r>
            <a:r>
              <a:rPr sz="500" spc="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Máy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khách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và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máy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chủ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thể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ở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trên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máy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khác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nhau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Máy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khách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tuân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theo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mô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hình</a:t>
            </a:r>
            <a:endParaRPr sz="5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500">
              <a:latin typeface="Noto Sans Mono"/>
              <a:cs typeface="Noto Sans Mono"/>
            </a:endParaRPr>
          </a:p>
          <a:p>
            <a:pPr marL="395605">
              <a:lnSpc>
                <a:spcPct val="100000"/>
              </a:lnSpc>
            </a:pPr>
            <a:r>
              <a:rPr sz="500" dirty="0">
                <a:latin typeface="Noto Sans Mono"/>
                <a:cs typeface="Noto Sans Mono"/>
              </a:rPr>
              <a:t>yêu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cầu/phản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hồi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liên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quan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ến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việc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sử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dụng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dịch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vụ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5213" y="1369724"/>
            <a:ext cx="1689100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Cấu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hình</a:t>
            </a:r>
            <a:r>
              <a:rPr sz="7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hai</a:t>
            </a:r>
            <a:r>
              <a:rPr sz="7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tầng</a:t>
            </a:r>
            <a:r>
              <a:rPr sz="7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truyền</a:t>
            </a:r>
            <a:r>
              <a:rPr sz="7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spc="-10" dirty="0">
                <a:solidFill>
                  <a:srgbClr val="3333B3"/>
                </a:solidFill>
                <a:latin typeface="Noto Sans Mono"/>
                <a:cs typeface="Noto Sans Mono"/>
              </a:rPr>
              <a:t>thống</a:t>
            </a:r>
            <a:endParaRPr sz="700">
              <a:latin typeface="Noto Sans Mono"/>
              <a:cs typeface="Noto Sans Mo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047" y="3360339"/>
            <a:ext cx="426720" cy="774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dirty="0">
                <a:latin typeface="Noto Sans Mono"/>
                <a:cs typeface="Noto Sans Mono"/>
              </a:rPr>
              <a:t>Kiến trúc</a:t>
            </a:r>
            <a:r>
              <a:rPr sz="300" spc="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đ</a:t>
            </a:r>
            <a:r>
              <a:rPr sz="300" spc="-5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a</a:t>
            </a:r>
            <a:r>
              <a:rPr sz="300" spc="5" dirty="0">
                <a:latin typeface="Noto Sans Mono"/>
                <a:cs typeface="Noto Sans Mono"/>
              </a:rPr>
              <a:t> </a:t>
            </a:r>
            <a:r>
              <a:rPr sz="300" spc="-20" dirty="0">
                <a:latin typeface="Noto Sans Mono"/>
                <a:cs typeface="Noto Sans Mono"/>
              </a:rPr>
              <a:t>tầng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13" y="239998"/>
            <a:ext cx="2702560" cy="431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Kiến trúc hệ thống tập trung nhiều </a:t>
            </a:r>
            <a:r>
              <a:rPr sz="900" spc="-20" dirty="0">
                <a:solidFill>
                  <a:srgbClr val="3333B3"/>
                </a:solidFill>
                <a:latin typeface="Noto Sans Mono"/>
                <a:cs typeface="Noto Sans Mono"/>
              </a:rPr>
              <a:t>tầng</a:t>
            </a:r>
            <a:endParaRPr sz="9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00">
              <a:latin typeface="Noto Sans Mono"/>
              <a:cs typeface="Noto Sans Mono"/>
            </a:endParaRPr>
          </a:p>
          <a:p>
            <a:pPr marL="258445">
              <a:lnSpc>
                <a:spcPct val="100000"/>
              </a:lnSpc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Một</a:t>
            </a:r>
            <a:r>
              <a:rPr sz="70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số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tổ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chức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truyền</a:t>
            </a:r>
            <a:r>
              <a:rPr sz="70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spc="-10" dirty="0">
                <a:solidFill>
                  <a:srgbClr val="3333B3"/>
                </a:solidFill>
                <a:latin typeface="Noto Sans Mono"/>
                <a:cs typeface="Noto Sans Mono"/>
              </a:rPr>
              <a:t>thống</a:t>
            </a:r>
            <a:endParaRPr sz="7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9103" y="28366"/>
            <a:ext cx="638810" cy="71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00" spc="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00" spc="1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00" spc="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00" spc="1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00" spc="1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spc="-25" dirty="0">
                <a:solidFill>
                  <a:srgbClr val="FFFFFF"/>
                </a:solidFill>
                <a:latin typeface="Noto Sans Mono"/>
                <a:cs typeface="Noto Sans Mono"/>
              </a:rPr>
              <a:t>lớp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4701" y="3072155"/>
            <a:ext cx="135255" cy="99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50" spc="-25" dirty="0">
                <a:latin typeface="Noto Sans Mono"/>
                <a:cs typeface="Noto Sans Mono"/>
              </a:rPr>
              <a:t>(b)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9980" y="3072155"/>
            <a:ext cx="135255" cy="99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50" spc="-25" dirty="0">
                <a:latin typeface="Noto Sans Mono"/>
                <a:cs typeface="Noto Sans Mono"/>
              </a:rPr>
              <a:t>(c)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9010" y="3094990"/>
            <a:ext cx="16256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Noto Sans Mono"/>
                <a:cs typeface="Noto Sans Mono"/>
              </a:rPr>
              <a:t>(ngày)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9300" y="3086207"/>
            <a:ext cx="166370" cy="819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10" dirty="0">
                <a:latin typeface="Noto Sans Mono"/>
                <a:cs typeface="Noto Sans Mono"/>
              </a:rPr>
              <a:t>(Một)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5263" y="794246"/>
            <a:ext cx="2076450" cy="4051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5725" indent="-73025">
              <a:lnSpc>
                <a:spcPct val="100000"/>
              </a:lnSpc>
              <a:spcBef>
                <a:spcPts val="130"/>
              </a:spcBef>
              <a:buClr>
                <a:srgbClr val="3333B3"/>
              </a:buClr>
              <a:buChar char="•"/>
              <a:tabLst>
                <a:tab pos="85725" algn="l"/>
              </a:tabLst>
            </a:pP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Một</a:t>
            </a:r>
            <a:r>
              <a:rPr sz="450" spc="4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tầng:</a:t>
            </a:r>
            <a:r>
              <a:rPr sz="450" spc="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cấu</a:t>
            </a:r>
            <a:r>
              <a:rPr sz="450" spc="4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hình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máy</a:t>
            </a:r>
            <a:r>
              <a:rPr sz="450" spc="4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chủ/thiết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bị</a:t>
            </a:r>
            <a:r>
              <a:rPr sz="450" spc="4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đ</a:t>
            </a:r>
            <a:r>
              <a:rPr sz="450" spc="-6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ầu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cuối</a:t>
            </a:r>
            <a:r>
              <a:rPr sz="450" spc="4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đ</a:t>
            </a:r>
            <a:r>
              <a:rPr sz="450" spc="-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ơn</a:t>
            </a:r>
            <a:r>
              <a:rPr sz="450" spc="45" dirty="0">
                <a:latin typeface="Noto Sans Mono"/>
                <a:cs typeface="Noto Sans Mono"/>
              </a:rPr>
              <a:t> </a:t>
            </a:r>
            <a:r>
              <a:rPr sz="450" spc="-20" dirty="0">
                <a:latin typeface="Noto Sans Mono"/>
                <a:cs typeface="Noto Sans Mono"/>
              </a:rPr>
              <a:t>giản</a:t>
            </a:r>
            <a:endParaRPr sz="4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B3"/>
              </a:buClr>
              <a:buFont typeface="Noto Sans Mono"/>
              <a:buChar char="•"/>
            </a:pPr>
            <a:endParaRPr sz="450">
              <a:latin typeface="Noto Sans Mono"/>
              <a:cs typeface="Noto Sans Mono"/>
            </a:endParaRPr>
          </a:p>
          <a:p>
            <a:pPr marL="85725" indent="-73025">
              <a:lnSpc>
                <a:spcPct val="100000"/>
              </a:lnSpc>
              <a:buClr>
                <a:srgbClr val="3333B3"/>
              </a:buClr>
              <a:buChar char="•"/>
              <a:tabLst>
                <a:tab pos="85725" algn="l"/>
              </a:tabLst>
            </a:pP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Hai</a:t>
            </a:r>
            <a:r>
              <a:rPr sz="450" spc="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tầng:</a:t>
            </a:r>
            <a:r>
              <a:rPr sz="450" spc="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cấu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hình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máy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khách/máy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chủ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đ</a:t>
            </a:r>
            <a:r>
              <a:rPr sz="450" spc="-55" dirty="0">
                <a:latin typeface="Noto Sans Mono"/>
                <a:cs typeface="Noto Sans Mono"/>
              </a:rPr>
              <a:t> </a:t>
            </a:r>
            <a:r>
              <a:rPr sz="450" spc="-25" dirty="0">
                <a:latin typeface="Noto Sans Mono"/>
                <a:cs typeface="Noto Sans Mono"/>
              </a:rPr>
              <a:t>ơn</a:t>
            </a:r>
            <a:endParaRPr sz="4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B3"/>
              </a:buClr>
              <a:buFont typeface="Noto Sans Mono"/>
              <a:buChar char="•"/>
            </a:pPr>
            <a:endParaRPr sz="450">
              <a:latin typeface="Noto Sans Mono"/>
              <a:cs typeface="Noto Sans Mono"/>
            </a:endParaRPr>
          </a:p>
          <a:p>
            <a:pPr marL="85725" indent="-73025">
              <a:lnSpc>
                <a:spcPct val="100000"/>
              </a:lnSpc>
              <a:buClr>
                <a:srgbClr val="3333B3"/>
              </a:buClr>
              <a:buChar char="•"/>
              <a:tabLst>
                <a:tab pos="85725" algn="l"/>
              </a:tabLst>
            </a:pP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Ba</a:t>
            </a:r>
            <a:r>
              <a:rPr sz="450" spc="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tầng:</a:t>
            </a:r>
            <a:r>
              <a:rPr sz="450" spc="5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mỗi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lớp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trên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một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máy</a:t>
            </a:r>
            <a:r>
              <a:rPr sz="450" spc="5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riêng</a:t>
            </a:r>
            <a:r>
              <a:rPr sz="450" spc="55" dirty="0">
                <a:latin typeface="Noto Sans Mono"/>
                <a:cs typeface="Noto Sans Mono"/>
              </a:rPr>
              <a:t> </a:t>
            </a:r>
            <a:r>
              <a:rPr sz="450" spc="-20" dirty="0">
                <a:latin typeface="Noto Sans Mono"/>
                <a:cs typeface="Noto Sans Mono"/>
              </a:rPr>
              <a:t>biệt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94290" y="3072155"/>
            <a:ext cx="172085" cy="99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50" spc="-20" dirty="0">
                <a:latin typeface="Noto Sans Mono"/>
                <a:cs typeface="Noto Sans Mono"/>
              </a:rPr>
              <a:t>(và)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590" y="10257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tr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8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7019" y="221965"/>
            <a:ext cx="2736850" cy="176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Là</a:t>
            </a:r>
            <a:r>
              <a:rPr sz="9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máy</a:t>
            </a:r>
            <a:r>
              <a:rPr sz="9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khách</a:t>
            </a:r>
            <a:r>
              <a:rPr sz="9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và</a:t>
            </a:r>
            <a:r>
              <a:rPr sz="9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máy</a:t>
            </a:r>
            <a:r>
              <a:rPr sz="9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chủ</a:t>
            </a:r>
            <a:r>
              <a:rPr sz="9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cùng</a:t>
            </a:r>
            <a:r>
              <a:rPr sz="9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một</a:t>
            </a:r>
            <a:r>
              <a:rPr sz="95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spc="-25" dirty="0">
                <a:solidFill>
                  <a:srgbClr val="3333B3"/>
                </a:solidFill>
                <a:latin typeface="Noto Sans Mono"/>
                <a:cs typeface="Noto Sans Mono"/>
              </a:rPr>
              <a:t>lúc</a:t>
            </a:r>
            <a:endParaRPr sz="9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047" y="3360339"/>
            <a:ext cx="426720" cy="774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dirty="0">
                <a:latin typeface="Noto Sans Mono"/>
                <a:cs typeface="Noto Sans Mono"/>
              </a:rPr>
              <a:t>Kiến trúc</a:t>
            </a:r>
            <a:r>
              <a:rPr sz="300" spc="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đ</a:t>
            </a:r>
            <a:r>
              <a:rPr sz="300" spc="-5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a</a:t>
            </a:r>
            <a:r>
              <a:rPr sz="300" spc="5" dirty="0">
                <a:latin typeface="Noto Sans Mono"/>
                <a:cs typeface="Noto Sans Mono"/>
              </a:rPr>
              <a:t> </a:t>
            </a:r>
            <a:r>
              <a:rPr sz="300" spc="-20" dirty="0">
                <a:latin typeface="Noto Sans Mono"/>
                <a:cs typeface="Noto Sans Mono"/>
              </a:rPr>
              <a:t>tầng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9103" y="28366"/>
            <a:ext cx="638810" cy="71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00" spc="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00" spc="1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00" spc="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00" spc="1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00" spc="1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00" spc="-25" dirty="0">
                <a:solidFill>
                  <a:srgbClr val="FFFFFF"/>
                </a:solidFill>
                <a:latin typeface="Noto Sans Mono"/>
                <a:cs typeface="Noto Sans Mono"/>
              </a:rPr>
              <a:t>lớp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213" y="549631"/>
            <a:ext cx="7975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Kiến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trúc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ba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spc="-20" dirty="0">
                <a:solidFill>
                  <a:srgbClr val="3333B3"/>
                </a:solidFill>
                <a:latin typeface="Noto Sans Mono"/>
                <a:cs typeface="Noto Sans Mono"/>
              </a:rPr>
              <a:t>tầng</a:t>
            </a:r>
            <a:endParaRPr sz="6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10257"/>
            <a:ext cx="619760" cy="78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" spc="-65" dirty="0">
                <a:latin typeface="Arial"/>
                <a:cs typeface="Arial"/>
              </a:rPr>
              <a:t>M</a:t>
            </a:r>
            <a:r>
              <a:rPr sz="300" spc="-65" dirty="0">
                <a:latin typeface="Noto Sans Mono"/>
                <a:cs typeface="Noto Sans Mono"/>
              </a:rPr>
              <a:t>Ki</a:t>
            </a:r>
            <a:r>
              <a:rPr sz="350" spc="-65" dirty="0">
                <a:latin typeface="Arial"/>
                <a:cs typeface="Arial"/>
              </a:rPr>
              <a:t>a</a:t>
            </a:r>
            <a:r>
              <a:rPr sz="300" spc="-65" dirty="0">
                <a:latin typeface="Noto Sans Mono"/>
                <a:cs typeface="Noto Sans Mono"/>
              </a:rPr>
              <a:t>ế</a:t>
            </a:r>
            <a:r>
              <a:rPr sz="350" spc="-65" dirty="0">
                <a:latin typeface="Arial"/>
                <a:cs typeface="Arial"/>
              </a:rPr>
              <a:t>c</a:t>
            </a:r>
            <a:r>
              <a:rPr sz="300" spc="-65" dirty="0">
                <a:latin typeface="Noto Sans Mono"/>
                <a:cs typeface="Noto Sans Mono"/>
              </a:rPr>
              <a:t>n</a:t>
            </a:r>
            <a:r>
              <a:rPr sz="350" spc="-65" dirty="0">
                <a:latin typeface="Arial"/>
                <a:cs typeface="Arial"/>
              </a:rPr>
              <a:t>hin</a:t>
            </a:r>
            <a:r>
              <a:rPr sz="300" spc="-65" dirty="0">
                <a:latin typeface="Noto Sans Mono"/>
                <a:cs typeface="Noto Sans Mono"/>
              </a:rPr>
              <a:t>tr</a:t>
            </a:r>
            <a:r>
              <a:rPr sz="350" spc="-65" dirty="0">
                <a:latin typeface="Arial"/>
                <a:cs typeface="Arial"/>
              </a:rPr>
              <a:t>e</a:t>
            </a:r>
            <a:r>
              <a:rPr sz="300" spc="-65" dirty="0">
                <a:latin typeface="Noto Sans Mono"/>
                <a:cs typeface="Noto Sans Mono"/>
              </a:rPr>
              <a:t>ú</a:t>
            </a:r>
            <a:r>
              <a:rPr sz="350" spc="-65" dirty="0">
                <a:latin typeface="Arial"/>
                <a:cs typeface="Arial"/>
              </a:rPr>
              <a:t>T</a:t>
            </a:r>
            <a:r>
              <a:rPr sz="300" spc="-65" dirty="0">
                <a:latin typeface="Noto Sans Mono"/>
                <a:cs typeface="Noto Sans Mono"/>
              </a:rPr>
              <a:t>c</a:t>
            </a:r>
            <a:r>
              <a:rPr sz="350" spc="-65" dirty="0">
                <a:latin typeface="Arial"/>
                <a:cs typeface="Arial"/>
              </a:rPr>
              <a:t>ranslated</a:t>
            </a:r>
            <a:r>
              <a:rPr sz="350" spc="75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8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5213" y="1265512"/>
            <a:ext cx="1155700" cy="112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Mô</a:t>
            </a:r>
            <a:r>
              <a:rPr sz="5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hình</a:t>
            </a:r>
            <a:r>
              <a:rPr sz="5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truy</a:t>
            </a:r>
            <a:r>
              <a:rPr sz="5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cập</a:t>
            </a:r>
            <a:r>
              <a:rPr sz="5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từ</a:t>
            </a:r>
            <a:r>
              <a:rPr sz="5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xa</a:t>
            </a:r>
            <a:r>
              <a:rPr sz="5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25" dirty="0">
                <a:solidFill>
                  <a:srgbClr val="3333B3"/>
                </a:solidFill>
                <a:latin typeface="Noto Sans Mono"/>
                <a:cs typeface="Noto Sans Mono"/>
              </a:rPr>
              <a:t>NFS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994" y="3361222"/>
            <a:ext cx="80772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Ví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dụ: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Hệ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thống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tập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tin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mạng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328" y="553651"/>
            <a:ext cx="3654425" cy="440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Nền</a:t>
            </a:r>
            <a:r>
              <a:rPr sz="5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tảng</a:t>
            </a:r>
            <a:r>
              <a:rPr sz="5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Mỗi</a:t>
            </a:r>
            <a:endParaRPr sz="550">
              <a:latin typeface="Noto Sans Mono"/>
              <a:cs typeface="Noto Sans Mono"/>
            </a:endParaRPr>
          </a:p>
          <a:p>
            <a:pPr marL="12700" marR="5080" indent="6350">
              <a:lnSpc>
                <a:spcPct val="182600"/>
              </a:lnSpc>
              <a:spcBef>
                <a:spcPts val="170"/>
              </a:spcBef>
            </a:pPr>
            <a:r>
              <a:rPr sz="550" dirty="0">
                <a:latin typeface="Noto Sans Mono"/>
                <a:cs typeface="Noto Sans Mono"/>
              </a:rPr>
              <a:t>máy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chủ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NFS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cung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cấp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chế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ộ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xem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chuẩn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hóa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của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hệ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thống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tệp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cục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bộ: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mỗi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máy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chủ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ều </a:t>
            </a:r>
            <a:r>
              <a:rPr sz="550" dirty="0">
                <a:latin typeface="Noto Sans Mono"/>
                <a:cs typeface="Noto Sans Mono"/>
              </a:rPr>
              <a:t>hỗ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trợ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cùng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mô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hình,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bất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kể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cách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triển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khai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hệ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thống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tệp.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190" y="2774872"/>
            <a:ext cx="3699510" cy="440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solidFill>
                  <a:srgbClr val="4D994D"/>
                </a:solidFill>
                <a:latin typeface="Noto Sans Mono"/>
                <a:cs typeface="Noto Sans Mono"/>
              </a:rPr>
              <a:t>Lưu</a:t>
            </a:r>
            <a:r>
              <a:rPr sz="550" spc="55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550" spc="-50" dirty="0">
                <a:solidFill>
                  <a:srgbClr val="4D994D"/>
                </a:solidFill>
                <a:latin typeface="Noto Sans Mono"/>
                <a:cs typeface="Noto Sans Mono"/>
              </a:rPr>
              <a:t>ý</a:t>
            </a:r>
            <a:endParaRPr sz="550">
              <a:latin typeface="Noto Sans Mono"/>
              <a:cs typeface="Noto Sans Mono"/>
            </a:endParaRPr>
          </a:p>
          <a:p>
            <a:pPr marL="12700" marR="5080" indent="1905">
              <a:lnSpc>
                <a:spcPct val="182600"/>
              </a:lnSpc>
              <a:spcBef>
                <a:spcPts val="170"/>
              </a:spcBef>
            </a:pPr>
            <a:r>
              <a:rPr sz="550" dirty="0">
                <a:latin typeface="Noto Sans Mono"/>
                <a:cs typeface="Noto Sans Mono"/>
              </a:rPr>
              <a:t>FTP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là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mô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hình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tải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lên/tải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xuống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thông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thường.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Tương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tự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như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vậy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ối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hệ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thống </a:t>
            </a:r>
            <a:r>
              <a:rPr sz="550" dirty="0">
                <a:latin typeface="Noto Sans Mono"/>
                <a:cs typeface="Noto Sans Mono"/>
              </a:rPr>
              <a:t>như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Dropbox.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685" y="238191"/>
            <a:ext cx="197167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Ví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dụ: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Hệ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thống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tập</a:t>
            </a:r>
            <a:r>
              <a:rPr sz="90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tin</a:t>
            </a:r>
            <a:r>
              <a:rPr sz="9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spc="-20" dirty="0">
                <a:solidFill>
                  <a:srgbClr val="3333B3"/>
                </a:solidFill>
                <a:latin typeface="Noto Sans Mono"/>
                <a:cs typeface="Noto Sans Mono"/>
              </a:rPr>
              <a:t>mạng</a:t>
            </a:r>
            <a:endParaRPr sz="9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9103" y="17514"/>
            <a:ext cx="7797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lớp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3652" y="2677084"/>
            <a:ext cx="86931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latin typeface="Noto Sans Mono"/>
                <a:cs typeface="Noto Sans Mono"/>
              </a:rPr>
              <a:t>Tải lên/tải</a:t>
            </a:r>
            <a:r>
              <a:rPr sz="650" spc="5" dirty="0">
                <a:latin typeface="Noto Sans Mono"/>
                <a:cs typeface="Noto Sans Mono"/>
              </a:rPr>
              <a:t> </a:t>
            </a:r>
            <a:r>
              <a:rPr sz="650" spc="-10" dirty="0">
                <a:latin typeface="Noto Sans Mono"/>
                <a:cs typeface="Noto Sans Mono"/>
              </a:rPr>
              <a:t>xuống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4394" y="2654890"/>
            <a:ext cx="72898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latin typeface="Noto Sans Mono"/>
                <a:cs typeface="Noto Sans Mono"/>
              </a:rPr>
              <a:t>Truy</a:t>
            </a:r>
            <a:r>
              <a:rPr sz="650" spc="2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cập</a:t>
            </a:r>
            <a:r>
              <a:rPr sz="650" spc="3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từ</a:t>
            </a:r>
            <a:r>
              <a:rPr sz="650" spc="25" dirty="0"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xa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6564" y="238165"/>
            <a:ext cx="911225" cy="16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Kiến</a:t>
            </a:r>
            <a:r>
              <a:rPr sz="9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trúc</a:t>
            </a:r>
            <a:r>
              <a:rPr sz="900" spc="-25" dirty="0">
                <a:solidFill>
                  <a:srgbClr val="3333B3"/>
                </a:solidFill>
                <a:latin typeface="Noto Sans Mono"/>
                <a:cs typeface="Noto Sans Mono"/>
              </a:rPr>
              <a:t> NFS</a:t>
            </a:r>
            <a:endParaRPr sz="9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994" y="3361222"/>
            <a:ext cx="80772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Ví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dụ: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Hệ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thống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tập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tin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mạng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9103" y="17514"/>
            <a:ext cx="7797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lớp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6436" y="575980"/>
            <a:ext cx="861694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Quay</a:t>
            </a:r>
            <a:r>
              <a:rPr sz="450" spc="-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trở</a:t>
            </a:r>
            <a:r>
              <a:rPr sz="450" spc="-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lại</a:t>
            </a:r>
            <a:r>
              <a:rPr sz="450" spc="-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ngày</a:t>
            </a:r>
            <a:r>
              <a:rPr sz="450" spc="-10" dirty="0">
                <a:solidFill>
                  <a:srgbClr val="3333B3"/>
                </a:solidFill>
                <a:latin typeface="Noto Sans Mono"/>
                <a:cs typeface="Noto Sans Mono"/>
              </a:rPr>
              <a:t> xưa...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994" y="3364158"/>
            <a:ext cx="30480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Ví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dụ: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spc="-25" dirty="0">
                <a:latin typeface="Noto Sans Mono"/>
                <a:cs typeface="Noto Sans Mono"/>
              </a:rPr>
              <a:t>Web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685" y="223457"/>
            <a:ext cx="205295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Ví</a:t>
            </a:r>
            <a:r>
              <a:rPr sz="9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dụ:</a:t>
            </a:r>
            <a:r>
              <a:rPr sz="9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Máy</a:t>
            </a:r>
            <a:r>
              <a:rPr sz="9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chủ</a:t>
            </a:r>
            <a:r>
              <a:rPr sz="9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web</a:t>
            </a:r>
            <a:r>
              <a:rPr sz="9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950" spc="-1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ơn</a:t>
            </a:r>
            <a:r>
              <a:rPr sz="9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spc="-20" dirty="0">
                <a:solidFill>
                  <a:srgbClr val="3333B3"/>
                </a:solidFill>
                <a:latin typeface="Noto Sans Mono"/>
                <a:cs typeface="Noto Sans Mono"/>
              </a:rPr>
              <a:t>giản</a:t>
            </a:r>
            <a:endParaRPr sz="9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9103" y="19341"/>
            <a:ext cx="798195" cy="831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lớp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7447" y="2162272"/>
            <a:ext cx="3244215" cy="913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...cuộc</a:t>
            </a:r>
            <a:r>
              <a:rPr sz="450" spc="-1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sống</a:t>
            </a:r>
            <a:r>
              <a:rPr sz="450" spc="-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thật</a:t>
            </a:r>
            <a:r>
              <a:rPr sz="450" spc="-10" dirty="0">
                <a:solidFill>
                  <a:srgbClr val="3333B3"/>
                </a:solidFill>
                <a:latin typeface="Noto Sans Mono"/>
                <a:cs typeface="Noto Sans Mono"/>
              </a:rPr>
              <a:t> đ</a:t>
            </a:r>
            <a:r>
              <a:rPr sz="450" spc="-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ơn</a:t>
            </a:r>
            <a:r>
              <a:rPr sz="4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spc="-10" dirty="0">
                <a:solidFill>
                  <a:srgbClr val="3333B3"/>
                </a:solidFill>
                <a:latin typeface="Noto Sans Mono"/>
                <a:cs typeface="Noto Sans Mono"/>
              </a:rPr>
              <a:t>giản:</a:t>
            </a:r>
            <a:endParaRPr sz="4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450">
              <a:latin typeface="Noto Sans Mono"/>
              <a:cs typeface="Noto Sans Mono"/>
            </a:endParaRPr>
          </a:p>
          <a:p>
            <a:pPr marL="221615" indent="-81280">
              <a:lnSpc>
                <a:spcPct val="100000"/>
              </a:lnSpc>
              <a:buClr>
                <a:srgbClr val="3333B3"/>
              </a:buClr>
              <a:buChar char="•"/>
              <a:tabLst>
                <a:tab pos="221615" algn="l"/>
              </a:tabLst>
            </a:pP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trang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web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bao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gồm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tập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hợp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tập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tin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HTML</a:t>
            </a:r>
            <a:endParaRPr sz="5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395"/>
              </a:spcBef>
              <a:buClr>
                <a:srgbClr val="3333B3"/>
              </a:buClr>
              <a:buFont typeface="Noto Sans Mono"/>
              <a:buChar char="•"/>
            </a:pPr>
            <a:endParaRPr sz="500">
              <a:latin typeface="Noto Sans Mono"/>
              <a:cs typeface="Noto Sans Mono"/>
            </a:endParaRPr>
          </a:p>
          <a:p>
            <a:pPr marL="221615" indent="-81280">
              <a:lnSpc>
                <a:spcPct val="100000"/>
              </a:lnSpc>
              <a:buClr>
                <a:srgbClr val="3333B3"/>
              </a:buClr>
              <a:buChar char="•"/>
              <a:tabLst>
                <a:tab pos="221615" algn="l"/>
              </a:tabLst>
            </a:pP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tệp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HTML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thể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tham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chiếu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ến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nhau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bằng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siêu</a:t>
            </a:r>
            <a:r>
              <a:rPr sz="50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liên</a:t>
            </a:r>
            <a:r>
              <a:rPr sz="50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kết</a:t>
            </a:r>
            <a:r>
              <a:rPr sz="5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0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Về</a:t>
            </a:r>
            <a:endParaRPr sz="500">
              <a:latin typeface="Noto Sans Mono"/>
              <a:cs typeface="Noto Sans Mono"/>
            </a:endParaRPr>
          </a:p>
          <a:p>
            <a:pPr marL="140335" marR="5080">
              <a:lnSpc>
                <a:spcPct val="250599"/>
              </a:lnSpc>
            </a:pPr>
            <a:r>
              <a:rPr sz="500" dirty="0">
                <a:latin typeface="Noto Sans Mono"/>
                <a:cs typeface="Noto Sans Mono"/>
              </a:rPr>
              <a:t>cơ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bản,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máy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chủ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Web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chỉ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cần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siêu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liên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kết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ể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lấy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tệp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0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Trình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duyệt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0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ảm </a:t>
            </a:r>
            <a:r>
              <a:rPr sz="500" dirty="0">
                <a:latin typeface="Noto Sans Mono"/>
                <a:cs typeface="Noto Sans Mono"/>
              </a:rPr>
              <a:t>nhiệm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việc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hiển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thị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úng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nội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dung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của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tệp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90" y="8116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8685" y="232855"/>
            <a:ext cx="2843530" cy="448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Ví</a:t>
            </a:r>
            <a:r>
              <a:rPr sz="8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dụ</a:t>
            </a:r>
            <a:r>
              <a:rPr sz="8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(cnt'd):</a:t>
            </a:r>
            <a:r>
              <a:rPr sz="8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Máy</a:t>
            </a:r>
            <a:r>
              <a:rPr sz="8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chủ</a:t>
            </a:r>
            <a:r>
              <a:rPr sz="8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web</a:t>
            </a:r>
            <a:r>
              <a:rPr sz="850" spc="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ít</a:t>
            </a:r>
            <a:r>
              <a:rPr sz="8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850" spc="-1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ơn</a:t>
            </a:r>
            <a:r>
              <a:rPr sz="8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giản</a:t>
            </a:r>
            <a:r>
              <a:rPr sz="85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hơn</a:t>
            </a:r>
            <a:endParaRPr sz="8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850">
              <a:latin typeface="Noto Sans Mono"/>
              <a:cs typeface="Noto Sans Mono"/>
            </a:endParaRPr>
          </a:p>
          <a:p>
            <a:pPr marL="255904">
              <a:lnSpc>
                <a:spcPct val="100000"/>
              </a:lnSpc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Vẫn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quay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về</a:t>
            </a:r>
            <a:r>
              <a:rPr sz="650" spc="-1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ngày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10" dirty="0">
                <a:solidFill>
                  <a:srgbClr val="3333B3"/>
                </a:solidFill>
                <a:latin typeface="Noto Sans Mono"/>
                <a:cs typeface="Noto Sans Mono"/>
              </a:rPr>
              <a:t>xưa...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94" y="3364158"/>
            <a:ext cx="30480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Ví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dụ: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spc="-25" dirty="0">
                <a:latin typeface="Noto Sans Mono"/>
                <a:cs typeface="Noto Sans Mono"/>
              </a:rPr>
              <a:t>Web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9103" y="19341"/>
            <a:ext cx="798195" cy="831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lớp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447" y="1944210"/>
            <a:ext cx="3237865" cy="1113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...cuộc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sống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trở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nên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phức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tạp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hơn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một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10" dirty="0">
                <a:solidFill>
                  <a:srgbClr val="3333B3"/>
                </a:solidFill>
                <a:latin typeface="Noto Sans Mono"/>
                <a:cs typeface="Noto Sans Mono"/>
              </a:rPr>
              <a:t>chút:</a:t>
            </a:r>
            <a:endParaRPr sz="6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650">
              <a:latin typeface="Noto Sans Mono"/>
              <a:cs typeface="Noto Sans Mono"/>
            </a:endParaRPr>
          </a:p>
          <a:p>
            <a:pPr marL="216535" indent="-76200">
              <a:lnSpc>
                <a:spcPct val="100000"/>
              </a:lnSpc>
              <a:buClr>
                <a:srgbClr val="3333B3"/>
              </a:buClr>
              <a:buChar char="•"/>
              <a:tabLst>
                <a:tab pos="216535" algn="l"/>
              </a:tabLst>
            </a:pPr>
            <a:r>
              <a:rPr sz="500" dirty="0">
                <a:latin typeface="Noto Sans Mono"/>
                <a:cs typeface="Noto Sans Mono"/>
              </a:rPr>
              <a:t>Một trang web đ</a:t>
            </a:r>
            <a:r>
              <a:rPr sz="500" spc="-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 xây dựng xung quanh một cơ sở dữ liệu có nội </a:t>
            </a:r>
            <a:r>
              <a:rPr sz="500" spc="-20" dirty="0">
                <a:latin typeface="Noto Sans Mono"/>
                <a:cs typeface="Noto Sans Mono"/>
              </a:rPr>
              <a:t>dung</a:t>
            </a:r>
            <a:endParaRPr sz="5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395"/>
              </a:spcBef>
              <a:buClr>
                <a:srgbClr val="3333B3"/>
              </a:buClr>
              <a:buFont typeface="Noto Sans Mono"/>
              <a:buChar char="•"/>
            </a:pPr>
            <a:endParaRPr sz="500">
              <a:latin typeface="Noto Sans Mono"/>
              <a:cs typeface="Noto Sans Mono"/>
            </a:endParaRPr>
          </a:p>
          <a:p>
            <a:pPr marL="216535" indent="-76200">
              <a:lnSpc>
                <a:spcPct val="100000"/>
              </a:lnSpc>
              <a:spcBef>
                <a:spcPts val="5"/>
              </a:spcBef>
              <a:buClr>
                <a:srgbClr val="3333B3"/>
              </a:buClr>
              <a:buChar char="•"/>
              <a:tabLst>
                <a:tab pos="216535" algn="l"/>
              </a:tabLst>
            </a:pPr>
            <a:r>
              <a:rPr sz="500" dirty="0">
                <a:latin typeface="Noto Sans Mono"/>
                <a:cs typeface="Noto Sans Mono"/>
              </a:rPr>
              <a:t>Một trang web vẫn có thể đ</a:t>
            </a:r>
            <a:r>
              <a:rPr sz="500" spc="-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 tham chiếu bằng một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siêu liên </a:t>
            </a:r>
            <a:r>
              <a:rPr sz="500" spc="-25" dirty="0">
                <a:solidFill>
                  <a:srgbClr val="3333B3"/>
                </a:solidFill>
                <a:latin typeface="Noto Sans Mono"/>
                <a:cs typeface="Noto Sans Mono"/>
              </a:rPr>
              <a:t>kết</a:t>
            </a:r>
            <a:endParaRPr sz="500">
              <a:latin typeface="Noto Sans Mono"/>
              <a:cs typeface="Noto Sans Mono"/>
            </a:endParaRPr>
          </a:p>
          <a:p>
            <a:pPr marL="140335" marR="5080" indent="76200">
              <a:lnSpc>
                <a:spcPct val="250599"/>
              </a:lnSpc>
              <a:buClr>
                <a:srgbClr val="3333B3"/>
              </a:buClr>
              <a:buChar char="•"/>
              <a:tabLst>
                <a:tab pos="216535" algn="l"/>
              </a:tabLst>
            </a:pPr>
            <a:r>
              <a:rPr sz="500" dirty="0">
                <a:latin typeface="Noto Sans Mono"/>
                <a:cs typeface="Noto Sans Mono"/>
              </a:rPr>
              <a:t>Về cơ bản, máy chủ Web chỉ cần một siêu liên kết đ</a:t>
            </a:r>
            <a:r>
              <a:rPr sz="500" spc="-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ể tải tệp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• </a:t>
            </a:r>
            <a:r>
              <a:rPr sz="500" dirty="0">
                <a:latin typeface="Noto Sans Mono"/>
                <a:cs typeface="Noto Sans Mono"/>
              </a:rPr>
              <a:t>Một chương </a:t>
            </a:r>
            <a:r>
              <a:rPr sz="500" spc="-10" dirty="0">
                <a:latin typeface="Noto Sans Mono"/>
                <a:cs typeface="Noto Sans Mono"/>
              </a:rPr>
              <a:t>trình </a:t>
            </a:r>
            <a:r>
              <a:rPr sz="500" dirty="0">
                <a:latin typeface="Noto Sans Mono"/>
                <a:cs typeface="Noto Sans Mono"/>
              </a:rPr>
              <a:t>riêng biệt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(Giao diện cổng chung)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tạo thành </a:t>
            </a:r>
            <a:r>
              <a:rPr sz="500" dirty="0">
                <a:latin typeface="Noto Sans Mono"/>
                <a:cs typeface="Noto Sans Mono"/>
              </a:rPr>
              <a:t>một </a:t>
            </a:r>
            <a:r>
              <a:rPr sz="500" spc="-10" dirty="0">
                <a:latin typeface="Noto Sans Mono"/>
                <a:cs typeface="Noto Sans Mono"/>
              </a:rPr>
              <a:t>trang</a:t>
            </a:r>
            <a:endParaRPr sz="5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Clr>
                <a:srgbClr val="3333B3"/>
              </a:buClr>
              <a:buFont typeface="Noto Sans Mono"/>
              <a:buChar char="•"/>
            </a:pPr>
            <a:endParaRPr sz="500">
              <a:latin typeface="Noto Sans Mono"/>
              <a:cs typeface="Noto Sans Mono"/>
            </a:endParaRPr>
          </a:p>
          <a:p>
            <a:pPr marL="216535" indent="-76200">
              <a:lnSpc>
                <a:spcPct val="100000"/>
              </a:lnSpc>
              <a:buClr>
                <a:srgbClr val="3333B3"/>
              </a:buClr>
              <a:buChar char="•"/>
              <a:tabLst>
                <a:tab pos="216535" algn="l"/>
              </a:tabLst>
            </a:pPr>
            <a:r>
              <a:rPr sz="500" dirty="0">
                <a:latin typeface="Noto Sans Mono"/>
                <a:cs typeface="Noto Sans Mono"/>
              </a:rPr>
              <a:t>Trình duyệt đ</a:t>
            </a:r>
            <a:r>
              <a:rPr sz="500" spc="-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ảm nhiệm việc hiển thị đ</a:t>
            </a:r>
            <a:r>
              <a:rPr sz="500" spc="-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úng nội dung của </a:t>
            </a:r>
            <a:r>
              <a:rPr sz="500" spc="-25" dirty="0">
                <a:latin typeface="Noto Sans Mono"/>
                <a:cs typeface="Noto Sans Mono"/>
              </a:rPr>
              <a:t>tệp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8116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627" y="246078"/>
            <a:ext cx="133985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Các</a:t>
            </a:r>
            <a:r>
              <a:rPr sz="8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tổ</a:t>
            </a:r>
            <a:r>
              <a:rPr sz="8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chức</a:t>
            </a:r>
            <a:r>
              <a:rPr sz="8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thay</a:t>
            </a:r>
            <a:r>
              <a:rPr sz="8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thế</a:t>
            </a:r>
            <a:endParaRPr sz="8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3399" y="28461"/>
            <a:ext cx="1049655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đ</a:t>
            </a:r>
            <a:r>
              <a:rPr sz="350" spc="-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ối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xứng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658" y="555417"/>
            <a:ext cx="3839210" cy="1731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Phân</a:t>
            </a:r>
            <a:r>
              <a:rPr sz="5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phối</a:t>
            </a:r>
            <a:r>
              <a:rPr sz="550" spc="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theo</a:t>
            </a:r>
            <a:r>
              <a:rPr sz="550" spc="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chiều</a:t>
            </a:r>
            <a:r>
              <a:rPr sz="550" spc="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25" dirty="0">
                <a:solidFill>
                  <a:srgbClr val="3333B3"/>
                </a:solidFill>
                <a:latin typeface="Noto Sans Mono"/>
                <a:cs typeface="Noto Sans Mono"/>
              </a:rPr>
              <a:t>dọc</a:t>
            </a:r>
            <a:endParaRPr sz="550">
              <a:latin typeface="Noto Sans Mono"/>
              <a:cs typeface="Noto Sans Mono"/>
            </a:endParaRPr>
          </a:p>
          <a:p>
            <a:pPr marL="22225" marR="220345" indent="-2540">
              <a:lnSpc>
                <a:spcPct val="182600"/>
              </a:lnSpc>
              <a:spcBef>
                <a:spcPts val="175"/>
              </a:spcBef>
            </a:pPr>
            <a:r>
              <a:rPr sz="550" dirty="0">
                <a:latin typeface="Noto Sans Mono"/>
                <a:cs typeface="Noto Sans Mono"/>
              </a:rPr>
              <a:t>Xuất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phát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từ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việc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chia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ứng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dụng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phân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tán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thành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ba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lớp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logic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chạy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thành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phần </a:t>
            </a:r>
            <a:r>
              <a:rPr sz="550" dirty="0">
                <a:latin typeface="Noto Sans Mono"/>
                <a:cs typeface="Noto Sans Mono"/>
              </a:rPr>
              <a:t>từ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mỗi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lớp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trên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máy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chủ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(máy)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khác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nhau.</a:t>
            </a:r>
            <a:endParaRPr sz="5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550">
              <a:latin typeface="Noto Sans Mono"/>
              <a:cs typeface="Noto Sans Mono"/>
            </a:endParaRPr>
          </a:p>
          <a:p>
            <a:pPr marL="24765">
              <a:lnSpc>
                <a:spcPct val="100000"/>
              </a:lnSpc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Phân</a:t>
            </a:r>
            <a:r>
              <a:rPr sz="5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phối</a:t>
            </a:r>
            <a:r>
              <a:rPr sz="550" spc="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theo</a:t>
            </a:r>
            <a:r>
              <a:rPr sz="550" spc="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chiều</a:t>
            </a:r>
            <a:r>
              <a:rPr sz="550" spc="1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10" dirty="0">
                <a:solidFill>
                  <a:srgbClr val="3333B3"/>
                </a:solidFill>
                <a:latin typeface="Noto Sans Mono"/>
                <a:cs typeface="Noto Sans Mono"/>
              </a:rPr>
              <a:t>ngang</a:t>
            </a:r>
            <a:endParaRPr sz="550">
              <a:latin typeface="Noto Sans Mono"/>
              <a:cs typeface="Noto Sans Mono"/>
            </a:endParaRPr>
          </a:p>
          <a:p>
            <a:pPr marL="19050" marR="5080" indent="-6350">
              <a:lnSpc>
                <a:spcPct val="182600"/>
              </a:lnSpc>
              <a:spcBef>
                <a:spcPts val="175"/>
              </a:spcBef>
            </a:pPr>
            <a:r>
              <a:rPr sz="550" dirty="0">
                <a:latin typeface="Noto Sans Mono"/>
                <a:cs typeface="Noto Sans Mono"/>
              </a:rPr>
              <a:t>Máy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khách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hoặc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máy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chủ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thể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1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chia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thành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phần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tương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ương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về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mặt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logic,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nhưng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mỗi </a:t>
            </a:r>
            <a:r>
              <a:rPr sz="550" dirty="0">
                <a:latin typeface="Noto Sans Mono"/>
                <a:cs typeface="Noto Sans Mono"/>
              </a:rPr>
              <a:t>phần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1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ều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hoạt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ộng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trên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phần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dữ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liệu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riêng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của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mình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trong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toàn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bộ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tập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dữ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liệu.</a:t>
            </a:r>
            <a:endParaRPr sz="5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550">
              <a:latin typeface="Noto Sans Mono"/>
              <a:cs typeface="Noto Sans Mono"/>
            </a:endParaRPr>
          </a:p>
          <a:p>
            <a:pPr marL="25400">
              <a:lnSpc>
                <a:spcPct val="100000"/>
              </a:lnSpc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Kiến</a:t>
            </a:r>
            <a:r>
              <a:rPr sz="60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trúc</a:t>
            </a:r>
            <a:r>
              <a:rPr sz="60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ngang</a:t>
            </a:r>
            <a:r>
              <a:rPr sz="60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hàng</a:t>
            </a:r>
            <a:r>
              <a:rPr sz="60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Các</a:t>
            </a:r>
            <a:r>
              <a:rPr sz="600" spc="40" dirty="0">
                <a:latin typeface="Noto Sans Mono"/>
                <a:cs typeface="Noto Sans Mono"/>
              </a:rPr>
              <a:t> </a:t>
            </a:r>
            <a:r>
              <a:rPr sz="600" spc="-20" dirty="0">
                <a:latin typeface="Noto Sans Mono"/>
                <a:cs typeface="Noto Sans Mono"/>
              </a:rPr>
              <a:t>tiến</a:t>
            </a:r>
            <a:endParaRPr sz="600">
              <a:latin typeface="Noto Sans Mono"/>
              <a:cs typeface="Noto Sans Mono"/>
            </a:endParaRPr>
          </a:p>
          <a:p>
            <a:pPr marL="24765">
              <a:lnSpc>
                <a:spcPct val="100000"/>
              </a:lnSpc>
              <a:spcBef>
                <a:spcPts val="655"/>
              </a:spcBef>
            </a:pPr>
            <a:r>
              <a:rPr sz="600" dirty="0">
                <a:latin typeface="Noto Sans Mono"/>
                <a:cs typeface="Noto Sans Mono"/>
              </a:rPr>
              <a:t>trình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đ</a:t>
            </a:r>
            <a:r>
              <a:rPr sz="600" spc="-9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ều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bình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đ</a:t>
            </a:r>
            <a:r>
              <a:rPr sz="600" spc="-10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ẳng: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các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chức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năng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cần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thực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hiện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đ</a:t>
            </a:r>
            <a:r>
              <a:rPr sz="600" spc="-9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ược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biểu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diễn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spc="-25" dirty="0">
                <a:latin typeface="Noto Sans Mono"/>
                <a:cs typeface="Noto Sans Mono"/>
              </a:rPr>
              <a:t>bởi</a:t>
            </a:r>
            <a:endParaRPr sz="600">
              <a:latin typeface="Noto Sans Mono"/>
              <a:cs typeface="Noto Sans Mono"/>
            </a:endParaRPr>
          </a:p>
          <a:p>
            <a:pPr marL="19050" marR="126364" indent="2540">
              <a:lnSpc>
                <a:spcPct val="167300"/>
              </a:lnSpc>
              <a:tabLst>
                <a:tab pos="852169" algn="l"/>
              </a:tabLst>
            </a:pPr>
            <a:r>
              <a:rPr sz="600" dirty="0">
                <a:latin typeface="Noto Sans Mono"/>
                <a:cs typeface="Noto Sans Mono"/>
              </a:rPr>
              <a:t>mọi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tiến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trình</a:t>
            </a:r>
            <a:r>
              <a:rPr sz="600" dirty="0">
                <a:latin typeface="Noto Sans Mono"/>
                <a:cs typeface="Noto Sans Mono"/>
              </a:rPr>
              <a:t>	mỗi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tiến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trình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sẽ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hoạt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đ</a:t>
            </a:r>
            <a:r>
              <a:rPr sz="600" spc="-10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ộng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như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một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máy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khách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và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một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máy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spc="-25" dirty="0">
                <a:latin typeface="Noto Sans Mono"/>
                <a:cs typeface="Noto Sans Mono"/>
              </a:rPr>
              <a:t>chủ </a:t>
            </a:r>
            <a:r>
              <a:rPr sz="600" dirty="0">
                <a:latin typeface="Noto Sans Mono"/>
                <a:cs typeface="Noto Sans Mono"/>
              </a:rPr>
              <a:t>cùng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một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lúc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(tức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là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hoạt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đ</a:t>
            </a:r>
            <a:r>
              <a:rPr sz="600" spc="-10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ộng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như</a:t>
            </a:r>
            <a:r>
              <a:rPr sz="600" spc="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một</a:t>
            </a:r>
            <a:r>
              <a:rPr sz="600" spc="35" dirty="0"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C80000"/>
                </a:solidFill>
                <a:latin typeface="Noto Sans Mono"/>
                <a:cs typeface="Noto Sans Mono"/>
              </a:rPr>
              <a:t>máy</a:t>
            </a:r>
            <a:r>
              <a:rPr sz="600" spc="3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C80000"/>
                </a:solidFill>
                <a:latin typeface="Noto Sans Mono"/>
                <a:cs typeface="Noto Sans Mono"/>
              </a:rPr>
              <a:t>phục</a:t>
            </a:r>
            <a:r>
              <a:rPr sz="600" spc="3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600" spc="-20" dirty="0">
                <a:solidFill>
                  <a:srgbClr val="C80000"/>
                </a:solidFill>
                <a:latin typeface="Noto Sans Mono"/>
                <a:cs typeface="Noto Sans Mono"/>
              </a:rPr>
              <a:t>vụ).</a:t>
            </a:r>
            <a:endParaRPr sz="6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90" y="16130"/>
            <a:ext cx="6705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25" spc="-112" baseline="15873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525" spc="-112" baseline="15873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525" spc="-112" baseline="15873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525" spc="-112" baseline="15873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525" spc="-112" baseline="15873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525" spc="-112" baseline="15873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525" spc="-112" baseline="15873" dirty="0">
                <a:latin typeface="Arial"/>
                <a:cs typeface="Arial"/>
              </a:rPr>
              <a:t>nslated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baseline="15873" dirty="0">
                <a:latin typeface="Arial"/>
                <a:cs typeface="Arial"/>
              </a:rPr>
              <a:t>by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spc="-15" baseline="15873" dirty="0">
                <a:latin typeface="Arial"/>
                <a:cs typeface="Arial"/>
              </a:rPr>
              <a:t>Google</a:t>
            </a:r>
            <a:endParaRPr sz="525" baseline="1587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3066" y="2762461"/>
            <a:ext cx="3840479" cy="280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065">
              <a:lnSpc>
                <a:spcPct val="166900"/>
              </a:lnSpc>
              <a:spcBef>
                <a:spcPts val="95"/>
              </a:spcBef>
              <a:tabLst>
                <a:tab pos="972185" algn="l"/>
                <a:tab pos="2105660" algn="l"/>
              </a:tabLst>
            </a:pPr>
            <a:r>
              <a:rPr sz="500" dirty="0">
                <a:latin typeface="Noto Sans Mono"/>
                <a:cs typeface="Noto Sans Mono"/>
              </a:rPr>
              <a:t>Tra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cứu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</a:t>
            </a:r>
            <a:r>
              <a:rPr sz="500" spc="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với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khóa</a:t>
            </a:r>
            <a:r>
              <a:rPr sz="50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spc="-50" dirty="0">
                <a:latin typeface="Noto Sans Mono"/>
                <a:cs typeface="Noto Sans Mono"/>
              </a:rPr>
              <a:t>k</a:t>
            </a:r>
            <a:r>
              <a:rPr sz="500" dirty="0">
                <a:latin typeface="Noto Sans Mono"/>
                <a:cs typeface="Noto Sans Mono"/>
              </a:rPr>
              <a:t>	{0,1,2,...,2</a:t>
            </a:r>
            <a:r>
              <a:rPr sz="500" spc="10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với</a:t>
            </a:r>
            <a:r>
              <a:rPr sz="500" spc="10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500" spc="-3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spc="-25" dirty="0">
                <a:solidFill>
                  <a:srgbClr val="C80000"/>
                </a:solidFill>
                <a:latin typeface="Noto Sans Mono"/>
                <a:cs typeface="Noto Sans Mono"/>
              </a:rPr>
              <a:t>ịnh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	</a:t>
            </a:r>
            <a:r>
              <a:rPr sz="500" dirty="0">
                <a:latin typeface="Noto Sans Mono"/>
                <a:cs typeface="Noto Sans Mono"/>
              </a:rPr>
              <a:t>1}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nghĩ</a:t>
            </a:r>
            <a:r>
              <a:rPr sz="500" spc="-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a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là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500" spc="-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ịnh</a:t>
            </a:r>
            <a:r>
              <a:rPr sz="50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tuyến</a:t>
            </a:r>
            <a:r>
              <a:rPr sz="50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yêu</a:t>
            </a:r>
            <a:r>
              <a:rPr sz="500" spc="5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cầu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6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ến</a:t>
            </a:r>
            <a:r>
              <a:rPr sz="500" spc="5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nút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danh</a:t>
            </a:r>
            <a:r>
              <a:rPr sz="500" spc="7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k.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343" y="3361224"/>
            <a:ext cx="89154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Hệ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thống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ngang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hàng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có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cấu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323" y="238165"/>
            <a:ext cx="1047115" cy="16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P2P</a:t>
            </a:r>
            <a:r>
              <a:rPr sz="90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có</a:t>
            </a:r>
            <a:r>
              <a:rPr sz="90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cấu</a:t>
            </a:r>
            <a:r>
              <a:rPr sz="900" spc="-20" dirty="0">
                <a:solidFill>
                  <a:srgbClr val="3333B3"/>
                </a:solidFill>
                <a:latin typeface="Noto Sans Mono"/>
                <a:cs typeface="Noto Sans Mono"/>
              </a:rPr>
              <a:t> trúc</a:t>
            </a:r>
            <a:endParaRPr sz="9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3399" y="17514"/>
            <a:ext cx="1049655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đ</a:t>
            </a:r>
            <a:r>
              <a:rPr sz="350" spc="-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ối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xứng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236" y="553651"/>
            <a:ext cx="3782060" cy="10642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Bản</a:t>
            </a:r>
            <a:r>
              <a:rPr sz="5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20" dirty="0">
                <a:solidFill>
                  <a:srgbClr val="3333B3"/>
                </a:solidFill>
                <a:latin typeface="Noto Sans Mono"/>
                <a:cs typeface="Noto Sans Mono"/>
              </a:rPr>
              <a:t>chất</a:t>
            </a:r>
            <a:endParaRPr sz="550">
              <a:latin typeface="Noto Sans Mono"/>
              <a:cs typeface="Noto Sans Mono"/>
            </a:endParaRPr>
          </a:p>
          <a:p>
            <a:pPr marL="12700" marR="5080" indent="3175">
              <a:lnSpc>
                <a:spcPct val="182600"/>
              </a:lnSpc>
              <a:spcBef>
                <a:spcPts val="170"/>
              </a:spcBef>
            </a:pPr>
            <a:r>
              <a:rPr sz="550" dirty="0">
                <a:latin typeface="Noto Sans Mono"/>
                <a:cs typeface="Noto Sans Mono"/>
              </a:rPr>
              <a:t>Sử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dụng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chỉ</a:t>
            </a:r>
            <a:r>
              <a:rPr sz="5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mục</a:t>
            </a:r>
            <a:r>
              <a:rPr sz="5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không</a:t>
            </a:r>
            <a:r>
              <a:rPr sz="5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ngữ</a:t>
            </a:r>
            <a:r>
              <a:rPr sz="5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nghĩ</a:t>
            </a:r>
            <a:r>
              <a:rPr sz="550" spc="-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a:</a:t>
            </a:r>
            <a:r>
              <a:rPr sz="5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mỗi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mục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dữ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liệu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liên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kết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duy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nhất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khóa, </a:t>
            </a:r>
            <a:r>
              <a:rPr sz="550" dirty="0">
                <a:latin typeface="Noto Sans Mono"/>
                <a:cs typeface="Noto Sans Mono"/>
              </a:rPr>
              <a:t>sau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ó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sử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dụng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làm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chỉ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mục.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Thực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hành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phổ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biến: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sử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dụng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hàm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băm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key(data</a:t>
            </a:r>
            <a:endParaRPr sz="5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550">
              <a:latin typeface="Noto Sans Mono"/>
              <a:cs typeface="Noto Sans Mono"/>
            </a:endParaRPr>
          </a:p>
          <a:p>
            <a:pPr marL="911860">
              <a:lnSpc>
                <a:spcPct val="100000"/>
              </a:lnSpc>
              <a:spcBef>
                <a:spcPts val="5"/>
              </a:spcBef>
            </a:pPr>
            <a:r>
              <a:rPr sz="550" dirty="0">
                <a:latin typeface="Noto Sans Mono"/>
                <a:cs typeface="Noto Sans Mono"/>
              </a:rPr>
              <a:t>item)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=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hash(data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item's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value).</a:t>
            </a:r>
            <a:endParaRPr sz="550">
              <a:latin typeface="Noto Sans Mono"/>
              <a:cs typeface="Noto Sans Mono"/>
            </a:endParaRPr>
          </a:p>
          <a:p>
            <a:pPr marL="17780">
              <a:lnSpc>
                <a:spcPct val="100000"/>
              </a:lnSpc>
              <a:spcBef>
                <a:spcPts val="730"/>
              </a:spcBef>
            </a:pPr>
            <a:r>
              <a:rPr sz="500" dirty="0">
                <a:latin typeface="Noto Sans Mono"/>
                <a:cs typeface="Noto Sans Mono"/>
              </a:rPr>
              <a:t>Hệ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thống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P2P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hiện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trách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nhiệm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lưu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trữ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cặp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(khóa,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giá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spc="-10" dirty="0">
                <a:latin typeface="Noto Sans Mono"/>
                <a:cs typeface="Noto Sans Mono"/>
              </a:rPr>
              <a:t>trị).</a:t>
            </a:r>
            <a:endParaRPr sz="5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500">
              <a:latin typeface="Noto Sans Mono"/>
              <a:cs typeface="Noto Sans Mono"/>
            </a:endParaRPr>
          </a:p>
          <a:p>
            <a:pPr marL="13970">
              <a:lnSpc>
                <a:spcPct val="100000"/>
              </a:lnSpc>
            </a:pPr>
            <a:r>
              <a:rPr sz="750" dirty="0">
                <a:solidFill>
                  <a:srgbClr val="4D994D"/>
                </a:solidFill>
                <a:latin typeface="Noto Sans Mono"/>
                <a:cs typeface="Noto Sans Mono"/>
              </a:rPr>
              <a:t>Ví</a:t>
            </a:r>
            <a:r>
              <a:rPr sz="750" spc="15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750" dirty="0">
                <a:solidFill>
                  <a:srgbClr val="4D994D"/>
                </a:solidFill>
                <a:latin typeface="Noto Sans Mono"/>
                <a:cs typeface="Noto Sans Mono"/>
              </a:rPr>
              <a:t>dụ</a:t>
            </a:r>
            <a:r>
              <a:rPr sz="750" spc="20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750" dirty="0">
                <a:solidFill>
                  <a:srgbClr val="4D994D"/>
                </a:solidFill>
                <a:latin typeface="Noto Sans Mono"/>
                <a:cs typeface="Noto Sans Mono"/>
              </a:rPr>
              <a:t>đ</a:t>
            </a:r>
            <a:r>
              <a:rPr sz="750" spc="-145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750" dirty="0">
                <a:solidFill>
                  <a:srgbClr val="4D994D"/>
                </a:solidFill>
                <a:latin typeface="Noto Sans Mono"/>
                <a:cs typeface="Noto Sans Mono"/>
              </a:rPr>
              <a:t>ơn</a:t>
            </a:r>
            <a:r>
              <a:rPr sz="750" spc="20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750" dirty="0">
                <a:solidFill>
                  <a:srgbClr val="4D994D"/>
                </a:solidFill>
                <a:latin typeface="Noto Sans Mono"/>
                <a:cs typeface="Noto Sans Mono"/>
              </a:rPr>
              <a:t>giản:</a:t>
            </a:r>
            <a:r>
              <a:rPr sz="750" spc="15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750" dirty="0">
                <a:solidFill>
                  <a:srgbClr val="4D994D"/>
                </a:solidFill>
                <a:latin typeface="Noto Sans Mono"/>
                <a:cs typeface="Noto Sans Mono"/>
              </a:rPr>
              <a:t>siêu</a:t>
            </a:r>
            <a:r>
              <a:rPr sz="750" spc="20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750" spc="-20" dirty="0">
                <a:solidFill>
                  <a:srgbClr val="4D994D"/>
                </a:solidFill>
                <a:latin typeface="Noto Sans Mono"/>
                <a:cs typeface="Noto Sans Mono"/>
              </a:rPr>
              <a:t>khối</a:t>
            </a:r>
            <a:endParaRPr sz="7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803" y="2748976"/>
            <a:ext cx="7747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latin typeface="Noto Sans Mono"/>
                <a:cs typeface="Noto Sans Mono"/>
              </a:rPr>
              <a:t>4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8685" y="208082"/>
            <a:ext cx="110934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3333B3"/>
                </a:solidFill>
                <a:latin typeface="Noto Sans Mono"/>
                <a:cs typeface="Noto Sans Mono"/>
              </a:rPr>
              <a:t>Ví</a:t>
            </a:r>
            <a:r>
              <a:rPr sz="11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100" dirty="0">
                <a:solidFill>
                  <a:srgbClr val="3333B3"/>
                </a:solidFill>
                <a:latin typeface="Noto Sans Mono"/>
                <a:cs typeface="Noto Sans Mono"/>
              </a:rPr>
              <a:t>dụ:</a:t>
            </a:r>
            <a:r>
              <a:rPr sz="11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100" dirty="0">
                <a:solidFill>
                  <a:srgbClr val="3333B3"/>
                </a:solidFill>
                <a:latin typeface="Noto Sans Mono"/>
                <a:cs typeface="Noto Sans Mono"/>
              </a:rPr>
              <a:t>Hợp</a:t>
            </a:r>
            <a:r>
              <a:rPr sz="110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100" spc="-25" dirty="0">
                <a:solidFill>
                  <a:srgbClr val="3333B3"/>
                </a:solidFill>
                <a:latin typeface="Noto Sans Mono"/>
                <a:cs typeface="Noto Sans Mono"/>
              </a:rPr>
              <a:t>âm</a:t>
            </a:r>
            <a:endParaRPr sz="11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43" y="3361224"/>
            <a:ext cx="89154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Hệ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thống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ngang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hàng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có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cấu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3399" y="17514"/>
            <a:ext cx="1049655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đ</a:t>
            </a:r>
            <a:r>
              <a:rPr sz="350" spc="-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ối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xứng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952" y="558034"/>
            <a:ext cx="3779520" cy="9639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Nguyên</a:t>
            </a:r>
            <a:r>
              <a:rPr sz="600" spc="10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tắc</a:t>
            </a:r>
            <a:endParaRPr sz="600">
              <a:latin typeface="Noto Sans Mono"/>
              <a:cs typeface="Noto Sans Mono"/>
            </a:endParaRPr>
          </a:p>
          <a:p>
            <a:pPr marL="139700" marR="5080" indent="85725">
              <a:lnSpc>
                <a:spcPct val="182600"/>
              </a:lnSpc>
              <a:spcBef>
                <a:spcPts val="605"/>
              </a:spcBef>
              <a:buClr>
                <a:srgbClr val="3333B3"/>
              </a:buClr>
              <a:buChar char="•"/>
              <a:tabLst>
                <a:tab pos="225425" algn="l"/>
              </a:tabLst>
            </a:pP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tổ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chức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hợp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lý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trong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vòng.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Mỗi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mã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550" spc="-7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ịnh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danh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spc="-35" dirty="0">
                <a:solidFill>
                  <a:srgbClr val="C80000"/>
                </a:solidFill>
                <a:latin typeface="Noto Sans Mono"/>
                <a:cs typeface="Noto Sans Mono"/>
              </a:rPr>
              <a:t>m-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bit.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spc="-50" dirty="0">
                <a:solidFill>
                  <a:srgbClr val="3333B3"/>
                </a:solidFill>
                <a:latin typeface="Noto Sans Mono"/>
                <a:cs typeface="Noto Sans Mono"/>
              </a:rPr>
              <a:t>• </a:t>
            </a:r>
            <a:r>
              <a:rPr sz="550" dirty="0">
                <a:latin typeface="Noto Sans Mono"/>
                <a:cs typeface="Noto Sans Mono"/>
              </a:rPr>
              <a:t>Mỗi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mục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dữ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liệu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băm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thành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khóa</a:t>
            </a:r>
            <a:r>
              <a:rPr sz="550" spc="6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spc="-35" dirty="0">
                <a:solidFill>
                  <a:srgbClr val="C80000"/>
                </a:solidFill>
                <a:latin typeface="Noto Sans Mono"/>
                <a:cs typeface="Noto Sans Mono"/>
              </a:rPr>
              <a:t>m-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bit.</a:t>
            </a:r>
            <a:r>
              <a:rPr sz="550" spc="6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spc="-5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endParaRPr sz="550">
              <a:latin typeface="Noto Sans Mono"/>
              <a:cs typeface="Noto Sans Mono"/>
            </a:endParaRPr>
          </a:p>
          <a:p>
            <a:pPr marL="257175" marR="299720" indent="-117475">
              <a:lnSpc>
                <a:spcPct val="182500"/>
              </a:lnSpc>
            </a:pPr>
            <a:r>
              <a:rPr sz="550" dirty="0">
                <a:latin typeface="Noto Sans Mono"/>
                <a:cs typeface="Noto Sans Mono"/>
              </a:rPr>
              <a:t>Mục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dữ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liệu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khóa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lưu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trữ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tại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mã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ịnh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danh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nhỏ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nhất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id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≥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k,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gọi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là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kế</a:t>
            </a:r>
            <a:r>
              <a:rPr sz="550" spc="5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nhiệm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của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khóa</a:t>
            </a:r>
            <a:endParaRPr sz="550">
              <a:latin typeface="Noto Sans Mono"/>
              <a:cs typeface="Noto Sans Mono"/>
            </a:endParaRPr>
          </a:p>
          <a:p>
            <a:pPr marL="139700">
              <a:lnSpc>
                <a:spcPct val="100000"/>
              </a:lnSpc>
              <a:spcBef>
                <a:spcPts val="545"/>
              </a:spcBef>
            </a:pPr>
            <a:r>
              <a:rPr sz="550" dirty="0">
                <a:latin typeface="Noto Sans Mono"/>
                <a:cs typeface="Noto Sans Mono"/>
              </a:rPr>
              <a:t>k.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Vòng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mở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rộng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nhiều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liên</a:t>
            </a:r>
            <a:r>
              <a:rPr sz="550" spc="5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kết</a:t>
            </a:r>
            <a:r>
              <a:rPr sz="5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phím</a:t>
            </a:r>
            <a:r>
              <a:rPr sz="5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tắt</a:t>
            </a:r>
            <a:r>
              <a:rPr sz="5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khác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nhau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ến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khác.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8685" y="208082"/>
            <a:ext cx="110934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3333B3"/>
                </a:solidFill>
                <a:latin typeface="Noto Sans Mono"/>
                <a:cs typeface="Noto Sans Mono"/>
              </a:rPr>
              <a:t>Ví</a:t>
            </a:r>
            <a:r>
              <a:rPr sz="11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100" dirty="0">
                <a:solidFill>
                  <a:srgbClr val="3333B3"/>
                </a:solidFill>
                <a:latin typeface="Noto Sans Mono"/>
                <a:cs typeface="Noto Sans Mono"/>
              </a:rPr>
              <a:t>dụ:</a:t>
            </a:r>
            <a:r>
              <a:rPr sz="11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100" dirty="0">
                <a:solidFill>
                  <a:srgbClr val="3333B3"/>
                </a:solidFill>
                <a:latin typeface="Noto Sans Mono"/>
                <a:cs typeface="Noto Sans Mono"/>
              </a:rPr>
              <a:t>Hợp</a:t>
            </a:r>
            <a:r>
              <a:rPr sz="110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1100" spc="-25" dirty="0">
                <a:solidFill>
                  <a:srgbClr val="3333B3"/>
                </a:solidFill>
                <a:latin typeface="Noto Sans Mono"/>
                <a:cs typeface="Noto Sans Mono"/>
              </a:rPr>
              <a:t>âm</a:t>
            </a:r>
            <a:endParaRPr sz="110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343" y="3361224"/>
            <a:ext cx="89154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Hệ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thống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ngang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hàng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có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cấu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3399" y="17514"/>
            <a:ext cx="1049655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đ</a:t>
            </a:r>
            <a:r>
              <a:rPr sz="350" spc="-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ối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xứng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5655" y="3143214"/>
            <a:ext cx="858519" cy="123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50" dirty="0">
                <a:latin typeface="Noto Sans Mono"/>
                <a:cs typeface="Noto Sans Mono"/>
              </a:rPr>
              <a:t>tra</a:t>
            </a:r>
            <a:r>
              <a:rPr sz="650" spc="-2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cứu(3)@9</a:t>
            </a:r>
            <a:r>
              <a:rPr sz="650" spc="-2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:</a:t>
            </a:r>
            <a:r>
              <a:rPr sz="650" spc="-20" dirty="0">
                <a:latin typeface="Noto Sans Mono"/>
                <a:cs typeface="Noto Sans Mono"/>
              </a:rPr>
              <a:t> </a:t>
            </a:r>
            <a:r>
              <a:rPr sz="650" spc="-35" dirty="0">
                <a:latin typeface="Noto Sans Mono"/>
                <a:cs typeface="Noto Sans Mono"/>
              </a:rPr>
              <a:t>28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8328" y="3143214"/>
            <a:ext cx="74930" cy="123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50" spc="-50" dirty="0">
                <a:latin typeface="Noto Sans Mono"/>
                <a:cs typeface="Noto Sans Mono"/>
              </a:rPr>
              <a:t>1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6991" y="3143214"/>
            <a:ext cx="74930" cy="123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50" spc="-50" dirty="0">
                <a:latin typeface="Noto Sans Mono"/>
                <a:cs typeface="Noto Sans Mono"/>
              </a:rPr>
              <a:t>4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7928" y="239741"/>
            <a:ext cx="4177029" cy="758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P2P</a:t>
            </a:r>
            <a:r>
              <a:rPr sz="70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không</a:t>
            </a:r>
            <a:r>
              <a:rPr sz="70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có</a:t>
            </a:r>
            <a:r>
              <a:rPr sz="70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cấu</a:t>
            </a:r>
            <a:r>
              <a:rPr sz="70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spc="-20" dirty="0">
                <a:solidFill>
                  <a:srgbClr val="3333B3"/>
                </a:solidFill>
                <a:latin typeface="Noto Sans Mono"/>
                <a:cs typeface="Noto Sans Mono"/>
              </a:rPr>
              <a:t>trúc</a:t>
            </a:r>
            <a:endParaRPr sz="7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700">
              <a:latin typeface="Noto Sans Mono"/>
              <a:cs typeface="Noto Sans Mono"/>
            </a:endParaRPr>
          </a:p>
          <a:p>
            <a:pPr marL="262255">
              <a:lnSpc>
                <a:spcPct val="100000"/>
              </a:lnSpc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Bản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spc="-20" dirty="0">
                <a:solidFill>
                  <a:srgbClr val="3333B3"/>
                </a:solidFill>
                <a:latin typeface="Noto Sans Mono"/>
                <a:cs typeface="Noto Sans Mono"/>
              </a:rPr>
              <a:t>chất</a:t>
            </a:r>
            <a:endParaRPr sz="600">
              <a:latin typeface="Noto Sans Mono"/>
              <a:cs typeface="Noto Sans Mono"/>
            </a:endParaRPr>
          </a:p>
          <a:p>
            <a:pPr marL="260985">
              <a:lnSpc>
                <a:spcPct val="100000"/>
              </a:lnSpc>
              <a:spcBef>
                <a:spcPts val="655"/>
              </a:spcBef>
            </a:pPr>
            <a:r>
              <a:rPr sz="600" dirty="0">
                <a:latin typeface="Noto Sans Mono"/>
                <a:cs typeface="Noto Sans Mono"/>
              </a:rPr>
              <a:t>Mỗi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nút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duy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trì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một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danh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sách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hàng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xóm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tùy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ý.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Lớp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phủ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kết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quả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giống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như</a:t>
            </a:r>
            <a:r>
              <a:rPr sz="600" spc="-25" dirty="0">
                <a:latin typeface="Noto Sans Mono"/>
                <a:cs typeface="Noto Sans Mono"/>
              </a:rPr>
              <a:t> một</a:t>
            </a:r>
            <a:endParaRPr sz="600">
              <a:latin typeface="Noto Sans Mono"/>
              <a:cs typeface="Noto Sans Mono"/>
            </a:endParaRPr>
          </a:p>
          <a:p>
            <a:pPr marL="258445">
              <a:lnSpc>
                <a:spcPct val="100000"/>
              </a:lnSpc>
              <a:spcBef>
                <a:spcPts val="515"/>
              </a:spcBef>
            </a:pPr>
            <a:r>
              <a:rPr sz="600" spc="-1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600" spc="-13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C80000"/>
                </a:solidFill>
                <a:latin typeface="Noto Sans Mono"/>
                <a:cs typeface="Noto Sans Mono"/>
              </a:rPr>
              <a:t>ồ</a:t>
            </a:r>
            <a:r>
              <a:rPr sz="600" spc="-5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C80000"/>
                </a:solidFill>
                <a:latin typeface="Noto Sans Mono"/>
                <a:cs typeface="Noto Sans Mono"/>
              </a:rPr>
              <a:t>thị</a:t>
            </a:r>
            <a:r>
              <a:rPr sz="600" spc="-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C80000"/>
                </a:solidFill>
                <a:latin typeface="Noto Sans Mono"/>
                <a:cs typeface="Noto Sans Mono"/>
              </a:rPr>
              <a:t>ngẫu</a:t>
            </a:r>
            <a:r>
              <a:rPr sz="600" spc="-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C80000"/>
                </a:solidFill>
                <a:latin typeface="Noto Sans Mono"/>
                <a:cs typeface="Noto Sans Mono"/>
              </a:rPr>
              <a:t>nhiên:</a:t>
            </a:r>
            <a:r>
              <a:rPr sz="600" spc="-2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một</a:t>
            </a:r>
            <a:r>
              <a:rPr sz="600" spc="-2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cạnh</a:t>
            </a:r>
            <a:r>
              <a:rPr sz="600" spc="90" dirty="0">
                <a:latin typeface="Noto Sans Mono"/>
                <a:cs typeface="Noto Sans Mono"/>
              </a:rPr>
              <a:t>  </a:t>
            </a:r>
            <a:r>
              <a:rPr sz="600" dirty="0">
                <a:latin typeface="Noto Sans Mono"/>
                <a:cs typeface="Noto Sans Mono"/>
              </a:rPr>
              <a:t>u,v</a:t>
            </a:r>
            <a:r>
              <a:rPr sz="600" spc="95" dirty="0">
                <a:latin typeface="Noto Sans Mono"/>
                <a:cs typeface="Noto Sans Mono"/>
              </a:rPr>
              <a:t>  </a:t>
            </a:r>
            <a:r>
              <a:rPr sz="600" dirty="0">
                <a:latin typeface="Noto Sans Mono"/>
                <a:cs typeface="Noto Sans Mono"/>
              </a:rPr>
              <a:t>chỉ</a:t>
            </a:r>
            <a:r>
              <a:rPr sz="600" spc="-2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tồn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tại</a:t>
            </a:r>
            <a:r>
              <a:rPr sz="600" spc="-2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với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một</a:t>
            </a:r>
            <a:r>
              <a:rPr sz="600" spc="-2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xác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suất</a:t>
            </a:r>
            <a:r>
              <a:rPr sz="600" spc="-2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nhất</a:t>
            </a:r>
            <a:r>
              <a:rPr sz="600" spc="-20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đ</a:t>
            </a:r>
            <a:r>
              <a:rPr sz="600" spc="-1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ịnh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P[</a:t>
            </a:r>
            <a:r>
              <a:rPr sz="600" spc="204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u,v</a:t>
            </a:r>
            <a:r>
              <a:rPr sz="600" spc="210" dirty="0">
                <a:latin typeface="Noto Sans Mono"/>
                <a:cs typeface="Noto Sans Mono"/>
              </a:rPr>
              <a:t> </a:t>
            </a:r>
            <a:r>
              <a:rPr sz="600" spc="-25" dirty="0">
                <a:latin typeface="Noto Sans Mono"/>
                <a:cs typeface="Noto Sans Mono"/>
              </a:rPr>
              <a:t>].</a:t>
            </a:r>
            <a:endParaRPr sz="6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78" y="3364029"/>
            <a:ext cx="1000760" cy="857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" dirty="0">
                <a:latin typeface="Noto Sans Mono"/>
                <a:cs typeface="Noto Sans Mono"/>
              </a:rPr>
              <a:t>Hệ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thống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ngang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hàng</a:t>
            </a:r>
            <a:r>
              <a:rPr sz="350" spc="-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không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có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cấu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3399" y="17514"/>
            <a:ext cx="1049655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đ</a:t>
            </a:r>
            <a:r>
              <a:rPr sz="350" spc="-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ối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xứng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524" y="1260997"/>
            <a:ext cx="3840479" cy="1330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Tìm</a:t>
            </a:r>
            <a:r>
              <a:rPr sz="90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spc="-20" dirty="0">
                <a:solidFill>
                  <a:srgbClr val="3333B3"/>
                </a:solidFill>
                <a:latin typeface="Noto Sans Mono"/>
                <a:cs typeface="Noto Sans Mono"/>
              </a:rPr>
              <a:t>kiếm</a:t>
            </a:r>
            <a:endParaRPr sz="900">
              <a:latin typeface="Noto Sans Mono"/>
              <a:cs typeface="Noto Sans Mono"/>
            </a:endParaRPr>
          </a:p>
          <a:p>
            <a:pPr marL="230504" marR="5080" indent="-85725">
              <a:lnSpc>
                <a:spcPct val="182600"/>
              </a:lnSpc>
              <a:spcBef>
                <a:spcPts val="335"/>
              </a:spcBef>
              <a:buClr>
                <a:srgbClr val="3333B3"/>
              </a:buClr>
              <a:buChar char="•"/>
              <a:tabLst>
                <a:tab pos="266065" algn="l"/>
              </a:tabLst>
            </a:pP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Làm</a:t>
            </a:r>
            <a:r>
              <a:rPr sz="550" spc="5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ngập: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phát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hành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chuyển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yêu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cầu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cho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ến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tất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cả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lân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cận.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Yêu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cầu 	</a:t>
            </a:r>
            <a:r>
              <a:rPr sz="550" dirty="0">
                <a:latin typeface="Noto Sans Mono"/>
                <a:cs typeface="Noto Sans Mono"/>
              </a:rPr>
              <a:t>bị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bỏ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qua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khi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nhận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ã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nhìn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thấy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nó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trước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ó.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Nếu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không,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tìm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kiếm</a:t>
            </a:r>
            <a:endParaRPr sz="550">
              <a:latin typeface="Noto Sans Mono"/>
              <a:cs typeface="Noto Sans Mono"/>
            </a:endParaRPr>
          </a:p>
          <a:p>
            <a:pPr marL="266700" marR="97155" indent="-4445">
              <a:lnSpc>
                <a:spcPct val="182600"/>
              </a:lnSpc>
            </a:pPr>
            <a:r>
              <a:rPr sz="550" dirty="0">
                <a:latin typeface="Noto Sans Mono"/>
                <a:cs typeface="Noto Sans Mono"/>
              </a:rPr>
              <a:t>cục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bộ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cho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(đ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ệ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quy).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thể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bị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giới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hạn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bởi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spc="-10" dirty="0">
                <a:solidFill>
                  <a:srgbClr val="C80000"/>
                </a:solidFill>
                <a:latin typeface="Noto Sans Mono"/>
                <a:cs typeface="Noto Sans Mono"/>
              </a:rPr>
              <a:t>Time-</a:t>
            </a:r>
            <a:r>
              <a:rPr sz="550" spc="-20" dirty="0">
                <a:solidFill>
                  <a:srgbClr val="C80000"/>
                </a:solidFill>
                <a:latin typeface="Noto Sans Mono"/>
                <a:cs typeface="Noto Sans Mono"/>
              </a:rPr>
              <a:t>To-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Live: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số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lượng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tối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a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các </a:t>
            </a:r>
            <a:r>
              <a:rPr sz="550" dirty="0">
                <a:latin typeface="Noto Sans Mono"/>
                <a:cs typeface="Noto Sans Mono"/>
              </a:rPr>
              <a:t>bước</a:t>
            </a:r>
            <a:r>
              <a:rPr sz="550" spc="75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nhảy.</a:t>
            </a:r>
            <a:endParaRPr sz="550">
              <a:latin typeface="Noto Sans Mono"/>
              <a:cs typeface="Noto Sans Mono"/>
            </a:endParaRPr>
          </a:p>
          <a:p>
            <a:pPr marL="230504" marR="193040" indent="-85725">
              <a:lnSpc>
                <a:spcPct val="182600"/>
              </a:lnSpc>
              <a:spcBef>
                <a:spcPts val="395"/>
              </a:spcBef>
              <a:buClr>
                <a:srgbClr val="3333B3"/>
              </a:buClr>
              <a:buChar char="•"/>
              <a:tabLst>
                <a:tab pos="266700" algn="l"/>
              </a:tabLst>
            </a:pP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Đi</a:t>
            </a:r>
            <a:r>
              <a:rPr sz="550" spc="5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bộ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ngẫu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nhiên:</a:t>
            </a:r>
            <a:r>
              <a:rPr sz="550" spc="6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phát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hành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chuyển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yêu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cầu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cho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ến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hàng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xóm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chọn 	</a:t>
            </a:r>
            <a:r>
              <a:rPr sz="550" dirty="0">
                <a:latin typeface="Noto Sans Mono"/>
                <a:cs typeface="Noto Sans Mono"/>
              </a:rPr>
              <a:t>ngẫu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nhiên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là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v.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Nếu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không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d,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nó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sẽ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chuyển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tiếp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yêu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cầu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ến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trong 	</a:t>
            </a:r>
            <a:r>
              <a:rPr sz="550" dirty="0">
                <a:latin typeface="Noto Sans Mono"/>
                <a:cs typeface="Noto Sans Mono"/>
              </a:rPr>
              <a:t>những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hàng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xóm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chọn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ngẫu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nhiên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của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nó,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v.v.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4658" y="556896"/>
            <a:ext cx="347535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Mô </a:t>
            </a:r>
            <a:r>
              <a:rPr sz="550" spc="-20" dirty="0">
                <a:solidFill>
                  <a:srgbClr val="3333B3"/>
                </a:solidFill>
                <a:latin typeface="Noto Sans Mono"/>
                <a:cs typeface="Noto Sans Mono"/>
              </a:rPr>
              <a:t>hình</a:t>
            </a:r>
            <a:endParaRPr sz="55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550" dirty="0">
                <a:latin typeface="Noto Sans Mono"/>
                <a:cs typeface="Noto Sans Mono"/>
              </a:rPr>
              <a:t>giả sử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 và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mỗi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mục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dữ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liệu đ</a:t>
            </a:r>
            <a:r>
              <a:rPr sz="550" spc="-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sao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chép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trên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r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 đ</a:t>
            </a:r>
            <a:r>
              <a:rPr sz="550" spc="-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chọn</a:t>
            </a:r>
            <a:r>
              <a:rPr sz="550" spc="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ngẫu</a:t>
            </a:r>
            <a:r>
              <a:rPr sz="550" spc="10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nhiên.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678" y="3364029"/>
            <a:ext cx="1000760" cy="857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" dirty="0">
                <a:latin typeface="Noto Sans Mono"/>
                <a:cs typeface="Noto Sans Mono"/>
              </a:rPr>
              <a:t>Hệ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thống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ngang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hàng</a:t>
            </a:r>
            <a:r>
              <a:rPr sz="350" spc="-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không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có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cấu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3130" y="2057618"/>
            <a:ext cx="74168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78180" algn="l"/>
              </a:tabLst>
            </a:pPr>
            <a:r>
              <a:rPr sz="650" spc="-50" dirty="0">
                <a:latin typeface="Noto Sans Mono"/>
                <a:cs typeface="Noto Sans Mono"/>
              </a:rPr>
              <a:t>N</a:t>
            </a:r>
            <a:r>
              <a:rPr sz="650" dirty="0">
                <a:latin typeface="Noto Sans Mono"/>
                <a:cs typeface="Noto Sans Mono"/>
              </a:rPr>
              <a:t>	</a:t>
            </a:r>
            <a:r>
              <a:rPr sz="650" spc="-50" dirty="0">
                <a:latin typeface="Noto Sans Mono"/>
                <a:cs typeface="Noto Sans Mono"/>
              </a:rPr>
              <a:t>N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9248" y="2304144"/>
            <a:ext cx="84201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78180" algn="l"/>
              </a:tabLst>
            </a:pPr>
            <a:r>
              <a:rPr sz="650" spc="-25" dirty="0">
                <a:latin typeface="Noto Sans Mono"/>
                <a:cs typeface="Noto Sans Mono"/>
              </a:rPr>
              <a:t>k=1</a:t>
            </a:r>
            <a:r>
              <a:rPr sz="650" dirty="0">
                <a:latin typeface="Noto Sans Mono"/>
                <a:cs typeface="Noto Sans Mono"/>
              </a:rPr>
              <a:t>	</a:t>
            </a:r>
            <a:r>
              <a:rPr sz="650" spc="-25" dirty="0">
                <a:latin typeface="Noto Sans Mono"/>
                <a:cs typeface="Noto Sans Mono"/>
              </a:rPr>
              <a:t>k=1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685" y="242883"/>
            <a:ext cx="1995170" cy="154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Lũ</a:t>
            </a:r>
            <a:r>
              <a:rPr sz="850" spc="-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lụt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so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với</a:t>
            </a:r>
            <a:r>
              <a:rPr sz="85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850" spc="-1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i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bộ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ngẫu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10" dirty="0">
                <a:solidFill>
                  <a:srgbClr val="3333B3"/>
                </a:solidFill>
                <a:latin typeface="Noto Sans Mono"/>
                <a:cs typeface="Noto Sans Mono"/>
              </a:rPr>
              <a:t>nhiên</a:t>
            </a:r>
            <a:endParaRPr sz="8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3399" y="17514"/>
            <a:ext cx="1049655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đ</a:t>
            </a:r>
            <a:r>
              <a:rPr sz="350" spc="-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ối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xứng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8506" y="2207185"/>
            <a:ext cx="480059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latin typeface="Noto Sans Mono"/>
                <a:cs typeface="Noto Sans Mono"/>
              </a:rPr>
              <a:t>k</a:t>
            </a:r>
            <a:r>
              <a:rPr sz="650" spc="2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·P[k]</a:t>
            </a:r>
            <a:r>
              <a:rPr sz="650" spc="30" dirty="0">
                <a:latin typeface="Noto Sans Mono"/>
                <a:cs typeface="Noto Sans Mono"/>
              </a:rPr>
              <a:t> </a:t>
            </a:r>
            <a:r>
              <a:rPr sz="650" spc="-50" dirty="0">
                <a:latin typeface="Noto Sans Mono"/>
                <a:cs typeface="Noto Sans Mono"/>
              </a:rPr>
              <a:t>=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0365" y="1631196"/>
            <a:ext cx="7810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50" dirty="0">
                <a:latin typeface="Noto Sans Mono"/>
                <a:cs typeface="Noto Sans Mono"/>
              </a:rPr>
              <a:t>N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6576" y="1859911"/>
            <a:ext cx="355346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dirty="0">
                <a:latin typeface="Noto Sans Mono"/>
                <a:cs typeface="Noto Sans Mono"/>
              </a:rPr>
              <a:t>S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(“kích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thước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tìm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kiếm”)</a:t>
            </a:r>
            <a:r>
              <a:rPr sz="650" spc="9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là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số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lượng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nút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dự</a:t>
            </a:r>
            <a:r>
              <a:rPr sz="650" spc="9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kiến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cần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7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ược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thăm</a:t>
            </a:r>
            <a:r>
              <a:rPr sz="650" spc="85" dirty="0"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dò: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1862" y="2178556"/>
            <a:ext cx="18224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dirty="0">
                <a:latin typeface="Noto Sans Mono"/>
                <a:cs typeface="Noto Sans Mono"/>
              </a:rPr>
              <a:t>S</a:t>
            </a:r>
            <a:r>
              <a:rPr sz="650" spc="35" dirty="0">
                <a:latin typeface="Noto Sans Mono"/>
                <a:cs typeface="Noto Sans Mono"/>
              </a:rPr>
              <a:t> </a:t>
            </a:r>
            <a:r>
              <a:rPr sz="650" spc="-50" dirty="0">
                <a:latin typeface="Noto Sans Mono"/>
                <a:cs typeface="Noto Sans Mono"/>
              </a:rPr>
              <a:t>=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33433" y="2222334"/>
            <a:ext cx="1065530" cy="108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03910" algn="l"/>
              </a:tabLst>
            </a:pPr>
            <a:r>
              <a:rPr sz="550" dirty="0">
                <a:latin typeface="Noto Sans Mono"/>
                <a:cs typeface="Noto Sans Mono"/>
              </a:rPr>
              <a:t>≈</a:t>
            </a:r>
            <a:r>
              <a:rPr sz="550" spc="-3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N/r</a:t>
            </a:r>
            <a:r>
              <a:rPr sz="550" spc="-2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ối</a:t>
            </a:r>
            <a:r>
              <a:rPr sz="550" spc="-2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-20" dirty="0">
                <a:latin typeface="Noto Sans Mono"/>
                <a:cs typeface="Noto Sans Mono"/>
              </a:rPr>
              <a:t> </a:t>
            </a:r>
            <a:r>
              <a:rPr sz="550" spc="-50" dirty="0">
                <a:latin typeface="Noto Sans Mono"/>
                <a:cs typeface="Noto Sans Mono"/>
              </a:rPr>
              <a:t>1</a:t>
            </a:r>
            <a:r>
              <a:rPr sz="550" dirty="0">
                <a:latin typeface="Noto Sans Mono"/>
                <a:cs typeface="Noto Sans Mono"/>
              </a:rPr>
              <a:t>	r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≤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N.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26768" y="1581451"/>
            <a:ext cx="63500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50" dirty="0">
                <a:latin typeface="Noto Sans Mono"/>
                <a:cs typeface="Noto Sans Mono"/>
              </a:rPr>
              <a:t>P[k]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= (1</a:t>
            </a:r>
            <a:r>
              <a:rPr sz="975" baseline="-34188" dirty="0">
                <a:latin typeface="Noto Sans Mono"/>
                <a:cs typeface="Noto Sans Mono"/>
              </a:rPr>
              <a:t>N</a:t>
            </a:r>
            <a:r>
              <a:rPr sz="975" spc="457" baseline="-34188" dirty="0">
                <a:latin typeface="Noto Sans Mono"/>
                <a:cs typeface="Noto Sans Mono"/>
              </a:rPr>
              <a:t> </a:t>
            </a:r>
            <a:r>
              <a:rPr sz="550" spc="-50" dirty="0">
                <a:latin typeface="Noto Sans Mono"/>
                <a:cs typeface="Noto Sans Mono"/>
              </a:rPr>
              <a:t>)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8282" y="1115734"/>
            <a:ext cx="2319655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Đi bộ</a:t>
            </a:r>
            <a:r>
              <a:rPr sz="5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ngẫu</a:t>
            </a:r>
            <a:r>
              <a:rPr sz="550" spc="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10" dirty="0">
                <a:solidFill>
                  <a:srgbClr val="3333B3"/>
                </a:solidFill>
                <a:latin typeface="Noto Sans Mono"/>
                <a:cs typeface="Noto Sans Mono"/>
              </a:rPr>
              <a:t>nhiên</a:t>
            </a:r>
            <a:endParaRPr sz="5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55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</a:pPr>
            <a:r>
              <a:rPr sz="650" dirty="0">
                <a:latin typeface="Noto Sans Mono"/>
                <a:cs typeface="Noto Sans Mono"/>
              </a:rPr>
              <a:t>P[k]</a:t>
            </a:r>
            <a:r>
              <a:rPr sz="650" spc="7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là</a:t>
            </a:r>
            <a:r>
              <a:rPr sz="650" spc="8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xác</a:t>
            </a:r>
            <a:r>
              <a:rPr sz="650" spc="7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suất</a:t>
            </a:r>
            <a:r>
              <a:rPr sz="650" spc="8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tìm</a:t>
            </a:r>
            <a:r>
              <a:rPr sz="650" spc="8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thấy</a:t>
            </a:r>
            <a:r>
              <a:rPr sz="650" spc="7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mục</a:t>
            </a:r>
            <a:r>
              <a:rPr sz="650" spc="8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sau</a:t>
            </a:r>
            <a:r>
              <a:rPr sz="650" spc="80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</a:t>
            </a:r>
            <a:r>
              <a:rPr sz="650" spc="7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lần</a:t>
            </a:r>
            <a:r>
              <a:rPr sz="650" spc="80" dirty="0">
                <a:latin typeface="Noto Sans Mono"/>
                <a:cs typeface="Noto Sans Mono"/>
              </a:rPr>
              <a:t> </a:t>
            </a:r>
            <a:r>
              <a:rPr sz="650" spc="-20" dirty="0">
                <a:latin typeface="Noto Sans Mono"/>
                <a:cs typeface="Noto Sans Mono"/>
              </a:rPr>
              <a:t>thử:</a:t>
            </a:r>
            <a:endParaRPr sz="650">
              <a:latin typeface="Noto Sans Mono"/>
              <a:cs typeface="Noto Sans Mono"/>
            </a:endParaRPr>
          </a:p>
          <a:p>
            <a:pPr marR="457834" algn="r">
              <a:lnSpc>
                <a:spcPct val="100000"/>
              </a:lnSpc>
              <a:spcBef>
                <a:spcPts val="650"/>
              </a:spcBef>
            </a:pPr>
            <a:r>
              <a:rPr sz="650" spc="-50" dirty="0">
                <a:latin typeface="Noto Sans Mono"/>
                <a:cs typeface="Noto Sans Mono"/>
              </a:rPr>
              <a:t>r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64219" y="1506114"/>
            <a:ext cx="438784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75" baseline="21367" dirty="0">
                <a:latin typeface="Noto Sans Mono"/>
                <a:cs typeface="Noto Sans Mono"/>
              </a:rPr>
              <a:t>r</a:t>
            </a:r>
            <a:r>
              <a:rPr sz="975" spc="359" baseline="21367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k-1</a:t>
            </a:r>
            <a:r>
              <a:rPr sz="650" spc="-145" dirty="0">
                <a:latin typeface="Noto Sans Mono"/>
                <a:cs typeface="Noto Sans Mono"/>
              </a:rPr>
              <a:t> </a:t>
            </a:r>
            <a:r>
              <a:rPr sz="975" spc="-75" baseline="-29914" dirty="0">
                <a:latin typeface="Noto Sans Mono"/>
                <a:cs typeface="Noto Sans Mono"/>
              </a:rPr>
              <a:t>.</a:t>
            </a:r>
            <a:endParaRPr sz="975" baseline="-29914">
              <a:latin typeface="Noto Sans Mono"/>
              <a:cs typeface="Noto Sans Mo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8848" y="2104129"/>
            <a:ext cx="417195" cy="229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180" algn="ctr">
              <a:lnSpc>
                <a:spcPct val="100000"/>
              </a:lnSpc>
              <a:spcBef>
                <a:spcPts val="90"/>
              </a:spcBef>
            </a:pPr>
            <a:r>
              <a:rPr sz="650" spc="-50" dirty="0">
                <a:latin typeface="Noto Sans Mono"/>
                <a:cs typeface="Noto Sans Mono"/>
              </a:rPr>
              <a:t>r</a:t>
            </a:r>
            <a:endParaRPr sz="650">
              <a:latin typeface="Noto Sans Mono"/>
              <a:cs typeface="Noto Sans Mono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675" baseline="24691" dirty="0">
                <a:latin typeface="Noto Sans Mono"/>
                <a:cs typeface="Noto Sans Mono"/>
              </a:rPr>
              <a:t>k</a:t>
            </a:r>
            <a:r>
              <a:rPr sz="675" spc="-75" baseline="24691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·</a:t>
            </a:r>
            <a:r>
              <a:rPr sz="450" spc="-45" dirty="0">
                <a:latin typeface="Noto Sans Mono"/>
                <a:cs typeface="Noto Sans Mono"/>
              </a:rPr>
              <a:t> </a:t>
            </a:r>
            <a:r>
              <a:rPr sz="450" spc="-50" dirty="0">
                <a:latin typeface="Noto Sans Mono"/>
                <a:cs typeface="Noto Sans Mono"/>
              </a:rPr>
              <a:t>(</a:t>
            </a:r>
            <a:r>
              <a:rPr sz="975" spc="-75" baseline="-34188" dirty="0">
                <a:latin typeface="Noto Sans Mono"/>
                <a:cs typeface="Noto Sans Mono"/>
              </a:rPr>
              <a:t>N</a:t>
            </a:r>
            <a:r>
              <a:rPr sz="450" spc="-50" dirty="0">
                <a:latin typeface="Noto Sans Mono"/>
                <a:cs typeface="Noto Sans Mono"/>
              </a:rPr>
              <a:t>1</a:t>
            </a:r>
            <a:r>
              <a:rPr sz="450" spc="335" dirty="0">
                <a:latin typeface="Noto Sans Mono"/>
                <a:cs typeface="Noto Sans Mono"/>
              </a:rPr>
              <a:t> </a:t>
            </a:r>
            <a:r>
              <a:rPr sz="450" spc="-50" dirty="0">
                <a:latin typeface="Noto Sans Mono"/>
                <a:cs typeface="Noto Sans Mono"/>
              </a:rPr>
              <a:t>)</a:t>
            </a:r>
            <a:endParaRPr sz="450">
              <a:latin typeface="Noto Sans Mono"/>
              <a:cs typeface="Noto Sans Mo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56713" y="2111551"/>
            <a:ext cx="375285" cy="2724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270"/>
              </a:spcBef>
            </a:pPr>
            <a:r>
              <a:rPr sz="975" baseline="21367" dirty="0">
                <a:latin typeface="Noto Sans Mono"/>
                <a:cs typeface="Noto Sans Mono"/>
              </a:rPr>
              <a:t>r</a:t>
            </a:r>
            <a:r>
              <a:rPr sz="975" spc="359" baseline="21367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k-</a:t>
            </a:r>
            <a:r>
              <a:rPr sz="650" spc="-50" dirty="0">
                <a:latin typeface="Noto Sans Mono"/>
                <a:cs typeface="Noto Sans Mono"/>
              </a:rPr>
              <a:t>1</a:t>
            </a:r>
            <a:endParaRPr sz="650">
              <a:latin typeface="Noto Sans Mono"/>
              <a:cs typeface="Noto Sans Mono"/>
            </a:endParaRPr>
          </a:p>
          <a:p>
            <a:pPr marL="38100">
              <a:lnSpc>
                <a:spcPct val="100000"/>
              </a:lnSpc>
              <a:spcBef>
                <a:spcPts val="204"/>
              </a:spcBef>
            </a:pPr>
            <a:r>
              <a:rPr sz="650" spc="-50" dirty="0">
                <a:latin typeface="Noto Sans Mono"/>
                <a:cs typeface="Noto Sans Mono"/>
              </a:rPr>
              <a:t>N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8685" y="242883"/>
            <a:ext cx="1995170" cy="154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Lũ</a:t>
            </a:r>
            <a:r>
              <a:rPr sz="850" spc="-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lụt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so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với</a:t>
            </a:r>
            <a:r>
              <a:rPr sz="85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850" spc="-1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i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bộ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ngẫu</a:t>
            </a:r>
            <a:r>
              <a:rPr sz="85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10" dirty="0">
                <a:solidFill>
                  <a:srgbClr val="3333B3"/>
                </a:solidFill>
                <a:latin typeface="Noto Sans Mono"/>
                <a:cs typeface="Noto Sans Mono"/>
              </a:rPr>
              <a:t>nhiên</a:t>
            </a:r>
            <a:endParaRPr sz="850">
              <a:latin typeface="Noto Sans Mono"/>
              <a:cs typeface="Noto Sans 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678" y="3364029"/>
            <a:ext cx="1000760" cy="857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" dirty="0">
                <a:latin typeface="Noto Sans Mono"/>
                <a:cs typeface="Noto Sans Mono"/>
              </a:rPr>
              <a:t>Hệ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thống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ngang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hàng</a:t>
            </a:r>
            <a:r>
              <a:rPr sz="350" spc="-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không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có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cấu</a:t>
            </a:r>
            <a:r>
              <a:rPr sz="350" spc="-30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trúc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4754" y="1284345"/>
            <a:ext cx="78105" cy="1308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50" spc="-50" dirty="0">
                <a:latin typeface="Noto Sans Mono"/>
                <a:cs typeface="Noto Sans Mono"/>
              </a:rPr>
              <a:t>N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3399" y="17514"/>
            <a:ext cx="1049655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đ</a:t>
            </a:r>
            <a:r>
              <a:rPr sz="350" spc="-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ối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xứng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74340" y="1261806"/>
            <a:ext cx="1282700" cy="113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750" baseline="44444" dirty="0">
                <a:latin typeface="Noto Sans Mono"/>
                <a:cs typeface="Noto Sans Mono"/>
              </a:rPr>
              <a:t>r</a:t>
            </a:r>
            <a:r>
              <a:rPr sz="750" spc="217" baseline="4444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·R(k)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≥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1,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ta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sẽ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tìm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8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ược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87041" y="930018"/>
            <a:ext cx="1374140" cy="113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latin typeface="Noto Sans Mono"/>
                <a:cs typeface="Noto Sans Mono"/>
              </a:rPr>
              <a:t>k</a:t>
            </a:r>
            <a:r>
              <a:rPr sz="550" spc="2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1</a:t>
            </a:r>
            <a:r>
              <a:rPr sz="550" spc="3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sẽ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9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ạt</a:t>
            </a:r>
            <a:r>
              <a:rPr sz="550" spc="3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35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50" spc="3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Sau</a:t>
            </a:r>
            <a:r>
              <a:rPr sz="550" spc="3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bước,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826" y="541639"/>
            <a:ext cx="2125345" cy="96011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dirty="0">
                <a:solidFill>
                  <a:srgbClr val="3333B3"/>
                </a:solidFill>
                <a:latin typeface="Noto Sans Mono"/>
                <a:cs typeface="Noto Sans Mono"/>
              </a:rPr>
              <a:t>Lũ</a:t>
            </a:r>
            <a:r>
              <a:rPr sz="95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50" spc="-25" dirty="0">
                <a:solidFill>
                  <a:srgbClr val="3333B3"/>
                </a:solidFill>
                <a:latin typeface="Noto Sans Mono"/>
                <a:cs typeface="Noto Sans Mono"/>
              </a:rPr>
              <a:t>lụt</a:t>
            </a:r>
            <a:endParaRPr sz="950">
              <a:latin typeface="Noto Sans Mono"/>
              <a:cs typeface="Noto Sans Mono"/>
            </a:endParaRPr>
          </a:p>
          <a:p>
            <a:pPr marL="139700" marR="5080" indent="85725">
              <a:lnSpc>
                <a:spcPct val="186800"/>
              </a:lnSpc>
              <a:spcBef>
                <a:spcPts val="295"/>
              </a:spcBef>
              <a:buClr>
                <a:srgbClr val="3333B3"/>
              </a:buClr>
              <a:buChar char="•"/>
              <a:tabLst>
                <a:tab pos="225425" algn="l"/>
              </a:tabLst>
            </a:pPr>
            <a:r>
              <a:rPr sz="550" dirty="0">
                <a:latin typeface="Noto Sans Mono"/>
                <a:cs typeface="Noto Sans Mono"/>
              </a:rPr>
              <a:t>Lũ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lụt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ến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hàng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xóm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chọn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ngẫu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nhiên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3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số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R(k)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=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·(d</a:t>
            </a:r>
            <a:r>
              <a:rPr sz="550" spc="160" dirty="0">
                <a:latin typeface="Noto Sans Mono"/>
                <a:cs typeface="Noto Sans Mono"/>
              </a:rPr>
              <a:t>  </a:t>
            </a:r>
            <a:r>
              <a:rPr sz="550" spc="-25" dirty="0">
                <a:latin typeface="Noto Sans Mono"/>
                <a:cs typeface="Noto Sans Mono"/>
              </a:rPr>
              <a:t>1)</a:t>
            </a:r>
            <a:endParaRPr sz="550">
              <a:latin typeface="Noto Sans Mono"/>
              <a:cs typeface="Noto Sans Mono"/>
            </a:endParaRPr>
          </a:p>
          <a:p>
            <a:pPr marL="257810">
              <a:lnSpc>
                <a:spcPct val="100000"/>
              </a:lnSpc>
              <a:spcBef>
                <a:spcPts val="515"/>
              </a:spcBef>
            </a:pPr>
            <a:r>
              <a:rPr sz="550" dirty="0">
                <a:latin typeface="Noto Sans Mono"/>
                <a:cs typeface="Noto Sans Mono"/>
              </a:rPr>
              <a:t>(giả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sử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nhỏ).</a:t>
            </a:r>
            <a:endParaRPr sz="550">
              <a:latin typeface="Noto Sans Mono"/>
              <a:cs typeface="Noto Sans Mono"/>
            </a:endParaRPr>
          </a:p>
          <a:p>
            <a:pPr marL="225425" marR="201930" indent="-85725">
              <a:lnSpc>
                <a:spcPct val="151700"/>
              </a:lnSpc>
              <a:spcBef>
                <a:spcPts val="235"/>
              </a:spcBef>
              <a:buClr>
                <a:srgbClr val="3333B3"/>
              </a:buClr>
              <a:buChar char="•"/>
              <a:tabLst>
                <a:tab pos="255270" algn="l"/>
              </a:tabLst>
            </a:pP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nút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phân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số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r/N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dữ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liệu,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nếu 	</a:t>
            </a:r>
            <a:r>
              <a:rPr sz="550" dirty="0">
                <a:latin typeface="Noto Sans Mono"/>
                <a:cs typeface="Noto Sans Mono"/>
              </a:rPr>
              <a:t>mục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dữ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liệu.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524" y="1688652"/>
            <a:ext cx="3856354" cy="92900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dirty="0">
                <a:solidFill>
                  <a:srgbClr val="4D994D"/>
                </a:solidFill>
                <a:latin typeface="Noto Sans Mono"/>
                <a:cs typeface="Noto Sans Mono"/>
              </a:rPr>
              <a:t>So</a:t>
            </a:r>
            <a:r>
              <a:rPr sz="950" spc="50" dirty="0">
                <a:solidFill>
                  <a:srgbClr val="4D994D"/>
                </a:solidFill>
                <a:latin typeface="Noto Sans Mono"/>
                <a:cs typeface="Noto Sans Mono"/>
              </a:rPr>
              <a:t> </a:t>
            </a:r>
            <a:r>
              <a:rPr sz="950" spc="-20" dirty="0">
                <a:solidFill>
                  <a:srgbClr val="4D994D"/>
                </a:solidFill>
                <a:latin typeface="Noto Sans Mono"/>
                <a:cs typeface="Noto Sans Mono"/>
              </a:rPr>
              <a:t>sánh</a:t>
            </a:r>
            <a:endParaRPr sz="950">
              <a:latin typeface="Noto Sans Mono"/>
              <a:cs typeface="Noto Sans Mono"/>
            </a:endParaRPr>
          </a:p>
          <a:p>
            <a:pPr marL="231140" indent="-85725">
              <a:lnSpc>
                <a:spcPct val="100000"/>
              </a:lnSpc>
              <a:spcBef>
                <a:spcPts val="880"/>
              </a:spcBef>
              <a:buClr>
                <a:srgbClr val="3333B3"/>
              </a:buClr>
              <a:buChar char="•"/>
              <a:tabLst>
                <a:tab pos="231140" algn="l"/>
              </a:tabLst>
            </a:pPr>
            <a:r>
              <a:rPr sz="550" dirty="0">
                <a:latin typeface="Noto Sans Mono"/>
                <a:cs typeface="Noto Sans Mono"/>
              </a:rPr>
              <a:t>Nếu</a:t>
            </a:r>
            <a:r>
              <a:rPr sz="550" spc="3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r/N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=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0,001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thì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≈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1000</a:t>
            </a:r>
            <a:endParaRPr sz="5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Clr>
                <a:srgbClr val="3333B3"/>
              </a:buClr>
              <a:buFont typeface="Noto Sans Mono"/>
              <a:buChar char="•"/>
            </a:pPr>
            <a:endParaRPr sz="550">
              <a:latin typeface="Noto Sans Mono"/>
              <a:cs typeface="Noto Sans Mono"/>
            </a:endParaRPr>
          </a:p>
          <a:p>
            <a:pPr marL="231140" indent="-85725">
              <a:lnSpc>
                <a:spcPct val="100000"/>
              </a:lnSpc>
              <a:spcBef>
                <a:spcPts val="5"/>
              </a:spcBef>
              <a:buClr>
                <a:srgbClr val="3333B3"/>
              </a:buClr>
              <a:buChar char="•"/>
              <a:tabLst>
                <a:tab pos="231140" algn="l"/>
              </a:tabLst>
            </a:pP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ngập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lụt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=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10,k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=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4,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chúng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ta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tiếp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xúc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7290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nút.</a:t>
            </a:r>
            <a:endParaRPr sz="550">
              <a:latin typeface="Noto Sans Mono"/>
              <a:cs typeface="Noto Sans Mono"/>
            </a:endParaRPr>
          </a:p>
          <a:p>
            <a:pPr marL="230504" marR="5080" indent="-85725">
              <a:lnSpc>
                <a:spcPct val="182600"/>
              </a:lnSpc>
              <a:spcBef>
                <a:spcPts val="395"/>
              </a:spcBef>
              <a:buClr>
                <a:srgbClr val="3333B3"/>
              </a:buClr>
              <a:buChar char="•"/>
              <a:tabLst>
                <a:tab pos="264795" algn="l"/>
              </a:tabLst>
            </a:pPr>
            <a:r>
              <a:rPr sz="550" dirty="0">
                <a:latin typeface="Noto Sans Mono"/>
                <a:cs typeface="Noto Sans Mono"/>
              </a:rPr>
              <a:t>Đi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bộ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ngẫu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nhiên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hiệu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quả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hơn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trong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giao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tiếp,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nhưng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thể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mất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nhiều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thời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gian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hơn 	</a:t>
            </a:r>
            <a:r>
              <a:rPr sz="550" dirty="0">
                <a:latin typeface="Noto Sans Mono"/>
                <a:cs typeface="Noto Sans Mono"/>
              </a:rPr>
              <a:t>trước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khi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họ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tìm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ra</a:t>
            </a:r>
            <a:r>
              <a:rPr sz="550" spc="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kết</a:t>
            </a:r>
            <a:r>
              <a:rPr sz="550" spc="6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quả.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2323" y="223523"/>
            <a:ext cx="1433830" cy="166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Mạng</a:t>
            </a:r>
            <a:r>
              <a:rPr sz="900" spc="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siêu</a:t>
            </a:r>
            <a:r>
              <a:rPr sz="900" spc="8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ngang</a:t>
            </a:r>
            <a:r>
              <a:rPr sz="900" spc="8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spc="-20" dirty="0">
                <a:solidFill>
                  <a:srgbClr val="3333B3"/>
                </a:solidFill>
                <a:latin typeface="Noto Sans Mono"/>
                <a:cs typeface="Noto Sans Mono"/>
              </a:rPr>
              <a:t>hàng</a:t>
            </a:r>
            <a:endParaRPr sz="9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552" y="3366038"/>
            <a:ext cx="1329055" cy="831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300" dirty="0">
                <a:latin typeface="Noto Sans Mono"/>
                <a:cs typeface="Noto Sans Mono"/>
              </a:rPr>
              <a:t>Mạng</a:t>
            </a:r>
            <a:r>
              <a:rPr sz="300" spc="9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ngang</a:t>
            </a:r>
            <a:r>
              <a:rPr sz="300" spc="9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hàng</a:t>
            </a:r>
            <a:r>
              <a:rPr sz="300" spc="9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đ</a:t>
            </a:r>
            <a:r>
              <a:rPr sz="300" spc="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ược</a:t>
            </a:r>
            <a:r>
              <a:rPr sz="300" spc="9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tổ</a:t>
            </a:r>
            <a:r>
              <a:rPr sz="300" spc="9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chức</a:t>
            </a:r>
            <a:r>
              <a:rPr sz="300" spc="100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theo</a:t>
            </a:r>
            <a:r>
              <a:rPr sz="300" spc="9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hệ</a:t>
            </a:r>
            <a:r>
              <a:rPr sz="300" spc="9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thống</a:t>
            </a:r>
            <a:r>
              <a:rPr sz="300" spc="95" dirty="0">
                <a:latin typeface="Noto Sans Mono"/>
                <a:cs typeface="Noto Sans Mono"/>
              </a:rPr>
              <a:t> </a:t>
            </a:r>
            <a:r>
              <a:rPr sz="300" dirty="0">
                <a:latin typeface="Noto Sans Mono"/>
                <a:cs typeface="Noto Sans Mono"/>
              </a:rPr>
              <a:t>phân</a:t>
            </a:r>
            <a:r>
              <a:rPr sz="300" spc="95" dirty="0">
                <a:latin typeface="Noto Sans Mono"/>
                <a:cs typeface="Noto Sans Mono"/>
              </a:rPr>
              <a:t> </a:t>
            </a:r>
            <a:r>
              <a:rPr sz="300" spc="-25" dirty="0">
                <a:latin typeface="Noto Sans Mono"/>
                <a:cs typeface="Noto Sans Mono"/>
              </a:rPr>
              <a:t>cấp</a:t>
            </a:r>
            <a:endParaRPr sz="30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3399" y="17514"/>
            <a:ext cx="1049655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đ</a:t>
            </a:r>
            <a:r>
              <a:rPr sz="350" spc="-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ối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xứng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598" y="534247"/>
            <a:ext cx="3865245" cy="930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Nước</a:t>
            </a:r>
            <a:r>
              <a:rPr sz="80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spc="-25" dirty="0">
                <a:solidFill>
                  <a:srgbClr val="3333B3"/>
                </a:solidFill>
                <a:latin typeface="Noto Sans Mono"/>
                <a:cs typeface="Noto Sans Mono"/>
              </a:rPr>
              <a:t>hoa</a:t>
            </a:r>
            <a:endParaRPr sz="80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550" dirty="0">
                <a:latin typeface="Noto Sans Mono"/>
                <a:cs typeface="Noto Sans Mono"/>
              </a:rPr>
              <a:t>Đôi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khi,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việc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phá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vỡ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tính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ối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xứng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trong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mạng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ngang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hàng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thuần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túy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là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iều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hợp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lý:</a:t>
            </a:r>
            <a:endParaRPr sz="550">
              <a:latin typeface="Noto Sans Mono"/>
              <a:cs typeface="Noto Sans Mono"/>
            </a:endParaRPr>
          </a:p>
          <a:p>
            <a:pPr marL="211454" marR="230504" indent="-71755">
              <a:lnSpc>
                <a:spcPct val="223100"/>
              </a:lnSpc>
              <a:spcBef>
                <a:spcPts val="350"/>
              </a:spcBef>
              <a:buClr>
                <a:srgbClr val="3333B3"/>
              </a:buClr>
              <a:buChar char="•"/>
              <a:tabLst>
                <a:tab pos="260985" algn="l"/>
              </a:tabLst>
            </a:pPr>
            <a:r>
              <a:rPr sz="450" dirty="0">
                <a:latin typeface="Noto Sans Mono"/>
                <a:cs typeface="Noto Sans Mono"/>
              </a:rPr>
              <a:t>Khi</a:t>
            </a:r>
            <a:r>
              <a:rPr sz="450" spc="1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tìm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kiếm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trong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các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hệ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thống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P2P</a:t>
            </a:r>
            <a:r>
              <a:rPr sz="450" spc="1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không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có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cấu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trúc,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việc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có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máy</a:t>
            </a:r>
            <a:r>
              <a:rPr sz="450" spc="1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chủ</a:t>
            </a:r>
            <a:r>
              <a:rPr sz="450" spc="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chỉ</a:t>
            </a:r>
            <a:r>
              <a:rPr sz="450" spc="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C80000"/>
                </a:solidFill>
                <a:latin typeface="Noto Sans Mono"/>
                <a:cs typeface="Noto Sans Mono"/>
              </a:rPr>
              <a:t>mục</a:t>
            </a:r>
            <a:r>
              <a:rPr sz="450" spc="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sẽ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cải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thiện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spc="-20" dirty="0">
                <a:latin typeface="Noto Sans Mono"/>
                <a:cs typeface="Noto Sans Mono"/>
              </a:rPr>
              <a:t>hiệu 	</a:t>
            </a:r>
            <a:r>
              <a:rPr sz="450" dirty="0">
                <a:latin typeface="Noto Sans Mono"/>
                <a:cs typeface="Noto Sans Mono"/>
              </a:rPr>
              <a:t>suất</a:t>
            </a:r>
            <a:r>
              <a:rPr sz="450" spc="5" dirty="0">
                <a:latin typeface="Noto Sans Mono"/>
                <a:cs typeface="Noto Sans Mono"/>
              </a:rPr>
              <a:t> </a:t>
            </a:r>
            <a:r>
              <a:rPr sz="45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45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Quyết</a:t>
            </a:r>
            <a:r>
              <a:rPr sz="450" spc="1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đ</a:t>
            </a:r>
            <a:r>
              <a:rPr sz="450" spc="-7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ịnh</a:t>
            </a:r>
            <a:r>
              <a:rPr sz="450" spc="1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nơi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lưu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spc="-25" dirty="0">
                <a:latin typeface="Noto Sans Mono"/>
                <a:cs typeface="Noto Sans Mono"/>
              </a:rPr>
              <a:t>trữ</a:t>
            </a:r>
            <a:endParaRPr sz="4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50">
              <a:latin typeface="Noto Sans Mono"/>
              <a:cs typeface="Noto Sans Mono"/>
            </a:endParaRPr>
          </a:p>
          <a:p>
            <a:pPr marL="140335">
              <a:lnSpc>
                <a:spcPct val="100000"/>
              </a:lnSpc>
            </a:pPr>
            <a:r>
              <a:rPr sz="450" dirty="0">
                <a:latin typeface="Noto Sans Mono"/>
                <a:cs typeface="Noto Sans Mono"/>
              </a:rPr>
              <a:t>dữ</a:t>
            </a:r>
            <a:r>
              <a:rPr sz="450" spc="15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liệu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thường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có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thể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đ</a:t>
            </a:r>
            <a:r>
              <a:rPr sz="450" spc="-8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ược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thực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hiện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hiệu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quả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hơn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dirty="0">
                <a:latin typeface="Noto Sans Mono"/>
                <a:cs typeface="Noto Sans Mono"/>
              </a:rPr>
              <a:t>thông</a:t>
            </a:r>
            <a:r>
              <a:rPr sz="450" spc="20" dirty="0">
                <a:latin typeface="Noto Sans Mono"/>
                <a:cs typeface="Noto Sans Mono"/>
              </a:rPr>
              <a:t> </a:t>
            </a:r>
            <a:r>
              <a:rPr sz="450" spc="-25" dirty="0">
                <a:latin typeface="Noto Sans Mono"/>
                <a:cs typeface="Noto Sans Mono"/>
              </a:rPr>
              <a:t>qua</a:t>
            </a:r>
            <a:endParaRPr sz="450">
              <a:latin typeface="Noto Sans Mono"/>
              <a:cs typeface="Noto Sans Mono"/>
            </a:endParaRPr>
          </a:p>
          <a:p>
            <a:pPr marL="259715">
              <a:lnSpc>
                <a:spcPct val="100000"/>
              </a:lnSpc>
              <a:spcBef>
                <a:spcPts val="590"/>
              </a:spcBef>
            </a:pPr>
            <a:r>
              <a:rPr sz="350" dirty="0">
                <a:solidFill>
                  <a:srgbClr val="C80000"/>
                </a:solidFill>
                <a:latin typeface="Noto Sans Mono"/>
                <a:cs typeface="Noto Sans Mono"/>
              </a:rPr>
              <a:t>người môi </a:t>
            </a:r>
            <a:r>
              <a:rPr sz="350" spc="-10" dirty="0">
                <a:solidFill>
                  <a:srgbClr val="C80000"/>
                </a:solidFill>
                <a:latin typeface="Noto Sans Mono"/>
                <a:cs typeface="Noto Sans Mono"/>
              </a:rPr>
              <a:t>giới.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2323" y="211505"/>
            <a:ext cx="18719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Hợp</a:t>
            </a:r>
            <a:r>
              <a:rPr sz="90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tác:</a:t>
            </a:r>
            <a:r>
              <a:rPr sz="90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Vụ</a:t>
            </a:r>
            <a:r>
              <a:rPr sz="90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việc</a:t>
            </a:r>
            <a:r>
              <a:rPr sz="90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spc="-10" dirty="0">
                <a:solidFill>
                  <a:srgbClr val="3333B3"/>
                </a:solidFill>
                <a:latin typeface="Noto Sans Mono"/>
                <a:cs typeface="Noto Sans Mono"/>
              </a:rPr>
              <a:t>BitTorrent</a:t>
            </a:r>
            <a:endParaRPr sz="9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94" y="3364155"/>
            <a:ext cx="50038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Ví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dụ: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BitTorrent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3399" y="20448"/>
            <a:ext cx="1049655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phân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tán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đ</a:t>
            </a:r>
            <a:r>
              <a:rPr sz="350" spc="-5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ối</a:t>
            </a:r>
            <a:r>
              <a:rPr sz="350" spc="2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0" dirty="0">
                <a:solidFill>
                  <a:srgbClr val="FFFFFF"/>
                </a:solidFill>
                <a:latin typeface="Noto Sans Mono"/>
                <a:cs typeface="Noto Sans Mono"/>
              </a:rPr>
              <a:t>xứng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952" y="561545"/>
            <a:ext cx="3638550" cy="956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Nguyên</a:t>
            </a:r>
            <a:r>
              <a:rPr sz="60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tắc:</a:t>
            </a:r>
            <a:r>
              <a:rPr sz="60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tìm</a:t>
            </a:r>
            <a:r>
              <a:rPr sz="60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kiếm</a:t>
            </a:r>
            <a:r>
              <a:rPr sz="600" spc="-1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một</a:t>
            </a:r>
            <a:r>
              <a:rPr sz="60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tập</a:t>
            </a:r>
            <a:r>
              <a:rPr sz="600" spc="-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tin</a:t>
            </a:r>
            <a:r>
              <a:rPr sz="600" spc="-1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spc="-50" dirty="0">
                <a:solidFill>
                  <a:srgbClr val="3333B3"/>
                </a:solidFill>
                <a:latin typeface="Noto Sans Mono"/>
                <a:cs typeface="Noto Sans Mono"/>
              </a:rPr>
              <a:t>F</a:t>
            </a:r>
            <a:endParaRPr sz="6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600">
              <a:latin typeface="Noto Sans Mono"/>
              <a:cs typeface="Noto Sans Mono"/>
            </a:endParaRPr>
          </a:p>
          <a:p>
            <a:pPr marL="218440" indent="-78740">
              <a:lnSpc>
                <a:spcPct val="100000"/>
              </a:lnSpc>
              <a:spcBef>
                <a:spcPts val="5"/>
              </a:spcBef>
              <a:buClr>
                <a:srgbClr val="3333B3"/>
              </a:buClr>
              <a:buChar char="•"/>
              <a:tabLst>
                <a:tab pos="218440" algn="l"/>
                <a:tab pos="1790064" algn="l"/>
              </a:tabLst>
            </a:pPr>
            <a:r>
              <a:rPr sz="500" dirty="0">
                <a:latin typeface="Noto Sans Mono"/>
                <a:cs typeface="Noto Sans Mono"/>
              </a:rPr>
              <a:t>Tra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cứu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tệp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tại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thư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mục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toàn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cục</a:t>
            </a:r>
            <a:r>
              <a:rPr sz="500" dirty="0">
                <a:latin typeface="Noto Sans Mono"/>
                <a:cs typeface="Noto Sans Mono"/>
              </a:rPr>
              <a:t>	trả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về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tệp</a:t>
            </a:r>
            <a:r>
              <a:rPr sz="500" spc="3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torrent</a:t>
            </a:r>
            <a:r>
              <a:rPr sz="500" spc="4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50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Tệp</a:t>
            </a:r>
            <a:endParaRPr sz="500">
              <a:latin typeface="Noto Sans Mono"/>
              <a:cs typeface="Noto Sans Mono"/>
            </a:endParaRPr>
          </a:p>
          <a:p>
            <a:pPr marL="258445" marR="176530" indent="-118745">
              <a:lnSpc>
                <a:spcPct val="199900"/>
              </a:lnSpc>
              <a:spcBef>
                <a:spcPts val="5"/>
              </a:spcBef>
            </a:pPr>
            <a:r>
              <a:rPr sz="500" dirty="0">
                <a:latin typeface="Noto Sans Mono"/>
                <a:cs typeface="Noto Sans Mono"/>
              </a:rPr>
              <a:t>torrent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chứa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tham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chiếu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ến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trình</a:t>
            </a:r>
            <a:r>
              <a:rPr sz="500" spc="4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theo</a:t>
            </a:r>
            <a:r>
              <a:rPr sz="500" spc="4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dõi:</a:t>
            </a:r>
            <a:r>
              <a:rPr sz="500" spc="4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máy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chủ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lưu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giữ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thông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tin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chính</a:t>
            </a:r>
            <a:r>
              <a:rPr sz="500" spc="4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xác </a:t>
            </a:r>
            <a:r>
              <a:rPr sz="500" dirty="0">
                <a:latin typeface="Noto Sans Mono"/>
                <a:cs typeface="Noto Sans Mono"/>
              </a:rPr>
              <a:t>tài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khoản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của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nút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hoạt</a:t>
            </a:r>
            <a:r>
              <a:rPr sz="50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500" spc="-7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ộng</a:t>
            </a:r>
            <a:r>
              <a:rPr sz="500" spc="4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(các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khối)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F.</a:t>
            </a:r>
            <a:endParaRPr sz="500">
              <a:latin typeface="Noto Sans Mono"/>
              <a:cs typeface="Noto Sans Mono"/>
            </a:endParaRPr>
          </a:p>
          <a:p>
            <a:pPr marL="218440" marR="5080" indent="-78740">
              <a:lnSpc>
                <a:spcPct val="200800"/>
              </a:lnSpc>
              <a:spcBef>
                <a:spcPts val="5"/>
              </a:spcBef>
              <a:buClr>
                <a:srgbClr val="3333B3"/>
              </a:buClr>
              <a:buChar char="•"/>
              <a:tabLst>
                <a:tab pos="257175" algn="l"/>
              </a:tabLst>
            </a:pPr>
            <a:r>
              <a:rPr sz="500" dirty="0">
                <a:latin typeface="Noto Sans Mono"/>
                <a:cs typeface="Noto Sans Mono"/>
              </a:rPr>
              <a:t>P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3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thể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tham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gia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bầy</a:t>
            </a:r>
            <a:r>
              <a:rPr sz="500" spc="3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500" spc="-7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àn,</a:t>
            </a:r>
            <a:r>
              <a:rPr sz="500" spc="3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nhận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phần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miễn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phí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và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sau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ó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trao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ổi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bản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sao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của 	</a:t>
            </a:r>
            <a:r>
              <a:rPr sz="500" dirty="0">
                <a:latin typeface="Noto Sans Mono"/>
                <a:cs typeface="Noto Sans Mono"/>
              </a:rPr>
              <a:t>phần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ó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ể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lấy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phần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khác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với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người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bạn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Q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cũng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trong</a:t>
            </a:r>
            <a:r>
              <a:rPr sz="500" spc="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bầy</a:t>
            </a:r>
            <a:r>
              <a:rPr sz="500" spc="3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7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àn.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8116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2323" y="231830"/>
            <a:ext cx="114998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Điện</a:t>
            </a:r>
            <a:r>
              <a:rPr sz="8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toán</a:t>
            </a:r>
            <a:r>
              <a:rPr sz="8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800" spc="-10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ám</a:t>
            </a:r>
            <a:r>
              <a:rPr sz="800" spc="9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spc="-25" dirty="0">
                <a:solidFill>
                  <a:srgbClr val="3333B3"/>
                </a:solidFill>
                <a:latin typeface="Noto Sans Mono"/>
                <a:cs typeface="Noto Sans Mono"/>
              </a:rPr>
              <a:t>mây</a:t>
            </a:r>
            <a:endParaRPr sz="8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44" y="3363761"/>
            <a:ext cx="494030" cy="857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" dirty="0">
                <a:latin typeface="Noto Sans Mono"/>
                <a:cs typeface="Noto Sans Mono"/>
              </a:rPr>
              <a:t>Điện</a:t>
            </a:r>
            <a:r>
              <a:rPr sz="350" spc="-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toán</a:t>
            </a:r>
            <a:r>
              <a:rPr sz="350" spc="-15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đ</a:t>
            </a:r>
            <a:r>
              <a:rPr sz="350" spc="-7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ám</a:t>
            </a:r>
            <a:r>
              <a:rPr sz="350" spc="-15" dirty="0">
                <a:latin typeface="Noto Sans Mono"/>
                <a:cs typeface="Noto Sans Mono"/>
              </a:rPr>
              <a:t> </a:t>
            </a:r>
            <a:r>
              <a:rPr sz="350" spc="-25" dirty="0">
                <a:latin typeface="Noto Sans Mono"/>
                <a:cs typeface="Noto Sans Mono"/>
              </a:rPr>
              <a:t>mây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4366" y="17514"/>
            <a:ext cx="6400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lai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44366" y="17514"/>
            <a:ext cx="6400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lai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44" y="3363761"/>
            <a:ext cx="494030" cy="857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" dirty="0">
                <a:latin typeface="Noto Sans Mono"/>
                <a:cs typeface="Noto Sans Mono"/>
              </a:rPr>
              <a:t>Điện</a:t>
            </a:r>
            <a:r>
              <a:rPr sz="350" spc="-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toán</a:t>
            </a:r>
            <a:r>
              <a:rPr sz="350" spc="-15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đ</a:t>
            </a:r>
            <a:r>
              <a:rPr sz="350" spc="-7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ám</a:t>
            </a:r>
            <a:r>
              <a:rPr sz="350" spc="-15" dirty="0">
                <a:latin typeface="Noto Sans Mono"/>
                <a:cs typeface="Noto Sans Mono"/>
              </a:rPr>
              <a:t> </a:t>
            </a:r>
            <a:r>
              <a:rPr sz="350" spc="-25" dirty="0">
                <a:latin typeface="Noto Sans Mono"/>
                <a:cs typeface="Noto Sans Mono"/>
              </a:rPr>
              <a:t>mây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323" y="231830"/>
            <a:ext cx="4092575" cy="2205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Điện</a:t>
            </a:r>
            <a:r>
              <a:rPr sz="8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toán</a:t>
            </a:r>
            <a:r>
              <a:rPr sz="8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800" spc="-10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dirty="0">
                <a:solidFill>
                  <a:srgbClr val="3333B3"/>
                </a:solidFill>
                <a:latin typeface="Noto Sans Mono"/>
                <a:cs typeface="Noto Sans Mono"/>
              </a:rPr>
              <a:t>ám</a:t>
            </a:r>
            <a:r>
              <a:rPr sz="800" spc="9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00" spc="-25" dirty="0">
                <a:solidFill>
                  <a:srgbClr val="3333B3"/>
                </a:solidFill>
                <a:latin typeface="Noto Sans Mono"/>
                <a:cs typeface="Noto Sans Mono"/>
              </a:rPr>
              <a:t>mây</a:t>
            </a:r>
            <a:endParaRPr sz="8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Noto Sans Mono"/>
              <a:cs typeface="Noto Sans Mono"/>
            </a:endParaRPr>
          </a:p>
          <a:p>
            <a:pPr marL="266065">
              <a:lnSpc>
                <a:spcPct val="100000"/>
              </a:lnSpc>
            </a:pPr>
            <a:r>
              <a:rPr sz="750" dirty="0">
                <a:solidFill>
                  <a:srgbClr val="3333B3"/>
                </a:solidFill>
                <a:latin typeface="Noto Sans Mono"/>
                <a:cs typeface="Noto Sans Mono"/>
              </a:rPr>
              <a:t>Phân biệt bốn </a:t>
            </a:r>
            <a:r>
              <a:rPr sz="750" spc="-25" dirty="0">
                <a:solidFill>
                  <a:srgbClr val="3333B3"/>
                </a:solidFill>
                <a:latin typeface="Noto Sans Mono"/>
                <a:cs typeface="Noto Sans Mono"/>
              </a:rPr>
              <a:t>lớp</a:t>
            </a:r>
            <a:endParaRPr sz="750">
              <a:latin typeface="Noto Sans Mono"/>
              <a:cs typeface="Noto Sans Mono"/>
            </a:endParaRPr>
          </a:p>
          <a:p>
            <a:pPr marL="476884" marR="5080" indent="-81915">
              <a:lnSpc>
                <a:spcPct val="182500"/>
              </a:lnSpc>
              <a:spcBef>
                <a:spcPts val="520"/>
              </a:spcBef>
              <a:buClr>
                <a:srgbClr val="3333B3"/>
              </a:buClr>
              <a:buChar char="•"/>
              <a:tabLst>
                <a:tab pos="516890" algn="l"/>
              </a:tabLst>
            </a:pP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Phần</a:t>
            </a:r>
            <a:r>
              <a:rPr sz="550" spc="-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cứng:</a:t>
            </a:r>
            <a:r>
              <a:rPr sz="550" spc="-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Bộ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xử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lý,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bộ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ịnh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tuyến,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hệ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thống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nguồn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làm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mát.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Khách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hàng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thường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không 	</a:t>
            </a:r>
            <a:r>
              <a:rPr sz="550" dirty="0">
                <a:latin typeface="Noto Sans Mono"/>
                <a:cs typeface="Noto Sans Mono"/>
              </a:rPr>
              <a:t>bao</a:t>
            </a:r>
            <a:r>
              <a:rPr sz="550" spc="-1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giờ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nhìn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thấy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những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thứ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này.</a:t>
            </a:r>
            <a:endParaRPr sz="550">
              <a:latin typeface="Noto Sans Mono"/>
              <a:cs typeface="Noto Sans Mono"/>
            </a:endParaRPr>
          </a:p>
          <a:p>
            <a:pPr marL="476884" marR="780415" indent="-81915">
              <a:lnSpc>
                <a:spcPct val="182600"/>
              </a:lnSpc>
              <a:spcBef>
                <a:spcPts val="395"/>
              </a:spcBef>
              <a:buClr>
                <a:srgbClr val="3333B3"/>
              </a:buClr>
              <a:buChar char="•"/>
              <a:tabLst>
                <a:tab pos="513715" algn="l"/>
              </a:tabLst>
            </a:pP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Cơ</a:t>
            </a:r>
            <a:r>
              <a:rPr sz="550" spc="-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sở</a:t>
            </a:r>
            <a:r>
              <a:rPr sz="550" spc="-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hạ</a:t>
            </a:r>
            <a:r>
              <a:rPr sz="550" spc="-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tầng:</a:t>
            </a:r>
            <a:r>
              <a:rPr sz="550" spc="-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Triển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khai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kỹ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thuật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ảo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hóa.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Phát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triển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xung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quanh 	</a:t>
            </a:r>
            <a:r>
              <a:rPr sz="550" dirty="0">
                <a:latin typeface="Noto Sans Mono"/>
                <a:cs typeface="Noto Sans Mono"/>
              </a:rPr>
              <a:t>phân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bổ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quản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lý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thiết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bị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lưu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trữ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ảo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máy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chủ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ảo.</a:t>
            </a:r>
            <a:endParaRPr sz="5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Font typeface="Noto Sans Mono"/>
              <a:buChar char="•"/>
            </a:pPr>
            <a:endParaRPr sz="550">
              <a:latin typeface="Noto Sans Mono"/>
              <a:cs typeface="Noto Sans Mono"/>
            </a:endParaRPr>
          </a:p>
          <a:p>
            <a:pPr marL="459740" indent="-64135">
              <a:lnSpc>
                <a:spcPct val="100000"/>
              </a:lnSpc>
              <a:buClr>
                <a:srgbClr val="3333B3"/>
              </a:buClr>
              <a:buChar char="•"/>
              <a:tabLst>
                <a:tab pos="459740" algn="l"/>
              </a:tabLst>
            </a:pP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	Nền</a:t>
            </a:r>
            <a:r>
              <a:rPr sz="400" spc="7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solidFill>
                  <a:srgbClr val="C80000"/>
                </a:solidFill>
                <a:latin typeface="Noto Sans Mono"/>
                <a:cs typeface="Noto Sans Mono"/>
              </a:rPr>
              <a:t>tảng:</a:t>
            </a:r>
            <a:r>
              <a:rPr sz="400" spc="7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Cung</a:t>
            </a:r>
            <a:r>
              <a:rPr sz="400" spc="8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cấp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khả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năng</a:t>
            </a:r>
            <a:r>
              <a:rPr sz="400" spc="8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trừu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tượng</a:t>
            </a:r>
            <a:r>
              <a:rPr sz="400" spc="8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hóa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cấp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cao</a:t>
            </a:r>
            <a:r>
              <a:rPr sz="400" spc="8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hơn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cho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mục</a:t>
            </a:r>
            <a:r>
              <a:rPr sz="400" spc="8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đ</a:t>
            </a:r>
            <a:r>
              <a:rPr sz="400" spc="-3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ích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lưu</a:t>
            </a:r>
            <a:r>
              <a:rPr sz="400" spc="8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trữ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và</a:t>
            </a:r>
            <a:r>
              <a:rPr sz="400" spc="80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các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mục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đ</a:t>
            </a:r>
            <a:r>
              <a:rPr sz="400" spc="-2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ích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dirty="0">
                <a:latin typeface="Noto Sans Mono"/>
                <a:cs typeface="Noto Sans Mono"/>
              </a:rPr>
              <a:t>tương</a:t>
            </a:r>
            <a:r>
              <a:rPr sz="400" spc="75" dirty="0">
                <a:latin typeface="Noto Sans Mono"/>
                <a:cs typeface="Noto Sans Mono"/>
              </a:rPr>
              <a:t> </a:t>
            </a:r>
            <a:r>
              <a:rPr sz="400" spc="-25" dirty="0">
                <a:latin typeface="Noto Sans Mono"/>
                <a:cs typeface="Noto Sans Mono"/>
              </a:rPr>
              <a:t>tự.</a:t>
            </a:r>
            <a:endParaRPr sz="400">
              <a:latin typeface="Noto Sans Mono"/>
              <a:cs typeface="Noto Sans Mono"/>
            </a:endParaRPr>
          </a:p>
          <a:p>
            <a:pPr marL="510540" marR="60960" indent="8255" algn="just">
              <a:lnSpc>
                <a:spcPct val="182600"/>
              </a:lnSpc>
              <a:spcBef>
                <a:spcPts val="30"/>
              </a:spcBef>
            </a:pPr>
            <a:r>
              <a:rPr sz="550" dirty="0">
                <a:latin typeface="Noto Sans Mono"/>
                <a:cs typeface="Noto Sans Mono"/>
              </a:rPr>
              <a:t>Ví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dụ: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Hệ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thống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lưu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trữ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Amazon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S3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cung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cấp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API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cho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tệp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(đ</a:t>
            </a:r>
            <a:r>
              <a:rPr sz="550" spc="-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tạo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cục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bộ)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ể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sắp xếp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lưu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trữ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trong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các</a:t>
            </a:r>
            <a:r>
              <a:rPr sz="5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thùng.</a:t>
            </a:r>
            <a:endParaRPr sz="550">
              <a:latin typeface="Noto Sans Mono"/>
              <a:cs typeface="Noto Sans Mono"/>
            </a:endParaRPr>
          </a:p>
          <a:p>
            <a:pPr marL="476884" marR="26034" indent="-81915" algn="just">
              <a:lnSpc>
                <a:spcPct val="182600"/>
              </a:lnSpc>
              <a:spcBef>
                <a:spcPts val="400"/>
              </a:spcBef>
              <a:buClr>
                <a:srgbClr val="3333B3"/>
              </a:buClr>
              <a:buChar char="•"/>
              <a:tabLst>
                <a:tab pos="513080" algn="l"/>
              </a:tabLst>
            </a:pP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Ứng</a:t>
            </a:r>
            <a:r>
              <a:rPr sz="550" spc="-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dụng:</a:t>
            </a:r>
            <a:r>
              <a:rPr sz="550" spc="-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ứng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dụng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thực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tế,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chẳng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hạn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như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bộ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ứng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dụng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văn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phòng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(bộ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xử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lý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văn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bản, 	ứng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dụng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bảng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tính,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ứng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dụng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trình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bày).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Tương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tự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như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bộ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ứng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dụng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i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kèm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hệ</a:t>
            </a:r>
            <a:r>
              <a:rPr sz="550" spc="-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iều 	hành.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1863" y="553651"/>
            <a:ext cx="3850640" cy="440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20"/>
              </a:spcBef>
            </a:pPr>
            <a:r>
              <a:rPr sz="550" spc="-10" dirty="0">
                <a:solidFill>
                  <a:srgbClr val="3333B3"/>
                </a:solidFill>
                <a:latin typeface="Noto Sans Mono"/>
                <a:cs typeface="Noto Sans Mono"/>
              </a:rPr>
              <a:t>Essence</a:t>
            </a:r>
            <a:endParaRPr sz="550">
              <a:latin typeface="Noto Sans Mono"/>
              <a:cs typeface="Noto Sans Mono"/>
            </a:endParaRPr>
          </a:p>
          <a:p>
            <a:pPr marL="15240" marR="5080" indent="-3175">
              <a:lnSpc>
                <a:spcPct val="182600"/>
              </a:lnSpc>
              <a:spcBef>
                <a:spcPts val="170"/>
              </a:spcBef>
            </a:pPr>
            <a:r>
              <a:rPr sz="550" dirty="0">
                <a:latin typeface="Noto Sans Mono"/>
                <a:cs typeface="Noto Sans Mono"/>
              </a:rPr>
              <a:t>Systems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triển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khai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trên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Internet,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nơi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các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máy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chủ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ặt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ở</a:t>
            </a:r>
            <a:r>
              <a:rPr sz="5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rìa</a:t>
            </a:r>
            <a:r>
              <a:rPr sz="5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mạng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: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ranh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giới </a:t>
            </a:r>
            <a:r>
              <a:rPr sz="550" dirty="0">
                <a:latin typeface="Noto Sans Mono"/>
                <a:cs typeface="Noto Sans Mono"/>
              </a:rPr>
              <a:t>giữa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mạng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doanh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nghiệp</a:t>
            </a:r>
            <a:r>
              <a:rPr sz="550" spc="9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Internet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thực</a:t>
            </a:r>
            <a:r>
              <a:rPr sz="550" spc="9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tế.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639" y="3361225"/>
            <a:ext cx="65913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đ</a:t>
            </a:r>
            <a:r>
              <a:rPr sz="350" spc="-5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ám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mây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biên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4366" y="17514"/>
            <a:ext cx="6400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lai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685" y="239998"/>
            <a:ext cx="15354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Kiến trúc máy chủ </a:t>
            </a:r>
            <a:r>
              <a:rPr sz="900" spc="-20" dirty="0">
                <a:solidFill>
                  <a:srgbClr val="3333B3"/>
                </a:solidFill>
                <a:latin typeface="Noto Sans Mono"/>
                <a:cs typeface="Noto Sans Mono"/>
              </a:rPr>
              <a:t>biên</a:t>
            </a:r>
            <a:endParaRPr sz="9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9140" y="239546"/>
            <a:ext cx="2875280" cy="450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Lý do cần có cơ sở hạ tầng </a:t>
            </a:r>
            <a:r>
              <a:rPr sz="900" spc="-20" dirty="0">
                <a:solidFill>
                  <a:srgbClr val="3333B3"/>
                </a:solidFill>
                <a:latin typeface="Noto Sans Mono"/>
                <a:cs typeface="Noto Sans Mono"/>
              </a:rPr>
              <a:t>biên</a:t>
            </a:r>
            <a:endParaRPr sz="9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900">
              <a:latin typeface="Noto Sans Mono"/>
              <a:cs typeface="Noto Sans Mono"/>
            </a:endParaRPr>
          </a:p>
          <a:p>
            <a:pPr marL="255904">
              <a:lnSpc>
                <a:spcPct val="100000"/>
              </a:lnSpc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Những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lập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luận</a:t>
            </a:r>
            <a:r>
              <a:rPr sz="7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phổ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biến</a:t>
            </a:r>
            <a:r>
              <a:rPr sz="7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(và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thường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bị</a:t>
            </a:r>
            <a:r>
              <a:rPr sz="700" spc="5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hiểu</a:t>
            </a:r>
            <a:r>
              <a:rPr sz="700" spc="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spc="-20" dirty="0">
                <a:solidFill>
                  <a:srgbClr val="3333B3"/>
                </a:solidFill>
                <a:latin typeface="Noto Sans Mono"/>
                <a:cs typeface="Noto Sans Mono"/>
              </a:rPr>
              <a:t>sai)</a:t>
            </a:r>
            <a:endParaRPr sz="7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639" y="3361225"/>
            <a:ext cx="65913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đ</a:t>
            </a:r>
            <a:r>
              <a:rPr sz="350" spc="-5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ám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mây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biên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4366" y="17514"/>
            <a:ext cx="6400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lai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263" y="801410"/>
            <a:ext cx="3694429" cy="14331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93980" indent="-81280">
              <a:lnSpc>
                <a:spcPct val="100000"/>
              </a:lnSpc>
              <a:spcBef>
                <a:spcPts val="140"/>
              </a:spcBef>
              <a:buChar char="•"/>
              <a:tabLst>
                <a:tab pos="93980" algn="l"/>
              </a:tabLst>
            </a:pP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Độ</a:t>
            </a:r>
            <a:r>
              <a:rPr sz="5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trễ</a:t>
            </a:r>
            <a:r>
              <a:rPr sz="5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và</a:t>
            </a:r>
            <a:r>
              <a:rPr sz="5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băng</a:t>
            </a:r>
            <a:r>
              <a:rPr sz="5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thông:</a:t>
            </a:r>
            <a:r>
              <a:rPr sz="5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Đặc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biệt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quan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trọng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ối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với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số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ứng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dụng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thời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gian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thực</a:t>
            </a:r>
            <a:endParaRPr sz="500">
              <a:latin typeface="Noto Sans Mono"/>
              <a:cs typeface="Noto Sans Mono"/>
            </a:endParaRPr>
          </a:p>
          <a:p>
            <a:pPr marL="133350" marR="82550" indent="-3175">
              <a:lnSpc>
                <a:spcPct val="200800"/>
              </a:lnSpc>
            </a:pPr>
            <a:r>
              <a:rPr sz="500" dirty="0">
                <a:latin typeface="Noto Sans Mono"/>
                <a:cs typeface="Noto Sans Mono"/>
              </a:rPr>
              <a:t>ứng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dụng,</a:t>
            </a:r>
            <a:r>
              <a:rPr sz="500" spc="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chẳng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hạn</a:t>
            </a:r>
            <a:r>
              <a:rPr sz="500" spc="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như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ứng</a:t>
            </a:r>
            <a:r>
              <a:rPr sz="500" spc="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dụng</a:t>
            </a:r>
            <a:r>
              <a:rPr sz="500" spc="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thực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tế</a:t>
            </a:r>
            <a:r>
              <a:rPr sz="500" spc="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tăng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cường/thực</a:t>
            </a:r>
            <a:r>
              <a:rPr sz="500" spc="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tế</a:t>
            </a:r>
            <a:r>
              <a:rPr sz="500" spc="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ảo.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Nhiều</a:t>
            </a:r>
            <a:r>
              <a:rPr sz="500" spc="10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người</a:t>
            </a:r>
            <a:r>
              <a:rPr sz="500" spc="9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3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ánh</a:t>
            </a:r>
            <a:r>
              <a:rPr sz="500" spc="100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giá </a:t>
            </a:r>
            <a:r>
              <a:rPr sz="500" dirty="0">
                <a:latin typeface="Noto Sans Mono"/>
                <a:cs typeface="Noto Sans Mono"/>
              </a:rPr>
              <a:t>thấp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ộ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trễ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và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băng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thông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ến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ám</a:t>
            </a:r>
            <a:r>
              <a:rPr sz="500" spc="75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mây.</a:t>
            </a:r>
            <a:endParaRPr sz="500">
              <a:latin typeface="Noto Sans Mono"/>
              <a:cs typeface="Noto Sans Mono"/>
            </a:endParaRPr>
          </a:p>
          <a:p>
            <a:pPr marL="93345" marR="27305" indent="-81280">
              <a:lnSpc>
                <a:spcPct val="200800"/>
              </a:lnSpc>
              <a:spcBef>
                <a:spcPts val="395"/>
              </a:spcBef>
              <a:buChar char="•"/>
              <a:tabLst>
                <a:tab pos="122555" algn="l"/>
              </a:tabLst>
            </a:pP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Độ</a:t>
            </a:r>
            <a:r>
              <a:rPr sz="50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tin</a:t>
            </a:r>
            <a:r>
              <a:rPr sz="500" spc="8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cậy:</a:t>
            </a:r>
            <a:r>
              <a:rPr sz="50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Kết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nối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với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ám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mây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thường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cho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là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không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áng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tin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cậy,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ây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thường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là 	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giả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ịnh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sai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lầm.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thể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những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tình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huống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quan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trọng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mà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cần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sự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ảm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bảo</a:t>
            </a:r>
            <a:endParaRPr sz="500">
              <a:latin typeface="Noto Sans Mono"/>
              <a:cs typeface="Noto Sans Mono"/>
            </a:endParaRPr>
          </a:p>
          <a:p>
            <a:pPr marL="122555">
              <a:lnSpc>
                <a:spcPct val="100000"/>
              </a:lnSpc>
              <a:spcBef>
                <a:spcPts val="605"/>
              </a:spcBef>
            </a:pPr>
            <a:r>
              <a:rPr sz="500" dirty="0">
                <a:latin typeface="Noto Sans Mono"/>
                <a:cs typeface="Noto Sans Mono"/>
              </a:rPr>
              <a:t>kết</a:t>
            </a:r>
            <a:r>
              <a:rPr sz="500" spc="6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nối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cực</a:t>
            </a:r>
            <a:r>
              <a:rPr sz="500" spc="7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kỳ</a:t>
            </a:r>
            <a:r>
              <a:rPr sz="500" spc="320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cao.</a:t>
            </a:r>
            <a:endParaRPr sz="5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500">
              <a:latin typeface="Noto Sans Mono"/>
              <a:cs typeface="Noto Sans Mono"/>
            </a:endParaRPr>
          </a:p>
          <a:p>
            <a:pPr marL="93980" indent="-81280">
              <a:lnSpc>
                <a:spcPct val="100000"/>
              </a:lnSpc>
              <a:buChar char="•"/>
              <a:tabLst>
                <a:tab pos="93980" algn="l"/>
              </a:tabLst>
            </a:pP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Bảo</a:t>
            </a:r>
            <a:r>
              <a:rPr sz="50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mật</a:t>
            </a:r>
            <a:r>
              <a:rPr sz="5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và</a:t>
            </a:r>
            <a:r>
              <a:rPr sz="5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quyền</a:t>
            </a:r>
            <a:r>
              <a:rPr sz="50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riêng</a:t>
            </a:r>
            <a:r>
              <a:rPr sz="5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tư:</a:t>
            </a:r>
            <a:r>
              <a:rPr sz="5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Giả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ịnh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ngầm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thường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là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khi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tài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sản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ở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gần,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chúng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thể</a:t>
            </a:r>
            <a:endParaRPr sz="500">
              <a:latin typeface="Noto Sans Mono"/>
              <a:cs typeface="Noto Sans Mono"/>
            </a:endParaRPr>
          </a:p>
          <a:p>
            <a:pPr marL="130810" marR="5080">
              <a:lnSpc>
                <a:spcPct val="200800"/>
              </a:lnSpc>
            </a:pP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bảo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vệ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tốt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hơn.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Thực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tế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cho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thấy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giả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ịnh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này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thường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là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sai.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Tuy</a:t>
            </a:r>
            <a:r>
              <a:rPr sz="500" spc="9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nhiên,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xử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lý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dữ </a:t>
            </a:r>
            <a:r>
              <a:rPr sz="500" dirty="0">
                <a:latin typeface="Noto Sans Mono"/>
                <a:cs typeface="Noto Sans Mono"/>
              </a:rPr>
              <a:t>liệu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an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toàn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trên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4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ám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mây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thể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khó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khăn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hơn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so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với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trong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tổ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chức</a:t>
            </a:r>
            <a:r>
              <a:rPr sz="500" spc="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của</a:t>
            </a:r>
            <a:r>
              <a:rPr sz="500" spc="85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bạn.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3066" y="2078019"/>
            <a:ext cx="3446145" cy="443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90"/>
              </a:spcBef>
            </a:pPr>
            <a:r>
              <a:rPr sz="600" dirty="0">
                <a:solidFill>
                  <a:srgbClr val="C80000"/>
                </a:solidFill>
                <a:latin typeface="Noto Sans Mono"/>
                <a:cs typeface="Noto Sans Mono"/>
              </a:rPr>
              <a:t>Quan</a:t>
            </a:r>
            <a:r>
              <a:rPr sz="600" spc="-3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C80000"/>
                </a:solidFill>
                <a:latin typeface="Noto Sans Mono"/>
                <a:cs typeface="Noto Sans Mono"/>
              </a:rPr>
              <a:t>sát</a:t>
            </a:r>
            <a:r>
              <a:rPr sz="600" spc="-3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600" spc="-25" dirty="0">
                <a:latin typeface="Noto Sans Mono"/>
                <a:cs typeface="Noto Sans Mono"/>
              </a:rPr>
              <a:t>Vẫn</a:t>
            </a:r>
            <a:endParaRPr sz="600">
              <a:latin typeface="Noto Sans Mono"/>
              <a:cs typeface="Noto Sans Mono"/>
            </a:endParaRPr>
          </a:p>
          <a:p>
            <a:pPr marL="12700" marR="5080" indent="1905">
              <a:lnSpc>
                <a:spcPct val="167400"/>
              </a:lnSpc>
              <a:spcBef>
                <a:spcPts val="170"/>
              </a:spcBef>
            </a:pPr>
            <a:r>
              <a:rPr sz="600" dirty="0">
                <a:latin typeface="Noto Sans Mono"/>
                <a:cs typeface="Noto Sans Mono"/>
              </a:rPr>
              <a:t>còn</a:t>
            </a:r>
            <a:r>
              <a:rPr sz="600" spc="-4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nhiều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lời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bàn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tán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về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cơ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sở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hạ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tầng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biên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và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đ</a:t>
            </a:r>
            <a:r>
              <a:rPr sz="600" spc="-1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iện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toán,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nhưng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liệu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tất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spc="-35" dirty="0">
                <a:latin typeface="Noto Sans Mono"/>
                <a:cs typeface="Noto Sans Mono"/>
              </a:rPr>
              <a:t>cả </a:t>
            </a:r>
            <a:r>
              <a:rPr sz="600" dirty="0">
                <a:latin typeface="Noto Sans Mono"/>
                <a:cs typeface="Noto Sans Mono"/>
              </a:rPr>
              <a:t>những</a:t>
            </a:r>
            <a:r>
              <a:rPr sz="600" spc="-4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lời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bàn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tán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10" dirty="0">
                <a:latin typeface="Noto Sans Mono"/>
                <a:cs typeface="Noto Sans Mono"/>
              </a:rPr>
              <a:t>đ</a:t>
            </a:r>
            <a:r>
              <a:rPr sz="600" spc="-1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ó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có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thực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sự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hợp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lý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hay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không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vẫn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còn</a:t>
            </a:r>
            <a:r>
              <a:rPr sz="600" spc="-30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phải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dirty="0">
                <a:latin typeface="Noto Sans Mono"/>
                <a:cs typeface="Noto Sans Mono"/>
              </a:rPr>
              <a:t>chờ</a:t>
            </a:r>
            <a:r>
              <a:rPr sz="600" spc="-25" dirty="0">
                <a:latin typeface="Noto Sans Mono"/>
                <a:cs typeface="Noto Sans Mono"/>
              </a:rPr>
              <a:t> </a:t>
            </a:r>
            <a:r>
              <a:rPr sz="600" spc="-20" dirty="0">
                <a:latin typeface="Noto Sans Mono"/>
                <a:cs typeface="Noto Sans Mono"/>
              </a:rPr>
              <a:t>xem.</a:t>
            </a:r>
            <a:endParaRPr sz="60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39" y="3361225"/>
            <a:ext cx="65913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đ</a:t>
            </a:r>
            <a:r>
              <a:rPr sz="350" spc="-5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ám</a:t>
            </a:r>
            <a:r>
              <a:rPr sz="350" spc="30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mây</a:t>
            </a:r>
            <a:r>
              <a:rPr sz="350" spc="25" dirty="0">
                <a:latin typeface="Noto Sans Mono"/>
                <a:cs typeface="Noto Sans Mono"/>
              </a:rPr>
              <a:t> </a:t>
            </a:r>
            <a:r>
              <a:rPr sz="350" spc="-20" dirty="0">
                <a:latin typeface="Noto Sans Mono"/>
                <a:cs typeface="Noto Sans Mono"/>
              </a:rPr>
              <a:t>biên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685" y="207380"/>
            <a:ext cx="112268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3333B3"/>
                </a:solidFill>
                <a:latin typeface="Noto Sans Mono"/>
                <a:cs typeface="Noto Sans Mono"/>
              </a:rPr>
              <a:t>Dàn dựng </a:t>
            </a:r>
            <a:r>
              <a:rPr sz="1100" spc="-20" dirty="0">
                <a:solidFill>
                  <a:srgbClr val="3333B3"/>
                </a:solidFill>
                <a:latin typeface="Noto Sans Mono"/>
                <a:cs typeface="Noto Sans Mono"/>
              </a:rPr>
              <a:t>cạnh</a:t>
            </a:r>
            <a:endParaRPr sz="11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4366" y="17514"/>
            <a:ext cx="6400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lai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5932" y="573730"/>
            <a:ext cx="3744595" cy="13163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Quản</a:t>
            </a:r>
            <a:r>
              <a:rPr sz="600" spc="-4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lý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tài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nguyên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ở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biên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có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thể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khó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khăn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hơn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so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với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trên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spc="-1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600" spc="-1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ám</a:t>
            </a:r>
            <a:r>
              <a:rPr sz="600" spc="-3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spc="-25" dirty="0">
                <a:solidFill>
                  <a:srgbClr val="3333B3"/>
                </a:solidFill>
                <a:latin typeface="Noto Sans Mono"/>
                <a:cs typeface="Noto Sans Mono"/>
              </a:rPr>
              <a:t>mây</a:t>
            </a:r>
            <a:endParaRPr sz="600">
              <a:latin typeface="Noto Sans Mono"/>
              <a:cs typeface="Noto Sans Mono"/>
            </a:endParaRPr>
          </a:p>
          <a:p>
            <a:pPr marL="219075" marR="399415" indent="-77470">
              <a:lnSpc>
                <a:spcPct val="200800"/>
              </a:lnSpc>
              <a:spcBef>
                <a:spcPts val="590"/>
              </a:spcBef>
              <a:buClr>
                <a:srgbClr val="3333B3"/>
              </a:buClr>
              <a:buChar char="•"/>
              <a:tabLst>
                <a:tab pos="263525" algn="l"/>
              </a:tabLst>
            </a:pP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Phân</a:t>
            </a:r>
            <a:r>
              <a:rPr sz="500" spc="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bổ</a:t>
            </a:r>
            <a:r>
              <a:rPr sz="500" spc="2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nguồn</a:t>
            </a:r>
            <a:r>
              <a:rPr sz="500" spc="2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lực:</a:t>
            </a:r>
            <a:r>
              <a:rPr sz="500" spc="2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chúng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ta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cần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ảm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bảo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tính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sẵn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của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nguồn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lực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cần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spc="-10" dirty="0">
                <a:latin typeface="Noto Sans Mono"/>
                <a:cs typeface="Noto Sans Mono"/>
              </a:rPr>
              <a:t>thiết 	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ể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thực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hiện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một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dịch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vụ.</a:t>
            </a:r>
            <a:endParaRPr sz="500">
              <a:latin typeface="Noto Sans Mono"/>
              <a:cs typeface="Noto Sans Mono"/>
            </a:endParaRPr>
          </a:p>
          <a:p>
            <a:pPr marL="218440" marR="243204" indent="-77470">
              <a:lnSpc>
                <a:spcPct val="200800"/>
              </a:lnSpc>
              <a:spcBef>
                <a:spcPts val="300"/>
              </a:spcBef>
              <a:buClr>
                <a:srgbClr val="3333B3"/>
              </a:buClr>
              <a:buChar char="•"/>
              <a:tabLst>
                <a:tab pos="259079" algn="l"/>
              </a:tabLst>
            </a:pP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Vị</a:t>
            </a:r>
            <a:r>
              <a:rPr sz="500" spc="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trí</a:t>
            </a:r>
            <a:r>
              <a:rPr sz="500" spc="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dịch</a:t>
            </a:r>
            <a:r>
              <a:rPr sz="500" spc="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vụ:</a:t>
            </a:r>
            <a:r>
              <a:rPr sz="500" spc="2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chúng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ta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cần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quyết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ịnh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khi</a:t>
            </a:r>
            <a:r>
              <a:rPr sz="5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nào</a:t>
            </a:r>
            <a:r>
              <a:rPr sz="50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và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ở</a:t>
            </a:r>
            <a:r>
              <a:rPr sz="5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500" spc="-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3333B3"/>
                </a:solidFill>
                <a:latin typeface="Noto Sans Mono"/>
                <a:cs typeface="Noto Sans Mono"/>
              </a:rPr>
              <a:t>âu</a:t>
            </a:r>
            <a:r>
              <a:rPr sz="500" spc="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ể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ặt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dịch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vụ.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Điều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này 	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ặc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biệt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liên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quan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ến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các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ứng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dụng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di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0" dirty="0">
                <a:latin typeface="Noto Sans Mono"/>
                <a:cs typeface="Noto Sans Mono"/>
              </a:rPr>
              <a:t> </a:t>
            </a:r>
            <a:r>
              <a:rPr sz="500" spc="-20" dirty="0">
                <a:latin typeface="Noto Sans Mono"/>
                <a:cs typeface="Noto Sans Mono"/>
              </a:rPr>
              <a:t>ộng.</a:t>
            </a:r>
            <a:endParaRPr sz="5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Clr>
                <a:srgbClr val="3333B3"/>
              </a:buClr>
              <a:buFont typeface="Noto Sans Mono"/>
              <a:buChar char="•"/>
            </a:pPr>
            <a:endParaRPr sz="500">
              <a:latin typeface="Noto Sans Mono"/>
              <a:cs typeface="Noto Sans Mono"/>
            </a:endParaRPr>
          </a:p>
          <a:p>
            <a:pPr marL="219075" indent="-77470">
              <a:lnSpc>
                <a:spcPct val="100000"/>
              </a:lnSpc>
              <a:buClr>
                <a:srgbClr val="3333B3"/>
              </a:buClr>
              <a:buChar char="•"/>
              <a:tabLst>
                <a:tab pos="219075" algn="l"/>
              </a:tabLst>
            </a:pP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Lựa</a:t>
            </a:r>
            <a:r>
              <a:rPr sz="500" spc="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chọn</a:t>
            </a:r>
            <a:r>
              <a:rPr sz="500" spc="2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solidFill>
                  <a:srgbClr val="C80000"/>
                </a:solidFill>
                <a:latin typeface="Noto Sans Mono"/>
                <a:cs typeface="Noto Sans Mono"/>
              </a:rPr>
              <a:t>cạnh:</a:t>
            </a:r>
            <a:r>
              <a:rPr sz="500" spc="25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chúng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ta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cần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quyết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ịnh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cơ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sở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hạ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tầng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cạnh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nào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sẽ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0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ược</a:t>
            </a:r>
            <a:endParaRPr sz="500">
              <a:latin typeface="Noto Sans Mono"/>
              <a:cs typeface="Noto Sans Mono"/>
            </a:endParaRPr>
          </a:p>
          <a:p>
            <a:pPr marL="261620" marR="5080" indent="635">
              <a:lnSpc>
                <a:spcPct val="171700"/>
              </a:lnSpc>
              <a:spcBef>
                <a:spcPts val="175"/>
              </a:spcBef>
            </a:pPr>
            <a:r>
              <a:rPr sz="500" dirty="0">
                <a:latin typeface="Noto Sans Mono"/>
                <a:cs typeface="Noto Sans Mono"/>
              </a:rPr>
              <a:t>đ</a:t>
            </a:r>
            <a:r>
              <a:rPr sz="500" spc="-8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ược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sử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dụng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khi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cần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cung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cấp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dịch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vụ.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Dịch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vụ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gần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nhất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có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thể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không</a:t>
            </a:r>
            <a:r>
              <a:rPr sz="500" spc="20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phải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là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dịch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dirty="0">
                <a:latin typeface="Noto Sans Mono"/>
                <a:cs typeface="Noto Sans Mono"/>
              </a:rPr>
              <a:t>vụ</a:t>
            </a:r>
            <a:r>
              <a:rPr sz="500" spc="25" dirty="0">
                <a:latin typeface="Noto Sans Mono"/>
                <a:cs typeface="Noto Sans Mono"/>
              </a:rPr>
              <a:t> </a:t>
            </a:r>
            <a:r>
              <a:rPr sz="500" spc="-25" dirty="0">
                <a:latin typeface="Noto Sans Mono"/>
                <a:cs typeface="Noto Sans Mono"/>
              </a:rPr>
              <a:t>tốt </a:t>
            </a:r>
            <a:r>
              <a:rPr sz="500" spc="-10" dirty="0">
                <a:latin typeface="Noto Sans Mono"/>
                <a:cs typeface="Noto Sans Mono"/>
              </a:rPr>
              <a:t>nhất.</a:t>
            </a:r>
            <a:endParaRPr sz="5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44366" y="28462"/>
            <a:ext cx="6400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lai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300" y="3359834"/>
            <a:ext cx="58420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Blockchain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019" y="239976"/>
            <a:ext cx="2531745" cy="419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Chuỗi</a:t>
            </a:r>
            <a:r>
              <a:rPr sz="85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0" dirty="0">
                <a:solidFill>
                  <a:srgbClr val="3333B3"/>
                </a:solidFill>
                <a:latin typeface="Noto Sans Mono"/>
                <a:cs typeface="Noto Sans Mono"/>
              </a:rPr>
              <a:t>khối</a:t>
            </a:r>
            <a:endParaRPr sz="8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850">
              <a:latin typeface="Noto Sans Mono"/>
              <a:cs typeface="Noto Sans Mono"/>
            </a:endParaRPr>
          </a:p>
          <a:p>
            <a:pPr marL="263525">
              <a:lnSpc>
                <a:spcPct val="100000"/>
              </a:lnSpc>
              <a:spcBef>
                <a:spcPts val="5"/>
              </a:spcBef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Nguyên</a:t>
            </a:r>
            <a:r>
              <a:rPr sz="6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lý</a:t>
            </a:r>
            <a:r>
              <a:rPr sz="6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hoạt</a:t>
            </a:r>
            <a:r>
              <a:rPr sz="6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650" spc="-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ộng</a:t>
            </a:r>
            <a:r>
              <a:rPr sz="6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của</a:t>
            </a:r>
            <a:r>
              <a:rPr sz="6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hệ</a:t>
            </a:r>
            <a:r>
              <a:rPr sz="6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thống</a:t>
            </a:r>
            <a:r>
              <a:rPr sz="6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10" dirty="0">
                <a:solidFill>
                  <a:srgbClr val="3333B3"/>
                </a:solidFill>
                <a:latin typeface="Noto Sans Mono"/>
                <a:cs typeface="Noto Sans Mono"/>
              </a:rPr>
              <a:t>blockchain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90" y="16130"/>
            <a:ext cx="6705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25" spc="-112" baseline="15873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525" spc="-112" baseline="15873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525" spc="-112" baseline="15873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525" spc="-112" baseline="15873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525" spc="-112" baseline="15873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525" spc="-112" baseline="15873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525" spc="-112" baseline="15873" dirty="0">
                <a:latin typeface="Arial"/>
                <a:cs typeface="Arial"/>
              </a:rPr>
              <a:t>nslated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baseline="15873" dirty="0">
                <a:latin typeface="Arial"/>
                <a:cs typeface="Arial"/>
              </a:rPr>
              <a:t>by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spc="-15" baseline="15873" dirty="0">
                <a:latin typeface="Arial"/>
                <a:cs typeface="Arial"/>
              </a:rPr>
              <a:t>Google</a:t>
            </a:r>
            <a:endParaRPr sz="525" baseline="1587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7019" y="239976"/>
            <a:ext cx="2531745" cy="422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dirty="0">
                <a:solidFill>
                  <a:srgbClr val="3333B3"/>
                </a:solidFill>
                <a:latin typeface="Noto Sans Mono"/>
                <a:cs typeface="Noto Sans Mono"/>
              </a:rPr>
              <a:t>Chuỗi</a:t>
            </a:r>
            <a:r>
              <a:rPr sz="85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850" spc="-20" dirty="0">
                <a:solidFill>
                  <a:srgbClr val="3333B3"/>
                </a:solidFill>
                <a:latin typeface="Noto Sans Mono"/>
                <a:cs typeface="Noto Sans Mono"/>
              </a:rPr>
              <a:t>khối</a:t>
            </a:r>
            <a:endParaRPr sz="8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50">
              <a:latin typeface="Noto Sans Mono"/>
              <a:cs typeface="Noto Sans Mono"/>
            </a:endParaRPr>
          </a:p>
          <a:p>
            <a:pPr marL="263525">
              <a:lnSpc>
                <a:spcPct val="100000"/>
              </a:lnSpc>
            </a:pP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Nguyên</a:t>
            </a:r>
            <a:r>
              <a:rPr sz="6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lý</a:t>
            </a:r>
            <a:r>
              <a:rPr sz="6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hoạt</a:t>
            </a:r>
            <a:r>
              <a:rPr sz="6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đ</a:t>
            </a:r>
            <a:r>
              <a:rPr sz="650" spc="-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ộng</a:t>
            </a:r>
            <a:r>
              <a:rPr sz="6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của</a:t>
            </a:r>
            <a:r>
              <a:rPr sz="6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hệ</a:t>
            </a:r>
            <a:r>
              <a:rPr sz="650" spc="7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thống</a:t>
            </a:r>
            <a:r>
              <a:rPr sz="650" spc="6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10" dirty="0">
                <a:solidFill>
                  <a:srgbClr val="3333B3"/>
                </a:solidFill>
                <a:latin typeface="Noto Sans Mono"/>
                <a:cs typeface="Noto Sans Mono"/>
              </a:rPr>
              <a:t>blockchain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00" y="3359834"/>
            <a:ext cx="58420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Blockchain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4366" y="28462"/>
            <a:ext cx="6400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lai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1261" y="2535969"/>
            <a:ext cx="3444875" cy="7518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3333B3"/>
                </a:solidFill>
                <a:latin typeface="Noto Sans Mono"/>
                <a:cs typeface="Noto Sans Mono"/>
              </a:rPr>
              <a:t>Quan</a:t>
            </a:r>
            <a:r>
              <a:rPr sz="7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50" spc="-25" dirty="0">
                <a:solidFill>
                  <a:srgbClr val="3333B3"/>
                </a:solidFill>
                <a:latin typeface="Noto Sans Mono"/>
                <a:cs typeface="Noto Sans Mono"/>
              </a:rPr>
              <a:t>sát</a:t>
            </a:r>
            <a:endParaRPr sz="750">
              <a:latin typeface="Noto Sans Mono"/>
              <a:cs typeface="Noto Sans Mono"/>
            </a:endParaRPr>
          </a:p>
          <a:p>
            <a:pPr marL="244475" indent="-97790">
              <a:lnSpc>
                <a:spcPct val="100000"/>
              </a:lnSpc>
              <a:spcBef>
                <a:spcPts val="1010"/>
              </a:spcBef>
              <a:buClr>
                <a:srgbClr val="3333B3"/>
              </a:buClr>
              <a:buChar char="•"/>
              <a:tabLst>
                <a:tab pos="244475" algn="l"/>
              </a:tabLst>
            </a:pPr>
            <a:r>
              <a:rPr sz="650" dirty="0">
                <a:latin typeface="Noto Sans Mono"/>
                <a:cs typeface="Noto Sans Mono"/>
              </a:rPr>
              <a:t>Các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khối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ược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sắp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xếp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thành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một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chuỗi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chỉ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thêm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không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thể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25" dirty="0">
                <a:latin typeface="Noto Sans Mono"/>
                <a:cs typeface="Noto Sans Mono"/>
              </a:rPr>
              <a:t>làm</a:t>
            </a:r>
            <a:endParaRPr sz="650">
              <a:latin typeface="Noto Sans Mono"/>
              <a:cs typeface="Noto Sans Mono"/>
            </a:endParaRPr>
          </a:p>
          <a:p>
            <a:pPr marL="146685" marR="5080">
              <a:lnSpc>
                <a:spcPct val="192800"/>
              </a:lnSpc>
              <a:tabLst>
                <a:tab pos="2446020" algn="l"/>
              </a:tabLst>
            </a:pPr>
            <a:r>
              <a:rPr sz="650" dirty="0">
                <a:latin typeface="Noto Sans Mono"/>
                <a:cs typeface="Noto Sans Mono"/>
              </a:rPr>
              <a:t>giả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•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Mỗi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khối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trong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chuỗi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khối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là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bất</a:t>
            </a:r>
            <a:r>
              <a:rPr sz="650" spc="-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50" spc="-20" dirty="0">
                <a:solidFill>
                  <a:srgbClr val="3333B3"/>
                </a:solidFill>
                <a:latin typeface="Noto Sans Mono"/>
                <a:cs typeface="Noto Sans Mono"/>
              </a:rPr>
              <a:t>biến</a:t>
            </a:r>
            <a:r>
              <a:rPr sz="650" dirty="0">
                <a:solidFill>
                  <a:srgbClr val="3333B3"/>
                </a:solidFill>
                <a:latin typeface="Noto Sans Mono"/>
                <a:cs typeface="Noto Sans Mono"/>
              </a:rPr>
              <a:t>	</a:t>
            </a:r>
            <a:r>
              <a:rPr sz="650" dirty="0">
                <a:latin typeface="Noto Sans Mono"/>
                <a:cs typeface="Noto Sans Mono"/>
              </a:rPr>
              <a:t>sao</a:t>
            </a:r>
            <a:r>
              <a:rPr sz="650" spc="-1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chép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hàng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loạt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60" dirty="0">
                <a:solidFill>
                  <a:srgbClr val="3333B3"/>
                </a:solidFill>
                <a:latin typeface="Noto Sans Mono"/>
                <a:cs typeface="Noto Sans Mono"/>
              </a:rPr>
              <a:t>• </a:t>
            </a:r>
            <a:r>
              <a:rPr sz="650" dirty="0">
                <a:latin typeface="Noto Sans Mono"/>
                <a:cs typeface="Noto Sans Mono"/>
              </a:rPr>
              <a:t>Vấn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ề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thực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sự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nằm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ở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chỗ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ai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đ</a:t>
            </a:r>
            <a:r>
              <a:rPr sz="650" spc="-13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ược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phép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thêm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một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khối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dirty="0">
                <a:latin typeface="Noto Sans Mono"/>
                <a:cs typeface="Noto Sans Mono"/>
              </a:rPr>
              <a:t>vào</a:t>
            </a:r>
            <a:r>
              <a:rPr sz="650" spc="-5" dirty="0">
                <a:latin typeface="Noto Sans Mono"/>
                <a:cs typeface="Noto Sans Mono"/>
              </a:rPr>
              <a:t> </a:t>
            </a:r>
            <a:r>
              <a:rPr sz="650" spc="-10" dirty="0">
                <a:latin typeface="Noto Sans Mono"/>
                <a:cs typeface="Noto Sans Mono"/>
              </a:rPr>
              <a:t>chuỗi</a:t>
            </a:r>
            <a:endParaRPr sz="6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90" y="16130"/>
            <a:ext cx="6705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25" spc="-112" baseline="15873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525" spc="-112" baseline="15873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525" spc="-112" baseline="15873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525" spc="-112" baseline="15873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525" spc="-112" baseline="15873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525" spc="-112" baseline="15873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525" spc="-112" baseline="15873" dirty="0">
                <a:latin typeface="Arial"/>
                <a:cs typeface="Arial"/>
              </a:rPr>
              <a:t>nslated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baseline="15873" dirty="0">
                <a:latin typeface="Arial"/>
                <a:cs typeface="Arial"/>
              </a:rPr>
              <a:t>by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spc="-15" baseline="15873" dirty="0">
                <a:latin typeface="Arial"/>
                <a:cs typeface="Arial"/>
              </a:rPr>
              <a:t>Google</a:t>
            </a:r>
            <a:endParaRPr sz="525" baseline="1587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2524" y="552214"/>
            <a:ext cx="864869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Giải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pháp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tập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10" dirty="0">
                <a:solidFill>
                  <a:srgbClr val="3333B3"/>
                </a:solidFill>
                <a:latin typeface="Noto Sans Mono"/>
                <a:cs typeface="Noto Sans Mono"/>
              </a:rPr>
              <a:t>trung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00" y="3359834"/>
            <a:ext cx="58420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Blockchain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627" y="239998"/>
            <a:ext cx="26111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Thêm một khối: sự đ</a:t>
            </a:r>
            <a:r>
              <a:rPr sz="900" spc="-18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ồng thuận phân </a:t>
            </a:r>
            <a:r>
              <a:rPr sz="900" spc="-25" dirty="0">
                <a:solidFill>
                  <a:srgbClr val="3333B3"/>
                </a:solidFill>
                <a:latin typeface="Noto Sans Mono"/>
                <a:cs typeface="Noto Sans Mono"/>
              </a:rPr>
              <a:t>tán</a:t>
            </a:r>
            <a:endParaRPr sz="90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4366" y="28462"/>
            <a:ext cx="6400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lai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4658" y="2069903"/>
            <a:ext cx="3632200" cy="4330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30"/>
              </a:spcBef>
            </a:pP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Quan</a:t>
            </a:r>
            <a:r>
              <a:rPr sz="550" spc="8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3333B3"/>
                </a:solidFill>
                <a:latin typeface="Noto Sans Mono"/>
                <a:cs typeface="Noto Sans Mono"/>
              </a:rPr>
              <a:t>sát</a:t>
            </a:r>
            <a:r>
              <a:rPr sz="550" spc="8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Một</a:t>
            </a:r>
            <a:endParaRPr sz="550">
              <a:latin typeface="Noto Sans Mono"/>
              <a:cs typeface="Noto Sans Mono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550" dirty="0">
                <a:latin typeface="Noto Sans Mono"/>
                <a:cs typeface="Noto Sans Mono"/>
              </a:rPr>
              <a:t>thực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thể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duy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nhất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quyết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6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ịnh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trình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xác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thực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nào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thể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tiếp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tục</a:t>
            </a:r>
            <a:r>
              <a:rPr sz="550" spc="8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thêm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80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khối.</a:t>
            </a:r>
            <a:endParaRPr sz="550">
              <a:latin typeface="Noto Sans Mono"/>
              <a:cs typeface="Noto Sans Mono"/>
            </a:endParaRPr>
          </a:p>
          <a:p>
            <a:pPr marL="24130">
              <a:lnSpc>
                <a:spcPct val="100000"/>
              </a:lnSpc>
              <a:spcBef>
                <a:spcPts val="480"/>
              </a:spcBef>
            </a:pPr>
            <a:r>
              <a:rPr sz="550" dirty="0">
                <a:latin typeface="Noto Sans Mono"/>
                <a:cs typeface="Noto Sans Mono"/>
              </a:rPr>
              <a:t>Không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phù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hợp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với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mục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tiêu</a:t>
            </a:r>
            <a:r>
              <a:rPr sz="550" spc="7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thiết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kế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của</a:t>
            </a:r>
            <a:r>
              <a:rPr sz="550" spc="6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blockchain.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90" y="16130"/>
            <a:ext cx="6705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25" spc="-112" baseline="15873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525" spc="-112" baseline="15873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525" spc="-112" baseline="15873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525" spc="-112" baseline="15873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525" spc="-112" baseline="15873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525" spc="-112" baseline="15873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525" spc="-112" baseline="15873" dirty="0">
                <a:latin typeface="Arial"/>
                <a:cs typeface="Arial"/>
              </a:rPr>
              <a:t>nslated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baseline="15873" dirty="0">
                <a:latin typeface="Arial"/>
                <a:cs typeface="Arial"/>
              </a:rPr>
              <a:t>by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spc="-15" baseline="15873" dirty="0">
                <a:latin typeface="Arial"/>
                <a:cs typeface="Arial"/>
              </a:rPr>
              <a:t>Google</a:t>
            </a:r>
            <a:endParaRPr sz="525" baseline="1587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627" y="239998"/>
            <a:ext cx="2611120" cy="44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Thêm một khối: sự đ</a:t>
            </a:r>
            <a:r>
              <a:rPr sz="900" spc="-18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ồng thuận phân </a:t>
            </a:r>
            <a:r>
              <a:rPr sz="900" spc="-25" dirty="0">
                <a:solidFill>
                  <a:srgbClr val="3333B3"/>
                </a:solidFill>
                <a:latin typeface="Noto Sans Mono"/>
                <a:cs typeface="Noto Sans Mono"/>
              </a:rPr>
              <a:t>tán</a:t>
            </a:r>
            <a:endParaRPr sz="9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900">
              <a:latin typeface="Noto Sans Mono"/>
              <a:cs typeface="Noto Sans Mono"/>
            </a:endParaRPr>
          </a:p>
          <a:p>
            <a:pPr marL="272415">
              <a:lnSpc>
                <a:spcPct val="100000"/>
              </a:lnSpc>
            </a:pP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Giải</a:t>
            </a:r>
            <a:r>
              <a:rPr sz="7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pháp</a:t>
            </a:r>
            <a:r>
              <a:rPr sz="7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phân</a:t>
            </a:r>
            <a:r>
              <a:rPr sz="7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phối</a:t>
            </a:r>
            <a:r>
              <a:rPr sz="7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(đ</a:t>
            </a:r>
            <a:r>
              <a:rPr sz="700" spc="-125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ược</a:t>
            </a:r>
            <a:r>
              <a:rPr sz="7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dirty="0">
                <a:solidFill>
                  <a:srgbClr val="3333B3"/>
                </a:solidFill>
                <a:latin typeface="Noto Sans Mono"/>
                <a:cs typeface="Noto Sans Mono"/>
              </a:rPr>
              <a:t>cấp</a:t>
            </a:r>
            <a:r>
              <a:rPr sz="700" spc="2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00" spc="-10" dirty="0">
                <a:solidFill>
                  <a:srgbClr val="3333B3"/>
                </a:solidFill>
                <a:latin typeface="Noto Sans Mono"/>
                <a:cs typeface="Noto Sans Mono"/>
              </a:rPr>
              <a:t>phép)</a:t>
            </a:r>
            <a:endParaRPr sz="7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00" y="3359834"/>
            <a:ext cx="58420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Blockchain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4366" y="17514"/>
            <a:ext cx="6400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lai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1261" y="2063929"/>
            <a:ext cx="3814445" cy="1050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dirty="0">
                <a:solidFill>
                  <a:srgbClr val="3333B3"/>
                </a:solidFill>
                <a:latin typeface="Noto Sans Mono"/>
                <a:cs typeface="Noto Sans Mono"/>
              </a:rPr>
              <a:t>Quan</a:t>
            </a:r>
            <a:r>
              <a:rPr sz="7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50" spc="-25" dirty="0">
                <a:solidFill>
                  <a:srgbClr val="3333B3"/>
                </a:solidFill>
                <a:latin typeface="Noto Sans Mono"/>
                <a:cs typeface="Noto Sans Mono"/>
              </a:rPr>
              <a:t>sát</a:t>
            </a:r>
            <a:endParaRPr sz="750">
              <a:latin typeface="Noto Sans Mono"/>
              <a:cs typeface="Noto Sans Mono"/>
            </a:endParaRPr>
          </a:p>
          <a:p>
            <a:pPr marL="230504" marR="148590" indent="-84455">
              <a:lnSpc>
                <a:spcPct val="182600"/>
              </a:lnSpc>
              <a:spcBef>
                <a:spcPts val="520"/>
              </a:spcBef>
              <a:buClr>
                <a:srgbClr val="3333B3"/>
              </a:buClr>
              <a:buChar char="•"/>
              <a:tabLst>
                <a:tab pos="256540" algn="l"/>
              </a:tabLst>
            </a:pP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nhóm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máy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chủ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chọn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tương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ối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nhỏ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cùng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nhau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ạt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sự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ồng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thuận</a:t>
            </a:r>
            <a:r>
              <a:rPr sz="550" spc="4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về 	</a:t>
            </a:r>
            <a:r>
              <a:rPr sz="550" dirty="0">
                <a:latin typeface="Noto Sans Mono"/>
                <a:cs typeface="Noto Sans Mono"/>
              </a:rPr>
              <a:t>trình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xác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thực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nào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thể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tiếp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tục.</a:t>
            </a:r>
            <a:endParaRPr sz="550">
              <a:latin typeface="Noto Sans Mono"/>
              <a:cs typeface="Noto Sans Mono"/>
            </a:endParaRPr>
          </a:p>
          <a:p>
            <a:pPr marL="230504" marR="5080" indent="-84455">
              <a:lnSpc>
                <a:spcPct val="182600"/>
              </a:lnSpc>
              <a:spcBef>
                <a:spcPts val="300"/>
              </a:spcBef>
              <a:buClr>
                <a:srgbClr val="3333B3"/>
              </a:buClr>
              <a:buChar char="•"/>
              <a:tabLst>
                <a:tab pos="266065" algn="l"/>
              </a:tabLst>
            </a:pPr>
            <a:r>
              <a:rPr sz="550" dirty="0">
                <a:latin typeface="Noto Sans Mono"/>
                <a:cs typeface="Noto Sans Mono"/>
              </a:rPr>
              <a:t>Không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cần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phải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tin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cậy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bất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kỳ</a:t>
            </a:r>
            <a:r>
              <a:rPr sz="550" spc="3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máy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chủ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nào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trong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số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này,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miễn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là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khoảng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hai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phần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ba 	</a:t>
            </a:r>
            <a:r>
              <a:rPr sz="550" dirty="0">
                <a:latin typeface="Noto Sans Mono"/>
                <a:cs typeface="Noto Sans Mono"/>
              </a:rPr>
              <a:t>hành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xử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theo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8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úng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thông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số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kỹ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thuật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của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chúng.</a:t>
            </a:r>
            <a:endParaRPr sz="55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3333B3"/>
              </a:buClr>
              <a:buFont typeface="Noto Sans Mono"/>
              <a:buChar char="•"/>
            </a:pPr>
            <a:endParaRPr sz="550">
              <a:latin typeface="Noto Sans Mono"/>
              <a:cs typeface="Noto Sans Mono"/>
            </a:endParaRPr>
          </a:p>
          <a:p>
            <a:pPr marL="231140" indent="-84455">
              <a:lnSpc>
                <a:spcPct val="100000"/>
              </a:lnSpc>
              <a:spcBef>
                <a:spcPts val="5"/>
              </a:spcBef>
              <a:buClr>
                <a:srgbClr val="3333B3"/>
              </a:buClr>
              <a:buChar char="•"/>
              <a:tabLst>
                <a:tab pos="231140" algn="l"/>
              </a:tabLst>
            </a:pPr>
            <a:r>
              <a:rPr sz="550" dirty="0">
                <a:latin typeface="Noto Sans Mono"/>
                <a:cs typeface="Noto Sans Mono"/>
              </a:rPr>
              <a:t>Trên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thực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tế,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chỉ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có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thể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chứa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7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vài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chục</a:t>
            </a:r>
            <a:r>
              <a:rPr sz="550" spc="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máy</a:t>
            </a:r>
            <a:r>
              <a:rPr sz="550" spc="50" dirty="0">
                <a:latin typeface="Noto Sans Mono"/>
                <a:cs typeface="Noto Sans Mono"/>
              </a:rPr>
              <a:t> </a:t>
            </a:r>
            <a:r>
              <a:rPr sz="550" spc="-20" dirty="0">
                <a:latin typeface="Noto Sans Mono"/>
                <a:cs typeface="Noto Sans Mono"/>
              </a:rPr>
              <a:t>chủ.</a:t>
            </a:r>
            <a:endParaRPr sz="55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0" y="5182"/>
            <a:ext cx="6197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spc="-75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350" spc="-75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350" spc="-75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350" spc="-75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350" spc="-75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350" spc="-75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350" spc="-75" dirty="0">
                <a:latin typeface="Arial"/>
                <a:cs typeface="Arial"/>
              </a:rPr>
              <a:t>nslated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dirty="0">
                <a:latin typeface="Arial"/>
                <a:cs typeface="Arial"/>
              </a:rPr>
              <a:t>by</a:t>
            </a:r>
            <a:r>
              <a:rPr sz="350" spc="50" dirty="0">
                <a:latin typeface="Arial"/>
                <a:cs typeface="Arial"/>
              </a:rPr>
              <a:t> </a:t>
            </a:r>
            <a:r>
              <a:rPr sz="350" spc="-10" dirty="0">
                <a:latin typeface="Arial"/>
                <a:cs typeface="Arial"/>
              </a:rPr>
              <a:t>Google</a:t>
            </a:r>
            <a:endParaRPr sz="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7400" cy="3454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627" y="239998"/>
            <a:ext cx="261112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Thêm một khối: sự đ</a:t>
            </a:r>
            <a:r>
              <a:rPr sz="900" spc="-18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900" dirty="0">
                <a:solidFill>
                  <a:srgbClr val="3333B3"/>
                </a:solidFill>
                <a:latin typeface="Noto Sans Mono"/>
                <a:cs typeface="Noto Sans Mono"/>
              </a:rPr>
              <a:t>ồng thuận phân </a:t>
            </a:r>
            <a:r>
              <a:rPr sz="900" spc="-25" dirty="0">
                <a:solidFill>
                  <a:srgbClr val="3333B3"/>
                </a:solidFill>
                <a:latin typeface="Noto Sans Mono"/>
                <a:cs typeface="Noto Sans Mono"/>
              </a:rPr>
              <a:t>tán</a:t>
            </a:r>
            <a:endParaRPr sz="900">
              <a:latin typeface="Noto Sans Mono"/>
              <a:cs typeface="Noto Sans Mono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900">
              <a:latin typeface="Noto Sans Mono"/>
              <a:cs typeface="Noto Sans Mono"/>
            </a:endParaRPr>
          </a:p>
          <a:p>
            <a:pPr marL="272415">
              <a:lnSpc>
                <a:spcPct val="100000"/>
              </a:lnSpc>
              <a:spcBef>
                <a:spcPts val="5"/>
              </a:spcBef>
            </a:pP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Giải</a:t>
            </a:r>
            <a:r>
              <a:rPr sz="6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pháp</a:t>
            </a:r>
            <a:r>
              <a:rPr sz="6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phi</a:t>
            </a:r>
            <a:r>
              <a:rPr sz="6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tập</a:t>
            </a:r>
            <a:r>
              <a:rPr sz="6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trung</a:t>
            </a:r>
            <a:r>
              <a:rPr sz="6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(không</a:t>
            </a:r>
            <a:r>
              <a:rPr sz="6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cần</a:t>
            </a:r>
            <a:r>
              <a:rPr sz="6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dirty="0">
                <a:solidFill>
                  <a:srgbClr val="3333B3"/>
                </a:solidFill>
                <a:latin typeface="Noto Sans Mono"/>
                <a:cs typeface="Noto Sans Mono"/>
              </a:rPr>
              <a:t>xin</a:t>
            </a:r>
            <a:r>
              <a:rPr sz="600" spc="9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600" spc="-10" dirty="0">
                <a:solidFill>
                  <a:srgbClr val="3333B3"/>
                </a:solidFill>
                <a:latin typeface="Noto Sans Mono"/>
                <a:cs typeface="Noto Sans Mono"/>
              </a:rPr>
              <a:t>phép)</a:t>
            </a:r>
            <a:endParaRPr sz="600">
              <a:latin typeface="Noto Sans Mono"/>
              <a:cs typeface="Noto Sans 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00" y="3359833"/>
            <a:ext cx="584200" cy="889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latin typeface="Noto Sans Mono"/>
                <a:cs typeface="Noto Sans Mono"/>
              </a:rPr>
              <a:t>Kiến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dirty="0">
                <a:latin typeface="Noto Sans Mono"/>
                <a:cs typeface="Noto Sans Mono"/>
              </a:rPr>
              <a:t>trúc</a:t>
            </a:r>
            <a:r>
              <a:rPr sz="350" spc="35" dirty="0">
                <a:latin typeface="Noto Sans Mono"/>
                <a:cs typeface="Noto Sans Mono"/>
              </a:rPr>
              <a:t> </a:t>
            </a:r>
            <a:r>
              <a:rPr sz="350" spc="-10" dirty="0">
                <a:latin typeface="Noto Sans Mono"/>
                <a:cs typeface="Noto Sans Mono"/>
              </a:rPr>
              <a:t>Blockchain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4366" y="28462"/>
            <a:ext cx="64008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Kiến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trúc</a:t>
            </a:r>
            <a:r>
              <a:rPr sz="350" spc="35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hệ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dirty="0">
                <a:solidFill>
                  <a:srgbClr val="FFFFFF"/>
                </a:solidFill>
                <a:latin typeface="Noto Sans Mono"/>
                <a:cs typeface="Noto Sans Mono"/>
              </a:rPr>
              <a:t>thống</a:t>
            </a:r>
            <a:r>
              <a:rPr sz="350" spc="30" dirty="0">
                <a:solidFill>
                  <a:srgbClr val="FFFFFF"/>
                </a:solidFill>
                <a:latin typeface="Noto Sans Mono"/>
                <a:cs typeface="Noto Sans Mono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Noto Sans Mono"/>
                <a:cs typeface="Noto Sans Mono"/>
              </a:rPr>
              <a:t>lai</a:t>
            </a:r>
            <a:endParaRPr sz="350">
              <a:latin typeface="Noto Sans Mono"/>
              <a:cs typeface="Noto Sans 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1261" y="2063675"/>
            <a:ext cx="3585845" cy="8553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3333B3"/>
                </a:solidFill>
                <a:latin typeface="Noto Sans Mono"/>
                <a:cs typeface="Noto Sans Mono"/>
              </a:rPr>
              <a:t>Quan</a:t>
            </a:r>
            <a:r>
              <a:rPr sz="750" spc="60" dirty="0">
                <a:solidFill>
                  <a:srgbClr val="3333B3"/>
                </a:solidFill>
                <a:latin typeface="Noto Sans Mono"/>
                <a:cs typeface="Noto Sans Mono"/>
              </a:rPr>
              <a:t> </a:t>
            </a:r>
            <a:r>
              <a:rPr sz="750" spc="-25" dirty="0">
                <a:solidFill>
                  <a:srgbClr val="3333B3"/>
                </a:solidFill>
                <a:latin typeface="Noto Sans Mono"/>
                <a:cs typeface="Noto Sans Mono"/>
              </a:rPr>
              <a:t>sát</a:t>
            </a:r>
            <a:endParaRPr sz="750" dirty="0">
              <a:latin typeface="Noto Sans Mono"/>
              <a:cs typeface="Noto Sans Mono"/>
            </a:endParaRPr>
          </a:p>
          <a:p>
            <a:pPr marL="234315" marR="5080" indent="-88265">
              <a:lnSpc>
                <a:spcPct val="182600"/>
              </a:lnSpc>
              <a:spcBef>
                <a:spcPts val="550"/>
              </a:spcBef>
              <a:buClr>
                <a:srgbClr val="3333B3"/>
              </a:buClr>
              <a:buChar char="•"/>
              <a:tabLst>
                <a:tab pos="267970" algn="l"/>
              </a:tabLst>
            </a:pPr>
            <a:r>
              <a:rPr sz="550" dirty="0">
                <a:latin typeface="Noto Sans Mono"/>
                <a:cs typeface="Noto Sans Mono"/>
              </a:rPr>
              <a:t>Những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người</a:t>
            </a:r>
            <a:r>
              <a:rPr sz="550" spc="12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tham</a:t>
            </a:r>
            <a:r>
              <a:rPr sz="550" spc="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gia</a:t>
            </a:r>
            <a:r>
              <a:rPr sz="550" spc="12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cùng</a:t>
            </a:r>
            <a:r>
              <a:rPr sz="550" spc="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nhau</a:t>
            </a:r>
            <a:r>
              <a:rPr sz="550" spc="12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tham</a:t>
            </a:r>
            <a:r>
              <a:rPr sz="550" spc="114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gia</a:t>
            </a:r>
            <a:r>
              <a:rPr sz="550" spc="120" dirty="0"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bầu</a:t>
            </a:r>
            <a:r>
              <a:rPr sz="550" spc="114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chọn</a:t>
            </a:r>
            <a:r>
              <a:rPr sz="550" spc="1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người</a:t>
            </a:r>
            <a:r>
              <a:rPr sz="550" spc="114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lãnh</a:t>
            </a:r>
            <a:r>
              <a:rPr sz="550" spc="1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đ</a:t>
            </a:r>
            <a:r>
              <a:rPr sz="550" spc="-4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solidFill>
                  <a:srgbClr val="C80000"/>
                </a:solidFill>
                <a:latin typeface="Noto Sans Mono"/>
                <a:cs typeface="Noto Sans Mono"/>
              </a:rPr>
              <a:t>ạo.</a:t>
            </a:r>
            <a:r>
              <a:rPr sz="550" spc="120" dirty="0">
                <a:solidFill>
                  <a:srgbClr val="C80000"/>
                </a:solidFill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Chỉ</a:t>
            </a:r>
            <a:r>
              <a:rPr sz="550" spc="120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người 	</a:t>
            </a:r>
            <a:r>
              <a:rPr sz="550" dirty="0">
                <a:latin typeface="Noto Sans Mono"/>
                <a:cs typeface="Noto Sans Mono"/>
              </a:rPr>
              <a:t>lãnh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ạo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bầu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mới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ược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phép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thêm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một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khối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giao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dịch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5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ã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xác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thực.</a:t>
            </a:r>
            <a:endParaRPr sz="550" dirty="0">
              <a:latin typeface="Noto Sans Mono"/>
              <a:cs typeface="Noto Sans Mono"/>
            </a:endParaRPr>
          </a:p>
          <a:p>
            <a:pPr marL="234315" marR="49530" indent="-88265">
              <a:lnSpc>
                <a:spcPct val="172900"/>
              </a:lnSpc>
              <a:spcBef>
                <a:spcPts val="365"/>
              </a:spcBef>
              <a:buClr>
                <a:srgbClr val="3333B3"/>
              </a:buClr>
              <a:buChar char="•"/>
              <a:tabLst>
                <a:tab pos="264160" algn="l"/>
              </a:tabLst>
            </a:pPr>
            <a:r>
              <a:rPr sz="550" dirty="0">
                <a:latin typeface="Noto Sans Mono"/>
                <a:cs typeface="Noto Sans Mono"/>
              </a:rPr>
              <a:t>Bầu</a:t>
            </a:r>
            <a:r>
              <a:rPr sz="550" spc="9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cử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lãnh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ạo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phi</a:t>
            </a:r>
            <a:r>
              <a:rPr sz="550" spc="1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tập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trung,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quy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mô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lớn,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công</a:t>
            </a:r>
            <a:r>
              <a:rPr sz="550" spc="11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bằng,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mạnh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mẽ,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an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toàn</a:t>
            </a:r>
            <a:r>
              <a:rPr sz="550" spc="110" dirty="0">
                <a:latin typeface="Noto Sans Mono"/>
                <a:cs typeface="Noto Sans Mono"/>
              </a:rPr>
              <a:t> </a:t>
            </a:r>
            <a:r>
              <a:rPr sz="550" spc="-25" dirty="0">
                <a:latin typeface="Noto Sans Mono"/>
                <a:cs typeface="Noto Sans Mono"/>
              </a:rPr>
              <a:t>và 	</a:t>
            </a:r>
            <a:r>
              <a:rPr sz="550" dirty="0">
                <a:latin typeface="Noto Sans Mono"/>
                <a:cs typeface="Noto Sans Mono"/>
              </a:rPr>
              <a:t>v.v.,</a:t>
            </a:r>
            <a:r>
              <a:rPr sz="550" spc="100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không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hề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đ</a:t>
            </a:r>
            <a:r>
              <a:rPr sz="550" spc="-45" dirty="0">
                <a:latin typeface="Noto Sans Mono"/>
                <a:cs typeface="Noto Sans Mono"/>
              </a:rPr>
              <a:t> </a:t>
            </a:r>
            <a:r>
              <a:rPr sz="550" dirty="0">
                <a:latin typeface="Noto Sans Mono"/>
                <a:cs typeface="Noto Sans Mono"/>
              </a:rPr>
              <a:t>ơn</a:t>
            </a:r>
            <a:r>
              <a:rPr sz="550" spc="105" dirty="0">
                <a:latin typeface="Noto Sans Mono"/>
                <a:cs typeface="Noto Sans Mono"/>
              </a:rPr>
              <a:t> </a:t>
            </a:r>
            <a:r>
              <a:rPr sz="550" spc="-10" dirty="0">
                <a:latin typeface="Noto Sans Mono"/>
                <a:cs typeface="Noto Sans Mono"/>
              </a:rPr>
              <a:t>giản.</a:t>
            </a:r>
            <a:endParaRPr sz="550" dirty="0">
              <a:latin typeface="Noto Sans Mono"/>
              <a:cs typeface="Noto Sans 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90" y="16130"/>
            <a:ext cx="670560" cy="81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25" spc="-112" baseline="15873" dirty="0">
                <a:latin typeface="Arial"/>
                <a:cs typeface="Arial"/>
              </a:rPr>
              <a:t>M</a:t>
            </a:r>
            <a:r>
              <a:rPr sz="350" spc="-75" dirty="0">
                <a:latin typeface="Noto Sans Mono"/>
                <a:cs typeface="Noto Sans Mono"/>
              </a:rPr>
              <a:t>Ki</a:t>
            </a:r>
            <a:r>
              <a:rPr sz="525" spc="-112" baseline="15873" dirty="0">
                <a:latin typeface="Arial"/>
                <a:cs typeface="Arial"/>
              </a:rPr>
              <a:t>a</a:t>
            </a:r>
            <a:r>
              <a:rPr sz="350" spc="-75" dirty="0">
                <a:latin typeface="Noto Sans Mono"/>
                <a:cs typeface="Noto Sans Mono"/>
              </a:rPr>
              <a:t>ế</a:t>
            </a:r>
            <a:r>
              <a:rPr sz="525" spc="-112" baseline="15873" dirty="0">
                <a:latin typeface="Arial"/>
                <a:cs typeface="Arial"/>
              </a:rPr>
              <a:t>ch</a:t>
            </a:r>
            <a:r>
              <a:rPr sz="350" spc="-75" dirty="0">
                <a:latin typeface="Noto Sans Mono"/>
                <a:cs typeface="Noto Sans Mono"/>
              </a:rPr>
              <a:t>n</a:t>
            </a:r>
            <a:r>
              <a:rPr sz="525" spc="-112" baseline="15873" dirty="0">
                <a:latin typeface="Arial"/>
                <a:cs typeface="Arial"/>
              </a:rPr>
              <a:t>ine</a:t>
            </a:r>
            <a:r>
              <a:rPr sz="350" spc="-75" dirty="0">
                <a:latin typeface="Noto Sans Mono"/>
                <a:cs typeface="Noto Sans Mono"/>
              </a:rPr>
              <a:t>tr</a:t>
            </a:r>
            <a:r>
              <a:rPr sz="525" spc="-112" baseline="15873" dirty="0">
                <a:latin typeface="Arial"/>
                <a:cs typeface="Arial"/>
              </a:rPr>
              <a:t>T</a:t>
            </a:r>
            <a:r>
              <a:rPr sz="350" spc="-75" dirty="0">
                <a:latin typeface="Noto Sans Mono"/>
                <a:cs typeface="Noto Sans Mono"/>
              </a:rPr>
              <a:t>ú</a:t>
            </a:r>
            <a:r>
              <a:rPr sz="525" spc="-112" baseline="15873" dirty="0">
                <a:latin typeface="Arial"/>
                <a:cs typeface="Arial"/>
              </a:rPr>
              <a:t>ra</a:t>
            </a:r>
            <a:r>
              <a:rPr sz="350" spc="-75" dirty="0">
                <a:latin typeface="Noto Sans Mono"/>
                <a:cs typeface="Noto Sans Mono"/>
              </a:rPr>
              <a:t>c</a:t>
            </a:r>
            <a:r>
              <a:rPr sz="525" spc="-112" baseline="15873" dirty="0">
                <a:latin typeface="Arial"/>
                <a:cs typeface="Arial"/>
              </a:rPr>
              <a:t>nslated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baseline="15873" dirty="0">
                <a:latin typeface="Arial"/>
                <a:cs typeface="Arial"/>
              </a:rPr>
              <a:t>by</a:t>
            </a:r>
            <a:r>
              <a:rPr sz="525" spc="75" baseline="15873" dirty="0">
                <a:latin typeface="Arial"/>
                <a:cs typeface="Arial"/>
              </a:rPr>
              <a:t> </a:t>
            </a:r>
            <a:r>
              <a:rPr sz="525" spc="-15" baseline="15873" dirty="0">
                <a:latin typeface="Arial"/>
                <a:cs typeface="Arial"/>
              </a:rPr>
              <a:t>Google</a:t>
            </a:r>
            <a:endParaRPr sz="525" baseline="1587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5138</Words>
  <Application>Microsoft Office PowerPoint</Application>
  <PresentationFormat>Custom</PresentationFormat>
  <Paragraphs>559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Noto Sans Mono</vt:lpstr>
      <vt:lpstr>Office Theme</vt:lpstr>
      <vt:lpstr>Hệ thống phân tán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phân tán</dc:title>
  <cp:lastModifiedBy>Chu Dung</cp:lastModifiedBy>
  <cp:revision>1</cp:revision>
  <dcterms:created xsi:type="dcterms:W3CDTF">2025-02-11T06:43:07Z</dcterms:created>
  <dcterms:modified xsi:type="dcterms:W3CDTF">2025-02-11T06:51:00Z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2025-02-09T00:00:00Z</vt:filetime>
  </property>
  <property fmtid="{D5CDD505-2E9C-101B-9397-08002B2CF9AE}" pid="3" name="Creator">
    <vt:lpwstr>PDFium</vt:lpwstr>
  </property>
  <property fmtid="{D5CDD505-2E9C-101B-9397-08002B2CF9AE}" pid="4" name="LastSaved">
    <vt:filetime>2025-02-11T00:00:00Z</vt:filetime>
  </property>
  <property fmtid="{D5CDD505-2E9C-101B-9397-08002B2CF9AE}" pid="5" name="Producer">
    <vt:lpwstr>3-Heights(TM) PDF Security Shell 4.8.25.2 (http://www.pdf-tools.com)</vt:lpwstr>
  </property>
</Properties>
</file>