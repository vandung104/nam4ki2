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x="9753600" cy="7315200"/>
  <p:notesSz cx="6858000" cy="9144000"/>
  <p:embeddedFontLst>
    <p:embeddedFont>
      <p:font typeface="Arial Bold" charset="1" panose="020B0802020202020204"/>
      <p:regular r:id="rId79"/>
    </p:embeddedFont>
    <p:embeddedFont>
      <p:font typeface="Arial" charset="1" panose="020B0502020202020204"/>
      <p:regular r:id="rId80"/>
    </p:embeddedFont>
    <p:embeddedFont>
      <p:font typeface="Times New Roman" charset="1" panose="02030502070405020303"/>
      <p:regular r:id="rId10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21.xml" Type="http://schemas.openxmlformats.org/officeDocument/2006/relationships/notesSlide"/><Relationship Id="rId101" Target="notesSlides/notesSlide22.xml" Type="http://schemas.openxmlformats.org/officeDocument/2006/relationships/notesSlide"/><Relationship Id="rId102" Target="notesSlides/notesSlide23.xml" Type="http://schemas.openxmlformats.org/officeDocument/2006/relationships/notesSlide"/><Relationship Id="rId103" Target="notesSlides/notesSlide24.xml" Type="http://schemas.openxmlformats.org/officeDocument/2006/relationships/notesSlide"/><Relationship Id="rId104" Target="notesSlides/notesSlide25.xml" Type="http://schemas.openxmlformats.org/officeDocument/2006/relationships/notesSlide"/><Relationship Id="rId105" Target="notesSlides/notesSlide26.xml" Type="http://schemas.openxmlformats.org/officeDocument/2006/relationships/notesSlide"/><Relationship Id="rId106" Target="fonts/font106.fntdata" Type="http://schemas.openxmlformats.org/officeDocument/2006/relationships/font"/><Relationship Id="rId107" Target="notesSlides/notesSlide27.xml" Type="http://schemas.openxmlformats.org/officeDocument/2006/relationships/notesSlide"/><Relationship Id="rId108" Target="notesSlides/notesSlide28.xml" Type="http://schemas.openxmlformats.org/officeDocument/2006/relationships/notesSlide"/><Relationship Id="rId109" Target="notesSlides/notesSlide29.xml" Type="http://schemas.openxmlformats.org/officeDocument/2006/relationships/notesSlide"/><Relationship Id="rId11" Target="slides/slide6.xml" Type="http://schemas.openxmlformats.org/officeDocument/2006/relationships/slide"/><Relationship Id="rId110" Target="notesSlides/notesSlide30.xml" Type="http://schemas.openxmlformats.org/officeDocument/2006/relationships/notesSlide"/><Relationship Id="rId111" Target="notesSlides/notesSlide31.xml" Type="http://schemas.openxmlformats.org/officeDocument/2006/relationships/notesSlide"/><Relationship Id="rId112" Target="notesSlides/notesSlide32.xml" Type="http://schemas.openxmlformats.org/officeDocument/2006/relationships/notesSlide"/><Relationship Id="rId113" Target="notesSlides/notesSlide33.xml" Type="http://schemas.openxmlformats.org/officeDocument/2006/relationships/notesSlide"/><Relationship Id="rId114" Target="notesSlides/notesSlide34.xml" Type="http://schemas.openxmlformats.org/officeDocument/2006/relationships/notesSlide"/><Relationship Id="rId115" Target="notesSlides/notesSlide35.xml" Type="http://schemas.openxmlformats.org/officeDocument/2006/relationships/notesSlide"/><Relationship Id="rId116" Target="notesSlides/notesSlide36.xml" Type="http://schemas.openxmlformats.org/officeDocument/2006/relationships/notesSlide"/><Relationship Id="rId117" Target="notesSlides/notesSlide37.xml" Type="http://schemas.openxmlformats.org/officeDocument/2006/relationships/notesSlide"/><Relationship Id="rId118" Target="notesSlides/notesSlide38.xml" Type="http://schemas.openxmlformats.org/officeDocument/2006/relationships/notesSlide"/><Relationship Id="rId119" Target="notesSlides/notesSlide39.xml" Type="http://schemas.openxmlformats.org/officeDocument/2006/relationships/notesSlide"/><Relationship Id="rId12" Target="slides/slide7.xml" Type="http://schemas.openxmlformats.org/officeDocument/2006/relationships/slide"/><Relationship Id="rId120" Target="notesSlides/notesSlide40.xml" Type="http://schemas.openxmlformats.org/officeDocument/2006/relationships/notesSlide"/><Relationship Id="rId121" Target="notesSlides/notesSlide41.xml" Type="http://schemas.openxmlformats.org/officeDocument/2006/relationships/note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notesMasters/notesMaster1.xml" Type="http://schemas.openxmlformats.org/officeDocument/2006/relationships/notesMaster"/><Relationship Id="rId77" Target="theme/theme2.xml" Type="http://schemas.openxmlformats.org/officeDocument/2006/relationships/theme"/><Relationship Id="rId78" Target="notesSlides/notesSlide1.xml" Type="http://schemas.openxmlformats.org/officeDocument/2006/relationships/notesSlide"/><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81" Target="notesSlides/notesSlide2.xml" Type="http://schemas.openxmlformats.org/officeDocument/2006/relationships/notesSlide"/><Relationship Id="rId82" Target="notesSlides/notesSlide3.xml" Type="http://schemas.openxmlformats.org/officeDocument/2006/relationships/notesSlide"/><Relationship Id="rId83" Target="notesSlides/notesSlide4.xml" Type="http://schemas.openxmlformats.org/officeDocument/2006/relationships/notesSlide"/><Relationship Id="rId84" Target="notesSlides/notesSlide5.xml" Type="http://schemas.openxmlformats.org/officeDocument/2006/relationships/notesSlide"/><Relationship Id="rId85" Target="notesSlides/notesSlide6.xml" Type="http://schemas.openxmlformats.org/officeDocument/2006/relationships/notesSlide"/><Relationship Id="rId86" Target="notesSlides/notesSlide7.xml" Type="http://schemas.openxmlformats.org/officeDocument/2006/relationships/notesSlide"/><Relationship Id="rId87" Target="notesSlides/notesSlide8.xml" Type="http://schemas.openxmlformats.org/officeDocument/2006/relationships/notesSlide"/><Relationship Id="rId88" Target="notesSlides/notesSlide9.xml" Type="http://schemas.openxmlformats.org/officeDocument/2006/relationships/notesSlide"/><Relationship Id="rId89" Target="notesSlides/notesSlide10.xml" Type="http://schemas.openxmlformats.org/officeDocument/2006/relationships/notesSlide"/><Relationship Id="rId9" Target="slides/slide4.xml" Type="http://schemas.openxmlformats.org/officeDocument/2006/relationships/slide"/><Relationship Id="rId90" Target="notesSlides/notesSlide11.xml" Type="http://schemas.openxmlformats.org/officeDocument/2006/relationships/notesSlide"/><Relationship Id="rId91" Target="notesSlides/notesSlide12.xml" Type="http://schemas.openxmlformats.org/officeDocument/2006/relationships/notesSlide"/><Relationship Id="rId92" Target="notesSlides/notesSlide13.xml" Type="http://schemas.openxmlformats.org/officeDocument/2006/relationships/notesSlide"/><Relationship Id="rId93" Target="notesSlides/notesSlide14.xml" Type="http://schemas.openxmlformats.org/officeDocument/2006/relationships/notesSlide"/><Relationship Id="rId94" Target="notesSlides/notesSlide15.xml" Type="http://schemas.openxmlformats.org/officeDocument/2006/relationships/notesSlide"/><Relationship Id="rId95" Target="notesSlides/notesSlide16.xml" Type="http://schemas.openxmlformats.org/officeDocument/2006/relationships/notesSlide"/><Relationship Id="rId96" Target="notesSlides/notesSlide17.xml" Type="http://schemas.openxmlformats.org/officeDocument/2006/relationships/notesSlide"/><Relationship Id="rId97" Target="notesSlides/notesSlide18.xml" Type="http://schemas.openxmlformats.org/officeDocument/2006/relationships/notesSlide"/><Relationship Id="rId98" Target="notesSlides/notesSlide19.xml" Type="http://schemas.openxmlformats.org/officeDocument/2006/relationships/notesSlide"/><Relationship Id="rId99" Target="notesSlides/notesSlide20.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3.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4.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5.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6.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7.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8.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9.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 Id="rId4" Target="../media/image1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 Id="rId4" Target="../media/image1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1.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 Id="rId4" Target="../media/image32.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jpe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 Id="rId4" Target="../media/image33.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jpe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jpe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jpeg" Type="http://schemas.openxmlformats.org/officeDocument/2006/relationships/image"/><Relationship Id="rId4" Target="../media/image34.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jpeg" Type="http://schemas.openxmlformats.org/officeDocument/2006/relationships/image"/><Relationship Id="rId4" Target="../media/image35.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1.jpeg" Type="http://schemas.openxmlformats.org/officeDocument/2006/relationships/image"/><Relationship Id="rId4" Target="../media/image36.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1.jpeg" Type="http://schemas.openxmlformats.org/officeDocument/2006/relationships/image"/><Relationship Id="rId4" Target="../media/image37.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1556053" y="347678"/>
            <a:ext cx="6374674" cy="581474"/>
            <a:chOff x="0" y="0"/>
            <a:chExt cx="8499566" cy="775298"/>
          </a:xfrm>
        </p:grpSpPr>
        <p:sp>
          <p:nvSpPr>
            <p:cNvPr name="Freeform 4" id="4"/>
            <p:cNvSpPr/>
            <p:nvPr/>
          </p:nvSpPr>
          <p:spPr>
            <a:xfrm flipH="false" flipV="false" rot="0">
              <a:off x="0" y="0"/>
              <a:ext cx="8499566" cy="775298"/>
            </a:xfrm>
            <a:custGeom>
              <a:avLst/>
              <a:gdLst/>
              <a:ahLst/>
              <a:cxnLst/>
              <a:rect r="r" b="b" t="t" l="l"/>
              <a:pathLst>
                <a:path h="775298" w="8499566">
                  <a:moveTo>
                    <a:pt x="0" y="0"/>
                  </a:moveTo>
                  <a:lnTo>
                    <a:pt x="8499566" y="0"/>
                  </a:lnTo>
                  <a:lnTo>
                    <a:pt x="8499566" y="775298"/>
                  </a:lnTo>
                  <a:lnTo>
                    <a:pt x="0" y="775298"/>
                  </a:lnTo>
                  <a:close/>
                </a:path>
              </a:pathLst>
            </a:custGeom>
            <a:solidFill>
              <a:srgbClr val="000000">
                <a:alpha val="0"/>
              </a:srgbClr>
            </a:solidFill>
          </p:spPr>
        </p:sp>
        <p:sp>
          <p:nvSpPr>
            <p:cNvPr name="TextBox 5" id="5"/>
            <p:cNvSpPr txBox="true"/>
            <p:nvPr/>
          </p:nvSpPr>
          <p:spPr>
            <a:xfrm>
              <a:off x="0" y="-66675"/>
              <a:ext cx="8499566" cy="841973"/>
            </a:xfrm>
            <a:prstGeom prst="rect">
              <a:avLst/>
            </a:prstGeom>
          </p:spPr>
          <p:txBody>
            <a:bodyPr anchor="t" rtlCol="false" tIns="0" lIns="0" bIns="0" rIns="0"/>
            <a:lstStyle/>
            <a:p>
              <a:pPr algn="ctr">
                <a:lnSpc>
                  <a:spcPts val="3824"/>
                </a:lnSpc>
              </a:pPr>
              <a:r>
                <a:rPr lang="en-US" sz="3186" b="true">
                  <a:solidFill>
                    <a:srgbClr val="FFFF00"/>
                  </a:solidFill>
                  <a:latin typeface="Arial Bold"/>
                  <a:ea typeface="Arial Bold"/>
                  <a:cs typeface="Arial Bold"/>
                  <a:sym typeface="Arial Bold"/>
                </a:rPr>
                <a:t>CƠ SỞ DỮ LIỆU PHÂN TÁN</a:t>
              </a: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a:t>
              </a:r>
            </a:p>
          </p:txBody>
        </p:sp>
      </p:grpSp>
      <p:grpSp>
        <p:nvGrpSpPr>
          <p:cNvPr name="Group 9" id="9"/>
          <p:cNvGrpSpPr/>
          <p:nvPr/>
        </p:nvGrpSpPr>
        <p:grpSpPr>
          <a:xfrm rot="0">
            <a:off x="2304989" y="1720139"/>
            <a:ext cx="4876800" cy="707843"/>
            <a:chOff x="0" y="0"/>
            <a:chExt cx="6502400" cy="943791"/>
          </a:xfrm>
        </p:grpSpPr>
        <p:sp>
          <p:nvSpPr>
            <p:cNvPr name="Freeform 10" id="10"/>
            <p:cNvSpPr/>
            <p:nvPr/>
          </p:nvSpPr>
          <p:spPr>
            <a:xfrm flipH="false" flipV="false" rot="0">
              <a:off x="0" y="0"/>
              <a:ext cx="6502400" cy="943791"/>
            </a:xfrm>
            <a:custGeom>
              <a:avLst/>
              <a:gdLst/>
              <a:ahLst/>
              <a:cxnLst/>
              <a:rect r="r" b="b" t="t" l="l"/>
              <a:pathLst>
                <a:path h="943791" w="6502400">
                  <a:moveTo>
                    <a:pt x="0" y="0"/>
                  </a:moveTo>
                  <a:lnTo>
                    <a:pt x="6502400" y="0"/>
                  </a:lnTo>
                  <a:lnTo>
                    <a:pt x="6502400" y="943791"/>
                  </a:lnTo>
                  <a:lnTo>
                    <a:pt x="0" y="943791"/>
                  </a:lnTo>
                  <a:close/>
                </a:path>
              </a:pathLst>
            </a:custGeom>
            <a:solidFill>
              <a:srgbClr val="000000">
                <a:alpha val="0"/>
              </a:srgbClr>
            </a:solidFill>
          </p:spPr>
        </p:sp>
        <p:sp>
          <p:nvSpPr>
            <p:cNvPr name="TextBox 11" id="11"/>
            <p:cNvSpPr txBox="true"/>
            <p:nvPr/>
          </p:nvSpPr>
          <p:spPr>
            <a:xfrm>
              <a:off x="0" y="-85725"/>
              <a:ext cx="6502400" cy="1029516"/>
            </a:xfrm>
            <a:prstGeom prst="rect">
              <a:avLst/>
            </a:prstGeom>
          </p:spPr>
          <p:txBody>
            <a:bodyPr anchor="t" rtlCol="false" tIns="0" lIns="0" bIns="0" rIns="0"/>
            <a:lstStyle/>
            <a:p>
              <a:pPr algn="ctr">
                <a:lnSpc>
                  <a:spcPts val="4608"/>
                </a:lnSpc>
              </a:pPr>
              <a:r>
                <a:rPr lang="en-US" sz="3840" b="true">
                  <a:solidFill>
                    <a:srgbClr val="000000"/>
                  </a:solidFill>
                  <a:latin typeface="Arial Bold"/>
                  <a:ea typeface="Arial Bold"/>
                  <a:cs typeface="Arial Bold"/>
                  <a:sym typeface="Arial Bold"/>
                </a:rPr>
                <a:t>Chương 2: Kiến trúc</a:t>
              </a:r>
            </a:p>
          </p:txBody>
        </p:sp>
      </p:grpSp>
      <p:grpSp>
        <p:nvGrpSpPr>
          <p:cNvPr name="Group 12" id="12"/>
          <p:cNvGrpSpPr/>
          <p:nvPr/>
        </p:nvGrpSpPr>
        <p:grpSpPr>
          <a:xfrm rot="0">
            <a:off x="1952785" y="2701968"/>
            <a:ext cx="5581210" cy="442256"/>
            <a:chOff x="0" y="0"/>
            <a:chExt cx="7441614" cy="589674"/>
          </a:xfrm>
        </p:grpSpPr>
        <p:sp>
          <p:nvSpPr>
            <p:cNvPr name="Freeform 13" id="13"/>
            <p:cNvSpPr/>
            <p:nvPr/>
          </p:nvSpPr>
          <p:spPr>
            <a:xfrm flipH="false" flipV="false" rot="0">
              <a:off x="0" y="0"/>
              <a:ext cx="7441614" cy="589674"/>
            </a:xfrm>
            <a:custGeom>
              <a:avLst/>
              <a:gdLst/>
              <a:ahLst/>
              <a:cxnLst/>
              <a:rect r="r" b="b" t="t" l="l"/>
              <a:pathLst>
                <a:path h="589674" w="7441614">
                  <a:moveTo>
                    <a:pt x="0" y="0"/>
                  </a:moveTo>
                  <a:lnTo>
                    <a:pt x="7441614" y="0"/>
                  </a:lnTo>
                  <a:lnTo>
                    <a:pt x="7441614" y="589674"/>
                  </a:lnTo>
                  <a:lnTo>
                    <a:pt x="0" y="589674"/>
                  </a:lnTo>
                  <a:close/>
                </a:path>
              </a:pathLst>
            </a:custGeom>
            <a:solidFill>
              <a:srgbClr val="000000">
                <a:alpha val="0"/>
              </a:srgbClr>
            </a:solidFill>
          </p:spPr>
        </p:sp>
        <p:sp>
          <p:nvSpPr>
            <p:cNvPr name="TextBox 14" id="14"/>
            <p:cNvSpPr txBox="true"/>
            <p:nvPr/>
          </p:nvSpPr>
          <p:spPr>
            <a:xfrm>
              <a:off x="0" y="-57150"/>
              <a:ext cx="7441614" cy="646824"/>
            </a:xfrm>
            <a:prstGeom prst="rect">
              <a:avLst/>
            </a:prstGeom>
          </p:spPr>
          <p:txBody>
            <a:bodyPr anchor="t" rtlCol="false" tIns="0" lIns="0" bIns="0" rIns="0"/>
            <a:lstStyle/>
            <a:p>
              <a:pPr algn="l">
                <a:lnSpc>
                  <a:spcPts val="2919"/>
                </a:lnSpc>
              </a:pPr>
              <a:r>
                <a:rPr lang="en-US" sz="2433">
                  <a:solidFill>
                    <a:srgbClr val="000000"/>
                  </a:solidFill>
                  <a:latin typeface="Arial"/>
                  <a:ea typeface="Arial"/>
                  <a:cs typeface="Arial"/>
                  <a:sym typeface="Arial"/>
                </a:rPr>
                <a:t>Giảng viên hướng dẫn: Nguyễn Sao Kim  </a:t>
              </a:r>
            </a:p>
          </p:txBody>
        </p:sp>
      </p:grpSp>
      <p:grpSp>
        <p:nvGrpSpPr>
          <p:cNvPr name="Group 15" id="15"/>
          <p:cNvGrpSpPr/>
          <p:nvPr/>
        </p:nvGrpSpPr>
        <p:grpSpPr>
          <a:xfrm rot="0">
            <a:off x="1556053" y="3657600"/>
            <a:ext cx="2970341" cy="429074"/>
            <a:chOff x="0" y="0"/>
            <a:chExt cx="3960455" cy="572099"/>
          </a:xfrm>
        </p:grpSpPr>
        <p:sp>
          <p:nvSpPr>
            <p:cNvPr name="Freeform 16" id="16"/>
            <p:cNvSpPr/>
            <p:nvPr/>
          </p:nvSpPr>
          <p:spPr>
            <a:xfrm flipH="false" flipV="false" rot="0">
              <a:off x="0" y="0"/>
              <a:ext cx="3960455" cy="572099"/>
            </a:xfrm>
            <a:custGeom>
              <a:avLst/>
              <a:gdLst/>
              <a:ahLst/>
              <a:cxnLst/>
              <a:rect r="r" b="b" t="t" l="l"/>
              <a:pathLst>
                <a:path h="572099" w="3960455">
                  <a:moveTo>
                    <a:pt x="0" y="0"/>
                  </a:moveTo>
                  <a:lnTo>
                    <a:pt x="3960455" y="0"/>
                  </a:lnTo>
                  <a:lnTo>
                    <a:pt x="3960455" y="572099"/>
                  </a:lnTo>
                  <a:lnTo>
                    <a:pt x="0" y="572099"/>
                  </a:lnTo>
                  <a:close/>
                </a:path>
              </a:pathLst>
            </a:custGeom>
            <a:solidFill>
              <a:srgbClr val="000000">
                <a:alpha val="0"/>
              </a:srgbClr>
            </a:solidFill>
          </p:spPr>
        </p:sp>
        <p:sp>
          <p:nvSpPr>
            <p:cNvPr name="TextBox 17" id="17"/>
            <p:cNvSpPr txBox="true"/>
            <p:nvPr/>
          </p:nvSpPr>
          <p:spPr>
            <a:xfrm>
              <a:off x="0" y="-47625"/>
              <a:ext cx="3960455" cy="619724"/>
            </a:xfrm>
            <a:prstGeom prst="rect">
              <a:avLst/>
            </a:prstGeom>
          </p:spPr>
          <p:txBody>
            <a:bodyPr anchor="t" rtlCol="false" tIns="0" lIns="0" bIns="0" rIns="0"/>
            <a:lstStyle/>
            <a:p>
              <a:pPr algn="l">
                <a:lnSpc>
                  <a:spcPts val="2783"/>
                </a:lnSpc>
              </a:pPr>
              <a:r>
                <a:rPr lang="en-US" sz="2319" b="true">
                  <a:solidFill>
                    <a:srgbClr val="000000"/>
                  </a:solidFill>
                  <a:latin typeface="Arial Bold"/>
                  <a:ea typeface="Arial Bold"/>
                  <a:cs typeface="Arial Bold"/>
                  <a:sym typeface="Arial Bold"/>
                </a:rPr>
                <a:t>Thành viên nhóm 2</a:t>
              </a:r>
            </a:p>
          </p:txBody>
        </p:sp>
      </p:grpSp>
      <p:grpSp>
        <p:nvGrpSpPr>
          <p:cNvPr name="Group 18" id="18"/>
          <p:cNvGrpSpPr/>
          <p:nvPr/>
        </p:nvGrpSpPr>
        <p:grpSpPr>
          <a:xfrm rot="0">
            <a:off x="1556053" y="4184918"/>
            <a:ext cx="4398991" cy="1486478"/>
            <a:chOff x="0" y="0"/>
            <a:chExt cx="5865321" cy="1981970"/>
          </a:xfrm>
        </p:grpSpPr>
        <p:sp>
          <p:nvSpPr>
            <p:cNvPr name="Freeform 19" id="19"/>
            <p:cNvSpPr/>
            <p:nvPr/>
          </p:nvSpPr>
          <p:spPr>
            <a:xfrm flipH="false" flipV="false" rot="0">
              <a:off x="0" y="0"/>
              <a:ext cx="5865321" cy="1981970"/>
            </a:xfrm>
            <a:custGeom>
              <a:avLst/>
              <a:gdLst/>
              <a:ahLst/>
              <a:cxnLst/>
              <a:rect r="r" b="b" t="t" l="l"/>
              <a:pathLst>
                <a:path h="1981970" w="5865321">
                  <a:moveTo>
                    <a:pt x="0" y="0"/>
                  </a:moveTo>
                  <a:lnTo>
                    <a:pt x="5865321" y="0"/>
                  </a:lnTo>
                  <a:lnTo>
                    <a:pt x="5865321" y="1981970"/>
                  </a:lnTo>
                  <a:lnTo>
                    <a:pt x="0" y="1981970"/>
                  </a:lnTo>
                  <a:close/>
                </a:path>
              </a:pathLst>
            </a:custGeom>
            <a:solidFill>
              <a:srgbClr val="000000">
                <a:alpha val="0"/>
              </a:srgbClr>
            </a:solidFill>
          </p:spPr>
        </p:sp>
        <p:sp>
          <p:nvSpPr>
            <p:cNvPr name="TextBox 20" id="20"/>
            <p:cNvSpPr txBox="true"/>
            <p:nvPr/>
          </p:nvSpPr>
          <p:spPr>
            <a:xfrm>
              <a:off x="0" y="-47625"/>
              <a:ext cx="5865321" cy="2029595"/>
            </a:xfrm>
            <a:prstGeom prst="rect">
              <a:avLst/>
            </a:prstGeom>
          </p:spPr>
          <p:txBody>
            <a:bodyPr anchor="t" rtlCol="false" tIns="0" lIns="0" bIns="0" rIns="0"/>
            <a:lstStyle/>
            <a:p>
              <a:pPr algn="l">
                <a:lnSpc>
                  <a:spcPts val="2783"/>
                </a:lnSpc>
              </a:pPr>
              <a:r>
                <a:rPr lang="en-US" sz="2319">
                  <a:solidFill>
                    <a:srgbClr val="000000"/>
                  </a:solidFill>
                  <a:latin typeface="Arial"/>
                  <a:ea typeface="Arial"/>
                  <a:cs typeface="Arial"/>
                  <a:sym typeface="Arial"/>
                </a:rPr>
                <a:t>Chu Văn Dũng - </a:t>
              </a:r>
              <a:r>
                <a:rPr lang="en-US" sz="2319">
                  <a:solidFill>
                    <a:srgbClr val="000000"/>
                  </a:solidFill>
                  <a:latin typeface="Arial"/>
                  <a:ea typeface="Arial"/>
                  <a:cs typeface="Arial"/>
                  <a:sym typeface="Arial"/>
                </a:rPr>
                <a:t>211210740 </a:t>
              </a:r>
            </a:p>
            <a:p>
              <a:pPr algn="l">
                <a:lnSpc>
                  <a:spcPts val="2783"/>
                </a:lnSpc>
              </a:pPr>
              <a:r>
                <a:rPr lang="en-US" sz="2319">
                  <a:solidFill>
                    <a:srgbClr val="000000"/>
                  </a:solidFill>
                  <a:latin typeface="Arial"/>
                  <a:ea typeface="Arial"/>
                  <a:cs typeface="Arial"/>
                  <a:sym typeface="Arial"/>
                </a:rPr>
                <a:t>Chu Thị Quyên - 211202203</a:t>
              </a:r>
            </a:p>
            <a:p>
              <a:pPr algn="l">
                <a:lnSpc>
                  <a:spcPts val="2783"/>
                </a:lnSpc>
              </a:pPr>
              <a:r>
                <a:rPr lang="en-US" sz="2319">
                  <a:solidFill>
                    <a:srgbClr val="000000"/>
                  </a:solidFill>
                  <a:latin typeface="Arial"/>
                  <a:ea typeface="Arial"/>
                  <a:cs typeface="Arial"/>
                  <a:sym typeface="Arial"/>
                </a:rPr>
                <a:t>Dương Xuân Bách - 211210614</a:t>
              </a:r>
            </a:p>
            <a:p>
              <a:pPr algn="l">
                <a:lnSpc>
                  <a:spcPts val="2783"/>
                </a:lnSpc>
              </a:pPr>
              <a:r>
                <a:rPr lang="en-US" sz="2319">
                  <a:solidFill>
                    <a:srgbClr val="000000"/>
                  </a:solidFill>
                  <a:latin typeface="Arial"/>
                  <a:ea typeface="Arial"/>
                  <a:cs typeface="Arial"/>
                  <a:sym typeface="Arial"/>
                </a:rPr>
                <a:t>Phạm Hải Nhi - 211203484</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87680" y="81280"/>
            <a:ext cx="7965440" cy="1056640"/>
            <a:chOff x="0" y="0"/>
            <a:chExt cx="10620587" cy="1408853"/>
          </a:xfrm>
        </p:grpSpPr>
        <p:sp>
          <p:nvSpPr>
            <p:cNvPr name="Freeform 4" id="4"/>
            <p:cNvSpPr/>
            <p:nvPr/>
          </p:nvSpPr>
          <p:spPr>
            <a:xfrm flipH="false" flipV="false" rot="0">
              <a:off x="0" y="0"/>
              <a:ext cx="10620587" cy="1408853"/>
            </a:xfrm>
            <a:custGeom>
              <a:avLst/>
              <a:gdLst/>
              <a:ahLst/>
              <a:cxnLst/>
              <a:rect r="r" b="b" t="t" l="l"/>
              <a:pathLst>
                <a:path h="1408853" w="10620587">
                  <a:moveTo>
                    <a:pt x="0" y="0"/>
                  </a:moveTo>
                  <a:lnTo>
                    <a:pt x="10620587" y="0"/>
                  </a:lnTo>
                  <a:lnTo>
                    <a:pt x="10620587" y="1408853"/>
                  </a:lnTo>
                  <a:lnTo>
                    <a:pt x="0" y="1408853"/>
                  </a:lnTo>
                  <a:close/>
                </a:path>
              </a:pathLst>
            </a:custGeom>
            <a:solidFill>
              <a:srgbClr val="000000">
                <a:alpha val="0"/>
              </a:srgbClr>
            </a:solidFill>
          </p:spPr>
        </p:sp>
        <p:sp>
          <p:nvSpPr>
            <p:cNvPr name="TextBox 5" id="5"/>
            <p:cNvSpPr txBox="true"/>
            <p:nvPr/>
          </p:nvSpPr>
          <p:spPr>
            <a:xfrm>
              <a:off x="0" y="-66675"/>
              <a:ext cx="10620587" cy="1475528"/>
            </a:xfrm>
            <a:prstGeom prst="rect">
              <a:avLst/>
            </a:prstGeom>
          </p:spPr>
          <p:txBody>
            <a:bodyPr anchor="ctr" rtlCol="false" tIns="0" lIns="0" bIns="0" rIns="0"/>
            <a:lstStyle/>
            <a:p>
              <a:pPr algn="l">
                <a:lnSpc>
                  <a:spcPts val="3840"/>
                </a:lnSpc>
              </a:pPr>
              <a:r>
                <a:rPr lang="en-US" sz="3200" b="true">
                  <a:solidFill>
                    <a:srgbClr val="FFFF00"/>
                  </a:solidFill>
                  <a:latin typeface="Arial Bold"/>
                  <a:ea typeface="Arial Bold"/>
                  <a:cs typeface="Arial Bold"/>
                  <a:sym typeface="Arial Bold"/>
                </a:rPr>
                <a:t>MỤC LỤC</a:t>
              </a: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2</a:t>
              </a:r>
            </a:p>
          </p:txBody>
        </p:sp>
      </p:grpSp>
      <p:sp>
        <p:nvSpPr>
          <p:cNvPr name="TextBox 9" id="9"/>
          <p:cNvSpPr txBox="true"/>
          <p:nvPr/>
        </p:nvSpPr>
        <p:spPr>
          <a:xfrm rot="0">
            <a:off x="267473" y="1490759"/>
            <a:ext cx="9218654" cy="4267007"/>
          </a:xfrm>
          <a:prstGeom prst="rect">
            <a:avLst/>
          </a:prstGeom>
        </p:spPr>
        <p:txBody>
          <a:bodyPr anchor="t" rtlCol="false" tIns="0" lIns="0" bIns="0" rIns="0">
            <a:spAutoFit/>
          </a:bodyPr>
          <a:lstStyle/>
          <a:p>
            <a:pPr algn="l" marL="667754" indent="-333877" lvl="1">
              <a:lnSpc>
                <a:spcPts val="3711"/>
              </a:lnSpc>
              <a:buAutoNum type="arabicPeriod" startAt="1"/>
            </a:pPr>
            <a:r>
              <a:rPr lang="en-US" sz="3092">
                <a:solidFill>
                  <a:srgbClr val="000000"/>
                </a:solidFill>
                <a:latin typeface="Arial"/>
                <a:ea typeface="Arial"/>
                <a:cs typeface="Arial"/>
                <a:sym typeface="Arial"/>
              </a:rPr>
              <a:t>Phong cách kiến trúc ( Architectural styles)</a:t>
            </a:r>
          </a:p>
          <a:p>
            <a:pPr algn="l" marL="667754" indent="-333877" lvl="1">
              <a:lnSpc>
                <a:spcPts val="3711"/>
              </a:lnSpc>
              <a:buAutoNum type="arabicPeriod" startAt="1"/>
            </a:pPr>
            <a:r>
              <a:rPr lang="en-US" sz="3092">
                <a:solidFill>
                  <a:srgbClr val="000000"/>
                </a:solidFill>
                <a:latin typeface="Arial"/>
                <a:ea typeface="Arial"/>
                <a:cs typeface="Arial"/>
                <a:sym typeface="Arial"/>
              </a:rPr>
              <a:t>Middleware và hệ thống phân tán (Middleware and distributed systems)</a:t>
            </a:r>
          </a:p>
          <a:p>
            <a:pPr algn="l" marL="667754" indent="-333877" lvl="1">
              <a:lnSpc>
                <a:spcPts val="3711"/>
              </a:lnSpc>
              <a:buAutoNum type="arabicPeriod" startAt="1"/>
            </a:pPr>
            <a:r>
              <a:rPr lang="en-US" sz="3092">
                <a:solidFill>
                  <a:srgbClr val="000000"/>
                </a:solidFill>
                <a:latin typeface="Arial"/>
                <a:ea typeface="Arial"/>
                <a:cs typeface="Arial"/>
                <a:sym typeface="Arial"/>
              </a:rPr>
              <a:t>Kiến trúc hệ thống tập trung (Centralized system architectures)</a:t>
            </a:r>
          </a:p>
          <a:p>
            <a:pPr algn="l" marL="667754" indent="-333877" lvl="1">
              <a:lnSpc>
                <a:spcPts val="3711"/>
              </a:lnSpc>
              <a:buAutoNum type="arabicPeriod" startAt="1"/>
            </a:pPr>
            <a:r>
              <a:rPr lang="en-US" sz="3092">
                <a:solidFill>
                  <a:srgbClr val="000000"/>
                </a:solidFill>
                <a:latin typeface="Arial"/>
                <a:ea typeface="Arial"/>
                <a:cs typeface="Arial"/>
                <a:sym typeface="Arial"/>
              </a:rPr>
              <a:t>Kiến trúc hệ thống phân tán đối xứng (Symmetrically distributed system architectures)</a:t>
            </a:r>
          </a:p>
          <a:p>
            <a:pPr algn="l" marL="667754" indent="-333877" lvl="1">
              <a:lnSpc>
                <a:spcPts val="3711"/>
              </a:lnSpc>
              <a:spcBef>
                <a:spcPct val="0"/>
              </a:spcBef>
              <a:buAutoNum type="arabicPeriod" startAt="1"/>
            </a:pPr>
            <a:r>
              <a:rPr lang="en-US" sz="3092">
                <a:solidFill>
                  <a:srgbClr val="000000"/>
                </a:solidFill>
                <a:latin typeface="Arial"/>
                <a:ea typeface="Arial"/>
                <a:cs typeface="Arial"/>
                <a:sym typeface="Arial"/>
              </a:rPr>
              <a:t>Kiến trúc hệ thống lai (Hybrid system architectures)</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2259047" y="2739486"/>
            <a:ext cx="4843269" cy="1095332"/>
          </a:xfrm>
          <a:prstGeom prst="rect">
            <a:avLst/>
          </a:prstGeom>
        </p:spPr>
        <p:txBody>
          <a:bodyPr anchor="t" rtlCol="false" tIns="0" lIns="0" bIns="0" rIns="0">
            <a:spAutoFit/>
          </a:bodyPr>
          <a:lstStyle/>
          <a:p>
            <a:pPr algn="ctr">
              <a:lnSpc>
                <a:spcPts val="4063"/>
              </a:lnSpc>
              <a:spcBef>
                <a:spcPct val="0"/>
              </a:spcBef>
            </a:pPr>
            <a:r>
              <a:rPr lang="en-US" b="true" sz="3386">
                <a:solidFill>
                  <a:srgbClr val="000000"/>
                </a:solidFill>
                <a:latin typeface="Arial Bold"/>
                <a:ea typeface="Arial Bold"/>
                <a:cs typeface="Arial Bold"/>
                <a:sym typeface="Arial Bold"/>
              </a:rPr>
              <a:t>1.</a:t>
            </a:r>
            <a:r>
              <a:rPr lang="en-US" b="true" sz="3386">
                <a:solidFill>
                  <a:srgbClr val="000000"/>
                </a:solidFill>
                <a:latin typeface="Arial Bold"/>
                <a:ea typeface="Arial Bold"/>
                <a:cs typeface="Arial Bold"/>
                <a:sym typeface="Arial Bold"/>
              </a:rPr>
              <a:t>Phong cách kiến trúc </a:t>
            </a:r>
          </a:p>
          <a:p>
            <a:pPr algn="ctr">
              <a:lnSpc>
                <a:spcPts val="4063"/>
              </a:lnSpc>
              <a:spcBef>
                <a:spcPct val="0"/>
              </a:spcBef>
            </a:pPr>
            <a:r>
              <a:rPr lang="en-US" b="true" sz="3386">
                <a:solidFill>
                  <a:srgbClr val="000000"/>
                </a:solidFill>
                <a:latin typeface="Arial Bold"/>
                <a:ea typeface="Arial Bold"/>
                <a:cs typeface="Arial Bold"/>
                <a:sym typeface="Arial Bold"/>
              </a:rPr>
              <a:t>( Architectural styles)</a:t>
            </a:r>
          </a:p>
        </p:txBody>
      </p:sp>
      <p:grpSp>
        <p:nvGrpSpPr>
          <p:cNvPr name="Group 4" id="4"/>
          <p:cNvGrpSpPr/>
          <p:nvPr/>
        </p:nvGrpSpPr>
        <p:grpSpPr>
          <a:xfrm rot="0">
            <a:off x="6990080" y="6780108"/>
            <a:ext cx="2275840" cy="389467"/>
            <a:chOff x="0" y="0"/>
            <a:chExt cx="3034453" cy="519289"/>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6" id="6"/>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3</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96573" y="8596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marL="644821" indent="-322411" lvl="1">
                <a:lnSpc>
                  <a:spcPts val="3583"/>
                </a:lnSpc>
                <a:buAutoNum type="arabicPeriod" startAt="1"/>
              </a:pPr>
              <a:r>
                <a:rPr lang="en-US" b="true" sz="2986">
                  <a:solidFill>
                    <a:srgbClr val="FFFF00"/>
                  </a:solidFill>
                  <a:latin typeface="Arial Bold"/>
                  <a:ea typeface="Arial Bold"/>
                  <a:cs typeface="Arial Bold"/>
                  <a:sym typeface="Arial Bold"/>
                </a:rPr>
                <a:t>Phong cách kiến trúc ( Architectural styles)</a:t>
              </a:r>
            </a:p>
          </p:txBody>
        </p:sp>
      </p:grpSp>
      <p:grpSp>
        <p:nvGrpSpPr>
          <p:cNvPr name="Group 6" id="6"/>
          <p:cNvGrpSpPr/>
          <p:nvPr/>
        </p:nvGrpSpPr>
        <p:grpSpPr>
          <a:xfrm rot="0">
            <a:off x="243840" y="1342625"/>
            <a:ext cx="8778240" cy="626873"/>
            <a:chOff x="0" y="0"/>
            <a:chExt cx="11704320" cy="835831"/>
          </a:xfrm>
        </p:grpSpPr>
        <p:sp>
          <p:nvSpPr>
            <p:cNvPr name="Freeform 7" id="7"/>
            <p:cNvSpPr/>
            <p:nvPr/>
          </p:nvSpPr>
          <p:spPr>
            <a:xfrm flipH="false" flipV="false" rot="0">
              <a:off x="0" y="0"/>
              <a:ext cx="11704320" cy="835831"/>
            </a:xfrm>
            <a:custGeom>
              <a:avLst/>
              <a:gdLst/>
              <a:ahLst/>
              <a:cxnLst/>
              <a:rect r="r" b="b" t="t" l="l"/>
              <a:pathLst>
                <a:path h="835831" w="11704320">
                  <a:moveTo>
                    <a:pt x="0" y="0"/>
                  </a:moveTo>
                  <a:lnTo>
                    <a:pt x="11704320" y="0"/>
                  </a:lnTo>
                  <a:lnTo>
                    <a:pt x="11704320" y="835831"/>
                  </a:lnTo>
                  <a:lnTo>
                    <a:pt x="0" y="835831"/>
                  </a:lnTo>
                  <a:close/>
                </a:path>
              </a:pathLst>
            </a:custGeom>
            <a:solidFill>
              <a:srgbClr val="000000">
                <a:alpha val="0"/>
              </a:srgbClr>
            </a:solidFill>
          </p:spPr>
        </p:sp>
        <p:sp>
          <p:nvSpPr>
            <p:cNvPr name="TextBox 8" id="8"/>
            <p:cNvSpPr txBox="true"/>
            <p:nvPr/>
          </p:nvSpPr>
          <p:spPr>
            <a:xfrm>
              <a:off x="0" y="-57150"/>
              <a:ext cx="11704320" cy="892981"/>
            </a:xfrm>
            <a:prstGeom prst="rect">
              <a:avLst/>
            </a:prstGeom>
          </p:spPr>
          <p:txBody>
            <a:bodyPr anchor="t" rtlCol="false" tIns="0" lIns="0" bIns="0" rIns="0"/>
            <a:lstStyle/>
            <a:p>
              <a:pPr algn="l">
                <a:lnSpc>
                  <a:spcPts val="3327"/>
                </a:lnSpc>
              </a:pPr>
              <a:r>
                <a:rPr lang="en-US" sz="2773" b="true">
                  <a:solidFill>
                    <a:srgbClr val="000000"/>
                  </a:solidFill>
                  <a:latin typeface="Arial Bold"/>
                  <a:ea typeface="Arial Bold"/>
                  <a:cs typeface="Arial Bold"/>
                  <a:sym typeface="Arial Bold"/>
                </a:rPr>
                <a:t>Các yếu tố cơ bản</a:t>
              </a:r>
            </a:p>
          </p:txBody>
        </p:sp>
      </p:grpSp>
      <p:sp>
        <p:nvSpPr>
          <p:cNvPr name="TextBox 9" id="9"/>
          <p:cNvSpPr txBox="true"/>
          <p:nvPr/>
        </p:nvSpPr>
        <p:spPr>
          <a:xfrm rot="0">
            <a:off x="377780" y="1921873"/>
            <a:ext cx="9517150" cy="409532"/>
          </a:xfrm>
          <a:prstGeom prst="rect">
            <a:avLst/>
          </a:prstGeom>
        </p:spPr>
        <p:txBody>
          <a:bodyPr anchor="t" rtlCol="false" tIns="0" lIns="0" bIns="0" rIns="0">
            <a:spAutoFit/>
          </a:bodyPr>
          <a:lstStyle/>
          <a:p>
            <a:pPr algn="l">
              <a:lnSpc>
                <a:spcPts val="2885"/>
              </a:lnSpc>
            </a:pPr>
            <a:r>
              <a:rPr lang="en-US" b="true" sz="2404">
                <a:solidFill>
                  <a:srgbClr val="000000"/>
                </a:solidFill>
                <a:latin typeface="Arial Bold"/>
                <a:ea typeface="Arial Bold"/>
                <a:cs typeface="Arial Bold"/>
                <a:sym typeface="Arial Bold"/>
              </a:rPr>
              <a:t>1.Thành phần có thể thay thế được với giao diện rõ ràng.</a:t>
            </a:r>
          </a:p>
        </p:txBody>
      </p:sp>
      <p:sp>
        <p:nvSpPr>
          <p:cNvPr name="TextBox 10" id="10"/>
          <p:cNvSpPr txBox="true"/>
          <p:nvPr/>
        </p:nvSpPr>
        <p:spPr>
          <a:xfrm rot="0">
            <a:off x="377780" y="2531473"/>
            <a:ext cx="9517150" cy="409532"/>
          </a:xfrm>
          <a:prstGeom prst="rect">
            <a:avLst/>
          </a:prstGeom>
        </p:spPr>
        <p:txBody>
          <a:bodyPr anchor="t" rtlCol="false" tIns="0" lIns="0" bIns="0" rIns="0">
            <a:spAutoFit/>
          </a:bodyPr>
          <a:lstStyle/>
          <a:p>
            <a:pPr algn="l">
              <a:lnSpc>
                <a:spcPts val="2885"/>
              </a:lnSpc>
            </a:pPr>
            <a:r>
              <a:rPr lang="en-US" b="true" sz="2404">
                <a:solidFill>
                  <a:srgbClr val="000000"/>
                </a:solidFill>
                <a:latin typeface="Arial Bold"/>
                <a:ea typeface="Arial Bold"/>
                <a:cs typeface="Arial Bold"/>
                <a:sym typeface="Arial Bold"/>
              </a:rPr>
              <a:t>2. Cách các thành phần được kết nối với nhau.</a:t>
            </a:r>
          </a:p>
        </p:txBody>
      </p:sp>
      <p:sp>
        <p:nvSpPr>
          <p:cNvPr name="TextBox 11" id="11"/>
          <p:cNvSpPr txBox="true"/>
          <p:nvPr/>
        </p:nvSpPr>
        <p:spPr>
          <a:xfrm rot="0">
            <a:off x="377780" y="3093405"/>
            <a:ext cx="9517150" cy="409532"/>
          </a:xfrm>
          <a:prstGeom prst="rect">
            <a:avLst/>
          </a:prstGeom>
        </p:spPr>
        <p:txBody>
          <a:bodyPr anchor="t" rtlCol="false" tIns="0" lIns="0" bIns="0" rIns="0">
            <a:spAutoFit/>
          </a:bodyPr>
          <a:lstStyle/>
          <a:p>
            <a:pPr algn="l">
              <a:lnSpc>
                <a:spcPts val="2885"/>
              </a:lnSpc>
            </a:pPr>
            <a:r>
              <a:rPr lang="en-US" b="true" sz="2404">
                <a:solidFill>
                  <a:srgbClr val="000000"/>
                </a:solidFill>
                <a:latin typeface="Arial Bold"/>
                <a:ea typeface="Arial Bold"/>
                <a:cs typeface="Arial Bold"/>
                <a:sym typeface="Arial Bold"/>
              </a:rPr>
              <a:t>3. Dữ liệu trao đổi giữa các thành phần.</a:t>
            </a:r>
          </a:p>
        </p:txBody>
      </p:sp>
      <p:sp>
        <p:nvSpPr>
          <p:cNvPr name="TextBox 12" id="12"/>
          <p:cNvSpPr txBox="true"/>
          <p:nvPr/>
        </p:nvSpPr>
        <p:spPr>
          <a:xfrm rot="0">
            <a:off x="377780" y="3657600"/>
            <a:ext cx="9627051" cy="1133346"/>
          </a:xfrm>
          <a:prstGeom prst="rect">
            <a:avLst/>
          </a:prstGeom>
        </p:spPr>
        <p:txBody>
          <a:bodyPr anchor="t" rtlCol="false" tIns="0" lIns="0" bIns="0" rIns="0">
            <a:spAutoFit/>
          </a:bodyPr>
          <a:lstStyle/>
          <a:p>
            <a:pPr algn="l">
              <a:lnSpc>
                <a:spcPts val="2885"/>
              </a:lnSpc>
            </a:pPr>
            <a:r>
              <a:rPr lang="en-US" sz="2404" b="true">
                <a:solidFill>
                  <a:srgbClr val="000000"/>
                </a:solidFill>
                <a:latin typeface="Arial Bold"/>
                <a:ea typeface="Arial Bold"/>
                <a:cs typeface="Arial Bold"/>
                <a:sym typeface="Arial Bold"/>
              </a:rPr>
              <a:t>4. Cách các thành phần và kết nối được cấu hình thành một hệ thống</a:t>
            </a:r>
          </a:p>
          <a:p>
            <a:pPr algn="l">
              <a:lnSpc>
                <a:spcPts val="2885"/>
              </a:lnSpc>
            </a:pPr>
          </a:p>
        </p:txBody>
      </p:sp>
      <p:sp>
        <p:nvSpPr>
          <p:cNvPr name="TextBox 13" id="13"/>
          <p:cNvSpPr txBox="true"/>
          <p:nvPr/>
        </p:nvSpPr>
        <p:spPr>
          <a:xfrm rot="0">
            <a:off x="322830" y="4437675"/>
            <a:ext cx="9627051" cy="466682"/>
          </a:xfrm>
          <a:prstGeom prst="rect">
            <a:avLst/>
          </a:prstGeom>
        </p:spPr>
        <p:txBody>
          <a:bodyPr anchor="t" rtlCol="false" tIns="0" lIns="0" bIns="0" rIns="0">
            <a:spAutoFit/>
          </a:bodyPr>
          <a:lstStyle/>
          <a:p>
            <a:pPr algn="l">
              <a:lnSpc>
                <a:spcPts val="3245"/>
              </a:lnSpc>
            </a:pPr>
            <a:r>
              <a:rPr lang="en-US" b="true" sz="2704">
                <a:solidFill>
                  <a:srgbClr val="000000"/>
                </a:solidFill>
                <a:latin typeface="Arial Bold"/>
                <a:ea typeface="Arial Bold"/>
                <a:cs typeface="Arial Bold"/>
                <a:sym typeface="Arial Bold"/>
              </a:rPr>
              <a:t>Connector</a:t>
            </a:r>
          </a:p>
        </p:txBody>
      </p:sp>
      <p:sp>
        <p:nvSpPr>
          <p:cNvPr name="TextBox 14" id="14"/>
          <p:cNvSpPr txBox="true"/>
          <p:nvPr/>
        </p:nvSpPr>
        <p:spPr>
          <a:xfrm rot="0">
            <a:off x="487681" y="4856732"/>
            <a:ext cx="8445215" cy="1809965"/>
          </a:xfrm>
          <a:prstGeom prst="rect">
            <a:avLst/>
          </a:prstGeom>
        </p:spPr>
        <p:txBody>
          <a:bodyPr anchor="t" rtlCol="false" tIns="0" lIns="0" bIns="0" rIns="0">
            <a:spAutoFit/>
          </a:bodyPr>
          <a:lstStyle/>
          <a:p>
            <a:pPr algn="l">
              <a:lnSpc>
                <a:spcPts val="2813"/>
              </a:lnSpc>
              <a:spcBef>
                <a:spcPct val="0"/>
              </a:spcBef>
            </a:pPr>
            <a:r>
              <a:rPr lang="en-US" b="true" sz="2344">
                <a:solidFill>
                  <a:srgbClr val="000000"/>
                </a:solidFill>
                <a:latin typeface="Arial Bold"/>
                <a:ea typeface="Arial Bold"/>
                <a:cs typeface="Arial Bold"/>
                <a:sym typeface="Arial Bold"/>
              </a:rPr>
              <a:t>Cơ chế trung gian giúp các thành phần (components) trong hệ thống giao tiếp, phối hợp, hoặc hợp tác với nhau. Connector đóng vai trò là cầu nối, cho phép luồng dữ liệu và luồng điều khiển được thực hiện giữa các thành phần một cách hiệu quả.</a:t>
            </a:r>
          </a:p>
        </p:txBody>
      </p:sp>
      <p:grpSp>
        <p:nvGrpSpPr>
          <p:cNvPr name="Group 15" id="15"/>
          <p:cNvGrpSpPr/>
          <p:nvPr/>
        </p:nvGrpSpPr>
        <p:grpSpPr>
          <a:xfrm rot="0">
            <a:off x="6990080" y="6780108"/>
            <a:ext cx="2275840" cy="389467"/>
            <a:chOff x="0" y="0"/>
            <a:chExt cx="3034453" cy="519289"/>
          </a:xfrm>
        </p:grpSpPr>
        <p:sp>
          <p:nvSpPr>
            <p:cNvPr name="Freeform 16" id="16"/>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7" id="17"/>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179123" y="83533"/>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marL="644821" indent="-322411" lvl="1">
                <a:lnSpc>
                  <a:spcPts val="3583"/>
                </a:lnSpc>
                <a:buAutoNum type="arabicPeriod" startAt="1"/>
              </a:pPr>
              <a:r>
                <a:rPr lang="en-US" b="true" sz="2986">
                  <a:solidFill>
                    <a:srgbClr val="FFFF00"/>
                  </a:solidFill>
                  <a:latin typeface="Arial Bold"/>
                  <a:ea typeface="Arial Bold"/>
                  <a:cs typeface="Arial Bold"/>
                  <a:sym typeface="Arial Bold"/>
                </a:rPr>
                <a:t>Phong cách kiến trúc ( Architectural styles)</a:t>
              </a:r>
            </a:p>
          </p:txBody>
        </p:sp>
      </p:grpSp>
      <p:sp>
        <p:nvSpPr>
          <p:cNvPr name="Freeform 6" id="6"/>
          <p:cNvSpPr/>
          <p:nvPr/>
        </p:nvSpPr>
        <p:spPr>
          <a:xfrm flipH="false" flipV="false" rot="0">
            <a:off x="4729828" y="1397348"/>
            <a:ext cx="4520504" cy="4520504"/>
          </a:xfrm>
          <a:custGeom>
            <a:avLst/>
            <a:gdLst/>
            <a:ahLst/>
            <a:cxnLst/>
            <a:rect r="r" b="b" t="t" l="l"/>
            <a:pathLst>
              <a:path h="4520504" w="4520504">
                <a:moveTo>
                  <a:pt x="0" y="0"/>
                </a:moveTo>
                <a:lnTo>
                  <a:pt x="4520504" y="0"/>
                </a:lnTo>
                <a:lnTo>
                  <a:pt x="4520504" y="4520504"/>
                </a:lnTo>
                <a:lnTo>
                  <a:pt x="0" y="4520504"/>
                </a:lnTo>
                <a:lnTo>
                  <a:pt x="0" y="0"/>
                </a:lnTo>
                <a:close/>
              </a:path>
            </a:pathLst>
          </a:custGeom>
          <a:blipFill>
            <a:blip r:embed="rId4"/>
            <a:stretch>
              <a:fillRect l="0" t="0" r="0" b="0"/>
            </a:stretch>
          </a:blipFill>
        </p:spPr>
      </p:sp>
      <p:sp>
        <p:nvSpPr>
          <p:cNvPr name="TextBox 7" id="7"/>
          <p:cNvSpPr txBox="true"/>
          <p:nvPr/>
        </p:nvSpPr>
        <p:spPr>
          <a:xfrm rot="0">
            <a:off x="303753" y="1340198"/>
            <a:ext cx="855534" cy="466682"/>
          </a:xfrm>
          <a:prstGeom prst="rect">
            <a:avLst/>
          </a:prstGeom>
        </p:spPr>
        <p:txBody>
          <a:bodyPr anchor="t" rtlCol="false" tIns="0" lIns="0" bIns="0" rIns="0">
            <a:spAutoFit/>
          </a:bodyPr>
          <a:lstStyle/>
          <a:p>
            <a:pPr algn="ctr">
              <a:lnSpc>
                <a:spcPts val="3245"/>
              </a:lnSpc>
              <a:spcBef>
                <a:spcPct val="0"/>
              </a:spcBef>
            </a:pPr>
            <a:r>
              <a:rPr lang="en-US" b="true" sz="2704">
                <a:solidFill>
                  <a:srgbClr val="000000"/>
                </a:solidFill>
                <a:latin typeface="Arial Bold"/>
                <a:ea typeface="Arial Bold"/>
                <a:cs typeface="Arial Bold"/>
                <a:sym typeface="Arial Bold"/>
              </a:rPr>
              <a:t>Ví dụ</a:t>
            </a:r>
          </a:p>
        </p:txBody>
      </p:sp>
      <p:sp>
        <p:nvSpPr>
          <p:cNvPr name="TextBox 8" id="8"/>
          <p:cNvSpPr txBox="true"/>
          <p:nvPr/>
        </p:nvSpPr>
        <p:spPr>
          <a:xfrm rot="0">
            <a:off x="162966" y="2016430"/>
            <a:ext cx="4409967" cy="2638253"/>
          </a:xfrm>
          <a:prstGeom prst="rect">
            <a:avLst/>
          </a:prstGeom>
        </p:spPr>
        <p:txBody>
          <a:bodyPr anchor="t" rtlCol="false" tIns="0" lIns="0" bIns="0" rIns="0">
            <a:spAutoFit/>
          </a:bodyPr>
          <a:lstStyle/>
          <a:p>
            <a:pPr algn="l">
              <a:lnSpc>
                <a:spcPts val="2571"/>
              </a:lnSpc>
            </a:pPr>
            <a:r>
              <a:rPr lang="en-US" sz="2142" b="true">
                <a:solidFill>
                  <a:srgbClr val="000000"/>
                </a:solidFill>
                <a:latin typeface="Arial Bold"/>
                <a:ea typeface="Arial Bold"/>
                <a:cs typeface="Arial Bold"/>
                <a:sym typeface="Arial Bold"/>
              </a:rPr>
              <a:t>Hệ thống web:</a:t>
            </a:r>
          </a:p>
          <a:p>
            <a:pPr algn="l">
              <a:lnSpc>
                <a:spcPts val="2571"/>
              </a:lnSpc>
            </a:pPr>
            <a:r>
              <a:rPr lang="en-US" b="true" sz="2142">
                <a:solidFill>
                  <a:srgbClr val="000000"/>
                </a:solidFill>
                <a:latin typeface="Arial Bold"/>
                <a:ea typeface="Arial Bold"/>
                <a:cs typeface="Arial Bold"/>
                <a:sym typeface="Arial Bold"/>
              </a:rPr>
              <a:t>F</a:t>
            </a:r>
            <a:r>
              <a:rPr lang="en-US" b="true" sz="2142">
                <a:solidFill>
                  <a:srgbClr val="000000"/>
                </a:solidFill>
                <a:latin typeface="Arial Bold"/>
                <a:ea typeface="Arial Bold"/>
                <a:cs typeface="Arial Bold"/>
                <a:sym typeface="Arial Bold"/>
              </a:rPr>
              <a:t>rontend ↔ Backend:</a:t>
            </a:r>
          </a:p>
          <a:p>
            <a:pPr algn="l">
              <a:lnSpc>
                <a:spcPts val="2571"/>
              </a:lnSpc>
            </a:pPr>
            <a:r>
              <a:rPr lang="en-US" b="true" sz="2142">
                <a:solidFill>
                  <a:srgbClr val="000000"/>
                </a:solidFill>
                <a:latin typeface="Arial Bold"/>
                <a:ea typeface="Arial Bold"/>
                <a:cs typeface="Arial Bold"/>
                <a:sym typeface="Arial Bold"/>
              </a:rPr>
              <a:t>Connector: HTTP/HTTPS (giao thức truyền tải dữ liệu).</a:t>
            </a:r>
          </a:p>
          <a:p>
            <a:pPr algn="l">
              <a:lnSpc>
                <a:spcPts val="2571"/>
              </a:lnSpc>
            </a:pPr>
            <a:r>
              <a:rPr lang="en-US" b="true" sz="2142">
                <a:solidFill>
                  <a:srgbClr val="000000"/>
                </a:solidFill>
                <a:latin typeface="Arial Bold"/>
                <a:ea typeface="Arial Bold"/>
                <a:cs typeface="Arial Bold"/>
                <a:sym typeface="Arial Bold"/>
              </a:rPr>
              <a:t>Giao tiếp: Frontend gửi yêu cầu API, Backend xử lý và trả về kết quả.</a:t>
            </a:r>
          </a:p>
          <a:p>
            <a:pPr algn="l">
              <a:lnSpc>
                <a:spcPts val="2571"/>
              </a:lnSpc>
            </a:pPr>
          </a:p>
        </p:txBody>
      </p:sp>
      <p:grpSp>
        <p:nvGrpSpPr>
          <p:cNvPr name="Group 9" id="9"/>
          <p:cNvGrpSpPr/>
          <p:nvPr/>
        </p:nvGrpSpPr>
        <p:grpSpPr>
          <a:xfrm rot="0">
            <a:off x="6990080" y="6780108"/>
            <a:ext cx="2275840" cy="389467"/>
            <a:chOff x="0" y="0"/>
            <a:chExt cx="3034453" cy="519289"/>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1" id="11"/>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5</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87681" y="8128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Kiến trúc phân lớp (Layered architecture)</a:t>
              </a:r>
            </a:p>
          </p:txBody>
        </p:sp>
      </p:grpSp>
      <p:sp>
        <p:nvSpPr>
          <p:cNvPr name="TextBox 6" id="6"/>
          <p:cNvSpPr txBox="true"/>
          <p:nvPr/>
        </p:nvSpPr>
        <p:spPr>
          <a:xfrm rot="0">
            <a:off x="367478" y="2102586"/>
            <a:ext cx="9386122" cy="1419311"/>
          </a:xfrm>
          <a:prstGeom prst="rect">
            <a:avLst/>
          </a:prstGeom>
        </p:spPr>
        <p:txBody>
          <a:bodyPr anchor="t" rtlCol="false" tIns="0" lIns="0" bIns="0" rIns="0">
            <a:spAutoFit/>
          </a:bodyPr>
          <a:lstStyle/>
          <a:p>
            <a:pPr algn="l">
              <a:lnSpc>
                <a:spcPts val="2765"/>
              </a:lnSpc>
              <a:spcBef>
                <a:spcPct val="0"/>
              </a:spcBef>
            </a:pPr>
            <a:r>
              <a:rPr lang="en-US" b="true" sz="2304">
                <a:solidFill>
                  <a:srgbClr val="000000"/>
                </a:solidFill>
                <a:latin typeface="Arial Bold"/>
                <a:ea typeface="Arial Bold"/>
                <a:cs typeface="Arial Bold"/>
                <a:sym typeface="Arial Bold"/>
              </a:rPr>
              <a:t> Các thành phần (components) được tổ chức theo từng tầng, trong đó một thành phần ở tầng Lj có thể thực hiện một downcall đến một thành phần ở tầng thấp hơn Li (với i&lt;j) và thường mong đợi nhận được phản hồi. </a:t>
            </a:r>
          </a:p>
        </p:txBody>
      </p:sp>
      <p:sp>
        <p:nvSpPr>
          <p:cNvPr name="TextBox 7" id="7"/>
          <p:cNvSpPr txBox="true"/>
          <p:nvPr/>
        </p:nvSpPr>
        <p:spPr>
          <a:xfrm rot="0">
            <a:off x="178588" y="1271026"/>
            <a:ext cx="2781837" cy="466682"/>
          </a:xfrm>
          <a:prstGeom prst="rect">
            <a:avLst/>
          </a:prstGeom>
        </p:spPr>
        <p:txBody>
          <a:bodyPr anchor="t" rtlCol="false" tIns="0" lIns="0" bIns="0" rIns="0">
            <a:spAutoFit/>
          </a:bodyPr>
          <a:lstStyle/>
          <a:p>
            <a:pPr algn="l">
              <a:lnSpc>
                <a:spcPts val="3245"/>
              </a:lnSpc>
              <a:spcBef>
                <a:spcPct val="0"/>
              </a:spcBef>
            </a:pPr>
            <a:r>
              <a:rPr lang="en-US" b="true" sz="2704">
                <a:solidFill>
                  <a:srgbClr val="000000"/>
                </a:solidFill>
                <a:latin typeface="Arial Bold"/>
                <a:ea typeface="Arial Bold"/>
                <a:cs typeface="Arial Bold"/>
                <a:sym typeface="Arial Bold"/>
              </a:rPr>
              <a:t>Ý tưởng cơ bản</a:t>
            </a:r>
          </a:p>
        </p:txBody>
      </p:sp>
      <p:sp>
        <p:nvSpPr>
          <p:cNvPr name="TextBox 8" id="8"/>
          <p:cNvSpPr txBox="true"/>
          <p:nvPr/>
        </p:nvSpPr>
        <p:spPr>
          <a:xfrm rot="0">
            <a:off x="427580" y="4143576"/>
            <a:ext cx="9265919" cy="733468"/>
          </a:xfrm>
          <a:prstGeom prst="rect">
            <a:avLst/>
          </a:prstGeom>
        </p:spPr>
        <p:txBody>
          <a:bodyPr anchor="t" rtlCol="false" tIns="0" lIns="0" bIns="0" rIns="0">
            <a:spAutoFit/>
          </a:bodyPr>
          <a:lstStyle/>
          <a:p>
            <a:pPr algn="l">
              <a:lnSpc>
                <a:spcPts val="2765"/>
              </a:lnSpc>
              <a:spcBef>
                <a:spcPct val="0"/>
              </a:spcBef>
            </a:pPr>
            <a:r>
              <a:rPr lang="en-US" b="true" sz="2304">
                <a:solidFill>
                  <a:srgbClr val="000000"/>
                </a:solidFill>
                <a:latin typeface="Arial Bold"/>
                <a:ea typeface="Arial Bold"/>
                <a:cs typeface="Arial Bold"/>
                <a:sym typeface="Arial Bold"/>
              </a:rPr>
              <a:t>Chỉ trong những trường hợp đặc biệt, một upcall mới được thực hiện đến một thành phần ở tầng cao hơn</a:t>
            </a:r>
          </a:p>
        </p:txBody>
      </p:sp>
      <p:grpSp>
        <p:nvGrpSpPr>
          <p:cNvPr name="Group 9" id="9"/>
          <p:cNvGrpSpPr/>
          <p:nvPr/>
        </p:nvGrpSpPr>
        <p:grpSpPr>
          <a:xfrm rot="0">
            <a:off x="6990080" y="6780108"/>
            <a:ext cx="2275840" cy="389467"/>
            <a:chOff x="0" y="0"/>
            <a:chExt cx="3034453" cy="519289"/>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1" id="11"/>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6</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7389" y="20320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marL="644821" indent="-322411" lvl="1">
                <a:lnSpc>
                  <a:spcPts val="3583"/>
                </a:lnSpc>
                <a:buAutoNum type="arabicPeriod" startAt="1"/>
              </a:pPr>
              <a:r>
                <a:rPr lang="en-US" b="true" sz="2986">
                  <a:solidFill>
                    <a:srgbClr val="FFFF00"/>
                  </a:solidFill>
                  <a:latin typeface="Arial Bold"/>
                  <a:ea typeface="Arial Bold"/>
                  <a:cs typeface="Arial Bold"/>
                  <a:sym typeface="Arial Bold"/>
                </a:rPr>
                <a:t>2 Kiến trúc phân lớp (Layered architecture)</a:t>
              </a:r>
            </a:p>
          </p:txBody>
        </p:sp>
      </p:grpSp>
      <p:sp>
        <p:nvSpPr>
          <p:cNvPr name="Freeform 6" id="6"/>
          <p:cNvSpPr/>
          <p:nvPr/>
        </p:nvSpPr>
        <p:spPr>
          <a:xfrm flipH="false" flipV="false" rot="0">
            <a:off x="731520" y="1460030"/>
            <a:ext cx="2100458" cy="4086047"/>
          </a:xfrm>
          <a:custGeom>
            <a:avLst/>
            <a:gdLst/>
            <a:ahLst/>
            <a:cxnLst/>
            <a:rect r="r" b="b" t="t" l="l"/>
            <a:pathLst>
              <a:path h="4086047" w="2100458">
                <a:moveTo>
                  <a:pt x="0" y="0"/>
                </a:moveTo>
                <a:lnTo>
                  <a:pt x="2100458" y="0"/>
                </a:lnTo>
                <a:lnTo>
                  <a:pt x="2100458" y="4086047"/>
                </a:lnTo>
                <a:lnTo>
                  <a:pt x="0" y="4086047"/>
                </a:lnTo>
                <a:lnTo>
                  <a:pt x="0" y="0"/>
                </a:lnTo>
                <a:close/>
              </a:path>
            </a:pathLst>
          </a:custGeom>
          <a:blipFill>
            <a:blip r:embed="rId4"/>
            <a:stretch>
              <a:fillRect l="0" t="0" r="0" b="0"/>
            </a:stretch>
          </a:blipFill>
        </p:spPr>
      </p:sp>
      <p:sp>
        <p:nvSpPr>
          <p:cNvPr name="Freeform 7" id="7"/>
          <p:cNvSpPr/>
          <p:nvPr/>
        </p:nvSpPr>
        <p:spPr>
          <a:xfrm flipH="false" flipV="false" rot="0">
            <a:off x="3249745" y="1460030"/>
            <a:ext cx="1983395" cy="3907288"/>
          </a:xfrm>
          <a:custGeom>
            <a:avLst/>
            <a:gdLst/>
            <a:ahLst/>
            <a:cxnLst/>
            <a:rect r="r" b="b" t="t" l="l"/>
            <a:pathLst>
              <a:path h="3907288" w="1983395">
                <a:moveTo>
                  <a:pt x="0" y="0"/>
                </a:moveTo>
                <a:lnTo>
                  <a:pt x="1983395" y="0"/>
                </a:lnTo>
                <a:lnTo>
                  <a:pt x="1983395" y="3907288"/>
                </a:lnTo>
                <a:lnTo>
                  <a:pt x="0" y="3907288"/>
                </a:lnTo>
                <a:lnTo>
                  <a:pt x="0" y="0"/>
                </a:lnTo>
                <a:close/>
              </a:path>
            </a:pathLst>
          </a:custGeom>
          <a:blipFill>
            <a:blip r:embed="rId5"/>
            <a:stretch>
              <a:fillRect l="0" t="0" r="0" b="0"/>
            </a:stretch>
          </a:blipFill>
        </p:spPr>
      </p:sp>
      <p:sp>
        <p:nvSpPr>
          <p:cNvPr name="Freeform 8" id="8"/>
          <p:cNvSpPr/>
          <p:nvPr/>
        </p:nvSpPr>
        <p:spPr>
          <a:xfrm flipH="false" flipV="false" rot="0">
            <a:off x="5565600" y="1689045"/>
            <a:ext cx="3145220" cy="3449258"/>
          </a:xfrm>
          <a:custGeom>
            <a:avLst/>
            <a:gdLst/>
            <a:ahLst/>
            <a:cxnLst/>
            <a:rect r="r" b="b" t="t" l="l"/>
            <a:pathLst>
              <a:path h="3449258" w="3145220">
                <a:moveTo>
                  <a:pt x="0" y="0"/>
                </a:moveTo>
                <a:lnTo>
                  <a:pt x="3145221" y="0"/>
                </a:lnTo>
                <a:lnTo>
                  <a:pt x="3145221" y="3449258"/>
                </a:lnTo>
                <a:lnTo>
                  <a:pt x="0" y="3449258"/>
                </a:lnTo>
                <a:lnTo>
                  <a:pt x="0" y="0"/>
                </a:lnTo>
                <a:close/>
              </a:path>
            </a:pathLst>
          </a:custGeom>
          <a:blipFill>
            <a:blip r:embed="rId6"/>
            <a:stretch>
              <a:fillRect l="0" t="0" r="0" b="0"/>
            </a:stretch>
          </a:blipFill>
        </p:spPr>
      </p:sp>
      <p:grpSp>
        <p:nvGrpSpPr>
          <p:cNvPr name="Group 9" id="9"/>
          <p:cNvGrpSpPr/>
          <p:nvPr/>
        </p:nvGrpSpPr>
        <p:grpSpPr>
          <a:xfrm rot="0">
            <a:off x="6990080" y="6780108"/>
            <a:ext cx="2275840" cy="389467"/>
            <a:chOff x="0" y="0"/>
            <a:chExt cx="3034453" cy="519289"/>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1" id="11"/>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7</a:t>
              </a:r>
            </a:p>
          </p:txBody>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87681" y="8128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Kiến trúc phân lớp (Layered architecture)</a:t>
              </a:r>
            </a:p>
          </p:txBody>
        </p:sp>
      </p:grpSp>
      <p:sp>
        <p:nvSpPr>
          <p:cNvPr name="Freeform 6" id="6"/>
          <p:cNvSpPr/>
          <p:nvPr/>
        </p:nvSpPr>
        <p:spPr>
          <a:xfrm flipH="false" flipV="false" rot="0">
            <a:off x="731520" y="1460030"/>
            <a:ext cx="2100458" cy="4086047"/>
          </a:xfrm>
          <a:custGeom>
            <a:avLst/>
            <a:gdLst/>
            <a:ahLst/>
            <a:cxnLst/>
            <a:rect r="r" b="b" t="t" l="l"/>
            <a:pathLst>
              <a:path h="4086047" w="2100458">
                <a:moveTo>
                  <a:pt x="0" y="0"/>
                </a:moveTo>
                <a:lnTo>
                  <a:pt x="2100458" y="0"/>
                </a:lnTo>
                <a:lnTo>
                  <a:pt x="2100458" y="4086047"/>
                </a:lnTo>
                <a:lnTo>
                  <a:pt x="0" y="4086047"/>
                </a:lnTo>
                <a:lnTo>
                  <a:pt x="0" y="0"/>
                </a:lnTo>
                <a:close/>
              </a:path>
            </a:pathLst>
          </a:custGeom>
          <a:blipFill>
            <a:blip r:embed="rId4"/>
            <a:stretch>
              <a:fillRect l="0" t="0" r="0" b="0"/>
            </a:stretch>
          </a:blipFill>
        </p:spPr>
      </p:sp>
      <p:sp>
        <p:nvSpPr>
          <p:cNvPr name="TextBox 7" id="7"/>
          <p:cNvSpPr txBox="true"/>
          <p:nvPr/>
        </p:nvSpPr>
        <p:spPr>
          <a:xfrm rot="0">
            <a:off x="3350053" y="1752600"/>
            <a:ext cx="5205037" cy="1904785"/>
          </a:xfrm>
          <a:prstGeom prst="rect">
            <a:avLst/>
          </a:prstGeom>
        </p:spPr>
        <p:txBody>
          <a:bodyPr anchor="t" rtlCol="false" tIns="0" lIns="0" bIns="0" rIns="0">
            <a:spAutoFit/>
          </a:bodyPr>
          <a:lstStyle/>
          <a:p>
            <a:pPr algn="l">
              <a:lnSpc>
                <a:spcPts val="2525"/>
              </a:lnSpc>
            </a:pPr>
            <a:r>
              <a:rPr lang="en-US" sz="2104" b="true">
                <a:solidFill>
                  <a:srgbClr val="000000"/>
                </a:solidFill>
                <a:latin typeface="Arial Bold"/>
                <a:ea typeface="Arial Bold"/>
                <a:cs typeface="Arial Bold"/>
                <a:sym typeface="Arial Bold"/>
              </a:rPr>
              <a:t>Tổ chức tiêu chuẩn, trong đó chỉ thực hiện các downcall đến tầng liền kề thấp hơn. Cách tổ chức này thường được áp dụng trong trường hợp giao tiếp mạng.</a:t>
            </a:r>
          </a:p>
          <a:p>
            <a:pPr algn="l">
              <a:lnSpc>
                <a:spcPts val="2525"/>
              </a:lnSpc>
            </a:pPr>
          </a:p>
          <a:p>
            <a:pPr algn="l">
              <a:lnSpc>
                <a:spcPts val="2285"/>
              </a:lnSpc>
              <a:spcBef>
                <a:spcPct val="0"/>
              </a:spcBef>
            </a:pPr>
          </a:p>
        </p:txBody>
      </p:sp>
      <p:grpSp>
        <p:nvGrpSpPr>
          <p:cNvPr name="Group 8" id="8"/>
          <p:cNvGrpSpPr/>
          <p:nvPr/>
        </p:nvGrpSpPr>
        <p:grpSpPr>
          <a:xfrm rot="0">
            <a:off x="6990080" y="6780108"/>
            <a:ext cx="2275840" cy="389467"/>
            <a:chOff x="0" y="0"/>
            <a:chExt cx="3034453" cy="519289"/>
          </a:xfrm>
        </p:grpSpPr>
        <p:sp>
          <p:nvSpPr>
            <p:cNvPr name="Freeform 9" id="9"/>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0" id="10"/>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8</a:t>
              </a:r>
            </a:p>
          </p:txBody>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87681" y="8128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Kiến trúc phân lớp (Layered architecture)</a:t>
              </a:r>
            </a:p>
          </p:txBody>
        </p:sp>
      </p:grpSp>
      <p:sp>
        <p:nvSpPr>
          <p:cNvPr name="TextBox 6" id="6"/>
          <p:cNvSpPr txBox="true"/>
          <p:nvPr/>
        </p:nvSpPr>
        <p:spPr>
          <a:xfrm rot="0">
            <a:off x="3350053" y="1752600"/>
            <a:ext cx="5205037" cy="4447574"/>
          </a:xfrm>
          <a:prstGeom prst="rect">
            <a:avLst/>
          </a:prstGeom>
        </p:spPr>
        <p:txBody>
          <a:bodyPr anchor="t" rtlCol="false" tIns="0" lIns="0" bIns="0" rIns="0">
            <a:spAutoFit/>
          </a:bodyPr>
          <a:lstStyle/>
          <a:p>
            <a:pPr algn="l">
              <a:lnSpc>
                <a:spcPts val="2520"/>
              </a:lnSpc>
            </a:pPr>
            <a:r>
              <a:rPr lang="en-US" sz="2100" b="true">
                <a:solidFill>
                  <a:srgbClr val="000000"/>
                </a:solidFill>
                <a:latin typeface="Arial Bold"/>
                <a:ea typeface="Arial Bold"/>
                <a:cs typeface="Arial Bold"/>
                <a:sym typeface="Arial Bold"/>
              </a:rPr>
              <a:t>Ứng dụng A sử dụng một thư viện LOS để giao tiếp với hệ điều hành. </a:t>
            </a:r>
          </a:p>
          <a:p>
            <a:pPr algn="l">
              <a:lnSpc>
                <a:spcPts val="2520"/>
              </a:lnSpc>
            </a:pPr>
          </a:p>
          <a:p>
            <a:pPr algn="l">
              <a:lnSpc>
                <a:spcPts val="2520"/>
              </a:lnSpc>
            </a:pPr>
            <a:r>
              <a:rPr lang="en-US" sz="2100" b="true">
                <a:solidFill>
                  <a:srgbClr val="000000"/>
                </a:solidFill>
                <a:latin typeface="Arial Bold"/>
                <a:ea typeface="Arial Bold"/>
                <a:cs typeface="Arial Bold"/>
                <a:sym typeface="Arial Bold"/>
              </a:rPr>
              <a:t>Đồng thời, ứng dụng này cũng sử dụng một thư viện toán học chuyên biệt Lmath, thư viện này cũng được triển khai bằng cách sử dụng LOS. </a:t>
            </a:r>
          </a:p>
          <a:p>
            <a:pPr algn="l">
              <a:lnSpc>
                <a:spcPts val="2520"/>
              </a:lnSpc>
            </a:pPr>
          </a:p>
          <a:p>
            <a:pPr algn="l">
              <a:lnSpc>
                <a:spcPts val="2520"/>
              </a:lnSpc>
            </a:pPr>
            <a:r>
              <a:rPr lang="en-US" sz="2100" b="true">
                <a:solidFill>
                  <a:srgbClr val="000000"/>
                </a:solidFill>
                <a:latin typeface="Arial Bold"/>
                <a:ea typeface="Arial Bold"/>
                <a:cs typeface="Arial Bold"/>
                <a:sym typeface="Arial Bold"/>
              </a:rPr>
              <a:t>Trong trường hợp này, theo Hình (b), A được triển khai ở tầng N−1, Lmath ở tầng N−2, và LOS, vốn được cả hai sử dụng chung, ở tầng N−3.</a:t>
            </a:r>
          </a:p>
          <a:p>
            <a:pPr algn="l">
              <a:lnSpc>
                <a:spcPts val="2520"/>
              </a:lnSpc>
            </a:pPr>
          </a:p>
          <a:p>
            <a:pPr algn="l">
              <a:lnSpc>
                <a:spcPts val="2520"/>
              </a:lnSpc>
              <a:spcBef>
                <a:spcPct val="0"/>
              </a:spcBef>
            </a:pPr>
          </a:p>
        </p:txBody>
      </p:sp>
      <p:sp>
        <p:nvSpPr>
          <p:cNvPr name="Freeform 7" id="7"/>
          <p:cNvSpPr/>
          <p:nvPr/>
        </p:nvSpPr>
        <p:spPr>
          <a:xfrm flipH="false" flipV="false" rot="0">
            <a:off x="731520" y="1488910"/>
            <a:ext cx="1983395" cy="3907288"/>
          </a:xfrm>
          <a:custGeom>
            <a:avLst/>
            <a:gdLst/>
            <a:ahLst/>
            <a:cxnLst/>
            <a:rect r="r" b="b" t="t" l="l"/>
            <a:pathLst>
              <a:path h="3907288" w="1983395">
                <a:moveTo>
                  <a:pt x="0" y="0"/>
                </a:moveTo>
                <a:lnTo>
                  <a:pt x="1983395" y="0"/>
                </a:lnTo>
                <a:lnTo>
                  <a:pt x="1983395" y="3907288"/>
                </a:lnTo>
                <a:lnTo>
                  <a:pt x="0" y="3907288"/>
                </a:lnTo>
                <a:lnTo>
                  <a:pt x="0" y="0"/>
                </a:lnTo>
                <a:close/>
              </a:path>
            </a:pathLst>
          </a:custGeom>
          <a:blipFill>
            <a:blip r:embed="rId4"/>
            <a:stretch>
              <a:fillRect l="0" t="0" r="0" b="0"/>
            </a:stretch>
          </a:blipFill>
        </p:spPr>
      </p:sp>
      <p:grpSp>
        <p:nvGrpSpPr>
          <p:cNvPr name="Group 8" id="8"/>
          <p:cNvGrpSpPr/>
          <p:nvPr/>
        </p:nvGrpSpPr>
        <p:grpSpPr>
          <a:xfrm rot="0">
            <a:off x="6990080" y="6780108"/>
            <a:ext cx="2275840" cy="389467"/>
            <a:chOff x="0" y="0"/>
            <a:chExt cx="3034453" cy="519289"/>
          </a:xfrm>
        </p:grpSpPr>
        <p:sp>
          <p:nvSpPr>
            <p:cNvPr name="Freeform 9" id="9"/>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0" id="10"/>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9</a:t>
              </a:r>
            </a:p>
          </p:txBody>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87681" y="8128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Kiến trúc phân lớp (Layered architecture)</a:t>
              </a:r>
            </a:p>
          </p:txBody>
        </p:sp>
      </p:grpSp>
      <p:sp>
        <p:nvSpPr>
          <p:cNvPr name="TextBox 6" id="6"/>
          <p:cNvSpPr txBox="true"/>
          <p:nvPr/>
        </p:nvSpPr>
        <p:spPr>
          <a:xfrm rot="0">
            <a:off x="4187566" y="1755161"/>
            <a:ext cx="4727814" cy="3286361"/>
          </a:xfrm>
          <a:prstGeom prst="rect">
            <a:avLst/>
          </a:prstGeom>
        </p:spPr>
        <p:txBody>
          <a:bodyPr anchor="t" rtlCol="false" tIns="0" lIns="0" bIns="0" rIns="0">
            <a:spAutoFit/>
          </a:bodyPr>
          <a:lstStyle/>
          <a:p>
            <a:pPr algn="just">
              <a:lnSpc>
                <a:spcPts val="2331"/>
              </a:lnSpc>
            </a:pPr>
            <a:r>
              <a:rPr lang="en-US" sz="1943" b="true">
                <a:solidFill>
                  <a:srgbClr val="000000"/>
                </a:solidFill>
                <a:latin typeface="Arial Bold"/>
                <a:ea typeface="Arial Bold"/>
                <a:cs typeface="Arial Bold"/>
                <a:sym typeface="Arial Bold"/>
              </a:rPr>
              <a:t>Trong một số trường hợp, việc để một tầng thấp hơn thực hiện upcall đến tầng cao hơn liền kề có thể rất tiện lợi. </a:t>
            </a:r>
          </a:p>
          <a:p>
            <a:pPr algn="just">
              <a:lnSpc>
                <a:spcPts val="2331"/>
              </a:lnSpc>
            </a:pPr>
          </a:p>
          <a:p>
            <a:pPr algn="just">
              <a:lnSpc>
                <a:spcPts val="2331"/>
              </a:lnSpc>
            </a:pPr>
            <a:r>
              <a:rPr lang="en-US" b="true" sz="1943">
                <a:solidFill>
                  <a:srgbClr val="000000"/>
                </a:solidFill>
                <a:latin typeface="Arial Bold"/>
                <a:ea typeface="Arial Bold"/>
                <a:cs typeface="Arial Bold"/>
                <a:sym typeface="Arial Bold"/>
              </a:rPr>
              <a:t>Một ví dụ điển hình là khi hệ điều hành báo hiệu sự kiện xảy ra, lúc này nó sẽ gọi một thao tác do người dùng định nghĩa mà trước đó ứng dụng đã cung cấp một tham chiếu (thường được gọi là </a:t>
            </a:r>
            <a:r>
              <a:rPr lang="en-US" b="true" sz="1943">
                <a:solidFill>
                  <a:srgbClr val="FF0000"/>
                </a:solidFill>
                <a:latin typeface="Arial Bold"/>
                <a:ea typeface="Arial Bold"/>
                <a:cs typeface="Arial Bold"/>
                <a:sym typeface="Arial Bold"/>
              </a:rPr>
              <a:t>handle</a:t>
            </a:r>
            <a:r>
              <a:rPr lang="en-US" b="true" sz="1943">
                <a:solidFill>
                  <a:srgbClr val="000000"/>
                </a:solidFill>
                <a:latin typeface="Arial Bold"/>
                <a:ea typeface="Arial Bold"/>
                <a:cs typeface="Arial Bold"/>
                <a:sym typeface="Arial Bold"/>
              </a:rPr>
              <a:t>).</a:t>
            </a:r>
          </a:p>
          <a:p>
            <a:pPr algn="just">
              <a:lnSpc>
                <a:spcPts val="2331"/>
              </a:lnSpc>
            </a:pPr>
          </a:p>
        </p:txBody>
      </p:sp>
      <p:sp>
        <p:nvSpPr>
          <p:cNvPr name="Freeform 7" id="7"/>
          <p:cNvSpPr/>
          <p:nvPr/>
        </p:nvSpPr>
        <p:spPr>
          <a:xfrm flipH="false" flipV="false" rot="0">
            <a:off x="291364" y="1547783"/>
            <a:ext cx="3452678" cy="3786437"/>
          </a:xfrm>
          <a:custGeom>
            <a:avLst/>
            <a:gdLst/>
            <a:ahLst/>
            <a:cxnLst/>
            <a:rect r="r" b="b" t="t" l="l"/>
            <a:pathLst>
              <a:path h="3786437" w="3452678">
                <a:moveTo>
                  <a:pt x="0" y="0"/>
                </a:moveTo>
                <a:lnTo>
                  <a:pt x="3452678" y="0"/>
                </a:lnTo>
                <a:lnTo>
                  <a:pt x="3452678" y="3786437"/>
                </a:lnTo>
                <a:lnTo>
                  <a:pt x="0" y="3786437"/>
                </a:lnTo>
                <a:lnTo>
                  <a:pt x="0" y="0"/>
                </a:lnTo>
                <a:close/>
              </a:path>
            </a:pathLst>
          </a:custGeom>
          <a:blipFill>
            <a:blip r:embed="rId4"/>
            <a:stretch>
              <a:fillRect l="0" t="0" r="0" b="0"/>
            </a:stretch>
          </a:blipFill>
        </p:spPr>
      </p:sp>
      <p:grpSp>
        <p:nvGrpSpPr>
          <p:cNvPr name="Group 8" id="8"/>
          <p:cNvGrpSpPr/>
          <p:nvPr/>
        </p:nvGrpSpPr>
        <p:grpSpPr>
          <a:xfrm rot="0">
            <a:off x="6990080" y="6780108"/>
            <a:ext cx="2275840" cy="389467"/>
            <a:chOff x="0" y="0"/>
            <a:chExt cx="3034453" cy="519289"/>
          </a:xfrm>
        </p:grpSpPr>
        <p:sp>
          <p:nvSpPr>
            <p:cNvPr name="Freeform 9" id="9"/>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0" id="10"/>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10</a:t>
              </a:r>
            </a:p>
          </p:txBody>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87681" y="8128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Các giao thức giao tiếp (communication protocols)</a:t>
              </a:r>
            </a:p>
          </p:txBody>
        </p:sp>
      </p:grpSp>
      <p:sp>
        <p:nvSpPr>
          <p:cNvPr name="Freeform 6" id="6"/>
          <p:cNvSpPr/>
          <p:nvPr/>
        </p:nvSpPr>
        <p:spPr>
          <a:xfrm flipH="false" flipV="false" rot="0">
            <a:off x="274744" y="1598915"/>
            <a:ext cx="6027338" cy="3438696"/>
          </a:xfrm>
          <a:custGeom>
            <a:avLst/>
            <a:gdLst/>
            <a:ahLst/>
            <a:cxnLst/>
            <a:rect r="r" b="b" t="t" l="l"/>
            <a:pathLst>
              <a:path h="3438696" w="6027338">
                <a:moveTo>
                  <a:pt x="0" y="0"/>
                </a:moveTo>
                <a:lnTo>
                  <a:pt x="6027338" y="0"/>
                </a:lnTo>
                <a:lnTo>
                  <a:pt x="6027338" y="3438696"/>
                </a:lnTo>
                <a:lnTo>
                  <a:pt x="0" y="3438696"/>
                </a:lnTo>
                <a:lnTo>
                  <a:pt x="0" y="0"/>
                </a:lnTo>
                <a:close/>
              </a:path>
            </a:pathLst>
          </a:custGeom>
          <a:blipFill>
            <a:blip r:embed="rId4"/>
            <a:stretch>
              <a:fillRect l="-11017" t="0" r="-11017" b="0"/>
            </a:stretch>
          </a:blipFill>
        </p:spPr>
      </p:sp>
      <p:grpSp>
        <p:nvGrpSpPr>
          <p:cNvPr name="Group 7" id="7"/>
          <p:cNvGrpSpPr/>
          <p:nvPr/>
        </p:nvGrpSpPr>
        <p:grpSpPr>
          <a:xfrm rot="0">
            <a:off x="6990080" y="6780108"/>
            <a:ext cx="2275840" cy="389467"/>
            <a:chOff x="0" y="0"/>
            <a:chExt cx="3034453" cy="519289"/>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9" id="9"/>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11</a:t>
              </a:r>
            </a:p>
          </p:txBody>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87681" y="8128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Các giao thức giao tiếp (communication protocols)</a:t>
              </a:r>
            </a:p>
          </p:txBody>
        </p:sp>
      </p:grpSp>
      <p:sp>
        <p:nvSpPr>
          <p:cNvPr name="Freeform 6" id="6"/>
          <p:cNvSpPr/>
          <p:nvPr/>
        </p:nvSpPr>
        <p:spPr>
          <a:xfrm flipH="false" flipV="false" rot="0">
            <a:off x="487681" y="2018149"/>
            <a:ext cx="5987582" cy="4374425"/>
          </a:xfrm>
          <a:custGeom>
            <a:avLst/>
            <a:gdLst/>
            <a:ahLst/>
            <a:cxnLst/>
            <a:rect r="r" b="b" t="t" l="l"/>
            <a:pathLst>
              <a:path h="4374425" w="5987582">
                <a:moveTo>
                  <a:pt x="0" y="0"/>
                </a:moveTo>
                <a:lnTo>
                  <a:pt x="5987582" y="0"/>
                </a:lnTo>
                <a:lnTo>
                  <a:pt x="5987582" y="4374424"/>
                </a:lnTo>
                <a:lnTo>
                  <a:pt x="0" y="4374424"/>
                </a:lnTo>
                <a:lnTo>
                  <a:pt x="0" y="0"/>
                </a:lnTo>
                <a:close/>
              </a:path>
            </a:pathLst>
          </a:custGeom>
          <a:blipFill>
            <a:blip r:embed="rId4"/>
            <a:stretch>
              <a:fillRect l="0" t="0" r="0" b="-4368"/>
            </a:stretch>
          </a:blipFill>
        </p:spPr>
      </p:sp>
      <p:sp>
        <p:nvSpPr>
          <p:cNvPr name="TextBox 7" id="7"/>
          <p:cNvSpPr txBox="true"/>
          <p:nvPr/>
        </p:nvSpPr>
        <p:spPr>
          <a:xfrm rot="0">
            <a:off x="469820" y="1513324"/>
            <a:ext cx="944884" cy="504868"/>
          </a:xfrm>
          <a:prstGeom prst="rect">
            <a:avLst/>
          </a:prstGeom>
        </p:spPr>
        <p:txBody>
          <a:bodyPr anchor="t" rtlCol="false" tIns="0" lIns="0" bIns="0" rIns="0">
            <a:spAutoFit/>
          </a:bodyPr>
          <a:lstStyle/>
          <a:p>
            <a:pPr algn="ctr">
              <a:lnSpc>
                <a:spcPts val="3583"/>
              </a:lnSpc>
              <a:spcBef>
                <a:spcPct val="0"/>
              </a:spcBef>
            </a:pPr>
            <a:r>
              <a:rPr lang="en-US" b="true" sz="2986">
                <a:solidFill>
                  <a:srgbClr val="000000"/>
                </a:solidFill>
                <a:latin typeface="Arial Bold"/>
                <a:ea typeface="Arial Bold"/>
                <a:cs typeface="Arial Bold"/>
                <a:sym typeface="Arial Bold"/>
              </a:rPr>
              <a:t>Ví dụ</a:t>
            </a:r>
          </a:p>
        </p:txBody>
      </p:sp>
      <p:grpSp>
        <p:nvGrpSpPr>
          <p:cNvPr name="Group 8" id="8"/>
          <p:cNvGrpSpPr/>
          <p:nvPr/>
        </p:nvGrpSpPr>
        <p:grpSpPr>
          <a:xfrm rot="0">
            <a:off x="6990080" y="6780108"/>
            <a:ext cx="2275840" cy="389467"/>
            <a:chOff x="0" y="0"/>
            <a:chExt cx="3034453" cy="519289"/>
          </a:xfrm>
        </p:grpSpPr>
        <p:sp>
          <p:nvSpPr>
            <p:cNvPr name="Freeform 9" id="9"/>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0" id="10"/>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12</a:t>
              </a:r>
            </a:p>
          </p:txBody>
        </p:sp>
      </p:gr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87681" y="81280"/>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Các giao thức giao tiếp (communication protocols)</a:t>
              </a:r>
            </a:p>
          </p:txBody>
        </p:sp>
      </p:grpSp>
      <p:sp>
        <p:nvSpPr>
          <p:cNvPr name="Freeform 6" id="6"/>
          <p:cNvSpPr/>
          <p:nvPr/>
        </p:nvSpPr>
        <p:spPr>
          <a:xfrm flipH="false" flipV="false" rot="0">
            <a:off x="456362" y="2252910"/>
            <a:ext cx="6003648" cy="2095886"/>
          </a:xfrm>
          <a:custGeom>
            <a:avLst/>
            <a:gdLst/>
            <a:ahLst/>
            <a:cxnLst/>
            <a:rect r="r" b="b" t="t" l="l"/>
            <a:pathLst>
              <a:path h="2095886" w="6003648">
                <a:moveTo>
                  <a:pt x="0" y="0"/>
                </a:moveTo>
                <a:lnTo>
                  <a:pt x="6003648" y="0"/>
                </a:lnTo>
                <a:lnTo>
                  <a:pt x="6003648" y="2095886"/>
                </a:lnTo>
                <a:lnTo>
                  <a:pt x="0" y="2095886"/>
                </a:lnTo>
                <a:lnTo>
                  <a:pt x="0" y="0"/>
                </a:lnTo>
                <a:close/>
              </a:path>
            </a:pathLst>
          </a:custGeom>
          <a:blipFill>
            <a:blip r:embed="rId4"/>
            <a:stretch>
              <a:fillRect l="0" t="0" r="-30505" b="0"/>
            </a:stretch>
          </a:blipFill>
        </p:spPr>
      </p:sp>
      <p:sp>
        <p:nvSpPr>
          <p:cNvPr name="Freeform 7" id="7"/>
          <p:cNvSpPr/>
          <p:nvPr/>
        </p:nvSpPr>
        <p:spPr>
          <a:xfrm flipH="false" flipV="false" rot="0">
            <a:off x="1369439" y="4671652"/>
            <a:ext cx="6027338" cy="1785599"/>
          </a:xfrm>
          <a:custGeom>
            <a:avLst/>
            <a:gdLst/>
            <a:ahLst/>
            <a:cxnLst/>
            <a:rect r="r" b="b" t="t" l="l"/>
            <a:pathLst>
              <a:path h="1785599" w="6027338">
                <a:moveTo>
                  <a:pt x="0" y="0"/>
                </a:moveTo>
                <a:lnTo>
                  <a:pt x="6027338" y="0"/>
                </a:lnTo>
                <a:lnTo>
                  <a:pt x="6027338" y="1785599"/>
                </a:lnTo>
                <a:lnTo>
                  <a:pt x="0" y="1785599"/>
                </a:lnTo>
                <a:lnTo>
                  <a:pt x="0" y="0"/>
                </a:lnTo>
                <a:close/>
              </a:path>
            </a:pathLst>
          </a:custGeom>
          <a:blipFill>
            <a:blip r:embed="rId5"/>
            <a:stretch>
              <a:fillRect l="0" t="0" r="0" b="0"/>
            </a:stretch>
          </a:blipFill>
        </p:spPr>
      </p:sp>
      <p:sp>
        <p:nvSpPr>
          <p:cNvPr name="TextBox 8" id="8"/>
          <p:cNvSpPr txBox="true"/>
          <p:nvPr/>
        </p:nvSpPr>
        <p:spPr>
          <a:xfrm rot="0">
            <a:off x="135551" y="1297047"/>
            <a:ext cx="1422314" cy="504868"/>
          </a:xfrm>
          <a:prstGeom prst="rect">
            <a:avLst/>
          </a:prstGeom>
        </p:spPr>
        <p:txBody>
          <a:bodyPr anchor="t" rtlCol="false" tIns="0" lIns="0" bIns="0" rIns="0">
            <a:spAutoFit/>
          </a:bodyPr>
          <a:lstStyle/>
          <a:p>
            <a:pPr algn="ctr">
              <a:lnSpc>
                <a:spcPts val="3583"/>
              </a:lnSpc>
              <a:spcBef>
                <a:spcPct val="0"/>
              </a:spcBef>
            </a:pPr>
            <a:r>
              <a:rPr lang="en-US" b="true" sz="2986">
                <a:solidFill>
                  <a:srgbClr val="000000"/>
                </a:solidFill>
                <a:latin typeface="Arial Bold"/>
                <a:ea typeface="Arial Bold"/>
                <a:cs typeface="Arial Bold"/>
                <a:sym typeface="Arial Bold"/>
              </a:rPr>
              <a:t>Kết quả</a:t>
            </a:r>
          </a:p>
        </p:txBody>
      </p:sp>
      <p:sp>
        <p:nvSpPr>
          <p:cNvPr name="TextBox 9" id="9"/>
          <p:cNvSpPr txBox="true"/>
          <p:nvPr/>
        </p:nvSpPr>
        <p:spPr>
          <a:xfrm rot="0">
            <a:off x="394700" y="1862385"/>
            <a:ext cx="904017" cy="390546"/>
          </a:xfrm>
          <a:prstGeom prst="rect">
            <a:avLst/>
          </a:prstGeom>
        </p:spPr>
        <p:txBody>
          <a:bodyPr anchor="t" rtlCol="false" tIns="0" lIns="0" bIns="0" rIns="0">
            <a:spAutoFit/>
          </a:bodyPr>
          <a:lstStyle/>
          <a:p>
            <a:pPr algn="ctr">
              <a:lnSpc>
                <a:spcPts val="2744"/>
              </a:lnSpc>
              <a:spcBef>
                <a:spcPct val="0"/>
              </a:spcBef>
            </a:pPr>
            <a:r>
              <a:rPr lang="en-US" b="true" sz="2286">
                <a:solidFill>
                  <a:srgbClr val="000000"/>
                </a:solidFill>
                <a:latin typeface="Arial Bold"/>
                <a:ea typeface="Arial Bold"/>
                <a:cs typeface="Arial Bold"/>
                <a:sym typeface="Arial Bold"/>
              </a:rPr>
              <a:t>Server</a:t>
            </a:r>
          </a:p>
        </p:txBody>
      </p:sp>
      <p:sp>
        <p:nvSpPr>
          <p:cNvPr name="TextBox 10" id="10"/>
          <p:cNvSpPr txBox="true"/>
          <p:nvPr/>
        </p:nvSpPr>
        <p:spPr>
          <a:xfrm rot="0">
            <a:off x="420663" y="4520246"/>
            <a:ext cx="806729" cy="390546"/>
          </a:xfrm>
          <a:prstGeom prst="rect">
            <a:avLst/>
          </a:prstGeom>
        </p:spPr>
        <p:txBody>
          <a:bodyPr anchor="t" rtlCol="false" tIns="0" lIns="0" bIns="0" rIns="0">
            <a:spAutoFit/>
          </a:bodyPr>
          <a:lstStyle/>
          <a:p>
            <a:pPr algn="ctr">
              <a:lnSpc>
                <a:spcPts val="2744"/>
              </a:lnSpc>
              <a:spcBef>
                <a:spcPct val="0"/>
              </a:spcBef>
            </a:pPr>
            <a:r>
              <a:rPr lang="en-US" b="true" sz="2286">
                <a:solidFill>
                  <a:srgbClr val="000000"/>
                </a:solidFill>
                <a:latin typeface="Arial Bold"/>
                <a:ea typeface="Arial Bold"/>
                <a:cs typeface="Arial Bold"/>
                <a:sym typeface="Arial Bold"/>
              </a:rPr>
              <a:t>Client</a:t>
            </a:r>
          </a:p>
        </p:txBody>
      </p:sp>
      <p:grpSp>
        <p:nvGrpSpPr>
          <p:cNvPr name="Group 11" id="11"/>
          <p:cNvGrpSpPr/>
          <p:nvPr/>
        </p:nvGrpSpPr>
        <p:grpSpPr>
          <a:xfrm rot="0">
            <a:off x="6990080" y="6780108"/>
            <a:ext cx="2275840" cy="389467"/>
            <a:chOff x="0" y="0"/>
            <a:chExt cx="3034453" cy="519289"/>
          </a:xfrm>
        </p:grpSpPr>
        <p:sp>
          <p:nvSpPr>
            <p:cNvPr name="Freeform 12" id="12"/>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3" id="13"/>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13</a:t>
              </a:r>
            </a:p>
          </p:txBody>
        </p:sp>
      </p:gr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Tầng ứng dụng (Application Layering)</a:t>
              </a:r>
            </a:p>
          </p:txBody>
        </p:sp>
      </p:grpSp>
      <p:sp>
        <p:nvSpPr>
          <p:cNvPr name="TextBox 6" id="6"/>
          <p:cNvSpPr txBox="true"/>
          <p:nvPr/>
        </p:nvSpPr>
        <p:spPr>
          <a:xfrm rot="0">
            <a:off x="63671" y="1346363"/>
            <a:ext cx="4437062" cy="476229"/>
          </a:xfrm>
          <a:prstGeom prst="rect">
            <a:avLst/>
          </a:prstGeom>
        </p:spPr>
        <p:txBody>
          <a:bodyPr anchor="t" rtlCol="false" tIns="0" lIns="0" bIns="0" rIns="0">
            <a:spAutoFit/>
          </a:bodyPr>
          <a:lstStyle/>
          <a:p>
            <a:pPr algn="ctr">
              <a:lnSpc>
                <a:spcPts val="3344"/>
              </a:lnSpc>
              <a:spcBef>
                <a:spcPct val="0"/>
              </a:spcBef>
            </a:pPr>
            <a:r>
              <a:rPr lang="en-US" b="true" sz="2786">
                <a:solidFill>
                  <a:srgbClr val="000000"/>
                </a:solidFill>
                <a:latin typeface="Arial Bold"/>
                <a:ea typeface="Arial Bold"/>
                <a:cs typeface="Arial Bold"/>
                <a:sym typeface="Arial Bold"/>
              </a:rPr>
              <a:t>Các phong cách kiến trúc:</a:t>
            </a:r>
          </a:p>
        </p:txBody>
      </p:sp>
      <p:sp>
        <p:nvSpPr>
          <p:cNvPr name="TextBox 7" id="7"/>
          <p:cNvSpPr txBox="true"/>
          <p:nvPr/>
        </p:nvSpPr>
        <p:spPr>
          <a:xfrm rot="0">
            <a:off x="487681" y="1851129"/>
            <a:ext cx="8750616" cy="3190446"/>
          </a:xfrm>
          <a:prstGeom prst="rect">
            <a:avLst/>
          </a:prstGeom>
        </p:spPr>
        <p:txBody>
          <a:bodyPr anchor="t" rtlCol="false" tIns="0" lIns="0" bIns="0" rIns="0">
            <a:spAutoFit/>
          </a:bodyPr>
          <a:lstStyle/>
          <a:p>
            <a:pPr algn="just">
              <a:lnSpc>
                <a:spcPts val="2520"/>
              </a:lnSpc>
            </a:pPr>
            <a:r>
              <a:rPr lang="en-US" b="true" sz="2100">
                <a:solidFill>
                  <a:srgbClr val="000000"/>
                </a:solidFill>
                <a:latin typeface="Arial Bold"/>
                <a:ea typeface="Arial Bold"/>
                <a:cs typeface="Arial Bold"/>
                <a:sym typeface="Arial Bold"/>
              </a:rPr>
              <a:t>Lớp gia</a:t>
            </a:r>
            <a:r>
              <a:rPr lang="en-US" b="true" sz="2100">
                <a:solidFill>
                  <a:srgbClr val="000000"/>
                </a:solidFill>
                <a:latin typeface="Arial Bold"/>
                <a:ea typeface="Arial Bold"/>
                <a:cs typeface="Arial Bold"/>
                <a:sym typeface="Arial Bold"/>
              </a:rPr>
              <a:t>o diện ứng dụng (Application-interface layer):</a:t>
            </a:r>
          </a:p>
          <a:p>
            <a:pPr algn="just" marL="453390" indent="-226695" lvl="1">
              <a:lnSpc>
                <a:spcPts val="2520"/>
              </a:lnSpc>
              <a:buFont typeface="Arial"/>
              <a:buChar char="•"/>
            </a:pPr>
            <a:r>
              <a:rPr lang="en-US" b="true" sz="2100">
                <a:solidFill>
                  <a:srgbClr val="000000"/>
                </a:solidFill>
                <a:latin typeface="Arial Bold"/>
                <a:ea typeface="Arial Bold"/>
                <a:cs typeface="Arial Bold"/>
                <a:sym typeface="Arial Bold"/>
              </a:rPr>
              <a:t>Chứa các đơn vị chịu trách nhiệm giao tiếp với người dùng hoặc các ứng dụng bên ngoài.</a:t>
            </a:r>
          </a:p>
          <a:p>
            <a:pPr algn="just">
              <a:lnSpc>
                <a:spcPts val="2520"/>
              </a:lnSpc>
            </a:pPr>
            <a:r>
              <a:rPr lang="en-US" b="true" sz="2100">
                <a:solidFill>
                  <a:srgbClr val="000000"/>
                </a:solidFill>
                <a:latin typeface="Arial Bold"/>
                <a:ea typeface="Arial Bold"/>
                <a:cs typeface="Arial Bold"/>
                <a:sym typeface="Arial Bold"/>
              </a:rPr>
              <a:t>Lớp xử lý (Processing layer):</a:t>
            </a:r>
          </a:p>
          <a:p>
            <a:pPr algn="just" marL="453390" indent="-226695" lvl="1">
              <a:lnSpc>
                <a:spcPts val="2520"/>
              </a:lnSpc>
              <a:buFont typeface="Arial"/>
              <a:buChar char="•"/>
            </a:pPr>
            <a:r>
              <a:rPr lang="en-US" b="true" sz="2100">
                <a:solidFill>
                  <a:srgbClr val="000000"/>
                </a:solidFill>
                <a:latin typeface="Arial Bold"/>
                <a:ea typeface="Arial Bold"/>
                <a:cs typeface="Arial Bold"/>
                <a:sym typeface="Arial Bold"/>
              </a:rPr>
              <a:t>Chứa các chức năng của ứng dụng, tức là các logic xử lý nhưng không liên quan đến dữ liệu cụ thể.</a:t>
            </a:r>
          </a:p>
          <a:p>
            <a:pPr algn="just">
              <a:lnSpc>
                <a:spcPts val="2520"/>
              </a:lnSpc>
            </a:pPr>
            <a:r>
              <a:rPr lang="en-US" b="true" sz="2100">
                <a:solidFill>
                  <a:srgbClr val="000000"/>
                </a:solidFill>
                <a:latin typeface="Arial Bold"/>
                <a:ea typeface="Arial Bold"/>
                <a:cs typeface="Arial Bold"/>
                <a:sym typeface="Arial Bold"/>
              </a:rPr>
              <a:t>Lớp dữ liệu (Data layer):</a:t>
            </a:r>
          </a:p>
          <a:p>
            <a:pPr algn="just" marL="453390" indent="-226695" lvl="1">
              <a:lnSpc>
                <a:spcPts val="2520"/>
              </a:lnSpc>
              <a:buFont typeface="Arial"/>
              <a:buChar char="•"/>
            </a:pPr>
            <a:r>
              <a:rPr lang="en-US" b="true" sz="2100">
                <a:solidFill>
                  <a:srgbClr val="000000"/>
                </a:solidFill>
                <a:latin typeface="Arial Bold"/>
                <a:ea typeface="Arial Bold"/>
                <a:cs typeface="Arial Bold"/>
                <a:sym typeface="Arial Bold"/>
              </a:rPr>
              <a:t>Chứa dữ liệu mà một khách hàng (client) muốn thao tác thông qua các thành phần của ứng dụng.</a:t>
            </a:r>
          </a:p>
          <a:p>
            <a:pPr algn="just">
              <a:lnSpc>
                <a:spcPts val="2520"/>
              </a:lnSpc>
            </a:pPr>
          </a:p>
        </p:txBody>
      </p:sp>
      <p:sp>
        <p:nvSpPr>
          <p:cNvPr name="TextBox 8" id="8"/>
          <p:cNvSpPr txBox="true"/>
          <p:nvPr/>
        </p:nvSpPr>
        <p:spPr>
          <a:xfrm rot="0">
            <a:off x="243840" y="5171449"/>
            <a:ext cx="9022080" cy="990471"/>
          </a:xfrm>
          <a:prstGeom prst="rect">
            <a:avLst/>
          </a:prstGeom>
        </p:spPr>
        <p:txBody>
          <a:bodyPr anchor="t" rtlCol="false" tIns="0" lIns="0" bIns="0" rIns="0">
            <a:spAutoFit/>
          </a:bodyPr>
          <a:lstStyle/>
          <a:p>
            <a:pPr algn="just">
              <a:lnSpc>
                <a:spcPts val="2520"/>
              </a:lnSpc>
              <a:spcBef>
                <a:spcPct val="0"/>
              </a:spcBef>
            </a:pPr>
            <a:r>
              <a:rPr lang="en-US" b="true" sz="2100">
                <a:solidFill>
                  <a:srgbClr val="FF0000"/>
                </a:solidFill>
                <a:latin typeface="Arial Bold"/>
                <a:ea typeface="Arial Bold"/>
                <a:cs typeface="Arial Bold"/>
                <a:sym typeface="Arial Bold"/>
              </a:rPr>
              <a:t>Cách phân lớp này được tìm thấy trong nhiều hệ thống thông tin phân tán, sử dụng công nghệ cơ sở dữ liệu truyền thống cùng với các ứng dụng đi kèm.</a:t>
            </a:r>
          </a:p>
        </p:txBody>
      </p:sp>
      <p:grpSp>
        <p:nvGrpSpPr>
          <p:cNvPr name="Group 9" id="9"/>
          <p:cNvGrpSpPr/>
          <p:nvPr/>
        </p:nvGrpSpPr>
        <p:grpSpPr>
          <a:xfrm rot="0">
            <a:off x="6990080" y="6780108"/>
            <a:ext cx="2275840" cy="389467"/>
            <a:chOff x="0" y="0"/>
            <a:chExt cx="3034453" cy="519289"/>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1" id="11"/>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14</a:t>
              </a:r>
            </a:p>
          </p:txBody>
        </p:sp>
      </p:gr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Tầng ứng dụng (Application Layering)</a:t>
              </a:r>
            </a:p>
          </p:txBody>
        </p:sp>
      </p:grpSp>
      <p:sp>
        <p:nvSpPr>
          <p:cNvPr name="Freeform 6" id="6"/>
          <p:cNvSpPr/>
          <p:nvPr/>
        </p:nvSpPr>
        <p:spPr>
          <a:xfrm flipH="false" flipV="false" rot="0">
            <a:off x="467341" y="2135319"/>
            <a:ext cx="5712378" cy="3394576"/>
          </a:xfrm>
          <a:custGeom>
            <a:avLst/>
            <a:gdLst/>
            <a:ahLst/>
            <a:cxnLst/>
            <a:rect r="r" b="b" t="t" l="l"/>
            <a:pathLst>
              <a:path h="3394576" w="5712378">
                <a:moveTo>
                  <a:pt x="0" y="0"/>
                </a:moveTo>
                <a:lnTo>
                  <a:pt x="5712377" y="0"/>
                </a:lnTo>
                <a:lnTo>
                  <a:pt x="5712377" y="3394576"/>
                </a:lnTo>
                <a:lnTo>
                  <a:pt x="0" y="3394576"/>
                </a:lnTo>
                <a:lnTo>
                  <a:pt x="0" y="0"/>
                </a:lnTo>
                <a:close/>
              </a:path>
            </a:pathLst>
          </a:custGeom>
          <a:blipFill>
            <a:blip r:embed="rId4"/>
            <a:stretch>
              <a:fillRect l="0" t="0" r="0" b="0"/>
            </a:stretch>
          </a:blipFill>
        </p:spPr>
      </p:sp>
      <p:sp>
        <p:nvSpPr>
          <p:cNvPr name="TextBox 7" id="7"/>
          <p:cNvSpPr txBox="true"/>
          <p:nvPr/>
        </p:nvSpPr>
        <p:spPr>
          <a:xfrm rot="0">
            <a:off x="231833" y="1335219"/>
            <a:ext cx="999374" cy="476229"/>
          </a:xfrm>
          <a:prstGeom prst="rect">
            <a:avLst/>
          </a:prstGeom>
        </p:spPr>
        <p:txBody>
          <a:bodyPr anchor="t" rtlCol="false" tIns="0" lIns="0" bIns="0" rIns="0">
            <a:spAutoFit/>
          </a:bodyPr>
          <a:lstStyle/>
          <a:p>
            <a:pPr algn="ctr">
              <a:lnSpc>
                <a:spcPts val="3344"/>
              </a:lnSpc>
              <a:spcBef>
                <a:spcPct val="0"/>
              </a:spcBef>
            </a:pPr>
            <a:r>
              <a:rPr lang="en-US" b="true" sz="2786">
                <a:solidFill>
                  <a:srgbClr val="000000"/>
                </a:solidFill>
                <a:latin typeface="Arial Bold"/>
                <a:ea typeface="Arial Bold"/>
                <a:cs typeface="Arial Bold"/>
                <a:sym typeface="Arial Bold"/>
              </a:rPr>
              <a:t>Ví dụ:</a:t>
            </a:r>
          </a:p>
        </p:txBody>
      </p:sp>
      <p:sp>
        <p:nvSpPr>
          <p:cNvPr name="TextBox 8" id="8"/>
          <p:cNvSpPr txBox="true"/>
          <p:nvPr/>
        </p:nvSpPr>
        <p:spPr>
          <a:xfrm rot="0">
            <a:off x="287870" y="1754319"/>
            <a:ext cx="4207518" cy="380979"/>
          </a:xfrm>
          <a:prstGeom prst="rect">
            <a:avLst/>
          </a:prstGeom>
        </p:spPr>
        <p:txBody>
          <a:bodyPr anchor="t" rtlCol="false" tIns="0" lIns="0" bIns="0" rIns="0">
            <a:spAutoFit/>
          </a:bodyPr>
          <a:lstStyle/>
          <a:p>
            <a:pPr algn="ctr">
              <a:lnSpc>
                <a:spcPts val="2624"/>
              </a:lnSpc>
              <a:spcBef>
                <a:spcPct val="0"/>
              </a:spcBef>
            </a:pPr>
            <a:r>
              <a:rPr lang="en-US" b="true" sz="2186">
                <a:solidFill>
                  <a:srgbClr val="000000"/>
                </a:solidFill>
                <a:latin typeface="Arial Bold"/>
                <a:ea typeface="Arial Bold"/>
                <a:cs typeface="Arial Bold"/>
                <a:sym typeface="Arial Bold"/>
              </a:rPr>
              <a:t>Một công cụ tìm kiếm đơn giản.</a:t>
            </a:r>
          </a:p>
        </p:txBody>
      </p:sp>
      <p:grpSp>
        <p:nvGrpSpPr>
          <p:cNvPr name="Group 9" id="9"/>
          <p:cNvGrpSpPr/>
          <p:nvPr/>
        </p:nvGrpSpPr>
        <p:grpSpPr>
          <a:xfrm rot="0">
            <a:off x="6990080" y="6780108"/>
            <a:ext cx="2275840" cy="389467"/>
            <a:chOff x="0" y="0"/>
            <a:chExt cx="3034453" cy="519289"/>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1" id="11"/>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15</a:t>
              </a:r>
            </a:p>
          </p:txBody>
        </p:sp>
      </p:gr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Phong cách dựa trên đối tượng</a:t>
              </a:r>
            </a:p>
          </p:txBody>
        </p:sp>
      </p:grpSp>
      <p:sp>
        <p:nvSpPr>
          <p:cNvPr name="Freeform 6" id="6"/>
          <p:cNvSpPr/>
          <p:nvPr/>
        </p:nvSpPr>
        <p:spPr>
          <a:xfrm flipH="false" flipV="false" rot="0">
            <a:off x="236451" y="3092379"/>
            <a:ext cx="6027338" cy="1687655"/>
          </a:xfrm>
          <a:custGeom>
            <a:avLst/>
            <a:gdLst/>
            <a:ahLst/>
            <a:cxnLst/>
            <a:rect r="r" b="b" t="t" l="l"/>
            <a:pathLst>
              <a:path h="1687655" w="6027338">
                <a:moveTo>
                  <a:pt x="0" y="0"/>
                </a:moveTo>
                <a:lnTo>
                  <a:pt x="6027338" y="0"/>
                </a:lnTo>
                <a:lnTo>
                  <a:pt x="6027338" y="1687655"/>
                </a:lnTo>
                <a:lnTo>
                  <a:pt x="0" y="1687655"/>
                </a:lnTo>
                <a:lnTo>
                  <a:pt x="0" y="0"/>
                </a:lnTo>
                <a:close/>
              </a:path>
            </a:pathLst>
          </a:custGeom>
          <a:blipFill>
            <a:blip r:embed="rId4"/>
            <a:stretch>
              <a:fillRect l="0" t="0" r="0" b="0"/>
            </a:stretch>
          </a:blipFill>
        </p:spPr>
      </p:sp>
      <p:sp>
        <p:nvSpPr>
          <p:cNvPr name="TextBox 7" id="7"/>
          <p:cNvSpPr txBox="true"/>
          <p:nvPr/>
        </p:nvSpPr>
        <p:spPr>
          <a:xfrm rot="0">
            <a:off x="0" y="1335219"/>
            <a:ext cx="3073079" cy="476229"/>
          </a:xfrm>
          <a:prstGeom prst="rect">
            <a:avLst/>
          </a:prstGeom>
        </p:spPr>
        <p:txBody>
          <a:bodyPr anchor="t" rtlCol="false" tIns="0" lIns="0" bIns="0" rIns="0">
            <a:spAutoFit/>
          </a:bodyPr>
          <a:lstStyle/>
          <a:p>
            <a:pPr algn="ctr">
              <a:lnSpc>
                <a:spcPts val="3344"/>
              </a:lnSpc>
              <a:spcBef>
                <a:spcPct val="0"/>
              </a:spcBef>
            </a:pPr>
            <a:r>
              <a:rPr lang="en-US" b="true" sz="2786">
                <a:solidFill>
                  <a:srgbClr val="000000"/>
                </a:solidFill>
                <a:latin typeface="Arial Bold"/>
                <a:ea typeface="Arial Bold"/>
                <a:cs typeface="Arial Bold"/>
                <a:sym typeface="Arial Bold"/>
              </a:rPr>
              <a:t>Định nghĩa:</a:t>
            </a:r>
          </a:p>
        </p:txBody>
      </p:sp>
      <p:sp>
        <p:nvSpPr>
          <p:cNvPr name="TextBox 8" id="8"/>
          <p:cNvSpPr txBox="true"/>
          <p:nvPr/>
        </p:nvSpPr>
        <p:spPr>
          <a:xfrm rot="0">
            <a:off x="236451" y="1773369"/>
            <a:ext cx="9361129" cy="1181100"/>
          </a:xfrm>
          <a:prstGeom prst="rect">
            <a:avLst/>
          </a:prstGeom>
        </p:spPr>
        <p:txBody>
          <a:bodyPr anchor="t" rtlCol="false" tIns="0" lIns="0" bIns="0" rIns="0">
            <a:spAutoFit/>
          </a:bodyPr>
          <a:lstStyle/>
          <a:p>
            <a:pPr algn="just">
              <a:lnSpc>
                <a:spcPts val="2264"/>
              </a:lnSpc>
            </a:pPr>
            <a:r>
              <a:rPr lang="en-US" sz="1886" b="true">
                <a:solidFill>
                  <a:srgbClr val="000000"/>
                </a:solidFill>
                <a:latin typeface="Arial Bold"/>
                <a:ea typeface="Arial Bold"/>
                <a:cs typeface="Arial Bold"/>
                <a:sym typeface="Arial Bold"/>
              </a:rPr>
              <a:t>Các thành phần là các đối tượng (objects) được kết nối với nhau thông qua các lời gọi thủ tục </a:t>
            </a:r>
            <a:r>
              <a:rPr lang="en-US" sz="1886" b="true">
                <a:solidFill>
                  <a:srgbClr val="FF0000"/>
                </a:solidFill>
                <a:latin typeface="Arial Bold"/>
                <a:ea typeface="Arial Bold"/>
                <a:cs typeface="Arial Bold"/>
                <a:sym typeface="Arial Bold"/>
              </a:rPr>
              <a:t>(procedure calls)</a:t>
            </a:r>
            <a:r>
              <a:rPr lang="en-US" sz="1886" b="true">
                <a:solidFill>
                  <a:srgbClr val="000000"/>
                </a:solidFill>
                <a:latin typeface="Arial Bold"/>
                <a:ea typeface="Arial Bold"/>
                <a:cs typeface="Arial Bold"/>
                <a:sym typeface="Arial Bold"/>
              </a:rPr>
              <a:t>.</a:t>
            </a:r>
          </a:p>
          <a:p>
            <a:pPr algn="just">
              <a:lnSpc>
                <a:spcPts val="2264"/>
              </a:lnSpc>
              <a:spcBef>
                <a:spcPct val="0"/>
              </a:spcBef>
            </a:pPr>
            <a:r>
              <a:rPr lang="en-US" b="true" sz="1886">
                <a:solidFill>
                  <a:srgbClr val="000000"/>
                </a:solidFill>
                <a:latin typeface="Arial Bold"/>
                <a:ea typeface="Arial Bold"/>
                <a:cs typeface="Arial Bold"/>
                <a:sym typeface="Arial Bold"/>
              </a:rPr>
              <a:t> Các đối tượng có thể được đặt trên các máy khác nhau, do đó các lời gọi này có thể thực thi qua mạng.</a:t>
            </a:r>
          </a:p>
        </p:txBody>
      </p:sp>
      <p:sp>
        <p:nvSpPr>
          <p:cNvPr name="TextBox 9" id="9"/>
          <p:cNvSpPr txBox="true"/>
          <p:nvPr/>
        </p:nvSpPr>
        <p:spPr>
          <a:xfrm rot="0">
            <a:off x="193572" y="4722884"/>
            <a:ext cx="771439" cy="380979"/>
          </a:xfrm>
          <a:prstGeom prst="rect">
            <a:avLst/>
          </a:prstGeom>
        </p:spPr>
        <p:txBody>
          <a:bodyPr anchor="t" rtlCol="false" tIns="0" lIns="0" bIns="0" rIns="0">
            <a:spAutoFit/>
          </a:bodyPr>
          <a:lstStyle/>
          <a:p>
            <a:pPr algn="ctr">
              <a:lnSpc>
                <a:spcPts val="2624"/>
              </a:lnSpc>
              <a:spcBef>
                <a:spcPct val="0"/>
              </a:spcBef>
            </a:pPr>
            <a:r>
              <a:rPr lang="en-US" b="true" sz="2186">
                <a:solidFill>
                  <a:srgbClr val="FF0000"/>
                </a:solidFill>
                <a:latin typeface="Arial Bold"/>
                <a:ea typeface="Arial Bold"/>
                <a:cs typeface="Arial Bold"/>
                <a:sym typeface="Arial Bold"/>
              </a:rPr>
              <a:t>Chú ý</a:t>
            </a:r>
          </a:p>
        </p:txBody>
      </p:sp>
      <p:sp>
        <p:nvSpPr>
          <p:cNvPr name="TextBox 10" id="10"/>
          <p:cNvSpPr txBox="true"/>
          <p:nvPr/>
        </p:nvSpPr>
        <p:spPr>
          <a:xfrm rot="0">
            <a:off x="978501" y="4741934"/>
            <a:ext cx="8619079" cy="819193"/>
          </a:xfrm>
          <a:prstGeom prst="rect">
            <a:avLst/>
          </a:prstGeom>
        </p:spPr>
        <p:txBody>
          <a:bodyPr anchor="t" rtlCol="false" tIns="0" lIns="0" bIns="0" rIns="0">
            <a:spAutoFit/>
          </a:bodyPr>
          <a:lstStyle/>
          <a:p>
            <a:pPr algn="just" marL="290186" indent="-145093" lvl="1">
              <a:lnSpc>
                <a:spcPts val="1612"/>
              </a:lnSpc>
              <a:buFont typeface="Arial"/>
              <a:buChar char="•"/>
            </a:pPr>
            <a:r>
              <a:rPr lang="en-US" b="true" sz="1344">
                <a:solidFill>
                  <a:srgbClr val="000000"/>
                </a:solidFill>
                <a:latin typeface="Arial Bold"/>
                <a:ea typeface="Arial Bold"/>
                <a:cs typeface="Arial Bold"/>
                <a:sym typeface="Arial Bold"/>
              </a:rPr>
              <a:t>Trạng thái được đóng gói và không thể truy cập trực tiếp từ bên ng</a:t>
            </a:r>
            <a:r>
              <a:rPr lang="en-US" b="true" sz="1344">
                <a:solidFill>
                  <a:srgbClr val="000000"/>
                </a:solidFill>
                <a:latin typeface="Arial Bold"/>
                <a:ea typeface="Arial Bold"/>
                <a:cs typeface="Arial Bold"/>
                <a:sym typeface="Arial Bold"/>
              </a:rPr>
              <a:t>oài (chỉ thông qua phương thức).</a:t>
            </a:r>
          </a:p>
          <a:p>
            <a:pPr algn="just" marL="290186" indent="-145093" lvl="1">
              <a:lnSpc>
                <a:spcPts val="1612"/>
              </a:lnSpc>
              <a:buFont typeface="Arial"/>
              <a:buChar char="•"/>
            </a:pPr>
            <a:r>
              <a:rPr lang="en-US" b="true" sz="1344">
                <a:solidFill>
                  <a:srgbClr val="000000"/>
                </a:solidFill>
                <a:latin typeface="Arial Bold"/>
                <a:ea typeface="Arial Bold"/>
                <a:cs typeface="Arial Bold"/>
                <a:sym typeface="Arial Bold"/>
              </a:rPr>
              <a:t>Giao diện đảm bảo rằng các đối tượng khác hoặc người dùng chỉ cần biết cách sử dụng phương thức, không cần quan tâm đến cách chúng được triển khai bên trong.</a:t>
            </a:r>
          </a:p>
          <a:p>
            <a:pPr algn="just">
              <a:lnSpc>
                <a:spcPts val="1492"/>
              </a:lnSpc>
            </a:pPr>
          </a:p>
        </p:txBody>
      </p:sp>
      <p:sp>
        <p:nvSpPr>
          <p:cNvPr name="TextBox 11" id="11"/>
          <p:cNvSpPr txBox="true"/>
          <p:nvPr/>
        </p:nvSpPr>
        <p:spPr>
          <a:xfrm rot="0">
            <a:off x="65057" y="5487075"/>
            <a:ext cx="1332926" cy="1352464"/>
          </a:xfrm>
          <a:prstGeom prst="rect">
            <a:avLst/>
          </a:prstGeom>
        </p:spPr>
        <p:txBody>
          <a:bodyPr anchor="t" rtlCol="false" tIns="0" lIns="0" bIns="0" rIns="0">
            <a:spAutoFit/>
          </a:bodyPr>
          <a:lstStyle/>
          <a:p>
            <a:pPr algn="ctr">
              <a:lnSpc>
                <a:spcPts val="2624"/>
              </a:lnSpc>
              <a:spcBef>
                <a:spcPct val="0"/>
              </a:spcBef>
            </a:pPr>
            <a:r>
              <a:rPr lang="en-US" b="true" sz="2186">
                <a:solidFill>
                  <a:srgbClr val="FF0000"/>
                </a:solidFill>
                <a:latin typeface="Arial Bold"/>
                <a:ea typeface="Arial Bold"/>
                <a:cs typeface="Arial Bold"/>
                <a:sym typeface="Arial Bold"/>
              </a:rPr>
              <a:t>Tổng quan ý nghĩa của hình:</a:t>
            </a:r>
          </a:p>
        </p:txBody>
      </p:sp>
      <p:sp>
        <p:nvSpPr>
          <p:cNvPr name="TextBox 12" id="12"/>
          <p:cNvSpPr txBox="true"/>
          <p:nvPr/>
        </p:nvSpPr>
        <p:spPr>
          <a:xfrm rot="0">
            <a:off x="1251414" y="5506125"/>
            <a:ext cx="8188396" cy="1371385"/>
          </a:xfrm>
          <a:prstGeom prst="rect">
            <a:avLst/>
          </a:prstGeom>
        </p:spPr>
        <p:txBody>
          <a:bodyPr anchor="t" rtlCol="false" tIns="0" lIns="0" bIns="0" rIns="0">
            <a:spAutoFit/>
          </a:bodyPr>
          <a:lstStyle/>
          <a:p>
            <a:pPr algn="just" marL="389626" indent="-194813" lvl="1">
              <a:lnSpc>
                <a:spcPts val="2165"/>
              </a:lnSpc>
              <a:spcBef>
                <a:spcPct val="0"/>
              </a:spcBef>
              <a:buFont typeface="Arial"/>
              <a:buChar char="•"/>
            </a:pPr>
            <a:r>
              <a:rPr lang="en-US" b="true" sz="1804">
                <a:solidFill>
                  <a:srgbClr val="000000"/>
                </a:solidFill>
                <a:latin typeface="Arial Bold"/>
                <a:ea typeface="Arial Bold"/>
                <a:cs typeface="Arial Bold"/>
                <a:sym typeface="Arial Bold"/>
              </a:rPr>
              <a:t>Thể hiện</a:t>
            </a:r>
            <a:r>
              <a:rPr lang="en-US" b="true" sz="1804">
                <a:solidFill>
                  <a:srgbClr val="000000"/>
                </a:solidFill>
                <a:latin typeface="Arial Bold"/>
                <a:ea typeface="Arial Bold"/>
                <a:cs typeface="Arial Bold"/>
                <a:sym typeface="Arial Bold"/>
              </a:rPr>
              <a:t> tính độc lập và đóng gói của các đối tượng trong hệ thống.</a:t>
            </a:r>
          </a:p>
          <a:p>
            <a:pPr algn="just" marL="389626" indent="-194813" lvl="1">
              <a:lnSpc>
                <a:spcPts val="2165"/>
              </a:lnSpc>
              <a:spcBef>
                <a:spcPct val="0"/>
              </a:spcBef>
              <a:buFont typeface="Arial"/>
              <a:buChar char="•"/>
            </a:pPr>
            <a:r>
              <a:rPr lang="en-US" b="true" sz="1804">
                <a:solidFill>
                  <a:srgbClr val="000000"/>
                </a:solidFill>
                <a:latin typeface="Arial Bold"/>
                <a:ea typeface="Arial Bold"/>
                <a:cs typeface="Arial Bold"/>
                <a:sym typeface="Arial Bold"/>
              </a:rPr>
              <a:t>Nhấn mạnh vai trò của giao diện trong việc kết nối các đối tượng, cho phép chúng giao tiếp một cách trong suốt, đặc biệt trong môi trường phân tán</a:t>
            </a:r>
          </a:p>
          <a:p>
            <a:pPr algn="just">
              <a:lnSpc>
                <a:spcPts val="2165"/>
              </a:lnSpc>
              <a:spcBef>
                <a:spcPct val="0"/>
              </a:spcBef>
            </a:pPr>
          </a:p>
        </p:txBody>
      </p:sp>
      <p:grpSp>
        <p:nvGrpSpPr>
          <p:cNvPr name="Group 13" id="13"/>
          <p:cNvGrpSpPr/>
          <p:nvPr/>
        </p:nvGrpSpPr>
        <p:grpSpPr>
          <a:xfrm rot="0">
            <a:off x="6990080" y="6780108"/>
            <a:ext cx="2275840" cy="389467"/>
            <a:chOff x="0" y="0"/>
            <a:chExt cx="3034453" cy="519289"/>
          </a:xfrm>
        </p:grpSpPr>
        <p:sp>
          <p:nvSpPr>
            <p:cNvPr name="Freeform 14" id="1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5" id="15"/>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16</a:t>
              </a:r>
            </a:p>
          </p:txBody>
        </p:sp>
      </p:gr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Kiến trúc RESTful</a:t>
              </a:r>
            </a:p>
          </p:txBody>
        </p:sp>
      </p:grpSp>
      <p:sp>
        <p:nvSpPr>
          <p:cNvPr name="TextBox 6" id="6"/>
          <p:cNvSpPr txBox="true"/>
          <p:nvPr/>
        </p:nvSpPr>
        <p:spPr>
          <a:xfrm rot="0">
            <a:off x="251568" y="1838325"/>
            <a:ext cx="9149893" cy="1114253"/>
          </a:xfrm>
          <a:prstGeom prst="rect">
            <a:avLst/>
          </a:prstGeom>
        </p:spPr>
        <p:txBody>
          <a:bodyPr anchor="t" rtlCol="false" tIns="0" lIns="0" bIns="0" rIns="0">
            <a:spAutoFit/>
          </a:bodyPr>
          <a:lstStyle/>
          <a:p>
            <a:pPr algn="just">
              <a:lnSpc>
                <a:spcPts val="2144"/>
              </a:lnSpc>
              <a:spcBef>
                <a:spcPct val="0"/>
              </a:spcBef>
            </a:pPr>
            <a:r>
              <a:rPr lang="en-US" b="true" sz="1786">
                <a:solidFill>
                  <a:srgbClr val="000000"/>
                </a:solidFill>
                <a:latin typeface="Arial Bold"/>
                <a:ea typeface="Arial Bold"/>
                <a:cs typeface="Arial Bold"/>
                <a:sym typeface="Arial Bold"/>
              </a:rPr>
              <a:t>Trong các hệ thống phân tán, RESTful nhìn nhận toàn bộ hệ thống như một tập hợp các tài nguyên (resources), được quản lý riêng lẻ bởi các thành phần (components). Các ứng dụng từ xa (remote applications) có thể thực hiện các thao tác như thêm mới, xóa, truy xuất, hoặc chỉnh sửa các tài nguyên này. </a:t>
            </a:r>
          </a:p>
        </p:txBody>
      </p:sp>
      <p:sp>
        <p:nvSpPr>
          <p:cNvPr name="TextBox 7" id="7"/>
          <p:cNvSpPr txBox="true"/>
          <p:nvPr/>
        </p:nvSpPr>
        <p:spPr>
          <a:xfrm rot="0">
            <a:off x="376084" y="3619479"/>
            <a:ext cx="1142678" cy="333396"/>
          </a:xfrm>
          <a:prstGeom prst="rect">
            <a:avLst/>
          </a:prstGeom>
        </p:spPr>
        <p:txBody>
          <a:bodyPr anchor="t" rtlCol="false" tIns="0" lIns="0" bIns="0" rIns="0">
            <a:spAutoFit/>
          </a:bodyPr>
          <a:lstStyle/>
          <a:p>
            <a:pPr algn="ctr">
              <a:lnSpc>
                <a:spcPts val="2384"/>
              </a:lnSpc>
              <a:spcBef>
                <a:spcPct val="0"/>
              </a:spcBef>
            </a:pPr>
            <a:r>
              <a:rPr lang="en-US" b="true" sz="1986">
                <a:solidFill>
                  <a:srgbClr val="FF0000"/>
                </a:solidFill>
                <a:latin typeface="Arial Bold"/>
                <a:ea typeface="Arial Bold"/>
                <a:cs typeface="Arial Bold"/>
                <a:sym typeface="Arial Bold"/>
              </a:rPr>
              <a:t>Đặc điểm</a:t>
            </a:r>
          </a:p>
        </p:txBody>
      </p:sp>
      <p:sp>
        <p:nvSpPr>
          <p:cNvPr name="TextBox 8" id="8"/>
          <p:cNvSpPr txBox="true"/>
          <p:nvPr/>
        </p:nvSpPr>
        <p:spPr>
          <a:xfrm rot="0">
            <a:off x="251568" y="3905250"/>
            <a:ext cx="8069054" cy="1619035"/>
          </a:xfrm>
          <a:prstGeom prst="rect">
            <a:avLst/>
          </a:prstGeom>
        </p:spPr>
        <p:txBody>
          <a:bodyPr anchor="t" rtlCol="false" tIns="0" lIns="0" bIns="0" rIns="0">
            <a:spAutoFit/>
          </a:bodyPr>
          <a:lstStyle/>
          <a:p>
            <a:pPr algn="just" marL="457824" indent="-228912" lvl="1">
              <a:lnSpc>
                <a:spcPts val="2544"/>
              </a:lnSpc>
              <a:buFont typeface="Arial"/>
              <a:buChar char="•"/>
            </a:pPr>
            <a:r>
              <a:rPr lang="en-US" b="true" sz="2120">
                <a:solidFill>
                  <a:srgbClr val="000000"/>
                </a:solidFill>
                <a:latin typeface="Arial Bold"/>
                <a:ea typeface="Arial Bold"/>
                <a:cs typeface="Arial Bold"/>
                <a:sym typeface="Arial Bold"/>
              </a:rPr>
              <a:t>Tài nguyên được xác định qua một cơ chế đặt tên duy nhất</a:t>
            </a:r>
          </a:p>
          <a:p>
            <a:pPr algn="just" marL="457824" indent="-228912" lvl="1">
              <a:lnSpc>
                <a:spcPts val="2544"/>
              </a:lnSpc>
              <a:buFont typeface="Arial"/>
              <a:buChar char="•"/>
            </a:pPr>
            <a:r>
              <a:rPr lang="en-US" b="true" sz="2120">
                <a:solidFill>
                  <a:srgbClr val="000000"/>
                </a:solidFill>
                <a:latin typeface="Arial Bold"/>
                <a:ea typeface="Arial Bold"/>
                <a:cs typeface="Arial Bold"/>
                <a:sym typeface="Arial Bold"/>
              </a:rPr>
              <a:t>Tất cả dịch vụ cung cấp giao diện chung</a:t>
            </a:r>
          </a:p>
          <a:p>
            <a:pPr algn="just" marL="457824" indent="-228912" lvl="1">
              <a:lnSpc>
                <a:spcPts val="2544"/>
              </a:lnSpc>
              <a:buFont typeface="Arial"/>
              <a:buChar char="•"/>
            </a:pPr>
            <a:r>
              <a:rPr lang="en-US" b="true" sz="2120">
                <a:solidFill>
                  <a:srgbClr val="000000"/>
                </a:solidFill>
                <a:latin typeface="Arial Bold"/>
                <a:ea typeface="Arial Bold"/>
                <a:cs typeface="Arial Bold"/>
                <a:sym typeface="Arial Bold"/>
              </a:rPr>
              <a:t>Tin nhắn gửi/nhận tự mô tả</a:t>
            </a:r>
          </a:p>
          <a:p>
            <a:pPr algn="just" marL="457824" indent="-228912" lvl="1">
              <a:lnSpc>
                <a:spcPts val="2544"/>
              </a:lnSpc>
              <a:buFont typeface="Arial"/>
              <a:buChar char="•"/>
            </a:pPr>
            <a:r>
              <a:rPr lang="en-US" b="true" sz="2120">
                <a:solidFill>
                  <a:srgbClr val="000000"/>
                </a:solidFill>
                <a:latin typeface="Arial Bold"/>
                <a:ea typeface="Arial Bold"/>
                <a:cs typeface="Arial Bold"/>
                <a:sym typeface="Arial Bold"/>
              </a:rPr>
              <a:t>Thực thi không trạng thái (stateless)</a:t>
            </a:r>
          </a:p>
        </p:txBody>
      </p:sp>
      <p:grpSp>
        <p:nvGrpSpPr>
          <p:cNvPr name="Group 9" id="9"/>
          <p:cNvGrpSpPr/>
          <p:nvPr/>
        </p:nvGrpSpPr>
        <p:grpSpPr>
          <a:xfrm rot="0">
            <a:off x="6990080" y="6780108"/>
            <a:ext cx="2275840" cy="389467"/>
            <a:chOff x="0" y="0"/>
            <a:chExt cx="3034453" cy="519289"/>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1" id="11"/>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17</a:t>
              </a:r>
            </a:p>
          </p:txBody>
        </p:sp>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Dịch vụ lưu trữ của Amazon</a:t>
              </a:r>
            </a:p>
          </p:txBody>
        </p:sp>
      </p:grpSp>
      <p:sp>
        <p:nvSpPr>
          <p:cNvPr name="TextBox 6" id="6"/>
          <p:cNvSpPr txBox="true"/>
          <p:nvPr/>
        </p:nvSpPr>
        <p:spPr>
          <a:xfrm rot="0">
            <a:off x="392238" y="1882902"/>
            <a:ext cx="8873682" cy="3819010"/>
          </a:xfrm>
          <a:prstGeom prst="rect">
            <a:avLst/>
          </a:prstGeom>
        </p:spPr>
        <p:txBody>
          <a:bodyPr anchor="t" rtlCol="false" tIns="0" lIns="0" bIns="0" rIns="0">
            <a:spAutoFit/>
          </a:bodyPr>
          <a:lstStyle/>
          <a:p>
            <a:pPr algn="just">
              <a:lnSpc>
                <a:spcPts val="2529"/>
              </a:lnSpc>
            </a:pPr>
            <a:r>
              <a:rPr lang="en-US" sz="2107" b="true">
                <a:solidFill>
                  <a:srgbClr val="000000"/>
                </a:solidFill>
                <a:latin typeface="Arial Bold"/>
                <a:ea typeface="Arial Bold"/>
                <a:cs typeface="Arial Bold"/>
                <a:sym typeface="Arial Bold"/>
              </a:rPr>
              <a:t>1. Cấu trúc tài nguyên:</a:t>
            </a:r>
          </a:p>
          <a:p>
            <a:pPr algn="just" marL="455110" indent="-227555" lvl="1">
              <a:lnSpc>
                <a:spcPts val="2529"/>
              </a:lnSpc>
              <a:buFont typeface="Arial"/>
              <a:buChar char="•"/>
            </a:pPr>
            <a:r>
              <a:rPr lang="en-US" b="true" sz="2107">
                <a:solidFill>
                  <a:srgbClr val="000000"/>
                </a:solidFill>
                <a:latin typeface="Arial Bold"/>
                <a:ea typeface="Arial Bold"/>
                <a:cs typeface="Arial Bold"/>
                <a:sym typeface="Arial Bold"/>
              </a:rPr>
              <a:t>Tài nguyên dạng "đối tượng" (objects) tương tự như tệp tin (files) được đặt trong các "thùng chứa" (buckets), tương tự như thư mục (directories).</a:t>
            </a:r>
          </a:p>
          <a:p>
            <a:pPr algn="just" marL="455110" indent="-227555" lvl="1">
              <a:lnSpc>
                <a:spcPts val="2529"/>
              </a:lnSpc>
              <a:buFont typeface="Arial"/>
              <a:buChar char="•"/>
            </a:pPr>
            <a:r>
              <a:rPr lang="en-US" b="true" sz="2107">
                <a:solidFill>
                  <a:srgbClr val="000000"/>
                </a:solidFill>
                <a:latin typeface="Arial Bold"/>
                <a:ea typeface="Arial Bold"/>
                <a:cs typeface="Arial Bold"/>
                <a:sym typeface="Arial Bold"/>
              </a:rPr>
              <a:t>Lưu ý: Buckets không thể chứa buckets khác (không có cấu trúc phân cấp thư mục lồng nhau)</a:t>
            </a:r>
          </a:p>
          <a:p>
            <a:pPr algn="just">
              <a:lnSpc>
                <a:spcPts val="2529"/>
              </a:lnSpc>
            </a:pPr>
          </a:p>
          <a:p>
            <a:pPr algn="just">
              <a:lnSpc>
                <a:spcPts val="2529"/>
              </a:lnSpc>
            </a:pPr>
            <a:r>
              <a:rPr lang="en-US" sz="2107" b="true">
                <a:solidFill>
                  <a:srgbClr val="000000"/>
                </a:solidFill>
                <a:latin typeface="Arial Bold"/>
                <a:ea typeface="Arial Bold"/>
                <a:cs typeface="Arial Bold"/>
                <a:sym typeface="Arial Bold"/>
              </a:rPr>
              <a:t>2. Cách nhận dạng tài nguyên:</a:t>
            </a:r>
          </a:p>
          <a:p>
            <a:pPr algn="just" marL="455110" indent="-227555" lvl="1">
              <a:lnSpc>
                <a:spcPts val="2529"/>
              </a:lnSpc>
              <a:buFont typeface="Arial"/>
              <a:buChar char="•"/>
            </a:pPr>
            <a:r>
              <a:rPr lang="en-US" b="true" sz="2107">
                <a:solidFill>
                  <a:srgbClr val="000000"/>
                </a:solidFill>
                <a:latin typeface="Arial Bold"/>
                <a:ea typeface="Arial Bold"/>
                <a:cs typeface="Arial Bold"/>
                <a:sym typeface="Arial Bold"/>
              </a:rPr>
              <a:t>Mỗi tài nguyên (object) trong một bucket được nhận dạng bằng một URI duy nhất theo mẫu sau:</a:t>
            </a:r>
          </a:p>
          <a:p>
            <a:pPr algn="just" marL="910219" indent="-303406" lvl="2">
              <a:lnSpc>
                <a:spcPts val="2529"/>
              </a:lnSpc>
              <a:buFont typeface="Arial"/>
              <a:buChar char="⚬"/>
            </a:pPr>
            <a:r>
              <a:rPr lang="en-US" b="true" sz="2107">
                <a:solidFill>
                  <a:srgbClr val="000000"/>
                </a:solidFill>
                <a:latin typeface="Arial Bold"/>
                <a:ea typeface="Arial Bold"/>
                <a:cs typeface="Arial Bold"/>
                <a:sym typeface="Arial Bold"/>
              </a:rPr>
              <a:t>http://BucketName.s3.amazonaws.com/ObjectName</a:t>
            </a:r>
          </a:p>
          <a:p>
            <a:pPr algn="just">
              <a:lnSpc>
                <a:spcPts val="2529"/>
              </a:lnSpc>
              <a:spcBef>
                <a:spcPct val="0"/>
              </a:spcBef>
            </a:pPr>
          </a:p>
        </p:txBody>
      </p:sp>
      <p:grpSp>
        <p:nvGrpSpPr>
          <p:cNvPr name="Group 7" id="7"/>
          <p:cNvGrpSpPr/>
          <p:nvPr/>
        </p:nvGrpSpPr>
        <p:grpSpPr>
          <a:xfrm rot="0">
            <a:off x="6963257" y="6780108"/>
            <a:ext cx="2300110" cy="389467"/>
            <a:chOff x="0" y="0"/>
            <a:chExt cx="3066814" cy="519289"/>
          </a:xfrm>
        </p:grpSpPr>
        <p:sp>
          <p:nvSpPr>
            <p:cNvPr name="Freeform 8" id="8"/>
            <p:cNvSpPr/>
            <p:nvPr/>
          </p:nvSpPr>
          <p:spPr>
            <a:xfrm flipH="false" flipV="false" rot="0">
              <a:off x="0" y="0"/>
              <a:ext cx="3066814" cy="519289"/>
            </a:xfrm>
            <a:custGeom>
              <a:avLst/>
              <a:gdLst/>
              <a:ahLst/>
              <a:cxnLst/>
              <a:rect r="r" b="b" t="t" l="l"/>
              <a:pathLst>
                <a:path h="519289" w="3066814">
                  <a:moveTo>
                    <a:pt x="0" y="0"/>
                  </a:moveTo>
                  <a:lnTo>
                    <a:pt x="3066814" y="0"/>
                  </a:lnTo>
                  <a:lnTo>
                    <a:pt x="3066814" y="519289"/>
                  </a:lnTo>
                  <a:lnTo>
                    <a:pt x="0" y="519289"/>
                  </a:lnTo>
                  <a:close/>
                </a:path>
              </a:pathLst>
            </a:custGeom>
            <a:solidFill>
              <a:srgbClr val="000000">
                <a:alpha val="0"/>
              </a:srgbClr>
            </a:solidFill>
          </p:spPr>
        </p:sp>
        <p:sp>
          <p:nvSpPr>
            <p:cNvPr name="TextBox 9" id="9"/>
            <p:cNvSpPr txBox="true"/>
            <p:nvPr/>
          </p:nvSpPr>
          <p:spPr>
            <a:xfrm>
              <a:off x="0" y="-47625"/>
              <a:ext cx="3066814"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18</a:t>
              </a:r>
            </a:p>
          </p:txBody>
        </p:sp>
      </p:gr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137605" y="103569"/>
            <a:ext cx="9125763" cy="1056640"/>
            <a:chOff x="0" y="0"/>
            <a:chExt cx="12167683" cy="1408853"/>
          </a:xfrm>
        </p:grpSpPr>
        <p:sp>
          <p:nvSpPr>
            <p:cNvPr name="Freeform 4" id="4"/>
            <p:cNvSpPr/>
            <p:nvPr/>
          </p:nvSpPr>
          <p:spPr>
            <a:xfrm flipH="false" flipV="false" rot="0">
              <a:off x="0" y="0"/>
              <a:ext cx="12167683" cy="1408853"/>
            </a:xfrm>
            <a:custGeom>
              <a:avLst/>
              <a:gdLst/>
              <a:ahLst/>
              <a:cxnLst/>
              <a:rect r="r" b="b" t="t" l="l"/>
              <a:pathLst>
                <a:path h="1408853" w="12167683">
                  <a:moveTo>
                    <a:pt x="0" y="0"/>
                  </a:moveTo>
                  <a:lnTo>
                    <a:pt x="12167683" y="0"/>
                  </a:lnTo>
                  <a:lnTo>
                    <a:pt x="12167683" y="1408853"/>
                  </a:lnTo>
                  <a:lnTo>
                    <a:pt x="0" y="1408853"/>
                  </a:lnTo>
                  <a:close/>
                </a:path>
              </a:pathLst>
            </a:custGeom>
            <a:solidFill>
              <a:srgbClr val="000000">
                <a:alpha val="0"/>
              </a:srgbClr>
            </a:solidFill>
          </p:spPr>
        </p:sp>
        <p:sp>
          <p:nvSpPr>
            <p:cNvPr name="TextBox 5" id="5"/>
            <p:cNvSpPr txBox="true"/>
            <p:nvPr/>
          </p:nvSpPr>
          <p:spPr>
            <a:xfrm>
              <a:off x="0" y="-57150"/>
              <a:ext cx="12167683"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Dịch vụ lưu trữ của Amazon</a:t>
              </a:r>
            </a:p>
          </p:txBody>
        </p:sp>
      </p:grpSp>
      <p:sp>
        <p:nvSpPr>
          <p:cNvPr name="TextBox 6" id="6"/>
          <p:cNvSpPr txBox="true"/>
          <p:nvPr/>
        </p:nvSpPr>
        <p:spPr>
          <a:xfrm rot="0">
            <a:off x="470685" y="1344456"/>
            <a:ext cx="9034600" cy="4447574"/>
          </a:xfrm>
          <a:prstGeom prst="rect">
            <a:avLst/>
          </a:prstGeom>
        </p:spPr>
        <p:txBody>
          <a:bodyPr anchor="t" rtlCol="false" tIns="0" lIns="0" bIns="0" rIns="0">
            <a:spAutoFit/>
          </a:bodyPr>
          <a:lstStyle/>
          <a:p>
            <a:pPr algn="just">
              <a:lnSpc>
                <a:spcPts val="2504"/>
              </a:lnSpc>
            </a:pPr>
            <a:r>
              <a:rPr lang="en-US" b="true" sz="2086">
                <a:solidFill>
                  <a:srgbClr val="000000"/>
                </a:solidFill>
                <a:latin typeface="Arial Bold"/>
                <a:ea typeface="Arial Bold"/>
                <a:cs typeface="Arial Bold"/>
                <a:sym typeface="Arial Bold"/>
              </a:rPr>
              <a:t>3. Các thao tác điển hình: Toàn bộ tha</a:t>
            </a:r>
            <a:r>
              <a:rPr lang="en-US" b="true" sz="2086">
                <a:solidFill>
                  <a:srgbClr val="000000"/>
                </a:solidFill>
                <a:latin typeface="Arial Bold"/>
                <a:ea typeface="Arial Bold"/>
                <a:cs typeface="Arial Bold"/>
                <a:sym typeface="Arial Bold"/>
              </a:rPr>
              <a:t>o tác được thực hiện thông qua các yêu cầu HTTP (HTTP requests), bao gồm:</a:t>
            </a:r>
          </a:p>
          <a:p>
            <a:pPr algn="just">
              <a:lnSpc>
                <a:spcPts val="2504"/>
              </a:lnSpc>
            </a:pPr>
            <a:r>
              <a:rPr lang="en-US" b="true" sz="2086">
                <a:solidFill>
                  <a:srgbClr val="FF0000"/>
                </a:solidFill>
                <a:latin typeface="Arial Bold"/>
                <a:ea typeface="Arial Bold"/>
                <a:cs typeface="Arial Bold"/>
                <a:sym typeface="Arial Bold"/>
              </a:rPr>
              <a:t>Tạo mới</a:t>
            </a:r>
            <a:r>
              <a:rPr lang="en-US" b="true" sz="2086">
                <a:solidFill>
                  <a:srgbClr val="000000"/>
                </a:solidFill>
                <a:latin typeface="Arial Bold"/>
                <a:ea typeface="Arial Bold"/>
                <a:cs typeface="Arial Bold"/>
                <a:sym typeface="Arial Bold"/>
              </a:rPr>
              <a:t> bucket hoặc object:</a:t>
            </a:r>
          </a:p>
          <a:p>
            <a:pPr algn="just">
              <a:lnSpc>
                <a:spcPts val="2504"/>
              </a:lnSpc>
            </a:pPr>
            <a:r>
              <a:rPr lang="en-US" b="true" sz="2086">
                <a:solidFill>
                  <a:srgbClr val="000000"/>
                </a:solidFill>
                <a:latin typeface="Arial Bold"/>
                <a:ea typeface="Arial Bold"/>
                <a:cs typeface="Arial Bold"/>
                <a:sym typeface="Arial Bold"/>
              </a:rPr>
              <a:t>Sử dụng phương thức HTTP PUT cùng với URI của bucket hoặc object.</a:t>
            </a:r>
          </a:p>
          <a:p>
            <a:pPr algn="just">
              <a:lnSpc>
                <a:spcPts val="2504"/>
              </a:lnSpc>
            </a:pPr>
            <a:r>
              <a:rPr lang="en-US" b="true" sz="2086">
                <a:solidFill>
                  <a:srgbClr val="000000"/>
                </a:solidFill>
                <a:latin typeface="Arial Bold"/>
                <a:ea typeface="Arial Bold"/>
                <a:cs typeface="Arial Bold"/>
                <a:sym typeface="Arial Bold"/>
              </a:rPr>
              <a:t>Ví dụ: </a:t>
            </a:r>
          </a:p>
          <a:p>
            <a:pPr algn="just">
              <a:lnSpc>
                <a:spcPts val="2504"/>
              </a:lnSpc>
            </a:pPr>
            <a:r>
              <a:rPr lang="en-US" b="true" sz="2086">
                <a:solidFill>
                  <a:srgbClr val="000000"/>
                </a:solidFill>
                <a:latin typeface="Arial Bold"/>
                <a:ea typeface="Arial Bold"/>
                <a:cs typeface="Arial Bold"/>
                <a:sym typeface="Arial Bold"/>
              </a:rPr>
              <a:t>Tạo tệp mới example.jpg trong bucket myphotos</a:t>
            </a:r>
          </a:p>
          <a:p>
            <a:pPr algn="just">
              <a:lnSpc>
                <a:spcPts val="2504"/>
              </a:lnSpc>
            </a:pPr>
            <a:r>
              <a:rPr lang="en-US" b="true" sz="2086">
                <a:solidFill>
                  <a:srgbClr val="000000"/>
                </a:solidFill>
                <a:latin typeface="Arial Bold"/>
                <a:ea typeface="Arial Bold"/>
                <a:cs typeface="Arial Bold"/>
                <a:sym typeface="Arial Bold"/>
              </a:rPr>
              <a:t>PUT http://myphotos.s3.amazonaws.com/example.jpg</a:t>
            </a:r>
          </a:p>
          <a:p>
            <a:pPr algn="just">
              <a:lnSpc>
                <a:spcPts val="2504"/>
              </a:lnSpc>
            </a:pPr>
            <a:r>
              <a:rPr lang="en-US" b="true" sz="2086">
                <a:solidFill>
                  <a:srgbClr val="FF0000"/>
                </a:solidFill>
                <a:latin typeface="Arial Bold"/>
                <a:ea typeface="Arial Bold"/>
                <a:cs typeface="Arial Bold"/>
                <a:sym typeface="Arial Bold"/>
              </a:rPr>
              <a:t>Liệt kê</a:t>
            </a:r>
            <a:r>
              <a:rPr lang="en-US" b="true" sz="2086">
                <a:solidFill>
                  <a:srgbClr val="000000"/>
                </a:solidFill>
                <a:latin typeface="Arial Bold"/>
                <a:ea typeface="Arial Bold"/>
                <a:cs typeface="Arial Bold"/>
                <a:sym typeface="Arial Bold"/>
              </a:rPr>
              <a:t> các object trong bucket:</a:t>
            </a:r>
          </a:p>
          <a:p>
            <a:pPr algn="just">
              <a:lnSpc>
                <a:spcPts val="2504"/>
              </a:lnSpc>
            </a:pPr>
            <a:r>
              <a:rPr lang="en-US" b="true" sz="2086">
                <a:solidFill>
                  <a:srgbClr val="000000"/>
                </a:solidFill>
                <a:latin typeface="Arial Bold"/>
                <a:ea typeface="Arial Bold"/>
                <a:cs typeface="Arial Bold"/>
                <a:sym typeface="Arial Bold"/>
              </a:rPr>
              <a:t>Sử dụng phương thức HTTP GET lên tên bucket.</a:t>
            </a:r>
          </a:p>
          <a:p>
            <a:pPr algn="just">
              <a:lnSpc>
                <a:spcPts val="2504"/>
              </a:lnSpc>
            </a:pPr>
            <a:r>
              <a:rPr lang="en-US" b="true" sz="2086">
                <a:solidFill>
                  <a:srgbClr val="000000"/>
                </a:solidFill>
                <a:latin typeface="Arial Bold"/>
                <a:ea typeface="Arial Bold"/>
                <a:cs typeface="Arial Bold"/>
                <a:sym typeface="Arial Bold"/>
              </a:rPr>
              <a:t>Ví dụ:</a:t>
            </a:r>
          </a:p>
          <a:p>
            <a:pPr algn="just">
              <a:lnSpc>
                <a:spcPts val="2504"/>
              </a:lnSpc>
            </a:pPr>
            <a:r>
              <a:rPr lang="en-US" b="true" sz="2086">
                <a:solidFill>
                  <a:srgbClr val="000000"/>
                </a:solidFill>
                <a:latin typeface="Arial Bold"/>
                <a:ea typeface="Arial Bold"/>
                <a:cs typeface="Arial Bold"/>
                <a:sym typeface="Arial Bold"/>
              </a:rPr>
              <a:t>Liệt kê các tệp trong bucket myphotos:</a:t>
            </a:r>
          </a:p>
          <a:p>
            <a:pPr algn="just">
              <a:lnSpc>
                <a:spcPts val="2504"/>
              </a:lnSpc>
            </a:pPr>
            <a:r>
              <a:rPr lang="en-US" b="true" sz="2086">
                <a:solidFill>
                  <a:srgbClr val="000000"/>
                </a:solidFill>
                <a:latin typeface="Arial Bold"/>
                <a:ea typeface="Arial Bold"/>
                <a:cs typeface="Arial Bold"/>
                <a:sym typeface="Arial Bold"/>
              </a:rPr>
              <a:t>GET http://myphotos.s3.amazonaws.com</a:t>
            </a:r>
          </a:p>
          <a:p>
            <a:pPr algn="just">
              <a:lnSpc>
                <a:spcPts val="2504"/>
              </a:lnSpc>
            </a:pPr>
          </a:p>
        </p:txBody>
      </p:sp>
      <p:grpSp>
        <p:nvGrpSpPr>
          <p:cNvPr name="Group 7" id="7"/>
          <p:cNvGrpSpPr/>
          <p:nvPr/>
        </p:nvGrpSpPr>
        <p:grpSpPr>
          <a:xfrm rot="0">
            <a:off x="6990080" y="6780108"/>
            <a:ext cx="2275840" cy="389467"/>
            <a:chOff x="0" y="0"/>
            <a:chExt cx="3034453" cy="519289"/>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9" id="9"/>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19</a:t>
              </a:r>
            </a:p>
          </p:txBody>
        </p:sp>
      </p:gr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Trên giao diện</a:t>
              </a:r>
            </a:p>
          </p:txBody>
        </p:sp>
      </p:grpSp>
      <p:sp>
        <p:nvSpPr>
          <p:cNvPr name="TextBox 6" id="6"/>
          <p:cNvSpPr txBox="true"/>
          <p:nvPr/>
        </p:nvSpPr>
        <p:spPr>
          <a:xfrm rot="0">
            <a:off x="526275" y="1613545"/>
            <a:ext cx="1275256" cy="504868"/>
          </a:xfrm>
          <a:prstGeom prst="rect">
            <a:avLst/>
          </a:prstGeom>
        </p:spPr>
        <p:txBody>
          <a:bodyPr anchor="t" rtlCol="false" tIns="0" lIns="0" bIns="0" rIns="0">
            <a:spAutoFit/>
          </a:bodyPr>
          <a:lstStyle/>
          <a:p>
            <a:pPr algn="ctr">
              <a:lnSpc>
                <a:spcPts val="3583"/>
              </a:lnSpc>
              <a:spcBef>
                <a:spcPct val="0"/>
              </a:spcBef>
            </a:pPr>
            <a:r>
              <a:rPr lang="en-US" b="true" sz="2986">
                <a:solidFill>
                  <a:srgbClr val="000000"/>
                </a:solidFill>
                <a:latin typeface="Arial Bold"/>
                <a:ea typeface="Arial Bold"/>
                <a:cs typeface="Arial Bold"/>
                <a:sym typeface="Arial Bold"/>
              </a:rPr>
              <a:t>Vấn đề</a:t>
            </a:r>
          </a:p>
        </p:txBody>
      </p:sp>
      <p:sp>
        <p:nvSpPr>
          <p:cNvPr name="TextBox 7" id="7"/>
          <p:cNvSpPr txBox="true"/>
          <p:nvPr/>
        </p:nvSpPr>
        <p:spPr>
          <a:xfrm rot="0">
            <a:off x="526275" y="2562225"/>
            <a:ext cx="8739645" cy="2447925"/>
          </a:xfrm>
          <a:prstGeom prst="rect">
            <a:avLst/>
          </a:prstGeom>
        </p:spPr>
        <p:txBody>
          <a:bodyPr anchor="t" rtlCol="false" tIns="0" lIns="0" bIns="0" rIns="0">
            <a:spAutoFit/>
          </a:bodyPr>
          <a:lstStyle/>
          <a:p>
            <a:pPr algn="just">
              <a:lnSpc>
                <a:spcPts val="3793"/>
              </a:lnSpc>
              <a:spcBef>
                <a:spcPct val="0"/>
              </a:spcBef>
            </a:pPr>
            <a:r>
              <a:rPr lang="en-US" b="true" sz="3161">
                <a:solidFill>
                  <a:srgbClr val="000000"/>
                </a:solidFill>
                <a:latin typeface="Arial Bold"/>
                <a:ea typeface="Arial Bold"/>
                <a:cs typeface="Arial Bold"/>
                <a:sym typeface="Arial Bold"/>
              </a:rPr>
              <a:t>Nhiều người thích cách tiếp cận RESTful vì giao diện của dịch vụ rất đơn giản. Tuy nhiên, nhược điểm là phần lớn công việc phải thực hiện thông qua tham số truyền vào.</a:t>
            </a:r>
          </a:p>
        </p:txBody>
      </p:sp>
      <p:grpSp>
        <p:nvGrpSpPr>
          <p:cNvPr name="Group 8" id="8"/>
          <p:cNvGrpSpPr/>
          <p:nvPr/>
        </p:nvGrpSpPr>
        <p:grpSpPr>
          <a:xfrm rot="0">
            <a:off x="6990080" y="6780108"/>
            <a:ext cx="2275840" cy="389467"/>
            <a:chOff x="0" y="0"/>
            <a:chExt cx="3034453" cy="519289"/>
          </a:xfrm>
        </p:grpSpPr>
        <p:sp>
          <p:nvSpPr>
            <p:cNvPr name="Freeform 9" id="9"/>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0" id="10"/>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20</a:t>
              </a:r>
            </a:p>
          </p:txBody>
        </p:sp>
      </p:gr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Trên giao diện</a:t>
              </a:r>
            </a:p>
          </p:txBody>
        </p:sp>
      </p:grpSp>
      <p:sp>
        <p:nvSpPr>
          <p:cNvPr name="Freeform 6" id="6"/>
          <p:cNvSpPr/>
          <p:nvPr/>
        </p:nvSpPr>
        <p:spPr>
          <a:xfrm flipH="false" flipV="false" rot="0">
            <a:off x="512636" y="2831877"/>
            <a:ext cx="6624960" cy="2131907"/>
          </a:xfrm>
          <a:custGeom>
            <a:avLst/>
            <a:gdLst/>
            <a:ahLst/>
            <a:cxnLst/>
            <a:rect r="r" b="b" t="t" l="l"/>
            <a:pathLst>
              <a:path h="2131907" w="6624960">
                <a:moveTo>
                  <a:pt x="0" y="0"/>
                </a:moveTo>
                <a:lnTo>
                  <a:pt x="6624960" y="0"/>
                </a:lnTo>
                <a:lnTo>
                  <a:pt x="6624960" y="2131907"/>
                </a:lnTo>
                <a:lnTo>
                  <a:pt x="0" y="2131907"/>
                </a:lnTo>
                <a:lnTo>
                  <a:pt x="0" y="0"/>
                </a:lnTo>
                <a:close/>
              </a:path>
            </a:pathLst>
          </a:custGeom>
          <a:blipFill>
            <a:blip r:embed="rId4"/>
            <a:stretch>
              <a:fillRect l="0" t="0" r="0" b="0"/>
            </a:stretch>
          </a:blipFill>
        </p:spPr>
      </p:sp>
      <p:sp>
        <p:nvSpPr>
          <p:cNvPr name="TextBox 7" id="7"/>
          <p:cNvSpPr txBox="true"/>
          <p:nvPr/>
        </p:nvSpPr>
        <p:spPr>
          <a:xfrm rot="0">
            <a:off x="236451" y="1446500"/>
            <a:ext cx="6237162" cy="504868"/>
          </a:xfrm>
          <a:prstGeom prst="rect">
            <a:avLst/>
          </a:prstGeom>
        </p:spPr>
        <p:txBody>
          <a:bodyPr anchor="t" rtlCol="false" tIns="0" lIns="0" bIns="0" rIns="0">
            <a:spAutoFit/>
          </a:bodyPr>
          <a:lstStyle/>
          <a:p>
            <a:pPr algn="just">
              <a:lnSpc>
                <a:spcPts val="3583"/>
              </a:lnSpc>
              <a:spcBef>
                <a:spcPct val="0"/>
              </a:spcBef>
            </a:pPr>
            <a:r>
              <a:rPr lang="en-US" b="true" sz="2986">
                <a:solidFill>
                  <a:srgbClr val="000000"/>
                </a:solidFill>
                <a:latin typeface="Arial Bold"/>
                <a:ea typeface="Arial Bold"/>
                <a:cs typeface="Arial Bold"/>
                <a:sym typeface="Arial Bold"/>
              </a:rPr>
              <a:t>Giao diện SOAP của Amazon S3</a:t>
            </a:r>
          </a:p>
        </p:txBody>
      </p:sp>
      <p:sp>
        <p:nvSpPr>
          <p:cNvPr name="TextBox 8" id="8"/>
          <p:cNvSpPr txBox="true"/>
          <p:nvPr/>
        </p:nvSpPr>
        <p:spPr>
          <a:xfrm rot="0">
            <a:off x="512636" y="2246600"/>
            <a:ext cx="8433164" cy="361907"/>
          </a:xfrm>
          <a:prstGeom prst="rect">
            <a:avLst/>
          </a:prstGeom>
        </p:spPr>
        <p:txBody>
          <a:bodyPr anchor="t" rtlCol="false" tIns="0" lIns="0" bIns="0" rIns="0">
            <a:spAutoFit/>
          </a:bodyPr>
          <a:lstStyle/>
          <a:p>
            <a:pPr algn="just">
              <a:lnSpc>
                <a:spcPts val="2504"/>
              </a:lnSpc>
            </a:pPr>
            <a:r>
              <a:rPr lang="en-US" b="true" sz="2086">
                <a:solidFill>
                  <a:srgbClr val="000000"/>
                </a:solidFill>
                <a:latin typeface="Arial Bold"/>
                <a:ea typeface="Arial Bold"/>
                <a:cs typeface="Arial Bold"/>
                <a:sym typeface="Arial Bold"/>
              </a:rPr>
              <a:t>Amazon S3 cung cấp giao diện SOAP với hai nhóm thao tác chính:</a:t>
            </a:r>
          </a:p>
        </p:txBody>
      </p:sp>
      <p:grpSp>
        <p:nvGrpSpPr>
          <p:cNvPr name="Group 9" id="9"/>
          <p:cNvGrpSpPr/>
          <p:nvPr/>
        </p:nvGrpSpPr>
        <p:grpSpPr>
          <a:xfrm rot="0">
            <a:off x="6990080" y="6780108"/>
            <a:ext cx="2275840" cy="389467"/>
            <a:chOff x="0" y="0"/>
            <a:chExt cx="3034453" cy="519289"/>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1" id="11"/>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21</a:t>
              </a:r>
            </a:p>
          </p:txBody>
        </p:sp>
      </p:gr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Trên giao diện</a:t>
              </a:r>
            </a:p>
          </p:txBody>
        </p:sp>
      </p:grpSp>
      <p:sp>
        <p:nvSpPr>
          <p:cNvPr name="TextBox 6" id="6"/>
          <p:cNvSpPr txBox="true"/>
          <p:nvPr/>
        </p:nvSpPr>
        <p:spPr>
          <a:xfrm rot="0">
            <a:off x="236451" y="1466501"/>
            <a:ext cx="3800952" cy="361907"/>
          </a:xfrm>
          <a:prstGeom prst="rect">
            <a:avLst/>
          </a:prstGeom>
        </p:spPr>
        <p:txBody>
          <a:bodyPr anchor="t" rtlCol="false" tIns="0" lIns="0" bIns="0" rIns="0">
            <a:spAutoFit/>
          </a:bodyPr>
          <a:lstStyle/>
          <a:p>
            <a:pPr algn="just">
              <a:lnSpc>
                <a:spcPts val="2504"/>
              </a:lnSpc>
            </a:pPr>
            <a:r>
              <a:rPr lang="en-US" b="true" sz="2086">
                <a:solidFill>
                  <a:srgbClr val="000000"/>
                </a:solidFill>
                <a:latin typeface="Arial Bold"/>
                <a:ea typeface="Arial Bold"/>
                <a:cs typeface="Arial Bold"/>
                <a:sym typeface="Arial Bold"/>
              </a:rPr>
              <a:t>Đơn giản hóa cách gọi API</a:t>
            </a:r>
          </a:p>
        </p:txBody>
      </p:sp>
      <p:sp>
        <p:nvSpPr>
          <p:cNvPr name="TextBox 7" id="7"/>
          <p:cNvSpPr txBox="true"/>
          <p:nvPr/>
        </p:nvSpPr>
        <p:spPr>
          <a:xfrm rot="0">
            <a:off x="144875" y="1905517"/>
            <a:ext cx="9494141" cy="4266921"/>
          </a:xfrm>
          <a:prstGeom prst="rect">
            <a:avLst/>
          </a:prstGeom>
        </p:spPr>
        <p:txBody>
          <a:bodyPr anchor="t" rtlCol="false" tIns="0" lIns="0" bIns="0" rIns="0">
            <a:spAutoFit/>
          </a:bodyPr>
          <a:lstStyle/>
          <a:p>
            <a:pPr algn="just">
              <a:lnSpc>
                <a:spcPts val="2624"/>
              </a:lnSpc>
              <a:spcBef>
                <a:spcPct val="0"/>
              </a:spcBef>
            </a:pPr>
            <a:r>
              <a:rPr lang="en-US" b="true" sz="2186">
                <a:solidFill>
                  <a:srgbClr val="000000"/>
                </a:solidFill>
                <a:latin typeface="Arial Bold"/>
                <a:ea typeface="Arial Bold"/>
                <a:cs typeface="Arial Bold"/>
                <a:sym typeface="Arial Bold"/>
              </a:rPr>
              <a:t>Ví dụ, tạ</a:t>
            </a:r>
            <a:r>
              <a:rPr lang="en-US" b="true" sz="2186">
                <a:solidFill>
                  <a:srgbClr val="000000"/>
                </a:solidFill>
                <a:latin typeface="Arial Bold"/>
                <a:ea typeface="Arial Bold"/>
                <a:cs typeface="Arial Bold"/>
                <a:sym typeface="Arial Bold"/>
              </a:rPr>
              <a:t>o một bucket có tên "mybucket" với hai cách tiếp cận:</a:t>
            </a:r>
          </a:p>
          <a:p>
            <a:pPr algn="just" marL="472105" indent="-236053" lvl="1">
              <a:lnSpc>
                <a:spcPts val="2624"/>
              </a:lnSpc>
              <a:spcBef>
                <a:spcPct val="0"/>
              </a:spcBef>
              <a:buFont typeface="Arial"/>
              <a:buChar char="•"/>
            </a:pPr>
            <a:r>
              <a:rPr lang="en-US" b="true" sz="2186">
                <a:solidFill>
                  <a:srgbClr val="000000"/>
                </a:solidFill>
                <a:latin typeface="Arial Bold"/>
                <a:ea typeface="Arial Bold"/>
                <a:cs typeface="Arial Bold"/>
                <a:sym typeface="Arial Bold"/>
              </a:rPr>
              <a:t>SOAP (có cú pháp rõ ràng, dễ kiểm tra lỗi nhưng phức tạp hơn)</a:t>
            </a:r>
          </a:p>
          <a:p>
            <a:pPr algn="ctr">
              <a:lnSpc>
                <a:spcPts val="2624"/>
              </a:lnSpc>
              <a:spcBef>
                <a:spcPct val="0"/>
              </a:spcBef>
            </a:pPr>
            <a:r>
              <a:rPr lang="en-US" b="true" sz="2186">
                <a:solidFill>
                  <a:srgbClr val="FF0000"/>
                </a:solidFill>
                <a:latin typeface="Arial Bold"/>
                <a:ea typeface="Arial Bold"/>
                <a:cs typeface="Arial Bold"/>
                <a:sym typeface="Arial Bold"/>
              </a:rPr>
              <a:t>import bucket</a:t>
            </a:r>
          </a:p>
          <a:p>
            <a:pPr algn="ctr">
              <a:lnSpc>
                <a:spcPts val="2624"/>
              </a:lnSpc>
              <a:spcBef>
                <a:spcPct val="0"/>
              </a:spcBef>
            </a:pPr>
            <a:r>
              <a:rPr lang="en-US" b="true" sz="2186">
                <a:solidFill>
                  <a:srgbClr val="FF0000"/>
                </a:solidFill>
                <a:latin typeface="Arial Bold"/>
                <a:ea typeface="Arial Bold"/>
                <a:cs typeface="Arial Bold"/>
                <a:sym typeface="Arial Bold"/>
              </a:rPr>
              <a:t>bucket.create("mybucket")</a:t>
            </a:r>
          </a:p>
          <a:p>
            <a:pPr algn="just" marL="472105" indent="-236053" lvl="1">
              <a:lnSpc>
                <a:spcPts val="2624"/>
              </a:lnSpc>
              <a:spcBef>
                <a:spcPct val="0"/>
              </a:spcBef>
              <a:buFont typeface="Arial"/>
              <a:buChar char="•"/>
            </a:pPr>
            <a:r>
              <a:rPr lang="en-US" b="true" sz="2186">
                <a:solidFill>
                  <a:srgbClr val="000000"/>
                </a:solidFill>
                <a:latin typeface="Arial Bold"/>
                <a:ea typeface="Arial Bold"/>
                <a:cs typeface="Arial Bold"/>
                <a:sym typeface="Arial Bold"/>
              </a:rPr>
              <a:t>RESTful (gọn hơn nhưng phụ thuộc vào cách truyền tham số trong URL)</a:t>
            </a:r>
          </a:p>
          <a:p>
            <a:pPr algn="ctr">
              <a:lnSpc>
                <a:spcPts val="2624"/>
              </a:lnSpc>
              <a:spcBef>
                <a:spcPct val="0"/>
              </a:spcBef>
            </a:pPr>
            <a:r>
              <a:rPr lang="en-US" b="true" sz="2186">
                <a:solidFill>
                  <a:srgbClr val="FF0000"/>
                </a:solidFill>
                <a:latin typeface="Arial Bold"/>
                <a:ea typeface="Arial Bold"/>
                <a:cs typeface="Arial Bold"/>
                <a:sym typeface="Arial Bold"/>
              </a:rPr>
              <a:t>PUT "https://mybucket.s3.amazonsws.com/"</a:t>
            </a:r>
          </a:p>
          <a:p>
            <a:pPr algn="ctr">
              <a:lnSpc>
                <a:spcPts val="2624"/>
              </a:lnSpc>
              <a:spcBef>
                <a:spcPct val="0"/>
              </a:spcBef>
            </a:pPr>
          </a:p>
          <a:p>
            <a:pPr algn="ctr">
              <a:lnSpc>
                <a:spcPts val="2624"/>
              </a:lnSpc>
              <a:spcBef>
                <a:spcPct val="0"/>
              </a:spcBef>
            </a:pPr>
          </a:p>
          <a:p>
            <a:pPr algn="ctr">
              <a:lnSpc>
                <a:spcPts val="2624"/>
              </a:lnSpc>
              <a:spcBef>
                <a:spcPct val="0"/>
              </a:spcBef>
            </a:pPr>
          </a:p>
          <a:p>
            <a:pPr algn="just">
              <a:lnSpc>
                <a:spcPts val="2624"/>
              </a:lnSpc>
              <a:spcBef>
                <a:spcPct val="0"/>
              </a:spcBef>
            </a:pPr>
            <a:r>
              <a:rPr lang="en-US" b="true" sz="2186">
                <a:solidFill>
                  <a:srgbClr val="FF0000"/>
                </a:solidFill>
                <a:latin typeface="Arial Bold"/>
                <a:ea typeface="Arial Bold"/>
                <a:cs typeface="Arial Bold"/>
                <a:sym typeface="Arial Bold"/>
              </a:rPr>
              <a:t>RESTful giúp đơn giản hóa giao diện nhưng yêu cầu lập trình viên phải xử lý nhiều hơn trong việc truyền tham số và kiểm tra lỗi khi chạy.</a:t>
            </a:r>
          </a:p>
          <a:p>
            <a:pPr algn="just">
              <a:lnSpc>
                <a:spcPts val="2624"/>
              </a:lnSpc>
              <a:spcBef>
                <a:spcPct val="0"/>
              </a:spcBef>
            </a:pPr>
          </a:p>
        </p:txBody>
      </p:sp>
      <p:grpSp>
        <p:nvGrpSpPr>
          <p:cNvPr name="Group 8" id="8"/>
          <p:cNvGrpSpPr/>
          <p:nvPr/>
        </p:nvGrpSpPr>
        <p:grpSpPr>
          <a:xfrm rot="0">
            <a:off x="6990080" y="6780108"/>
            <a:ext cx="2275840" cy="389467"/>
            <a:chOff x="0" y="0"/>
            <a:chExt cx="3034453" cy="519289"/>
          </a:xfrm>
        </p:grpSpPr>
        <p:sp>
          <p:nvSpPr>
            <p:cNvPr name="Freeform 9" id="9"/>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0" id="10"/>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22</a:t>
              </a:r>
            </a:p>
          </p:txBody>
        </p:sp>
      </p:gr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Phôi hợp (Coordination)</a:t>
              </a:r>
            </a:p>
          </p:txBody>
        </p:sp>
      </p:grpSp>
      <p:sp>
        <p:nvSpPr>
          <p:cNvPr name="TextBox 6" id="6"/>
          <p:cNvSpPr txBox="true"/>
          <p:nvPr/>
        </p:nvSpPr>
        <p:spPr>
          <a:xfrm rot="0">
            <a:off x="236451" y="1466501"/>
            <a:ext cx="9139055" cy="5076138"/>
          </a:xfrm>
          <a:prstGeom prst="rect">
            <a:avLst/>
          </a:prstGeom>
        </p:spPr>
        <p:txBody>
          <a:bodyPr anchor="t" rtlCol="false" tIns="0" lIns="0" bIns="0" rIns="0">
            <a:spAutoFit/>
          </a:bodyPr>
          <a:lstStyle/>
          <a:p>
            <a:pPr algn="just">
              <a:lnSpc>
                <a:spcPts val="2504"/>
              </a:lnSpc>
            </a:pPr>
            <a:r>
              <a:rPr lang="en-US" sz="2086" b="true">
                <a:solidFill>
                  <a:srgbClr val="000000"/>
                </a:solidFill>
                <a:latin typeface="Arial Bold"/>
                <a:ea typeface="Arial Bold"/>
                <a:cs typeface="Arial Bold"/>
                <a:sym typeface="Arial Bold"/>
              </a:rPr>
              <a:t>Phối hợp (coordination) trong hệ thống phân tán là cách các tiến trình (process) giao tiếp và làm việc cùng nhau. Để phân loại mô hình phối hợp, ta xem xét hai yếu tố quan trọng:</a:t>
            </a:r>
          </a:p>
          <a:p>
            <a:pPr algn="just">
              <a:lnSpc>
                <a:spcPts val="2504"/>
              </a:lnSpc>
            </a:pPr>
          </a:p>
          <a:p>
            <a:pPr algn="just" marL="450516" indent="-225258" lvl="1">
              <a:lnSpc>
                <a:spcPts val="2504"/>
              </a:lnSpc>
              <a:buAutoNum type="arabicPeriod" startAt="1"/>
            </a:pPr>
            <a:r>
              <a:rPr lang="en-US" b="true" sz="2086">
                <a:solidFill>
                  <a:srgbClr val="000000"/>
                </a:solidFill>
                <a:latin typeface="Arial Bold"/>
                <a:ea typeface="Arial Bold"/>
                <a:cs typeface="Arial Bold"/>
                <a:sym typeface="Arial Bold"/>
              </a:rPr>
              <a:t>Liên kết thời gian (Temporal Coupling):</a:t>
            </a:r>
          </a:p>
          <a:p>
            <a:pPr algn="just" marL="901032" indent="-300344" lvl="2">
              <a:lnSpc>
                <a:spcPts val="2504"/>
              </a:lnSpc>
              <a:buFont typeface="Arial"/>
              <a:buChar char="⚬"/>
            </a:pPr>
            <a:r>
              <a:rPr lang="en-US" b="true" sz="2086">
                <a:solidFill>
                  <a:srgbClr val="000000"/>
                </a:solidFill>
                <a:latin typeface="Arial Bold"/>
                <a:ea typeface="Arial Bold"/>
                <a:cs typeface="Arial Bold"/>
                <a:sym typeface="Arial Bold"/>
              </a:rPr>
              <a:t>(Temporally Coupled): Các tiến trình phải hoạt động cùng lúc để giao tiếp.</a:t>
            </a:r>
          </a:p>
          <a:p>
            <a:pPr algn="just" marL="901032" indent="-300344" lvl="2">
              <a:lnSpc>
                <a:spcPts val="2504"/>
              </a:lnSpc>
              <a:buFont typeface="Arial"/>
              <a:buChar char="⚬"/>
            </a:pPr>
            <a:r>
              <a:rPr lang="en-US" b="true" sz="2086">
                <a:solidFill>
                  <a:srgbClr val="000000"/>
                </a:solidFill>
                <a:latin typeface="Arial Bold"/>
                <a:ea typeface="Arial Bold"/>
                <a:cs typeface="Arial Bold"/>
                <a:sym typeface="Arial Bold"/>
              </a:rPr>
              <a:t>(Temporally Decoupled): Các tiến trình có thể giao tiếp ngay cả khi một trong hai tiến trình tạm thời không hoạt động.</a:t>
            </a:r>
          </a:p>
          <a:p>
            <a:pPr algn="just" marL="450516" indent="-225258" lvl="1">
              <a:lnSpc>
                <a:spcPts val="2504"/>
              </a:lnSpc>
              <a:buAutoNum type="arabicPeriod" startAt="1"/>
            </a:pPr>
            <a:r>
              <a:rPr lang="en-US" b="true" sz="2086">
                <a:solidFill>
                  <a:srgbClr val="000000"/>
                </a:solidFill>
                <a:latin typeface="Arial Bold"/>
                <a:ea typeface="Arial Bold"/>
                <a:cs typeface="Arial Bold"/>
                <a:sym typeface="Arial Bold"/>
              </a:rPr>
              <a:t>Liên kết tham chiếu (Referential Coupling):</a:t>
            </a:r>
          </a:p>
          <a:p>
            <a:pPr algn="just" marL="901032" indent="-300344" lvl="2">
              <a:lnSpc>
                <a:spcPts val="2504"/>
              </a:lnSpc>
              <a:buFont typeface="Arial"/>
              <a:buChar char="⚬"/>
            </a:pPr>
            <a:r>
              <a:rPr lang="en-US" b="true" sz="2086">
                <a:solidFill>
                  <a:srgbClr val="000000"/>
                </a:solidFill>
                <a:latin typeface="Arial Bold"/>
                <a:ea typeface="Arial Bold"/>
                <a:cs typeface="Arial Bold"/>
                <a:sym typeface="Arial Bold"/>
              </a:rPr>
              <a:t>(Referentially Coupled): Các tiến trình cần biết chính xác danh tính của nhau để giao tiếp.</a:t>
            </a:r>
          </a:p>
          <a:p>
            <a:pPr algn="just" marL="901032" indent="-300344" lvl="2">
              <a:lnSpc>
                <a:spcPts val="2504"/>
              </a:lnSpc>
              <a:buFont typeface="Arial"/>
              <a:buChar char="⚬"/>
            </a:pPr>
            <a:r>
              <a:rPr lang="en-US" b="true" sz="2086">
                <a:solidFill>
                  <a:srgbClr val="000000"/>
                </a:solidFill>
                <a:latin typeface="Arial Bold"/>
                <a:ea typeface="Arial Bold"/>
                <a:cs typeface="Arial Bold"/>
                <a:sym typeface="Arial Bold"/>
              </a:rPr>
              <a:t>(Referentially Decoupled): Các tiến trình có thể giao tiếp mà không cần biết danh tính cụ thể của nhau.</a:t>
            </a:r>
          </a:p>
          <a:p>
            <a:pPr algn="just">
              <a:lnSpc>
                <a:spcPts val="2504"/>
              </a:lnSpc>
            </a:pPr>
          </a:p>
          <a:p>
            <a:pPr algn="just">
              <a:lnSpc>
                <a:spcPts val="2504"/>
              </a:lnSpc>
            </a:pPr>
          </a:p>
        </p:txBody>
      </p:sp>
      <p:grpSp>
        <p:nvGrpSpPr>
          <p:cNvPr name="Group 7" id="7"/>
          <p:cNvGrpSpPr/>
          <p:nvPr/>
        </p:nvGrpSpPr>
        <p:grpSpPr>
          <a:xfrm rot="0">
            <a:off x="6990080" y="6780108"/>
            <a:ext cx="2275840" cy="389467"/>
            <a:chOff x="0" y="0"/>
            <a:chExt cx="3034453" cy="519289"/>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9" id="9"/>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23</a:t>
              </a:r>
            </a:p>
          </p:txBody>
        </p:sp>
      </p:gr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Phôi hợp (Coordination)</a:t>
              </a:r>
            </a:p>
          </p:txBody>
        </p:sp>
      </p:grpSp>
      <p:sp>
        <p:nvSpPr>
          <p:cNvPr name="Freeform 6" id="6"/>
          <p:cNvSpPr/>
          <p:nvPr/>
        </p:nvSpPr>
        <p:spPr>
          <a:xfrm flipH="false" flipV="false" rot="0">
            <a:off x="822592" y="1477999"/>
            <a:ext cx="6959915" cy="4359202"/>
          </a:xfrm>
          <a:custGeom>
            <a:avLst/>
            <a:gdLst/>
            <a:ahLst/>
            <a:cxnLst/>
            <a:rect r="r" b="b" t="t" l="l"/>
            <a:pathLst>
              <a:path h="4359202" w="6959915">
                <a:moveTo>
                  <a:pt x="0" y="0"/>
                </a:moveTo>
                <a:lnTo>
                  <a:pt x="6959915" y="0"/>
                </a:lnTo>
                <a:lnTo>
                  <a:pt x="6959915" y="4359202"/>
                </a:lnTo>
                <a:lnTo>
                  <a:pt x="0" y="4359202"/>
                </a:lnTo>
                <a:lnTo>
                  <a:pt x="0" y="0"/>
                </a:lnTo>
                <a:close/>
              </a:path>
            </a:pathLst>
          </a:custGeom>
          <a:blipFill>
            <a:blip r:embed="rId4"/>
            <a:stretch>
              <a:fillRect l="0" t="0" r="0" b="0"/>
            </a:stretch>
          </a:blipFill>
        </p:spPr>
      </p:sp>
      <p:grpSp>
        <p:nvGrpSpPr>
          <p:cNvPr name="Group 7" id="7"/>
          <p:cNvGrpSpPr/>
          <p:nvPr/>
        </p:nvGrpSpPr>
        <p:grpSpPr>
          <a:xfrm rot="0">
            <a:off x="6990080" y="6780108"/>
            <a:ext cx="2275840" cy="389467"/>
            <a:chOff x="0" y="0"/>
            <a:chExt cx="3034453" cy="519289"/>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9" id="9"/>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24</a:t>
              </a:r>
            </a:p>
          </p:txBody>
        </p:sp>
      </p:gr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Publish and subscribe</a:t>
              </a:r>
            </a:p>
          </p:txBody>
        </p:sp>
      </p:grpSp>
      <p:sp>
        <p:nvSpPr>
          <p:cNvPr name="Freeform 6" id="6"/>
          <p:cNvSpPr/>
          <p:nvPr/>
        </p:nvSpPr>
        <p:spPr>
          <a:xfrm flipH="false" flipV="false" rot="0">
            <a:off x="781012" y="4241572"/>
            <a:ext cx="7940347" cy="2928003"/>
          </a:xfrm>
          <a:custGeom>
            <a:avLst/>
            <a:gdLst/>
            <a:ahLst/>
            <a:cxnLst/>
            <a:rect r="r" b="b" t="t" l="l"/>
            <a:pathLst>
              <a:path h="2928003" w="7940347">
                <a:moveTo>
                  <a:pt x="0" y="0"/>
                </a:moveTo>
                <a:lnTo>
                  <a:pt x="7940347" y="0"/>
                </a:lnTo>
                <a:lnTo>
                  <a:pt x="7940347" y="2928002"/>
                </a:lnTo>
                <a:lnTo>
                  <a:pt x="0" y="2928002"/>
                </a:lnTo>
                <a:lnTo>
                  <a:pt x="0" y="0"/>
                </a:lnTo>
                <a:close/>
              </a:path>
            </a:pathLst>
          </a:custGeom>
          <a:blipFill>
            <a:blip r:embed="rId4"/>
            <a:stretch>
              <a:fillRect l="0" t="0" r="0" b="0"/>
            </a:stretch>
          </a:blipFill>
        </p:spPr>
      </p:sp>
      <p:sp>
        <p:nvSpPr>
          <p:cNvPr name="TextBox 7" id="7"/>
          <p:cNvSpPr txBox="true"/>
          <p:nvPr/>
        </p:nvSpPr>
        <p:spPr>
          <a:xfrm rot="0">
            <a:off x="117671" y="1373221"/>
            <a:ext cx="9380974" cy="2942882"/>
          </a:xfrm>
          <a:prstGeom prst="rect">
            <a:avLst/>
          </a:prstGeom>
        </p:spPr>
        <p:txBody>
          <a:bodyPr anchor="t" rtlCol="false" tIns="0" lIns="0" bIns="0" rIns="0">
            <a:spAutoFit/>
          </a:bodyPr>
          <a:lstStyle/>
          <a:p>
            <a:pPr algn="just">
              <a:lnSpc>
                <a:spcPts val="2864"/>
              </a:lnSpc>
            </a:pPr>
            <a:r>
              <a:rPr lang="en-US" sz="2386">
                <a:solidFill>
                  <a:srgbClr val="000000"/>
                </a:solidFill>
                <a:latin typeface="Arial"/>
                <a:ea typeface="Arial"/>
                <a:cs typeface="Arial"/>
                <a:sym typeface="Arial"/>
              </a:rPr>
              <a:t>1. Vấn đề cần giải quyết: "</a:t>
            </a:r>
            <a:r>
              <a:rPr lang="en-US" sz="2386">
                <a:solidFill>
                  <a:srgbClr val="FF0000"/>
                </a:solidFill>
                <a:latin typeface="Arial"/>
                <a:ea typeface="Arial"/>
                <a:cs typeface="Arial"/>
                <a:sym typeface="Arial"/>
              </a:rPr>
              <a:t>Làm thế nào để khớp sự kiện?</a:t>
            </a:r>
            <a:r>
              <a:rPr lang="en-US" sz="2386">
                <a:solidFill>
                  <a:srgbClr val="000000"/>
                </a:solidFill>
                <a:latin typeface="Arial"/>
                <a:ea typeface="Arial"/>
                <a:cs typeface="Arial"/>
                <a:sym typeface="Arial"/>
              </a:rPr>
              <a:t>"</a:t>
            </a:r>
          </a:p>
          <a:p>
            <a:pPr algn="just" marL="515284" indent="-257642" lvl="1">
              <a:lnSpc>
                <a:spcPts val="2864"/>
              </a:lnSpc>
              <a:buFont typeface="Arial"/>
              <a:buChar char="•"/>
            </a:pPr>
            <a:r>
              <a:rPr lang="en-US" sz="2386">
                <a:solidFill>
                  <a:srgbClr val="000000"/>
                </a:solidFill>
                <a:latin typeface="Arial"/>
                <a:ea typeface="Arial"/>
                <a:cs typeface="Arial"/>
                <a:sym typeface="Arial"/>
              </a:rPr>
              <a:t>Trong hệ thống Publish-Subscribe, một sự kiện được mô tả bởi một loạt các cặp (attribute, value), và các subscribers (người đăng ký) sẽ chỉ muốn nhận các thông báo phù hợp với điều kiện mà họ quan tâm.</a:t>
            </a:r>
          </a:p>
          <a:p>
            <a:pPr algn="just" marL="515284" indent="-257642" lvl="1">
              <a:lnSpc>
                <a:spcPts val="2864"/>
              </a:lnSpc>
              <a:spcBef>
                <a:spcPct val="0"/>
              </a:spcBef>
              <a:buFont typeface="Arial"/>
              <a:buChar char="•"/>
            </a:pPr>
            <a:r>
              <a:rPr lang="en-US" sz="2386">
                <a:solidFill>
                  <a:srgbClr val="000000"/>
                </a:solidFill>
                <a:latin typeface="Arial"/>
                <a:ea typeface="Arial"/>
                <a:cs typeface="Arial"/>
                <a:sym typeface="Arial"/>
              </a:rPr>
              <a:t>Middleware chịu trách nhiệm so sánh mô tả sự kiện (event description) với các điều kiện đăng ký (subscription condition) để xác định sự kiện nào cần gửi đến subscriber</a:t>
            </a:r>
          </a:p>
        </p:txBody>
      </p:sp>
      <p:grpSp>
        <p:nvGrpSpPr>
          <p:cNvPr name="Group 8" id="8"/>
          <p:cNvGrpSpPr/>
          <p:nvPr/>
        </p:nvGrpSpPr>
        <p:grpSpPr>
          <a:xfrm rot="0">
            <a:off x="6990080" y="6780108"/>
            <a:ext cx="2275840" cy="389467"/>
            <a:chOff x="0" y="0"/>
            <a:chExt cx="3034453" cy="519289"/>
          </a:xfrm>
        </p:grpSpPr>
        <p:sp>
          <p:nvSpPr>
            <p:cNvPr name="Freeform 9" id="9"/>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0" id="10"/>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25</a:t>
              </a:r>
            </a:p>
          </p:txBody>
        </p:sp>
      </p:gr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9029469" cy="1056640"/>
            <a:chOff x="0" y="0"/>
            <a:chExt cx="12039292" cy="1408853"/>
          </a:xfrm>
        </p:grpSpPr>
        <p:sp>
          <p:nvSpPr>
            <p:cNvPr name="Freeform 4" id="4"/>
            <p:cNvSpPr/>
            <p:nvPr/>
          </p:nvSpPr>
          <p:spPr>
            <a:xfrm flipH="false" flipV="false" rot="0">
              <a:off x="0" y="0"/>
              <a:ext cx="12039291" cy="1408853"/>
            </a:xfrm>
            <a:custGeom>
              <a:avLst/>
              <a:gdLst/>
              <a:ahLst/>
              <a:cxnLst/>
              <a:rect r="r" b="b" t="t" l="l"/>
              <a:pathLst>
                <a:path h="1408853" w="12039291">
                  <a:moveTo>
                    <a:pt x="0" y="0"/>
                  </a:moveTo>
                  <a:lnTo>
                    <a:pt x="12039291" y="0"/>
                  </a:lnTo>
                  <a:lnTo>
                    <a:pt x="12039291" y="1408853"/>
                  </a:lnTo>
                  <a:lnTo>
                    <a:pt x="0" y="1408853"/>
                  </a:lnTo>
                  <a:close/>
                </a:path>
              </a:pathLst>
            </a:custGeom>
            <a:solidFill>
              <a:srgbClr val="000000">
                <a:alpha val="0"/>
              </a:srgbClr>
            </a:solidFill>
          </p:spPr>
        </p:sp>
        <p:sp>
          <p:nvSpPr>
            <p:cNvPr name="TextBox 5" id="5"/>
            <p:cNvSpPr txBox="true"/>
            <p:nvPr/>
          </p:nvSpPr>
          <p:spPr>
            <a:xfrm>
              <a:off x="0" y="-57150"/>
              <a:ext cx="1203929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Publish and subscribe</a:t>
              </a:r>
            </a:p>
          </p:txBody>
        </p:sp>
      </p:grpSp>
      <p:sp>
        <p:nvSpPr>
          <p:cNvPr name="Freeform 6" id="6"/>
          <p:cNvSpPr/>
          <p:nvPr/>
        </p:nvSpPr>
        <p:spPr>
          <a:xfrm flipH="false" flipV="false" rot="0">
            <a:off x="731520" y="4046838"/>
            <a:ext cx="7940347" cy="2928003"/>
          </a:xfrm>
          <a:custGeom>
            <a:avLst/>
            <a:gdLst/>
            <a:ahLst/>
            <a:cxnLst/>
            <a:rect r="r" b="b" t="t" l="l"/>
            <a:pathLst>
              <a:path h="2928003" w="7940347">
                <a:moveTo>
                  <a:pt x="0" y="0"/>
                </a:moveTo>
                <a:lnTo>
                  <a:pt x="7940347" y="0"/>
                </a:lnTo>
                <a:lnTo>
                  <a:pt x="7940347" y="2928003"/>
                </a:lnTo>
                <a:lnTo>
                  <a:pt x="0" y="2928003"/>
                </a:lnTo>
                <a:lnTo>
                  <a:pt x="0" y="0"/>
                </a:lnTo>
                <a:close/>
              </a:path>
            </a:pathLst>
          </a:custGeom>
          <a:blipFill>
            <a:blip r:embed="rId4"/>
            <a:stretch>
              <a:fillRect l="0" t="0" r="0" b="0"/>
            </a:stretch>
          </a:blipFill>
        </p:spPr>
      </p:sp>
      <p:sp>
        <p:nvSpPr>
          <p:cNvPr name="TextBox 7" id="7"/>
          <p:cNvSpPr txBox="true"/>
          <p:nvPr/>
        </p:nvSpPr>
        <p:spPr>
          <a:xfrm rot="0">
            <a:off x="210998" y="1396137"/>
            <a:ext cx="9331604" cy="2561882"/>
          </a:xfrm>
          <a:prstGeom prst="rect">
            <a:avLst/>
          </a:prstGeom>
        </p:spPr>
        <p:txBody>
          <a:bodyPr anchor="t" rtlCol="false" tIns="0" lIns="0" bIns="0" rIns="0">
            <a:spAutoFit/>
          </a:bodyPr>
          <a:lstStyle/>
          <a:p>
            <a:pPr algn="just">
              <a:lnSpc>
                <a:spcPts val="2864"/>
              </a:lnSpc>
            </a:pPr>
            <a:r>
              <a:rPr lang="en-US" sz="2386" b="true">
                <a:solidFill>
                  <a:srgbClr val="000000"/>
                </a:solidFill>
                <a:latin typeface="Arial Bold"/>
                <a:ea typeface="Arial Bold"/>
                <a:cs typeface="Arial Bold"/>
                <a:sym typeface="Arial Bold"/>
              </a:rPr>
              <a:t>2. Hai phong cách kiến trúc chính để xử lý việc khớp sự kiện:</a:t>
            </a:r>
          </a:p>
          <a:p>
            <a:pPr algn="just">
              <a:lnSpc>
                <a:spcPts val="2144"/>
              </a:lnSpc>
            </a:pPr>
            <a:r>
              <a:rPr lang="en-US" sz="1786" b="true">
                <a:solidFill>
                  <a:srgbClr val="000000"/>
                </a:solidFill>
                <a:latin typeface="Arial Bold"/>
                <a:ea typeface="Arial Bold"/>
                <a:cs typeface="Arial Bold"/>
                <a:sym typeface="Arial Bold"/>
              </a:rPr>
              <a:t>a. Topic-based Subscription (Dựa trên chủ đề):</a:t>
            </a:r>
          </a:p>
          <a:p>
            <a:pPr algn="just" marL="385747" indent="-192874" lvl="1">
              <a:lnSpc>
                <a:spcPts val="2144"/>
              </a:lnSpc>
              <a:buFont typeface="Arial"/>
              <a:buChar char="•"/>
            </a:pPr>
            <a:r>
              <a:rPr lang="en-US" b="true" sz="1786">
                <a:solidFill>
                  <a:srgbClr val="000000"/>
                </a:solidFill>
                <a:latin typeface="Arial Bold"/>
                <a:ea typeface="Arial Bold"/>
                <a:cs typeface="Arial Bold"/>
                <a:sym typeface="Arial Bold"/>
              </a:rPr>
              <a:t>Đặc điểm:</a:t>
            </a:r>
          </a:p>
          <a:p>
            <a:pPr algn="just" marL="771495" indent="-257165" lvl="2">
              <a:lnSpc>
                <a:spcPts val="2144"/>
              </a:lnSpc>
              <a:buFont typeface="Arial"/>
              <a:buChar char="⚬"/>
            </a:pPr>
            <a:r>
              <a:rPr lang="en-US" b="true" sz="1786">
                <a:solidFill>
                  <a:srgbClr val="000000"/>
                </a:solidFill>
                <a:latin typeface="Arial Bold"/>
                <a:ea typeface="Arial Bold"/>
                <a:cs typeface="Arial Bold"/>
                <a:sym typeface="Arial Bold"/>
              </a:rPr>
              <a:t>Subscriber đăng ký nhận các sự kiện dựa trên giá trị chính xác của thuộc tính.</a:t>
            </a:r>
          </a:p>
          <a:p>
            <a:pPr algn="just">
              <a:lnSpc>
                <a:spcPts val="2264"/>
              </a:lnSpc>
            </a:pPr>
            <a:r>
              <a:rPr lang="en-US" sz="1886" b="true">
                <a:solidFill>
                  <a:srgbClr val="000000"/>
                </a:solidFill>
                <a:latin typeface="Arial Bold"/>
                <a:ea typeface="Arial Bold"/>
                <a:cs typeface="Arial Bold"/>
                <a:sym typeface="Arial Bold"/>
              </a:rPr>
              <a:t>b. Content-based Subscription (Dựa trên nội dung):</a:t>
            </a:r>
          </a:p>
          <a:p>
            <a:pPr algn="just" marL="385747" indent="-192874" lvl="1">
              <a:lnSpc>
                <a:spcPts val="2144"/>
              </a:lnSpc>
              <a:buFont typeface="Arial"/>
              <a:buChar char="•"/>
            </a:pPr>
            <a:r>
              <a:rPr lang="en-US" b="true" sz="1786">
                <a:solidFill>
                  <a:srgbClr val="000000"/>
                </a:solidFill>
                <a:latin typeface="Arial Bold"/>
                <a:ea typeface="Arial Bold"/>
                <a:cs typeface="Arial Bold"/>
                <a:sym typeface="Arial Bold"/>
              </a:rPr>
              <a:t>Đặc điểm:</a:t>
            </a:r>
          </a:p>
          <a:p>
            <a:pPr algn="just" marL="771495" indent="-257165" lvl="2">
              <a:lnSpc>
                <a:spcPts val="2144"/>
              </a:lnSpc>
              <a:buFont typeface="Arial"/>
              <a:buChar char="⚬"/>
            </a:pPr>
            <a:r>
              <a:rPr lang="en-US" b="true" sz="1786">
                <a:solidFill>
                  <a:srgbClr val="000000"/>
                </a:solidFill>
                <a:latin typeface="Arial Bold"/>
                <a:ea typeface="Arial Bold"/>
                <a:cs typeface="Arial Bold"/>
                <a:sym typeface="Arial Bold"/>
              </a:rPr>
              <a:t>Subscriber đăng ký dựa trên phạm vi giá trị của thuộc tính.</a:t>
            </a:r>
          </a:p>
          <a:p>
            <a:pPr algn="just" marL="771495" indent="-257165" lvl="2">
              <a:lnSpc>
                <a:spcPts val="2144"/>
              </a:lnSpc>
              <a:buFont typeface="Arial"/>
              <a:buChar char="⚬"/>
            </a:pPr>
            <a:r>
              <a:rPr lang="en-US" b="true" sz="1786">
                <a:solidFill>
                  <a:srgbClr val="000000"/>
                </a:solidFill>
                <a:latin typeface="Arial Bold"/>
                <a:ea typeface="Arial Bold"/>
                <a:cs typeface="Arial Bold"/>
                <a:sym typeface="Arial Bold"/>
              </a:rPr>
              <a:t>Điều kiện được mô tả bằng các cặp (attribute, range) hoặc các biểu thức logic.</a:t>
            </a:r>
          </a:p>
          <a:p>
            <a:pPr algn="just">
              <a:lnSpc>
                <a:spcPts val="2144"/>
              </a:lnSpc>
              <a:spcBef>
                <a:spcPct val="0"/>
              </a:spcBef>
            </a:pPr>
          </a:p>
        </p:txBody>
      </p:sp>
      <p:grpSp>
        <p:nvGrpSpPr>
          <p:cNvPr name="Group 8" id="8"/>
          <p:cNvGrpSpPr/>
          <p:nvPr/>
        </p:nvGrpSpPr>
        <p:grpSpPr>
          <a:xfrm rot="0">
            <a:off x="6990080" y="6780108"/>
            <a:ext cx="2275840" cy="389467"/>
            <a:chOff x="0" y="0"/>
            <a:chExt cx="3034453" cy="519289"/>
          </a:xfrm>
        </p:grpSpPr>
        <p:sp>
          <p:nvSpPr>
            <p:cNvPr name="Freeform 9" id="9"/>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0" id="10"/>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Arial"/>
                  <a:ea typeface="Arial"/>
                  <a:cs typeface="Arial"/>
                  <a:sym typeface="Arial"/>
                </a:rPr>
                <a:t>26</a:t>
              </a:r>
            </a:p>
          </p:txBody>
        </p:sp>
      </p:gr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594981" y="2977640"/>
            <a:ext cx="8231961" cy="3997201"/>
          </a:xfrm>
          <a:custGeom>
            <a:avLst/>
            <a:gdLst/>
            <a:ahLst/>
            <a:cxnLst/>
            <a:rect r="r" b="b" t="t" l="l"/>
            <a:pathLst>
              <a:path h="3997201" w="8231961">
                <a:moveTo>
                  <a:pt x="0" y="0"/>
                </a:moveTo>
                <a:lnTo>
                  <a:pt x="8231961" y="0"/>
                </a:lnTo>
                <a:lnTo>
                  <a:pt x="8231961" y="3997201"/>
                </a:lnTo>
                <a:lnTo>
                  <a:pt x="0" y="3997201"/>
                </a:lnTo>
                <a:lnTo>
                  <a:pt x="0" y="0"/>
                </a:lnTo>
                <a:close/>
              </a:path>
            </a:pathLst>
          </a:custGeom>
          <a:blipFill>
            <a:blip r:embed="rId4"/>
            <a:stretch>
              <a:fillRect l="0" t="0" r="0" b="0"/>
            </a:stretch>
          </a:blipFill>
        </p:spPr>
      </p:sp>
      <p:sp>
        <p:nvSpPr>
          <p:cNvPr name="TextBox 4" id="4"/>
          <p:cNvSpPr txBox="true"/>
          <p:nvPr/>
        </p:nvSpPr>
        <p:spPr>
          <a:xfrm rot="0">
            <a:off x="1045503" y="1862921"/>
            <a:ext cx="7330916" cy="952500"/>
          </a:xfrm>
          <a:prstGeom prst="rect">
            <a:avLst/>
          </a:prstGeom>
        </p:spPr>
        <p:txBody>
          <a:bodyPr anchor="t" rtlCol="false" tIns="0" lIns="0" bIns="0" rIns="0">
            <a:spAutoFit/>
          </a:bodyPr>
          <a:lstStyle/>
          <a:p>
            <a:pPr algn="ctr">
              <a:lnSpc>
                <a:spcPts val="3583"/>
              </a:lnSpc>
              <a:spcBef>
                <a:spcPct val="0"/>
              </a:spcBef>
            </a:pPr>
            <a:r>
              <a:rPr lang="en-US" b="true" sz="2986">
                <a:solidFill>
                  <a:srgbClr val="000000"/>
                </a:solidFill>
                <a:latin typeface="Arial Bold"/>
                <a:ea typeface="Arial Bold"/>
                <a:cs typeface="Arial Bold"/>
                <a:sym typeface="Arial Bold"/>
              </a:rPr>
              <a:t>Phần mềm trung gian: </a:t>
            </a:r>
          </a:p>
          <a:p>
            <a:pPr algn="ctr">
              <a:lnSpc>
                <a:spcPts val="3583"/>
              </a:lnSpc>
              <a:spcBef>
                <a:spcPct val="0"/>
              </a:spcBef>
            </a:pPr>
            <a:r>
              <a:rPr lang="en-US" b="true" sz="2986">
                <a:solidFill>
                  <a:srgbClr val="000000"/>
                </a:solidFill>
                <a:latin typeface="Arial Bold"/>
                <a:ea typeface="Arial Bold"/>
                <a:cs typeface="Arial Bold"/>
                <a:sym typeface="Arial Bold"/>
              </a:rPr>
              <a:t>Hệ điều hành của các hệ thống phân tán</a:t>
            </a:r>
          </a:p>
        </p:txBody>
      </p:sp>
      <p:grpSp>
        <p:nvGrpSpPr>
          <p:cNvPr name="Group 5" id="5"/>
          <p:cNvGrpSpPr/>
          <p:nvPr/>
        </p:nvGrpSpPr>
        <p:grpSpPr>
          <a:xfrm rot="0">
            <a:off x="6879521" y="6925733"/>
            <a:ext cx="2275840" cy="389467"/>
            <a:chOff x="0" y="0"/>
            <a:chExt cx="3034453" cy="519289"/>
          </a:xfrm>
        </p:grpSpPr>
        <p:sp>
          <p:nvSpPr>
            <p:cNvPr name="Freeform 6" id="6"/>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7" id="7"/>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27</a:t>
              </a:r>
            </a:p>
          </p:txBody>
        </p:sp>
      </p:gr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5528436" cy="1056640"/>
            <a:chOff x="0" y="0"/>
            <a:chExt cx="7371249" cy="1408853"/>
          </a:xfrm>
        </p:grpSpPr>
        <p:sp>
          <p:nvSpPr>
            <p:cNvPr name="Freeform 4" id="4"/>
            <p:cNvSpPr/>
            <p:nvPr/>
          </p:nvSpPr>
          <p:spPr>
            <a:xfrm flipH="false" flipV="false" rot="0">
              <a:off x="0" y="0"/>
              <a:ext cx="7371249" cy="1408853"/>
            </a:xfrm>
            <a:custGeom>
              <a:avLst/>
              <a:gdLst/>
              <a:ahLst/>
              <a:cxnLst/>
              <a:rect r="r" b="b" t="t" l="l"/>
              <a:pathLst>
                <a:path h="1408853" w="7371249">
                  <a:moveTo>
                    <a:pt x="0" y="0"/>
                  </a:moveTo>
                  <a:lnTo>
                    <a:pt x="7371249" y="0"/>
                  </a:lnTo>
                  <a:lnTo>
                    <a:pt x="7371249" y="1408853"/>
                  </a:lnTo>
                  <a:lnTo>
                    <a:pt x="0" y="1408853"/>
                  </a:lnTo>
                  <a:close/>
                </a:path>
              </a:pathLst>
            </a:custGeom>
            <a:solidFill>
              <a:srgbClr val="000000">
                <a:alpha val="0"/>
              </a:srgbClr>
            </a:solidFill>
          </p:spPr>
        </p:sp>
        <p:sp>
          <p:nvSpPr>
            <p:cNvPr name="TextBox 5" id="5"/>
            <p:cNvSpPr txBox="true"/>
            <p:nvPr/>
          </p:nvSpPr>
          <p:spPr>
            <a:xfrm>
              <a:off x="0" y="-57150"/>
              <a:ext cx="7371249"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Sử dụng legacy để xây dựng phần mềm trung gian</a:t>
              </a:r>
            </a:p>
          </p:txBody>
        </p:sp>
      </p:grpSp>
      <p:sp>
        <p:nvSpPr>
          <p:cNvPr name="TextBox 6" id="6"/>
          <p:cNvSpPr txBox="true"/>
          <p:nvPr/>
        </p:nvSpPr>
        <p:spPr>
          <a:xfrm rot="0">
            <a:off x="565682" y="1567481"/>
            <a:ext cx="8082329" cy="4457700"/>
          </a:xfrm>
          <a:prstGeom prst="rect">
            <a:avLst/>
          </a:prstGeom>
        </p:spPr>
        <p:txBody>
          <a:bodyPr anchor="t" rtlCol="false" tIns="0" lIns="0" bIns="0" rIns="0">
            <a:spAutoFit/>
          </a:bodyPr>
          <a:lstStyle/>
          <a:p>
            <a:pPr algn="just">
              <a:lnSpc>
                <a:spcPts val="3344"/>
              </a:lnSpc>
            </a:pPr>
            <a:r>
              <a:rPr lang="en-US" sz="2786" b="true">
                <a:solidFill>
                  <a:srgbClr val="0000FF"/>
                </a:solidFill>
                <a:latin typeface="Arial Bold"/>
                <a:ea typeface="Arial Bold"/>
                <a:cs typeface="Arial Bold"/>
                <a:sym typeface="Arial Bold"/>
              </a:rPr>
              <a:t>Vấn đề</a:t>
            </a:r>
          </a:p>
          <a:p>
            <a:pPr algn="l">
              <a:lnSpc>
                <a:spcPts val="2984"/>
              </a:lnSpc>
            </a:pPr>
            <a:r>
              <a:rPr lang="en-US" sz="2486" b="true">
                <a:solidFill>
                  <a:srgbClr val="000000"/>
                </a:solidFill>
                <a:latin typeface="Arial Bold"/>
                <a:ea typeface="Arial Bold"/>
                <a:cs typeface="Arial Bold"/>
                <a:sym typeface="Arial Bold"/>
              </a:rPr>
              <a:t>Các giao diện do thành phần cũ cung cấp rất có thể không phù hợp với mọi ứng dụng.</a:t>
            </a:r>
          </a:p>
          <a:p>
            <a:pPr algn="l">
              <a:lnSpc>
                <a:spcPts val="3344"/>
              </a:lnSpc>
            </a:pPr>
          </a:p>
          <a:p>
            <a:pPr algn="l">
              <a:lnSpc>
                <a:spcPts val="3344"/>
              </a:lnSpc>
            </a:pPr>
          </a:p>
          <a:p>
            <a:pPr algn="l">
              <a:lnSpc>
                <a:spcPts val="3344"/>
              </a:lnSpc>
            </a:pPr>
            <a:r>
              <a:rPr lang="en-US" sz="2786" b="true">
                <a:solidFill>
                  <a:srgbClr val="0000FF"/>
                </a:solidFill>
                <a:latin typeface="Arial Bold"/>
                <a:ea typeface="Arial Bold"/>
                <a:cs typeface="Arial Bold"/>
                <a:sym typeface="Arial Bold"/>
              </a:rPr>
              <a:t>Giải pháp</a:t>
            </a:r>
          </a:p>
          <a:p>
            <a:pPr algn="l">
              <a:lnSpc>
                <a:spcPts val="3104"/>
              </a:lnSpc>
            </a:pPr>
            <a:r>
              <a:rPr lang="en-US" sz="2586" b="true">
                <a:solidFill>
                  <a:srgbClr val="000000"/>
                </a:solidFill>
                <a:latin typeface="Arial Bold"/>
                <a:ea typeface="Arial Bold"/>
                <a:cs typeface="Arial Bold"/>
                <a:sym typeface="Arial Bold"/>
              </a:rPr>
              <a:t>Một wrapper hoặc adapter cung cấp một giao diện có thể chấp nhận đ ược đ ối với ứng dụng khách hàng. Các chức năng của nó đ ược chuyển đ ổi thành các chức năng có sẵn tại thành phần.</a:t>
            </a:r>
          </a:p>
          <a:p>
            <a:pPr algn="l">
              <a:lnSpc>
                <a:spcPts val="3344"/>
              </a:lnSpc>
              <a:spcBef>
                <a:spcPct val="0"/>
              </a:spcBef>
            </a:pPr>
          </a:p>
        </p:txBody>
      </p:sp>
      <p:grpSp>
        <p:nvGrpSpPr>
          <p:cNvPr name="Group 7" id="7"/>
          <p:cNvGrpSpPr/>
          <p:nvPr/>
        </p:nvGrpSpPr>
        <p:grpSpPr>
          <a:xfrm rot="0">
            <a:off x="6990080" y="6780108"/>
            <a:ext cx="2275840" cy="389467"/>
            <a:chOff x="0" y="0"/>
            <a:chExt cx="3034453" cy="519289"/>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9" id="9"/>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28</a:t>
              </a:r>
            </a:p>
          </p:txBody>
        </p:sp>
      </p:gr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73304" y="346873"/>
            <a:ext cx="5528436" cy="1056640"/>
            <a:chOff x="0" y="0"/>
            <a:chExt cx="7371249" cy="1408853"/>
          </a:xfrm>
        </p:grpSpPr>
        <p:sp>
          <p:nvSpPr>
            <p:cNvPr name="Freeform 4" id="4"/>
            <p:cNvSpPr/>
            <p:nvPr/>
          </p:nvSpPr>
          <p:spPr>
            <a:xfrm flipH="false" flipV="false" rot="0">
              <a:off x="0" y="0"/>
              <a:ext cx="7371249" cy="1408853"/>
            </a:xfrm>
            <a:custGeom>
              <a:avLst/>
              <a:gdLst/>
              <a:ahLst/>
              <a:cxnLst/>
              <a:rect r="r" b="b" t="t" l="l"/>
              <a:pathLst>
                <a:path h="1408853" w="7371249">
                  <a:moveTo>
                    <a:pt x="0" y="0"/>
                  </a:moveTo>
                  <a:lnTo>
                    <a:pt x="7371249" y="0"/>
                  </a:lnTo>
                  <a:lnTo>
                    <a:pt x="7371249" y="1408853"/>
                  </a:lnTo>
                  <a:lnTo>
                    <a:pt x="0" y="1408853"/>
                  </a:lnTo>
                  <a:close/>
                </a:path>
              </a:pathLst>
            </a:custGeom>
            <a:solidFill>
              <a:srgbClr val="000000">
                <a:alpha val="0"/>
              </a:srgbClr>
            </a:solidFill>
          </p:spPr>
        </p:sp>
        <p:sp>
          <p:nvSpPr>
            <p:cNvPr name="TextBox 5" id="5"/>
            <p:cNvSpPr txBox="true"/>
            <p:nvPr/>
          </p:nvSpPr>
          <p:spPr>
            <a:xfrm>
              <a:off x="0" y="-57150"/>
              <a:ext cx="7371249"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Tổ chức wrappers</a:t>
              </a:r>
            </a:p>
            <a:p>
              <a:pPr algn="l">
                <a:lnSpc>
                  <a:spcPts val="3583"/>
                </a:lnSpc>
              </a:pPr>
            </a:p>
          </p:txBody>
        </p:sp>
      </p:grpSp>
      <p:sp>
        <p:nvSpPr>
          <p:cNvPr name="Freeform 6" id="6"/>
          <p:cNvSpPr/>
          <p:nvPr/>
        </p:nvSpPr>
        <p:spPr>
          <a:xfrm flipH="false" flipV="false" rot="0">
            <a:off x="442236" y="1181919"/>
            <a:ext cx="3511073" cy="3306261"/>
          </a:xfrm>
          <a:custGeom>
            <a:avLst/>
            <a:gdLst/>
            <a:ahLst/>
            <a:cxnLst/>
            <a:rect r="r" b="b" t="t" l="l"/>
            <a:pathLst>
              <a:path h="3306261" w="3511073">
                <a:moveTo>
                  <a:pt x="0" y="0"/>
                </a:moveTo>
                <a:lnTo>
                  <a:pt x="3511073" y="0"/>
                </a:lnTo>
                <a:lnTo>
                  <a:pt x="3511073" y="3306261"/>
                </a:lnTo>
                <a:lnTo>
                  <a:pt x="0" y="3306261"/>
                </a:lnTo>
                <a:lnTo>
                  <a:pt x="0" y="0"/>
                </a:lnTo>
                <a:close/>
              </a:path>
            </a:pathLst>
          </a:custGeom>
          <a:blipFill>
            <a:blip r:embed="rId4"/>
            <a:stretch>
              <a:fillRect l="0" t="0" r="0" b="0"/>
            </a:stretch>
          </a:blipFill>
        </p:spPr>
      </p:sp>
      <p:sp>
        <p:nvSpPr>
          <p:cNvPr name="Freeform 7" id="7"/>
          <p:cNvSpPr/>
          <p:nvPr/>
        </p:nvSpPr>
        <p:spPr>
          <a:xfrm flipH="false" flipV="false" rot="0">
            <a:off x="4086468" y="1181919"/>
            <a:ext cx="4483223" cy="3306261"/>
          </a:xfrm>
          <a:custGeom>
            <a:avLst/>
            <a:gdLst/>
            <a:ahLst/>
            <a:cxnLst/>
            <a:rect r="r" b="b" t="t" l="l"/>
            <a:pathLst>
              <a:path h="3306261" w="4483223">
                <a:moveTo>
                  <a:pt x="0" y="0"/>
                </a:moveTo>
                <a:lnTo>
                  <a:pt x="4483223" y="0"/>
                </a:lnTo>
                <a:lnTo>
                  <a:pt x="4483223" y="3306261"/>
                </a:lnTo>
                <a:lnTo>
                  <a:pt x="0" y="3306261"/>
                </a:lnTo>
                <a:lnTo>
                  <a:pt x="0" y="0"/>
                </a:lnTo>
                <a:close/>
              </a:path>
            </a:pathLst>
          </a:custGeom>
          <a:blipFill>
            <a:blip r:embed="rId5"/>
            <a:stretch>
              <a:fillRect l="0" t="0" r="0" b="-8938"/>
            </a:stretch>
          </a:blipFill>
        </p:spPr>
      </p:sp>
      <p:sp>
        <p:nvSpPr>
          <p:cNvPr name="TextBox 8" id="8"/>
          <p:cNvSpPr txBox="true"/>
          <p:nvPr/>
        </p:nvSpPr>
        <p:spPr>
          <a:xfrm rot="0">
            <a:off x="442236" y="4431030"/>
            <a:ext cx="7837245" cy="2057400"/>
          </a:xfrm>
          <a:prstGeom prst="rect">
            <a:avLst/>
          </a:prstGeom>
        </p:spPr>
        <p:txBody>
          <a:bodyPr anchor="t" rtlCol="false" tIns="0" lIns="0" bIns="0" rIns="0">
            <a:spAutoFit/>
          </a:bodyPr>
          <a:lstStyle/>
          <a:p>
            <a:pPr algn="just">
              <a:lnSpc>
                <a:spcPts val="3344"/>
              </a:lnSpc>
            </a:pPr>
            <a:r>
              <a:rPr lang="en-US" sz="2786" b="true">
                <a:solidFill>
                  <a:srgbClr val="0000FF"/>
                </a:solidFill>
                <a:latin typeface="Arial Bold"/>
                <a:ea typeface="Arial Bold"/>
                <a:cs typeface="Arial Bold"/>
                <a:sym typeface="Arial Bold"/>
              </a:rPr>
              <a:t>Độ phức tạp với N ứng dụng</a:t>
            </a:r>
          </a:p>
          <a:p>
            <a:pPr algn="just">
              <a:lnSpc>
                <a:spcPts val="3344"/>
              </a:lnSpc>
            </a:pPr>
          </a:p>
          <a:p>
            <a:pPr algn="just">
              <a:lnSpc>
                <a:spcPts val="2984"/>
              </a:lnSpc>
            </a:pPr>
            <a:r>
              <a:rPr lang="en-US" sz="2486" b="true">
                <a:solidFill>
                  <a:srgbClr val="000000"/>
                </a:solidFill>
                <a:latin typeface="Arial Bold"/>
                <a:ea typeface="Arial Bold"/>
                <a:cs typeface="Arial Bold"/>
                <a:sym typeface="Arial Bold"/>
              </a:rPr>
              <a:t>•1 - on-1: yêu cầu N ×(N + 1) = O(N2) giấy gói</a:t>
            </a:r>
          </a:p>
          <a:p>
            <a:pPr algn="just">
              <a:lnSpc>
                <a:spcPts val="2984"/>
              </a:lnSpc>
            </a:pPr>
            <a:r>
              <a:rPr lang="en-US" sz="2486" b="true">
                <a:solidFill>
                  <a:srgbClr val="000000"/>
                </a:solidFill>
                <a:latin typeface="Arial Bold"/>
                <a:ea typeface="Arial Bold"/>
                <a:cs typeface="Arial Bold"/>
                <a:sym typeface="Arial Bold"/>
              </a:rPr>
              <a:t>•broker: yêu cầu 2N = O(N) wrappers</a:t>
            </a:r>
          </a:p>
          <a:p>
            <a:pPr algn="l">
              <a:lnSpc>
                <a:spcPts val="3344"/>
              </a:lnSpc>
              <a:spcBef>
                <a:spcPct val="0"/>
              </a:spcBef>
            </a:pPr>
          </a:p>
        </p:txBody>
      </p:sp>
      <p:grpSp>
        <p:nvGrpSpPr>
          <p:cNvPr name="Group 9" id="9"/>
          <p:cNvGrpSpPr/>
          <p:nvPr/>
        </p:nvGrpSpPr>
        <p:grpSpPr>
          <a:xfrm rot="0">
            <a:off x="6990080" y="6780108"/>
            <a:ext cx="2275840" cy="389467"/>
            <a:chOff x="0" y="0"/>
            <a:chExt cx="3034453" cy="519289"/>
          </a:xfrm>
        </p:grpSpPr>
        <p:sp>
          <p:nvSpPr>
            <p:cNvPr name="Freeform 10" id="10"/>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11" id="11"/>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29</a:t>
              </a:r>
            </a:p>
          </p:txBody>
        </p:sp>
      </p:gr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296071"/>
            <a:ext cx="7113114" cy="1056640"/>
            <a:chOff x="0" y="0"/>
            <a:chExt cx="9484152" cy="1408853"/>
          </a:xfrm>
        </p:grpSpPr>
        <p:sp>
          <p:nvSpPr>
            <p:cNvPr name="Freeform 4" id="4"/>
            <p:cNvSpPr/>
            <p:nvPr/>
          </p:nvSpPr>
          <p:spPr>
            <a:xfrm flipH="false" flipV="false" rot="0">
              <a:off x="0" y="0"/>
              <a:ext cx="9484152" cy="1408853"/>
            </a:xfrm>
            <a:custGeom>
              <a:avLst/>
              <a:gdLst/>
              <a:ahLst/>
              <a:cxnLst/>
              <a:rect r="r" b="b" t="t" l="l"/>
              <a:pathLst>
                <a:path h="1408853" w="9484152">
                  <a:moveTo>
                    <a:pt x="0" y="0"/>
                  </a:moveTo>
                  <a:lnTo>
                    <a:pt x="9484152" y="0"/>
                  </a:lnTo>
                  <a:lnTo>
                    <a:pt x="9484152" y="1408853"/>
                  </a:lnTo>
                  <a:lnTo>
                    <a:pt x="0" y="1408853"/>
                  </a:lnTo>
                  <a:close/>
                </a:path>
              </a:pathLst>
            </a:custGeom>
            <a:solidFill>
              <a:srgbClr val="000000">
                <a:alpha val="0"/>
              </a:srgbClr>
            </a:solidFill>
          </p:spPr>
        </p:sp>
        <p:sp>
          <p:nvSpPr>
            <p:cNvPr name="TextBox 5" id="5"/>
            <p:cNvSpPr txBox="true"/>
            <p:nvPr/>
          </p:nvSpPr>
          <p:spPr>
            <a:xfrm>
              <a:off x="0" y="-57150"/>
              <a:ext cx="9484152"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Chặn luồng kiểm soát thông thường</a:t>
              </a:r>
            </a:p>
            <a:p>
              <a:pPr algn="l">
                <a:lnSpc>
                  <a:spcPts val="3583"/>
                </a:lnSpc>
              </a:pPr>
            </a:p>
          </p:txBody>
        </p:sp>
      </p:grpSp>
      <p:sp>
        <p:nvSpPr>
          <p:cNvPr name="Freeform 6" id="6"/>
          <p:cNvSpPr/>
          <p:nvPr/>
        </p:nvSpPr>
        <p:spPr>
          <a:xfrm flipH="false" flipV="false" rot="0">
            <a:off x="1457827" y="1352711"/>
            <a:ext cx="7174108" cy="5613666"/>
          </a:xfrm>
          <a:custGeom>
            <a:avLst/>
            <a:gdLst/>
            <a:ahLst/>
            <a:cxnLst/>
            <a:rect r="r" b="b" t="t" l="l"/>
            <a:pathLst>
              <a:path h="5613666" w="7174108">
                <a:moveTo>
                  <a:pt x="0" y="0"/>
                </a:moveTo>
                <a:lnTo>
                  <a:pt x="7174108" y="0"/>
                </a:lnTo>
                <a:lnTo>
                  <a:pt x="7174108" y="5613666"/>
                </a:lnTo>
                <a:lnTo>
                  <a:pt x="0" y="5613666"/>
                </a:lnTo>
                <a:lnTo>
                  <a:pt x="0" y="0"/>
                </a:lnTo>
                <a:close/>
              </a:path>
            </a:pathLst>
          </a:custGeom>
          <a:blipFill>
            <a:blip r:embed="rId4"/>
            <a:stretch>
              <a:fillRect l="0" t="0" r="0" b="0"/>
            </a:stretch>
          </a:blipFill>
        </p:spPr>
      </p:sp>
      <p:grpSp>
        <p:nvGrpSpPr>
          <p:cNvPr name="Group 7" id="7"/>
          <p:cNvGrpSpPr/>
          <p:nvPr/>
        </p:nvGrpSpPr>
        <p:grpSpPr>
          <a:xfrm rot="0">
            <a:off x="6990080" y="6780108"/>
            <a:ext cx="2275840" cy="389467"/>
            <a:chOff x="0" y="0"/>
            <a:chExt cx="3034453" cy="519289"/>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9" id="9"/>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30</a:t>
              </a:r>
            </a:p>
          </p:txBody>
        </p:sp>
      </p:gr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5528436" cy="1441645"/>
            <a:chOff x="0" y="0"/>
            <a:chExt cx="7371249" cy="1922193"/>
          </a:xfrm>
        </p:grpSpPr>
        <p:sp>
          <p:nvSpPr>
            <p:cNvPr name="Freeform 4" id="4"/>
            <p:cNvSpPr/>
            <p:nvPr/>
          </p:nvSpPr>
          <p:spPr>
            <a:xfrm flipH="false" flipV="false" rot="0">
              <a:off x="0" y="0"/>
              <a:ext cx="7371249" cy="1922193"/>
            </a:xfrm>
            <a:custGeom>
              <a:avLst/>
              <a:gdLst/>
              <a:ahLst/>
              <a:cxnLst/>
              <a:rect r="r" b="b" t="t" l="l"/>
              <a:pathLst>
                <a:path h="1922193" w="7371249">
                  <a:moveTo>
                    <a:pt x="0" y="0"/>
                  </a:moveTo>
                  <a:lnTo>
                    <a:pt x="7371249" y="0"/>
                  </a:lnTo>
                  <a:lnTo>
                    <a:pt x="7371249" y="1922193"/>
                  </a:lnTo>
                  <a:lnTo>
                    <a:pt x="0" y="1922193"/>
                  </a:lnTo>
                  <a:close/>
                </a:path>
              </a:pathLst>
            </a:custGeom>
            <a:solidFill>
              <a:srgbClr val="000000">
                <a:alpha val="0"/>
              </a:srgbClr>
            </a:solidFill>
          </p:spPr>
        </p:sp>
        <p:sp>
          <p:nvSpPr>
            <p:cNvPr name="TextBox 5" id="5"/>
            <p:cNvSpPr txBox="true"/>
            <p:nvPr/>
          </p:nvSpPr>
          <p:spPr>
            <a:xfrm>
              <a:off x="0" y="-57150"/>
              <a:ext cx="7371249" cy="197934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Phát triển phần mềm trung gian có khả năng thích ứng</a:t>
              </a:r>
            </a:p>
            <a:p>
              <a:pPr algn="l">
                <a:lnSpc>
                  <a:spcPts val="3583"/>
                </a:lnSpc>
              </a:pPr>
            </a:p>
          </p:txBody>
        </p:sp>
      </p:grpSp>
      <p:sp>
        <p:nvSpPr>
          <p:cNvPr name="TextBox 6" id="6"/>
          <p:cNvSpPr txBox="true"/>
          <p:nvPr/>
        </p:nvSpPr>
        <p:spPr>
          <a:xfrm rot="0">
            <a:off x="565682" y="1567481"/>
            <a:ext cx="8082329" cy="2038350"/>
          </a:xfrm>
          <a:prstGeom prst="rect">
            <a:avLst/>
          </a:prstGeom>
        </p:spPr>
        <p:txBody>
          <a:bodyPr anchor="t" rtlCol="false" tIns="0" lIns="0" bIns="0" rIns="0">
            <a:spAutoFit/>
          </a:bodyPr>
          <a:lstStyle/>
          <a:p>
            <a:pPr algn="just">
              <a:lnSpc>
                <a:spcPts val="3583"/>
              </a:lnSpc>
            </a:pPr>
            <a:r>
              <a:rPr lang="en-US" sz="2986" b="true">
                <a:solidFill>
                  <a:srgbClr val="0000FF"/>
                </a:solidFill>
                <a:latin typeface="Arial Bold"/>
                <a:ea typeface="Arial Bold"/>
                <a:cs typeface="Arial Bold"/>
                <a:sym typeface="Arial Bold"/>
              </a:rPr>
              <a:t>Vấn đề</a:t>
            </a:r>
          </a:p>
          <a:p>
            <a:pPr algn="just">
              <a:lnSpc>
                <a:spcPts val="2984"/>
              </a:lnSpc>
            </a:pPr>
            <a:r>
              <a:rPr lang="en-US" sz="2486" b="true">
                <a:solidFill>
                  <a:srgbClr val="0000FF"/>
                </a:solidFill>
                <a:latin typeface="Arial Bold"/>
                <a:ea typeface="Arial Bold"/>
                <a:cs typeface="Arial Bold"/>
                <a:sym typeface="Arial Bold"/>
              </a:rPr>
              <a:t> </a:t>
            </a:r>
            <a:r>
              <a:rPr lang="en-US" sz="2486" b="true">
                <a:solidFill>
                  <a:srgbClr val="000000"/>
                </a:solidFill>
                <a:latin typeface="Arial Bold"/>
                <a:ea typeface="Arial Bold"/>
                <a:cs typeface="Arial Bold"/>
                <a:sym typeface="Arial Bold"/>
              </a:rPr>
              <a:t>Phần mềm trung gian chứa các giải pháp phù hợp với hầu hết các ứng dụng, có thể điều chỉnh hành vi của nó cho các ứng dụng cụ thể</a:t>
            </a:r>
            <a:r>
              <a:rPr lang="en-US" sz="2486" b="true">
                <a:solidFill>
                  <a:srgbClr val="0000FF"/>
                </a:solidFill>
                <a:latin typeface="Arial Bold"/>
                <a:ea typeface="Arial Bold"/>
                <a:cs typeface="Arial Bold"/>
                <a:sym typeface="Arial Bold"/>
              </a:rPr>
              <a:t>.</a:t>
            </a:r>
          </a:p>
          <a:p>
            <a:pPr algn="l">
              <a:lnSpc>
                <a:spcPts val="3344"/>
              </a:lnSpc>
              <a:spcBef>
                <a:spcPct val="0"/>
              </a:spcBef>
            </a:pPr>
          </a:p>
        </p:txBody>
      </p:sp>
      <p:grpSp>
        <p:nvGrpSpPr>
          <p:cNvPr name="Group 7" id="7"/>
          <p:cNvGrpSpPr/>
          <p:nvPr/>
        </p:nvGrpSpPr>
        <p:grpSpPr>
          <a:xfrm rot="0">
            <a:off x="6990080" y="6780108"/>
            <a:ext cx="2275840" cy="389467"/>
            <a:chOff x="0" y="0"/>
            <a:chExt cx="3034453" cy="519289"/>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9" id="9"/>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31</a:t>
              </a:r>
            </a:p>
          </p:txBody>
        </p:sp>
      </p:gr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1746529" y="3143239"/>
            <a:ext cx="6260542" cy="971571"/>
          </a:xfrm>
          <a:prstGeom prst="rect">
            <a:avLst/>
          </a:prstGeom>
        </p:spPr>
        <p:txBody>
          <a:bodyPr anchor="t" rtlCol="false" tIns="0" lIns="0" bIns="0" rIns="0">
            <a:spAutoFit/>
          </a:bodyPr>
          <a:lstStyle/>
          <a:p>
            <a:pPr algn="ctr">
              <a:lnSpc>
                <a:spcPts val="3583"/>
              </a:lnSpc>
              <a:spcBef>
                <a:spcPct val="0"/>
              </a:spcBef>
            </a:pPr>
            <a:r>
              <a:rPr lang="en-US" b="true" sz="2986">
                <a:solidFill>
                  <a:srgbClr val="000000"/>
                </a:solidFill>
                <a:latin typeface="Arial Bold"/>
                <a:ea typeface="Arial Bold"/>
                <a:cs typeface="Arial Bold"/>
                <a:sym typeface="Arial Bold"/>
              </a:rPr>
              <a:t>3.</a:t>
            </a:r>
            <a:r>
              <a:rPr lang="en-US" b="true" sz="2986">
                <a:solidFill>
                  <a:srgbClr val="000000"/>
                </a:solidFill>
                <a:latin typeface="Arial Bold"/>
                <a:ea typeface="Arial Bold"/>
                <a:cs typeface="Arial Bold"/>
                <a:sym typeface="Arial Bold"/>
              </a:rPr>
              <a:t>Centralized system architectures</a:t>
            </a:r>
          </a:p>
          <a:p>
            <a:pPr algn="ctr">
              <a:lnSpc>
                <a:spcPts val="3703"/>
              </a:lnSpc>
              <a:spcBef>
                <a:spcPct val="0"/>
              </a:spcBef>
            </a:pPr>
            <a:r>
              <a:rPr lang="en-US" b="true" sz="3086">
                <a:solidFill>
                  <a:srgbClr val="000000"/>
                </a:solidFill>
                <a:latin typeface="Arial Bold"/>
                <a:ea typeface="Arial Bold"/>
                <a:cs typeface="Arial Bold"/>
                <a:sym typeface="Arial Bold"/>
              </a:rPr>
              <a:t>(Kiến trúc hệ thống tập trung)</a:t>
            </a:r>
          </a:p>
        </p:txBody>
      </p:sp>
      <p:grpSp>
        <p:nvGrpSpPr>
          <p:cNvPr name="Group 4" id="4"/>
          <p:cNvGrpSpPr/>
          <p:nvPr/>
        </p:nvGrpSpPr>
        <p:grpSpPr>
          <a:xfrm rot="0">
            <a:off x="6990080" y="6780108"/>
            <a:ext cx="2275840" cy="389467"/>
            <a:chOff x="0" y="0"/>
            <a:chExt cx="3034453" cy="519289"/>
          </a:xfrm>
        </p:grpSpPr>
        <p:sp>
          <p:nvSpPr>
            <p:cNvPr name="Freeform 5" id="5"/>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6" id="6"/>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32</a:t>
              </a:r>
            </a:p>
          </p:txBody>
        </p:sp>
      </p:gr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365760" y="1924136"/>
            <a:ext cx="9022080" cy="3409778"/>
          </a:xfrm>
          <a:prstGeom prst="rect">
            <a:avLst/>
          </a:prstGeom>
        </p:spPr>
        <p:txBody>
          <a:bodyPr anchor="t" rtlCol="false" tIns="0" lIns="0" bIns="0" rIns="0">
            <a:spAutoFit/>
          </a:bodyPr>
          <a:lstStyle/>
          <a:p>
            <a:pPr algn="l">
              <a:lnSpc>
                <a:spcPts val="3344"/>
              </a:lnSpc>
              <a:spcBef>
                <a:spcPct val="0"/>
              </a:spcBef>
            </a:pPr>
            <a:r>
              <a:rPr lang="en-US" b="true" sz="2786">
                <a:solidFill>
                  <a:srgbClr val="000000"/>
                </a:solidFill>
                <a:latin typeface="Arial Bold"/>
                <a:ea typeface="Arial Bold"/>
                <a:cs typeface="Arial Bold"/>
                <a:sym typeface="Arial Bold"/>
              </a:rPr>
              <a:t>Mô hình cơ bản Client–Server</a:t>
            </a:r>
          </a:p>
          <a:p>
            <a:pPr algn="l">
              <a:lnSpc>
                <a:spcPts val="3344"/>
              </a:lnSpc>
              <a:spcBef>
                <a:spcPct val="0"/>
              </a:spcBef>
            </a:pPr>
            <a:r>
              <a:rPr lang="en-US" sz="2786">
                <a:solidFill>
                  <a:srgbClr val="000000"/>
                </a:solidFill>
                <a:latin typeface="Arial"/>
                <a:ea typeface="Arial"/>
                <a:cs typeface="Arial"/>
                <a:sym typeface="Arial"/>
              </a:rPr>
              <a:t> Đặc trưng:</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Có các tiến trình cung cấp dịch vụ (servers)</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Có các tiến trình sử dụng dịch vụ (clients)</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Clients và servers có thể nằm trên các máy khác nhau</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Clients tuân theo mô hình yêu cầu/phản hồi (request/reply) khi sử dụng dịch vụ</a:t>
            </a:r>
          </a:p>
        </p:txBody>
      </p:sp>
      <p:sp>
        <p:nvSpPr>
          <p:cNvPr name="TextBox 4" id="4"/>
          <p:cNvSpPr txBox="true"/>
          <p:nvPr/>
        </p:nvSpPr>
        <p:spPr>
          <a:xfrm rot="0">
            <a:off x="589549" y="269533"/>
            <a:ext cx="5985733"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Kiến trúc hệ thống tập trung</a:t>
            </a:r>
          </a:p>
        </p:txBody>
      </p:sp>
      <p:grpSp>
        <p:nvGrpSpPr>
          <p:cNvPr name="Group 5" id="5"/>
          <p:cNvGrpSpPr/>
          <p:nvPr/>
        </p:nvGrpSpPr>
        <p:grpSpPr>
          <a:xfrm rot="0">
            <a:off x="6990080" y="6780108"/>
            <a:ext cx="2275840" cy="389467"/>
            <a:chOff x="0" y="0"/>
            <a:chExt cx="3034453" cy="519289"/>
          </a:xfrm>
        </p:grpSpPr>
        <p:sp>
          <p:nvSpPr>
            <p:cNvPr name="Freeform 6" id="6"/>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7" id="7"/>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33</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306924" y="1588725"/>
            <a:ext cx="9139751" cy="2181182"/>
          </a:xfrm>
          <a:prstGeom prst="rect">
            <a:avLst/>
          </a:prstGeom>
        </p:spPr>
        <p:txBody>
          <a:bodyPr anchor="t" rtlCol="false" tIns="0" lIns="0" bIns="0" rIns="0">
            <a:spAutoFit/>
          </a:bodyPr>
          <a:lstStyle/>
          <a:p>
            <a:pPr algn="l">
              <a:lnSpc>
                <a:spcPts val="3583"/>
              </a:lnSpc>
              <a:spcBef>
                <a:spcPct val="0"/>
              </a:spcBef>
            </a:pPr>
            <a:r>
              <a:rPr lang="en-US" b="true" sz="2986">
                <a:solidFill>
                  <a:srgbClr val="000000"/>
                </a:solidFill>
                <a:latin typeface="Arial Bold"/>
                <a:ea typeface="Arial Bold"/>
                <a:cs typeface="Arial Bold"/>
                <a:sym typeface="Arial Bold"/>
              </a:rPr>
              <a:t>Quá trình hoạt động:</a:t>
            </a:r>
          </a:p>
          <a:p>
            <a:pPr algn="l">
              <a:lnSpc>
                <a:spcPts val="3344"/>
              </a:lnSpc>
              <a:spcBef>
                <a:spcPct val="0"/>
              </a:spcBef>
            </a:pPr>
            <a:r>
              <a:rPr lang="en-US" b="true" sz="2786">
                <a:solidFill>
                  <a:srgbClr val="000000"/>
                </a:solidFill>
                <a:latin typeface="Arial Bold"/>
                <a:ea typeface="Arial Bold"/>
                <a:cs typeface="Arial Bold"/>
                <a:sym typeface="Arial Bold"/>
              </a:rPr>
              <a:t>  </a:t>
            </a:r>
            <a:r>
              <a:rPr lang="en-US" sz="2786">
                <a:solidFill>
                  <a:srgbClr val="000000"/>
                </a:solidFill>
                <a:latin typeface="Arial"/>
                <a:ea typeface="Arial"/>
                <a:cs typeface="Arial"/>
                <a:sym typeface="Arial"/>
              </a:rPr>
              <a:t>1. Client (C) gửi một yêu cầu (operation) đến Server (S). </a:t>
            </a:r>
          </a:p>
          <a:p>
            <a:pPr algn="l">
              <a:lnSpc>
                <a:spcPts val="3344"/>
              </a:lnSpc>
              <a:spcBef>
                <a:spcPct val="0"/>
              </a:spcBef>
            </a:pPr>
            <a:r>
              <a:rPr lang="en-US" sz="2786">
                <a:solidFill>
                  <a:srgbClr val="000000"/>
                </a:solidFill>
                <a:latin typeface="Arial"/>
                <a:ea typeface="Arial"/>
                <a:cs typeface="Arial"/>
                <a:sym typeface="Arial"/>
              </a:rPr>
              <a:t>  2. Client chờ phản hồi từ Server (wait for reply).</a:t>
            </a:r>
          </a:p>
          <a:p>
            <a:pPr algn="l">
              <a:lnSpc>
                <a:spcPts val="3344"/>
              </a:lnSpc>
              <a:spcBef>
                <a:spcPct val="0"/>
              </a:spcBef>
            </a:pPr>
            <a:r>
              <a:rPr lang="en-US" sz="2786">
                <a:solidFill>
                  <a:srgbClr val="000000"/>
                </a:solidFill>
                <a:latin typeface="Arial"/>
                <a:ea typeface="Arial"/>
                <a:cs typeface="Arial"/>
                <a:sym typeface="Arial"/>
              </a:rPr>
              <a:t>  3. Server xử lý yêu cầu và gửi phản hồi (response) lại cho Client.</a:t>
            </a:r>
          </a:p>
        </p:txBody>
      </p:sp>
      <p:sp>
        <p:nvSpPr>
          <p:cNvPr name="TextBox 4" id="4"/>
          <p:cNvSpPr txBox="true"/>
          <p:nvPr/>
        </p:nvSpPr>
        <p:spPr>
          <a:xfrm rot="0">
            <a:off x="589549" y="269533"/>
            <a:ext cx="5985733"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Kiến trúc hệ thống tập trung</a:t>
            </a:r>
          </a:p>
        </p:txBody>
      </p:sp>
      <p:sp>
        <p:nvSpPr>
          <p:cNvPr name="Freeform 5" id="5"/>
          <p:cNvSpPr/>
          <p:nvPr/>
        </p:nvSpPr>
        <p:spPr>
          <a:xfrm flipH="false" flipV="false" rot="0">
            <a:off x="731520" y="3967343"/>
            <a:ext cx="7963456" cy="2066120"/>
          </a:xfrm>
          <a:custGeom>
            <a:avLst/>
            <a:gdLst/>
            <a:ahLst/>
            <a:cxnLst/>
            <a:rect r="r" b="b" t="t" l="l"/>
            <a:pathLst>
              <a:path h="2066120" w="7963456">
                <a:moveTo>
                  <a:pt x="0" y="0"/>
                </a:moveTo>
                <a:lnTo>
                  <a:pt x="7963456" y="0"/>
                </a:lnTo>
                <a:lnTo>
                  <a:pt x="7963456" y="2066120"/>
                </a:lnTo>
                <a:lnTo>
                  <a:pt x="0" y="2066120"/>
                </a:lnTo>
                <a:lnTo>
                  <a:pt x="0" y="0"/>
                </a:lnTo>
                <a:close/>
              </a:path>
            </a:pathLst>
          </a:custGeom>
          <a:blipFill>
            <a:blip r:embed="rId3"/>
            <a:stretch>
              <a:fillRect l="0" t="0" r="0" b="0"/>
            </a:stretch>
          </a:blipFill>
        </p:spPr>
      </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34</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700394" y="3657600"/>
            <a:ext cx="8352811" cy="3511296"/>
          </a:xfrm>
          <a:custGeom>
            <a:avLst/>
            <a:gdLst/>
            <a:ahLst/>
            <a:cxnLst/>
            <a:rect r="r" b="b" t="t" l="l"/>
            <a:pathLst>
              <a:path h="3511296" w="8352811">
                <a:moveTo>
                  <a:pt x="0" y="0"/>
                </a:moveTo>
                <a:lnTo>
                  <a:pt x="8352812" y="0"/>
                </a:lnTo>
                <a:lnTo>
                  <a:pt x="8352812" y="3511296"/>
                </a:lnTo>
                <a:lnTo>
                  <a:pt x="0" y="3511296"/>
                </a:lnTo>
                <a:lnTo>
                  <a:pt x="0" y="0"/>
                </a:lnTo>
                <a:close/>
              </a:path>
            </a:pathLst>
          </a:custGeom>
          <a:blipFill>
            <a:blip r:embed="rId3"/>
            <a:stretch>
              <a:fillRect l="0" t="0" r="0" b="0"/>
            </a:stretch>
          </a:blipFill>
        </p:spPr>
      </p:sp>
      <p:sp>
        <p:nvSpPr>
          <p:cNvPr name="TextBox 4" id="4"/>
          <p:cNvSpPr txBox="true"/>
          <p:nvPr/>
        </p:nvSpPr>
        <p:spPr>
          <a:xfrm rot="0">
            <a:off x="272758" y="1299911"/>
            <a:ext cx="9480842" cy="2181182"/>
          </a:xfrm>
          <a:prstGeom prst="rect">
            <a:avLst/>
          </a:prstGeom>
        </p:spPr>
        <p:txBody>
          <a:bodyPr anchor="t" rtlCol="false" tIns="0" lIns="0" bIns="0" rIns="0">
            <a:spAutoFit/>
          </a:bodyPr>
          <a:lstStyle/>
          <a:p>
            <a:pPr algn="l">
              <a:lnSpc>
                <a:spcPts val="3583"/>
              </a:lnSpc>
              <a:spcBef>
                <a:spcPct val="0"/>
              </a:spcBef>
            </a:pPr>
            <a:r>
              <a:rPr lang="en-US" b="true" sz="2986">
                <a:solidFill>
                  <a:srgbClr val="000000"/>
                </a:solidFill>
                <a:latin typeface="Arial Bold"/>
                <a:ea typeface="Arial Bold"/>
                <a:cs typeface="Arial Bold"/>
                <a:sym typeface="Arial Bold"/>
              </a:rPr>
              <a:t>Một số tổ chức truyền thống:</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Single-tiered: Cấu hình terminal chính (dumb terminal/mainframe).</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Two-tiered: Cấu hình client/server đơn.</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Three-tiered: Mỗi tầng trên một máy khác nhau.</a:t>
            </a:r>
          </a:p>
        </p:txBody>
      </p:sp>
      <p:sp>
        <p:nvSpPr>
          <p:cNvPr name="TextBox 5" id="5"/>
          <p:cNvSpPr txBox="true"/>
          <p:nvPr/>
        </p:nvSpPr>
        <p:spPr>
          <a:xfrm rot="0">
            <a:off x="272758" y="355293"/>
            <a:ext cx="7443015" cy="533379"/>
          </a:xfrm>
          <a:prstGeom prst="rect">
            <a:avLst/>
          </a:prstGeom>
        </p:spPr>
        <p:txBody>
          <a:bodyPr anchor="t" rtlCol="false" tIns="0" lIns="0" bIns="0" rIns="0">
            <a:spAutoFit/>
          </a:bodyPr>
          <a:lstStyle/>
          <a:p>
            <a:pPr algn="ctr">
              <a:lnSpc>
                <a:spcPts val="3703"/>
              </a:lnSpc>
              <a:spcBef>
                <a:spcPct val="0"/>
              </a:spcBef>
            </a:pPr>
            <a:r>
              <a:rPr lang="en-US" b="true" sz="3086">
                <a:solidFill>
                  <a:srgbClr val="FFFF00"/>
                </a:solidFill>
                <a:latin typeface="Arial Bold"/>
                <a:ea typeface="Arial Bold"/>
                <a:cs typeface="Arial Bold"/>
                <a:sym typeface="Arial Bold"/>
              </a:rPr>
              <a:t>Kiến trúc hệ thống tập trung nhiều tầng</a:t>
            </a:r>
          </a:p>
        </p:txBody>
      </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35</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444208" y="1592430"/>
            <a:ext cx="9191721" cy="4667014"/>
          </a:xfrm>
          <a:prstGeom prst="rect">
            <a:avLst/>
          </a:prstGeom>
        </p:spPr>
        <p:txBody>
          <a:bodyPr anchor="t" rtlCol="false" tIns="0" lIns="0" bIns="0" rIns="0">
            <a:spAutoFit/>
          </a:bodyPr>
          <a:lstStyle/>
          <a:p>
            <a:pPr algn="l">
              <a:lnSpc>
                <a:spcPts val="3344"/>
              </a:lnSpc>
              <a:spcBef>
                <a:spcPct val="0"/>
              </a:spcBef>
            </a:pPr>
            <a:r>
              <a:rPr lang="en-US" b="true" sz="2786">
                <a:solidFill>
                  <a:srgbClr val="000000"/>
                </a:solidFill>
                <a:latin typeface="Arial Bold"/>
                <a:ea typeface="Arial Bold"/>
                <a:cs typeface="Arial Bold"/>
                <a:sym typeface="Arial Bold"/>
              </a:rPr>
              <a:t>Cấu hình hai tầng truyền thống:</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Hình (a): Giao diện người dùng, ứng dụng, và cơ sở dữ liệu đều nằm trên máy chủ.</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Hình (b): Giao diện người dùng ở máy khách, ứng dụng và cơ sở dữ liệu ở máy chủ.</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Hình (c): Giao diện người dùng và ứng dụng ở máy khách, cơ sở dữ liệu ở máy chủ.</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Hình (d): Giao diện người dùng ở máy khách, ứng dụng ở máy chủ, cơ sở dữ liệu ở một máy khác.</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Hình (e): Giao diện người dùng ở máy khách, ứng dụng và cơ sở dữ liệu ở các máy chủ khác nhau.</a:t>
            </a:r>
          </a:p>
        </p:txBody>
      </p:sp>
      <p:sp>
        <p:nvSpPr>
          <p:cNvPr name="TextBox 4" id="4"/>
          <p:cNvSpPr txBox="true"/>
          <p:nvPr/>
        </p:nvSpPr>
        <p:spPr>
          <a:xfrm rot="0">
            <a:off x="272758" y="355293"/>
            <a:ext cx="7443015" cy="533379"/>
          </a:xfrm>
          <a:prstGeom prst="rect">
            <a:avLst/>
          </a:prstGeom>
        </p:spPr>
        <p:txBody>
          <a:bodyPr anchor="t" rtlCol="false" tIns="0" lIns="0" bIns="0" rIns="0">
            <a:spAutoFit/>
          </a:bodyPr>
          <a:lstStyle/>
          <a:p>
            <a:pPr algn="ctr">
              <a:lnSpc>
                <a:spcPts val="3703"/>
              </a:lnSpc>
              <a:spcBef>
                <a:spcPct val="0"/>
              </a:spcBef>
            </a:pPr>
            <a:r>
              <a:rPr lang="en-US" b="true" sz="3086">
                <a:solidFill>
                  <a:srgbClr val="FFFF00"/>
                </a:solidFill>
                <a:latin typeface="Arial Bold"/>
                <a:ea typeface="Arial Bold"/>
                <a:cs typeface="Arial Bold"/>
                <a:sym typeface="Arial Bold"/>
              </a:rPr>
              <a:t>Kiến trúc hệ thống tập trung nhiều tầng</a:t>
            </a:r>
          </a:p>
        </p:txBody>
      </p:sp>
      <p:grpSp>
        <p:nvGrpSpPr>
          <p:cNvPr name="Group 5" id="5"/>
          <p:cNvGrpSpPr/>
          <p:nvPr/>
        </p:nvGrpSpPr>
        <p:grpSpPr>
          <a:xfrm rot="0">
            <a:off x="6990080" y="6780108"/>
            <a:ext cx="2275840" cy="389467"/>
            <a:chOff x="0" y="0"/>
            <a:chExt cx="3034453" cy="519289"/>
          </a:xfrm>
        </p:grpSpPr>
        <p:sp>
          <p:nvSpPr>
            <p:cNvPr name="Freeform 6" id="6"/>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7" id="7"/>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36</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731520" y="4034314"/>
            <a:ext cx="7355337" cy="3142884"/>
          </a:xfrm>
          <a:custGeom>
            <a:avLst/>
            <a:gdLst/>
            <a:ahLst/>
            <a:cxnLst/>
            <a:rect r="r" b="b" t="t" l="l"/>
            <a:pathLst>
              <a:path h="3142884" w="7355337">
                <a:moveTo>
                  <a:pt x="0" y="0"/>
                </a:moveTo>
                <a:lnTo>
                  <a:pt x="7355337" y="0"/>
                </a:lnTo>
                <a:lnTo>
                  <a:pt x="7355337" y="3142884"/>
                </a:lnTo>
                <a:lnTo>
                  <a:pt x="0" y="3142884"/>
                </a:lnTo>
                <a:lnTo>
                  <a:pt x="0" y="0"/>
                </a:lnTo>
                <a:close/>
              </a:path>
            </a:pathLst>
          </a:custGeom>
          <a:blipFill>
            <a:blip r:embed="rId3"/>
            <a:stretch>
              <a:fillRect l="0" t="0" r="0" b="0"/>
            </a:stretch>
          </a:blipFill>
        </p:spPr>
      </p:sp>
      <p:sp>
        <p:nvSpPr>
          <p:cNvPr name="TextBox 4" id="4"/>
          <p:cNvSpPr txBox="true"/>
          <p:nvPr/>
        </p:nvSpPr>
        <p:spPr>
          <a:xfrm rot="0">
            <a:off x="355479" y="264752"/>
            <a:ext cx="5019396" cy="533379"/>
          </a:xfrm>
          <a:prstGeom prst="rect">
            <a:avLst/>
          </a:prstGeom>
        </p:spPr>
        <p:txBody>
          <a:bodyPr anchor="t" rtlCol="false" tIns="0" lIns="0" bIns="0" rIns="0">
            <a:spAutoFit/>
          </a:bodyPr>
          <a:lstStyle/>
          <a:p>
            <a:pPr algn="ctr">
              <a:lnSpc>
                <a:spcPts val="3703"/>
              </a:lnSpc>
              <a:spcBef>
                <a:spcPct val="0"/>
              </a:spcBef>
            </a:pPr>
            <a:r>
              <a:rPr lang="en-US" b="true" sz="3086">
                <a:solidFill>
                  <a:srgbClr val="FFFF00"/>
                </a:solidFill>
                <a:latin typeface="Arial Bold"/>
                <a:ea typeface="Arial Bold"/>
                <a:cs typeface="Arial Bold"/>
                <a:sym typeface="Arial Bold"/>
              </a:rPr>
              <a:t>Vừa là client, vừa là server</a:t>
            </a:r>
          </a:p>
        </p:txBody>
      </p:sp>
      <p:sp>
        <p:nvSpPr>
          <p:cNvPr name="TextBox 5" id="5"/>
          <p:cNvSpPr txBox="true"/>
          <p:nvPr/>
        </p:nvSpPr>
        <p:spPr>
          <a:xfrm rot="0">
            <a:off x="355479" y="1243339"/>
            <a:ext cx="9398121" cy="2790975"/>
          </a:xfrm>
          <a:prstGeom prst="rect">
            <a:avLst/>
          </a:prstGeom>
        </p:spPr>
        <p:txBody>
          <a:bodyPr anchor="t" rtlCol="false" tIns="0" lIns="0" bIns="0" rIns="0">
            <a:spAutoFit/>
          </a:bodyPr>
          <a:lstStyle/>
          <a:p>
            <a:pPr algn="l">
              <a:lnSpc>
                <a:spcPts val="3104"/>
              </a:lnSpc>
              <a:spcBef>
                <a:spcPct val="0"/>
              </a:spcBef>
            </a:pPr>
            <a:r>
              <a:rPr lang="en-US" b="true" sz="2586">
                <a:solidFill>
                  <a:srgbClr val="000000"/>
                </a:solidFill>
                <a:latin typeface="Arial Bold"/>
                <a:ea typeface="Arial Bold"/>
                <a:cs typeface="Arial Bold"/>
                <a:sym typeface="Arial Bold"/>
              </a:rPr>
              <a:t>Kiến trúc ba tầng:</a:t>
            </a:r>
          </a:p>
          <a:p>
            <a:pPr algn="l">
              <a:lnSpc>
                <a:spcPts val="3104"/>
              </a:lnSpc>
              <a:spcBef>
                <a:spcPct val="0"/>
              </a:spcBef>
            </a:pPr>
            <a:r>
              <a:rPr lang="en-US" sz="2586">
                <a:solidFill>
                  <a:srgbClr val="000000"/>
                </a:solidFill>
                <a:latin typeface="Arial"/>
                <a:ea typeface="Arial"/>
                <a:cs typeface="Arial"/>
                <a:sym typeface="Arial"/>
              </a:rPr>
              <a:t>+ C (Client): Gửi yêu cầu (operation) đến AS (Application Server) và chờ phản hồi (wait for reply).</a:t>
            </a:r>
          </a:p>
          <a:p>
            <a:pPr algn="l">
              <a:lnSpc>
                <a:spcPts val="3104"/>
              </a:lnSpc>
              <a:spcBef>
                <a:spcPct val="0"/>
              </a:spcBef>
            </a:pPr>
            <a:r>
              <a:rPr lang="en-US" sz="2586">
                <a:solidFill>
                  <a:srgbClr val="000000"/>
                </a:solidFill>
                <a:latin typeface="Arial"/>
                <a:ea typeface="Arial"/>
                <a:cs typeface="Arial"/>
                <a:sym typeface="Arial"/>
              </a:rPr>
              <a:t>+ AS: Xử lý yêu cầu, gửi dữ liệu (data) đến DS (Database Server), và chờ phản hồi.</a:t>
            </a:r>
          </a:p>
          <a:p>
            <a:pPr algn="l">
              <a:lnSpc>
                <a:spcPts val="3104"/>
              </a:lnSpc>
              <a:spcBef>
                <a:spcPct val="0"/>
              </a:spcBef>
            </a:pPr>
            <a:r>
              <a:rPr lang="en-US" sz="2586">
                <a:solidFill>
                  <a:srgbClr val="000000"/>
                </a:solidFill>
                <a:latin typeface="Arial"/>
                <a:ea typeface="Arial"/>
                <a:cs typeface="Arial"/>
                <a:sym typeface="Arial"/>
              </a:rPr>
              <a:t>+ DS: Gửi phản hồi trở lại AS, và sau đó AS gửi phản hồi cuối cùng đến C.</a:t>
            </a:r>
          </a:p>
        </p:txBody>
      </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37</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478321" y="79908"/>
            <a:ext cx="5227594" cy="1000082"/>
          </a:xfrm>
          <a:prstGeom prst="rect">
            <a:avLst/>
          </a:prstGeom>
        </p:spPr>
        <p:txBody>
          <a:bodyPr anchor="t" rtlCol="false" tIns="0" lIns="0" bIns="0" rIns="0">
            <a:spAutoFit/>
          </a:bodyPr>
          <a:lstStyle/>
          <a:p>
            <a:pPr algn="ctr">
              <a:lnSpc>
                <a:spcPts val="3703"/>
              </a:lnSpc>
              <a:spcBef>
                <a:spcPct val="0"/>
              </a:spcBef>
            </a:pPr>
            <a:r>
              <a:rPr lang="en-US" b="true" sz="3086">
                <a:solidFill>
                  <a:srgbClr val="FFFF00"/>
                </a:solidFill>
                <a:latin typeface="Arial Bold"/>
                <a:ea typeface="Arial Bold"/>
                <a:cs typeface="Arial Bold"/>
                <a:sym typeface="Arial Bold"/>
              </a:rPr>
              <a:t>Ví dụ: Hệ Thống Tệp Mạng </a:t>
            </a:r>
          </a:p>
          <a:p>
            <a:pPr algn="ctr">
              <a:lnSpc>
                <a:spcPts val="3703"/>
              </a:lnSpc>
              <a:spcBef>
                <a:spcPct val="0"/>
              </a:spcBef>
            </a:pPr>
            <a:r>
              <a:rPr lang="en-US" b="true" sz="3086">
                <a:solidFill>
                  <a:srgbClr val="FFFF00"/>
                </a:solidFill>
                <a:latin typeface="Arial Bold"/>
                <a:ea typeface="Arial Bold"/>
                <a:cs typeface="Arial Bold"/>
                <a:sym typeface="Arial Bold"/>
              </a:rPr>
              <a:t>(Network File System - NFS)</a:t>
            </a:r>
          </a:p>
        </p:txBody>
      </p:sp>
      <p:sp>
        <p:nvSpPr>
          <p:cNvPr name="TextBox 4" id="4"/>
          <p:cNvSpPr txBox="true"/>
          <p:nvPr/>
        </p:nvSpPr>
        <p:spPr>
          <a:xfrm rot="0">
            <a:off x="228477" y="1649216"/>
            <a:ext cx="9296646" cy="1647868"/>
          </a:xfrm>
          <a:prstGeom prst="rect">
            <a:avLst/>
          </a:prstGeom>
        </p:spPr>
        <p:txBody>
          <a:bodyPr anchor="t" rtlCol="false" tIns="0" lIns="0" bIns="0" rIns="0">
            <a:spAutoFit/>
          </a:bodyPr>
          <a:lstStyle/>
          <a:p>
            <a:pPr algn="l">
              <a:lnSpc>
                <a:spcPts val="3344"/>
              </a:lnSpc>
              <a:spcBef>
                <a:spcPct val="0"/>
              </a:spcBef>
            </a:pPr>
            <a:r>
              <a:rPr lang="en-US" b="true" sz="2786">
                <a:solidFill>
                  <a:srgbClr val="000000"/>
                </a:solidFill>
                <a:latin typeface="Arial Bold"/>
                <a:ea typeface="Arial Bold"/>
                <a:cs typeface="Arial Bold"/>
                <a:sym typeface="Arial Bold"/>
              </a:rPr>
              <a:t>Cơ sở:</a:t>
            </a:r>
          </a:p>
          <a:p>
            <a:pPr algn="l">
              <a:lnSpc>
                <a:spcPts val="3104"/>
              </a:lnSpc>
              <a:spcBef>
                <a:spcPct val="0"/>
              </a:spcBef>
            </a:pPr>
            <a:r>
              <a:rPr lang="en-US" sz="2586">
                <a:solidFill>
                  <a:srgbClr val="000000"/>
                </a:solidFill>
                <a:latin typeface="Arial"/>
                <a:ea typeface="Arial"/>
                <a:cs typeface="Arial"/>
                <a:sym typeface="Arial"/>
              </a:rPr>
              <a:t>Mỗi máy chủ NFS cung cấp một chế độ xem tiêu chuẩn hóa của hệ thống tệp cục bộ của nó: mỗi máy chủ hỗ trợ cùng một mô hình, bất kể cách triển khai của hệ thống tệp.</a:t>
            </a:r>
          </a:p>
        </p:txBody>
      </p:sp>
      <p:sp>
        <p:nvSpPr>
          <p:cNvPr name="TextBox 5" id="5"/>
          <p:cNvSpPr txBox="true"/>
          <p:nvPr/>
        </p:nvSpPr>
        <p:spPr>
          <a:xfrm rot="0">
            <a:off x="248089" y="3600450"/>
            <a:ext cx="9505511" cy="1257429"/>
          </a:xfrm>
          <a:prstGeom prst="rect">
            <a:avLst/>
          </a:prstGeom>
        </p:spPr>
        <p:txBody>
          <a:bodyPr anchor="t" rtlCol="false" tIns="0" lIns="0" bIns="0" rIns="0">
            <a:spAutoFit/>
          </a:bodyPr>
          <a:lstStyle/>
          <a:p>
            <a:pPr algn="l">
              <a:lnSpc>
                <a:spcPts val="3224"/>
              </a:lnSpc>
              <a:spcBef>
                <a:spcPct val="0"/>
              </a:spcBef>
            </a:pPr>
            <a:r>
              <a:rPr lang="en-US" b="true" sz="2686">
                <a:solidFill>
                  <a:srgbClr val="000000"/>
                </a:solidFill>
                <a:latin typeface="Arial Bold"/>
                <a:ea typeface="Arial Bold"/>
                <a:cs typeface="Arial Bold"/>
                <a:sym typeface="Arial Bold"/>
              </a:rPr>
              <a:t>Lưu ý:</a:t>
            </a:r>
          </a:p>
          <a:p>
            <a:pPr algn="l">
              <a:lnSpc>
                <a:spcPts val="3224"/>
              </a:lnSpc>
              <a:spcBef>
                <a:spcPct val="0"/>
              </a:spcBef>
            </a:pPr>
            <a:r>
              <a:rPr lang="en-US" sz="2686">
                <a:solidFill>
                  <a:srgbClr val="000000"/>
                </a:solidFill>
                <a:latin typeface="Arial"/>
                <a:ea typeface="Arial"/>
                <a:cs typeface="Arial"/>
                <a:sym typeface="Arial"/>
              </a:rPr>
              <a:t>FTP là một mô hình tải lên/tải xuống tiêu biểu. Điều tương tự cũng áp dụng cho các hệ thống như Dropbox.</a:t>
            </a:r>
          </a:p>
        </p:txBody>
      </p:sp>
      <p:grpSp>
        <p:nvGrpSpPr>
          <p:cNvPr name="Group 6" id="6"/>
          <p:cNvGrpSpPr/>
          <p:nvPr/>
        </p:nvGrpSpPr>
        <p:grpSpPr>
          <a:xfrm rot="0">
            <a:off x="6999605"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38</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867126" y="4126225"/>
            <a:ext cx="7582899" cy="3080851"/>
          </a:xfrm>
          <a:custGeom>
            <a:avLst/>
            <a:gdLst/>
            <a:ahLst/>
            <a:cxnLst/>
            <a:rect r="r" b="b" t="t" l="l"/>
            <a:pathLst>
              <a:path h="3080851" w="7582899">
                <a:moveTo>
                  <a:pt x="0" y="0"/>
                </a:moveTo>
                <a:lnTo>
                  <a:pt x="7582899" y="0"/>
                </a:lnTo>
                <a:lnTo>
                  <a:pt x="7582899" y="3080851"/>
                </a:lnTo>
                <a:lnTo>
                  <a:pt x="0" y="3080851"/>
                </a:lnTo>
                <a:lnTo>
                  <a:pt x="0" y="0"/>
                </a:lnTo>
                <a:close/>
              </a:path>
            </a:pathLst>
          </a:custGeom>
          <a:blipFill>
            <a:blip r:embed="rId3"/>
            <a:stretch>
              <a:fillRect l="0" t="0" r="0" b="0"/>
            </a:stretch>
          </a:blipFill>
        </p:spPr>
      </p:sp>
      <p:sp>
        <p:nvSpPr>
          <p:cNvPr name="TextBox 4" id="4"/>
          <p:cNvSpPr txBox="true"/>
          <p:nvPr/>
        </p:nvSpPr>
        <p:spPr>
          <a:xfrm rot="0">
            <a:off x="373213" y="1249568"/>
            <a:ext cx="9380387" cy="2819507"/>
          </a:xfrm>
          <a:prstGeom prst="rect">
            <a:avLst/>
          </a:prstGeom>
        </p:spPr>
        <p:txBody>
          <a:bodyPr anchor="t" rtlCol="false" tIns="0" lIns="0" bIns="0" rIns="0">
            <a:spAutoFit/>
          </a:bodyPr>
          <a:lstStyle/>
          <a:p>
            <a:pPr algn="l">
              <a:lnSpc>
                <a:spcPts val="3344"/>
              </a:lnSpc>
              <a:spcBef>
                <a:spcPct val="0"/>
              </a:spcBef>
            </a:pPr>
            <a:r>
              <a:rPr lang="en-US" b="true" sz="2786">
                <a:solidFill>
                  <a:srgbClr val="000000"/>
                </a:solidFill>
                <a:latin typeface="Arial Bold"/>
                <a:ea typeface="Arial Bold"/>
                <a:cs typeface="Arial Bold"/>
                <a:sym typeface="Arial Bold"/>
              </a:rPr>
              <a:t>Mô hình truy cập từ xa NFS:</a:t>
            </a:r>
          </a:p>
          <a:p>
            <a:pPr algn="l">
              <a:lnSpc>
                <a:spcPts val="3104"/>
              </a:lnSpc>
              <a:spcBef>
                <a:spcPct val="0"/>
              </a:spcBef>
            </a:pPr>
            <a:r>
              <a:rPr lang="en-US" sz="2586">
                <a:solidFill>
                  <a:srgbClr val="000000"/>
                </a:solidFill>
                <a:latin typeface="Arial"/>
                <a:ea typeface="Arial"/>
                <a:cs typeface="Arial"/>
                <a:sym typeface="Arial"/>
              </a:rPr>
              <a:t>1. Truy cập từ xa (Remote access): </a:t>
            </a:r>
          </a:p>
          <a:p>
            <a:pPr algn="l">
              <a:lnSpc>
                <a:spcPts val="3104"/>
              </a:lnSpc>
              <a:spcBef>
                <a:spcPct val="0"/>
              </a:spcBef>
            </a:pPr>
            <a:r>
              <a:rPr lang="en-US" sz="2586">
                <a:solidFill>
                  <a:srgbClr val="000000"/>
                </a:solidFill>
                <a:latin typeface="Arial"/>
                <a:ea typeface="Arial"/>
                <a:cs typeface="Arial"/>
                <a:sym typeface="Arial"/>
              </a:rPr>
              <a:t>+ Client gửi yêu cầu đến server để truy cập tệp từ xa.</a:t>
            </a:r>
          </a:p>
          <a:p>
            <a:pPr algn="l">
              <a:lnSpc>
                <a:spcPts val="3104"/>
              </a:lnSpc>
              <a:spcBef>
                <a:spcPct val="0"/>
              </a:spcBef>
            </a:pPr>
            <a:r>
              <a:rPr lang="en-US" sz="2586">
                <a:solidFill>
                  <a:srgbClr val="000000"/>
                </a:solidFill>
                <a:latin typeface="Arial"/>
                <a:ea typeface="Arial"/>
                <a:cs typeface="Arial"/>
                <a:sym typeface="Arial"/>
              </a:rPr>
              <a:t>+ Tệp vẫn nằm trên server.</a:t>
            </a:r>
          </a:p>
          <a:p>
            <a:pPr algn="l">
              <a:lnSpc>
                <a:spcPts val="3104"/>
              </a:lnSpc>
              <a:spcBef>
                <a:spcPct val="0"/>
              </a:spcBef>
            </a:pPr>
            <a:r>
              <a:rPr lang="en-US" sz="2586">
                <a:solidFill>
                  <a:srgbClr val="000000"/>
                </a:solidFill>
                <a:latin typeface="Arial"/>
                <a:ea typeface="Arial"/>
                <a:cs typeface="Arial"/>
                <a:sym typeface="Arial"/>
              </a:rPr>
              <a:t>2. Tải lên/tải xuống (Upload/download): </a:t>
            </a:r>
          </a:p>
          <a:p>
            <a:pPr algn="l">
              <a:lnSpc>
                <a:spcPts val="3104"/>
              </a:lnSpc>
              <a:spcBef>
                <a:spcPct val="0"/>
              </a:spcBef>
            </a:pPr>
            <a:r>
              <a:rPr lang="en-US" sz="2586">
                <a:solidFill>
                  <a:srgbClr val="000000"/>
                </a:solidFill>
                <a:latin typeface="Arial"/>
                <a:ea typeface="Arial"/>
                <a:cs typeface="Arial"/>
                <a:sym typeface="Arial"/>
              </a:rPr>
              <a:t>+ Tệp được chuyển đến client để thực hiện các thay đổi.</a:t>
            </a:r>
          </a:p>
          <a:p>
            <a:pPr algn="l">
              <a:lnSpc>
                <a:spcPts val="3104"/>
              </a:lnSpc>
              <a:spcBef>
                <a:spcPct val="0"/>
              </a:spcBef>
            </a:pPr>
            <a:r>
              <a:rPr lang="en-US" sz="2586">
                <a:solidFill>
                  <a:srgbClr val="000000"/>
                </a:solidFill>
                <a:latin typeface="Arial"/>
                <a:ea typeface="Arial"/>
                <a:cs typeface="Arial"/>
                <a:sym typeface="Arial"/>
              </a:rPr>
              <a:t>+ Sau khi client hoàn tất, tệp được trả lại server.</a:t>
            </a:r>
          </a:p>
        </p:txBody>
      </p:sp>
      <p:grpSp>
        <p:nvGrpSpPr>
          <p:cNvPr name="Group 5" id="5"/>
          <p:cNvGrpSpPr/>
          <p:nvPr/>
        </p:nvGrpSpPr>
        <p:grpSpPr>
          <a:xfrm rot="0">
            <a:off x="6990080" y="6780108"/>
            <a:ext cx="2275840" cy="389467"/>
            <a:chOff x="0" y="0"/>
            <a:chExt cx="3034453" cy="519289"/>
          </a:xfrm>
        </p:grpSpPr>
        <p:sp>
          <p:nvSpPr>
            <p:cNvPr name="Freeform 6" id="6"/>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7" id="7"/>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39</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508608" y="283802"/>
            <a:ext cx="2774371" cy="562018"/>
          </a:xfrm>
          <a:prstGeom prst="rect">
            <a:avLst/>
          </a:prstGeom>
        </p:spPr>
        <p:txBody>
          <a:bodyPr anchor="t" rtlCol="false" tIns="0" lIns="0" bIns="0" rIns="0">
            <a:spAutoFit/>
          </a:bodyPr>
          <a:lstStyle/>
          <a:p>
            <a:pPr algn="ctr">
              <a:lnSpc>
                <a:spcPts val="3943"/>
              </a:lnSpc>
              <a:spcBef>
                <a:spcPct val="0"/>
              </a:spcBef>
            </a:pPr>
            <a:r>
              <a:rPr lang="en-US" b="true" sz="3286">
                <a:solidFill>
                  <a:srgbClr val="FFFF00"/>
                </a:solidFill>
                <a:latin typeface="Arial Bold"/>
                <a:ea typeface="Arial Bold"/>
                <a:cs typeface="Arial Bold"/>
                <a:sym typeface="Arial Bold"/>
              </a:rPr>
              <a:t>Kiến trúc NFS</a:t>
            </a:r>
          </a:p>
        </p:txBody>
      </p:sp>
      <p:sp>
        <p:nvSpPr>
          <p:cNvPr name="TextBox 4" id="4"/>
          <p:cNvSpPr txBox="true"/>
          <p:nvPr/>
        </p:nvSpPr>
        <p:spPr>
          <a:xfrm rot="0">
            <a:off x="254304" y="1335706"/>
            <a:ext cx="9244992" cy="5247974"/>
          </a:xfrm>
          <a:prstGeom prst="rect">
            <a:avLst/>
          </a:prstGeom>
        </p:spPr>
        <p:txBody>
          <a:bodyPr anchor="t" rtlCol="false" tIns="0" lIns="0" bIns="0" rIns="0">
            <a:spAutoFit/>
          </a:bodyPr>
          <a:lstStyle/>
          <a:p>
            <a:pPr algn="l">
              <a:lnSpc>
                <a:spcPts val="2984"/>
              </a:lnSpc>
              <a:spcBef>
                <a:spcPct val="0"/>
              </a:spcBef>
            </a:pPr>
            <a:r>
              <a:rPr lang="en-US" b="true" sz="2486">
                <a:solidFill>
                  <a:srgbClr val="000000"/>
                </a:solidFill>
                <a:latin typeface="Arial Bold"/>
                <a:ea typeface="Arial Bold"/>
                <a:cs typeface="Arial Bold"/>
                <a:sym typeface="Arial Bold"/>
              </a:rPr>
              <a:t>Phía Client:</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Tầng gọi hệ thống (System call layer).</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Tầng hệ thống tệp ảo (Virtual File System - VFS).</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Giao diện hệ thống tệp cục bộ (Local file system interface).</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Thành phần client NFS (NFS client).</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Stub client RPC.</a:t>
            </a:r>
          </a:p>
          <a:p>
            <a:pPr algn="l">
              <a:lnSpc>
                <a:spcPts val="2984"/>
              </a:lnSpc>
              <a:spcBef>
                <a:spcPct val="0"/>
              </a:spcBef>
            </a:pPr>
            <a:r>
              <a:rPr lang="en-US" b="true" sz="2486">
                <a:solidFill>
                  <a:srgbClr val="000000"/>
                </a:solidFill>
                <a:latin typeface="Arial Bold"/>
                <a:ea typeface="Arial Bold"/>
                <a:cs typeface="Arial Bold"/>
                <a:sym typeface="Arial Bold"/>
              </a:rPr>
              <a:t>Phía Server:</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Tầng gọi hệ thống (System call layer).</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Tầng hệ thống tệp ảo (VFS).</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Thành phần server NFS (NFS server).</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Giao diện hệ thống tệp cục bộ (Local file system interface).</a:t>
            </a:r>
          </a:p>
          <a:p>
            <a:pPr algn="l" marL="536874" indent="-268437" lvl="1">
              <a:lnSpc>
                <a:spcPts val="2984"/>
              </a:lnSpc>
              <a:spcBef>
                <a:spcPct val="0"/>
              </a:spcBef>
              <a:buFont typeface="Arial"/>
              <a:buChar char="•"/>
            </a:pPr>
            <a:r>
              <a:rPr lang="en-US" sz="2486">
                <a:solidFill>
                  <a:srgbClr val="000000"/>
                </a:solidFill>
                <a:latin typeface="Arial"/>
                <a:ea typeface="Arial"/>
                <a:cs typeface="Arial"/>
                <a:sym typeface="Arial"/>
              </a:rPr>
              <a:t>Stub server RPC.</a:t>
            </a:r>
          </a:p>
          <a:p>
            <a:pPr algn="l">
              <a:lnSpc>
                <a:spcPts val="2984"/>
              </a:lnSpc>
              <a:spcBef>
                <a:spcPct val="0"/>
              </a:spcBef>
            </a:pPr>
            <a:r>
              <a:rPr lang="en-US" b="true" sz="2486">
                <a:solidFill>
                  <a:srgbClr val="000000"/>
                </a:solidFill>
                <a:latin typeface="Arial Bold"/>
                <a:ea typeface="Arial Bold"/>
                <a:cs typeface="Arial Bold"/>
                <a:sym typeface="Arial Bold"/>
              </a:rPr>
              <a:t>Kết nối qua mạng:</a:t>
            </a:r>
            <a:r>
              <a:rPr lang="en-US" sz="2486">
                <a:solidFill>
                  <a:srgbClr val="000000"/>
                </a:solidFill>
                <a:latin typeface="Arial"/>
                <a:ea typeface="Arial"/>
                <a:cs typeface="Arial"/>
                <a:sym typeface="Arial"/>
              </a:rPr>
              <a:t> RPC giữa client và server thông qua các tầng trên.</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40</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508608" y="1688506"/>
            <a:ext cx="8714603" cy="4673206"/>
          </a:xfrm>
          <a:custGeom>
            <a:avLst/>
            <a:gdLst/>
            <a:ahLst/>
            <a:cxnLst/>
            <a:rect r="r" b="b" t="t" l="l"/>
            <a:pathLst>
              <a:path h="4673206" w="8714603">
                <a:moveTo>
                  <a:pt x="0" y="0"/>
                </a:moveTo>
                <a:lnTo>
                  <a:pt x="8714603" y="0"/>
                </a:lnTo>
                <a:lnTo>
                  <a:pt x="8714603" y="4673206"/>
                </a:lnTo>
                <a:lnTo>
                  <a:pt x="0" y="4673206"/>
                </a:lnTo>
                <a:lnTo>
                  <a:pt x="0" y="0"/>
                </a:lnTo>
                <a:close/>
              </a:path>
            </a:pathLst>
          </a:custGeom>
          <a:blipFill>
            <a:blip r:embed="rId3"/>
            <a:stretch>
              <a:fillRect l="0" t="0" r="0" b="0"/>
            </a:stretch>
          </a:blipFill>
        </p:spPr>
      </p:sp>
      <p:sp>
        <p:nvSpPr>
          <p:cNvPr name="TextBox 4" id="4"/>
          <p:cNvSpPr txBox="true"/>
          <p:nvPr/>
        </p:nvSpPr>
        <p:spPr>
          <a:xfrm rot="0">
            <a:off x="508608" y="283802"/>
            <a:ext cx="2774371" cy="562018"/>
          </a:xfrm>
          <a:prstGeom prst="rect">
            <a:avLst/>
          </a:prstGeom>
        </p:spPr>
        <p:txBody>
          <a:bodyPr anchor="t" rtlCol="false" tIns="0" lIns="0" bIns="0" rIns="0">
            <a:spAutoFit/>
          </a:bodyPr>
          <a:lstStyle/>
          <a:p>
            <a:pPr algn="ctr">
              <a:lnSpc>
                <a:spcPts val="3943"/>
              </a:lnSpc>
              <a:spcBef>
                <a:spcPct val="0"/>
              </a:spcBef>
            </a:pPr>
            <a:r>
              <a:rPr lang="en-US" b="true" sz="3286">
                <a:solidFill>
                  <a:srgbClr val="FFFF00"/>
                </a:solidFill>
                <a:latin typeface="Arial Bold"/>
                <a:ea typeface="Arial Bold"/>
                <a:cs typeface="Arial Bold"/>
                <a:sym typeface="Arial Bold"/>
              </a:rPr>
              <a:t>Kiến trúc NFS</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41</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466079" y="3282227"/>
            <a:ext cx="7846112" cy="3578032"/>
          </a:xfrm>
          <a:custGeom>
            <a:avLst/>
            <a:gdLst/>
            <a:ahLst/>
            <a:cxnLst/>
            <a:rect r="r" b="b" t="t" l="l"/>
            <a:pathLst>
              <a:path h="3578032" w="7846112">
                <a:moveTo>
                  <a:pt x="0" y="0"/>
                </a:moveTo>
                <a:lnTo>
                  <a:pt x="7846112" y="0"/>
                </a:lnTo>
                <a:lnTo>
                  <a:pt x="7846112" y="3578032"/>
                </a:lnTo>
                <a:lnTo>
                  <a:pt x="0" y="3578032"/>
                </a:lnTo>
                <a:lnTo>
                  <a:pt x="0" y="0"/>
                </a:lnTo>
                <a:close/>
              </a:path>
            </a:pathLst>
          </a:custGeom>
          <a:blipFill>
            <a:blip r:embed="rId3"/>
            <a:stretch>
              <a:fillRect l="0" t="0" r="0" b="0"/>
            </a:stretch>
          </a:blipFill>
        </p:spPr>
      </p:sp>
      <p:sp>
        <p:nvSpPr>
          <p:cNvPr name="TextBox 4" id="4"/>
          <p:cNvSpPr txBox="true"/>
          <p:nvPr/>
        </p:nvSpPr>
        <p:spPr>
          <a:xfrm rot="0">
            <a:off x="466079" y="198141"/>
            <a:ext cx="5526645" cy="533379"/>
          </a:xfrm>
          <a:prstGeom prst="rect">
            <a:avLst/>
          </a:prstGeom>
        </p:spPr>
        <p:txBody>
          <a:bodyPr anchor="t" rtlCol="false" tIns="0" lIns="0" bIns="0" rIns="0">
            <a:spAutoFit/>
          </a:bodyPr>
          <a:lstStyle/>
          <a:p>
            <a:pPr algn="ctr">
              <a:lnSpc>
                <a:spcPts val="3703"/>
              </a:lnSpc>
              <a:spcBef>
                <a:spcPct val="0"/>
              </a:spcBef>
            </a:pPr>
            <a:r>
              <a:rPr lang="en-US" b="true" sz="3086">
                <a:solidFill>
                  <a:srgbClr val="FFFF00"/>
                </a:solidFill>
                <a:latin typeface="Arial Bold"/>
                <a:ea typeface="Arial Bold"/>
                <a:cs typeface="Arial Bold"/>
                <a:sym typeface="Arial Bold"/>
              </a:rPr>
              <a:t>Ví dụ: Máy chủ Web đơn giản</a:t>
            </a:r>
          </a:p>
        </p:txBody>
      </p:sp>
      <p:sp>
        <p:nvSpPr>
          <p:cNvPr name="TextBox 5" id="5"/>
          <p:cNvSpPr txBox="true"/>
          <p:nvPr/>
        </p:nvSpPr>
        <p:spPr>
          <a:xfrm rot="0">
            <a:off x="466079" y="1392270"/>
            <a:ext cx="6302053" cy="1657522"/>
          </a:xfrm>
          <a:prstGeom prst="rect">
            <a:avLst/>
          </a:prstGeom>
        </p:spPr>
        <p:txBody>
          <a:bodyPr anchor="t" rtlCol="false" tIns="0" lIns="0" bIns="0" rIns="0">
            <a:spAutoFit/>
          </a:bodyPr>
          <a:lstStyle/>
          <a:p>
            <a:pPr algn="l">
              <a:lnSpc>
                <a:spcPts val="3224"/>
              </a:lnSpc>
              <a:spcBef>
                <a:spcPct val="0"/>
              </a:spcBef>
            </a:pPr>
            <a:r>
              <a:rPr lang="en-US" b="true" sz="2686">
                <a:solidFill>
                  <a:srgbClr val="000000"/>
                </a:solidFill>
                <a:latin typeface="Arial Bold"/>
                <a:ea typeface="Arial Bold"/>
                <a:cs typeface="Arial Bold"/>
                <a:sym typeface="Arial Bold"/>
              </a:rPr>
              <a:t>Ngày xưa...</a:t>
            </a:r>
          </a:p>
          <a:p>
            <a:pPr algn="l">
              <a:lnSpc>
                <a:spcPts val="3224"/>
              </a:lnSpc>
              <a:spcBef>
                <a:spcPct val="0"/>
              </a:spcBef>
            </a:pPr>
            <a:r>
              <a:rPr lang="en-US" sz="2686">
                <a:solidFill>
                  <a:srgbClr val="000000"/>
                </a:solidFill>
                <a:latin typeface="Arial"/>
                <a:ea typeface="Arial"/>
                <a:cs typeface="Arial"/>
                <a:sym typeface="Arial"/>
              </a:rPr>
              <a:t>1. Máy khách gửi yêu cầu tài liệu (HTTP).</a:t>
            </a:r>
          </a:p>
          <a:p>
            <a:pPr algn="l">
              <a:lnSpc>
                <a:spcPts val="3224"/>
              </a:lnSpc>
              <a:spcBef>
                <a:spcPct val="0"/>
              </a:spcBef>
            </a:pPr>
            <a:r>
              <a:rPr lang="en-US" sz="2686">
                <a:solidFill>
                  <a:srgbClr val="000000"/>
                </a:solidFill>
                <a:latin typeface="Arial"/>
                <a:ea typeface="Arial"/>
                <a:cs typeface="Arial"/>
                <a:sym typeface="Arial"/>
              </a:rPr>
              <a:t>2. Máy chủ web lấy tài liệu từ tệp cục bộ.</a:t>
            </a:r>
          </a:p>
          <a:p>
            <a:pPr algn="l">
              <a:lnSpc>
                <a:spcPts val="3224"/>
              </a:lnSpc>
              <a:spcBef>
                <a:spcPct val="0"/>
              </a:spcBef>
            </a:pPr>
            <a:r>
              <a:rPr lang="en-US" sz="2686">
                <a:solidFill>
                  <a:srgbClr val="000000"/>
                </a:solidFill>
                <a:latin typeface="Arial"/>
                <a:ea typeface="Arial"/>
                <a:cs typeface="Arial"/>
                <a:sym typeface="Arial"/>
              </a:rPr>
              <a:t>3. Máy chủ gửi phản hồi.</a:t>
            </a:r>
          </a:p>
        </p:txBody>
      </p:sp>
      <p:grpSp>
        <p:nvGrpSpPr>
          <p:cNvPr name="Group 6" id="6"/>
          <p:cNvGrpSpPr/>
          <p:nvPr/>
        </p:nvGrpSpPr>
        <p:grpSpPr>
          <a:xfrm rot="0">
            <a:off x="6990080" y="6780108"/>
            <a:ext cx="2275840" cy="367436"/>
            <a:chOff x="0" y="0"/>
            <a:chExt cx="3034453" cy="489915"/>
          </a:xfrm>
        </p:grpSpPr>
        <p:sp>
          <p:nvSpPr>
            <p:cNvPr name="Freeform 7" id="7"/>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8" id="8"/>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42</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456954" y="1724111"/>
            <a:ext cx="8963244" cy="3133875"/>
          </a:xfrm>
          <a:prstGeom prst="rect">
            <a:avLst/>
          </a:prstGeom>
        </p:spPr>
        <p:txBody>
          <a:bodyPr anchor="t" rtlCol="false" tIns="0" lIns="0" bIns="0" rIns="0">
            <a:spAutoFit/>
          </a:bodyPr>
          <a:lstStyle/>
          <a:p>
            <a:pPr algn="l">
              <a:lnSpc>
                <a:spcPts val="3464"/>
              </a:lnSpc>
              <a:spcBef>
                <a:spcPct val="0"/>
              </a:spcBef>
            </a:pPr>
            <a:r>
              <a:rPr lang="en-US" b="true" sz="2886">
                <a:solidFill>
                  <a:srgbClr val="000000"/>
                </a:solidFill>
                <a:latin typeface="Arial Bold"/>
                <a:ea typeface="Arial Bold"/>
                <a:cs typeface="Arial Bold"/>
                <a:sym typeface="Arial Bold"/>
              </a:rPr>
              <a:t>Cuộc sống đơn giản:</a:t>
            </a:r>
          </a:p>
          <a:p>
            <a:pPr algn="l" marL="623232" indent="-311616" lvl="1">
              <a:lnSpc>
                <a:spcPts val="3464"/>
              </a:lnSpc>
              <a:spcBef>
                <a:spcPct val="0"/>
              </a:spcBef>
              <a:buFont typeface="Arial"/>
              <a:buChar char="•"/>
            </a:pPr>
            <a:r>
              <a:rPr lang="en-US" sz="2886">
                <a:solidFill>
                  <a:srgbClr val="000000"/>
                </a:solidFill>
                <a:latin typeface="Arial"/>
                <a:ea typeface="Arial"/>
                <a:cs typeface="Arial"/>
                <a:sym typeface="Arial"/>
              </a:rPr>
              <a:t>Trang web bao gồm các tệp HTML.</a:t>
            </a:r>
          </a:p>
          <a:p>
            <a:pPr algn="l" marL="623232" indent="-311616" lvl="1">
              <a:lnSpc>
                <a:spcPts val="3464"/>
              </a:lnSpc>
              <a:spcBef>
                <a:spcPct val="0"/>
              </a:spcBef>
              <a:buFont typeface="Arial"/>
              <a:buChar char="•"/>
            </a:pPr>
            <a:r>
              <a:rPr lang="en-US" sz="2886">
                <a:solidFill>
                  <a:srgbClr val="000000"/>
                </a:solidFill>
                <a:latin typeface="Arial"/>
                <a:ea typeface="Arial"/>
                <a:cs typeface="Arial"/>
                <a:sym typeface="Arial"/>
              </a:rPr>
              <a:t>Các tệp HTML có thể liên kết với nhau bằng hyperlink.</a:t>
            </a:r>
          </a:p>
          <a:p>
            <a:pPr algn="l" marL="623232" indent="-311616" lvl="1">
              <a:lnSpc>
                <a:spcPts val="3464"/>
              </a:lnSpc>
              <a:spcBef>
                <a:spcPct val="0"/>
              </a:spcBef>
              <a:buFont typeface="Arial"/>
              <a:buChar char="•"/>
            </a:pPr>
            <a:r>
              <a:rPr lang="en-US" sz="2886">
                <a:solidFill>
                  <a:srgbClr val="000000"/>
                </a:solidFill>
                <a:latin typeface="Arial"/>
                <a:ea typeface="Arial"/>
                <a:cs typeface="Arial"/>
                <a:sym typeface="Arial"/>
              </a:rPr>
              <a:t>Máy chủ web chỉ cần cung cấp liên kết để truy xuất tệp.</a:t>
            </a:r>
          </a:p>
          <a:p>
            <a:pPr algn="l" marL="623232" indent="-311616" lvl="1">
              <a:lnSpc>
                <a:spcPts val="3464"/>
              </a:lnSpc>
              <a:spcBef>
                <a:spcPct val="0"/>
              </a:spcBef>
              <a:buFont typeface="Arial"/>
              <a:buChar char="•"/>
            </a:pPr>
            <a:r>
              <a:rPr lang="en-US" sz="2886">
                <a:solidFill>
                  <a:srgbClr val="000000"/>
                </a:solidFill>
                <a:latin typeface="Arial"/>
                <a:ea typeface="Arial"/>
                <a:cs typeface="Arial"/>
                <a:sym typeface="Arial"/>
              </a:rPr>
              <a:t>Trình duyệt đảm nhận việc hiển thị nội dung tệp.</a:t>
            </a:r>
          </a:p>
        </p:txBody>
      </p:sp>
      <p:sp>
        <p:nvSpPr>
          <p:cNvPr name="TextBox 4" id="4"/>
          <p:cNvSpPr txBox="true"/>
          <p:nvPr/>
        </p:nvSpPr>
        <p:spPr>
          <a:xfrm rot="0">
            <a:off x="466079" y="198141"/>
            <a:ext cx="5526645" cy="533379"/>
          </a:xfrm>
          <a:prstGeom prst="rect">
            <a:avLst/>
          </a:prstGeom>
        </p:spPr>
        <p:txBody>
          <a:bodyPr anchor="t" rtlCol="false" tIns="0" lIns="0" bIns="0" rIns="0">
            <a:spAutoFit/>
          </a:bodyPr>
          <a:lstStyle/>
          <a:p>
            <a:pPr algn="ctr">
              <a:lnSpc>
                <a:spcPts val="3703"/>
              </a:lnSpc>
              <a:spcBef>
                <a:spcPct val="0"/>
              </a:spcBef>
            </a:pPr>
            <a:r>
              <a:rPr lang="en-US" b="true" sz="3086">
                <a:solidFill>
                  <a:srgbClr val="FFFF00"/>
                </a:solidFill>
                <a:latin typeface="Arial Bold"/>
                <a:ea typeface="Arial Bold"/>
                <a:cs typeface="Arial Bold"/>
                <a:sym typeface="Arial Bold"/>
              </a:rPr>
              <a:t>Ví dụ: Máy chủ Web đơn giản</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43</a:t>
              </a: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400990" y="4007342"/>
            <a:ext cx="8621090" cy="3070189"/>
          </a:xfrm>
          <a:custGeom>
            <a:avLst/>
            <a:gdLst/>
            <a:ahLst/>
            <a:cxnLst/>
            <a:rect r="r" b="b" t="t" l="l"/>
            <a:pathLst>
              <a:path h="3070189" w="8621090">
                <a:moveTo>
                  <a:pt x="0" y="0"/>
                </a:moveTo>
                <a:lnTo>
                  <a:pt x="8621090" y="0"/>
                </a:lnTo>
                <a:lnTo>
                  <a:pt x="8621090" y="3070189"/>
                </a:lnTo>
                <a:lnTo>
                  <a:pt x="0" y="3070189"/>
                </a:lnTo>
                <a:lnTo>
                  <a:pt x="0" y="0"/>
                </a:lnTo>
                <a:close/>
              </a:path>
            </a:pathLst>
          </a:custGeom>
          <a:blipFill>
            <a:blip r:embed="rId3"/>
            <a:stretch>
              <a:fillRect l="0" t="0" r="0" b="0"/>
            </a:stretch>
          </a:blipFill>
        </p:spPr>
      </p:sp>
      <p:sp>
        <p:nvSpPr>
          <p:cNvPr name="TextBox 4" id="4"/>
          <p:cNvSpPr txBox="true"/>
          <p:nvPr/>
        </p:nvSpPr>
        <p:spPr>
          <a:xfrm rot="0">
            <a:off x="226567" y="198141"/>
            <a:ext cx="7809963" cy="533379"/>
          </a:xfrm>
          <a:prstGeom prst="rect">
            <a:avLst/>
          </a:prstGeom>
        </p:spPr>
        <p:txBody>
          <a:bodyPr anchor="t" rtlCol="false" tIns="0" lIns="0" bIns="0" rIns="0">
            <a:spAutoFit/>
          </a:bodyPr>
          <a:lstStyle/>
          <a:p>
            <a:pPr algn="ctr">
              <a:lnSpc>
                <a:spcPts val="3703"/>
              </a:lnSpc>
              <a:spcBef>
                <a:spcPct val="0"/>
              </a:spcBef>
            </a:pPr>
            <a:r>
              <a:rPr lang="en-US" b="true" sz="3086">
                <a:solidFill>
                  <a:srgbClr val="FFFF00"/>
                </a:solidFill>
                <a:latin typeface="Arial Bold"/>
                <a:ea typeface="Arial Bold"/>
                <a:cs typeface="Arial Bold"/>
                <a:sym typeface="Arial Bold"/>
              </a:rPr>
              <a:t>Ví dụ (tiếp): Máy chủ Web ít đơn giản hơn</a:t>
            </a:r>
          </a:p>
        </p:txBody>
      </p:sp>
      <p:sp>
        <p:nvSpPr>
          <p:cNvPr name="TextBox 5" id="5"/>
          <p:cNvSpPr txBox="true"/>
          <p:nvPr/>
        </p:nvSpPr>
        <p:spPr>
          <a:xfrm rot="0">
            <a:off x="400990" y="1321786"/>
            <a:ext cx="8621090" cy="2476693"/>
          </a:xfrm>
          <a:prstGeom prst="rect">
            <a:avLst/>
          </a:prstGeom>
        </p:spPr>
        <p:txBody>
          <a:bodyPr anchor="t" rtlCol="false" tIns="0" lIns="0" bIns="0" rIns="0">
            <a:spAutoFit/>
          </a:bodyPr>
          <a:lstStyle/>
          <a:p>
            <a:pPr algn="l">
              <a:lnSpc>
                <a:spcPts val="3344"/>
              </a:lnSpc>
              <a:spcBef>
                <a:spcPct val="0"/>
              </a:spcBef>
            </a:pPr>
            <a:r>
              <a:rPr lang="en-US" b="true" sz="2786">
                <a:solidFill>
                  <a:srgbClr val="000000"/>
                </a:solidFill>
                <a:latin typeface="Arial Bold"/>
                <a:ea typeface="Arial Bold"/>
                <a:cs typeface="Arial Bold"/>
                <a:sym typeface="Arial Bold"/>
              </a:rPr>
              <a:t>ngày xưa...</a:t>
            </a:r>
          </a:p>
          <a:p>
            <a:pPr algn="l">
              <a:lnSpc>
                <a:spcPts val="3224"/>
              </a:lnSpc>
              <a:spcBef>
                <a:spcPct val="0"/>
              </a:spcBef>
            </a:pPr>
            <a:r>
              <a:rPr lang="en-US" sz="2686">
                <a:solidFill>
                  <a:srgbClr val="000000"/>
                </a:solidFill>
                <a:latin typeface="Arial"/>
                <a:ea typeface="Arial"/>
                <a:cs typeface="Arial"/>
                <a:sym typeface="Arial"/>
              </a:rPr>
              <a:t>1. Máy khách gửi yêu cầu.</a:t>
            </a:r>
          </a:p>
          <a:p>
            <a:pPr algn="l">
              <a:lnSpc>
                <a:spcPts val="3224"/>
              </a:lnSpc>
              <a:spcBef>
                <a:spcPct val="0"/>
              </a:spcBef>
            </a:pPr>
            <a:r>
              <a:rPr lang="en-US" sz="2686">
                <a:solidFill>
                  <a:srgbClr val="000000"/>
                </a:solidFill>
                <a:latin typeface="Arial"/>
                <a:ea typeface="Arial"/>
                <a:cs typeface="Arial"/>
                <a:sym typeface="Arial"/>
              </a:rPr>
              <a:t>2. Trình xử lý yêu cầu HTTP bắt đầu quy trình lấy tài liệu.</a:t>
            </a:r>
          </a:p>
          <a:p>
            <a:pPr algn="l">
              <a:lnSpc>
                <a:spcPts val="3224"/>
              </a:lnSpc>
              <a:spcBef>
                <a:spcPct val="0"/>
              </a:spcBef>
            </a:pPr>
            <a:r>
              <a:rPr lang="en-US" sz="2686">
                <a:solidFill>
                  <a:srgbClr val="000000"/>
                </a:solidFill>
                <a:latin typeface="Arial"/>
                <a:ea typeface="Arial"/>
                <a:cs typeface="Arial"/>
                <a:sym typeface="Arial"/>
              </a:rPr>
              <a:t>3. Tương tác với cơ sở dữ liệu.</a:t>
            </a:r>
          </a:p>
          <a:p>
            <a:pPr algn="l">
              <a:lnSpc>
                <a:spcPts val="3224"/>
              </a:lnSpc>
              <a:spcBef>
                <a:spcPct val="0"/>
              </a:spcBef>
            </a:pPr>
            <a:r>
              <a:rPr lang="en-US" sz="2686">
                <a:solidFill>
                  <a:srgbClr val="000000"/>
                </a:solidFill>
                <a:latin typeface="Arial"/>
                <a:ea typeface="Arial"/>
                <a:cs typeface="Arial"/>
                <a:sym typeface="Arial"/>
              </a:rPr>
              <a:t>4. Tài liệu HTML được tạo bởi chương trình CGI.</a:t>
            </a:r>
          </a:p>
          <a:p>
            <a:pPr algn="l">
              <a:lnSpc>
                <a:spcPts val="3224"/>
              </a:lnSpc>
              <a:spcBef>
                <a:spcPct val="0"/>
              </a:spcBef>
            </a:pPr>
            <a:r>
              <a:rPr lang="en-US" sz="2686">
                <a:solidFill>
                  <a:srgbClr val="000000"/>
                </a:solidFill>
                <a:latin typeface="Arial"/>
                <a:ea typeface="Arial"/>
                <a:cs typeface="Arial"/>
                <a:sym typeface="Arial"/>
              </a:rPr>
              <a:t>5. Kết quả được trả về cho máy khách.</a:t>
            </a:r>
          </a:p>
        </p:txBody>
      </p:sp>
      <p:grpSp>
        <p:nvGrpSpPr>
          <p:cNvPr name="Group 6" id="6"/>
          <p:cNvGrpSpPr/>
          <p:nvPr/>
        </p:nvGrpSpPr>
        <p:grpSpPr>
          <a:xfrm rot="0">
            <a:off x="6990080" y="6780108"/>
            <a:ext cx="2275840" cy="367436"/>
            <a:chOff x="0" y="0"/>
            <a:chExt cx="3034453" cy="489915"/>
          </a:xfrm>
        </p:grpSpPr>
        <p:sp>
          <p:nvSpPr>
            <p:cNvPr name="Freeform 7" id="7"/>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8" id="8"/>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44</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303992" y="1838239"/>
            <a:ext cx="9316258" cy="3438396"/>
          </a:xfrm>
          <a:prstGeom prst="rect">
            <a:avLst/>
          </a:prstGeom>
        </p:spPr>
        <p:txBody>
          <a:bodyPr anchor="t" rtlCol="false" tIns="0" lIns="0" bIns="0" rIns="0">
            <a:spAutoFit/>
          </a:bodyPr>
          <a:lstStyle/>
          <a:p>
            <a:pPr algn="l">
              <a:lnSpc>
                <a:spcPts val="3464"/>
              </a:lnSpc>
              <a:spcBef>
                <a:spcPct val="0"/>
              </a:spcBef>
            </a:pPr>
            <a:r>
              <a:rPr lang="en-US" b="true" sz="2886">
                <a:solidFill>
                  <a:srgbClr val="000000"/>
                </a:solidFill>
                <a:latin typeface="Arial Bold"/>
                <a:ea typeface="Arial Bold"/>
                <a:cs typeface="Arial Bold"/>
                <a:sym typeface="Arial Bold"/>
              </a:rPr>
              <a:t>Cuộc sống phức tạp hơn:</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Trang web được xây dựng xoay quanh một cơ sở dữ liệu chứa nội dung.</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Một trang web vẫn có thể được liên kết qua hyperlink.</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Máy chủ web cung cấp liên kết để truy xuất tệp.</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Một chương trình riêng biệt (Common Gateway Interface - CGI) tạo ra nội dung trang.</a:t>
            </a:r>
          </a:p>
          <a:p>
            <a:pPr algn="l" marL="601642" indent="-300821" lvl="1">
              <a:lnSpc>
                <a:spcPts val="3344"/>
              </a:lnSpc>
              <a:spcBef>
                <a:spcPct val="0"/>
              </a:spcBef>
              <a:buFont typeface="Arial"/>
              <a:buChar char="•"/>
            </a:pPr>
            <a:r>
              <a:rPr lang="en-US" sz="2786">
                <a:solidFill>
                  <a:srgbClr val="000000"/>
                </a:solidFill>
                <a:latin typeface="Arial"/>
                <a:ea typeface="Arial"/>
                <a:cs typeface="Arial"/>
                <a:sym typeface="Arial"/>
              </a:rPr>
              <a:t>Trình duyệt hiển thị nội dung tệp một cách chính xác.</a:t>
            </a:r>
          </a:p>
        </p:txBody>
      </p:sp>
      <p:sp>
        <p:nvSpPr>
          <p:cNvPr name="TextBox 4" id="4"/>
          <p:cNvSpPr txBox="true"/>
          <p:nvPr/>
        </p:nvSpPr>
        <p:spPr>
          <a:xfrm rot="0">
            <a:off x="226567" y="274341"/>
            <a:ext cx="7809963" cy="533379"/>
          </a:xfrm>
          <a:prstGeom prst="rect">
            <a:avLst/>
          </a:prstGeom>
        </p:spPr>
        <p:txBody>
          <a:bodyPr anchor="t" rtlCol="false" tIns="0" lIns="0" bIns="0" rIns="0">
            <a:spAutoFit/>
          </a:bodyPr>
          <a:lstStyle/>
          <a:p>
            <a:pPr algn="ctr">
              <a:lnSpc>
                <a:spcPts val="3703"/>
              </a:lnSpc>
              <a:spcBef>
                <a:spcPct val="0"/>
              </a:spcBef>
            </a:pPr>
            <a:r>
              <a:rPr lang="en-US" b="true" sz="3086">
                <a:solidFill>
                  <a:srgbClr val="FFFF00"/>
                </a:solidFill>
                <a:latin typeface="Arial Bold"/>
                <a:ea typeface="Arial Bold"/>
                <a:cs typeface="Arial Bold"/>
                <a:sym typeface="Arial Bold"/>
              </a:rPr>
              <a:t>Ví dụ (tiếp): Máy chủ Web ít đơn giản hơn</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45</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476744" y="2761096"/>
            <a:ext cx="8800113" cy="943039"/>
          </a:xfrm>
          <a:prstGeom prst="rect">
            <a:avLst/>
          </a:prstGeom>
        </p:spPr>
        <p:txBody>
          <a:bodyPr anchor="t" rtlCol="false" tIns="0" lIns="0" bIns="0" rIns="0">
            <a:spAutoFit/>
          </a:bodyPr>
          <a:lstStyle/>
          <a:p>
            <a:pPr algn="ctr">
              <a:lnSpc>
                <a:spcPts val="3479"/>
              </a:lnSpc>
              <a:spcBef>
                <a:spcPct val="0"/>
              </a:spcBef>
            </a:pPr>
            <a:r>
              <a:rPr lang="en-US" b="true" sz="2899">
                <a:solidFill>
                  <a:srgbClr val="000000"/>
                </a:solidFill>
                <a:latin typeface="Arial Bold"/>
                <a:ea typeface="Arial Bold"/>
                <a:cs typeface="Arial Bold"/>
                <a:sym typeface="Arial Bold"/>
              </a:rPr>
              <a:t> 4. Symmetrically distributed system architectures</a:t>
            </a:r>
          </a:p>
          <a:p>
            <a:pPr algn="ctr">
              <a:lnSpc>
                <a:spcPts val="3599"/>
              </a:lnSpc>
              <a:spcBef>
                <a:spcPct val="0"/>
              </a:spcBef>
            </a:pPr>
            <a:r>
              <a:rPr lang="en-US" b="true" sz="2999">
                <a:solidFill>
                  <a:srgbClr val="000000"/>
                </a:solidFill>
                <a:latin typeface="Arial Bold"/>
                <a:ea typeface="Arial Bold"/>
                <a:cs typeface="Arial Bold"/>
                <a:sym typeface="Arial Bold"/>
              </a:rPr>
              <a:t>(Hệ thống phân tán đối xứng)</a:t>
            </a:r>
          </a:p>
        </p:txBody>
      </p:sp>
      <p:grpSp>
        <p:nvGrpSpPr>
          <p:cNvPr name="Group 4" id="4"/>
          <p:cNvGrpSpPr/>
          <p:nvPr/>
        </p:nvGrpSpPr>
        <p:grpSpPr>
          <a:xfrm rot="0">
            <a:off x="6990080" y="6780108"/>
            <a:ext cx="2275840" cy="367436"/>
            <a:chOff x="0" y="0"/>
            <a:chExt cx="3034453" cy="489915"/>
          </a:xfrm>
        </p:grpSpPr>
        <p:sp>
          <p:nvSpPr>
            <p:cNvPr name="Freeform 5" id="5"/>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6" id="6"/>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46</a:t>
              </a:r>
            </a:p>
          </p:txBody>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414403" y="1410110"/>
            <a:ext cx="3511915" cy="476229"/>
          </a:xfrm>
          <a:prstGeom prst="rect">
            <a:avLst/>
          </a:prstGeom>
        </p:spPr>
        <p:txBody>
          <a:bodyPr anchor="t" rtlCol="false" tIns="0" lIns="0" bIns="0" rIns="0">
            <a:spAutoFit/>
          </a:bodyPr>
          <a:lstStyle/>
          <a:p>
            <a:pPr algn="ctr">
              <a:lnSpc>
                <a:spcPts val="3328"/>
              </a:lnSpc>
              <a:spcBef>
                <a:spcPct val="0"/>
              </a:spcBef>
            </a:pPr>
            <a:r>
              <a:rPr lang="en-US" b="true" sz="2773">
                <a:solidFill>
                  <a:srgbClr val="000000"/>
                </a:solidFill>
                <a:latin typeface="Arial Bold"/>
                <a:ea typeface="Arial Bold"/>
                <a:cs typeface="Arial Bold"/>
                <a:sym typeface="Arial Bold"/>
              </a:rPr>
              <a:t>Các tổ chức thay thế</a:t>
            </a:r>
          </a:p>
        </p:txBody>
      </p:sp>
      <p:sp>
        <p:nvSpPr>
          <p:cNvPr name="TextBox 4" id="4"/>
          <p:cNvSpPr txBox="true"/>
          <p:nvPr/>
        </p:nvSpPr>
        <p:spPr>
          <a:xfrm rot="0">
            <a:off x="414403" y="2076339"/>
            <a:ext cx="8949513" cy="4277240"/>
          </a:xfrm>
          <a:prstGeom prst="rect">
            <a:avLst/>
          </a:prstGeom>
        </p:spPr>
        <p:txBody>
          <a:bodyPr anchor="t" rtlCol="false" tIns="0" lIns="0" bIns="0" rIns="0">
            <a:spAutoFit/>
          </a:bodyPr>
          <a:lstStyle/>
          <a:p>
            <a:pPr algn="l" marL="512405" indent="-256203" lvl="1">
              <a:lnSpc>
                <a:spcPts val="2848"/>
              </a:lnSpc>
              <a:spcBef>
                <a:spcPct val="0"/>
              </a:spcBef>
              <a:buFont typeface="Arial"/>
              <a:buChar char="•"/>
            </a:pPr>
            <a:r>
              <a:rPr lang="en-US" sz="2373">
                <a:solidFill>
                  <a:srgbClr val="000000"/>
                </a:solidFill>
                <a:latin typeface="Arial"/>
                <a:ea typeface="Arial"/>
                <a:cs typeface="Arial"/>
                <a:sym typeface="Arial"/>
              </a:rPr>
              <a:t>Phân phối theo chiều dọc</a:t>
            </a:r>
          </a:p>
          <a:p>
            <a:pPr algn="l">
              <a:lnSpc>
                <a:spcPts val="2848"/>
              </a:lnSpc>
              <a:spcBef>
                <a:spcPct val="0"/>
              </a:spcBef>
            </a:pPr>
            <a:r>
              <a:rPr lang="en-US" sz="2373">
                <a:solidFill>
                  <a:srgbClr val="000000"/>
                </a:solidFill>
                <a:latin typeface="Arial"/>
                <a:ea typeface="Arial"/>
                <a:cs typeface="Arial"/>
                <a:sym typeface="Arial"/>
              </a:rPr>
              <a:t>Xuất phát từ việc chia các ứng dụng phân tán thành ba lớp logic và chạy các thành phần từ mỗi lớp trên một máy chủ khác nhau.</a:t>
            </a:r>
          </a:p>
          <a:p>
            <a:pPr algn="l" marL="512405" indent="-256203" lvl="1">
              <a:lnSpc>
                <a:spcPts val="2848"/>
              </a:lnSpc>
              <a:spcBef>
                <a:spcPct val="0"/>
              </a:spcBef>
              <a:buFont typeface="Arial"/>
              <a:buChar char="•"/>
            </a:pPr>
            <a:r>
              <a:rPr lang="en-US" sz="2373">
                <a:solidFill>
                  <a:srgbClr val="000000"/>
                </a:solidFill>
                <a:latin typeface="Arial"/>
                <a:ea typeface="Arial"/>
                <a:cs typeface="Arial"/>
                <a:sym typeface="Arial"/>
              </a:rPr>
              <a:t>Phân phối theo chiều ngang</a:t>
            </a:r>
          </a:p>
          <a:p>
            <a:pPr algn="l">
              <a:lnSpc>
                <a:spcPts val="2848"/>
              </a:lnSpc>
              <a:spcBef>
                <a:spcPct val="0"/>
              </a:spcBef>
            </a:pPr>
            <a:r>
              <a:rPr lang="en-US" sz="2373">
                <a:solidFill>
                  <a:srgbClr val="000000"/>
                </a:solidFill>
                <a:latin typeface="Arial"/>
                <a:ea typeface="Arial"/>
                <a:cs typeface="Arial"/>
                <a:sym typeface="Arial"/>
              </a:rPr>
              <a:t>Máy khách hoặc máy chủ có thể được chia thành các phần tương đương về mặt logic, nhưng mỗi phần đều hoạt động trên phần dữ liệu riêng của mình trong toàn bộ tập dữ liệu.</a:t>
            </a:r>
          </a:p>
          <a:p>
            <a:pPr algn="l" marL="512405" indent="-256203" lvl="1">
              <a:lnSpc>
                <a:spcPts val="2848"/>
              </a:lnSpc>
              <a:spcBef>
                <a:spcPct val="0"/>
              </a:spcBef>
              <a:buFont typeface="Arial"/>
              <a:buChar char="•"/>
            </a:pPr>
            <a:r>
              <a:rPr lang="en-US" sz="2373">
                <a:solidFill>
                  <a:srgbClr val="000000"/>
                </a:solidFill>
                <a:latin typeface="Arial"/>
                <a:ea typeface="Arial"/>
                <a:cs typeface="Arial"/>
                <a:sym typeface="Arial"/>
              </a:rPr>
              <a:t>Kiến trúc ngang hàng </a:t>
            </a:r>
          </a:p>
          <a:p>
            <a:pPr algn="l">
              <a:lnSpc>
                <a:spcPts val="2848"/>
              </a:lnSpc>
              <a:spcBef>
                <a:spcPct val="0"/>
              </a:spcBef>
            </a:pPr>
            <a:r>
              <a:rPr lang="en-US" sz="2373">
                <a:solidFill>
                  <a:srgbClr val="000000"/>
                </a:solidFill>
                <a:latin typeface="Arial"/>
                <a:ea typeface="Arial"/>
                <a:cs typeface="Arial"/>
                <a:sym typeface="Arial"/>
              </a:rPr>
              <a:t>Các tiến trình đều bình đẳng: các chức năng cần thực hiện được biểu diễn bởi mọi tiến trình mỗi tiến trình sẽ hoạt động như một máy khách và một máy chủ cùng một lúc (tức là hoạt động như một máy phục vụ).</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47</a:t>
              </a: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404947" y="1235510"/>
            <a:ext cx="9120139" cy="2943525"/>
          </a:xfrm>
          <a:prstGeom prst="rect">
            <a:avLst/>
          </a:prstGeom>
        </p:spPr>
        <p:txBody>
          <a:bodyPr anchor="t" rtlCol="false" tIns="0" lIns="0" bIns="0" rIns="0">
            <a:spAutoFit/>
          </a:bodyPr>
          <a:lstStyle/>
          <a:p>
            <a:pPr algn="l">
              <a:lnSpc>
                <a:spcPts val="3088"/>
              </a:lnSpc>
              <a:spcBef>
                <a:spcPct val="0"/>
              </a:spcBef>
            </a:pPr>
            <a:r>
              <a:rPr lang="en-US" b="true" sz="2573">
                <a:solidFill>
                  <a:srgbClr val="000000"/>
                </a:solidFill>
                <a:latin typeface="Arial Bold"/>
                <a:ea typeface="Arial Bold"/>
                <a:cs typeface="Arial Bold"/>
                <a:sym typeface="Arial Bold"/>
              </a:rPr>
              <a:t>Bản chất</a:t>
            </a:r>
          </a:p>
          <a:p>
            <a:pPr algn="l">
              <a:lnSpc>
                <a:spcPts val="2848"/>
              </a:lnSpc>
              <a:spcBef>
                <a:spcPct val="0"/>
              </a:spcBef>
            </a:pPr>
            <a:r>
              <a:rPr lang="en-US" b="true" sz="2373">
                <a:solidFill>
                  <a:srgbClr val="000000"/>
                </a:solidFill>
                <a:latin typeface="Arial Bold"/>
                <a:ea typeface="Arial Bold"/>
                <a:cs typeface="Arial Bold"/>
                <a:sym typeface="Arial Bold"/>
              </a:rPr>
              <a:t>  </a:t>
            </a:r>
            <a:r>
              <a:rPr lang="en-US" sz="2373">
                <a:solidFill>
                  <a:srgbClr val="000000"/>
                </a:solidFill>
                <a:latin typeface="Arial"/>
                <a:ea typeface="Arial"/>
                <a:cs typeface="Arial"/>
                <a:sym typeface="Arial"/>
              </a:rPr>
              <a:t>Sử dụng một chỉ mục không chứa ngữ nghĩa: mỗi mục dữ liệu được liên kết duy nhất với một khóa, và khóa này được sử dụng làm chỉ mục. Thực hành phổ biến: sử dụng một hàm băm </a:t>
            </a:r>
          </a:p>
          <a:p>
            <a:pPr algn="l">
              <a:lnSpc>
                <a:spcPts val="2848"/>
              </a:lnSpc>
              <a:spcBef>
                <a:spcPct val="0"/>
              </a:spcBef>
            </a:pPr>
            <a:r>
              <a:rPr lang="en-US" sz="2373">
                <a:solidFill>
                  <a:srgbClr val="000000"/>
                </a:solidFill>
                <a:latin typeface="Arial"/>
                <a:ea typeface="Arial"/>
                <a:cs typeface="Arial"/>
                <a:sym typeface="Arial"/>
              </a:rPr>
              <a:t>                    key(data item) = hash(data item’s value).</a:t>
            </a:r>
          </a:p>
          <a:p>
            <a:pPr algn="l">
              <a:lnSpc>
                <a:spcPts val="2848"/>
              </a:lnSpc>
              <a:spcBef>
                <a:spcPct val="0"/>
              </a:spcBef>
            </a:pPr>
            <a:r>
              <a:rPr lang="en-US" sz="2373">
                <a:solidFill>
                  <a:srgbClr val="000000"/>
                </a:solidFill>
                <a:latin typeface="Arial"/>
                <a:ea typeface="Arial"/>
                <a:cs typeface="Arial"/>
                <a:sym typeface="Arial"/>
              </a:rPr>
              <a:t>  Hệ thống P2P giờ đây chịu trách nhiệm lưu trữ các cặp (khóa, giá trị).</a:t>
            </a:r>
          </a:p>
          <a:p>
            <a:pPr algn="l">
              <a:lnSpc>
                <a:spcPts val="3088"/>
              </a:lnSpc>
              <a:spcBef>
                <a:spcPct val="0"/>
              </a:spcBef>
            </a:pPr>
            <a:r>
              <a:rPr lang="en-US" b="true" sz="2573">
                <a:solidFill>
                  <a:srgbClr val="000000"/>
                </a:solidFill>
                <a:latin typeface="Arial Bold"/>
                <a:ea typeface="Arial Bold"/>
                <a:cs typeface="Arial Bold"/>
                <a:sym typeface="Arial Bold"/>
              </a:rPr>
              <a:t>Ví dụ đơn giản: </a:t>
            </a:r>
            <a:r>
              <a:rPr lang="en-US" sz="2573">
                <a:solidFill>
                  <a:srgbClr val="000000"/>
                </a:solidFill>
                <a:latin typeface="Arial"/>
                <a:ea typeface="Arial"/>
                <a:cs typeface="Arial"/>
                <a:sym typeface="Arial"/>
              </a:rPr>
              <a:t>hypercube</a:t>
            </a:r>
          </a:p>
        </p:txBody>
      </p:sp>
      <p:sp>
        <p:nvSpPr>
          <p:cNvPr name="Freeform 4" id="4"/>
          <p:cNvSpPr/>
          <p:nvPr/>
        </p:nvSpPr>
        <p:spPr>
          <a:xfrm flipH="false" flipV="false" rot="0">
            <a:off x="2014775" y="4179035"/>
            <a:ext cx="5724050" cy="2291432"/>
          </a:xfrm>
          <a:custGeom>
            <a:avLst/>
            <a:gdLst/>
            <a:ahLst/>
            <a:cxnLst/>
            <a:rect r="r" b="b" t="t" l="l"/>
            <a:pathLst>
              <a:path h="2291432" w="5724050">
                <a:moveTo>
                  <a:pt x="0" y="0"/>
                </a:moveTo>
                <a:lnTo>
                  <a:pt x="5724050" y="0"/>
                </a:lnTo>
                <a:lnTo>
                  <a:pt x="5724050" y="2291432"/>
                </a:lnTo>
                <a:lnTo>
                  <a:pt x="0" y="2291432"/>
                </a:lnTo>
                <a:lnTo>
                  <a:pt x="0" y="0"/>
                </a:lnTo>
                <a:close/>
              </a:path>
            </a:pathLst>
          </a:custGeom>
          <a:blipFill>
            <a:blip r:embed="rId3"/>
            <a:stretch>
              <a:fillRect l="0" t="0" r="0" b="0"/>
            </a:stretch>
          </a:blipFill>
        </p:spPr>
      </p:sp>
      <p:sp>
        <p:nvSpPr>
          <p:cNvPr name="TextBox 5" id="5"/>
          <p:cNvSpPr txBox="true"/>
          <p:nvPr/>
        </p:nvSpPr>
        <p:spPr>
          <a:xfrm rot="0">
            <a:off x="404947" y="293391"/>
            <a:ext cx="6237266" cy="523854"/>
          </a:xfrm>
          <a:prstGeom prst="rect">
            <a:avLst/>
          </a:prstGeom>
        </p:spPr>
        <p:txBody>
          <a:bodyPr anchor="t" rtlCol="false" tIns="0" lIns="0" bIns="0" rIns="0">
            <a:spAutoFit/>
          </a:bodyPr>
          <a:lstStyle/>
          <a:p>
            <a:pPr algn="ctr">
              <a:lnSpc>
                <a:spcPts val="3687"/>
              </a:lnSpc>
              <a:spcBef>
                <a:spcPct val="0"/>
              </a:spcBef>
            </a:pPr>
            <a:r>
              <a:rPr lang="en-US" b="true" sz="3073">
                <a:solidFill>
                  <a:srgbClr val="FFFF00"/>
                </a:solidFill>
                <a:latin typeface="Arial Bold"/>
                <a:ea typeface="Arial Bold"/>
                <a:cs typeface="Arial Bold"/>
                <a:sym typeface="Arial Bold"/>
              </a:rPr>
              <a:t>Hệ thống ngang hàng có cấu trúc</a:t>
            </a:r>
          </a:p>
        </p:txBody>
      </p:sp>
      <p:sp>
        <p:nvSpPr>
          <p:cNvPr name="TextBox 6" id="6"/>
          <p:cNvSpPr txBox="true"/>
          <p:nvPr/>
        </p:nvSpPr>
        <p:spPr>
          <a:xfrm rot="0">
            <a:off x="414790" y="6441892"/>
            <a:ext cx="8924021" cy="752561"/>
          </a:xfrm>
          <a:prstGeom prst="rect">
            <a:avLst/>
          </a:prstGeom>
        </p:spPr>
        <p:txBody>
          <a:bodyPr anchor="t" rtlCol="false" tIns="0" lIns="0" bIns="0" rIns="0">
            <a:spAutoFit/>
          </a:bodyPr>
          <a:lstStyle/>
          <a:p>
            <a:pPr algn="l">
              <a:lnSpc>
                <a:spcPts val="2848"/>
              </a:lnSpc>
              <a:spcBef>
                <a:spcPct val="0"/>
              </a:spcBef>
            </a:pPr>
            <a:r>
              <a:rPr lang="en-US" sz="2373">
                <a:solidFill>
                  <a:srgbClr val="000000"/>
                </a:solidFill>
                <a:latin typeface="Arial"/>
                <a:ea typeface="Arial"/>
                <a:cs typeface="Arial"/>
                <a:sym typeface="Arial"/>
              </a:rPr>
              <a:t>Tra cứu d với khóa k ∈ {0,1,2,...,24−1} có nghĩa là định tuyến yêu cầu đến nút có định danh k.</a:t>
            </a:r>
          </a:p>
        </p:txBody>
      </p:sp>
      <p:grpSp>
        <p:nvGrpSpPr>
          <p:cNvPr name="Group 7" id="7"/>
          <p:cNvGrpSpPr/>
          <p:nvPr/>
        </p:nvGrpSpPr>
        <p:grpSpPr>
          <a:xfrm rot="0">
            <a:off x="6990080" y="6780108"/>
            <a:ext cx="2275840" cy="367436"/>
            <a:chOff x="0" y="0"/>
            <a:chExt cx="3034453" cy="489915"/>
          </a:xfrm>
        </p:grpSpPr>
        <p:sp>
          <p:nvSpPr>
            <p:cNvPr name="Freeform 8" id="8"/>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9" id="9"/>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48</a:t>
              </a:r>
            </a:p>
          </p:txBody>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306924" y="1805427"/>
            <a:ext cx="9139751" cy="3457403"/>
          </a:xfrm>
          <a:prstGeom prst="rect">
            <a:avLst/>
          </a:prstGeom>
        </p:spPr>
        <p:txBody>
          <a:bodyPr anchor="t" rtlCol="false" tIns="0" lIns="0" bIns="0" rIns="0">
            <a:spAutoFit/>
          </a:bodyPr>
          <a:lstStyle/>
          <a:p>
            <a:pPr algn="l">
              <a:lnSpc>
                <a:spcPts val="3687"/>
              </a:lnSpc>
              <a:spcBef>
                <a:spcPct val="0"/>
              </a:spcBef>
            </a:pPr>
            <a:r>
              <a:rPr lang="en-US" b="true" sz="3073">
                <a:solidFill>
                  <a:srgbClr val="000000"/>
                </a:solidFill>
                <a:latin typeface="Arial Bold"/>
                <a:ea typeface="Arial Bold"/>
                <a:cs typeface="Arial Bold"/>
                <a:sym typeface="Arial Bold"/>
              </a:rPr>
              <a:t>Nguyên tắc</a:t>
            </a:r>
          </a:p>
          <a:p>
            <a:pPr algn="l">
              <a:lnSpc>
                <a:spcPts val="3328"/>
              </a:lnSpc>
              <a:spcBef>
                <a:spcPct val="0"/>
              </a:spcBef>
            </a:pPr>
            <a:r>
              <a:rPr lang="en-US" sz="2773">
                <a:solidFill>
                  <a:srgbClr val="000000"/>
                </a:solidFill>
                <a:latin typeface="Arial"/>
                <a:ea typeface="Arial"/>
                <a:cs typeface="Arial"/>
                <a:sym typeface="Arial"/>
              </a:rPr>
              <a:t>· Các nút được tổ chức logic thành một vòng tròn. Mỗi nút có một định danh m-bit.</a:t>
            </a:r>
          </a:p>
          <a:p>
            <a:pPr algn="l">
              <a:lnSpc>
                <a:spcPts val="3328"/>
              </a:lnSpc>
              <a:spcBef>
                <a:spcPct val="0"/>
              </a:spcBef>
            </a:pPr>
            <a:r>
              <a:rPr lang="en-US" sz="2773">
                <a:solidFill>
                  <a:srgbClr val="000000"/>
                </a:solidFill>
                <a:latin typeface="Arial"/>
                <a:ea typeface="Arial"/>
                <a:cs typeface="Arial"/>
                <a:sym typeface="Arial"/>
              </a:rPr>
              <a:t>· Mỗi mục dữ liệu được băm thành một khóa m-bit.</a:t>
            </a:r>
          </a:p>
          <a:p>
            <a:pPr algn="l">
              <a:lnSpc>
                <a:spcPts val="3328"/>
              </a:lnSpc>
              <a:spcBef>
                <a:spcPct val="0"/>
              </a:spcBef>
            </a:pPr>
            <a:r>
              <a:rPr lang="en-US" sz="2773">
                <a:solidFill>
                  <a:srgbClr val="000000"/>
                </a:solidFill>
                <a:latin typeface="Arial"/>
                <a:ea typeface="Arial"/>
                <a:cs typeface="Arial"/>
                <a:sym typeface="Arial"/>
              </a:rPr>
              <a:t>· Mục dữ liệu với khóa k được lưu trữ tại nút có định danh nhỏ nhất id ≥ k, được gọi là nút kế thừa của khóa k.</a:t>
            </a:r>
          </a:p>
          <a:p>
            <a:pPr algn="l">
              <a:lnSpc>
                <a:spcPts val="3328"/>
              </a:lnSpc>
              <a:spcBef>
                <a:spcPct val="0"/>
              </a:spcBef>
            </a:pPr>
            <a:r>
              <a:rPr lang="en-US" sz="2773">
                <a:solidFill>
                  <a:srgbClr val="000000"/>
                </a:solidFill>
                <a:latin typeface="Arial"/>
                <a:ea typeface="Arial"/>
                <a:cs typeface="Arial"/>
                <a:sym typeface="Arial"/>
              </a:rPr>
              <a:t>· Vòng tròn này được mở rộng với các liên kết tắt đến các nút khác.</a:t>
            </a:r>
          </a:p>
        </p:txBody>
      </p:sp>
      <p:sp>
        <p:nvSpPr>
          <p:cNvPr name="TextBox 4" id="4"/>
          <p:cNvSpPr txBox="true"/>
          <p:nvPr/>
        </p:nvSpPr>
        <p:spPr>
          <a:xfrm rot="0">
            <a:off x="300059" y="265378"/>
            <a:ext cx="2666785"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Ví dụ: Chord</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49</a:t>
              </a: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333402" y="1628920"/>
            <a:ext cx="9204467" cy="3575995"/>
          </a:xfrm>
          <a:prstGeom prst="rect">
            <a:avLst/>
          </a:prstGeom>
        </p:spPr>
        <p:txBody>
          <a:bodyPr anchor="t" rtlCol="false" tIns="0" lIns="0" bIns="0" rIns="0">
            <a:spAutoFit/>
          </a:bodyPr>
          <a:lstStyle/>
          <a:p>
            <a:pPr algn="l">
              <a:lnSpc>
                <a:spcPts val="3134"/>
              </a:lnSpc>
              <a:spcBef>
                <a:spcPct val="0"/>
              </a:spcBef>
            </a:pPr>
            <a:r>
              <a:rPr lang="en-US" sz="2611">
                <a:solidFill>
                  <a:srgbClr val="000000"/>
                </a:solidFill>
                <a:latin typeface="Arial"/>
                <a:ea typeface="Arial"/>
                <a:cs typeface="Arial"/>
                <a:sym typeface="Arial"/>
              </a:rPr>
              <a:t>    Hệ thống Chord là một giao thức mạng ngang hàng (P2P) có cấu trúc giúp tìm kiếm và định tuyến dữ liệu hiệu quả. </a:t>
            </a:r>
          </a:p>
          <a:p>
            <a:pPr algn="l">
              <a:lnSpc>
                <a:spcPts val="3134"/>
              </a:lnSpc>
              <a:spcBef>
                <a:spcPct val="0"/>
              </a:spcBef>
            </a:pPr>
          </a:p>
          <a:p>
            <a:pPr algn="l" marL="563913" indent="-281956" lvl="1">
              <a:lnSpc>
                <a:spcPts val="3134"/>
              </a:lnSpc>
              <a:spcBef>
                <a:spcPct val="0"/>
              </a:spcBef>
              <a:buFont typeface="Arial"/>
              <a:buChar char="•"/>
            </a:pPr>
            <a:r>
              <a:rPr lang="en-US" sz="2611">
                <a:solidFill>
                  <a:srgbClr val="000000"/>
                </a:solidFill>
                <a:latin typeface="Arial"/>
                <a:ea typeface="Arial"/>
                <a:cs typeface="Arial"/>
                <a:sym typeface="Arial"/>
              </a:rPr>
              <a:t>Cấu trúc vòng tròn:</a:t>
            </a:r>
          </a:p>
          <a:p>
            <a:pPr algn="l">
              <a:lnSpc>
                <a:spcPts val="3134"/>
              </a:lnSpc>
              <a:spcBef>
                <a:spcPct val="0"/>
              </a:spcBef>
            </a:pPr>
            <a:r>
              <a:rPr lang="en-US" sz="2611">
                <a:solidFill>
                  <a:srgbClr val="000000"/>
                </a:solidFill>
                <a:latin typeface="Arial"/>
                <a:ea typeface="Arial"/>
                <a:cs typeface="Arial"/>
                <a:sym typeface="Arial"/>
              </a:rPr>
              <a:t>+ Các nút trong mạng được sắp xếp theo một vòng tròn dựa trên hàm băm.</a:t>
            </a:r>
          </a:p>
          <a:p>
            <a:pPr algn="l">
              <a:lnSpc>
                <a:spcPts val="3134"/>
              </a:lnSpc>
              <a:spcBef>
                <a:spcPct val="0"/>
              </a:spcBef>
            </a:pPr>
            <a:r>
              <a:rPr lang="en-US" sz="2611">
                <a:solidFill>
                  <a:srgbClr val="000000"/>
                </a:solidFill>
                <a:latin typeface="Arial"/>
                <a:ea typeface="Arial"/>
                <a:cs typeface="Arial"/>
                <a:sym typeface="Arial"/>
              </a:rPr>
              <a:t>+ Mỗi nút có một ID duy nhất (số nhị phân có mmm bit).</a:t>
            </a:r>
          </a:p>
          <a:p>
            <a:pPr algn="l">
              <a:lnSpc>
                <a:spcPts val="3134"/>
              </a:lnSpc>
              <a:spcBef>
                <a:spcPct val="0"/>
              </a:spcBef>
            </a:pPr>
            <a:r>
              <a:rPr lang="en-US" sz="2611">
                <a:solidFill>
                  <a:srgbClr val="000000"/>
                </a:solidFill>
                <a:latin typeface="Arial"/>
                <a:ea typeface="Arial"/>
                <a:cs typeface="Arial"/>
                <a:sym typeface="Arial"/>
              </a:rPr>
              <a:t>+ Mỗi khóa dữ liệu sẽ được ánh xạ đến một nút có ID gần nhất lớn hơn hoặc bằng khóa đó (nút kế nhiệm – successor).</a:t>
            </a:r>
          </a:p>
        </p:txBody>
      </p:sp>
      <p:sp>
        <p:nvSpPr>
          <p:cNvPr name="TextBox 4" id="4"/>
          <p:cNvSpPr txBox="true"/>
          <p:nvPr/>
        </p:nvSpPr>
        <p:spPr>
          <a:xfrm rot="0">
            <a:off x="300059" y="265378"/>
            <a:ext cx="2666785"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Ví dụ: Chord</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50</a:t>
              </a:r>
            </a:p>
          </p:txBody>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348406" y="1429709"/>
            <a:ext cx="9221683" cy="4752417"/>
          </a:xfrm>
          <a:prstGeom prst="rect">
            <a:avLst/>
          </a:prstGeom>
        </p:spPr>
        <p:txBody>
          <a:bodyPr anchor="t" rtlCol="false" tIns="0" lIns="0" bIns="0" rIns="0">
            <a:spAutoFit/>
          </a:bodyPr>
          <a:lstStyle/>
          <a:p>
            <a:pPr algn="l" marL="518157" indent="-259078" lvl="1">
              <a:lnSpc>
                <a:spcPts val="2879"/>
              </a:lnSpc>
              <a:spcBef>
                <a:spcPct val="0"/>
              </a:spcBef>
              <a:buFont typeface="Arial"/>
              <a:buChar char="•"/>
            </a:pPr>
            <a:r>
              <a:rPr lang="en-US" sz="2399">
                <a:solidFill>
                  <a:srgbClr val="000000"/>
                </a:solidFill>
                <a:latin typeface="Arial"/>
                <a:ea typeface="Arial"/>
                <a:cs typeface="Arial"/>
                <a:sym typeface="Arial"/>
              </a:rPr>
              <a:t>Tra cứu khóa (tìm dữ liệu trong mạng):</a:t>
            </a:r>
          </a:p>
          <a:p>
            <a:pPr algn="l">
              <a:lnSpc>
                <a:spcPts val="2879"/>
              </a:lnSpc>
              <a:spcBef>
                <a:spcPct val="0"/>
              </a:spcBef>
            </a:pPr>
            <a:r>
              <a:rPr lang="en-US" sz="2399">
                <a:solidFill>
                  <a:srgbClr val="000000"/>
                </a:solidFill>
                <a:latin typeface="Arial"/>
                <a:ea typeface="Arial"/>
                <a:cs typeface="Arial"/>
                <a:sym typeface="Arial"/>
              </a:rPr>
              <a:t>+ </a:t>
            </a:r>
            <a:r>
              <a:rPr lang="en-US" sz="2399">
                <a:solidFill>
                  <a:srgbClr val="000000"/>
                </a:solidFill>
                <a:latin typeface="Arial"/>
                <a:ea typeface="Arial"/>
                <a:cs typeface="Arial"/>
                <a:sym typeface="Arial"/>
              </a:rPr>
              <a:t>Mỗi nút chỉ biết một số "đường tắt" đến các nút khác, giúp giảm số bước tìm kiếm.</a:t>
            </a:r>
          </a:p>
          <a:p>
            <a:pPr algn="l">
              <a:lnSpc>
                <a:spcPts val="2879"/>
              </a:lnSpc>
              <a:spcBef>
                <a:spcPct val="0"/>
              </a:spcBef>
            </a:pPr>
            <a:r>
              <a:rPr lang="en-US" sz="2399">
                <a:solidFill>
                  <a:srgbClr val="000000"/>
                </a:solidFill>
                <a:latin typeface="Arial"/>
                <a:ea typeface="Arial"/>
                <a:cs typeface="Arial"/>
                <a:sym typeface="Arial"/>
              </a:rPr>
              <a:t>+ Khi một nút cần tìm khóa dữ liệu, nó chuyển tiếp yêu cầu đến nút gần nhất mà nó biết, tiếp tục đến khi tìm thấy nút lưu trữ khóa đó.</a:t>
            </a:r>
          </a:p>
          <a:p>
            <a:pPr algn="l">
              <a:lnSpc>
                <a:spcPts val="2879"/>
              </a:lnSpc>
              <a:spcBef>
                <a:spcPct val="0"/>
              </a:spcBef>
            </a:pPr>
            <a:r>
              <a:rPr lang="en-US" sz="2399">
                <a:solidFill>
                  <a:srgbClr val="000000"/>
                </a:solidFill>
                <a:latin typeface="Arial"/>
                <a:ea typeface="Arial"/>
                <a:cs typeface="Arial"/>
                <a:sym typeface="Arial"/>
              </a:rPr>
              <a:t>+ Quá trình này mất khoảng O(log⁡N)O(\log N)O(logN) bước với NNN là số nút trong mạng.</a:t>
            </a:r>
          </a:p>
          <a:p>
            <a:pPr algn="l" marL="518157" indent="-259078" lvl="1">
              <a:lnSpc>
                <a:spcPts val="2879"/>
              </a:lnSpc>
              <a:spcBef>
                <a:spcPct val="0"/>
              </a:spcBef>
              <a:buFont typeface="Arial"/>
              <a:buChar char="•"/>
            </a:pPr>
            <a:r>
              <a:rPr lang="en-US" sz="2399">
                <a:solidFill>
                  <a:srgbClr val="000000"/>
                </a:solidFill>
                <a:latin typeface="Arial"/>
                <a:ea typeface="Arial"/>
                <a:cs typeface="Arial"/>
                <a:sym typeface="Arial"/>
              </a:rPr>
              <a:t>Thêm và xóa nút:</a:t>
            </a:r>
          </a:p>
          <a:p>
            <a:pPr algn="l">
              <a:lnSpc>
                <a:spcPts val="2879"/>
              </a:lnSpc>
              <a:spcBef>
                <a:spcPct val="0"/>
              </a:spcBef>
            </a:pPr>
            <a:r>
              <a:rPr lang="en-US" sz="2399">
                <a:solidFill>
                  <a:srgbClr val="000000"/>
                </a:solidFill>
                <a:latin typeface="Arial"/>
                <a:ea typeface="Arial"/>
                <a:cs typeface="Arial"/>
                <a:sym typeface="Arial"/>
              </a:rPr>
              <a:t>+ </a:t>
            </a:r>
            <a:r>
              <a:rPr lang="en-US" sz="2399">
                <a:solidFill>
                  <a:srgbClr val="000000"/>
                </a:solidFill>
                <a:latin typeface="Arial"/>
                <a:ea typeface="Arial"/>
                <a:cs typeface="Arial"/>
                <a:sym typeface="Arial"/>
              </a:rPr>
              <a:t>Thêm một nút: Nút mới tìm vị trí phù hợp trong vòng tròn, chèn vào giữa 2 nút lân cận và cập nhật đường tắt.</a:t>
            </a:r>
          </a:p>
          <a:p>
            <a:pPr algn="l">
              <a:lnSpc>
                <a:spcPts val="2879"/>
              </a:lnSpc>
              <a:spcBef>
                <a:spcPct val="0"/>
              </a:spcBef>
            </a:pPr>
            <a:r>
              <a:rPr lang="en-US" sz="2399">
                <a:solidFill>
                  <a:srgbClr val="000000"/>
                </a:solidFill>
                <a:latin typeface="Arial"/>
                <a:ea typeface="Arial"/>
                <a:cs typeface="Arial"/>
                <a:sym typeface="Arial"/>
              </a:rPr>
              <a:t>Dữ liệu liên quan sẽ được chuyển từ nút cũ sang nút mới.</a:t>
            </a:r>
          </a:p>
          <a:p>
            <a:pPr algn="l">
              <a:lnSpc>
                <a:spcPts val="2879"/>
              </a:lnSpc>
              <a:spcBef>
                <a:spcPct val="0"/>
              </a:spcBef>
            </a:pPr>
            <a:r>
              <a:rPr lang="en-US" sz="2399">
                <a:solidFill>
                  <a:srgbClr val="000000"/>
                </a:solidFill>
                <a:latin typeface="Arial"/>
                <a:ea typeface="Arial"/>
                <a:cs typeface="Arial"/>
                <a:sym typeface="Arial"/>
              </a:rPr>
              <a:t>+ Xóa một nút: Nút bị xóa chuyển dữ liệu của nó cho nút kế nhiệm rồi rời khỏi mạng.</a:t>
            </a:r>
          </a:p>
        </p:txBody>
      </p:sp>
      <p:sp>
        <p:nvSpPr>
          <p:cNvPr name="TextBox 4" id="4"/>
          <p:cNvSpPr txBox="true"/>
          <p:nvPr/>
        </p:nvSpPr>
        <p:spPr>
          <a:xfrm rot="0">
            <a:off x="300059" y="265378"/>
            <a:ext cx="2666785"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Ví dụ: Chord</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51</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792952" y="1413739"/>
            <a:ext cx="8167696" cy="5656130"/>
          </a:xfrm>
          <a:custGeom>
            <a:avLst/>
            <a:gdLst/>
            <a:ahLst/>
            <a:cxnLst/>
            <a:rect r="r" b="b" t="t" l="l"/>
            <a:pathLst>
              <a:path h="5656130" w="8167696">
                <a:moveTo>
                  <a:pt x="0" y="0"/>
                </a:moveTo>
                <a:lnTo>
                  <a:pt x="8167696" y="0"/>
                </a:lnTo>
                <a:lnTo>
                  <a:pt x="8167696" y="5656130"/>
                </a:lnTo>
                <a:lnTo>
                  <a:pt x="0" y="5656130"/>
                </a:lnTo>
                <a:lnTo>
                  <a:pt x="0" y="0"/>
                </a:lnTo>
                <a:close/>
              </a:path>
            </a:pathLst>
          </a:custGeom>
          <a:blipFill>
            <a:blip r:embed="rId3"/>
            <a:stretch>
              <a:fillRect l="0" t="0" r="0" b="0"/>
            </a:stretch>
          </a:blipFill>
        </p:spPr>
      </p:sp>
      <p:sp>
        <p:nvSpPr>
          <p:cNvPr name="TextBox 4" id="4"/>
          <p:cNvSpPr txBox="true"/>
          <p:nvPr/>
        </p:nvSpPr>
        <p:spPr>
          <a:xfrm rot="0">
            <a:off x="300059" y="265378"/>
            <a:ext cx="2666785"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Ví dụ: Chord</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52</a:t>
              </a:r>
            </a:p>
          </p:txBody>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0" y="293391"/>
            <a:ext cx="7968918" cy="523854"/>
          </a:xfrm>
          <a:prstGeom prst="rect">
            <a:avLst/>
          </a:prstGeom>
        </p:spPr>
        <p:txBody>
          <a:bodyPr anchor="t" rtlCol="false" tIns="0" lIns="0" bIns="0" rIns="0">
            <a:spAutoFit/>
          </a:bodyPr>
          <a:lstStyle/>
          <a:p>
            <a:pPr algn="ctr">
              <a:lnSpc>
                <a:spcPts val="3687"/>
              </a:lnSpc>
              <a:spcBef>
                <a:spcPct val="0"/>
              </a:spcBef>
            </a:pPr>
            <a:r>
              <a:rPr lang="en-US" b="true" sz="3073">
                <a:solidFill>
                  <a:srgbClr val="FFFF00"/>
                </a:solidFill>
                <a:latin typeface="Arial Bold"/>
                <a:ea typeface="Arial Bold"/>
                <a:cs typeface="Arial Bold"/>
                <a:sym typeface="Arial Bold"/>
              </a:rPr>
              <a:t>Hệ thống ngang hàng không có cấu trúc</a:t>
            </a:r>
          </a:p>
        </p:txBody>
      </p:sp>
      <p:sp>
        <p:nvSpPr>
          <p:cNvPr name="TextBox 4" id="4"/>
          <p:cNvSpPr txBox="true"/>
          <p:nvPr/>
        </p:nvSpPr>
        <p:spPr>
          <a:xfrm rot="0">
            <a:off x="274566" y="1392108"/>
            <a:ext cx="9253903" cy="5476231"/>
          </a:xfrm>
          <a:prstGeom prst="rect">
            <a:avLst/>
          </a:prstGeom>
        </p:spPr>
        <p:txBody>
          <a:bodyPr anchor="t" rtlCol="false" tIns="0" lIns="0" bIns="0" rIns="0">
            <a:spAutoFit/>
          </a:bodyPr>
          <a:lstStyle/>
          <a:p>
            <a:pPr algn="l">
              <a:lnSpc>
                <a:spcPts val="2885"/>
              </a:lnSpc>
              <a:spcBef>
                <a:spcPct val="0"/>
              </a:spcBef>
            </a:pPr>
            <a:r>
              <a:rPr lang="en-US" b="true" sz="2404">
                <a:solidFill>
                  <a:srgbClr val="000000"/>
                </a:solidFill>
                <a:latin typeface="Arial Bold"/>
                <a:ea typeface="Arial Bold"/>
                <a:cs typeface="Arial Bold"/>
                <a:sym typeface="Arial Bold"/>
              </a:rPr>
              <a:t>Bản chất</a:t>
            </a:r>
          </a:p>
          <a:p>
            <a:pPr algn="l">
              <a:lnSpc>
                <a:spcPts val="2885"/>
              </a:lnSpc>
              <a:spcBef>
                <a:spcPct val="0"/>
              </a:spcBef>
            </a:pPr>
            <a:r>
              <a:rPr lang="en-US" sz="2404">
                <a:solidFill>
                  <a:srgbClr val="000000"/>
                </a:solidFill>
                <a:latin typeface="Arial"/>
                <a:ea typeface="Arial"/>
                <a:cs typeface="Arial"/>
                <a:sym typeface="Arial"/>
              </a:rPr>
              <a:t>Mỗi nút duy trì một danh sách ad hoc các nút láng giềng. Lớp phủ kết quả giống như một đồ thị ngẫu nhiên: một cạnh ⟨u, v⟩ chỉ tồn tại với xác suất nhất định P[⟨u, v⟩].</a:t>
            </a:r>
          </a:p>
          <a:p>
            <a:pPr algn="l">
              <a:lnSpc>
                <a:spcPts val="2885"/>
              </a:lnSpc>
              <a:spcBef>
                <a:spcPct val="0"/>
              </a:spcBef>
            </a:pPr>
            <a:r>
              <a:rPr lang="en-US" b="true" sz="2404">
                <a:solidFill>
                  <a:srgbClr val="000000"/>
                </a:solidFill>
                <a:latin typeface="Arial Bold"/>
                <a:ea typeface="Arial Bold"/>
                <a:cs typeface="Arial Bold"/>
                <a:sym typeface="Arial Bold"/>
              </a:rPr>
              <a:t>Tìm kiếm</a:t>
            </a:r>
          </a:p>
          <a:p>
            <a:pPr algn="l" marL="519219" indent="-259609" lvl="1">
              <a:lnSpc>
                <a:spcPts val="2885"/>
              </a:lnSpc>
              <a:spcBef>
                <a:spcPct val="0"/>
              </a:spcBef>
              <a:buFont typeface="Arial"/>
              <a:buChar char="•"/>
            </a:pPr>
            <a:r>
              <a:rPr lang="en-US" sz="2404">
                <a:solidFill>
                  <a:srgbClr val="000000"/>
                </a:solidFill>
                <a:latin typeface="Arial"/>
                <a:ea typeface="Arial"/>
                <a:cs typeface="Arial"/>
                <a:sym typeface="Arial"/>
              </a:rPr>
              <a:t>Flooding: nút phát hành u gửi yêu cầu cho d tới tất cả các nút láng giềng. Yêu cầu sẽ bị bỏ qua nếu nút nhận đã thấy yêu cầu này trước đó. Nếu không, v sẽ tìm kiếm cục bộ cho d (đệ quy). Có thể bị giới hạn bởi Time-To-Live (TTL): số lần nhảy tối đa.</a:t>
            </a:r>
          </a:p>
          <a:p>
            <a:pPr algn="l">
              <a:lnSpc>
                <a:spcPts val="2885"/>
              </a:lnSpc>
              <a:spcBef>
                <a:spcPct val="0"/>
              </a:spcBef>
            </a:pPr>
            <a:r>
              <a:rPr lang="en-US" sz="2404">
                <a:solidFill>
                  <a:srgbClr val="000000"/>
                </a:solidFill>
                <a:latin typeface="Arial"/>
                <a:ea typeface="Arial"/>
                <a:cs typeface="Arial"/>
                <a:sym typeface="Arial"/>
              </a:rPr>
              <a:t>  </a:t>
            </a:r>
            <a:r>
              <a:rPr lang="en-US" sz="2404">
                <a:solidFill>
                  <a:srgbClr val="000000"/>
                </a:solidFill>
                <a:latin typeface="Arial"/>
                <a:ea typeface="Arial"/>
                <a:cs typeface="Arial"/>
                <a:sym typeface="Arial"/>
              </a:rPr>
              <a:t>=&gt;(Flooding: mỗi nút chỉ cần chuyển tiếp một thông điệp đến từng nút lân cận của nó, ngoại trừ nút gửi thông điệp)</a:t>
            </a:r>
          </a:p>
          <a:p>
            <a:pPr algn="l" marL="519219" indent="-259609" lvl="1">
              <a:lnSpc>
                <a:spcPts val="2885"/>
              </a:lnSpc>
              <a:spcBef>
                <a:spcPct val="0"/>
              </a:spcBef>
              <a:buFont typeface="Arial"/>
              <a:buChar char="•"/>
            </a:pPr>
            <a:r>
              <a:rPr lang="en-US" sz="2404">
                <a:solidFill>
                  <a:srgbClr val="000000"/>
                </a:solidFill>
                <a:latin typeface="Arial"/>
                <a:ea typeface="Arial"/>
                <a:cs typeface="Arial"/>
                <a:sym typeface="Arial"/>
              </a:rPr>
              <a:t>Random walk: nút phát hành u gửi yêu cầu cho d tới một nút láng giềng được chọn ngẫu nhiên, v. Nếu v không có d, nó sẽ chuyển yêu cầu cho một trong những nút láng giềng được chọn ngẫu nhiên của nó, và cứ tiếp tục như vậy.</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53</a:t>
              </a: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2668209" y="3846093"/>
            <a:ext cx="2871304" cy="717826"/>
          </a:xfrm>
          <a:custGeom>
            <a:avLst/>
            <a:gdLst/>
            <a:ahLst/>
            <a:cxnLst/>
            <a:rect r="r" b="b" t="t" l="l"/>
            <a:pathLst>
              <a:path h="717826" w="2871304">
                <a:moveTo>
                  <a:pt x="0" y="0"/>
                </a:moveTo>
                <a:lnTo>
                  <a:pt x="2871304" y="0"/>
                </a:lnTo>
                <a:lnTo>
                  <a:pt x="2871304" y="717826"/>
                </a:lnTo>
                <a:lnTo>
                  <a:pt x="0" y="717826"/>
                </a:lnTo>
                <a:lnTo>
                  <a:pt x="0" y="0"/>
                </a:lnTo>
                <a:close/>
              </a:path>
            </a:pathLst>
          </a:custGeom>
          <a:blipFill>
            <a:blip r:embed="rId3"/>
            <a:stretch>
              <a:fillRect l="0" t="0" r="0" b="0"/>
            </a:stretch>
          </a:blipFill>
        </p:spPr>
      </p:sp>
      <p:sp>
        <p:nvSpPr>
          <p:cNvPr name="Freeform 4" id="4"/>
          <p:cNvSpPr/>
          <p:nvPr/>
        </p:nvSpPr>
        <p:spPr>
          <a:xfrm flipH="false" flipV="false" rot="0">
            <a:off x="918837" y="5459312"/>
            <a:ext cx="7915926" cy="952943"/>
          </a:xfrm>
          <a:custGeom>
            <a:avLst/>
            <a:gdLst/>
            <a:ahLst/>
            <a:cxnLst/>
            <a:rect r="r" b="b" t="t" l="l"/>
            <a:pathLst>
              <a:path h="952943" w="7915926">
                <a:moveTo>
                  <a:pt x="0" y="0"/>
                </a:moveTo>
                <a:lnTo>
                  <a:pt x="7915926" y="0"/>
                </a:lnTo>
                <a:lnTo>
                  <a:pt x="7915926" y="952943"/>
                </a:lnTo>
                <a:lnTo>
                  <a:pt x="0" y="952943"/>
                </a:lnTo>
                <a:lnTo>
                  <a:pt x="0" y="0"/>
                </a:lnTo>
                <a:close/>
              </a:path>
            </a:pathLst>
          </a:custGeom>
          <a:blipFill>
            <a:blip r:embed="rId4"/>
            <a:stretch>
              <a:fillRect l="0" t="0" r="0" b="0"/>
            </a:stretch>
          </a:blipFill>
        </p:spPr>
      </p:sp>
      <p:sp>
        <p:nvSpPr>
          <p:cNvPr name="TextBox 5" id="5"/>
          <p:cNvSpPr txBox="true"/>
          <p:nvPr/>
        </p:nvSpPr>
        <p:spPr>
          <a:xfrm rot="0">
            <a:off x="430135" y="293370"/>
            <a:ext cx="6108442"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Flooding so với random walk</a:t>
            </a:r>
          </a:p>
        </p:txBody>
      </p:sp>
      <p:sp>
        <p:nvSpPr>
          <p:cNvPr name="TextBox 6" id="6"/>
          <p:cNvSpPr txBox="true"/>
          <p:nvPr/>
        </p:nvSpPr>
        <p:spPr>
          <a:xfrm rot="0">
            <a:off x="613849" y="1415211"/>
            <a:ext cx="8999528" cy="1200150"/>
          </a:xfrm>
          <a:prstGeom prst="rect">
            <a:avLst/>
          </a:prstGeom>
        </p:spPr>
        <p:txBody>
          <a:bodyPr anchor="t" rtlCol="false" tIns="0" lIns="0" bIns="0" rIns="0">
            <a:spAutoFit/>
          </a:bodyPr>
          <a:lstStyle/>
          <a:p>
            <a:pPr algn="l">
              <a:lnSpc>
                <a:spcPts val="3208"/>
              </a:lnSpc>
              <a:spcBef>
                <a:spcPct val="0"/>
              </a:spcBef>
            </a:pPr>
            <a:r>
              <a:rPr lang="en-US" b="true" sz="2673">
                <a:solidFill>
                  <a:srgbClr val="000000"/>
                </a:solidFill>
                <a:latin typeface="Arial Bold"/>
                <a:ea typeface="Arial Bold"/>
                <a:cs typeface="Arial Bold"/>
                <a:sym typeface="Arial Bold"/>
              </a:rPr>
              <a:t>Mô hình</a:t>
            </a:r>
          </a:p>
          <a:p>
            <a:pPr algn="l">
              <a:lnSpc>
                <a:spcPts val="2968"/>
              </a:lnSpc>
              <a:spcBef>
                <a:spcPct val="0"/>
              </a:spcBef>
            </a:pPr>
            <a:r>
              <a:rPr lang="en-US" sz="2473">
                <a:solidFill>
                  <a:srgbClr val="000000"/>
                </a:solidFill>
                <a:latin typeface="Arial"/>
                <a:ea typeface="Arial"/>
                <a:cs typeface="Arial"/>
                <a:sym typeface="Arial"/>
              </a:rPr>
              <a:t>Giả sử có N nút và mỗi mục dữ liệu được sao chép trên r nút được chọn ngẫu nhiên.</a:t>
            </a:r>
          </a:p>
        </p:txBody>
      </p:sp>
      <p:sp>
        <p:nvSpPr>
          <p:cNvPr name="TextBox 7" id="7"/>
          <p:cNvSpPr txBox="true"/>
          <p:nvPr/>
        </p:nvSpPr>
        <p:spPr>
          <a:xfrm rot="0">
            <a:off x="613849" y="2769768"/>
            <a:ext cx="2270125" cy="476229"/>
          </a:xfrm>
          <a:prstGeom prst="rect">
            <a:avLst/>
          </a:prstGeom>
        </p:spPr>
        <p:txBody>
          <a:bodyPr anchor="t" rtlCol="false" tIns="0" lIns="0" bIns="0" rIns="0">
            <a:spAutoFit/>
          </a:bodyPr>
          <a:lstStyle/>
          <a:p>
            <a:pPr algn="ctr">
              <a:lnSpc>
                <a:spcPts val="3328"/>
              </a:lnSpc>
              <a:spcBef>
                <a:spcPct val="0"/>
              </a:spcBef>
            </a:pPr>
            <a:r>
              <a:rPr lang="en-US" b="true" sz="2773">
                <a:solidFill>
                  <a:srgbClr val="000000"/>
                </a:solidFill>
                <a:latin typeface="Arial Bold"/>
                <a:ea typeface="Arial Bold"/>
                <a:cs typeface="Arial Bold"/>
                <a:sym typeface="Arial Bold"/>
              </a:rPr>
              <a:t>Random walk</a:t>
            </a:r>
          </a:p>
        </p:txBody>
      </p:sp>
      <p:sp>
        <p:nvSpPr>
          <p:cNvPr name="TextBox 8" id="8"/>
          <p:cNvSpPr txBox="true"/>
          <p:nvPr/>
        </p:nvSpPr>
        <p:spPr>
          <a:xfrm rot="0">
            <a:off x="613849" y="3407921"/>
            <a:ext cx="7351627" cy="438171"/>
          </a:xfrm>
          <a:prstGeom prst="rect">
            <a:avLst/>
          </a:prstGeom>
        </p:spPr>
        <p:txBody>
          <a:bodyPr anchor="t" rtlCol="false" tIns="0" lIns="0" bIns="0" rIns="0">
            <a:spAutoFit/>
          </a:bodyPr>
          <a:lstStyle/>
          <a:p>
            <a:pPr algn="l">
              <a:lnSpc>
                <a:spcPts val="3088"/>
              </a:lnSpc>
              <a:spcBef>
                <a:spcPct val="0"/>
              </a:spcBef>
            </a:pPr>
            <a:r>
              <a:rPr lang="en-US" sz="2573">
                <a:solidFill>
                  <a:srgbClr val="000000"/>
                </a:solidFill>
                <a:latin typeface="Arial"/>
                <a:ea typeface="Arial"/>
                <a:cs typeface="Arial"/>
                <a:sym typeface="Arial"/>
              </a:rPr>
              <a:t>P[k] là xác suất tìm thấy mục dữ liệu sau k lần thử:</a:t>
            </a:r>
          </a:p>
        </p:txBody>
      </p:sp>
      <p:sp>
        <p:nvSpPr>
          <p:cNvPr name="TextBox 9" id="9"/>
          <p:cNvSpPr txBox="true"/>
          <p:nvPr/>
        </p:nvSpPr>
        <p:spPr>
          <a:xfrm rot="0">
            <a:off x="613849" y="4573444"/>
            <a:ext cx="8831841" cy="828718"/>
          </a:xfrm>
          <a:prstGeom prst="rect">
            <a:avLst/>
          </a:prstGeom>
        </p:spPr>
        <p:txBody>
          <a:bodyPr anchor="t" rtlCol="false" tIns="0" lIns="0" bIns="0" rIns="0">
            <a:spAutoFit/>
          </a:bodyPr>
          <a:lstStyle/>
          <a:p>
            <a:pPr algn="l">
              <a:lnSpc>
                <a:spcPts val="3088"/>
              </a:lnSpc>
              <a:spcBef>
                <a:spcPct val="0"/>
              </a:spcBef>
            </a:pPr>
            <a:r>
              <a:rPr lang="en-US" sz="2573">
                <a:solidFill>
                  <a:srgbClr val="000000"/>
                </a:solidFill>
                <a:latin typeface="Arial"/>
                <a:ea typeface="Arial"/>
                <a:cs typeface="Arial"/>
                <a:sym typeface="Arial"/>
              </a:rPr>
              <a:t>S (“kích thước tìm kiếm”) là số lượng nút dự kiến cần được thăm dò:</a:t>
            </a:r>
          </a:p>
        </p:txBody>
      </p:sp>
      <p:grpSp>
        <p:nvGrpSpPr>
          <p:cNvPr name="Group 10" id="10"/>
          <p:cNvGrpSpPr/>
          <p:nvPr/>
        </p:nvGrpSpPr>
        <p:grpSpPr>
          <a:xfrm rot="0">
            <a:off x="6990080" y="6780108"/>
            <a:ext cx="2275840" cy="367436"/>
            <a:chOff x="0" y="0"/>
            <a:chExt cx="3034453" cy="489915"/>
          </a:xfrm>
        </p:grpSpPr>
        <p:sp>
          <p:nvSpPr>
            <p:cNvPr name="Freeform 11" id="11"/>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12" id="12"/>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54</a:t>
              </a:r>
            </a:p>
          </p:txBody>
        </p:sp>
      </p:gr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430135" y="293370"/>
            <a:ext cx="6108442"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Flooding so với random walk</a:t>
            </a:r>
          </a:p>
        </p:txBody>
      </p:sp>
      <p:sp>
        <p:nvSpPr>
          <p:cNvPr name="TextBox 4" id="4"/>
          <p:cNvSpPr txBox="true"/>
          <p:nvPr/>
        </p:nvSpPr>
        <p:spPr>
          <a:xfrm rot="0">
            <a:off x="215068" y="1540979"/>
            <a:ext cx="9323465" cy="4457936"/>
          </a:xfrm>
          <a:prstGeom prst="rect">
            <a:avLst/>
          </a:prstGeom>
        </p:spPr>
        <p:txBody>
          <a:bodyPr anchor="t" rtlCol="false" tIns="0" lIns="0" bIns="0" rIns="0">
            <a:spAutoFit/>
          </a:bodyPr>
          <a:lstStyle/>
          <a:p>
            <a:pPr algn="l">
              <a:lnSpc>
                <a:spcPts val="3455"/>
              </a:lnSpc>
              <a:spcBef>
                <a:spcPct val="0"/>
              </a:spcBef>
            </a:pPr>
            <a:r>
              <a:rPr lang="en-US" b="true" sz="2879">
                <a:solidFill>
                  <a:srgbClr val="000000"/>
                </a:solidFill>
                <a:latin typeface="Arial Bold"/>
                <a:ea typeface="Arial Bold"/>
                <a:cs typeface="Arial Bold"/>
                <a:sym typeface="Arial Bold"/>
              </a:rPr>
              <a:t>Flooding</a:t>
            </a:r>
          </a:p>
          <a:p>
            <a:pPr algn="l" marL="556897" indent="-278449" lvl="1">
              <a:lnSpc>
                <a:spcPts val="3095"/>
              </a:lnSpc>
              <a:spcBef>
                <a:spcPct val="0"/>
              </a:spcBef>
              <a:buFont typeface="Arial"/>
              <a:buChar char="•"/>
            </a:pPr>
            <a:r>
              <a:rPr lang="en-US" sz="2579">
                <a:solidFill>
                  <a:srgbClr val="000000"/>
                </a:solidFill>
                <a:latin typeface="Arial"/>
                <a:ea typeface="Arial"/>
                <a:cs typeface="Arial"/>
                <a:sym typeface="Arial"/>
              </a:rPr>
              <a:t>Flood tới d nút láng giềng được chọn ngẫu nhiên.</a:t>
            </a:r>
          </a:p>
          <a:p>
            <a:pPr algn="l" marL="556897" indent="-278449" lvl="1">
              <a:lnSpc>
                <a:spcPts val="3095"/>
              </a:lnSpc>
              <a:spcBef>
                <a:spcPct val="0"/>
              </a:spcBef>
              <a:buFont typeface="Arial"/>
              <a:buChar char="•"/>
            </a:pPr>
            <a:r>
              <a:rPr lang="en-US" sz="2579">
                <a:solidFill>
                  <a:srgbClr val="000000"/>
                </a:solidFill>
                <a:latin typeface="Arial"/>
                <a:ea typeface="Arial"/>
                <a:cs typeface="Arial"/>
                <a:sym typeface="Arial"/>
              </a:rPr>
              <a:t>Sau k bước, một số nút R(k) = d·(d−1)k−1 sẽ được đạt tới (giả sử k nhỏ).</a:t>
            </a:r>
          </a:p>
          <a:p>
            <a:pPr algn="l" marL="556897" indent="-278449" lvl="1">
              <a:lnSpc>
                <a:spcPts val="3095"/>
              </a:lnSpc>
              <a:spcBef>
                <a:spcPct val="0"/>
              </a:spcBef>
              <a:buFont typeface="Arial"/>
              <a:buChar char="•"/>
            </a:pPr>
            <a:r>
              <a:rPr lang="en-US" sz="2579">
                <a:solidFill>
                  <a:srgbClr val="000000"/>
                </a:solidFill>
                <a:latin typeface="Arial"/>
                <a:ea typeface="Arial"/>
                <a:cs typeface="Arial"/>
                <a:sym typeface="Arial"/>
              </a:rPr>
              <a:t>Với tỷ lệ r/N các nút có dữ liệu, nếu r/N · R(k) ≥ 1, chúng ta sẽ tìm thấy mục dữ liệu.</a:t>
            </a:r>
          </a:p>
          <a:p>
            <a:pPr algn="l">
              <a:lnSpc>
                <a:spcPts val="3455"/>
              </a:lnSpc>
              <a:spcBef>
                <a:spcPct val="0"/>
              </a:spcBef>
            </a:pPr>
            <a:r>
              <a:rPr lang="en-US" b="true" sz="2879">
                <a:solidFill>
                  <a:srgbClr val="000000"/>
                </a:solidFill>
                <a:latin typeface="Arial Bold"/>
                <a:ea typeface="Arial Bold"/>
                <a:cs typeface="Arial Bold"/>
                <a:sym typeface="Arial Bold"/>
              </a:rPr>
              <a:t>So sánh</a:t>
            </a:r>
          </a:p>
          <a:p>
            <a:pPr algn="l" marL="556897" indent="-278449" lvl="1">
              <a:lnSpc>
                <a:spcPts val="3095"/>
              </a:lnSpc>
              <a:spcBef>
                <a:spcPct val="0"/>
              </a:spcBef>
              <a:buFont typeface="Arial"/>
              <a:buChar char="•"/>
            </a:pPr>
            <a:r>
              <a:rPr lang="en-US" sz="2579">
                <a:solidFill>
                  <a:srgbClr val="000000"/>
                </a:solidFill>
                <a:latin typeface="Arial"/>
                <a:ea typeface="Arial"/>
                <a:cs typeface="Arial"/>
                <a:sym typeface="Arial"/>
              </a:rPr>
              <a:t>Nếu r/N = 0.001, thì S ≈ 1000</a:t>
            </a:r>
          </a:p>
          <a:p>
            <a:pPr algn="l" marL="556897" indent="-278449" lvl="1">
              <a:lnSpc>
                <a:spcPts val="3095"/>
              </a:lnSpc>
              <a:spcBef>
                <a:spcPct val="0"/>
              </a:spcBef>
              <a:buFont typeface="Arial"/>
              <a:buChar char="•"/>
            </a:pPr>
            <a:r>
              <a:rPr lang="en-US" sz="2579">
                <a:solidFill>
                  <a:srgbClr val="000000"/>
                </a:solidFill>
                <a:latin typeface="Arial"/>
                <a:ea typeface="Arial"/>
                <a:cs typeface="Arial"/>
                <a:sym typeface="Arial"/>
              </a:rPr>
              <a:t>Với flooding và d = 10, k = 4, chúng ta liên hệ với 7290 nút.</a:t>
            </a:r>
          </a:p>
          <a:p>
            <a:pPr algn="l" marL="556897" indent="-278449" lvl="1">
              <a:lnSpc>
                <a:spcPts val="3095"/>
              </a:lnSpc>
              <a:spcBef>
                <a:spcPct val="0"/>
              </a:spcBef>
              <a:buFont typeface="Arial"/>
              <a:buChar char="•"/>
            </a:pPr>
            <a:r>
              <a:rPr lang="en-US" sz="2579">
                <a:solidFill>
                  <a:srgbClr val="000000"/>
                </a:solidFill>
                <a:latin typeface="Arial"/>
                <a:ea typeface="Arial"/>
                <a:cs typeface="Arial"/>
                <a:sym typeface="Arial"/>
              </a:rPr>
              <a:t>Random walks hiệu quả về mặt giao tiếp hơn, nhưng có thể mất nhiều thời gian hơn để tìm kết quả.</a:t>
            </a:r>
          </a:p>
        </p:txBody>
      </p:sp>
      <p:grpSp>
        <p:nvGrpSpPr>
          <p:cNvPr name="Group 5" id="5"/>
          <p:cNvGrpSpPr/>
          <p:nvPr/>
        </p:nvGrpSpPr>
        <p:grpSpPr>
          <a:xfrm rot="0">
            <a:off x="6990080" y="6780108"/>
            <a:ext cx="2275840" cy="367436"/>
            <a:chOff x="0" y="0"/>
            <a:chExt cx="3034453" cy="489915"/>
          </a:xfrm>
        </p:grpSpPr>
        <p:sp>
          <p:nvSpPr>
            <p:cNvPr name="Freeform 6" id="6"/>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7" id="7"/>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55</a:t>
              </a:r>
            </a:p>
          </p:txBody>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263499" y="2200125"/>
            <a:ext cx="9215535" cy="2857800"/>
          </a:xfrm>
          <a:prstGeom prst="rect">
            <a:avLst/>
          </a:prstGeom>
        </p:spPr>
        <p:txBody>
          <a:bodyPr anchor="t" rtlCol="false" tIns="0" lIns="0" bIns="0" rIns="0">
            <a:spAutoFit/>
          </a:bodyPr>
          <a:lstStyle/>
          <a:p>
            <a:pPr algn="l" marL="577174" indent="-288587" lvl="1">
              <a:lnSpc>
                <a:spcPts val="3208"/>
              </a:lnSpc>
              <a:spcBef>
                <a:spcPct val="0"/>
              </a:spcBef>
              <a:buFont typeface="Arial"/>
              <a:buChar char="•"/>
            </a:pPr>
            <a:r>
              <a:rPr lang="en-US" sz="2673">
                <a:solidFill>
                  <a:srgbClr val="000000"/>
                </a:solidFill>
                <a:latin typeface="Arial"/>
                <a:ea typeface="Arial"/>
                <a:cs typeface="Arial"/>
                <a:sym typeface="Arial"/>
              </a:rPr>
              <a:t>Flooding phù hợp khi cần tìm kiếm dữ liệu nhanh chóng nhưng tốn nhiều tài nguyên.</a:t>
            </a:r>
          </a:p>
          <a:p>
            <a:pPr algn="l" marL="577174" indent="-288587" lvl="1">
              <a:lnSpc>
                <a:spcPts val="3208"/>
              </a:lnSpc>
              <a:spcBef>
                <a:spcPct val="0"/>
              </a:spcBef>
              <a:buFont typeface="Arial"/>
              <a:buChar char="•"/>
            </a:pPr>
            <a:r>
              <a:rPr lang="en-US" sz="2673">
                <a:solidFill>
                  <a:srgbClr val="000000"/>
                </a:solidFill>
                <a:latin typeface="Arial"/>
                <a:ea typeface="Arial"/>
                <a:cs typeface="Arial"/>
                <a:sym typeface="Arial"/>
              </a:rPr>
              <a:t>Random Walks tiết kiệm tài nguyên hơn nhưng có thể mất nhiều thời gian để tìm dữ liệu.</a:t>
            </a:r>
          </a:p>
          <a:p>
            <a:pPr algn="l" marL="577174" indent="-288587" lvl="1">
              <a:lnSpc>
                <a:spcPts val="3208"/>
              </a:lnSpc>
              <a:spcBef>
                <a:spcPct val="0"/>
              </a:spcBef>
              <a:buFont typeface="Arial"/>
              <a:buChar char="•"/>
            </a:pPr>
            <a:r>
              <a:rPr lang="en-US" sz="2673">
                <a:solidFill>
                  <a:srgbClr val="000000"/>
                </a:solidFill>
                <a:latin typeface="Arial"/>
                <a:ea typeface="Arial"/>
                <a:cs typeface="Arial"/>
                <a:sym typeface="Arial"/>
              </a:rPr>
              <a:t>Có thể kết hợp cả hai bằng cách áp dụng các chính sách tìm kiếm thông minh, như ưu tiên các node đã phản hồi hoặc giới hạn phạm vi tìm kiếm.</a:t>
            </a:r>
          </a:p>
        </p:txBody>
      </p:sp>
      <p:sp>
        <p:nvSpPr>
          <p:cNvPr name="TextBox 4" id="4"/>
          <p:cNvSpPr txBox="true"/>
          <p:nvPr/>
        </p:nvSpPr>
        <p:spPr>
          <a:xfrm rot="0">
            <a:off x="430135" y="293370"/>
            <a:ext cx="6108442"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Flooding so với random walk</a:t>
            </a:r>
          </a:p>
        </p:txBody>
      </p:sp>
      <p:sp>
        <p:nvSpPr>
          <p:cNvPr name="TextBox 5" id="5"/>
          <p:cNvSpPr txBox="true"/>
          <p:nvPr/>
        </p:nvSpPr>
        <p:spPr>
          <a:xfrm rot="0">
            <a:off x="518453" y="1534326"/>
            <a:ext cx="1810608" cy="523854"/>
          </a:xfrm>
          <a:prstGeom prst="rect">
            <a:avLst/>
          </a:prstGeom>
        </p:spPr>
        <p:txBody>
          <a:bodyPr anchor="t" rtlCol="false" tIns="0" lIns="0" bIns="0" rIns="0">
            <a:spAutoFit/>
          </a:bodyPr>
          <a:lstStyle/>
          <a:p>
            <a:pPr algn="ctr">
              <a:lnSpc>
                <a:spcPts val="3687"/>
              </a:lnSpc>
              <a:spcBef>
                <a:spcPct val="0"/>
              </a:spcBef>
            </a:pPr>
            <a:r>
              <a:rPr lang="en-US" b="true" sz="3073">
                <a:solidFill>
                  <a:srgbClr val="000000"/>
                </a:solidFill>
                <a:latin typeface="Arial Bold"/>
                <a:ea typeface="Arial Bold"/>
                <a:cs typeface="Arial Bold"/>
                <a:sym typeface="Arial Bold"/>
              </a:rPr>
              <a:t>Kết luận: </a:t>
            </a:r>
          </a:p>
        </p:txBody>
      </p:sp>
      <p:grpSp>
        <p:nvGrpSpPr>
          <p:cNvPr name="Group 6" id="6"/>
          <p:cNvGrpSpPr/>
          <p:nvPr/>
        </p:nvGrpSpPr>
        <p:grpSpPr>
          <a:xfrm rot="0">
            <a:off x="6990080" y="6780108"/>
            <a:ext cx="2275840" cy="367436"/>
            <a:chOff x="0" y="0"/>
            <a:chExt cx="3034453" cy="489915"/>
          </a:xfrm>
        </p:grpSpPr>
        <p:sp>
          <p:nvSpPr>
            <p:cNvPr name="Freeform 7" id="7"/>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8" id="8"/>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56</a:t>
              </a:r>
            </a:p>
          </p:txBody>
        </p:sp>
      </p:gr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Freeform 3" id="3"/>
          <p:cNvSpPr/>
          <p:nvPr/>
        </p:nvSpPr>
        <p:spPr>
          <a:xfrm flipH="false" flipV="false" rot="0">
            <a:off x="1585599" y="4062520"/>
            <a:ext cx="6157190" cy="2955451"/>
          </a:xfrm>
          <a:custGeom>
            <a:avLst/>
            <a:gdLst/>
            <a:ahLst/>
            <a:cxnLst/>
            <a:rect r="r" b="b" t="t" l="l"/>
            <a:pathLst>
              <a:path h="2955451" w="6157190">
                <a:moveTo>
                  <a:pt x="0" y="0"/>
                </a:moveTo>
                <a:lnTo>
                  <a:pt x="6157189" y="0"/>
                </a:lnTo>
                <a:lnTo>
                  <a:pt x="6157189" y="2955451"/>
                </a:lnTo>
                <a:lnTo>
                  <a:pt x="0" y="2955451"/>
                </a:lnTo>
                <a:lnTo>
                  <a:pt x="0" y="0"/>
                </a:lnTo>
                <a:close/>
              </a:path>
            </a:pathLst>
          </a:custGeom>
          <a:blipFill>
            <a:blip r:embed="rId3"/>
            <a:stretch>
              <a:fillRect l="0" t="0" r="0" b="0"/>
            </a:stretch>
          </a:blipFill>
        </p:spPr>
      </p:sp>
      <p:sp>
        <p:nvSpPr>
          <p:cNvPr name="TextBox 4" id="4"/>
          <p:cNvSpPr txBox="true"/>
          <p:nvPr/>
        </p:nvSpPr>
        <p:spPr>
          <a:xfrm rot="0">
            <a:off x="556385" y="226738"/>
            <a:ext cx="4640005" cy="628607"/>
          </a:xfrm>
          <a:prstGeom prst="rect">
            <a:avLst/>
          </a:prstGeom>
        </p:spPr>
        <p:txBody>
          <a:bodyPr anchor="t" rtlCol="false" tIns="0" lIns="0" bIns="0" rIns="0">
            <a:spAutoFit/>
          </a:bodyPr>
          <a:lstStyle/>
          <a:p>
            <a:pPr algn="ctr">
              <a:lnSpc>
                <a:spcPts val="4407"/>
              </a:lnSpc>
              <a:spcBef>
                <a:spcPct val="0"/>
              </a:spcBef>
            </a:pPr>
            <a:r>
              <a:rPr lang="en-US" b="true" sz="3673">
                <a:solidFill>
                  <a:srgbClr val="FFFF00"/>
                </a:solidFill>
                <a:latin typeface="Arial Bold"/>
                <a:ea typeface="Arial Bold"/>
                <a:cs typeface="Arial Bold"/>
                <a:sym typeface="Arial Bold"/>
              </a:rPr>
              <a:t>Super-peer networks</a:t>
            </a:r>
          </a:p>
        </p:txBody>
      </p:sp>
      <p:sp>
        <p:nvSpPr>
          <p:cNvPr name="TextBox 5" id="5"/>
          <p:cNvSpPr txBox="true"/>
          <p:nvPr/>
        </p:nvSpPr>
        <p:spPr>
          <a:xfrm rot="0">
            <a:off x="319670" y="1233488"/>
            <a:ext cx="9198587" cy="2819507"/>
          </a:xfrm>
          <a:prstGeom prst="rect">
            <a:avLst/>
          </a:prstGeom>
        </p:spPr>
        <p:txBody>
          <a:bodyPr anchor="t" rtlCol="false" tIns="0" lIns="0" bIns="0" rIns="0">
            <a:spAutoFit/>
          </a:bodyPr>
          <a:lstStyle/>
          <a:p>
            <a:pPr algn="l">
              <a:lnSpc>
                <a:spcPts val="3328"/>
              </a:lnSpc>
              <a:spcBef>
                <a:spcPct val="0"/>
              </a:spcBef>
            </a:pPr>
            <a:r>
              <a:rPr lang="en-US" b="true" sz="2773">
                <a:solidFill>
                  <a:srgbClr val="000000"/>
                </a:solidFill>
                <a:latin typeface="Arial Bold"/>
                <a:ea typeface="Arial Bold"/>
                <a:cs typeface="Arial Bold"/>
                <a:sym typeface="Arial Bold"/>
              </a:rPr>
              <a:t>Bản chất</a:t>
            </a:r>
          </a:p>
          <a:p>
            <a:pPr algn="l">
              <a:lnSpc>
                <a:spcPts val="3088"/>
              </a:lnSpc>
              <a:spcBef>
                <a:spcPct val="0"/>
              </a:spcBef>
            </a:pPr>
            <a:r>
              <a:rPr lang="en-US" sz="2573">
                <a:solidFill>
                  <a:srgbClr val="000000"/>
                </a:solidFill>
                <a:latin typeface="Arial"/>
                <a:ea typeface="Arial"/>
                <a:cs typeface="Arial"/>
                <a:sym typeface="Arial"/>
              </a:rPr>
              <a:t>  </a:t>
            </a:r>
            <a:r>
              <a:rPr lang="en-US" sz="2573">
                <a:solidFill>
                  <a:srgbClr val="000000"/>
                </a:solidFill>
                <a:latin typeface="Arial"/>
                <a:ea typeface="Arial"/>
                <a:cs typeface="Arial"/>
                <a:sym typeface="Arial"/>
              </a:rPr>
              <a:t>Đôi khi hợp lý để phá vỡ tính đối xứng trong các mạng ngang hàng thuần túy:</a:t>
            </a:r>
          </a:p>
          <a:p>
            <a:pPr algn="l" marL="555584" indent="-277792" lvl="1">
              <a:lnSpc>
                <a:spcPts val="3088"/>
              </a:lnSpc>
              <a:spcBef>
                <a:spcPct val="0"/>
              </a:spcBef>
              <a:buFont typeface="Arial"/>
              <a:buChar char="•"/>
            </a:pPr>
            <a:r>
              <a:rPr lang="en-US" sz="2573">
                <a:solidFill>
                  <a:srgbClr val="000000"/>
                </a:solidFill>
                <a:latin typeface="Arial"/>
                <a:ea typeface="Arial"/>
                <a:cs typeface="Arial"/>
                <a:sym typeface="Arial"/>
              </a:rPr>
              <a:t>Khi tìm kiếm trong các hệ thống P2P không có cấu trúc, việc có các máy chủ chỉ mục cải thiện hiệu suất.</a:t>
            </a:r>
          </a:p>
          <a:p>
            <a:pPr algn="l" marL="555584" indent="-277792" lvl="1">
              <a:lnSpc>
                <a:spcPts val="3088"/>
              </a:lnSpc>
              <a:spcBef>
                <a:spcPct val="0"/>
              </a:spcBef>
              <a:buFont typeface="Arial"/>
              <a:buChar char="•"/>
            </a:pPr>
            <a:r>
              <a:rPr lang="en-US" sz="2573">
                <a:solidFill>
                  <a:srgbClr val="000000"/>
                </a:solidFill>
                <a:latin typeface="Arial"/>
                <a:ea typeface="Arial"/>
                <a:cs typeface="Arial"/>
                <a:sym typeface="Arial"/>
              </a:rPr>
              <a:t>Việc quyết định nơi lưu trữ dữ liệu thường có thể được thực hiện hiệu quả hơn thông qua các trung gian.</a:t>
            </a:r>
          </a:p>
        </p:txBody>
      </p:sp>
      <p:grpSp>
        <p:nvGrpSpPr>
          <p:cNvPr name="Group 6" id="6"/>
          <p:cNvGrpSpPr/>
          <p:nvPr/>
        </p:nvGrpSpPr>
        <p:grpSpPr>
          <a:xfrm rot="0">
            <a:off x="6990080" y="6780108"/>
            <a:ext cx="2275840" cy="367436"/>
            <a:chOff x="0" y="0"/>
            <a:chExt cx="3034453" cy="489915"/>
          </a:xfrm>
        </p:grpSpPr>
        <p:sp>
          <p:nvSpPr>
            <p:cNvPr name="Freeform 7" id="7"/>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8" id="8"/>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57</a:t>
              </a:r>
            </a:p>
          </p:txBody>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180107" y="1152359"/>
            <a:ext cx="9525868" cy="3124243"/>
          </a:xfrm>
          <a:prstGeom prst="rect">
            <a:avLst/>
          </a:prstGeom>
        </p:spPr>
        <p:txBody>
          <a:bodyPr anchor="t" rtlCol="false" tIns="0" lIns="0" bIns="0" rIns="0">
            <a:spAutoFit/>
          </a:bodyPr>
          <a:lstStyle/>
          <a:p>
            <a:pPr algn="l">
              <a:lnSpc>
                <a:spcPts val="3208"/>
              </a:lnSpc>
              <a:spcBef>
                <a:spcPct val="0"/>
              </a:spcBef>
            </a:pPr>
            <a:r>
              <a:rPr lang="en-US" b="true" sz="2673">
                <a:solidFill>
                  <a:srgbClr val="000000"/>
                </a:solidFill>
                <a:latin typeface="Arial Bold"/>
                <a:ea typeface="Arial Bold"/>
                <a:cs typeface="Arial Bold"/>
                <a:sym typeface="Arial Bold"/>
              </a:rPr>
              <a:t>Nguyên tắc: tìm kiếm tệp F</a:t>
            </a:r>
          </a:p>
          <a:p>
            <a:pPr algn="l" marL="548387" indent="-274193" lvl="1">
              <a:lnSpc>
                <a:spcPts val="3048"/>
              </a:lnSpc>
              <a:spcBef>
                <a:spcPct val="0"/>
              </a:spcBef>
              <a:buFont typeface="Arial"/>
              <a:buChar char="•"/>
            </a:pPr>
            <a:r>
              <a:rPr lang="en-US" sz="2540">
                <a:solidFill>
                  <a:srgbClr val="000000"/>
                </a:solidFill>
                <a:latin typeface="Arial"/>
                <a:ea typeface="Arial"/>
                <a:cs typeface="Arial"/>
                <a:sym typeface="Arial"/>
              </a:rPr>
              <a:t>Tra cứu tệp tại một thư mục toàn cầu ⇒ trả về một tệp torrent.</a:t>
            </a:r>
          </a:p>
          <a:p>
            <a:pPr algn="l" marL="548387" indent="-274193" lvl="1">
              <a:lnSpc>
                <a:spcPts val="3048"/>
              </a:lnSpc>
              <a:spcBef>
                <a:spcPct val="0"/>
              </a:spcBef>
              <a:buFont typeface="Arial"/>
              <a:buChar char="•"/>
            </a:pPr>
            <a:r>
              <a:rPr lang="en-US" sz="2540">
                <a:solidFill>
                  <a:srgbClr val="000000"/>
                </a:solidFill>
                <a:latin typeface="Arial"/>
                <a:ea typeface="Arial"/>
                <a:cs typeface="Arial"/>
                <a:sym typeface="Arial"/>
              </a:rPr>
              <a:t>Tệp torrent chứa tham chiếu tới tracker: một máy chủ giữ bản ghi chính xác về các nút hoạt động có (các phần của) tệp F.</a:t>
            </a:r>
          </a:p>
          <a:p>
            <a:pPr algn="l" marL="548387" indent="-274193" lvl="1">
              <a:lnSpc>
                <a:spcPts val="3048"/>
              </a:lnSpc>
              <a:spcBef>
                <a:spcPct val="0"/>
              </a:spcBef>
              <a:buFont typeface="Arial"/>
              <a:buChar char="•"/>
            </a:pPr>
            <a:r>
              <a:rPr lang="en-US" sz="2540">
                <a:solidFill>
                  <a:srgbClr val="000000"/>
                </a:solidFill>
                <a:latin typeface="Arial"/>
                <a:ea typeface="Arial"/>
                <a:cs typeface="Arial"/>
                <a:sym typeface="Arial"/>
              </a:rPr>
              <a:t>P có thể tham gia nhóm, nhận một phần miễn phí, và sau đó trao đổi một bản sao của phần đó cho một phần khác với một người ngang hàng Q cũng trong nhóm.</a:t>
            </a:r>
          </a:p>
        </p:txBody>
      </p:sp>
      <p:sp>
        <p:nvSpPr>
          <p:cNvPr name="Freeform 4" id="4"/>
          <p:cNvSpPr/>
          <p:nvPr/>
        </p:nvSpPr>
        <p:spPr>
          <a:xfrm flipH="false" flipV="false" rot="0">
            <a:off x="227732" y="4276602"/>
            <a:ext cx="9298135" cy="2913095"/>
          </a:xfrm>
          <a:custGeom>
            <a:avLst/>
            <a:gdLst/>
            <a:ahLst/>
            <a:cxnLst/>
            <a:rect r="r" b="b" t="t" l="l"/>
            <a:pathLst>
              <a:path h="2913095" w="9298135">
                <a:moveTo>
                  <a:pt x="0" y="0"/>
                </a:moveTo>
                <a:lnTo>
                  <a:pt x="9298136" y="0"/>
                </a:lnTo>
                <a:lnTo>
                  <a:pt x="9298136" y="2913095"/>
                </a:lnTo>
                <a:lnTo>
                  <a:pt x="0" y="2913095"/>
                </a:lnTo>
                <a:lnTo>
                  <a:pt x="0" y="0"/>
                </a:lnTo>
                <a:close/>
              </a:path>
            </a:pathLst>
          </a:custGeom>
          <a:blipFill>
            <a:blip r:embed="rId3"/>
            <a:stretch>
              <a:fillRect l="-329" t="0" r="-329" b="0"/>
            </a:stretch>
          </a:blipFill>
        </p:spPr>
      </p:sp>
      <p:sp>
        <p:nvSpPr>
          <p:cNvPr name="TextBox 5" id="5"/>
          <p:cNvSpPr txBox="true"/>
          <p:nvPr/>
        </p:nvSpPr>
        <p:spPr>
          <a:xfrm rot="0">
            <a:off x="334545" y="293370"/>
            <a:ext cx="3671630" cy="590550"/>
          </a:xfrm>
          <a:prstGeom prst="rect">
            <a:avLst/>
          </a:prstGeom>
        </p:spPr>
        <p:txBody>
          <a:bodyPr anchor="t" rtlCol="false" tIns="0" lIns="0" bIns="0" rIns="0">
            <a:spAutoFit/>
          </a:bodyPr>
          <a:lstStyle/>
          <a:p>
            <a:pPr algn="ctr">
              <a:lnSpc>
                <a:spcPts val="4167"/>
              </a:lnSpc>
              <a:spcBef>
                <a:spcPct val="0"/>
              </a:spcBef>
            </a:pPr>
            <a:r>
              <a:rPr lang="en-US" b="true" sz="3473">
                <a:solidFill>
                  <a:srgbClr val="FFFF00"/>
                </a:solidFill>
                <a:latin typeface="Arial Bold"/>
                <a:ea typeface="Arial Bold"/>
                <a:cs typeface="Arial Bold"/>
                <a:sym typeface="Arial Bold"/>
              </a:rPr>
              <a:t> Ví Dụ: BitTorrent</a:t>
            </a:r>
          </a:p>
        </p:txBody>
      </p:sp>
      <p:grpSp>
        <p:nvGrpSpPr>
          <p:cNvPr name="Group 6" id="6"/>
          <p:cNvGrpSpPr/>
          <p:nvPr/>
        </p:nvGrpSpPr>
        <p:grpSpPr>
          <a:xfrm rot="0">
            <a:off x="7430135" y="6947764"/>
            <a:ext cx="2275840" cy="367436"/>
            <a:chOff x="0" y="0"/>
            <a:chExt cx="3034453" cy="489915"/>
          </a:xfrm>
        </p:grpSpPr>
        <p:sp>
          <p:nvSpPr>
            <p:cNvPr name="Freeform 7" id="7"/>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8" id="8"/>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58</a:t>
              </a:r>
            </a:p>
          </p:txBody>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2048747" y="3095582"/>
            <a:ext cx="5891449" cy="1057361"/>
          </a:xfrm>
          <a:prstGeom prst="rect">
            <a:avLst/>
          </a:prstGeom>
        </p:spPr>
        <p:txBody>
          <a:bodyPr anchor="t" rtlCol="false" tIns="0" lIns="0" bIns="0" rIns="0">
            <a:spAutoFit/>
          </a:bodyPr>
          <a:lstStyle/>
          <a:p>
            <a:pPr algn="ctr">
              <a:lnSpc>
                <a:spcPts val="3943"/>
              </a:lnSpc>
              <a:spcBef>
                <a:spcPct val="0"/>
              </a:spcBef>
            </a:pPr>
            <a:r>
              <a:rPr lang="en-US" b="true" sz="3286">
                <a:solidFill>
                  <a:srgbClr val="000000"/>
                </a:solidFill>
                <a:latin typeface="Arial Bold"/>
                <a:ea typeface="Arial Bold"/>
                <a:cs typeface="Arial Bold"/>
                <a:sym typeface="Arial Bold"/>
              </a:rPr>
              <a:t>5. </a:t>
            </a:r>
            <a:r>
              <a:rPr lang="en-US" b="true" sz="3286">
                <a:solidFill>
                  <a:srgbClr val="000000"/>
                </a:solidFill>
                <a:latin typeface="Arial Bold"/>
                <a:ea typeface="Arial Bold"/>
                <a:cs typeface="Arial Bold"/>
                <a:sym typeface="Arial Bold"/>
              </a:rPr>
              <a:t>Kiến trúc hệ thống lai </a:t>
            </a:r>
          </a:p>
          <a:p>
            <a:pPr algn="ctr">
              <a:lnSpc>
                <a:spcPts val="3943"/>
              </a:lnSpc>
              <a:spcBef>
                <a:spcPct val="0"/>
              </a:spcBef>
            </a:pPr>
            <a:r>
              <a:rPr lang="en-US" b="true" sz="3286">
                <a:solidFill>
                  <a:srgbClr val="000000"/>
                </a:solidFill>
                <a:latin typeface="Arial Bold"/>
                <a:ea typeface="Arial Bold"/>
                <a:cs typeface="Arial Bold"/>
                <a:sym typeface="Arial Bold"/>
              </a:rPr>
              <a:t>(Hybrid system architectures)</a:t>
            </a:r>
          </a:p>
        </p:txBody>
      </p:sp>
      <p:grpSp>
        <p:nvGrpSpPr>
          <p:cNvPr name="Group 4" id="4"/>
          <p:cNvGrpSpPr/>
          <p:nvPr/>
        </p:nvGrpSpPr>
        <p:grpSpPr>
          <a:xfrm rot="0">
            <a:off x="6990080" y="6780108"/>
            <a:ext cx="2275840" cy="367436"/>
            <a:chOff x="0" y="0"/>
            <a:chExt cx="3034453" cy="489915"/>
          </a:xfrm>
        </p:grpSpPr>
        <p:sp>
          <p:nvSpPr>
            <p:cNvPr name="Freeform 5" id="5"/>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6" id="6"/>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59</a:t>
              </a:r>
            </a:p>
          </p:txBody>
        </p:sp>
      </p:gr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328584" y="387357"/>
            <a:ext cx="5528436" cy="993970"/>
            <a:chOff x="0" y="0"/>
            <a:chExt cx="7371249" cy="1325293"/>
          </a:xfrm>
        </p:grpSpPr>
        <p:sp>
          <p:nvSpPr>
            <p:cNvPr name="Freeform 4" id="4"/>
            <p:cNvSpPr/>
            <p:nvPr/>
          </p:nvSpPr>
          <p:spPr>
            <a:xfrm flipH="false" flipV="false" rot="0">
              <a:off x="0" y="0"/>
              <a:ext cx="7371249" cy="1325293"/>
            </a:xfrm>
            <a:custGeom>
              <a:avLst/>
              <a:gdLst/>
              <a:ahLst/>
              <a:cxnLst/>
              <a:rect r="r" b="b" t="t" l="l"/>
              <a:pathLst>
                <a:path h="1325293" w="7371249">
                  <a:moveTo>
                    <a:pt x="0" y="0"/>
                  </a:moveTo>
                  <a:lnTo>
                    <a:pt x="7371249" y="0"/>
                  </a:lnTo>
                  <a:lnTo>
                    <a:pt x="7371249" y="1325293"/>
                  </a:lnTo>
                  <a:lnTo>
                    <a:pt x="0" y="1325293"/>
                  </a:lnTo>
                  <a:close/>
                </a:path>
              </a:pathLst>
            </a:custGeom>
            <a:solidFill>
              <a:srgbClr val="000000">
                <a:alpha val="0"/>
              </a:srgbClr>
            </a:solidFill>
          </p:spPr>
        </p:sp>
        <p:sp>
          <p:nvSpPr>
            <p:cNvPr name="TextBox 5" id="5"/>
            <p:cNvSpPr txBox="true"/>
            <p:nvPr/>
          </p:nvSpPr>
          <p:spPr>
            <a:xfrm>
              <a:off x="0" y="-57150"/>
              <a:ext cx="7371249" cy="138244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Điện toán đám mây</a:t>
              </a:r>
            </a:p>
            <a:p>
              <a:pPr algn="l">
                <a:lnSpc>
                  <a:spcPts val="3583"/>
                </a:lnSpc>
              </a:pP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60</a:t>
              </a:r>
            </a:p>
          </p:txBody>
        </p:sp>
      </p:grpSp>
      <p:sp>
        <p:nvSpPr>
          <p:cNvPr name="Freeform 9" id="9"/>
          <p:cNvSpPr/>
          <p:nvPr/>
        </p:nvSpPr>
        <p:spPr>
          <a:xfrm flipH="false" flipV="false" rot="0">
            <a:off x="505801" y="1756313"/>
            <a:ext cx="8894628" cy="4582422"/>
          </a:xfrm>
          <a:custGeom>
            <a:avLst/>
            <a:gdLst/>
            <a:ahLst/>
            <a:cxnLst/>
            <a:rect r="r" b="b" t="t" l="l"/>
            <a:pathLst>
              <a:path h="4582422" w="8894628">
                <a:moveTo>
                  <a:pt x="0" y="0"/>
                </a:moveTo>
                <a:lnTo>
                  <a:pt x="8894627" y="0"/>
                </a:lnTo>
                <a:lnTo>
                  <a:pt x="8894627" y="4582422"/>
                </a:lnTo>
                <a:lnTo>
                  <a:pt x="0" y="4582422"/>
                </a:lnTo>
                <a:lnTo>
                  <a:pt x="0" y="0"/>
                </a:lnTo>
                <a:close/>
              </a:path>
            </a:pathLst>
          </a:custGeom>
          <a:blipFill>
            <a:blip r:embed="rId4"/>
            <a:stretch>
              <a:fillRect l="0" t="0" r="0" b="0"/>
            </a:stretch>
          </a:blipFill>
        </p:spPr>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91731" y="368930"/>
            <a:ext cx="5528436" cy="993970"/>
            <a:chOff x="0" y="0"/>
            <a:chExt cx="7371249" cy="1325293"/>
          </a:xfrm>
        </p:grpSpPr>
        <p:sp>
          <p:nvSpPr>
            <p:cNvPr name="Freeform 4" id="4"/>
            <p:cNvSpPr/>
            <p:nvPr/>
          </p:nvSpPr>
          <p:spPr>
            <a:xfrm flipH="false" flipV="false" rot="0">
              <a:off x="0" y="0"/>
              <a:ext cx="7371249" cy="1325293"/>
            </a:xfrm>
            <a:custGeom>
              <a:avLst/>
              <a:gdLst/>
              <a:ahLst/>
              <a:cxnLst/>
              <a:rect r="r" b="b" t="t" l="l"/>
              <a:pathLst>
                <a:path h="1325293" w="7371249">
                  <a:moveTo>
                    <a:pt x="0" y="0"/>
                  </a:moveTo>
                  <a:lnTo>
                    <a:pt x="7371249" y="0"/>
                  </a:lnTo>
                  <a:lnTo>
                    <a:pt x="7371249" y="1325293"/>
                  </a:lnTo>
                  <a:lnTo>
                    <a:pt x="0" y="1325293"/>
                  </a:lnTo>
                  <a:close/>
                </a:path>
              </a:pathLst>
            </a:custGeom>
            <a:solidFill>
              <a:srgbClr val="000000">
                <a:alpha val="0"/>
              </a:srgbClr>
            </a:solidFill>
          </p:spPr>
        </p:sp>
        <p:sp>
          <p:nvSpPr>
            <p:cNvPr name="TextBox 5" id="5"/>
            <p:cNvSpPr txBox="true"/>
            <p:nvPr/>
          </p:nvSpPr>
          <p:spPr>
            <a:xfrm>
              <a:off x="0" y="-57150"/>
              <a:ext cx="7371249" cy="138244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Phân biệt bốn lớp</a:t>
              </a:r>
            </a:p>
            <a:p>
              <a:pPr algn="l">
                <a:lnSpc>
                  <a:spcPts val="3583"/>
                </a:lnSpc>
              </a:pP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61</a:t>
              </a:r>
            </a:p>
          </p:txBody>
        </p:sp>
      </p:grpSp>
      <p:sp>
        <p:nvSpPr>
          <p:cNvPr name="TextBox 9" id="9"/>
          <p:cNvSpPr txBox="true"/>
          <p:nvPr/>
        </p:nvSpPr>
        <p:spPr>
          <a:xfrm rot="0">
            <a:off x="602535" y="1954437"/>
            <a:ext cx="8082329" cy="3781425"/>
          </a:xfrm>
          <a:prstGeom prst="rect">
            <a:avLst/>
          </a:prstGeom>
        </p:spPr>
        <p:txBody>
          <a:bodyPr anchor="t" rtlCol="false" tIns="0" lIns="0" bIns="0" rIns="0">
            <a:spAutoFit/>
          </a:bodyPr>
          <a:lstStyle/>
          <a:p>
            <a:pPr algn="just">
              <a:lnSpc>
                <a:spcPts val="3344"/>
              </a:lnSpc>
            </a:pPr>
            <a:r>
              <a:rPr lang="en-US" sz="2786" b="true">
                <a:solidFill>
                  <a:srgbClr val="0000FF"/>
                </a:solidFill>
                <a:latin typeface="Arial Bold"/>
                <a:ea typeface="Arial Bold"/>
                <a:cs typeface="Arial Bold"/>
                <a:sym typeface="Arial Bold"/>
              </a:rPr>
              <a:t>Phần cứng: </a:t>
            </a:r>
            <a:r>
              <a:rPr lang="en-US" sz="2786" b="true">
                <a:solidFill>
                  <a:srgbClr val="000000"/>
                </a:solidFill>
                <a:latin typeface="Arial Bold"/>
                <a:ea typeface="Arial Bold"/>
                <a:cs typeface="Arial Bold"/>
                <a:sym typeface="Arial Bold"/>
              </a:rPr>
              <a:t>Bộ xử lý, bộ định tuyến, hệ thống nguồn và làm mát. Khách hàng thường không  bao giờ nhìn thấy những thứ này.</a:t>
            </a:r>
          </a:p>
          <a:p>
            <a:pPr algn="just">
              <a:lnSpc>
                <a:spcPts val="3344"/>
              </a:lnSpc>
            </a:pPr>
          </a:p>
          <a:p>
            <a:pPr algn="just">
              <a:lnSpc>
                <a:spcPts val="2984"/>
              </a:lnSpc>
            </a:pPr>
          </a:p>
          <a:p>
            <a:pPr algn="just">
              <a:lnSpc>
                <a:spcPts val="3344"/>
              </a:lnSpc>
            </a:pPr>
            <a:r>
              <a:rPr lang="en-US" sz="2786" b="true">
                <a:solidFill>
                  <a:srgbClr val="0000FF"/>
                </a:solidFill>
                <a:latin typeface="Arial Bold"/>
                <a:ea typeface="Arial Bold"/>
                <a:cs typeface="Arial Bold"/>
                <a:sym typeface="Arial Bold"/>
              </a:rPr>
              <a:t>Cơ sở hạ tầng: </a:t>
            </a:r>
            <a:r>
              <a:rPr lang="en-US" sz="2786" b="true">
                <a:solidFill>
                  <a:srgbClr val="000000"/>
                </a:solidFill>
                <a:latin typeface="Arial Bold"/>
                <a:ea typeface="Arial Bold"/>
                <a:cs typeface="Arial Bold"/>
                <a:sym typeface="Arial Bold"/>
              </a:rPr>
              <a:t>Triển khai các kỹ thuật ảo hóa. Phát triển xung quanh phân bổ và quản lý các thiết bị lưu trữ ảo và máy chủ ảo.</a:t>
            </a:r>
          </a:p>
          <a:p>
            <a:pPr algn="l">
              <a:lnSpc>
                <a:spcPts val="3344"/>
              </a:lnSpc>
              <a:spcBef>
                <a:spcPct val="0"/>
              </a:spcBef>
            </a:pPr>
          </a:p>
        </p:txBody>
      </p:sp>
    </p:spTree>
  </p:cSld>
  <p:clrMapOvr>
    <a:masterClrMapping/>
  </p:clrMapOvr>
  <p:transition spd="fast">
    <p:fade/>
  </p:transition>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91731" y="368930"/>
            <a:ext cx="5528436" cy="993970"/>
            <a:chOff x="0" y="0"/>
            <a:chExt cx="7371249" cy="1325293"/>
          </a:xfrm>
        </p:grpSpPr>
        <p:sp>
          <p:nvSpPr>
            <p:cNvPr name="Freeform 4" id="4"/>
            <p:cNvSpPr/>
            <p:nvPr/>
          </p:nvSpPr>
          <p:spPr>
            <a:xfrm flipH="false" flipV="false" rot="0">
              <a:off x="0" y="0"/>
              <a:ext cx="7371249" cy="1325293"/>
            </a:xfrm>
            <a:custGeom>
              <a:avLst/>
              <a:gdLst/>
              <a:ahLst/>
              <a:cxnLst/>
              <a:rect r="r" b="b" t="t" l="l"/>
              <a:pathLst>
                <a:path h="1325293" w="7371249">
                  <a:moveTo>
                    <a:pt x="0" y="0"/>
                  </a:moveTo>
                  <a:lnTo>
                    <a:pt x="7371249" y="0"/>
                  </a:lnTo>
                  <a:lnTo>
                    <a:pt x="7371249" y="1325293"/>
                  </a:lnTo>
                  <a:lnTo>
                    <a:pt x="0" y="1325293"/>
                  </a:lnTo>
                  <a:close/>
                </a:path>
              </a:pathLst>
            </a:custGeom>
            <a:solidFill>
              <a:srgbClr val="000000">
                <a:alpha val="0"/>
              </a:srgbClr>
            </a:solidFill>
          </p:spPr>
        </p:sp>
        <p:sp>
          <p:nvSpPr>
            <p:cNvPr name="TextBox 5" id="5"/>
            <p:cNvSpPr txBox="true"/>
            <p:nvPr/>
          </p:nvSpPr>
          <p:spPr>
            <a:xfrm>
              <a:off x="0" y="-57150"/>
              <a:ext cx="7371249" cy="138244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Phân biệt bốn lớp</a:t>
              </a:r>
            </a:p>
            <a:p>
              <a:pPr algn="l">
                <a:lnSpc>
                  <a:spcPts val="3583"/>
                </a:lnSpc>
              </a:pP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62</a:t>
              </a:r>
            </a:p>
          </p:txBody>
        </p:sp>
      </p:grpSp>
      <p:sp>
        <p:nvSpPr>
          <p:cNvPr name="TextBox 9" id="9"/>
          <p:cNvSpPr txBox="true"/>
          <p:nvPr/>
        </p:nvSpPr>
        <p:spPr>
          <a:xfrm rot="0">
            <a:off x="510402" y="2004923"/>
            <a:ext cx="8082329" cy="3657600"/>
          </a:xfrm>
          <a:prstGeom prst="rect">
            <a:avLst/>
          </a:prstGeom>
        </p:spPr>
        <p:txBody>
          <a:bodyPr anchor="t" rtlCol="false" tIns="0" lIns="0" bIns="0" rIns="0">
            <a:spAutoFit/>
          </a:bodyPr>
          <a:lstStyle/>
          <a:p>
            <a:pPr algn="just">
              <a:lnSpc>
                <a:spcPts val="3224"/>
              </a:lnSpc>
            </a:pPr>
            <a:r>
              <a:rPr lang="en-US" sz="2686" b="true">
                <a:solidFill>
                  <a:srgbClr val="0000FF"/>
                </a:solidFill>
                <a:latin typeface="Arial Bold"/>
                <a:ea typeface="Arial Bold"/>
                <a:cs typeface="Arial Bold"/>
                <a:sym typeface="Arial Bold"/>
              </a:rPr>
              <a:t>Nền tảng: </a:t>
            </a:r>
            <a:r>
              <a:rPr lang="en-US" sz="2686" b="true">
                <a:solidFill>
                  <a:srgbClr val="000000"/>
                </a:solidFill>
                <a:latin typeface="Arial Bold"/>
                <a:ea typeface="Arial Bold"/>
                <a:cs typeface="Arial Bold"/>
                <a:sym typeface="Arial Bold"/>
              </a:rPr>
              <a:t>Cung cấp khả năng trừu tượng hóa cấp cao hơn cho mục đích lưu trữ và các mục đích tương tự.</a:t>
            </a:r>
          </a:p>
          <a:p>
            <a:pPr algn="just">
              <a:lnSpc>
                <a:spcPts val="3224"/>
              </a:lnSpc>
            </a:pPr>
          </a:p>
          <a:p>
            <a:pPr algn="just">
              <a:lnSpc>
                <a:spcPts val="3224"/>
              </a:lnSpc>
            </a:pPr>
            <a:r>
              <a:rPr lang="en-US" sz="2686" b="true">
                <a:solidFill>
                  <a:srgbClr val="0000FF"/>
                </a:solidFill>
                <a:latin typeface="Arial Bold"/>
                <a:ea typeface="Arial Bold"/>
                <a:cs typeface="Arial Bold"/>
                <a:sym typeface="Arial Bold"/>
              </a:rPr>
              <a:t>Ứng dụng: </a:t>
            </a:r>
            <a:r>
              <a:rPr lang="en-US" sz="2686" b="true">
                <a:solidFill>
                  <a:srgbClr val="000000"/>
                </a:solidFill>
                <a:latin typeface="Arial Bold"/>
                <a:ea typeface="Arial Bold"/>
                <a:cs typeface="Arial Bold"/>
                <a:sym typeface="Arial Bold"/>
              </a:rPr>
              <a:t>Các ứng dụng thực tế, chẳng hạn như bộ ứng dụng văn phòng (bộ xử lý văn bản,  ứng dụng bảng tính, ứng dụng trình bày). Tương tự như bộ ứng dụng đi kèm với hệ điều  hành.</a:t>
            </a:r>
          </a:p>
          <a:p>
            <a:pPr algn="l">
              <a:lnSpc>
                <a:spcPts val="3224"/>
              </a:lnSpc>
              <a:spcBef>
                <a:spcPct val="0"/>
              </a:spcBef>
            </a:pPr>
          </a:p>
        </p:txBody>
      </p:sp>
    </p:spTree>
  </p:cSld>
  <p:clrMapOvr>
    <a:masterClrMapping/>
  </p:clrMapOvr>
  <p:transition spd="fast">
    <p:fade/>
  </p:transition>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54878" y="234535"/>
            <a:ext cx="5528436" cy="993970"/>
            <a:chOff x="0" y="0"/>
            <a:chExt cx="7371249" cy="1325293"/>
          </a:xfrm>
        </p:grpSpPr>
        <p:sp>
          <p:nvSpPr>
            <p:cNvPr name="Freeform 4" id="4"/>
            <p:cNvSpPr/>
            <p:nvPr/>
          </p:nvSpPr>
          <p:spPr>
            <a:xfrm flipH="false" flipV="false" rot="0">
              <a:off x="0" y="0"/>
              <a:ext cx="7371249" cy="1325293"/>
            </a:xfrm>
            <a:custGeom>
              <a:avLst/>
              <a:gdLst/>
              <a:ahLst/>
              <a:cxnLst/>
              <a:rect r="r" b="b" t="t" l="l"/>
              <a:pathLst>
                <a:path h="1325293" w="7371249">
                  <a:moveTo>
                    <a:pt x="0" y="0"/>
                  </a:moveTo>
                  <a:lnTo>
                    <a:pt x="7371249" y="0"/>
                  </a:lnTo>
                  <a:lnTo>
                    <a:pt x="7371249" y="1325293"/>
                  </a:lnTo>
                  <a:lnTo>
                    <a:pt x="0" y="1325293"/>
                  </a:lnTo>
                  <a:close/>
                </a:path>
              </a:pathLst>
            </a:custGeom>
            <a:solidFill>
              <a:srgbClr val="000000">
                <a:alpha val="0"/>
              </a:srgbClr>
            </a:solidFill>
          </p:spPr>
        </p:sp>
        <p:sp>
          <p:nvSpPr>
            <p:cNvPr name="TextBox 5" id="5"/>
            <p:cNvSpPr txBox="true"/>
            <p:nvPr/>
          </p:nvSpPr>
          <p:spPr>
            <a:xfrm>
              <a:off x="0" y="-57150"/>
              <a:ext cx="7371249" cy="138244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Kiến trúc máy chủ biên</a:t>
              </a:r>
            </a:p>
            <a:p>
              <a:pPr algn="l">
                <a:lnSpc>
                  <a:spcPts val="3583"/>
                </a:lnSpc>
              </a:pP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63</a:t>
              </a:r>
            </a:p>
          </p:txBody>
        </p:sp>
      </p:grpSp>
      <p:sp>
        <p:nvSpPr>
          <p:cNvPr name="Freeform 9" id="9"/>
          <p:cNvSpPr/>
          <p:nvPr/>
        </p:nvSpPr>
        <p:spPr>
          <a:xfrm flipH="false" flipV="false" rot="0">
            <a:off x="731520" y="3130568"/>
            <a:ext cx="7207058" cy="3982848"/>
          </a:xfrm>
          <a:custGeom>
            <a:avLst/>
            <a:gdLst/>
            <a:ahLst/>
            <a:cxnLst/>
            <a:rect r="r" b="b" t="t" l="l"/>
            <a:pathLst>
              <a:path h="3982848" w="7207058">
                <a:moveTo>
                  <a:pt x="0" y="0"/>
                </a:moveTo>
                <a:lnTo>
                  <a:pt x="7207058" y="0"/>
                </a:lnTo>
                <a:lnTo>
                  <a:pt x="7207058" y="3982848"/>
                </a:lnTo>
                <a:lnTo>
                  <a:pt x="0" y="3982848"/>
                </a:lnTo>
                <a:lnTo>
                  <a:pt x="0" y="0"/>
                </a:lnTo>
                <a:close/>
              </a:path>
            </a:pathLst>
          </a:custGeom>
          <a:blipFill>
            <a:blip r:embed="rId4"/>
            <a:stretch>
              <a:fillRect l="0" t="0" r="0" b="0"/>
            </a:stretch>
          </a:blipFill>
        </p:spPr>
      </p:sp>
      <p:sp>
        <p:nvSpPr>
          <p:cNvPr name="TextBox 10" id="10"/>
          <p:cNvSpPr txBox="true"/>
          <p:nvPr/>
        </p:nvSpPr>
        <p:spPr>
          <a:xfrm rot="0">
            <a:off x="428105" y="1438495"/>
            <a:ext cx="8837815" cy="1542964"/>
          </a:xfrm>
          <a:prstGeom prst="rect">
            <a:avLst/>
          </a:prstGeom>
        </p:spPr>
        <p:txBody>
          <a:bodyPr anchor="t" rtlCol="false" tIns="0" lIns="0" bIns="0" rIns="0">
            <a:spAutoFit/>
          </a:bodyPr>
          <a:lstStyle/>
          <a:p>
            <a:pPr algn="just">
              <a:lnSpc>
                <a:spcPts val="3344"/>
              </a:lnSpc>
            </a:pPr>
            <a:r>
              <a:rPr lang="en-US" sz="2786" b="true">
                <a:solidFill>
                  <a:srgbClr val="0000FF"/>
                </a:solidFill>
                <a:latin typeface="Arial Bold"/>
                <a:ea typeface="Arial Bold"/>
                <a:cs typeface="Arial Bold"/>
                <a:sym typeface="Arial Bold"/>
              </a:rPr>
              <a:t>Essence</a:t>
            </a:r>
          </a:p>
          <a:p>
            <a:pPr algn="just">
              <a:lnSpc>
                <a:spcPts val="3344"/>
              </a:lnSpc>
            </a:pPr>
          </a:p>
          <a:p>
            <a:pPr algn="just">
              <a:lnSpc>
                <a:spcPts val="2624"/>
              </a:lnSpc>
              <a:spcBef>
                <a:spcPct val="0"/>
              </a:spcBef>
            </a:pPr>
            <a:r>
              <a:rPr lang="en-US" b="true" sz="2186">
                <a:solidFill>
                  <a:srgbClr val="000000"/>
                </a:solidFill>
                <a:latin typeface="Arial Bold"/>
                <a:ea typeface="Arial Bold"/>
                <a:cs typeface="Arial Bold"/>
                <a:sym typeface="Arial Bold"/>
              </a:rPr>
              <a:t>Systems được triển khai trên Internet, nơi các máy chủ được đặt ở rìa mạng: ranh giới giữa mạng doanh nghiệp và Internet thực tế.</a:t>
            </a:r>
          </a:p>
        </p:txBody>
      </p:sp>
    </p:spTree>
  </p:cSld>
  <p:clrMapOvr>
    <a:masterClrMapping/>
  </p:clrMapOvr>
  <p:transition spd="fast">
    <p:fade/>
  </p:transition>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5528436" cy="1056640"/>
            <a:chOff x="0" y="0"/>
            <a:chExt cx="7371249" cy="1408853"/>
          </a:xfrm>
        </p:grpSpPr>
        <p:sp>
          <p:nvSpPr>
            <p:cNvPr name="Freeform 4" id="4"/>
            <p:cNvSpPr/>
            <p:nvPr/>
          </p:nvSpPr>
          <p:spPr>
            <a:xfrm flipH="false" flipV="false" rot="0">
              <a:off x="0" y="0"/>
              <a:ext cx="7371249" cy="1408853"/>
            </a:xfrm>
            <a:custGeom>
              <a:avLst/>
              <a:gdLst/>
              <a:ahLst/>
              <a:cxnLst/>
              <a:rect r="r" b="b" t="t" l="l"/>
              <a:pathLst>
                <a:path h="1408853" w="7371249">
                  <a:moveTo>
                    <a:pt x="0" y="0"/>
                  </a:moveTo>
                  <a:lnTo>
                    <a:pt x="7371249" y="0"/>
                  </a:lnTo>
                  <a:lnTo>
                    <a:pt x="7371249" y="1408853"/>
                  </a:lnTo>
                  <a:lnTo>
                    <a:pt x="0" y="1408853"/>
                  </a:lnTo>
                  <a:close/>
                </a:path>
              </a:pathLst>
            </a:custGeom>
            <a:solidFill>
              <a:srgbClr val="000000">
                <a:alpha val="0"/>
              </a:srgbClr>
            </a:solidFill>
          </p:spPr>
        </p:sp>
        <p:sp>
          <p:nvSpPr>
            <p:cNvPr name="TextBox 5" id="5"/>
            <p:cNvSpPr txBox="true"/>
            <p:nvPr/>
          </p:nvSpPr>
          <p:spPr>
            <a:xfrm>
              <a:off x="0" y="-57150"/>
              <a:ext cx="7371249"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Những lập luận phổ biến </a:t>
              </a: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64</a:t>
              </a:r>
            </a:p>
          </p:txBody>
        </p:sp>
      </p:grpSp>
      <p:sp>
        <p:nvSpPr>
          <p:cNvPr name="TextBox 9" id="9"/>
          <p:cNvSpPr txBox="true"/>
          <p:nvPr/>
        </p:nvSpPr>
        <p:spPr>
          <a:xfrm rot="0">
            <a:off x="521481" y="1606316"/>
            <a:ext cx="8500599" cy="1533525"/>
          </a:xfrm>
          <a:prstGeom prst="rect">
            <a:avLst/>
          </a:prstGeom>
        </p:spPr>
        <p:txBody>
          <a:bodyPr anchor="t" rtlCol="false" tIns="0" lIns="0" bIns="0" rIns="0">
            <a:spAutoFit/>
          </a:bodyPr>
          <a:lstStyle/>
          <a:p>
            <a:pPr algn="just">
              <a:lnSpc>
                <a:spcPts val="2984"/>
              </a:lnSpc>
              <a:spcBef>
                <a:spcPct val="0"/>
              </a:spcBef>
            </a:pPr>
            <a:r>
              <a:rPr lang="en-US" b="true" sz="2486">
                <a:solidFill>
                  <a:srgbClr val="0000FF"/>
                </a:solidFill>
                <a:latin typeface="Arial Bold"/>
                <a:ea typeface="Arial Bold"/>
                <a:cs typeface="Arial Bold"/>
                <a:sym typeface="Arial Bold"/>
              </a:rPr>
              <a:t>Độ trễ và băng thông</a:t>
            </a:r>
            <a:r>
              <a:rPr lang="en-US" b="true" sz="2486">
                <a:solidFill>
                  <a:srgbClr val="000000"/>
                </a:solidFill>
                <a:latin typeface="Arial Bold"/>
                <a:ea typeface="Arial Bold"/>
                <a:cs typeface="Arial Bold"/>
                <a:sym typeface="Arial Bold"/>
              </a:rPr>
              <a:t>: Đặc biệt quan trọng đối với một số ứng dụng thời gian thực ứng dụng, chẳng hạn như ứng dụng thực tế tăng cường/thực tế ảo. Nhiều người đánh giá thấp độ trễ và băng thông đến đ ám mây.</a:t>
            </a:r>
          </a:p>
        </p:txBody>
      </p:sp>
      <p:sp>
        <p:nvSpPr>
          <p:cNvPr name="TextBox 10" id="10"/>
          <p:cNvSpPr txBox="true"/>
          <p:nvPr/>
        </p:nvSpPr>
        <p:spPr>
          <a:xfrm rot="0">
            <a:off x="521481" y="3338406"/>
            <a:ext cx="8500599" cy="1495425"/>
          </a:xfrm>
          <a:prstGeom prst="rect">
            <a:avLst/>
          </a:prstGeom>
        </p:spPr>
        <p:txBody>
          <a:bodyPr anchor="t" rtlCol="false" tIns="0" lIns="0" bIns="0" rIns="0">
            <a:spAutoFit/>
          </a:bodyPr>
          <a:lstStyle/>
          <a:p>
            <a:pPr algn="just">
              <a:lnSpc>
                <a:spcPts val="2864"/>
              </a:lnSpc>
              <a:spcBef>
                <a:spcPct val="0"/>
              </a:spcBef>
            </a:pPr>
            <a:r>
              <a:rPr lang="en-US" b="true" sz="2386">
                <a:solidFill>
                  <a:srgbClr val="0000FF"/>
                </a:solidFill>
                <a:latin typeface="Arial Bold"/>
                <a:ea typeface="Arial Bold"/>
                <a:cs typeface="Arial Bold"/>
                <a:sym typeface="Arial Bold"/>
              </a:rPr>
              <a:t>Độ tin cậy:</a:t>
            </a:r>
            <a:r>
              <a:rPr lang="en-US" b="true" sz="2386">
                <a:solidFill>
                  <a:srgbClr val="000000"/>
                </a:solidFill>
                <a:latin typeface="Arial Bold"/>
                <a:ea typeface="Arial Bold"/>
                <a:cs typeface="Arial Bold"/>
                <a:sym typeface="Arial Bold"/>
              </a:rPr>
              <a:t> Kết nối với đám mây thường được cho là không đáng tin cậy, đây thường là một giả định sai lầm. Có thể có những tình huống quan trọng mà cần có sự đảm bảo kết nối cực kỳ cao.</a:t>
            </a:r>
          </a:p>
        </p:txBody>
      </p:sp>
      <p:sp>
        <p:nvSpPr>
          <p:cNvPr name="TextBox 11" id="11"/>
          <p:cNvSpPr txBox="true"/>
          <p:nvPr/>
        </p:nvSpPr>
        <p:spPr>
          <a:xfrm rot="0">
            <a:off x="521481" y="5017983"/>
            <a:ext cx="8500599" cy="1076325"/>
          </a:xfrm>
          <a:prstGeom prst="rect">
            <a:avLst/>
          </a:prstGeom>
        </p:spPr>
        <p:txBody>
          <a:bodyPr anchor="t" rtlCol="false" tIns="0" lIns="0" bIns="0" rIns="0">
            <a:spAutoFit/>
          </a:bodyPr>
          <a:lstStyle/>
          <a:p>
            <a:pPr algn="l">
              <a:lnSpc>
                <a:spcPts val="2744"/>
              </a:lnSpc>
              <a:spcBef>
                <a:spcPct val="0"/>
              </a:spcBef>
            </a:pPr>
            <a:r>
              <a:rPr lang="en-US" b="true" sz="2286">
                <a:solidFill>
                  <a:srgbClr val="0000FF"/>
                </a:solidFill>
                <a:latin typeface="Arial Bold"/>
                <a:ea typeface="Arial Bold"/>
                <a:cs typeface="Arial Bold"/>
                <a:sym typeface="Arial Bold"/>
              </a:rPr>
              <a:t>Bảo mật và quyền riêng tư</a:t>
            </a:r>
            <a:r>
              <a:rPr lang="en-US" b="true" sz="2286">
                <a:solidFill>
                  <a:srgbClr val="000000"/>
                </a:solidFill>
                <a:latin typeface="Arial Bold"/>
                <a:ea typeface="Arial Bold"/>
                <a:cs typeface="Arial Bold"/>
                <a:sym typeface="Arial Bold"/>
              </a:rPr>
              <a:t>: Giả định ngầm thường là khi tài sản ở gần, chúng có thể được bảo vệ tốt hơn. Thực tế cho thấy giả định này thường là sai. </a:t>
            </a:r>
          </a:p>
        </p:txBody>
      </p:sp>
    </p:spTree>
  </p:cSld>
  <p:clrMapOvr>
    <a:masterClrMapping/>
  </p:clrMapOvr>
  <p:transition spd="fast">
    <p:fade/>
  </p:transition>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236451" y="103569"/>
            <a:ext cx="5528436" cy="1056640"/>
            <a:chOff x="0" y="0"/>
            <a:chExt cx="7371249" cy="1408853"/>
          </a:xfrm>
        </p:grpSpPr>
        <p:sp>
          <p:nvSpPr>
            <p:cNvPr name="Freeform 4" id="4"/>
            <p:cNvSpPr/>
            <p:nvPr/>
          </p:nvSpPr>
          <p:spPr>
            <a:xfrm flipH="false" flipV="false" rot="0">
              <a:off x="0" y="0"/>
              <a:ext cx="7371249" cy="1408853"/>
            </a:xfrm>
            <a:custGeom>
              <a:avLst/>
              <a:gdLst/>
              <a:ahLst/>
              <a:cxnLst/>
              <a:rect r="r" b="b" t="t" l="l"/>
              <a:pathLst>
                <a:path h="1408853" w="7371249">
                  <a:moveTo>
                    <a:pt x="0" y="0"/>
                  </a:moveTo>
                  <a:lnTo>
                    <a:pt x="7371249" y="0"/>
                  </a:lnTo>
                  <a:lnTo>
                    <a:pt x="7371249" y="1408853"/>
                  </a:lnTo>
                  <a:lnTo>
                    <a:pt x="0" y="1408853"/>
                  </a:lnTo>
                  <a:close/>
                </a:path>
              </a:pathLst>
            </a:custGeom>
            <a:solidFill>
              <a:srgbClr val="000000">
                <a:alpha val="0"/>
              </a:srgbClr>
            </a:solidFill>
          </p:spPr>
        </p:sp>
        <p:sp>
          <p:nvSpPr>
            <p:cNvPr name="TextBox 5" id="5"/>
            <p:cNvSpPr txBox="true"/>
            <p:nvPr/>
          </p:nvSpPr>
          <p:spPr>
            <a:xfrm>
              <a:off x="0" y="-57150"/>
              <a:ext cx="7371249" cy="146600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Quản lý tài nguyên ở biên </a:t>
              </a: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65</a:t>
              </a:r>
            </a:p>
          </p:txBody>
        </p:sp>
      </p:grpSp>
      <p:sp>
        <p:nvSpPr>
          <p:cNvPr name="TextBox 9" id="9"/>
          <p:cNvSpPr txBox="true"/>
          <p:nvPr/>
        </p:nvSpPr>
        <p:spPr>
          <a:xfrm rot="0">
            <a:off x="243840" y="1675936"/>
            <a:ext cx="9022080" cy="857250"/>
          </a:xfrm>
          <a:prstGeom prst="rect">
            <a:avLst/>
          </a:prstGeom>
        </p:spPr>
        <p:txBody>
          <a:bodyPr anchor="t" rtlCol="false" tIns="0" lIns="0" bIns="0" rIns="0">
            <a:spAutoFit/>
          </a:bodyPr>
          <a:lstStyle/>
          <a:p>
            <a:pPr algn="l">
              <a:lnSpc>
                <a:spcPts val="3224"/>
              </a:lnSpc>
              <a:spcBef>
                <a:spcPct val="0"/>
              </a:spcBef>
            </a:pPr>
            <a:r>
              <a:rPr lang="en-US" b="true" sz="2686">
                <a:solidFill>
                  <a:srgbClr val="FF0000"/>
                </a:solidFill>
                <a:latin typeface="Arial Bold"/>
                <a:ea typeface="Arial Bold"/>
                <a:cs typeface="Arial Bold"/>
                <a:sym typeface="Arial Bold"/>
              </a:rPr>
              <a:t>Phân bổ nguồn lực</a:t>
            </a:r>
            <a:r>
              <a:rPr lang="en-US" b="true" sz="2686">
                <a:solidFill>
                  <a:srgbClr val="000000"/>
                </a:solidFill>
                <a:latin typeface="Arial Bold"/>
                <a:ea typeface="Arial Bold"/>
                <a:cs typeface="Arial Bold"/>
                <a:sym typeface="Arial Bold"/>
              </a:rPr>
              <a:t>: chúng ta cần đ ảm bảo tính sẵn có của các nguồn lực cần thiết đ ể thực hiện một dịch vụ.</a:t>
            </a:r>
          </a:p>
        </p:txBody>
      </p:sp>
      <p:sp>
        <p:nvSpPr>
          <p:cNvPr name="TextBox 10" id="10"/>
          <p:cNvSpPr txBox="true"/>
          <p:nvPr/>
        </p:nvSpPr>
        <p:spPr>
          <a:xfrm rot="0">
            <a:off x="236451" y="2928938"/>
            <a:ext cx="9029469" cy="1228725"/>
          </a:xfrm>
          <a:prstGeom prst="rect">
            <a:avLst/>
          </a:prstGeom>
        </p:spPr>
        <p:txBody>
          <a:bodyPr anchor="t" rtlCol="false" tIns="0" lIns="0" bIns="0" rIns="0">
            <a:spAutoFit/>
          </a:bodyPr>
          <a:lstStyle/>
          <a:p>
            <a:pPr algn="l">
              <a:lnSpc>
                <a:spcPts val="3104"/>
              </a:lnSpc>
              <a:spcBef>
                <a:spcPct val="0"/>
              </a:spcBef>
            </a:pPr>
            <a:r>
              <a:rPr lang="en-US" b="true" sz="2586">
                <a:solidFill>
                  <a:srgbClr val="FF0000"/>
                </a:solidFill>
                <a:latin typeface="Arial Bold"/>
                <a:ea typeface="Arial Bold"/>
                <a:cs typeface="Arial Bold"/>
                <a:sym typeface="Arial Bold"/>
              </a:rPr>
              <a:t>Vị trí dịch vụ</a:t>
            </a:r>
            <a:r>
              <a:rPr lang="en-US" b="true" sz="2586">
                <a:solidFill>
                  <a:srgbClr val="000000"/>
                </a:solidFill>
                <a:latin typeface="Arial Bold"/>
                <a:ea typeface="Arial Bold"/>
                <a:cs typeface="Arial Bold"/>
                <a:sym typeface="Arial Bold"/>
              </a:rPr>
              <a:t>: chúng ta cần quyết định khi nào và ở đâu để đặt dịch vụ. Điều này đ ặc biệt liên quan đến các ứng dụng di động.</a:t>
            </a:r>
          </a:p>
        </p:txBody>
      </p:sp>
      <p:sp>
        <p:nvSpPr>
          <p:cNvPr name="TextBox 11" id="11"/>
          <p:cNvSpPr txBox="true"/>
          <p:nvPr/>
        </p:nvSpPr>
        <p:spPr>
          <a:xfrm rot="0">
            <a:off x="236451" y="4530673"/>
            <a:ext cx="9029469" cy="1228725"/>
          </a:xfrm>
          <a:prstGeom prst="rect">
            <a:avLst/>
          </a:prstGeom>
        </p:spPr>
        <p:txBody>
          <a:bodyPr anchor="t" rtlCol="false" tIns="0" lIns="0" bIns="0" rIns="0">
            <a:spAutoFit/>
          </a:bodyPr>
          <a:lstStyle/>
          <a:p>
            <a:pPr algn="l">
              <a:lnSpc>
                <a:spcPts val="3104"/>
              </a:lnSpc>
              <a:spcBef>
                <a:spcPct val="0"/>
              </a:spcBef>
            </a:pPr>
            <a:r>
              <a:rPr lang="en-US" b="true" sz="2586">
                <a:solidFill>
                  <a:srgbClr val="FF0000"/>
                </a:solidFill>
                <a:latin typeface="Arial Bold"/>
                <a:ea typeface="Arial Bold"/>
                <a:cs typeface="Arial Bold"/>
                <a:sym typeface="Arial Bold"/>
              </a:rPr>
              <a:t>Lựa chọn cạnh</a:t>
            </a:r>
            <a:r>
              <a:rPr lang="en-US" b="true" sz="2586">
                <a:solidFill>
                  <a:srgbClr val="000000"/>
                </a:solidFill>
                <a:latin typeface="Arial Bold"/>
                <a:ea typeface="Arial Bold"/>
                <a:cs typeface="Arial Bold"/>
                <a:sym typeface="Arial Bold"/>
              </a:rPr>
              <a:t>: chúng ta cần quyết định cơ sở hạ tầng cạnh nào sẽ được sử dụng khi cần cung cấp dịch vụ. Dịch vụ gần nhất có thể không phải là dịch vụ tốt nhất.</a:t>
            </a:r>
          </a:p>
        </p:txBody>
      </p:sp>
      <p:sp>
        <p:nvSpPr>
          <p:cNvPr name="TextBox 12" id="12"/>
          <p:cNvSpPr txBox="true"/>
          <p:nvPr/>
        </p:nvSpPr>
        <p:spPr>
          <a:xfrm rot="0">
            <a:off x="110559" y="6151458"/>
            <a:ext cx="9532482" cy="628650"/>
          </a:xfrm>
          <a:prstGeom prst="rect">
            <a:avLst/>
          </a:prstGeom>
        </p:spPr>
        <p:txBody>
          <a:bodyPr anchor="t" rtlCol="false" tIns="0" lIns="0" bIns="0" rIns="0">
            <a:spAutoFit/>
          </a:bodyPr>
          <a:lstStyle/>
          <a:p>
            <a:pPr algn="l">
              <a:lnSpc>
                <a:spcPts val="2384"/>
              </a:lnSpc>
              <a:spcBef>
                <a:spcPct val="0"/>
              </a:spcBef>
            </a:pPr>
            <a:r>
              <a:rPr lang="en-US" b="true" sz="1986">
                <a:solidFill>
                  <a:srgbClr val="000000"/>
                </a:solidFill>
                <a:latin typeface="Arial Bold"/>
                <a:ea typeface="Arial Bold"/>
                <a:cs typeface="Arial Bold"/>
                <a:sym typeface="Arial Bold"/>
              </a:rPr>
              <a:t>Vẫn còn nhiều lời bàn tán về cơ sở hạ tầng biên và điện toán, nhưng liệu tất cả những lời bàn tán đó có thực sự hợp lý hay không vẫn còn phải chờ.</a:t>
            </a:r>
          </a:p>
        </p:txBody>
      </p:sp>
    </p:spTree>
  </p:cSld>
  <p:clrMapOvr>
    <a:masterClrMapping/>
  </p:clrMapOvr>
  <p:transition spd="fast">
    <p:fade/>
  </p:transition>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307711" y="203200"/>
            <a:ext cx="5049348" cy="1441645"/>
            <a:chOff x="0" y="0"/>
            <a:chExt cx="6732464" cy="1922193"/>
          </a:xfrm>
        </p:grpSpPr>
        <p:sp>
          <p:nvSpPr>
            <p:cNvPr name="Freeform 4" id="4"/>
            <p:cNvSpPr/>
            <p:nvPr/>
          </p:nvSpPr>
          <p:spPr>
            <a:xfrm flipH="false" flipV="false" rot="0">
              <a:off x="0" y="0"/>
              <a:ext cx="6732463" cy="1922193"/>
            </a:xfrm>
            <a:custGeom>
              <a:avLst/>
              <a:gdLst/>
              <a:ahLst/>
              <a:cxnLst/>
              <a:rect r="r" b="b" t="t" l="l"/>
              <a:pathLst>
                <a:path h="1922193" w="6732463">
                  <a:moveTo>
                    <a:pt x="0" y="0"/>
                  </a:moveTo>
                  <a:lnTo>
                    <a:pt x="6732463" y="0"/>
                  </a:lnTo>
                  <a:lnTo>
                    <a:pt x="6732463" y="1922193"/>
                  </a:lnTo>
                  <a:lnTo>
                    <a:pt x="0" y="1922193"/>
                  </a:lnTo>
                  <a:close/>
                </a:path>
              </a:pathLst>
            </a:custGeom>
            <a:solidFill>
              <a:srgbClr val="000000">
                <a:alpha val="0"/>
              </a:srgbClr>
            </a:solidFill>
          </p:spPr>
        </p:sp>
        <p:sp>
          <p:nvSpPr>
            <p:cNvPr name="TextBox 5" id="5"/>
            <p:cNvSpPr txBox="true"/>
            <p:nvPr/>
          </p:nvSpPr>
          <p:spPr>
            <a:xfrm>
              <a:off x="0" y="-57150"/>
              <a:ext cx="6732464" cy="197934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Nguyên lý hoạt động của hệ thống blockchain</a:t>
              </a:r>
            </a:p>
            <a:p>
              <a:pPr algn="l">
                <a:lnSpc>
                  <a:spcPts val="3583"/>
                </a:lnSpc>
              </a:pP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66</a:t>
              </a:r>
            </a:p>
          </p:txBody>
        </p:sp>
      </p:grpSp>
      <p:sp>
        <p:nvSpPr>
          <p:cNvPr name="Freeform 9" id="9"/>
          <p:cNvSpPr/>
          <p:nvPr/>
        </p:nvSpPr>
        <p:spPr>
          <a:xfrm flipH="false" flipV="false" rot="0">
            <a:off x="2117501" y="1229320"/>
            <a:ext cx="5193108" cy="3640305"/>
          </a:xfrm>
          <a:custGeom>
            <a:avLst/>
            <a:gdLst/>
            <a:ahLst/>
            <a:cxnLst/>
            <a:rect r="r" b="b" t="t" l="l"/>
            <a:pathLst>
              <a:path h="3640305" w="5193108">
                <a:moveTo>
                  <a:pt x="0" y="0"/>
                </a:moveTo>
                <a:lnTo>
                  <a:pt x="5193108" y="0"/>
                </a:lnTo>
                <a:lnTo>
                  <a:pt x="5193108" y="3640305"/>
                </a:lnTo>
                <a:lnTo>
                  <a:pt x="0" y="3640305"/>
                </a:lnTo>
                <a:lnTo>
                  <a:pt x="0" y="0"/>
                </a:lnTo>
                <a:close/>
              </a:path>
            </a:pathLst>
          </a:custGeom>
          <a:blipFill>
            <a:blip r:embed="rId4"/>
            <a:stretch>
              <a:fillRect l="0" t="0" r="0" b="-10290"/>
            </a:stretch>
          </a:blipFill>
        </p:spPr>
      </p:sp>
      <p:sp>
        <p:nvSpPr>
          <p:cNvPr name="TextBox 10" id="10"/>
          <p:cNvSpPr txBox="true"/>
          <p:nvPr/>
        </p:nvSpPr>
        <p:spPr>
          <a:xfrm rot="0">
            <a:off x="565682" y="4964430"/>
            <a:ext cx="8700238" cy="1619250"/>
          </a:xfrm>
          <a:prstGeom prst="rect">
            <a:avLst/>
          </a:prstGeom>
        </p:spPr>
        <p:txBody>
          <a:bodyPr anchor="t" rtlCol="false" tIns="0" lIns="0" bIns="0" rIns="0">
            <a:spAutoFit/>
          </a:bodyPr>
          <a:lstStyle/>
          <a:p>
            <a:pPr algn="l">
              <a:lnSpc>
                <a:spcPts val="2504"/>
              </a:lnSpc>
              <a:spcBef>
                <a:spcPct val="0"/>
              </a:spcBef>
            </a:pPr>
            <a:r>
              <a:rPr lang="en-US" b="true" sz="2086">
                <a:solidFill>
                  <a:srgbClr val="000000"/>
                </a:solidFill>
                <a:latin typeface="Arial Bold"/>
                <a:ea typeface="Arial Bold"/>
                <a:cs typeface="Arial Bold"/>
                <a:sym typeface="Arial Bold"/>
              </a:rPr>
              <a:t>Các khối được sắp xếp thành một chuỗi chỉ thêm không thể làm giả </a:t>
            </a:r>
          </a:p>
          <a:p>
            <a:pPr algn="l">
              <a:lnSpc>
                <a:spcPts val="2504"/>
              </a:lnSpc>
              <a:spcBef>
                <a:spcPct val="0"/>
              </a:spcBef>
            </a:pPr>
          </a:p>
          <a:p>
            <a:pPr algn="l">
              <a:lnSpc>
                <a:spcPts val="2504"/>
              </a:lnSpc>
              <a:spcBef>
                <a:spcPct val="0"/>
              </a:spcBef>
            </a:pPr>
            <a:r>
              <a:rPr lang="en-US" b="true" sz="2086">
                <a:solidFill>
                  <a:srgbClr val="000000"/>
                </a:solidFill>
                <a:latin typeface="Arial Bold"/>
                <a:ea typeface="Arial Bold"/>
                <a:cs typeface="Arial Bold"/>
                <a:sym typeface="Arial Bold"/>
              </a:rPr>
              <a:t>Mỗi khối trong chuỗi khối là bất biến sao chép hàng loạt</a:t>
            </a:r>
          </a:p>
          <a:p>
            <a:pPr algn="l">
              <a:lnSpc>
                <a:spcPts val="2504"/>
              </a:lnSpc>
              <a:spcBef>
                <a:spcPct val="0"/>
              </a:spcBef>
            </a:pPr>
          </a:p>
          <a:p>
            <a:pPr algn="l">
              <a:lnSpc>
                <a:spcPts val="2504"/>
              </a:lnSpc>
              <a:spcBef>
                <a:spcPct val="0"/>
              </a:spcBef>
            </a:pPr>
            <a:r>
              <a:rPr lang="en-US" b="true" sz="2086">
                <a:solidFill>
                  <a:srgbClr val="000000"/>
                </a:solidFill>
                <a:latin typeface="Arial Bold"/>
                <a:ea typeface="Arial Bold"/>
                <a:cs typeface="Arial Bold"/>
                <a:sym typeface="Arial Bold"/>
              </a:rPr>
              <a:t>Vấn đề thực sự nằm ở chỗ ai được phép thêm một khối vào chuỗi</a:t>
            </a:r>
          </a:p>
        </p:txBody>
      </p:sp>
    </p:spTree>
  </p:cSld>
  <p:clrMapOvr>
    <a:masterClrMapping/>
  </p:clrMapOvr>
  <p:transition spd="fast">
    <p:fade/>
  </p:transition>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328584" y="413282"/>
            <a:ext cx="5749554" cy="993970"/>
            <a:chOff x="0" y="0"/>
            <a:chExt cx="7666072" cy="1325293"/>
          </a:xfrm>
        </p:grpSpPr>
        <p:sp>
          <p:nvSpPr>
            <p:cNvPr name="Freeform 4" id="4"/>
            <p:cNvSpPr/>
            <p:nvPr/>
          </p:nvSpPr>
          <p:spPr>
            <a:xfrm flipH="false" flipV="false" rot="0">
              <a:off x="0" y="0"/>
              <a:ext cx="7666072" cy="1325293"/>
            </a:xfrm>
            <a:custGeom>
              <a:avLst/>
              <a:gdLst/>
              <a:ahLst/>
              <a:cxnLst/>
              <a:rect r="r" b="b" t="t" l="l"/>
              <a:pathLst>
                <a:path h="1325293" w="7666072">
                  <a:moveTo>
                    <a:pt x="0" y="0"/>
                  </a:moveTo>
                  <a:lnTo>
                    <a:pt x="7666072" y="0"/>
                  </a:lnTo>
                  <a:lnTo>
                    <a:pt x="7666072" y="1325293"/>
                  </a:lnTo>
                  <a:lnTo>
                    <a:pt x="0" y="1325293"/>
                  </a:lnTo>
                  <a:close/>
                </a:path>
              </a:pathLst>
            </a:custGeom>
            <a:solidFill>
              <a:srgbClr val="000000">
                <a:alpha val="0"/>
              </a:srgbClr>
            </a:solidFill>
          </p:spPr>
        </p:sp>
        <p:sp>
          <p:nvSpPr>
            <p:cNvPr name="TextBox 5" id="5"/>
            <p:cNvSpPr txBox="true"/>
            <p:nvPr/>
          </p:nvSpPr>
          <p:spPr>
            <a:xfrm>
              <a:off x="0" y="-57150"/>
              <a:ext cx="7666072" cy="138244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Giải pháp tập trung</a:t>
              </a:r>
            </a:p>
            <a:p>
              <a:pPr algn="l">
                <a:lnSpc>
                  <a:spcPts val="3583"/>
                </a:lnSpc>
              </a:pP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67</a:t>
              </a:r>
            </a:p>
          </p:txBody>
        </p:sp>
      </p:grpSp>
      <p:sp>
        <p:nvSpPr>
          <p:cNvPr name="Freeform 9" id="9"/>
          <p:cNvSpPr/>
          <p:nvPr/>
        </p:nvSpPr>
        <p:spPr>
          <a:xfrm flipH="false" flipV="false" rot="0">
            <a:off x="1867718" y="1407252"/>
            <a:ext cx="5768074" cy="3311754"/>
          </a:xfrm>
          <a:custGeom>
            <a:avLst/>
            <a:gdLst/>
            <a:ahLst/>
            <a:cxnLst/>
            <a:rect r="r" b="b" t="t" l="l"/>
            <a:pathLst>
              <a:path h="3311754" w="5768074">
                <a:moveTo>
                  <a:pt x="0" y="0"/>
                </a:moveTo>
                <a:lnTo>
                  <a:pt x="5768074" y="0"/>
                </a:lnTo>
                <a:lnTo>
                  <a:pt x="5768074" y="3311754"/>
                </a:lnTo>
                <a:lnTo>
                  <a:pt x="0" y="3311754"/>
                </a:lnTo>
                <a:lnTo>
                  <a:pt x="0" y="0"/>
                </a:lnTo>
                <a:close/>
              </a:path>
            </a:pathLst>
          </a:custGeom>
          <a:blipFill>
            <a:blip r:embed="rId4"/>
            <a:stretch>
              <a:fillRect l="0" t="0" r="0" b="0"/>
            </a:stretch>
          </a:blipFill>
        </p:spPr>
      </p:sp>
      <p:sp>
        <p:nvSpPr>
          <p:cNvPr name="TextBox 10" id="10"/>
          <p:cNvSpPr txBox="true"/>
          <p:nvPr/>
        </p:nvSpPr>
        <p:spPr>
          <a:xfrm rot="0">
            <a:off x="731520" y="5088255"/>
            <a:ext cx="8290560" cy="1495425"/>
          </a:xfrm>
          <a:prstGeom prst="rect">
            <a:avLst/>
          </a:prstGeom>
        </p:spPr>
        <p:txBody>
          <a:bodyPr anchor="t" rtlCol="false" tIns="0" lIns="0" bIns="0" rIns="0">
            <a:spAutoFit/>
          </a:bodyPr>
          <a:lstStyle/>
          <a:p>
            <a:pPr algn="l">
              <a:lnSpc>
                <a:spcPts val="2864"/>
              </a:lnSpc>
              <a:spcBef>
                <a:spcPct val="0"/>
              </a:spcBef>
            </a:pPr>
            <a:r>
              <a:rPr lang="en-US" b="true" sz="2386">
                <a:solidFill>
                  <a:srgbClr val="000000"/>
                </a:solidFill>
                <a:latin typeface="Arial Bold"/>
                <a:ea typeface="Arial Bold"/>
                <a:cs typeface="Arial Bold"/>
                <a:sym typeface="Arial Bold"/>
              </a:rPr>
              <a:t>Một thực thể duy nhất quyết định trình xác thực nào có thể tiếp tục và thêm một khối.</a:t>
            </a:r>
          </a:p>
          <a:p>
            <a:pPr algn="l">
              <a:lnSpc>
                <a:spcPts val="2864"/>
              </a:lnSpc>
              <a:spcBef>
                <a:spcPct val="0"/>
              </a:spcBef>
            </a:pPr>
          </a:p>
          <a:p>
            <a:pPr algn="l">
              <a:lnSpc>
                <a:spcPts val="2864"/>
              </a:lnSpc>
              <a:spcBef>
                <a:spcPct val="0"/>
              </a:spcBef>
            </a:pPr>
            <a:r>
              <a:rPr lang="en-US" b="true" sz="2386">
                <a:solidFill>
                  <a:srgbClr val="000000"/>
                </a:solidFill>
                <a:latin typeface="Arial Bold"/>
                <a:ea typeface="Arial Bold"/>
                <a:cs typeface="Arial Bold"/>
                <a:sym typeface="Arial Bold"/>
              </a:rPr>
              <a:t>Không phù hợp với mục tiêu thiết kế của blockchain.</a:t>
            </a:r>
          </a:p>
        </p:txBody>
      </p:sp>
    </p:spTree>
  </p:cSld>
  <p:clrMapOvr>
    <a:masterClrMapping/>
  </p:clrMapOvr>
  <p:transition spd="fast">
    <p:fade/>
  </p:transition>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328584" y="0"/>
            <a:ext cx="5749554" cy="1407252"/>
            <a:chOff x="0" y="0"/>
            <a:chExt cx="7666072" cy="1876336"/>
          </a:xfrm>
        </p:grpSpPr>
        <p:sp>
          <p:nvSpPr>
            <p:cNvPr name="Freeform 4" id="4"/>
            <p:cNvSpPr/>
            <p:nvPr/>
          </p:nvSpPr>
          <p:spPr>
            <a:xfrm flipH="false" flipV="false" rot="0">
              <a:off x="0" y="0"/>
              <a:ext cx="7666072" cy="1876336"/>
            </a:xfrm>
            <a:custGeom>
              <a:avLst/>
              <a:gdLst/>
              <a:ahLst/>
              <a:cxnLst/>
              <a:rect r="r" b="b" t="t" l="l"/>
              <a:pathLst>
                <a:path h="1876336" w="7666072">
                  <a:moveTo>
                    <a:pt x="0" y="0"/>
                  </a:moveTo>
                  <a:lnTo>
                    <a:pt x="7666072" y="0"/>
                  </a:lnTo>
                  <a:lnTo>
                    <a:pt x="7666072" y="1876336"/>
                  </a:lnTo>
                  <a:lnTo>
                    <a:pt x="0" y="1876336"/>
                  </a:lnTo>
                  <a:close/>
                </a:path>
              </a:pathLst>
            </a:custGeom>
            <a:solidFill>
              <a:srgbClr val="000000">
                <a:alpha val="0"/>
              </a:srgbClr>
            </a:solidFill>
          </p:spPr>
        </p:sp>
        <p:sp>
          <p:nvSpPr>
            <p:cNvPr name="TextBox 5" id="5"/>
            <p:cNvSpPr txBox="true"/>
            <p:nvPr/>
          </p:nvSpPr>
          <p:spPr>
            <a:xfrm>
              <a:off x="0" y="-57150"/>
              <a:ext cx="7666072" cy="1933486"/>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Giải pháp phân phối </a:t>
              </a: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68</a:t>
              </a:r>
            </a:p>
          </p:txBody>
        </p:sp>
      </p:grpSp>
      <p:sp>
        <p:nvSpPr>
          <p:cNvPr name="Freeform 9" id="9"/>
          <p:cNvSpPr/>
          <p:nvPr/>
        </p:nvSpPr>
        <p:spPr>
          <a:xfrm flipH="false" flipV="false" rot="0">
            <a:off x="1494422" y="1253299"/>
            <a:ext cx="6590516" cy="3320606"/>
          </a:xfrm>
          <a:custGeom>
            <a:avLst/>
            <a:gdLst/>
            <a:ahLst/>
            <a:cxnLst/>
            <a:rect r="r" b="b" t="t" l="l"/>
            <a:pathLst>
              <a:path h="3320606" w="6590516">
                <a:moveTo>
                  <a:pt x="0" y="0"/>
                </a:moveTo>
                <a:lnTo>
                  <a:pt x="6590516" y="0"/>
                </a:lnTo>
                <a:lnTo>
                  <a:pt x="6590516" y="3320606"/>
                </a:lnTo>
                <a:lnTo>
                  <a:pt x="0" y="3320606"/>
                </a:lnTo>
                <a:lnTo>
                  <a:pt x="0" y="0"/>
                </a:lnTo>
                <a:close/>
              </a:path>
            </a:pathLst>
          </a:custGeom>
          <a:blipFill>
            <a:blip r:embed="rId4"/>
            <a:stretch>
              <a:fillRect l="0" t="0" r="0" b="0"/>
            </a:stretch>
          </a:blipFill>
        </p:spPr>
      </p:sp>
      <p:sp>
        <p:nvSpPr>
          <p:cNvPr name="TextBox 10" id="10"/>
          <p:cNvSpPr txBox="true"/>
          <p:nvPr/>
        </p:nvSpPr>
        <p:spPr>
          <a:xfrm rot="0">
            <a:off x="408132" y="4726305"/>
            <a:ext cx="8937336" cy="1857375"/>
          </a:xfrm>
          <a:prstGeom prst="rect">
            <a:avLst/>
          </a:prstGeom>
        </p:spPr>
        <p:txBody>
          <a:bodyPr anchor="t" rtlCol="false" tIns="0" lIns="0" bIns="0" rIns="0">
            <a:spAutoFit/>
          </a:bodyPr>
          <a:lstStyle/>
          <a:p>
            <a:pPr algn="l">
              <a:lnSpc>
                <a:spcPts val="2864"/>
              </a:lnSpc>
            </a:pPr>
            <a:r>
              <a:rPr lang="en-US" sz="2386" b="true">
                <a:solidFill>
                  <a:srgbClr val="000000"/>
                </a:solidFill>
                <a:latin typeface="Arial Bold"/>
                <a:ea typeface="Arial Bold"/>
                <a:cs typeface="Arial Bold"/>
                <a:sym typeface="Arial Bold"/>
              </a:rPr>
              <a:t>Một nhóm máy chủ được chọn tương đối nhỏ cùng nhau đạt đ ược sự đồng thuận về trình xác thực nào có thể tiếp tục.</a:t>
            </a:r>
          </a:p>
          <a:p>
            <a:pPr algn="l">
              <a:lnSpc>
                <a:spcPts val="2864"/>
              </a:lnSpc>
            </a:pPr>
          </a:p>
          <a:p>
            <a:pPr algn="l">
              <a:lnSpc>
                <a:spcPts val="2864"/>
              </a:lnSpc>
            </a:pPr>
            <a:r>
              <a:rPr lang="en-US" sz="2386" b="true">
                <a:solidFill>
                  <a:srgbClr val="000000"/>
                </a:solidFill>
                <a:latin typeface="Arial Bold"/>
                <a:ea typeface="Arial Bold"/>
                <a:cs typeface="Arial Bold"/>
                <a:sym typeface="Arial Bold"/>
              </a:rPr>
              <a:t>Trên thực tế, chỉ có thể chứa được vài chục máy chủ.</a:t>
            </a:r>
          </a:p>
          <a:p>
            <a:pPr algn="l">
              <a:lnSpc>
                <a:spcPts val="2864"/>
              </a:lnSpc>
              <a:spcBef>
                <a:spcPct val="0"/>
              </a:spcBef>
            </a:pPr>
          </a:p>
        </p:txBody>
      </p:sp>
    </p:spTree>
  </p:cSld>
  <p:clrMapOvr>
    <a:masterClrMapping/>
  </p:clrMapOvr>
  <p:transition spd="fast">
    <p:fade/>
  </p:transition>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328584" y="413282"/>
            <a:ext cx="5749554" cy="993970"/>
            <a:chOff x="0" y="0"/>
            <a:chExt cx="7666072" cy="1325293"/>
          </a:xfrm>
        </p:grpSpPr>
        <p:sp>
          <p:nvSpPr>
            <p:cNvPr name="Freeform 4" id="4"/>
            <p:cNvSpPr/>
            <p:nvPr/>
          </p:nvSpPr>
          <p:spPr>
            <a:xfrm flipH="false" flipV="false" rot="0">
              <a:off x="0" y="0"/>
              <a:ext cx="7666072" cy="1325293"/>
            </a:xfrm>
            <a:custGeom>
              <a:avLst/>
              <a:gdLst/>
              <a:ahLst/>
              <a:cxnLst/>
              <a:rect r="r" b="b" t="t" l="l"/>
              <a:pathLst>
                <a:path h="1325293" w="7666072">
                  <a:moveTo>
                    <a:pt x="0" y="0"/>
                  </a:moveTo>
                  <a:lnTo>
                    <a:pt x="7666072" y="0"/>
                  </a:lnTo>
                  <a:lnTo>
                    <a:pt x="7666072" y="1325293"/>
                  </a:lnTo>
                  <a:lnTo>
                    <a:pt x="0" y="1325293"/>
                  </a:lnTo>
                  <a:close/>
                </a:path>
              </a:pathLst>
            </a:custGeom>
            <a:solidFill>
              <a:srgbClr val="000000">
                <a:alpha val="0"/>
              </a:srgbClr>
            </a:solidFill>
          </p:spPr>
        </p:sp>
        <p:sp>
          <p:nvSpPr>
            <p:cNvPr name="TextBox 5" id="5"/>
            <p:cNvSpPr txBox="true"/>
            <p:nvPr/>
          </p:nvSpPr>
          <p:spPr>
            <a:xfrm>
              <a:off x="0" y="-57150"/>
              <a:ext cx="7666072" cy="1382443"/>
            </a:xfrm>
            <a:prstGeom prst="rect">
              <a:avLst/>
            </a:prstGeom>
          </p:spPr>
          <p:txBody>
            <a:bodyPr anchor="ctr" rtlCol="false" tIns="0" lIns="0" bIns="0" rIns="0"/>
            <a:lstStyle/>
            <a:p>
              <a:pPr algn="l">
                <a:lnSpc>
                  <a:spcPts val="3583"/>
                </a:lnSpc>
              </a:pPr>
              <a:r>
                <a:rPr lang="en-US" sz="2986" b="true">
                  <a:solidFill>
                    <a:srgbClr val="FFFF00"/>
                  </a:solidFill>
                  <a:latin typeface="Arial Bold"/>
                  <a:ea typeface="Arial Bold"/>
                  <a:cs typeface="Arial Bold"/>
                  <a:sym typeface="Arial Bold"/>
                </a:rPr>
                <a:t>Giải pháp phi tập trung </a:t>
              </a:r>
            </a:p>
            <a:p>
              <a:pPr algn="l">
                <a:lnSpc>
                  <a:spcPts val="3583"/>
                </a:lnSpc>
              </a:pPr>
            </a:p>
          </p:txBody>
        </p:sp>
      </p:grpSp>
      <p:grpSp>
        <p:nvGrpSpPr>
          <p:cNvPr name="Group 6" id="6"/>
          <p:cNvGrpSpPr/>
          <p:nvPr/>
        </p:nvGrpSpPr>
        <p:grpSpPr>
          <a:xfrm rot="0">
            <a:off x="6990080" y="6780108"/>
            <a:ext cx="2275840" cy="389467"/>
            <a:chOff x="0" y="0"/>
            <a:chExt cx="3034453" cy="519289"/>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solidFill>
              <a:srgbClr val="000000">
                <a:alpha val="0"/>
              </a:srgbClr>
            </a:solidFill>
          </p:spPr>
        </p:sp>
        <p:sp>
          <p:nvSpPr>
            <p:cNvPr name="TextBox 8" id="8"/>
            <p:cNvSpPr txBox="true"/>
            <p:nvPr/>
          </p:nvSpPr>
          <p:spPr>
            <a:xfrm>
              <a:off x="0" y="-47625"/>
              <a:ext cx="3034453" cy="566914"/>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69</a:t>
              </a:r>
            </a:p>
          </p:txBody>
        </p:sp>
      </p:grpSp>
      <p:sp>
        <p:nvSpPr>
          <p:cNvPr name="Freeform 9" id="9"/>
          <p:cNvSpPr/>
          <p:nvPr/>
        </p:nvSpPr>
        <p:spPr>
          <a:xfrm flipH="false" flipV="false" rot="0">
            <a:off x="1904674" y="1524923"/>
            <a:ext cx="5944252" cy="3237720"/>
          </a:xfrm>
          <a:custGeom>
            <a:avLst/>
            <a:gdLst/>
            <a:ahLst/>
            <a:cxnLst/>
            <a:rect r="r" b="b" t="t" l="l"/>
            <a:pathLst>
              <a:path h="3237720" w="5944252">
                <a:moveTo>
                  <a:pt x="0" y="0"/>
                </a:moveTo>
                <a:lnTo>
                  <a:pt x="5944252" y="0"/>
                </a:lnTo>
                <a:lnTo>
                  <a:pt x="5944252" y="3237721"/>
                </a:lnTo>
                <a:lnTo>
                  <a:pt x="0" y="3237721"/>
                </a:lnTo>
                <a:lnTo>
                  <a:pt x="0" y="0"/>
                </a:lnTo>
                <a:close/>
              </a:path>
            </a:pathLst>
          </a:custGeom>
          <a:blipFill>
            <a:blip r:embed="rId4"/>
            <a:stretch>
              <a:fillRect l="0" t="0" r="0" b="0"/>
            </a:stretch>
          </a:blipFill>
        </p:spPr>
      </p:sp>
      <p:sp>
        <p:nvSpPr>
          <p:cNvPr name="TextBox 10" id="10"/>
          <p:cNvSpPr txBox="true"/>
          <p:nvPr/>
        </p:nvSpPr>
        <p:spPr>
          <a:xfrm rot="0">
            <a:off x="609600" y="5117466"/>
            <a:ext cx="8534400" cy="1857375"/>
          </a:xfrm>
          <a:prstGeom prst="rect">
            <a:avLst/>
          </a:prstGeom>
        </p:spPr>
        <p:txBody>
          <a:bodyPr anchor="t" rtlCol="false" tIns="0" lIns="0" bIns="0" rIns="0">
            <a:spAutoFit/>
          </a:bodyPr>
          <a:lstStyle/>
          <a:p>
            <a:pPr algn="l">
              <a:lnSpc>
                <a:spcPts val="2864"/>
              </a:lnSpc>
            </a:pPr>
            <a:r>
              <a:rPr lang="en-US" sz="2386" b="true">
                <a:solidFill>
                  <a:srgbClr val="000000"/>
                </a:solidFill>
                <a:latin typeface="Arial Bold"/>
                <a:ea typeface="Arial Bold"/>
                <a:cs typeface="Arial Bold"/>
                <a:sym typeface="Arial Bold"/>
              </a:rPr>
              <a:t>Những người tham gia cùng nhau tham gia bầu chọn người lãnh đạo. Chỉ người lãnh đạo được bầu mới được phép thêm một khối giao dịch đã xác thực.</a:t>
            </a:r>
          </a:p>
          <a:p>
            <a:pPr algn="l">
              <a:lnSpc>
                <a:spcPts val="2864"/>
              </a:lnSpc>
            </a:pPr>
          </a:p>
          <a:p>
            <a:pPr algn="l">
              <a:lnSpc>
                <a:spcPts val="2864"/>
              </a:lnSpc>
              <a:spcBef>
                <a:spcPct val="0"/>
              </a:spcBef>
            </a:pPr>
          </a:p>
        </p:txBody>
      </p:sp>
    </p:spTree>
  </p:cSld>
  <p:clrMapOvr>
    <a:masterClrMapping/>
  </p:clrMapOvr>
  <p:transition spd="fast">
    <p:fade/>
  </p:transition>
</p:sld>
</file>

<file path=ppt/slides/slide7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p:spPr>
        </p:sp>
      </p:grpSp>
      <p:grpSp>
        <p:nvGrpSpPr>
          <p:cNvPr name="Group 4" id="4"/>
          <p:cNvGrpSpPr/>
          <p:nvPr/>
        </p:nvGrpSpPr>
        <p:grpSpPr>
          <a:xfrm rot="0">
            <a:off x="0" y="0"/>
            <a:ext cx="9542679" cy="7158798"/>
            <a:chOff x="0" y="0"/>
            <a:chExt cx="13001550" cy="9753600"/>
          </a:xfrm>
        </p:grpSpPr>
        <p:sp>
          <p:nvSpPr>
            <p:cNvPr name="Freeform 5" id="5"/>
            <p:cNvSpPr/>
            <p:nvPr/>
          </p:nvSpPr>
          <p:spPr>
            <a:xfrm flipH="false" flipV="false" rot="0">
              <a:off x="0" y="0"/>
              <a:ext cx="13001498" cy="9753600"/>
            </a:xfrm>
            <a:custGeom>
              <a:avLst/>
              <a:gdLst/>
              <a:ahLst/>
              <a:cxnLst/>
              <a:rect r="r" b="b" t="t" l="l"/>
              <a:pathLst>
                <a:path h="9753600" w="13001498">
                  <a:moveTo>
                    <a:pt x="0" y="0"/>
                  </a:moveTo>
                  <a:lnTo>
                    <a:pt x="13001498" y="0"/>
                  </a:lnTo>
                  <a:lnTo>
                    <a:pt x="13001498" y="9753600"/>
                  </a:lnTo>
                  <a:lnTo>
                    <a:pt x="0" y="9753600"/>
                  </a:lnTo>
                  <a:close/>
                </a:path>
              </a:pathLst>
            </a:custGeom>
            <a:solidFill>
              <a:srgbClr val="FFFFFF"/>
            </a:solidFill>
          </p:spPr>
        </p:sp>
      </p:grpSp>
      <p:grpSp>
        <p:nvGrpSpPr>
          <p:cNvPr name="Group 6" id="6"/>
          <p:cNvGrpSpPr/>
          <p:nvPr/>
        </p:nvGrpSpPr>
        <p:grpSpPr>
          <a:xfrm rot="5400000">
            <a:off x="-2042467" y="2042466"/>
            <a:ext cx="7315200" cy="3230269"/>
            <a:chOff x="0" y="0"/>
            <a:chExt cx="9753600" cy="4307025"/>
          </a:xfrm>
        </p:grpSpPr>
        <p:sp>
          <p:nvSpPr>
            <p:cNvPr name="Freeform 7" id="7"/>
            <p:cNvSpPr/>
            <p:nvPr/>
          </p:nvSpPr>
          <p:spPr>
            <a:xfrm flipH="false" flipV="false" rot="0">
              <a:off x="0" y="0"/>
              <a:ext cx="9753600" cy="4307078"/>
            </a:xfrm>
            <a:custGeom>
              <a:avLst/>
              <a:gdLst/>
              <a:ahLst/>
              <a:cxnLst/>
              <a:rect r="r" b="b" t="t" l="l"/>
              <a:pathLst>
                <a:path h="4307078" w="9753600">
                  <a:moveTo>
                    <a:pt x="9753600" y="0"/>
                  </a:moveTo>
                  <a:lnTo>
                    <a:pt x="0" y="0"/>
                  </a:lnTo>
                  <a:lnTo>
                    <a:pt x="0" y="4307078"/>
                  </a:lnTo>
                  <a:lnTo>
                    <a:pt x="9753600" y="4307078"/>
                  </a:lnTo>
                  <a:close/>
                </a:path>
              </a:pathLst>
            </a:custGeom>
            <a:gradFill rotWithShape="true">
              <a:gsLst>
                <a:gs pos="0">
                  <a:srgbClr val="000000">
                    <a:alpha val="100000"/>
                  </a:srgbClr>
                </a:gs>
                <a:gs pos="8000">
                  <a:srgbClr val="000000">
                    <a:alpha val="100000"/>
                  </a:srgbClr>
                </a:gs>
                <a:gs pos="100000">
                  <a:srgbClr val="366092">
                    <a:alpha val="100000"/>
                  </a:srgbClr>
                </a:gs>
              </a:gsLst>
              <a:lin ang="19200000"/>
            </a:gradFill>
          </p:spPr>
        </p:sp>
      </p:grpSp>
      <p:grpSp>
        <p:nvGrpSpPr>
          <p:cNvPr name="Group 8" id="8"/>
          <p:cNvGrpSpPr/>
          <p:nvPr/>
        </p:nvGrpSpPr>
        <p:grpSpPr>
          <a:xfrm rot="5400000">
            <a:off x="-2042468" y="2053279"/>
            <a:ext cx="7315199" cy="3230271"/>
            <a:chOff x="0" y="0"/>
            <a:chExt cx="9753599" cy="4307028"/>
          </a:xfrm>
        </p:grpSpPr>
        <p:sp>
          <p:nvSpPr>
            <p:cNvPr name="Freeform 9" id="9"/>
            <p:cNvSpPr/>
            <p:nvPr/>
          </p:nvSpPr>
          <p:spPr>
            <a:xfrm flipH="false" flipV="false" rot="0">
              <a:off x="0" y="0"/>
              <a:ext cx="9753600" cy="4307078"/>
            </a:xfrm>
            <a:custGeom>
              <a:avLst/>
              <a:gdLst/>
              <a:ahLst/>
              <a:cxnLst/>
              <a:rect r="r" b="b" t="t" l="l"/>
              <a:pathLst>
                <a:path h="4307078" w="9753600">
                  <a:moveTo>
                    <a:pt x="9753600" y="0"/>
                  </a:moveTo>
                  <a:lnTo>
                    <a:pt x="0" y="0"/>
                  </a:lnTo>
                  <a:lnTo>
                    <a:pt x="0" y="4307078"/>
                  </a:lnTo>
                  <a:lnTo>
                    <a:pt x="9753600" y="4307078"/>
                  </a:lnTo>
                  <a:close/>
                </a:path>
              </a:pathLst>
            </a:custGeom>
            <a:gradFill rotWithShape="true">
              <a:gsLst>
                <a:gs pos="0">
                  <a:srgbClr val="000000">
                    <a:alpha val="0"/>
                  </a:srgbClr>
                </a:gs>
                <a:gs pos="99000">
                  <a:srgbClr val="4F81BD">
                    <a:alpha val="45882"/>
                  </a:srgbClr>
                </a:gs>
                <a:gs pos="100000">
                  <a:srgbClr val="4F81BD">
                    <a:alpha val="45882"/>
                  </a:srgbClr>
                </a:gs>
              </a:gsLst>
              <a:lin ang="18000000"/>
            </a:gradFill>
          </p:spPr>
        </p:sp>
      </p:grpSp>
      <p:grpSp>
        <p:nvGrpSpPr>
          <p:cNvPr name="Group 10" id="10"/>
          <p:cNvGrpSpPr/>
          <p:nvPr/>
        </p:nvGrpSpPr>
        <p:grpSpPr>
          <a:xfrm rot="5400000">
            <a:off x="280742" y="4365670"/>
            <a:ext cx="2668778" cy="3230273"/>
            <a:chOff x="0" y="0"/>
            <a:chExt cx="3558370" cy="4307031"/>
          </a:xfrm>
        </p:grpSpPr>
        <p:sp>
          <p:nvSpPr>
            <p:cNvPr name="Freeform 11" id="11"/>
            <p:cNvSpPr/>
            <p:nvPr/>
          </p:nvSpPr>
          <p:spPr>
            <a:xfrm flipH="false" flipV="false" rot="0">
              <a:off x="0" y="0"/>
              <a:ext cx="3558413" cy="4307078"/>
            </a:xfrm>
            <a:custGeom>
              <a:avLst/>
              <a:gdLst/>
              <a:ahLst/>
              <a:cxnLst/>
              <a:rect r="r" b="b" t="t" l="l"/>
              <a:pathLst>
                <a:path h="4307078" w="3558413">
                  <a:moveTo>
                    <a:pt x="3558413" y="0"/>
                  </a:moveTo>
                  <a:lnTo>
                    <a:pt x="0" y="0"/>
                  </a:lnTo>
                  <a:lnTo>
                    <a:pt x="0" y="4307078"/>
                  </a:lnTo>
                  <a:lnTo>
                    <a:pt x="3558413" y="4307078"/>
                  </a:lnTo>
                  <a:close/>
                </a:path>
              </a:pathLst>
            </a:custGeom>
            <a:gradFill rotWithShape="true">
              <a:gsLst>
                <a:gs pos="0">
                  <a:srgbClr val="4F81BD">
                    <a:alpha val="28627"/>
                  </a:srgbClr>
                </a:gs>
                <a:gs pos="2000">
                  <a:srgbClr val="4F81BD">
                    <a:alpha val="28627"/>
                  </a:srgbClr>
                </a:gs>
                <a:gs pos="100000">
                  <a:srgbClr val="000000">
                    <a:alpha val="29803"/>
                  </a:srgbClr>
                </a:gs>
              </a:gsLst>
              <a:lin ang="2400000"/>
            </a:gradFill>
          </p:spPr>
        </p:sp>
      </p:grpSp>
      <p:grpSp>
        <p:nvGrpSpPr>
          <p:cNvPr name="Group 12" id="12"/>
          <p:cNvGrpSpPr/>
          <p:nvPr/>
        </p:nvGrpSpPr>
        <p:grpSpPr>
          <a:xfrm rot="-964587">
            <a:off x="-401389" y="1034366"/>
            <a:ext cx="3120285" cy="4457556"/>
            <a:chOff x="0" y="0"/>
            <a:chExt cx="4160380" cy="5943408"/>
          </a:xfrm>
        </p:grpSpPr>
        <p:sp>
          <p:nvSpPr>
            <p:cNvPr name="Freeform 13" id="13"/>
            <p:cNvSpPr/>
            <p:nvPr/>
          </p:nvSpPr>
          <p:spPr>
            <a:xfrm flipH="false" flipV="false" rot="0">
              <a:off x="0" y="0"/>
              <a:ext cx="4160393" cy="5943346"/>
            </a:xfrm>
            <a:custGeom>
              <a:avLst/>
              <a:gdLst/>
              <a:ahLst/>
              <a:cxnLst/>
              <a:rect r="r" b="b" t="t" l="l"/>
              <a:pathLst>
                <a:path h="5943346" w="4160393">
                  <a:moveTo>
                    <a:pt x="2594356" y="133604"/>
                  </a:moveTo>
                  <a:cubicBezTo>
                    <a:pt x="3501644" y="509905"/>
                    <a:pt x="4160393" y="1638173"/>
                    <a:pt x="4160393" y="2971673"/>
                  </a:cubicBezTo>
                  <a:cubicBezTo>
                    <a:pt x="4160393" y="4612894"/>
                    <a:pt x="3162554" y="5943346"/>
                    <a:pt x="1931670" y="5943346"/>
                  </a:cubicBezTo>
                  <a:cubicBezTo>
                    <a:pt x="1162304" y="5943346"/>
                    <a:pt x="484124" y="5423662"/>
                    <a:pt x="83566" y="4633087"/>
                  </a:cubicBezTo>
                  <a:lnTo>
                    <a:pt x="0" y="4450080"/>
                  </a:lnTo>
                  <a:lnTo>
                    <a:pt x="886714" y="347472"/>
                  </a:lnTo>
                  <a:lnTo>
                    <a:pt x="1064006" y="233553"/>
                  </a:lnTo>
                  <a:cubicBezTo>
                    <a:pt x="1330706" y="83185"/>
                    <a:pt x="1623822" y="0"/>
                    <a:pt x="1931543" y="0"/>
                  </a:cubicBezTo>
                  <a:cubicBezTo>
                    <a:pt x="2162302" y="0"/>
                    <a:pt x="2384933" y="46736"/>
                    <a:pt x="2594356" y="133604"/>
                  </a:cubicBezTo>
                  <a:close/>
                </a:path>
              </a:pathLst>
            </a:custGeom>
            <a:gradFill rotWithShape="true">
              <a:gsLst>
                <a:gs pos="0">
                  <a:srgbClr val="000000">
                    <a:alpha val="0"/>
                  </a:srgbClr>
                </a:gs>
                <a:gs pos="29000">
                  <a:srgbClr val="000000">
                    <a:alpha val="0"/>
                  </a:srgbClr>
                </a:gs>
                <a:gs pos="100000">
                  <a:srgbClr val="4F81BD">
                    <a:alpha val="42745"/>
                  </a:srgbClr>
                </a:gs>
              </a:gsLst>
              <a:lin ang="2764587"/>
            </a:gradFill>
          </p:spPr>
        </p:sp>
      </p:grpSp>
      <p:grpSp>
        <p:nvGrpSpPr>
          <p:cNvPr name="Group 14" id="14"/>
          <p:cNvGrpSpPr/>
          <p:nvPr/>
        </p:nvGrpSpPr>
        <p:grpSpPr>
          <a:xfrm rot="5400000">
            <a:off x="-2042475" y="2031650"/>
            <a:ext cx="7315203" cy="3230268"/>
            <a:chOff x="0" y="0"/>
            <a:chExt cx="9753604" cy="4307024"/>
          </a:xfrm>
        </p:grpSpPr>
        <p:sp>
          <p:nvSpPr>
            <p:cNvPr name="Freeform 15" id="15"/>
            <p:cNvSpPr/>
            <p:nvPr/>
          </p:nvSpPr>
          <p:spPr>
            <a:xfrm flipH="false" flipV="false" rot="0">
              <a:off x="0" y="0"/>
              <a:ext cx="9753600" cy="4307078"/>
            </a:xfrm>
            <a:custGeom>
              <a:avLst/>
              <a:gdLst/>
              <a:ahLst/>
              <a:cxnLst/>
              <a:rect r="r" b="b" t="t" l="l"/>
              <a:pathLst>
                <a:path h="4307078" w="9753600">
                  <a:moveTo>
                    <a:pt x="9753600" y="0"/>
                  </a:moveTo>
                  <a:lnTo>
                    <a:pt x="0" y="0"/>
                  </a:lnTo>
                  <a:lnTo>
                    <a:pt x="0" y="4307078"/>
                  </a:lnTo>
                  <a:lnTo>
                    <a:pt x="9753600" y="4307078"/>
                  </a:lnTo>
                  <a:close/>
                </a:path>
              </a:pathLst>
            </a:custGeom>
            <a:gradFill rotWithShape="true">
              <a:gsLst>
                <a:gs pos="0">
                  <a:srgbClr val="000000">
                    <a:alpha val="0"/>
                  </a:srgbClr>
                </a:gs>
                <a:gs pos="99000">
                  <a:srgbClr val="93B3D7">
                    <a:alpha val="10980"/>
                  </a:srgbClr>
                </a:gs>
                <a:gs pos="100000">
                  <a:srgbClr val="93B3D7">
                    <a:alpha val="10980"/>
                  </a:srgbClr>
                </a:gs>
              </a:gsLst>
              <a:lin ang="1800000"/>
            </a:gradFill>
          </p:spPr>
        </p:sp>
      </p:grpSp>
      <p:grpSp>
        <p:nvGrpSpPr>
          <p:cNvPr name="Group 16" id="16"/>
          <p:cNvGrpSpPr/>
          <p:nvPr/>
        </p:nvGrpSpPr>
        <p:grpSpPr>
          <a:xfrm rot="0">
            <a:off x="373378" y="625981"/>
            <a:ext cx="2561093" cy="3613330"/>
            <a:chOff x="0" y="0"/>
            <a:chExt cx="3414791" cy="4817774"/>
          </a:xfrm>
        </p:grpSpPr>
        <p:sp>
          <p:nvSpPr>
            <p:cNvPr name="Freeform 17" id="17"/>
            <p:cNvSpPr/>
            <p:nvPr/>
          </p:nvSpPr>
          <p:spPr>
            <a:xfrm flipH="false" flipV="false" rot="0">
              <a:off x="0" y="0"/>
              <a:ext cx="3414791" cy="4817773"/>
            </a:xfrm>
            <a:custGeom>
              <a:avLst/>
              <a:gdLst/>
              <a:ahLst/>
              <a:cxnLst/>
              <a:rect r="r" b="b" t="t" l="l"/>
              <a:pathLst>
                <a:path h="4817773" w="3414791">
                  <a:moveTo>
                    <a:pt x="0" y="0"/>
                  </a:moveTo>
                  <a:lnTo>
                    <a:pt x="3414791" y="0"/>
                  </a:lnTo>
                  <a:lnTo>
                    <a:pt x="3414791" y="4817773"/>
                  </a:lnTo>
                  <a:lnTo>
                    <a:pt x="0" y="4817773"/>
                  </a:lnTo>
                  <a:close/>
                </a:path>
              </a:pathLst>
            </a:custGeom>
            <a:solidFill>
              <a:srgbClr val="000000">
                <a:alpha val="0"/>
              </a:srgbClr>
            </a:solidFill>
          </p:spPr>
        </p:sp>
        <p:sp>
          <p:nvSpPr>
            <p:cNvPr name="TextBox 18" id="18"/>
            <p:cNvSpPr txBox="true"/>
            <p:nvPr/>
          </p:nvSpPr>
          <p:spPr>
            <a:xfrm>
              <a:off x="0" y="-66675"/>
              <a:ext cx="3414791" cy="4884449"/>
            </a:xfrm>
            <a:prstGeom prst="rect">
              <a:avLst/>
            </a:prstGeom>
          </p:spPr>
          <p:txBody>
            <a:bodyPr anchor="b" rtlCol="false" tIns="0" lIns="0" bIns="0" rIns="0"/>
            <a:lstStyle/>
            <a:p>
              <a:pPr algn="r">
                <a:lnSpc>
                  <a:spcPts val="4479"/>
                </a:lnSpc>
              </a:pPr>
              <a:r>
                <a:rPr lang="en-US" sz="3733" b="true">
                  <a:solidFill>
                    <a:srgbClr val="FFFFFF"/>
                  </a:solidFill>
                  <a:latin typeface="Arial Bold"/>
                  <a:ea typeface="Arial Bold"/>
                  <a:cs typeface="Arial Bold"/>
                  <a:sym typeface="Arial Bold"/>
                </a:rPr>
                <a:t>CẢM ƠN MỌI NGƯỜI ĐÃ LẮNG NGHE!!!</a:t>
              </a:r>
            </a:p>
          </p:txBody>
        </p:sp>
      </p:grpSp>
      <p:grpSp>
        <p:nvGrpSpPr>
          <p:cNvPr name="Group 19" id="19"/>
          <p:cNvGrpSpPr/>
          <p:nvPr/>
        </p:nvGrpSpPr>
        <p:grpSpPr>
          <a:xfrm rot="0">
            <a:off x="3848207" y="692781"/>
            <a:ext cx="5244278" cy="5915783"/>
            <a:chOff x="0" y="0"/>
            <a:chExt cx="6992371" cy="7887711"/>
          </a:xfrm>
        </p:grpSpPr>
        <p:sp>
          <p:nvSpPr>
            <p:cNvPr name="Freeform 20" id="20"/>
            <p:cNvSpPr/>
            <p:nvPr/>
          </p:nvSpPr>
          <p:spPr>
            <a:xfrm flipH="false" flipV="false" rot="0">
              <a:off x="0" y="0"/>
              <a:ext cx="6992371" cy="7887712"/>
            </a:xfrm>
            <a:custGeom>
              <a:avLst/>
              <a:gdLst/>
              <a:ahLst/>
              <a:cxnLst/>
              <a:rect r="r" b="b" t="t" l="l"/>
              <a:pathLst>
                <a:path h="7887712" w="6992371">
                  <a:moveTo>
                    <a:pt x="0" y="0"/>
                  </a:moveTo>
                  <a:lnTo>
                    <a:pt x="6992371" y="0"/>
                  </a:lnTo>
                  <a:lnTo>
                    <a:pt x="6992371" y="7887712"/>
                  </a:lnTo>
                  <a:lnTo>
                    <a:pt x="0" y="7887712"/>
                  </a:lnTo>
                  <a:close/>
                </a:path>
              </a:pathLst>
            </a:custGeom>
            <a:solidFill>
              <a:srgbClr val="000000">
                <a:alpha val="0"/>
              </a:srgbClr>
            </a:solidFill>
          </p:spPr>
        </p:sp>
        <p:sp>
          <p:nvSpPr>
            <p:cNvPr name="TextBox 21" id="21"/>
            <p:cNvSpPr txBox="true"/>
            <p:nvPr/>
          </p:nvSpPr>
          <p:spPr>
            <a:xfrm>
              <a:off x="0" y="-47625"/>
              <a:ext cx="6992371" cy="7935336"/>
            </a:xfrm>
            <a:prstGeom prst="rect">
              <a:avLst/>
            </a:prstGeom>
          </p:spPr>
          <p:txBody>
            <a:bodyPr anchor="ctr" rtlCol="false" tIns="0" lIns="0" bIns="0" rIns="0"/>
            <a:lstStyle/>
            <a:p>
              <a:pPr algn="ctr">
                <a:lnSpc>
                  <a:spcPts val="2560"/>
                </a:lnSpc>
              </a:pPr>
              <a:r>
                <a:rPr lang="en-US" sz="2133" b="true">
                  <a:solidFill>
                    <a:srgbClr val="FF0000"/>
                  </a:solidFill>
                  <a:latin typeface="Arial Bold"/>
                  <a:ea typeface="Arial Bold"/>
                  <a:cs typeface="Arial Bold"/>
                  <a:sym typeface="Arial Bold"/>
                </a:rPr>
                <a:t>THANKS FOR WATCHING AND LISTENNING!!!!</a:t>
              </a:r>
            </a:p>
            <a:p>
              <a:pPr algn="l">
                <a:lnSpc>
                  <a:spcPts val="2560"/>
                </a:lnSpc>
              </a:pPr>
            </a:p>
          </p:txBody>
        </p:sp>
      </p:grpSp>
      <p:grpSp>
        <p:nvGrpSpPr>
          <p:cNvPr name="Group 22" id="22"/>
          <p:cNvGrpSpPr/>
          <p:nvPr/>
        </p:nvGrpSpPr>
        <p:grpSpPr>
          <a:xfrm rot="0">
            <a:off x="6990080" y="6780108"/>
            <a:ext cx="2275840" cy="367436"/>
            <a:chOff x="0" y="0"/>
            <a:chExt cx="3034453" cy="489915"/>
          </a:xfrm>
        </p:grpSpPr>
        <p:sp>
          <p:nvSpPr>
            <p:cNvPr name="Freeform 23" id="23"/>
            <p:cNvSpPr/>
            <p:nvPr/>
          </p:nvSpPr>
          <p:spPr>
            <a:xfrm flipH="false" flipV="false" rot="0">
              <a:off x="0" y="0"/>
              <a:ext cx="3034453" cy="489915"/>
            </a:xfrm>
            <a:custGeom>
              <a:avLst/>
              <a:gdLst/>
              <a:ahLst/>
              <a:cxnLst/>
              <a:rect r="r" b="b" t="t" l="l"/>
              <a:pathLst>
                <a:path h="489915" w="3034453">
                  <a:moveTo>
                    <a:pt x="0" y="0"/>
                  </a:moveTo>
                  <a:lnTo>
                    <a:pt x="3034453" y="0"/>
                  </a:lnTo>
                  <a:lnTo>
                    <a:pt x="3034453" y="489915"/>
                  </a:lnTo>
                  <a:lnTo>
                    <a:pt x="0" y="489915"/>
                  </a:lnTo>
                  <a:close/>
                </a:path>
              </a:pathLst>
            </a:custGeom>
            <a:solidFill>
              <a:srgbClr val="000000">
                <a:alpha val="0"/>
              </a:srgbClr>
            </a:solidFill>
          </p:spPr>
        </p:sp>
        <p:sp>
          <p:nvSpPr>
            <p:cNvPr name="TextBox 24" id="24"/>
            <p:cNvSpPr txBox="true"/>
            <p:nvPr/>
          </p:nvSpPr>
          <p:spPr>
            <a:xfrm>
              <a:off x="0" y="-47625"/>
              <a:ext cx="3034453" cy="537540"/>
            </a:xfrm>
            <a:prstGeom prst="rect">
              <a:avLst/>
            </a:prstGeom>
          </p:spPr>
          <p:txBody>
            <a:bodyPr anchor="ctr" rtlCol="false" tIns="0" lIns="0" bIns="0" rIns="0"/>
            <a:lstStyle/>
            <a:p>
              <a:pPr algn="r">
                <a:lnSpc>
                  <a:spcPts val="2304"/>
                </a:lnSpc>
              </a:pPr>
              <a:r>
                <a:rPr lang="en-US" sz="1920">
                  <a:solidFill>
                    <a:srgbClr val="0000FF"/>
                  </a:solidFill>
                  <a:latin typeface="Times New Roman"/>
                  <a:ea typeface="Times New Roman"/>
                  <a:cs typeface="Times New Roman"/>
                  <a:sym typeface="Times New Roman"/>
                </a:rPr>
                <a:t>70</a:t>
              </a: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DAGexr6Xuvc</dc:identifier>
  <dcterms:modified xsi:type="dcterms:W3CDTF">2011-08-01T06:04:30Z</dcterms:modified>
  <cp:revision>1</cp:revision>
  <dc:title>PP_main.pptx</dc:title>
</cp:coreProperties>
</file>