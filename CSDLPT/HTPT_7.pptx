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305" r:id="rId3"/>
    <p:sldId id="306" r:id="rId4"/>
    <p:sldId id="307" r:id="rId5"/>
    <p:sldId id="308" r:id="rId6"/>
    <p:sldId id="309" r:id="rId7"/>
    <p:sldId id="310" r:id="rId8"/>
    <p:sldId id="311" r:id="rId9"/>
    <p:sldId id="312" r:id="rId10"/>
    <p:sldId id="313" r:id="rId11"/>
    <p:sldId id="314" r:id="rId12"/>
    <p:sldId id="315" r:id="rId13"/>
    <p:sldId id="316" r:id="rId14"/>
    <p:sldId id="317" r:id="rId15"/>
    <p:sldId id="318" r:id="rId16"/>
    <p:sldId id="258" r:id="rId17"/>
    <p:sldId id="259" r:id="rId18"/>
    <p:sldId id="260" r:id="rId19"/>
    <p:sldId id="261" r:id="rId20"/>
    <p:sldId id="262" r:id="rId21"/>
    <p:sldId id="263" r:id="rId22"/>
    <p:sldId id="264" r:id="rId23"/>
    <p:sldId id="265" r:id="rId24"/>
    <p:sldId id="266"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Lst>
  <p:sldSz cx="9753600" cy="7315200"/>
  <p:notesSz cx="6858000" cy="9144000"/>
  <p:embeddedFontLst>
    <p:embeddedFont>
      <p:font typeface="Arial" panose="020B0604020202020204" pitchFamily="34" charset="0"/>
      <p:regular r:id="rId60"/>
    </p:embeddedFont>
    <p:embeddedFont>
      <p:font typeface="Arial Bold" panose="020B0704020202020204" pitchFamily="34" charset="0"/>
      <p:regular r:id="rId61"/>
      <p:bold r:id="rId62"/>
    </p:embeddedFont>
    <p:embeddedFont>
      <p:font typeface="Calibri" panose="020F0502020204030204" pitchFamily="34" charset="0"/>
      <p:regular r:id="rId63"/>
      <p:bold r:id="rId64"/>
      <p:italic r:id="rId65"/>
      <p:boldItalic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6" d="100"/>
          <a:sy n="76" d="100"/>
        </p:scale>
        <p:origin x="149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4.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grpSp>
        <p:nvGrpSpPr>
          <p:cNvPr id="4" name="Group 4"/>
          <p:cNvGrpSpPr/>
          <p:nvPr/>
        </p:nvGrpSpPr>
        <p:grpSpPr>
          <a:xfrm>
            <a:off x="1556053" y="347678"/>
            <a:ext cx="6374674" cy="581474"/>
            <a:chOff x="0" y="0"/>
            <a:chExt cx="8499566" cy="775298"/>
          </a:xfrm>
        </p:grpSpPr>
        <p:sp>
          <p:nvSpPr>
            <p:cNvPr id="5" name="Freeform 5"/>
            <p:cNvSpPr/>
            <p:nvPr/>
          </p:nvSpPr>
          <p:spPr>
            <a:xfrm>
              <a:off x="0" y="0"/>
              <a:ext cx="8499566" cy="775298"/>
            </a:xfrm>
            <a:custGeom>
              <a:avLst/>
              <a:gdLst/>
              <a:ahLst/>
              <a:cxnLst/>
              <a:rect l="l" t="t" r="r" b="b"/>
              <a:pathLst>
                <a:path w="8499566" h="775298">
                  <a:moveTo>
                    <a:pt x="0" y="0"/>
                  </a:moveTo>
                  <a:lnTo>
                    <a:pt x="8499566" y="0"/>
                  </a:lnTo>
                  <a:lnTo>
                    <a:pt x="8499566" y="775298"/>
                  </a:lnTo>
                  <a:lnTo>
                    <a:pt x="0" y="775298"/>
                  </a:lnTo>
                  <a:close/>
                </a:path>
              </a:pathLst>
            </a:custGeom>
            <a:solidFill>
              <a:srgbClr val="000000">
                <a:alpha val="0"/>
              </a:srgbClr>
            </a:solidFill>
          </p:spPr>
        </p:sp>
        <p:sp>
          <p:nvSpPr>
            <p:cNvPr id="6" name="TextBox 6"/>
            <p:cNvSpPr txBox="1"/>
            <p:nvPr/>
          </p:nvSpPr>
          <p:spPr>
            <a:xfrm>
              <a:off x="0" y="-66675"/>
              <a:ext cx="8499566" cy="841973"/>
            </a:xfrm>
            <a:prstGeom prst="rect">
              <a:avLst/>
            </a:prstGeom>
          </p:spPr>
          <p:txBody>
            <a:bodyPr lIns="0" tIns="0" rIns="0" bIns="0" rtlCol="0" anchor="t"/>
            <a:lstStyle/>
            <a:p>
              <a:pPr algn="ctr">
                <a:lnSpc>
                  <a:spcPts val="3824"/>
                </a:lnSpc>
              </a:pPr>
              <a:r>
                <a:rPr lang="en-US" sz="3186" b="1">
                  <a:solidFill>
                    <a:srgbClr val="FFFF00"/>
                  </a:solidFill>
                  <a:latin typeface="Arial Bold"/>
                  <a:ea typeface="Arial Bold"/>
                  <a:cs typeface="Arial Bold"/>
                  <a:sym typeface="Arial Bold"/>
                </a:rPr>
                <a:t>CƠ SỞ DỮ LIỆU PHÂN TÁN</a:t>
              </a:r>
            </a:p>
          </p:txBody>
        </p:sp>
      </p:grpSp>
      <p:grpSp>
        <p:nvGrpSpPr>
          <p:cNvPr id="7" name="Group 7"/>
          <p:cNvGrpSpPr/>
          <p:nvPr/>
        </p:nvGrpSpPr>
        <p:grpSpPr>
          <a:xfrm>
            <a:off x="6990080" y="6780108"/>
            <a:ext cx="2275840" cy="389467"/>
            <a:chOff x="0" y="0"/>
            <a:chExt cx="3034453" cy="519289"/>
          </a:xfrm>
        </p:grpSpPr>
        <p:sp>
          <p:nvSpPr>
            <p:cNvPr id="8" name="Freeform 8"/>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9" name="TextBox 9"/>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1</a:t>
              </a:r>
            </a:p>
          </p:txBody>
        </p:sp>
      </p:grpSp>
      <p:grpSp>
        <p:nvGrpSpPr>
          <p:cNvPr id="10" name="Group 10"/>
          <p:cNvGrpSpPr/>
          <p:nvPr/>
        </p:nvGrpSpPr>
        <p:grpSpPr>
          <a:xfrm>
            <a:off x="220041" y="1721210"/>
            <a:ext cx="9313517" cy="725980"/>
            <a:chOff x="0" y="0"/>
            <a:chExt cx="12418023" cy="967973"/>
          </a:xfrm>
        </p:grpSpPr>
        <p:sp>
          <p:nvSpPr>
            <p:cNvPr id="11" name="Freeform 11"/>
            <p:cNvSpPr/>
            <p:nvPr/>
          </p:nvSpPr>
          <p:spPr>
            <a:xfrm>
              <a:off x="0" y="0"/>
              <a:ext cx="12418023" cy="967973"/>
            </a:xfrm>
            <a:custGeom>
              <a:avLst/>
              <a:gdLst/>
              <a:ahLst/>
              <a:cxnLst/>
              <a:rect l="l" t="t" r="r" b="b"/>
              <a:pathLst>
                <a:path w="12418023" h="967973">
                  <a:moveTo>
                    <a:pt x="0" y="0"/>
                  </a:moveTo>
                  <a:lnTo>
                    <a:pt x="12418023" y="0"/>
                  </a:lnTo>
                  <a:lnTo>
                    <a:pt x="12418023" y="967973"/>
                  </a:lnTo>
                  <a:lnTo>
                    <a:pt x="0" y="967973"/>
                  </a:lnTo>
                  <a:close/>
                </a:path>
              </a:pathLst>
            </a:custGeom>
            <a:solidFill>
              <a:srgbClr val="000000">
                <a:alpha val="0"/>
              </a:srgbClr>
            </a:solidFill>
          </p:spPr>
        </p:sp>
        <p:sp>
          <p:nvSpPr>
            <p:cNvPr id="12" name="TextBox 12"/>
            <p:cNvSpPr txBox="1"/>
            <p:nvPr/>
          </p:nvSpPr>
          <p:spPr>
            <a:xfrm>
              <a:off x="0" y="-85725"/>
              <a:ext cx="12418023" cy="1053698"/>
            </a:xfrm>
            <a:prstGeom prst="rect">
              <a:avLst/>
            </a:prstGeom>
          </p:spPr>
          <p:txBody>
            <a:bodyPr lIns="0" tIns="0" rIns="0" bIns="0" rtlCol="0" anchor="t"/>
            <a:lstStyle/>
            <a:p>
              <a:pPr algn="l">
                <a:lnSpc>
                  <a:spcPts val="4608"/>
                </a:lnSpc>
              </a:pPr>
              <a:r>
                <a:rPr lang="en-US" sz="3840" b="1">
                  <a:solidFill>
                    <a:srgbClr val="000000"/>
                  </a:solidFill>
                  <a:latin typeface="Arial Bold"/>
                  <a:ea typeface="Arial Bold"/>
                  <a:cs typeface="Arial Bold"/>
                  <a:sym typeface="Arial Bold"/>
                </a:rPr>
                <a:t>Chương 7: Consistency and replication </a:t>
              </a:r>
            </a:p>
          </p:txBody>
        </p:sp>
      </p:grpSp>
      <p:grpSp>
        <p:nvGrpSpPr>
          <p:cNvPr id="13" name="Group 13"/>
          <p:cNvGrpSpPr/>
          <p:nvPr/>
        </p:nvGrpSpPr>
        <p:grpSpPr>
          <a:xfrm>
            <a:off x="1952785" y="2831246"/>
            <a:ext cx="5581210" cy="442256"/>
            <a:chOff x="0" y="0"/>
            <a:chExt cx="7441614" cy="589674"/>
          </a:xfrm>
        </p:grpSpPr>
        <p:sp>
          <p:nvSpPr>
            <p:cNvPr id="14" name="Freeform 14"/>
            <p:cNvSpPr/>
            <p:nvPr/>
          </p:nvSpPr>
          <p:spPr>
            <a:xfrm>
              <a:off x="0" y="0"/>
              <a:ext cx="7441614" cy="589674"/>
            </a:xfrm>
            <a:custGeom>
              <a:avLst/>
              <a:gdLst/>
              <a:ahLst/>
              <a:cxnLst/>
              <a:rect l="l" t="t" r="r" b="b"/>
              <a:pathLst>
                <a:path w="7441614" h="589674">
                  <a:moveTo>
                    <a:pt x="0" y="0"/>
                  </a:moveTo>
                  <a:lnTo>
                    <a:pt x="7441614" y="0"/>
                  </a:lnTo>
                  <a:lnTo>
                    <a:pt x="7441614" y="589674"/>
                  </a:lnTo>
                  <a:lnTo>
                    <a:pt x="0" y="589674"/>
                  </a:lnTo>
                  <a:close/>
                </a:path>
              </a:pathLst>
            </a:custGeom>
            <a:solidFill>
              <a:srgbClr val="000000">
                <a:alpha val="0"/>
              </a:srgbClr>
            </a:solidFill>
          </p:spPr>
        </p:sp>
        <p:sp>
          <p:nvSpPr>
            <p:cNvPr id="15" name="TextBox 15"/>
            <p:cNvSpPr txBox="1"/>
            <p:nvPr/>
          </p:nvSpPr>
          <p:spPr>
            <a:xfrm>
              <a:off x="0" y="-57150"/>
              <a:ext cx="7441614" cy="646824"/>
            </a:xfrm>
            <a:prstGeom prst="rect">
              <a:avLst/>
            </a:prstGeom>
          </p:spPr>
          <p:txBody>
            <a:bodyPr lIns="0" tIns="0" rIns="0" bIns="0" rtlCol="0" anchor="t"/>
            <a:lstStyle/>
            <a:p>
              <a:pPr algn="l">
                <a:lnSpc>
                  <a:spcPts val="2919"/>
                </a:lnSpc>
              </a:pPr>
              <a:r>
                <a:rPr lang="en-US" sz="2433">
                  <a:solidFill>
                    <a:srgbClr val="000000"/>
                  </a:solidFill>
                  <a:latin typeface="Arial"/>
                  <a:ea typeface="Arial"/>
                  <a:cs typeface="Arial"/>
                  <a:sym typeface="Arial"/>
                </a:rPr>
                <a:t>Giảng viên hướng dẫn: Nguyễn Kim Sao  </a:t>
              </a:r>
            </a:p>
          </p:txBody>
        </p:sp>
      </p:grpSp>
      <p:grpSp>
        <p:nvGrpSpPr>
          <p:cNvPr id="16" name="Group 16"/>
          <p:cNvGrpSpPr/>
          <p:nvPr/>
        </p:nvGrpSpPr>
        <p:grpSpPr>
          <a:xfrm>
            <a:off x="1556053" y="3657600"/>
            <a:ext cx="2970341" cy="429074"/>
            <a:chOff x="0" y="0"/>
            <a:chExt cx="3960455" cy="572099"/>
          </a:xfrm>
        </p:grpSpPr>
        <p:sp>
          <p:nvSpPr>
            <p:cNvPr id="17" name="Freeform 17"/>
            <p:cNvSpPr/>
            <p:nvPr/>
          </p:nvSpPr>
          <p:spPr>
            <a:xfrm>
              <a:off x="0" y="0"/>
              <a:ext cx="3960455" cy="572099"/>
            </a:xfrm>
            <a:custGeom>
              <a:avLst/>
              <a:gdLst/>
              <a:ahLst/>
              <a:cxnLst/>
              <a:rect l="l" t="t" r="r" b="b"/>
              <a:pathLst>
                <a:path w="3960455" h="572099">
                  <a:moveTo>
                    <a:pt x="0" y="0"/>
                  </a:moveTo>
                  <a:lnTo>
                    <a:pt x="3960455" y="0"/>
                  </a:lnTo>
                  <a:lnTo>
                    <a:pt x="3960455" y="572099"/>
                  </a:lnTo>
                  <a:lnTo>
                    <a:pt x="0" y="572099"/>
                  </a:lnTo>
                  <a:close/>
                </a:path>
              </a:pathLst>
            </a:custGeom>
            <a:solidFill>
              <a:srgbClr val="000000">
                <a:alpha val="0"/>
              </a:srgbClr>
            </a:solidFill>
          </p:spPr>
        </p:sp>
        <p:sp>
          <p:nvSpPr>
            <p:cNvPr id="18" name="TextBox 18"/>
            <p:cNvSpPr txBox="1"/>
            <p:nvPr/>
          </p:nvSpPr>
          <p:spPr>
            <a:xfrm>
              <a:off x="0" y="-47625"/>
              <a:ext cx="3960455" cy="619724"/>
            </a:xfrm>
            <a:prstGeom prst="rect">
              <a:avLst/>
            </a:prstGeom>
          </p:spPr>
          <p:txBody>
            <a:bodyPr lIns="0" tIns="0" rIns="0" bIns="0" rtlCol="0" anchor="t"/>
            <a:lstStyle/>
            <a:p>
              <a:pPr algn="l">
                <a:lnSpc>
                  <a:spcPts val="2783"/>
                </a:lnSpc>
              </a:pPr>
              <a:r>
                <a:rPr lang="en-US" sz="2319" b="1">
                  <a:solidFill>
                    <a:srgbClr val="000000"/>
                  </a:solidFill>
                  <a:latin typeface="Arial Bold"/>
                  <a:ea typeface="Arial Bold"/>
                  <a:cs typeface="Arial Bold"/>
                  <a:sym typeface="Arial Bold"/>
                </a:rPr>
                <a:t>Thành viên nhóm 2</a:t>
              </a:r>
            </a:p>
          </p:txBody>
        </p:sp>
      </p:grpSp>
      <p:grpSp>
        <p:nvGrpSpPr>
          <p:cNvPr id="19" name="Group 19"/>
          <p:cNvGrpSpPr/>
          <p:nvPr/>
        </p:nvGrpSpPr>
        <p:grpSpPr>
          <a:xfrm>
            <a:off x="1556053" y="4184918"/>
            <a:ext cx="4398991" cy="1486478"/>
            <a:chOff x="0" y="0"/>
            <a:chExt cx="5865321" cy="1981970"/>
          </a:xfrm>
        </p:grpSpPr>
        <p:sp>
          <p:nvSpPr>
            <p:cNvPr id="20" name="Freeform 20"/>
            <p:cNvSpPr/>
            <p:nvPr/>
          </p:nvSpPr>
          <p:spPr>
            <a:xfrm>
              <a:off x="0" y="0"/>
              <a:ext cx="5865321" cy="1981970"/>
            </a:xfrm>
            <a:custGeom>
              <a:avLst/>
              <a:gdLst/>
              <a:ahLst/>
              <a:cxnLst/>
              <a:rect l="l" t="t" r="r" b="b"/>
              <a:pathLst>
                <a:path w="5865321" h="1981970">
                  <a:moveTo>
                    <a:pt x="0" y="0"/>
                  </a:moveTo>
                  <a:lnTo>
                    <a:pt x="5865321" y="0"/>
                  </a:lnTo>
                  <a:lnTo>
                    <a:pt x="5865321" y="1981970"/>
                  </a:lnTo>
                  <a:lnTo>
                    <a:pt x="0" y="1981970"/>
                  </a:lnTo>
                  <a:close/>
                </a:path>
              </a:pathLst>
            </a:custGeom>
            <a:solidFill>
              <a:srgbClr val="000000">
                <a:alpha val="0"/>
              </a:srgbClr>
            </a:solidFill>
          </p:spPr>
        </p:sp>
        <p:sp>
          <p:nvSpPr>
            <p:cNvPr id="21" name="TextBox 21"/>
            <p:cNvSpPr txBox="1"/>
            <p:nvPr/>
          </p:nvSpPr>
          <p:spPr>
            <a:xfrm>
              <a:off x="0" y="-47625"/>
              <a:ext cx="5865321" cy="2029595"/>
            </a:xfrm>
            <a:prstGeom prst="rect">
              <a:avLst/>
            </a:prstGeom>
          </p:spPr>
          <p:txBody>
            <a:bodyPr lIns="0" tIns="0" rIns="0" bIns="0" rtlCol="0" anchor="t"/>
            <a:lstStyle/>
            <a:p>
              <a:pPr algn="l">
                <a:lnSpc>
                  <a:spcPts val="2783"/>
                </a:lnSpc>
              </a:pPr>
              <a:r>
                <a:rPr lang="en-US" sz="2319">
                  <a:solidFill>
                    <a:srgbClr val="000000"/>
                  </a:solidFill>
                  <a:latin typeface="Arial"/>
                  <a:ea typeface="Arial"/>
                  <a:cs typeface="Arial"/>
                  <a:sym typeface="Arial"/>
                </a:rPr>
                <a:t>Chu Văn Dũng - 211210740 </a:t>
              </a:r>
            </a:p>
            <a:p>
              <a:pPr algn="l">
                <a:lnSpc>
                  <a:spcPts val="2783"/>
                </a:lnSpc>
              </a:pPr>
              <a:r>
                <a:rPr lang="en-US" sz="2319">
                  <a:solidFill>
                    <a:srgbClr val="000000"/>
                  </a:solidFill>
                  <a:latin typeface="Arial"/>
                  <a:ea typeface="Arial"/>
                  <a:cs typeface="Arial"/>
                  <a:sym typeface="Arial"/>
                </a:rPr>
                <a:t>Chu Thị Quyên - 211202203</a:t>
              </a:r>
            </a:p>
            <a:p>
              <a:pPr algn="l">
                <a:lnSpc>
                  <a:spcPts val="2783"/>
                </a:lnSpc>
              </a:pPr>
              <a:r>
                <a:rPr lang="en-US" sz="2319">
                  <a:solidFill>
                    <a:srgbClr val="000000"/>
                  </a:solidFill>
                  <a:latin typeface="Arial"/>
                  <a:ea typeface="Arial"/>
                  <a:cs typeface="Arial"/>
                  <a:sym typeface="Arial"/>
                </a:rPr>
                <a:t>Dương Xuân Bách - 211210614</a:t>
              </a:r>
            </a:p>
            <a:p>
              <a:pPr algn="l">
                <a:lnSpc>
                  <a:spcPts val="2783"/>
                </a:lnSpc>
              </a:pPr>
              <a:r>
                <a:rPr lang="en-US" sz="2319">
                  <a:solidFill>
                    <a:srgbClr val="000000"/>
                  </a:solidFill>
                  <a:latin typeface="Arial"/>
                  <a:ea typeface="Arial"/>
                  <a:cs typeface="Arial"/>
                  <a:sym typeface="Arial"/>
                </a:rPr>
                <a:t>Phạm Hải Nhi - 211203484</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a:solidFill>
                  <a:srgbClr val="FFFF00"/>
                </a:solidFill>
                <a:latin typeface="Arial Bold"/>
                <a:ea typeface="Arial Bold"/>
                <a:cs typeface="Arial Bold"/>
                <a:sym typeface="Arial Bold"/>
              </a:rPr>
              <a:t>Mô </a:t>
            </a:r>
            <a:r>
              <a:rPr lang="en-US" sz="3200" b="1" dirty="0" err="1">
                <a:solidFill>
                  <a:srgbClr val="FFFF00"/>
                </a:solidFill>
                <a:latin typeface="Arial Bold"/>
                <a:ea typeface="Arial Bold"/>
                <a:cs typeface="Arial Bold"/>
                <a:sym typeface="Arial Bold"/>
              </a:rPr>
              <a:t>phỏng</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152400" y="1185941"/>
            <a:ext cx="6712298" cy="4801314"/>
          </a:xfrm>
          <a:prstGeom prst="rect">
            <a:avLst/>
          </a:prstGeom>
          <a:noFill/>
        </p:spPr>
        <p:txBody>
          <a:bodyPr wrap="square">
            <a:spAutoFit/>
          </a:bodyPr>
          <a:lstStyle/>
          <a:p>
            <a:br>
              <a:rPr lang="vi-VN" dirty="0"/>
            </a:br>
            <a:r>
              <a:rPr lang="vi-VN" dirty="0"/>
              <a:t>Giả sử một mô hình đơn giản trong đó chúng ta tạo một bản sao của một phần cụ thể trong hệ thống (bao gồm cả mã nguồn và dữ liệu).</a:t>
            </a:r>
          </a:p>
          <a:p>
            <a:pPr>
              <a:buFont typeface="Arial" panose="020B0604020202020204" pitchFamily="34" charset="0"/>
              <a:buChar char="•"/>
            </a:pPr>
            <a:r>
              <a:rPr lang="vi-VN" b="1" dirty="0"/>
              <a:t>Tăng độ tin cậy</a:t>
            </a:r>
            <a:r>
              <a:rPr lang="vi-VN" dirty="0"/>
              <a:t>: nếu một bản sao không đáp ứng được yêu cầu, ta có thể chuyển sang bản sao khác trong khi sửa chữa bản bị lỗi.</a:t>
            </a:r>
          </a:p>
          <a:p>
            <a:pPr>
              <a:buFont typeface="Arial" panose="020B0604020202020204" pitchFamily="34" charset="0"/>
              <a:buChar char="•"/>
            </a:pPr>
            <a:r>
              <a:rPr lang="vi-VN" b="1" dirty="0"/>
              <a:t>Hiệu năng</a:t>
            </a:r>
            <a:r>
              <a:rPr lang="vi-VN" dirty="0"/>
              <a:t>: đơn giản là phân phối các yêu cầu giữa các phần được sao chép để cân bằng tải, hoặc đảm bảo phản hồi nhanh chóng bằng cách tận dụng yếu tố gần vị trí địa lý.</a:t>
            </a:r>
            <a:endParaRPr lang="en-US" dirty="0"/>
          </a:p>
          <a:p>
            <a:pPr>
              <a:buFont typeface="Arial" panose="020B0604020202020204" pitchFamily="34" charset="0"/>
              <a:buChar char="•"/>
            </a:pPr>
            <a:endParaRPr lang="en-US" dirty="0"/>
          </a:p>
          <a:p>
            <a:pPr>
              <a:buFont typeface="Arial" panose="020B0604020202020204" pitchFamily="34" charset="0"/>
              <a:buChar char="•"/>
            </a:pPr>
            <a:endParaRPr lang="vi-VN" dirty="0"/>
          </a:p>
          <a:p>
            <a:r>
              <a:rPr lang="vi-VN" b="1" dirty="0"/>
              <a:t>Vấn đề đặt ra</a:t>
            </a:r>
            <a:br>
              <a:rPr lang="vi-VN" dirty="0"/>
            </a:br>
            <a:r>
              <a:rPr lang="vi-VN" dirty="0"/>
              <a:t>Khi có nhiều bản sao, điều đó có nghĩa là mỗi khi một bản sao thay đổi, thay đổi đó cũng cần được áp dụng cho tất cả các bản sao còn lại: các bản sao cần được giữ giống nhau, tức là phải được </a:t>
            </a:r>
            <a:r>
              <a:rPr lang="vi-VN" b="1" dirty="0"/>
              <a:t>duy trì tính nhất quán (consistent)</a:t>
            </a:r>
            <a:r>
              <a:rPr lang="vi-VN" dirty="0"/>
              <a:t>.</a:t>
            </a:r>
          </a:p>
        </p:txBody>
      </p:sp>
    </p:spTree>
    <p:extLst>
      <p:ext uri="{BB962C8B-B14F-4D97-AF65-F5344CB8AC3E}">
        <p14:creationId xmlns:p14="http://schemas.microsoft.com/office/powerpoint/2010/main" val="3928800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585" y="-31274"/>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Hiệu</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năng</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và</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khả</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năng</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mở</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rộng</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76200" y="1524000"/>
            <a:ext cx="9067800" cy="4524315"/>
          </a:xfrm>
          <a:prstGeom prst="rect">
            <a:avLst/>
          </a:prstGeom>
          <a:noFill/>
        </p:spPr>
        <p:txBody>
          <a:bodyPr wrap="square">
            <a:spAutoFit/>
          </a:bodyPr>
          <a:lstStyle/>
          <a:p>
            <a:r>
              <a:rPr lang="vi-VN" b="1" dirty="0"/>
              <a:t>Vấn đề chính</a:t>
            </a:r>
            <a:br>
              <a:rPr lang="vi-VN" dirty="0"/>
            </a:br>
            <a:r>
              <a:rPr lang="vi-VN" dirty="0"/>
              <a:t>Để giữ cho các bản sao (replicas) nhất quán, ta thường cần đảm bảo rằng </a:t>
            </a:r>
            <a:r>
              <a:rPr lang="vi-VN" b="1" dirty="0"/>
              <a:t>mọi thao tác xung đột đều được thực hiện theo cùng một thứ tự ở tất cả các nơi</a:t>
            </a:r>
            <a:r>
              <a:rPr lang="vi-VN" dirty="0"/>
              <a:t>.</a:t>
            </a:r>
          </a:p>
          <a:p>
            <a:pPr>
              <a:buFont typeface="Arial" panose="020B0604020202020204" pitchFamily="34" charset="0"/>
              <a:buChar char="•"/>
            </a:pPr>
            <a:r>
              <a:rPr lang="vi-VN" b="1" dirty="0"/>
              <a:t>Thao tác xung đột</a:t>
            </a:r>
            <a:r>
              <a:rPr lang="vi-VN" dirty="0"/>
              <a:t>: Khái niệm đến từ lĩnh vực giao dịch (transactions)</a:t>
            </a:r>
          </a:p>
          <a:p>
            <a:pPr marL="742950" lvl="1" indent="-285750">
              <a:buFont typeface="Arial" panose="020B0604020202020204" pitchFamily="34" charset="0"/>
              <a:buChar char="•"/>
            </a:pPr>
            <a:r>
              <a:rPr lang="vi-VN" b="1" dirty="0"/>
              <a:t>Xung đột đọc–ghi (read–write conflict)</a:t>
            </a:r>
            <a:r>
              <a:rPr lang="vi-VN" dirty="0"/>
              <a:t>: một thao tác đọc và một thao tác ghi xảy ra đồng thời</a:t>
            </a:r>
          </a:p>
          <a:p>
            <a:pPr marL="742950" lvl="1" indent="-285750">
              <a:buFont typeface="Arial" panose="020B0604020202020204" pitchFamily="34" charset="0"/>
              <a:buChar char="•"/>
            </a:pPr>
            <a:r>
              <a:rPr lang="vi-VN" b="1" dirty="0"/>
              <a:t>Xung đột ghi–ghi (write–write conflict)</a:t>
            </a:r>
            <a:r>
              <a:rPr lang="vi-VN" dirty="0"/>
              <a:t>: hai thao tác ghi xảy ra đồng thời</a:t>
            </a: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lvl="1"/>
            <a:endParaRPr lang="en-US" dirty="0"/>
          </a:p>
          <a:p>
            <a:pPr marL="742950" lvl="1" indent="-285750">
              <a:buFont typeface="Arial" panose="020B0604020202020204" pitchFamily="34" charset="0"/>
              <a:buChar char="•"/>
            </a:pPr>
            <a:endParaRPr lang="vi-VN" dirty="0"/>
          </a:p>
          <a:p>
            <a:r>
              <a:rPr lang="vi-VN" b="1" dirty="0"/>
              <a:t>Vấn đề</a:t>
            </a:r>
            <a:br>
              <a:rPr lang="vi-VN" dirty="0"/>
            </a:br>
            <a:r>
              <a:rPr lang="vi-VN" dirty="0"/>
              <a:t>Đảm bảo </a:t>
            </a:r>
            <a:r>
              <a:rPr lang="vi-VN" b="1" dirty="0"/>
              <a:t>thứ tự toàn cục</a:t>
            </a:r>
            <a:r>
              <a:rPr lang="vi-VN" dirty="0"/>
              <a:t> cho các thao tác xung đột có thể là một thao tác tốn kém, làm giảm khả năng mở rộng.</a:t>
            </a:r>
            <a:br>
              <a:rPr lang="vi-VN" dirty="0"/>
            </a:br>
            <a:r>
              <a:rPr lang="vi-VN" b="1" dirty="0"/>
              <a:t>Giải pháp</a:t>
            </a:r>
            <a:r>
              <a:rPr lang="vi-VN" dirty="0"/>
              <a:t>: </a:t>
            </a:r>
            <a:r>
              <a:rPr lang="vi-VN" b="1" dirty="0"/>
              <a:t>Làm yếu yêu cầu về tính nhất quán</a:t>
            </a:r>
            <a:r>
              <a:rPr lang="vi-VN" dirty="0"/>
              <a:t>, với hy vọng có thể </a:t>
            </a:r>
            <a:r>
              <a:rPr lang="vi-VN" b="1" dirty="0"/>
              <a:t>tránh được việc đồng bộ hóa toàn cục (global synchronization)</a:t>
            </a:r>
            <a:r>
              <a:rPr lang="vi-VN" dirty="0"/>
              <a:t>.</a:t>
            </a:r>
          </a:p>
        </p:txBody>
      </p:sp>
    </p:spTree>
    <p:extLst>
      <p:ext uri="{BB962C8B-B14F-4D97-AF65-F5344CB8AC3E}">
        <p14:creationId xmlns:p14="http://schemas.microsoft.com/office/powerpoint/2010/main" val="3188282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a:solidFill>
                  <a:srgbClr val="FFFF00"/>
                </a:solidFill>
                <a:latin typeface="Arial Bold"/>
                <a:ea typeface="Arial Bold"/>
                <a:cs typeface="Arial Bold"/>
                <a:sym typeface="Arial Bold"/>
              </a:rPr>
              <a:t>Mô </a:t>
            </a:r>
            <a:r>
              <a:rPr lang="en-US" sz="3200" b="1" dirty="0" err="1">
                <a:solidFill>
                  <a:srgbClr val="FFFF00"/>
                </a:solidFill>
                <a:latin typeface="Arial Bold"/>
                <a:ea typeface="Arial Bold"/>
                <a:cs typeface="Arial Bold"/>
                <a:sym typeface="Arial Bold"/>
              </a:rPr>
              <a:t>hình</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nhất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quán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tập</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trung</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vào</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dữ</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liệu</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152400" y="1185941"/>
            <a:ext cx="8610600" cy="2308324"/>
          </a:xfrm>
          <a:prstGeom prst="rect">
            <a:avLst/>
          </a:prstGeom>
          <a:noFill/>
        </p:spPr>
        <p:txBody>
          <a:bodyPr wrap="square">
            <a:spAutoFit/>
          </a:bodyPr>
          <a:lstStyle/>
          <a:p>
            <a:r>
              <a:rPr lang="vi-VN" b="1" dirty="0"/>
              <a:t>Mô hình nhất quá</a:t>
            </a:r>
            <a:r>
              <a:rPr lang="en-US" b="1" dirty="0"/>
              <a:t>n</a:t>
            </a:r>
            <a:br>
              <a:rPr lang="vi-VN" dirty="0"/>
            </a:br>
            <a:r>
              <a:rPr lang="vi-VN" dirty="0"/>
              <a:t>Là </a:t>
            </a:r>
            <a:r>
              <a:rPr lang="vi-VN" b="1" dirty="0"/>
              <a:t>một dạng hợp đồng</a:t>
            </a:r>
            <a:r>
              <a:rPr lang="vi-VN" dirty="0"/>
              <a:t> giữa </a:t>
            </a:r>
            <a:r>
              <a:rPr lang="vi-VN" b="1" dirty="0"/>
              <a:t>kho dữ liệu (data store)</a:t>
            </a:r>
            <a:r>
              <a:rPr lang="vi-VN" dirty="0"/>
              <a:t> phân tán và các tiến trình (processes), trong đó </a:t>
            </a:r>
            <a:r>
              <a:rPr lang="vi-VN" b="1" dirty="0"/>
              <a:t>kho dữ liệu quy định rõ ràng kết quả của các thao tác đọc và ghi trong điều kiện có đồng thời (concurrency)</a:t>
            </a:r>
            <a:r>
              <a:rPr lang="vi-VN" dirty="0"/>
              <a:t>.</a:t>
            </a:r>
            <a:endParaRPr lang="en-US" dirty="0"/>
          </a:p>
          <a:p>
            <a:endParaRPr lang="en-US" dirty="0"/>
          </a:p>
          <a:p>
            <a:endParaRPr lang="vi-VN" dirty="0"/>
          </a:p>
          <a:p>
            <a:r>
              <a:rPr lang="vi-VN" b="1" dirty="0">
                <a:solidFill>
                  <a:srgbClr val="FF0000"/>
                </a:solidFill>
              </a:rPr>
              <a:t>Điều cốt lõi</a:t>
            </a:r>
            <a:br>
              <a:rPr lang="vi-VN" dirty="0"/>
            </a:br>
            <a:r>
              <a:rPr lang="vi-VN" dirty="0"/>
              <a:t>Một kho dữ liệu là </a:t>
            </a:r>
            <a:r>
              <a:rPr lang="vi-VN" b="1" dirty="0"/>
              <a:t>một tập hợp phân tán của các bộ lưu trữ (storages)</a:t>
            </a:r>
            <a:r>
              <a:rPr lang="vi-VN" dirty="0"/>
              <a:t>:</a:t>
            </a:r>
          </a:p>
        </p:txBody>
      </p:sp>
      <p:pic>
        <p:nvPicPr>
          <p:cNvPr id="7" name="object 5">
            <a:extLst>
              <a:ext uri="{FF2B5EF4-FFF2-40B4-BE49-F238E27FC236}">
                <a16:creationId xmlns:a16="http://schemas.microsoft.com/office/drawing/2014/main" id="{CB96B8C3-DD10-4881-85A9-780FC672BB34}"/>
              </a:ext>
            </a:extLst>
          </p:cNvPr>
          <p:cNvPicPr/>
          <p:nvPr/>
        </p:nvPicPr>
        <p:blipFill>
          <a:blip r:embed="rId3" cstate="print"/>
          <a:stretch>
            <a:fillRect/>
          </a:stretch>
        </p:blipFill>
        <p:spPr>
          <a:xfrm>
            <a:off x="1981200" y="4120002"/>
            <a:ext cx="4153673" cy="2596256"/>
          </a:xfrm>
          <a:prstGeom prst="rect">
            <a:avLst/>
          </a:prstGeom>
        </p:spPr>
      </p:pic>
    </p:spTree>
    <p:extLst>
      <p:ext uri="{BB962C8B-B14F-4D97-AF65-F5344CB8AC3E}">
        <p14:creationId xmlns:p14="http://schemas.microsoft.com/office/powerpoint/2010/main" val="1632208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304800" y="39648"/>
            <a:ext cx="7965440" cy="1106646"/>
          </a:xfrm>
          <a:prstGeom prst="rect">
            <a:avLst/>
          </a:prstGeom>
        </p:spPr>
        <p:txBody>
          <a:bodyPr lIns="0" tIns="0" rIns="0" bIns="0" rtlCol="0" anchor="ctr"/>
          <a:lstStyle/>
          <a:p>
            <a:pPr algn="l">
              <a:lnSpc>
                <a:spcPts val="3840"/>
              </a:lnSpc>
            </a:pP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304800" y="1256943"/>
            <a:ext cx="7965440" cy="2862322"/>
          </a:xfrm>
          <a:prstGeom prst="rect">
            <a:avLst/>
          </a:prstGeom>
          <a:noFill/>
        </p:spPr>
        <p:txBody>
          <a:bodyPr wrap="square">
            <a:spAutoFit/>
          </a:bodyPr>
          <a:lstStyle/>
          <a:p>
            <a:r>
              <a:rPr lang="vi-VN" dirty="0"/>
              <a:t>Các thao tác đọc và ghi </a:t>
            </a:r>
            <a:endParaRPr lang="en-US" dirty="0"/>
          </a:p>
          <a:p>
            <a:pPr marL="285750" indent="-285750">
              <a:buFont typeface="Arial" panose="020B0604020202020204" pitchFamily="34" charset="0"/>
              <a:buChar char="•"/>
            </a:pPr>
            <a:r>
              <a:rPr lang="vi-VN" dirty="0"/>
              <a:t>Wi(x)a: Tiến trình Pi ghi giá trị a vào biến x</a:t>
            </a:r>
            <a:endParaRPr lang="en-US" dirty="0"/>
          </a:p>
          <a:p>
            <a:pPr marL="285750" indent="-285750">
              <a:buFont typeface="Arial" panose="020B0604020202020204" pitchFamily="34" charset="0"/>
              <a:buChar char="•"/>
            </a:pPr>
            <a:r>
              <a:rPr lang="vi-VN" dirty="0"/>
              <a:t>Ri(x)b: Tiến trình Pi đọc giá trị b từ biến x</a:t>
            </a:r>
            <a:endParaRPr lang="en-US" dirty="0"/>
          </a:p>
          <a:p>
            <a:pPr marL="285750" indent="-285750">
              <a:buFont typeface="Arial" panose="020B0604020202020204" pitchFamily="34" charset="0"/>
              <a:buChar char="•"/>
            </a:pPr>
            <a:r>
              <a:rPr lang="vi-VN" dirty="0"/>
              <a:t>Tất cả các phần tử dữ liệu ban đầu đều có giá trị NIL</a:t>
            </a:r>
            <a:endParaRPr lang="en-US" dirty="0"/>
          </a:p>
          <a:p>
            <a:endParaRPr lang="en-US" dirty="0"/>
          </a:p>
          <a:p>
            <a:endParaRPr lang="en-US" dirty="0"/>
          </a:p>
          <a:p>
            <a:endParaRPr lang="en-US" dirty="0"/>
          </a:p>
          <a:p>
            <a:r>
              <a:rPr lang="vi-VN" dirty="0"/>
              <a:t>Hành vi có thể xảy ra</a:t>
            </a:r>
            <a:endParaRPr lang="en-US" dirty="0"/>
          </a:p>
          <a:p>
            <a:r>
              <a:rPr lang="vi-VN" dirty="0"/>
              <a:t>Ta có thể lược bỏ chỉ số của tiến trình (index) nếu không cần thiết, và biểu diễn các thao tác theo trục thời gian (trục x):</a:t>
            </a:r>
          </a:p>
        </p:txBody>
      </p:sp>
      <p:pic>
        <p:nvPicPr>
          <p:cNvPr id="10" name="object 6">
            <a:extLst>
              <a:ext uri="{FF2B5EF4-FFF2-40B4-BE49-F238E27FC236}">
                <a16:creationId xmlns:a16="http://schemas.microsoft.com/office/drawing/2014/main" id="{77CBF3DB-A6B3-479B-A5A3-13FF1CE587A8}"/>
              </a:ext>
            </a:extLst>
          </p:cNvPr>
          <p:cNvPicPr/>
          <p:nvPr/>
        </p:nvPicPr>
        <p:blipFill>
          <a:blip r:embed="rId3" cstate="print"/>
          <a:stretch>
            <a:fillRect/>
          </a:stretch>
        </p:blipFill>
        <p:spPr>
          <a:xfrm>
            <a:off x="1752600" y="4648201"/>
            <a:ext cx="4191000" cy="1066800"/>
          </a:xfrm>
          <a:prstGeom prst="rect">
            <a:avLst/>
          </a:prstGeom>
        </p:spPr>
      </p:pic>
    </p:spTree>
    <p:extLst>
      <p:ext uri="{BB962C8B-B14F-4D97-AF65-F5344CB8AC3E}">
        <p14:creationId xmlns:p14="http://schemas.microsoft.com/office/powerpoint/2010/main" val="1471743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Tính</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nhất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quán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tuần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tự</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152400" y="1371600"/>
            <a:ext cx="9067800" cy="1477328"/>
          </a:xfrm>
          <a:prstGeom prst="rect">
            <a:avLst/>
          </a:prstGeom>
          <a:noFill/>
        </p:spPr>
        <p:txBody>
          <a:bodyPr wrap="square">
            <a:spAutoFit/>
          </a:bodyPr>
          <a:lstStyle/>
          <a:p>
            <a:r>
              <a:rPr lang="vi-VN" b="1" dirty="0"/>
              <a:t>Định nghĩa</a:t>
            </a:r>
            <a:br>
              <a:rPr lang="vi-VN" dirty="0"/>
            </a:br>
            <a:r>
              <a:rPr lang="vi-VN" dirty="0"/>
              <a:t>Kết quả của bất kỳ quá trình thực thi nào đều </a:t>
            </a:r>
            <a:r>
              <a:rPr lang="vi-VN" b="1" dirty="0"/>
              <a:t>giống như thể các thao tác của tất cả tiến trình được thực hiện theo một thứ tự tuần tự nào đó</a:t>
            </a:r>
            <a:r>
              <a:rPr lang="vi-VN" dirty="0"/>
              <a:t>, và </a:t>
            </a:r>
            <a:r>
              <a:rPr lang="vi-VN" b="1" dirty="0"/>
              <a:t>các thao tác của từng tiến trình riêng lẻ xuất hiện trong chuỗi này theo đúng thứ tự được xác định bởi chương trình của tiến trình đó</a:t>
            </a:r>
            <a:r>
              <a:rPr lang="vi-VN" dirty="0"/>
              <a:t>.</a:t>
            </a:r>
          </a:p>
        </p:txBody>
      </p:sp>
      <p:pic>
        <p:nvPicPr>
          <p:cNvPr id="7" name="object 5">
            <a:extLst>
              <a:ext uri="{FF2B5EF4-FFF2-40B4-BE49-F238E27FC236}">
                <a16:creationId xmlns:a16="http://schemas.microsoft.com/office/drawing/2014/main" id="{F8172DB6-4B91-4786-83A0-1C2192880B22}"/>
              </a:ext>
            </a:extLst>
          </p:cNvPr>
          <p:cNvPicPr/>
          <p:nvPr/>
        </p:nvPicPr>
        <p:blipFill>
          <a:blip r:embed="rId3" cstate="print"/>
          <a:stretch>
            <a:fillRect/>
          </a:stretch>
        </p:blipFill>
        <p:spPr>
          <a:xfrm>
            <a:off x="5638800" y="3429000"/>
            <a:ext cx="3469605" cy="1705129"/>
          </a:xfrm>
          <a:prstGeom prst="rect">
            <a:avLst/>
          </a:prstGeom>
        </p:spPr>
      </p:pic>
      <p:pic>
        <p:nvPicPr>
          <p:cNvPr id="9" name="object 7">
            <a:extLst>
              <a:ext uri="{FF2B5EF4-FFF2-40B4-BE49-F238E27FC236}">
                <a16:creationId xmlns:a16="http://schemas.microsoft.com/office/drawing/2014/main" id="{5E966B57-051C-4F73-A4EC-594A7CEC71E1}"/>
              </a:ext>
            </a:extLst>
          </p:cNvPr>
          <p:cNvPicPr/>
          <p:nvPr/>
        </p:nvPicPr>
        <p:blipFill>
          <a:blip r:embed="rId4" cstate="print"/>
          <a:stretch>
            <a:fillRect/>
          </a:stretch>
        </p:blipFill>
        <p:spPr>
          <a:xfrm>
            <a:off x="596538" y="3429000"/>
            <a:ext cx="3469605" cy="1705129"/>
          </a:xfrm>
          <a:prstGeom prst="rect">
            <a:avLst/>
          </a:prstGeom>
        </p:spPr>
      </p:pic>
      <p:sp>
        <p:nvSpPr>
          <p:cNvPr id="4" name="TextBox 3">
            <a:extLst>
              <a:ext uri="{FF2B5EF4-FFF2-40B4-BE49-F238E27FC236}">
                <a16:creationId xmlns:a16="http://schemas.microsoft.com/office/drawing/2014/main" id="{6CE0C146-6982-4271-BD49-F1797E1A3E94}"/>
              </a:ext>
            </a:extLst>
          </p:cNvPr>
          <p:cNvSpPr txBox="1"/>
          <p:nvPr/>
        </p:nvSpPr>
        <p:spPr>
          <a:xfrm>
            <a:off x="571417" y="5283280"/>
            <a:ext cx="3643433" cy="369332"/>
          </a:xfrm>
          <a:prstGeom prst="rect">
            <a:avLst/>
          </a:prstGeom>
          <a:noFill/>
        </p:spPr>
        <p:txBody>
          <a:bodyPr wrap="none" rtlCol="0">
            <a:spAutoFit/>
          </a:bodyPr>
          <a:lstStyle/>
          <a:p>
            <a:r>
              <a:rPr lang="en-US" dirty="0" err="1"/>
              <a:t>Các</a:t>
            </a:r>
            <a:r>
              <a:rPr lang="en-US" dirty="0"/>
              <a:t> </a:t>
            </a:r>
            <a:r>
              <a:rPr lang="en-US" dirty="0" err="1"/>
              <a:t>sự</a:t>
            </a:r>
            <a:r>
              <a:rPr lang="en-US" dirty="0"/>
              <a:t> </a:t>
            </a:r>
            <a:r>
              <a:rPr lang="en-US" dirty="0" err="1"/>
              <a:t>kiện</a:t>
            </a:r>
            <a:r>
              <a:rPr lang="en-US" dirty="0"/>
              <a:t> </a:t>
            </a:r>
            <a:r>
              <a:rPr lang="en-US" dirty="0" err="1"/>
              <a:t>không</a:t>
            </a:r>
            <a:r>
              <a:rPr lang="en-US" dirty="0"/>
              <a:t> </a:t>
            </a:r>
            <a:r>
              <a:rPr lang="en-US" dirty="0" err="1"/>
              <a:t>đảm</a:t>
            </a:r>
            <a:r>
              <a:rPr lang="en-US" dirty="0"/>
              <a:t> </a:t>
            </a:r>
            <a:r>
              <a:rPr lang="en-US" dirty="0" err="1"/>
              <a:t>bảo</a:t>
            </a:r>
            <a:r>
              <a:rPr lang="en-US" dirty="0"/>
              <a:t> </a:t>
            </a:r>
            <a:r>
              <a:rPr lang="en-US" dirty="0" err="1"/>
              <a:t>tính</a:t>
            </a:r>
            <a:r>
              <a:rPr lang="en-US" dirty="0"/>
              <a:t> </a:t>
            </a:r>
            <a:r>
              <a:rPr lang="en-US" dirty="0" err="1"/>
              <a:t>chất</a:t>
            </a:r>
            <a:endParaRPr lang="en-US" dirty="0"/>
          </a:p>
        </p:txBody>
      </p:sp>
      <p:sp>
        <p:nvSpPr>
          <p:cNvPr id="10" name="TextBox 9">
            <a:extLst>
              <a:ext uri="{FF2B5EF4-FFF2-40B4-BE49-F238E27FC236}">
                <a16:creationId xmlns:a16="http://schemas.microsoft.com/office/drawing/2014/main" id="{9A240357-F858-4CDA-8FA8-410050E51D14}"/>
              </a:ext>
            </a:extLst>
          </p:cNvPr>
          <p:cNvSpPr txBox="1"/>
          <p:nvPr/>
        </p:nvSpPr>
        <p:spPr>
          <a:xfrm>
            <a:off x="5867677" y="5315703"/>
            <a:ext cx="3011850" cy="369332"/>
          </a:xfrm>
          <a:prstGeom prst="rect">
            <a:avLst/>
          </a:prstGeom>
          <a:noFill/>
        </p:spPr>
        <p:txBody>
          <a:bodyPr wrap="none" rtlCol="0">
            <a:spAutoFit/>
          </a:bodyPr>
          <a:lstStyle/>
          <a:p>
            <a:r>
              <a:rPr lang="en-US" dirty="0" err="1"/>
              <a:t>Các</a:t>
            </a:r>
            <a:r>
              <a:rPr lang="en-US" dirty="0"/>
              <a:t> </a:t>
            </a:r>
            <a:r>
              <a:rPr lang="en-US" dirty="0" err="1"/>
              <a:t>sự</a:t>
            </a:r>
            <a:r>
              <a:rPr lang="en-US" dirty="0"/>
              <a:t> </a:t>
            </a:r>
            <a:r>
              <a:rPr lang="en-US" dirty="0" err="1"/>
              <a:t>kiện</a:t>
            </a:r>
            <a:r>
              <a:rPr lang="en-US" dirty="0"/>
              <a:t> </a:t>
            </a:r>
            <a:r>
              <a:rPr lang="en-US" dirty="0" err="1"/>
              <a:t>đảm</a:t>
            </a:r>
            <a:r>
              <a:rPr lang="en-US" dirty="0"/>
              <a:t> </a:t>
            </a:r>
            <a:r>
              <a:rPr lang="en-US" dirty="0" err="1"/>
              <a:t>bảo</a:t>
            </a:r>
            <a:r>
              <a:rPr lang="en-US" dirty="0"/>
              <a:t> </a:t>
            </a:r>
            <a:r>
              <a:rPr lang="en-US" dirty="0" err="1"/>
              <a:t>tính</a:t>
            </a:r>
            <a:r>
              <a:rPr lang="en-US" dirty="0"/>
              <a:t> </a:t>
            </a:r>
            <a:r>
              <a:rPr lang="en-US" dirty="0" err="1"/>
              <a:t>chất</a:t>
            </a:r>
            <a:endParaRPr lang="en-US" dirty="0"/>
          </a:p>
        </p:txBody>
      </p:sp>
    </p:spTree>
    <p:extLst>
      <p:ext uri="{BB962C8B-B14F-4D97-AF65-F5344CB8AC3E}">
        <p14:creationId xmlns:p14="http://schemas.microsoft.com/office/powerpoint/2010/main" val="1030719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a:solidFill>
                  <a:srgbClr val="FFFF00"/>
                </a:solidFill>
                <a:latin typeface="Arial Bold"/>
                <a:ea typeface="Arial Bold"/>
                <a:cs typeface="Arial Bold"/>
                <a:sym typeface="Arial Bold"/>
              </a:rPr>
              <a:t>Mô </a:t>
            </a:r>
            <a:r>
              <a:rPr lang="en-US" sz="3200" b="1" dirty="0" err="1">
                <a:solidFill>
                  <a:srgbClr val="FFFF00"/>
                </a:solidFill>
                <a:latin typeface="Arial Bold"/>
                <a:ea typeface="Arial Bold"/>
                <a:cs typeface="Arial Bold"/>
                <a:sym typeface="Arial Bold"/>
              </a:rPr>
              <a:t>phỏng</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152400" y="1185941"/>
            <a:ext cx="6712298" cy="646331"/>
          </a:xfrm>
          <a:prstGeom prst="rect">
            <a:avLst/>
          </a:prstGeom>
          <a:noFill/>
        </p:spPr>
        <p:txBody>
          <a:bodyPr wrap="square">
            <a:spAutoFit/>
          </a:bodyPr>
          <a:lstStyle/>
          <a:p>
            <a:br>
              <a:rPr lang="vi-VN" dirty="0"/>
            </a:br>
            <a:endParaRPr lang="vi-VN" dirty="0"/>
          </a:p>
        </p:txBody>
      </p:sp>
      <p:pic>
        <p:nvPicPr>
          <p:cNvPr id="5" name="Picture 4">
            <a:extLst>
              <a:ext uri="{FF2B5EF4-FFF2-40B4-BE49-F238E27FC236}">
                <a16:creationId xmlns:a16="http://schemas.microsoft.com/office/drawing/2014/main" id="{51C3374C-16B9-4E85-8714-10E148D6BB94}"/>
              </a:ext>
            </a:extLst>
          </p:cNvPr>
          <p:cNvPicPr>
            <a:picLocks noChangeAspect="1"/>
          </p:cNvPicPr>
          <p:nvPr/>
        </p:nvPicPr>
        <p:blipFill>
          <a:blip r:embed="rId3"/>
          <a:stretch>
            <a:fillRect/>
          </a:stretch>
        </p:blipFill>
        <p:spPr>
          <a:xfrm>
            <a:off x="1752600" y="1676400"/>
            <a:ext cx="5601397" cy="1012799"/>
          </a:xfrm>
          <a:prstGeom prst="rect">
            <a:avLst/>
          </a:prstGeom>
        </p:spPr>
      </p:pic>
      <p:pic>
        <p:nvPicPr>
          <p:cNvPr id="9" name="Picture 8">
            <a:extLst>
              <a:ext uri="{FF2B5EF4-FFF2-40B4-BE49-F238E27FC236}">
                <a16:creationId xmlns:a16="http://schemas.microsoft.com/office/drawing/2014/main" id="{A5543CB5-BBE5-4DEC-9D65-02A6B5BBC904}"/>
              </a:ext>
            </a:extLst>
          </p:cNvPr>
          <p:cNvPicPr>
            <a:picLocks noChangeAspect="1"/>
          </p:cNvPicPr>
          <p:nvPr/>
        </p:nvPicPr>
        <p:blipFill>
          <a:blip r:embed="rId4"/>
          <a:stretch>
            <a:fillRect/>
          </a:stretch>
        </p:blipFill>
        <p:spPr>
          <a:xfrm>
            <a:off x="487680" y="3429000"/>
            <a:ext cx="8994093" cy="3329056"/>
          </a:xfrm>
          <a:prstGeom prst="rect">
            <a:avLst/>
          </a:prstGeom>
        </p:spPr>
      </p:pic>
      <p:sp>
        <p:nvSpPr>
          <p:cNvPr id="10" name="TextBox 9">
            <a:extLst>
              <a:ext uri="{FF2B5EF4-FFF2-40B4-BE49-F238E27FC236}">
                <a16:creationId xmlns:a16="http://schemas.microsoft.com/office/drawing/2014/main" id="{3C886A16-142C-44A1-B6B0-37430EFDAADD}"/>
              </a:ext>
            </a:extLst>
          </p:cNvPr>
          <p:cNvSpPr txBox="1"/>
          <p:nvPr/>
        </p:nvSpPr>
        <p:spPr>
          <a:xfrm>
            <a:off x="609600" y="2951582"/>
            <a:ext cx="3061351" cy="369332"/>
          </a:xfrm>
          <a:prstGeom prst="rect">
            <a:avLst/>
          </a:prstGeom>
          <a:noFill/>
        </p:spPr>
        <p:txBody>
          <a:bodyPr wrap="none" rtlCol="0">
            <a:spAutoFit/>
          </a:bodyPr>
          <a:lstStyle/>
          <a:p>
            <a:r>
              <a:rPr lang="en-US" dirty="0" err="1"/>
              <a:t>Các</a:t>
            </a:r>
            <a:r>
              <a:rPr lang="en-US" dirty="0"/>
              <a:t> </a:t>
            </a:r>
            <a:r>
              <a:rPr lang="en-US" dirty="0" err="1"/>
              <a:t>luồng</a:t>
            </a:r>
            <a:r>
              <a:rPr lang="en-US" dirty="0"/>
              <a:t> </a:t>
            </a:r>
            <a:r>
              <a:rPr lang="en-US" dirty="0" err="1"/>
              <a:t>sự</a:t>
            </a:r>
            <a:r>
              <a:rPr lang="en-US" dirty="0"/>
              <a:t> </a:t>
            </a:r>
            <a:r>
              <a:rPr lang="en-US" dirty="0" err="1"/>
              <a:t>kiện</a:t>
            </a:r>
            <a:r>
              <a:rPr lang="en-US" dirty="0"/>
              <a:t> </a:t>
            </a:r>
            <a:r>
              <a:rPr lang="en-US" dirty="0" err="1"/>
              <a:t>có</a:t>
            </a:r>
            <a:r>
              <a:rPr lang="en-US" dirty="0"/>
              <a:t> </a:t>
            </a:r>
            <a:r>
              <a:rPr lang="en-US" dirty="0" err="1"/>
              <a:t>thể</a:t>
            </a:r>
            <a:r>
              <a:rPr lang="en-US" dirty="0"/>
              <a:t> </a:t>
            </a:r>
            <a:r>
              <a:rPr lang="en-US" dirty="0" err="1"/>
              <a:t>xảy</a:t>
            </a:r>
            <a:r>
              <a:rPr lang="en-US" dirty="0"/>
              <a:t> ra</a:t>
            </a:r>
          </a:p>
        </p:txBody>
      </p:sp>
    </p:spTree>
    <p:extLst>
      <p:ext uri="{BB962C8B-B14F-4D97-AF65-F5344CB8AC3E}">
        <p14:creationId xmlns:p14="http://schemas.microsoft.com/office/powerpoint/2010/main" val="70245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Tính</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nhất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quán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nhân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quả</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203200" y="1447800"/>
            <a:ext cx="8534400" cy="1477328"/>
          </a:xfrm>
          <a:prstGeom prst="rect">
            <a:avLst/>
          </a:prstGeom>
          <a:noFill/>
        </p:spPr>
        <p:txBody>
          <a:bodyPr wrap="square">
            <a:spAutoFit/>
          </a:bodyPr>
          <a:lstStyle/>
          <a:p>
            <a:r>
              <a:rPr lang="vi-VN" b="1" dirty="0"/>
              <a:t>Định nghĩa</a:t>
            </a:r>
            <a:br>
              <a:rPr lang="vi-VN" dirty="0"/>
            </a:br>
            <a:r>
              <a:rPr lang="vi-VN" dirty="0"/>
              <a:t>Các thao tác ghi có mối quan hệ nhân quả tiềm ẩn thì phải được tất cả các tiến trình nhìn thấy theo cùng một thứ tự.</a:t>
            </a:r>
            <a:br>
              <a:rPr lang="vi-VN" dirty="0"/>
            </a:br>
            <a:r>
              <a:rPr lang="vi-VN" dirty="0"/>
              <a:t>Các thao tác ghi xảy ra đồng thời có thể được các tiến trình khác nhau nhìn thấy theo thứ tự khác nhau.</a:t>
            </a:r>
          </a:p>
        </p:txBody>
      </p:sp>
      <p:pic>
        <p:nvPicPr>
          <p:cNvPr id="7" name="object 5">
            <a:extLst>
              <a:ext uri="{FF2B5EF4-FFF2-40B4-BE49-F238E27FC236}">
                <a16:creationId xmlns:a16="http://schemas.microsoft.com/office/drawing/2014/main" id="{1120B1D1-C080-45FC-94AD-C9B5176A77E3}"/>
              </a:ext>
            </a:extLst>
          </p:cNvPr>
          <p:cNvPicPr/>
          <p:nvPr/>
        </p:nvPicPr>
        <p:blipFill>
          <a:blip r:embed="rId3" cstate="print"/>
          <a:stretch>
            <a:fillRect/>
          </a:stretch>
        </p:blipFill>
        <p:spPr>
          <a:xfrm>
            <a:off x="812016" y="3235008"/>
            <a:ext cx="3810000" cy="1477329"/>
          </a:xfrm>
          <a:prstGeom prst="rect">
            <a:avLst/>
          </a:prstGeom>
        </p:spPr>
      </p:pic>
      <p:pic>
        <p:nvPicPr>
          <p:cNvPr id="9" name="object 7">
            <a:extLst>
              <a:ext uri="{FF2B5EF4-FFF2-40B4-BE49-F238E27FC236}">
                <a16:creationId xmlns:a16="http://schemas.microsoft.com/office/drawing/2014/main" id="{F12C8FC1-9542-4725-A85C-2825D6C41135}"/>
              </a:ext>
            </a:extLst>
          </p:cNvPr>
          <p:cNvPicPr/>
          <p:nvPr/>
        </p:nvPicPr>
        <p:blipFill>
          <a:blip r:embed="rId4" cstate="print"/>
          <a:stretch>
            <a:fillRect/>
          </a:stretch>
        </p:blipFill>
        <p:spPr>
          <a:xfrm>
            <a:off x="5105400" y="3235008"/>
            <a:ext cx="3810000" cy="1477329"/>
          </a:xfrm>
          <a:prstGeom prst="rect">
            <a:avLst/>
          </a:prstGeom>
        </p:spPr>
      </p:pic>
      <p:sp>
        <p:nvSpPr>
          <p:cNvPr id="4" name="TextBox 3">
            <a:extLst>
              <a:ext uri="{FF2B5EF4-FFF2-40B4-BE49-F238E27FC236}">
                <a16:creationId xmlns:a16="http://schemas.microsoft.com/office/drawing/2014/main" id="{89FBA590-7CC3-45FD-A257-07D4903897C2}"/>
              </a:ext>
            </a:extLst>
          </p:cNvPr>
          <p:cNvSpPr txBox="1"/>
          <p:nvPr/>
        </p:nvSpPr>
        <p:spPr>
          <a:xfrm>
            <a:off x="1143000" y="4935498"/>
            <a:ext cx="3116174" cy="369332"/>
          </a:xfrm>
          <a:prstGeom prst="rect">
            <a:avLst/>
          </a:prstGeom>
          <a:noFill/>
        </p:spPr>
        <p:txBody>
          <a:bodyPr wrap="none" rtlCol="0">
            <a:spAutoFit/>
          </a:bodyPr>
          <a:lstStyle/>
          <a:p>
            <a:r>
              <a:rPr lang="en-US" dirty="0" err="1"/>
              <a:t>Các</a:t>
            </a:r>
            <a:r>
              <a:rPr lang="en-US" dirty="0"/>
              <a:t> </a:t>
            </a:r>
            <a:r>
              <a:rPr lang="en-US" dirty="0" err="1"/>
              <a:t>tiến</a:t>
            </a:r>
            <a:r>
              <a:rPr lang="en-US" dirty="0"/>
              <a:t> </a:t>
            </a:r>
            <a:r>
              <a:rPr lang="en-US" dirty="0" err="1"/>
              <a:t>trình</a:t>
            </a:r>
            <a:r>
              <a:rPr lang="en-US" dirty="0"/>
              <a:t> </a:t>
            </a:r>
            <a:r>
              <a:rPr lang="en-US" dirty="0" err="1"/>
              <a:t>xảy</a:t>
            </a:r>
            <a:r>
              <a:rPr lang="en-US" dirty="0"/>
              <a:t> ra </a:t>
            </a:r>
            <a:r>
              <a:rPr lang="en-US" dirty="0" err="1"/>
              <a:t>mâu</a:t>
            </a:r>
            <a:r>
              <a:rPr lang="en-US" dirty="0"/>
              <a:t> </a:t>
            </a:r>
            <a:r>
              <a:rPr lang="en-US" dirty="0" err="1"/>
              <a:t>thuẫn</a:t>
            </a:r>
            <a:endParaRPr lang="en-US" dirty="0"/>
          </a:p>
        </p:txBody>
      </p:sp>
      <p:sp>
        <p:nvSpPr>
          <p:cNvPr id="5" name="TextBox 4">
            <a:extLst>
              <a:ext uri="{FF2B5EF4-FFF2-40B4-BE49-F238E27FC236}">
                <a16:creationId xmlns:a16="http://schemas.microsoft.com/office/drawing/2014/main" id="{3DE35C6D-A5B3-44BE-A9C0-C7D2BDB6EB69}"/>
              </a:ext>
            </a:extLst>
          </p:cNvPr>
          <p:cNvSpPr txBox="1"/>
          <p:nvPr/>
        </p:nvSpPr>
        <p:spPr>
          <a:xfrm>
            <a:off x="5181600" y="4949733"/>
            <a:ext cx="3853427" cy="369332"/>
          </a:xfrm>
          <a:prstGeom prst="rect">
            <a:avLst/>
          </a:prstGeom>
          <a:noFill/>
        </p:spPr>
        <p:txBody>
          <a:bodyPr wrap="none" rtlCol="0">
            <a:spAutoFit/>
          </a:bodyPr>
          <a:lstStyle/>
          <a:p>
            <a:r>
              <a:rPr lang="en-US" dirty="0" err="1"/>
              <a:t>Các</a:t>
            </a:r>
            <a:r>
              <a:rPr lang="en-US" dirty="0"/>
              <a:t> </a:t>
            </a:r>
            <a:r>
              <a:rPr lang="en-US" dirty="0" err="1"/>
              <a:t>tiến</a:t>
            </a:r>
            <a:r>
              <a:rPr lang="en-US" dirty="0"/>
              <a:t> </a:t>
            </a:r>
            <a:r>
              <a:rPr lang="en-US" dirty="0" err="1"/>
              <a:t>trình</a:t>
            </a:r>
            <a:r>
              <a:rPr lang="en-US" dirty="0"/>
              <a:t> </a:t>
            </a:r>
            <a:r>
              <a:rPr lang="en-US" dirty="0" err="1"/>
              <a:t>tuân</a:t>
            </a:r>
            <a:r>
              <a:rPr lang="en-US" dirty="0"/>
              <a:t> </a:t>
            </a:r>
            <a:r>
              <a:rPr lang="en-US" dirty="0" err="1"/>
              <a:t>theo</a:t>
            </a:r>
            <a:r>
              <a:rPr lang="en-US" dirty="0"/>
              <a:t> </a:t>
            </a:r>
            <a:r>
              <a:rPr lang="en-US" dirty="0" err="1"/>
              <a:t>tính</a:t>
            </a:r>
            <a:r>
              <a:rPr lang="en-US" dirty="0"/>
              <a:t> </a:t>
            </a:r>
            <a:r>
              <a:rPr lang="en-US" dirty="0" err="1"/>
              <a:t>nhất</a:t>
            </a:r>
            <a:r>
              <a:rPr lang="en-US" dirty="0"/>
              <a:t> </a:t>
            </a:r>
            <a:r>
              <a:rPr lang="en-US" dirty="0" err="1"/>
              <a:t>quán</a:t>
            </a:r>
            <a:endParaRPr lang="en-US" dirty="0"/>
          </a:p>
        </p:txBody>
      </p:sp>
    </p:spTree>
    <p:extLst>
      <p:ext uri="{BB962C8B-B14F-4D97-AF65-F5344CB8AC3E}">
        <p14:creationId xmlns:p14="http://schemas.microsoft.com/office/powerpoint/2010/main" val="1326794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6522720" cy="1106646"/>
          </a:xfrm>
          <a:prstGeom prst="rect">
            <a:avLst/>
          </a:prstGeom>
        </p:spPr>
        <p:txBody>
          <a:bodyPr lIns="0" tIns="0" rIns="0" bIns="0" rtlCol="0" anchor="ctr"/>
          <a:lstStyle/>
          <a:p>
            <a:pPr algn="l">
              <a:lnSpc>
                <a:spcPts val="3840"/>
              </a:lnSpc>
            </a:pPr>
            <a:r>
              <a:rPr lang="en-US" sz="3200" b="1" dirty="0">
                <a:solidFill>
                  <a:srgbClr val="FFFF00"/>
                </a:solidFill>
                <a:latin typeface="Arial Bold"/>
                <a:ea typeface="Arial Bold"/>
                <a:cs typeface="Arial Bold"/>
                <a:sym typeface="Arial Bold"/>
              </a:rPr>
              <a:t>Mô </a:t>
            </a:r>
            <a:r>
              <a:rPr lang="en-US" sz="3200" b="1" dirty="0" err="1">
                <a:solidFill>
                  <a:srgbClr val="FFFF00"/>
                </a:solidFill>
                <a:latin typeface="Arial Bold"/>
                <a:ea typeface="Arial Bold"/>
                <a:cs typeface="Arial Bold"/>
                <a:sym typeface="Arial Bold"/>
              </a:rPr>
              <a:t>hình</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nhất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quán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khả</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năng</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tuần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tự</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hóa</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giao</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dịch</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167473" y="1346537"/>
            <a:ext cx="8839200" cy="2031325"/>
          </a:xfrm>
          <a:prstGeom prst="rect">
            <a:avLst/>
          </a:prstGeom>
          <a:noFill/>
        </p:spPr>
        <p:txBody>
          <a:bodyPr wrap="square">
            <a:spAutoFit/>
          </a:bodyPr>
          <a:lstStyle/>
          <a:p>
            <a:r>
              <a:rPr lang="vi-VN" dirty="0"/>
              <a:t>Liệu chúng ta có thể sắp xếp thứ tự thực thi của tất cả các thao tác trong một tập giao dịch sao cho kết quả cuối cùng giống với một quá trình thực thi tuần tự (serial) các giao dịch đó không?</a:t>
            </a:r>
            <a:endParaRPr lang="en-US" dirty="0"/>
          </a:p>
          <a:p>
            <a:endParaRPr lang="en-US" dirty="0"/>
          </a:p>
          <a:p>
            <a:endParaRPr lang="en-US" dirty="0"/>
          </a:p>
          <a:p>
            <a:r>
              <a:rPr lang="vi-VN" b="1" dirty="0"/>
              <a:t>Serializability</a:t>
            </a:r>
            <a:r>
              <a:rPr lang="vi-VN" dirty="0"/>
              <a:t> là một trong những tiêu chí quan trọng trong hệ thống cơ sở dữ liệu để đảm bảo tính đúng đắn khi có đồng thời nhiều giao dịch diễn ra.</a:t>
            </a:r>
          </a:p>
        </p:txBody>
      </p:sp>
      <p:pic>
        <p:nvPicPr>
          <p:cNvPr id="10" name="Picture 9">
            <a:extLst>
              <a:ext uri="{FF2B5EF4-FFF2-40B4-BE49-F238E27FC236}">
                <a16:creationId xmlns:a16="http://schemas.microsoft.com/office/drawing/2014/main" id="{4864ABF4-59B8-405F-AEA1-8755CC0BDFAE}"/>
              </a:ext>
            </a:extLst>
          </p:cNvPr>
          <p:cNvPicPr>
            <a:picLocks noChangeAspect="1"/>
          </p:cNvPicPr>
          <p:nvPr/>
        </p:nvPicPr>
        <p:blipFill>
          <a:blip r:embed="rId3"/>
          <a:stretch>
            <a:fillRect/>
          </a:stretch>
        </p:blipFill>
        <p:spPr>
          <a:xfrm>
            <a:off x="746238" y="3497526"/>
            <a:ext cx="7681669" cy="1455474"/>
          </a:xfrm>
          <a:prstGeom prst="rect">
            <a:avLst/>
          </a:prstGeom>
        </p:spPr>
      </p:pic>
      <p:pic>
        <p:nvPicPr>
          <p:cNvPr id="12" name="Picture 11">
            <a:extLst>
              <a:ext uri="{FF2B5EF4-FFF2-40B4-BE49-F238E27FC236}">
                <a16:creationId xmlns:a16="http://schemas.microsoft.com/office/drawing/2014/main" id="{40106815-1D43-439D-8B3C-DB19E391F012}"/>
              </a:ext>
            </a:extLst>
          </p:cNvPr>
          <p:cNvPicPr>
            <a:picLocks noChangeAspect="1"/>
          </p:cNvPicPr>
          <p:nvPr/>
        </p:nvPicPr>
        <p:blipFill>
          <a:blip r:embed="rId4"/>
          <a:stretch>
            <a:fillRect/>
          </a:stretch>
        </p:blipFill>
        <p:spPr>
          <a:xfrm>
            <a:off x="469295" y="4953000"/>
            <a:ext cx="8537378" cy="1893629"/>
          </a:xfrm>
          <a:prstGeom prst="rect">
            <a:avLst/>
          </a:prstGeom>
        </p:spPr>
      </p:pic>
    </p:spTree>
    <p:extLst>
      <p:ext uri="{BB962C8B-B14F-4D97-AF65-F5344CB8AC3E}">
        <p14:creationId xmlns:p14="http://schemas.microsoft.com/office/powerpoint/2010/main" val="159134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Hoạt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động</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nhóm</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485168" y="1503164"/>
            <a:ext cx="7620000" cy="4308872"/>
          </a:xfrm>
          <a:prstGeom prst="rect">
            <a:avLst/>
          </a:prstGeom>
          <a:noFill/>
        </p:spPr>
        <p:txBody>
          <a:bodyPr wrap="square">
            <a:spAutoFit/>
          </a:bodyPr>
          <a:lstStyle/>
          <a:p>
            <a:r>
              <a:rPr lang="vi-VN" sz="2000" b="1" dirty="0"/>
              <a:t>Nhất quán theo khóa</a:t>
            </a:r>
            <a:endParaRPr lang="en-US" sz="2000" b="1" dirty="0"/>
          </a:p>
          <a:p>
            <a:endParaRPr lang="en-US" sz="2000" b="1" dirty="0"/>
          </a:p>
          <a:p>
            <a:r>
              <a:rPr lang="vi-VN" dirty="0"/>
              <a:t>Định nghĩa</a:t>
            </a:r>
            <a:endParaRPr lang="en-US" dirty="0"/>
          </a:p>
          <a:p>
            <a:pPr marL="285750" indent="-285750">
              <a:buFont typeface="Arial" panose="020B0604020202020204" pitchFamily="34" charset="0"/>
              <a:buChar char="•"/>
            </a:pPr>
            <a:r>
              <a:rPr lang="vi-VN" dirty="0"/>
              <a:t>Việc truy cập các khóa (locks) là tuần tự nhất quán (sequentially consistent).</a:t>
            </a:r>
            <a:endParaRPr lang="en-US" dirty="0"/>
          </a:p>
          <a:p>
            <a:pPr marL="285750" indent="-285750">
              <a:buFont typeface="Arial" panose="020B0604020202020204" pitchFamily="34" charset="0"/>
              <a:buChar char="•"/>
            </a:pPr>
            <a:r>
              <a:rPr lang="vi-VN" dirty="0"/>
              <a:t>Không cho phép truy cập bất kỳ khóa nào cho đến khi tất cả các thao tác ghi trước đó đã hoàn tất ở mọi nơi.</a:t>
            </a:r>
            <a:endParaRPr lang="en-US" dirty="0"/>
          </a:p>
          <a:p>
            <a:pPr marL="285750" indent="-285750">
              <a:buFont typeface="Arial" panose="020B0604020202020204" pitchFamily="34" charset="0"/>
              <a:buChar char="•"/>
            </a:pPr>
            <a:r>
              <a:rPr lang="vi-VN" dirty="0"/>
              <a:t>Không cho phép truy cập dữ liệu cho đến khi tất cả các lần truy cập trước đó vào khóa đã được thực hiện.</a:t>
            </a:r>
            <a:endParaRPr lang="en-US" dirty="0"/>
          </a:p>
          <a:p>
            <a:endParaRPr lang="en-US" dirty="0"/>
          </a:p>
          <a:p>
            <a:r>
              <a:rPr lang="vi-VN" b="1" dirty="0"/>
              <a:t>Ý tưởng cơ bản</a:t>
            </a:r>
            <a:endParaRPr lang="en-US" b="1" dirty="0"/>
          </a:p>
          <a:p>
            <a:pPr marL="285750" indent="-285750">
              <a:buFont typeface="Arial" panose="020B0604020202020204" pitchFamily="34" charset="0"/>
              <a:buChar char="•"/>
            </a:pPr>
            <a:r>
              <a:rPr lang="vi-VN" dirty="0"/>
              <a:t>Bạn không cần các thao tác đọc và ghi trong một chuỗi hành động phải được biết ngay lập tức bởi các tiến trình khác.</a:t>
            </a:r>
            <a:endParaRPr lang="en-US" dirty="0"/>
          </a:p>
          <a:p>
            <a:pPr marL="285750" indent="-285750">
              <a:buFont typeface="Arial" panose="020B0604020202020204" pitchFamily="34" charset="0"/>
              <a:buChar char="•"/>
            </a:pPr>
            <a:r>
              <a:rPr lang="vi-VN" dirty="0"/>
              <a:t>Điều bạn cần là tác động tổng thể của cả chuỗi thao tác phải được biết đến.</a:t>
            </a:r>
          </a:p>
        </p:txBody>
      </p:sp>
    </p:spTree>
    <p:extLst>
      <p:ext uri="{BB962C8B-B14F-4D97-AF65-F5344CB8AC3E}">
        <p14:creationId xmlns:p14="http://schemas.microsoft.com/office/powerpoint/2010/main" val="1741671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183382" y="0"/>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Hoạt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động</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nhóm</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304800" y="1447800"/>
            <a:ext cx="7543800" cy="400110"/>
          </a:xfrm>
          <a:prstGeom prst="rect">
            <a:avLst/>
          </a:prstGeom>
          <a:noFill/>
        </p:spPr>
        <p:txBody>
          <a:bodyPr wrap="square">
            <a:spAutoFit/>
          </a:bodyPr>
          <a:lstStyle/>
          <a:p>
            <a:r>
              <a:rPr lang="vi-VN" sz="2000" dirty="0">
                <a:latin typeface="+mj-lt"/>
              </a:rPr>
              <a:t>Một chuỗi sự kiện hợp lệ cho tính nhất quán của</a:t>
            </a:r>
            <a:r>
              <a:rPr lang="en-US" sz="2000" dirty="0">
                <a:latin typeface="+mj-lt"/>
              </a:rPr>
              <a:t> </a:t>
            </a:r>
            <a:r>
              <a:rPr lang="en-US" sz="2000" dirty="0" err="1">
                <a:latin typeface="+mj-lt"/>
              </a:rPr>
              <a:t>dữ</a:t>
            </a:r>
            <a:r>
              <a:rPr lang="en-US" sz="2000" dirty="0">
                <a:latin typeface="+mj-lt"/>
              </a:rPr>
              <a:t> </a:t>
            </a:r>
            <a:r>
              <a:rPr lang="en-US" sz="2000" dirty="0" err="1">
                <a:latin typeface="+mj-lt"/>
              </a:rPr>
              <a:t>liệu</a:t>
            </a:r>
            <a:r>
              <a:rPr lang="vi-VN" sz="2000" dirty="0">
                <a:latin typeface="+mj-lt"/>
              </a:rPr>
              <a:t> </a:t>
            </a:r>
            <a:r>
              <a:rPr lang="en-US" sz="2000" dirty="0" err="1">
                <a:latin typeface="+mj-lt"/>
              </a:rPr>
              <a:t>đầu</a:t>
            </a:r>
            <a:r>
              <a:rPr lang="en-US" sz="2000" dirty="0">
                <a:latin typeface="+mj-lt"/>
              </a:rPr>
              <a:t> </a:t>
            </a:r>
            <a:r>
              <a:rPr lang="en-US" sz="2000" dirty="0" err="1">
                <a:latin typeface="+mj-lt"/>
              </a:rPr>
              <a:t>vào</a:t>
            </a:r>
            <a:endParaRPr lang="vi-VN" sz="2000" dirty="0">
              <a:latin typeface="+mj-lt"/>
            </a:endParaRPr>
          </a:p>
        </p:txBody>
      </p:sp>
      <p:pic>
        <p:nvPicPr>
          <p:cNvPr id="7" name="Picture 6">
            <a:extLst>
              <a:ext uri="{FF2B5EF4-FFF2-40B4-BE49-F238E27FC236}">
                <a16:creationId xmlns:a16="http://schemas.microsoft.com/office/drawing/2014/main" id="{EE824645-D6AF-41D9-ABC0-A58A1DD0428C}"/>
              </a:ext>
            </a:extLst>
          </p:cNvPr>
          <p:cNvPicPr>
            <a:picLocks noChangeAspect="1"/>
          </p:cNvPicPr>
          <p:nvPr/>
        </p:nvPicPr>
        <p:blipFill>
          <a:blip r:embed="rId3"/>
          <a:stretch>
            <a:fillRect/>
          </a:stretch>
        </p:blipFill>
        <p:spPr>
          <a:xfrm>
            <a:off x="887551" y="2220884"/>
            <a:ext cx="6937103" cy="1352879"/>
          </a:xfrm>
          <a:prstGeom prst="rect">
            <a:avLst/>
          </a:prstGeom>
        </p:spPr>
      </p:pic>
      <p:sp>
        <p:nvSpPr>
          <p:cNvPr id="9" name="TextBox 8">
            <a:extLst>
              <a:ext uri="{FF2B5EF4-FFF2-40B4-BE49-F238E27FC236}">
                <a16:creationId xmlns:a16="http://schemas.microsoft.com/office/drawing/2014/main" id="{50359906-FB9A-4255-A30B-C0725AAFCE64}"/>
              </a:ext>
            </a:extLst>
          </p:cNvPr>
          <p:cNvSpPr txBox="1"/>
          <p:nvPr/>
        </p:nvSpPr>
        <p:spPr>
          <a:xfrm>
            <a:off x="290564" y="3623703"/>
            <a:ext cx="9158235" cy="2585323"/>
          </a:xfrm>
          <a:prstGeom prst="rect">
            <a:avLst/>
          </a:prstGeom>
          <a:noFill/>
        </p:spPr>
        <p:txBody>
          <a:bodyPr wrap="square" rtlCol="0">
            <a:spAutoFit/>
          </a:bodyPr>
          <a:lstStyle/>
          <a:p>
            <a:r>
              <a:rPr lang="vi-VN" b="1" dirty="0"/>
              <a:t>Quan sát</a:t>
            </a:r>
          </a:p>
          <a:p>
            <a:r>
              <a:rPr lang="vi-VN" dirty="0"/>
              <a:t>Nhất quán theo khóa hàm ý rằng chúng ta </a:t>
            </a:r>
            <a:r>
              <a:rPr lang="vi-VN" b="1" dirty="0"/>
              <a:t>cần khóa và mở khóa dữ liệu</a:t>
            </a:r>
            <a:r>
              <a:rPr lang="vi-VN" dirty="0"/>
              <a:t> (dù là </a:t>
            </a:r>
            <a:r>
              <a:rPr lang="vi-VN" b="1" dirty="0"/>
              <a:t>tường minh</a:t>
            </a:r>
            <a:r>
              <a:rPr lang="vi-VN" dirty="0"/>
              <a:t> hay </a:t>
            </a:r>
            <a:r>
              <a:rPr lang="vi-VN" b="1" dirty="0"/>
              <a:t>ngầm định</a:t>
            </a:r>
            <a:r>
              <a:rPr lang="vi-VN" dirty="0"/>
              <a:t>).</a:t>
            </a:r>
            <a:endParaRPr lang="en-US" dirty="0"/>
          </a:p>
          <a:p>
            <a:endParaRPr lang="en-US" dirty="0"/>
          </a:p>
          <a:p>
            <a:endParaRPr lang="vi-VN" dirty="0"/>
          </a:p>
          <a:p>
            <a:r>
              <a:rPr lang="vi-VN" b="1" dirty="0">
                <a:solidFill>
                  <a:srgbClr val="FF0000"/>
                </a:solidFill>
              </a:rPr>
              <a:t>Câu hỏi</a:t>
            </a:r>
          </a:p>
          <a:p>
            <a:r>
              <a:rPr lang="vi-VN" dirty="0"/>
              <a:t>Làm thế nào để triển khai một cách tiện lợi nhằm khiến cho cơ chế nhất quán này trở nên minh bạch hơn hoặc ít gây chú ý đối với lập trình viên?</a:t>
            </a:r>
          </a:p>
          <a:p>
            <a:endParaRPr lang="en-US" dirty="0"/>
          </a:p>
        </p:txBody>
      </p:sp>
    </p:spTree>
    <p:extLst>
      <p:ext uri="{BB962C8B-B14F-4D97-AF65-F5344CB8AC3E}">
        <p14:creationId xmlns:p14="http://schemas.microsoft.com/office/powerpoint/2010/main" val="3106771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Nhất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quán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cuối</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cùng</a:t>
            </a:r>
            <a:r>
              <a:rPr lang="en-US" sz="3200" b="1" dirty="0">
                <a:solidFill>
                  <a:srgbClr val="FFFF00"/>
                </a:solidFill>
                <a:latin typeface="Arial Bold"/>
                <a:ea typeface="Arial Bold"/>
                <a:cs typeface="Arial Bold"/>
                <a:sym typeface="Arial Bold"/>
              </a:rPr>
              <a:t> </a:t>
            </a:r>
          </a:p>
        </p:txBody>
      </p:sp>
      <p:pic>
        <p:nvPicPr>
          <p:cNvPr id="13" name="Picture 12">
            <a:extLst>
              <a:ext uri="{FF2B5EF4-FFF2-40B4-BE49-F238E27FC236}">
                <a16:creationId xmlns:a16="http://schemas.microsoft.com/office/drawing/2014/main" id="{4F8D325E-F85F-4698-9D2F-A07C77023866}"/>
              </a:ext>
            </a:extLst>
          </p:cNvPr>
          <p:cNvPicPr>
            <a:picLocks noChangeAspect="1"/>
          </p:cNvPicPr>
          <p:nvPr/>
        </p:nvPicPr>
        <p:blipFill>
          <a:blip r:embed="rId3"/>
          <a:stretch>
            <a:fillRect/>
          </a:stretch>
        </p:blipFill>
        <p:spPr>
          <a:xfrm>
            <a:off x="385714" y="3383200"/>
            <a:ext cx="8067406" cy="1545545"/>
          </a:xfrm>
          <a:prstGeom prst="rect">
            <a:avLst/>
          </a:prstGeom>
        </p:spPr>
      </p:pic>
      <p:pic>
        <p:nvPicPr>
          <p:cNvPr id="15" name="Picture 14">
            <a:extLst>
              <a:ext uri="{FF2B5EF4-FFF2-40B4-BE49-F238E27FC236}">
                <a16:creationId xmlns:a16="http://schemas.microsoft.com/office/drawing/2014/main" id="{9726C0C4-3D0A-4937-A544-2D0122EA9749}"/>
              </a:ext>
            </a:extLst>
          </p:cNvPr>
          <p:cNvPicPr>
            <a:picLocks noChangeAspect="1"/>
          </p:cNvPicPr>
          <p:nvPr/>
        </p:nvPicPr>
        <p:blipFill>
          <a:blip r:embed="rId4"/>
          <a:stretch>
            <a:fillRect/>
          </a:stretch>
        </p:blipFill>
        <p:spPr>
          <a:xfrm>
            <a:off x="385714" y="1438775"/>
            <a:ext cx="8067409" cy="1953162"/>
          </a:xfrm>
          <a:prstGeom prst="rect">
            <a:avLst/>
          </a:prstGeom>
        </p:spPr>
      </p:pic>
      <p:pic>
        <p:nvPicPr>
          <p:cNvPr id="17" name="Picture 16">
            <a:extLst>
              <a:ext uri="{FF2B5EF4-FFF2-40B4-BE49-F238E27FC236}">
                <a16:creationId xmlns:a16="http://schemas.microsoft.com/office/drawing/2014/main" id="{AAE1BA2E-7B95-48F9-A1E7-E9809B2BAECF}"/>
              </a:ext>
            </a:extLst>
          </p:cNvPr>
          <p:cNvPicPr>
            <a:picLocks noChangeAspect="1"/>
          </p:cNvPicPr>
          <p:nvPr/>
        </p:nvPicPr>
        <p:blipFill>
          <a:blip r:embed="rId5"/>
          <a:stretch>
            <a:fillRect/>
          </a:stretch>
        </p:blipFill>
        <p:spPr>
          <a:xfrm>
            <a:off x="355569" y="5058306"/>
            <a:ext cx="8067411" cy="1971110"/>
          </a:xfrm>
          <a:prstGeom prst="rect">
            <a:avLst/>
          </a:prstGeom>
        </p:spPr>
      </p:pic>
    </p:spTree>
    <p:extLst>
      <p:ext uri="{BB962C8B-B14F-4D97-AF65-F5344CB8AC3E}">
        <p14:creationId xmlns:p14="http://schemas.microsoft.com/office/powerpoint/2010/main" val="1570408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Sự</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nhất</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quán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liên</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tục</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228600" y="1828800"/>
            <a:ext cx="8915400" cy="3693319"/>
          </a:xfrm>
          <a:prstGeom prst="rect">
            <a:avLst/>
          </a:prstGeom>
          <a:noFill/>
        </p:spPr>
        <p:txBody>
          <a:bodyPr wrap="square">
            <a:spAutoFit/>
          </a:bodyPr>
          <a:lstStyle/>
          <a:p>
            <a:r>
              <a:rPr lang="vi-VN" dirty="0"/>
              <a:t>Chúng ta thực ra có thể nói về mức độ nhất quán (degree of consistency)</a:t>
            </a:r>
            <a:endParaRPr lang="en-US" dirty="0"/>
          </a:p>
          <a:p>
            <a:pPr marL="285750" indent="-285750">
              <a:buFont typeface="Arial" panose="020B0604020202020204" pitchFamily="34" charset="0"/>
              <a:buChar char="•"/>
            </a:pPr>
            <a:r>
              <a:rPr lang="vi-VN" dirty="0"/>
              <a:t>Các bản sao (replica) có thể khác nhau về giá trị số (numerical value).</a:t>
            </a:r>
            <a:endParaRPr lang="en-US" dirty="0"/>
          </a:p>
          <a:p>
            <a:pPr marL="285750" indent="-285750">
              <a:buFont typeface="Arial" panose="020B0604020202020204" pitchFamily="34" charset="0"/>
              <a:buChar char="•"/>
            </a:pPr>
            <a:r>
              <a:rPr lang="vi-VN" dirty="0"/>
              <a:t>Các bản sao có thể khác nhau về độ trễ tương đối (relative staleness).</a:t>
            </a:r>
            <a:endParaRPr lang="en-US" dirty="0"/>
          </a:p>
          <a:p>
            <a:pPr marL="285750" indent="-285750">
              <a:buFont typeface="Arial" panose="020B0604020202020204" pitchFamily="34" charset="0"/>
              <a:buChar char="•"/>
            </a:pPr>
            <a:r>
              <a:rPr lang="vi-VN" dirty="0"/>
              <a:t>Có thể có sự khác biệt về số lượng và thứ tự của các thao tác cập nhật đã được thực hiện.</a:t>
            </a:r>
            <a:endParaRPr lang="en-US" dirty="0"/>
          </a:p>
          <a:p>
            <a:endParaRPr lang="en-US" dirty="0"/>
          </a:p>
          <a:p>
            <a:endParaRPr lang="en-US" dirty="0"/>
          </a:p>
          <a:p>
            <a:endParaRPr lang="en-US" dirty="0"/>
          </a:p>
          <a:p>
            <a:endParaRPr lang="en-US" dirty="0"/>
          </a:p>
          <a:p>
            <a:endParaRPr lang="en-US" dirty="0"/>
          </a:p>
          <a:p>
            <a:r>
              <a:rPr lang="vi-VN" b="1" dirty="0">
                <a:solidFill>
                  <a:srgbClr val="FF0000"/>
                </a:solidFill>
              </a:rPr>
              <a:t>Conit</a:t>
            </a:r>
            <a:endParaRPr lang="en-US" b="1" dirty="0">
              <a:solidFill>
                <a:srgbClr val="FF0000"/>
              </a:solidFill>
            </a:endParaRPr>
          </a:p>
          <a:p>
            <a:r>
              <a:rPr lang="vi-VN" dirty="0"/>
              <a:t>Đơn vị nhất quán (Consistency unit) ⇒ xác định đơn vị dữ liệu mà trên đó mức độ nhất quán sẽ được đo lường.</a:t>
            </a:r>
          </a:p>
        </p:txBody>
      </p:sp>
    </p:spTree>
    <p:extLst>
      <p:ext uri="{BB962C8B-B14F-4D97-AF65-F5344CB8AC3E}">
        <p14:creationId xmlns:p14="http://schemas.microsoft.com/office/powerpoint/2010/main" val="3759387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487680" y="31274"/>
            <a:ext cx="7965440" cy="1106646"/>
          </a:xfrm>
          <a:prstGeom prst="rect">
            <a:avLst/>
          </a:prstGeom>
        </p:spPr>
        <p:txBody>
          <a:bodyPr lIns="0" tIns="0" rIns="0" bIns="0" rtlCol="0" anchor="ctr"/>
          <a:lstStyle/>
          <a:p>
            <a:pPr algn="l">
              <a:lnSpc>
                <a:spcPts val="3840"/>
              </a:lnSpc>
            </a:pPr>
            <a:r>
              <a:rPr lang="en-US" sz="3200" b="1" dirty="0" err="1">
                <a:solidFill>
                  <a:srgbClr val="FFFF00"/>
                </a:solidFill>
                <a:latin typeface="Arial Bold"/>
                <a:ea typeface="Arial Bold"/>
                <a:cs typeface="Arial Bold"/>
                <a:sym typeface="Arial Bold"/>
              </a:rPr>
              <a:t>Ví</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dụ</a:t>
            </a:r>
            <a:r>
              <a:rPr lang="en-US" sz="3200" b="1" dirty="0">
                <a:solidFill>
                  <a:srgbClr val="FFFF00"/>
                </a:solidFill>
                <a:latin typeface="Arial Bold"/>
                <a:ea typeface="Arial Bold"/>
                <a:cs typeface="Arial Bold"/>
                <a:sym typeface="Arial Bold"/>
              </a:rPr>
              <a:t> </a:t>
            </a:r>
            <a:r>
              <a:rPr lang="en-US" sz="3200" b="1" dirty="0" err="1">
                <a:solidFill>
                  <a:srgbClr val="FFFF00"/>
                </a:solidFill>
                <a:latin typeface="Arial Bold"/>
                <a:ea typeface="Arial Bold"/>
                <a:cs typeface="Arial Bold"/>
                <a:sym typeface="Arial Bold"/>
              </a:rPr>
              <a:t>conit</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533400" y="4648200"/>
            <a:ext cx="8763000" cy="2031325"/>
          </a:xfrm>
          <a:prstGeom prst="rect">
            <a:avLst/>
          </a:prstGeom>
          <a:noFill/>
        </p:spPr>
        <p:txBody>
          <a:bodyPr wrap="square">
            <a:spAutoFit/>
          </a:bodyPr>
          <a:lstStyle/>
          <a:p>
            <a:r>
              <a:rPr lang="vi-VN" b="1" dirty="0">
                <a:solidFill>
                  <a:srgbClr val="FF0000"/>
                </a:solidFill>
              </a:rPr>
              <a:t>Conit</a:t>
            </a:r>
            <a:r>
              <a:rPr lang="vi-VN" dirty="0"/>
              <a:t> (chứa các biến g, p, và d)</a:t>
            </a:r>
            <a:endParaRPr lang="en-US" dirty="0"/>
          </a:p>
          <a:p>
            <a:pPr marL="285750" indent="-285750">
              <a:buFont typeface="Arial" panose="020B0604020202020204" pitchFamily="34" charset="0"/>
              <a:buChar char="•"/>
            </a:pPr>
            <a:r>
              <a:rPr lang="vi-VN" dirty="0"/>
              <a:t>Mỗi bản sao (replica) có một vector clock: ([thời gian đã biết] tại A, [thời gian đã biết] tại B).</a:t>
            </a:r>
            <a:endParaRPr lang="en-US" dirty="0"/>
          </a:p>
          <a:p>
            <a:pPr marL="285750" indent="-285750">
              <a:buFont typeface="Arial" panose="020B0604020202020204" pitchFamily="34" charset="0"/>
              <a:buChar char="•"/>
            </a:pPr>
            <a:r>
              <a:rPr lang="vi-VN" dirty="0"/>
              <a:t>Tiến trình B gửi thao tác cho A:[⟨5, B⟩ : g ← d + 45].</a:t>
            </a:r>
            <a:endParaRPr lang="en-US" dirty="0"/>
          </a:p>
          <a:p>
            <a:pPr marL="285750" indent="-285750">
              <a:buFont typeface="Arial" panose="020B0604020202020204" pitchFamily="34" charset="0"/>
              <a:buChar char="•"/>
            </a:pPr>
            <a:r>
              <a:rPr lang="vi-VN" dirty="0"/>
              <a:t>A đã thực hiện thao tác này một cách vĩnh viễn (không thể quay lại hay hủy bỏ).</a:t>
            </a:r>
            <a:endParaRPr lang="en-US" dirty="0"/>
          </a:p>
          <a:p>
            <a:pPr marL="285750" indent="-285750">
              <a:buFont typeface="Arial" panose="020B0604020202020204" pitchFamily="34" charset="0"/>
              <a:buChar char="•"/>
            </a:pPr>
            <a:r>
              <a:rPr lang="vi-VN" dirty="0"/>
              <a:t>A có ba thao tác đang chờ xử lý ⇒ độ lệch thứ tự = 3</a:t>
            </a:r>
            <a:endParaRPr lang="en-US" dirty="0"/>
          </a:p>
          <a:p>
            <a:pPr marL="285750" indent="-285750">
              <a:buFont typeface="Arial" panose="020B0604020202020204" pitchFamily="34" charset="0"/>
              <a:buChar char="•"/>
            </a:pPr>
            <a:r>
              <a:rPr lang="vi-VN" dirty="0"/>
              <a:t>A đã bỏ qua hai thao tác từ B; chênh lệch tối đa là 70 + 412 đơn vị ⇒ (2, 482).</a:t>
            </a:r>
          </a:p>
        </p:txBody>
      </p:sp>
      <p:pic>
        <p:nvPicPr>
          <p:cNvPr id="7" name="object 6">
            <a:extLst>
              <a:ext uri="{FF2B5EF4-FFF2-40B4-BE49-F238E27FC236}">
                <a16:creationId xmlns:a16="http://schemas.microsoft.com/office/drawing/2014/main" id="{5F4E9A79-8380-433C-8DA8-27E9CCB21195}"/>
              </a:ext>
            </a:extLst>
          </p:cNvPr>
          <p:cNvPicPr/>
          <p:nvPr/>
        </p:nvPicPr>
        <p:blipFill>
          <a:blip r:embed="rId3" cstate="print"/>
          <a:stretch>
            <a:fillRect/>
          </a:stretch>
        </p:blipFill>
        <p:spPr>
          <a:xfrm>
            <a:off x="1981200" y="1371600"/>
            <a:ext cx="5486400" cy="2963941"/>
          </a:xfrm>
          <a:prstGeom prst="rect">
            <a:avLst/>
          </a:prstGeom>
        </p:spPr>
      </p:pic>
    </p:spTree>
    <p:extLst>
      <p:ext uri="{BB962C8B-B14F-4D97-AF65-F5344CB8AC3E}">
        <p14:creationId xmlns:p14="http://schemas.microsoft.com/office/powerpoint/2010/main" val="2109915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6" name="TextBox 6"/>
          <p:cNvSpPr txBox="1"/>
          <p:nvPr/>
        </p:nvSpPr>
        <p:spPr>
          <a:xfrm>
            <a:off x="228600" y="37681"/>
            <a:ext cx="7965440" cy="1106646"/>
          </a:xfrm>
          <a:prstGeom prst="rect">
            <a:avLst/>
          </a:prstGeom>
        </p:spPr>
        <p:txBody>
          <a:bodyPr lIns="0" tIns="0" rIns="0" bIns="0" rtlCol="0" anchor="ctr"/>
          <a:lstStyle/>
          <a:p>
            <a:pPr algn="l">
              <a:lnSpc>
                <a:spcPts val="3840"/>
              </a:lnSpc>
            </a:pPr>
            <a:r>
              <a:rPr lang="vi-VN" sz="3200" b="1" dirty="0">
                <a:solidFill>
                  <a:srgbClr val="FFFF00"/>
                </a:solidFill>
                <a:latin typeface="Arial Bold"/>
                <a:ea typeface="Arial Bold"/>
                <a:cs typeface="Arial Bold"/>
                <a:sym typeface="Arial Bold"/>
              </a:rPr>
              <a:t>Sự nhất quán cho người dùng di động</a:t>
            </a:r>
            <a:endParaRPr lang="en-US" sz="3200" b="1" dirty="0">
              <a:solidFill>
                <a:srgbClr val="FFFF00"/>
              </a:solidFill>
              <a:latin typeface="Arial Bold"/>
              <a:ea typeface="Arial Bold"/>
              <a:cs typeface="Arial Bold"/>
              <a:sym typeface="Arial Bold"/>
            </a:endParaRPr>
          </a:p>
        </p:txBody>
      </p:sp>
      <p:sp>
        <p:nvSpPr>
          <p:cNvPr id="8" name="TextBox 7">
            <a:extLst>
              <a:ext uri="{FF2B5EF4-FFF2-40B4-BE49-F238E27FC236}">
                <a16:creationId xmlns:a16="http://schemas.microsoft.com/office/drawing/2014/main" id="{FB99AFE8-4D2A-4D12-88E0-19BC7F3C3BB2}"/>
              </a:ext>
            </a:extLst>
          </p:cNvPr>
          <p:cNvSpPr txBox="1"/>
          <p:nvPr/>
        </p:nvSpPr>
        <p:spPr>
          <a:xfrm>
            <a:off x="76200" y="1524000"/>
            <a:ext cx="9448800" cy="4801314"/>
          </a:xfrm>
          <a:prstGeom prst="rect">
            <a:avLst/>
          </a:prstGeom>
          <a:noFill/>
        </p:spPr>
        <p:txBody>
          <a:bodyPr wrap="square">
            <a:spAutoFit/>
          </a:bodyPr>
          <a:lstStyle/>
          <a:p>
            <a:r>
              <a:rPr lang="vi-VN" dirty="0"/>
              <a:t>Xét một cơ sở dữ liệu phân tán mà bạn có quyền truy cập qua máy tính xách tay của mình. Giả sử máy tính xách tay của bạn hoạt động như một </a:t>
            </a:r>
            <a:r>
              <a:rPr lang="vi-VN" b="1" dirty="0"/>
              <a:t>giao diện (front end)</a:t>
            </a:r>
            <a:r>
              <a:rPr lang="vi-VN" dirty="0"/>
              <a:t> cho cơ sở dữ liệu này.</a:t>
            </a:r>
          </a:p>
          <a:p>
            <a:pPr>
              <a:buFont typeface="Arial" panose="020B0604020202020204" pitchFamily="34" charset="0"/>
              <a:buChar char="•"/>
            </a:pPr>
            <a:r>
              <a:rPr lang="vi-VN" dirty="0"/>
              <a:t>Tại </a:t>
            </a:r>
            <a:r>
              <a:rPr lang="vi-VN" b="1" dirty="0"/>
              <a:t>vị trí A</a:t>
            </a:r>
            <a:r>
              <a:rPr lang="vi-VN" dirty="0"/>
              <a:t>, bạn truy cập cơ sở dữ liệu để thực hiện các thao tác </a:t>
            </a:r>
            <a:r>
              <a:rPr lang="vi-VN" b="1" dirty="0"/>
              <a:t>đọc</a:t>
            </a:r>
            <a:r>
              <a:rPr lang="vi-VN" dirty="0"/>
              <a:t> và </a:t>
            </a:r>
            <a:r>
              <a:rPr lang="vi-VN" b="1" dirty="0"/>
              <a:t>cập nhật</a:t>
            </a:r>
            <a:r>
              <a:rPr lang="vi-VN" dirty="0"/>
              <a:t>.</a:t>
            </a:r>
          </a:p>
          <a:p>
            <a:pPr>
              <a:buFont typeface="Arial" panose="020B0604020202020204" pitchFamily="34" charset="0"/>
              <a:buChar char="•"/>
            </a:pPr>
            <a:r>
              <a:rPr lang="vi-VN" dirty="0"/>
              <a:t>Tại </a:t>
            </a:r>
            <a:r>
              <a:rPr lang="vi-VN" b="1" dirty="0"/>
              <a:t>vị trí B</a:t>
            </a:r>
            <a:r>
              <a:rPr lang="vi-VN" dirty="0"/>
              <a:t>, bạn tiếp tục công việc của mình, nhưng trừ khi bạn truy cập vào </a:t>
            </a:r>
            <a:r>
              <a:rPr lang="vi-VN" b="1" dirty="0"/>
              <a:t>cùng một máy chủ</a:t>
            </a:r>
            <a:r>
              <a:rPr lang="vi-VN" dirty="0"/>
              <a:t> như tại vị trí A, bạn có thể phát hiện ra sự </a:t>
            </a:r>
            <a:r>
              <a:rPr lang="vi-VN" b="1" dirty="0"/>
              <a:t>không nhất quán</a:t>
            </a:r>
            <a:r>
              <a:rPr lang="vi-VN" dirty="0"/>
              <a:t>:</a:t>
            </a:r>
          </a:p>
          <a:p>
            <a:pPr marL="742950" lvl="1" indent="-285750">
              <a:buFont typeface="Arial" panose="020B0604020202020204" pitchFamily="34" charset="0"/>
              <a:buChar char="•"/>
            </a:pPr>
            <a:r>
              <a:rPr lang="vi-VN" dirty="0"/>
              <a:t>Các </a:t>
            </a:r>
            <a:r>
              <a:rPr lang="vi-VN" b="1" dirty="0"/>
              <a:t>cập nhật</a:t>
            </a:r>
            <a:r>
              <a:rPr lang="vi-VN" dirty="0"/>
              <a:t> của bạn tại A có thể </a:t>
            </a:r>
            <a:r>
              <a:rPr lang="vi-VN" b="1" dirty="0"/>
              <a:t>chưa được truyền đạt</a:t>
            </a:r>
            <a:r>
              <a:rPr lang="vi-VN" dirty="0"/>
              <a:t> đến B.</a:t>
            </a:r>
          </a:p>
          <a:p>
            <a:pPr marL="742950" lvl="1" indent="-285750">
              <a:buFont typeface="Arial" panose="020B0604020202020204" pitchFamily="34" charset="0"/>
              <a:buChar char="•"/>
            </a:pPr>
            <a:r>
              <a:rPr lang="vi-VN" dirty="0"/>
              <a:t>Bạn có thể </a:t>
            </a:r>
            <a:r>
              <a:rPr lang="vi-VN" b="1" dirty="0"/>
              <a:t>đọc các mục mới hơn</a:t>
            </a:r>
            <a:r>
              <a:rPr lang="vi-VN" dirty="0"/>
              <a:t> so với những mục có sẵn tại A.</a:t>
            </a:r>
          </a:p>
          <a:p>
            <a:pPr marL="742950" lvl="1" indent="-285750">
              <a:buFont typeface="Arial" panose="020B0604020202020204" pitchFamily="34" charset="0"/>
              <a:buChar char="•"/>
            </a:pPr>
            <a:r>
              <a:rPr lang="vi-VN" dirty="0"/>
              <a:t>Các </a:t>
            </a:r>
            <a:r>
              <a:rPr lang="vi-VN" b="1" dirty="0"/>
              <a:t>cập nhật</a:t>
            </a:r>
            <a:r>
              <a:rPr lang="vi-VN" dirty="0"/>
              <a:t> của bạn tại B có thể </a:t>
            </a:r>
            <a:r>
              <a:rPr lang="vi-VN" b="1" dirty="0"/>
              <a:t>mâu thuẫn</a:t>
            </a:r>
            <a:r>
              <a:rPr lang="vi-VN" dirty="0"/>
              <a:t> với các cập nhật đã thực hiện tại A.</a:t>
            </a:r>
          </a:p>
          <a:p>
            <a:endParaRPr lang="en-US" dirty="0"/>
          </a:p>
          <a:p>
            <a:endParaRPr lang="en-US" dirty="0"/>
          </a:p>
          <a:p>
            <a:endParaRPr lang="en-US" dirty="0"/>
          </a:p>
          <a:p>
            <a:r>
              <a:rPr lang="vi-VN" b="1" dirty="0">
                <a:solidFill>
                  <a:srgbClr val="FF0000"/>
                </a:solidFill>
              </a:rPr>
              <a:t>Chú ý</a:t>
            </a:r>
          </a:p>
          <a:p>
            <a:r>
              <a:rPr lang="vi-VN" dirty="0"/>
              <a:t>Điều duy nhất bạn thực sự muốn là các mục dữ liệu mà bạn </a:t>
            </a:r>
            <a:r>
              <a:rPr lang="vi-VN" b="1" dirty="0"/>
              <a:t>cập nhật</a:t>
            </a:r>
            <a:r>
              <a:rPr lang="vi-VN" dirty="0"/>
              <a:t> và/hoặc </a:t>
            </a:r>
            <a:r>
              <a:rPr lang="vi-VN" b="1" dirty="0"/>
              <a:t>đọc</a:t>
            </a:r>
            <a:r>
              <a:rPr lang="vi-VN" dirty="0"/>
              <a:t> tại A, sẽ xuất hiện tại B theo cách bạn đã để chúng ở A. Trong trường hợp đó, cơ sở dữ liệu sẽ có vẻ </a:t>
            </a:r>
            <a:r>
              <a:rPr lang="vi-VN" b="1" dirty="0"/>
              <a:t>nhất quán</a:t>
            </a:r>
            <a:r>
              <a:rPr lang="vi-VN" dirty="0"/>
              <a:t> đối với bạn.</a:t>
            </a:r>
          </a:p>
          <a:p>
            <a:endParaRPr lang="vi-VN" dirty="0"/>
          </a:p>
        </p:txBody>
      </p:sp>
    </p:spTree>
    <p:extLst>
      <p:ext uri="{BB962C8B-B14F-4D97-AF65-F5344CB8AC3E}">
        <p14:creationId xmlns:p14="http://schemas.microsoft.com/office/powerpoint/2010/main" val="3884077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1061372" y="2212176"/>
            <a:ext cx="5895597" cy="3843539"/>
          </a:xfrm>
          <a:custGeom>
            <a:avLst/>
            <a:gdLst/>
            <a:ahLst/>
            <a:cxnLst/>
            <a:rect l="l" t="t" r="r" b="b"/>
            <a:pathLst>
              <a:path w="5895597" h="3843539">
                <a:moveTo>
                  <a:pt x="0" y="0"/>
                </a:moveTo>
                <a:lnTo>
                  <a:pt x="5895597" y="0"/>
                </a:lnTo>
                <a:lnTo>
                  <a:pt x="5895597" y="3843539"/>
                </a:lnTo>
                <a:lnTo>
                  <a:pt x="0" y="3843539"/>
                </a:lnTo>
                <a:lnTo>
                  <a:pt x="0" y="0"/>
                </a:lnTo>
                <a:close/>
              </a:path>
            </a:pathLst>
          </a:custGeom>
          <a:blipFill>
            <a:blip r:embed="rId3"/>
            <a:stretch>
              <a:fillRect/>
            </a:stretch>
          </a:blipFill>
        </p:spPr>
      </p:sp>
      <p:sp>
        <p:nvSpPr>
          <p:cNvPr id="5" name="TextBox 5"/>
          <p:cNvSpPr txBox="1"/>
          <p:nvPr/>
        </p:nvSpPr>
        <p:spPr>
          <a:xfrm>
            <a:off x="606899" y="188595"/>
            <a:ext cx="3231952" cy="542925"/>
          </a:xfrm>
          <a:prstGeom prst="rect">
            <a:avLst/>
          </a:prstGeom>
        </p:spPr>
        <p:txBody>
          <a:bodyPr lIns="0" tIns="0" rIns="0" bIns="0" rtlCol="0" anchor="t">
            <a:spAutoFit/>
          </a:bodyPr>
          <a:lstStyle/>
          <a:p>
            <a:pPr algn="ctr">
              <a:lnSpc>
                <a:spcPts val="3824"/>
              </a:lnSpc>
              <a:spcBef>
                <a:spcPct val="0"/>
              </a:spcBef>
            </a:pPr>
            <a:r>
              <a:rPr lang="en-US" sz="3186" b="1">
                <a:solidFill>
                  <a:srgbClr val="FFFF00"/>
                </a:solidFill>
                <a:latin typeface="Arial Bold"/>
                <a:ea typeface="Arial Bold"/>
                <a:cs typeface="Arial Bold"/>
                <a:sym typeface="Arial Bold"/>
              </a:rPr>
              <a:t>Kiến trúc cơ bản</a:t>
            </a:r>
          </a:p>
        </p:txBody>
      </p:sp>
      <p:sp>
        <p:nvSpPr>
          <p:cNvPr id="6" name="TextBox 6"/>
          <p:cNvSpPr txBox="1"/>
          <p:nvPr/>
        </p:nvSpPr>
        <p:spPr>
          <a:xfrm>
            <a:off x="166723" y="1245451"/>
            <a:ext cx="9420155" cy="832277"/>
          </a:xfrm>
          <a:prstGeom prst="rect">
            <a:avLst/>
          </a:prstGeom>
        </p:spPr>
        <p:txBody>
          <a:bodyPr lIns="0" tIns="0" rIns="0" bIns="0" rtlCol="0" anchor="t">
            <a:spAutoFit/>
          </a:bodyPr>
          <a:lstStyle/>
          <a:p>
            <a:pPr algn="just">
              <a:lnSpc>
                <a:spcPts val="3150"/>
              </a:lnSpc>
              <a:spcBef>
                <a:spcPct val="0"/>
              </a:spcBef>
            </a:pPr>
            <a:r>
              <a:rPr lang="en-US" sz="2625">
                <a:solidFill>
                  <a:srgbClr val="000000"/>
                </a:solidFill>
                <a:latin typeface="Arial"/>
                <a:ea typeface="Arial"/>
                <a:cs typeface="Arial"/>
                <a:sym typeface="Arial"/>
              </a:rPr>
              <a:t>Nguyên tắc người dùng di động truy cập các bản sao khác nhau của cơ sở dữ liệu phân tán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461504" y="188595"/>
            <a:ext cx="6550938" cy="542925"/>
          </a:xfrm>
          <a:prstGeom prst="rect">
            <a:avLst/>
          </a:prstGeom>
        </p:spPr>
        <p:txBody>
          <a:bodyPr lIns="0" tIns="0" rIns="0" bIns="0" rtlCol="0" anchor="t">
            <a:spAutoFit/>
          </a:bodyPr>
          <a:lstStyle/>
          <a:p>
            <a:pPr algn="ctr">
              <a:lnSpc>
                <a:spcPts val="3824"/>
              </a:lnSpc>
              <a:spcBef>
                <a:spcPct val="0"/>
              </a:spcBef>
            </a:pPr>
            <a:r>
              <a:rPr lang="en-US" sz="3186" b="1">
                <a:solidFill>
                  <a:srgbClr val="FFFF00"/>
                </a:solidFill>
                <a:latin typeface="Arial Bold"/>
                <a:ea typeface="Arial Bold"/>
                <a:cs typeface="Arial Bold"/>
                <a:sym typeface="Arial Bold"/>
              </a:rPr>
              <a:t>Tính nhất quán hướng máy khách</a:t>
            </a:r>
          </a:p>
        </p:txBody>
      </p:sp>
      <p:sp>
        <p:nvSpPr>
          <p:cNvPr id="5" name="TextBox 5"/>
          <p:cNvSpPr txBox="1"/>
          <p:nvPr/>
        </p:nvSpPr>
        <p:spPr>
          <a:xfrm>
            <a:off x="204148" y="1576316"/>
            <a:ext cx="9022080" cy="3140869"/>
          </a:xfrm>
          <a:prstGeom prst="rect">
            <a:avLst/>
          </a:prstGeom>
        </p:spPr>
        <p:txBody>
          <a:bodyPr lIns="0" tIns="0" rIns="0" bIns="0" rtlCol="0" anchor="t">
            <a:spAutoFit/>
          </a:bodyPr>
          <a:lstStyle/>
          <a:p>
            <a:pPr algn="just">
              <a:lnSpc>
                <a:spcPts val="3537"/>
              </a:lnSpc>
              <a:spcBef>
                <a:spcPct val="0"/>
              </a:spcBef>
            </a:pPr>
            <a:r>
              <a:rPr lang="en-US" sz="2947">
                <a:solidFill>
                  <a:srgbClr val="000000"/>
                </a:solidFill>
                <a:latin typeface="Arial"/>
                <a:ea typeface="Arial"/>
                <a:cs typeface="Arial"/>
                <a:sym typeface="Arial"/>
              </a:rPr>
              <a:t>Các ký hiệu</a:t>
            </a:r>
          </a:p>
          <a:p>
            <a:pPr algn="just">
              <a:lnSpc>
                <a:spcPts val="3537"/>
              </a:lnSpc>
              <a:spcBef>
                <a:spcPct val="0"/>
              </a:spcBef>
            </a:pPr>
            <a:r>
              <a:rPr lang="en-US" sz="2947">
                <a:solidFill>
                  <a:srgbClr val="000000"/>
                </a:solidFill>
                <a:latin typeface="Arial"/>
                <a:ea typeface="Arial"/>
                <a:cs typeface="Arial"/>
                <a:sym typeface="Arial"/>
              </a:rPr>
              <a:t>W₁(x₂) là thao tác ghi bởi tiến trình P₁ tạo ra phiên bản x₂ của x.</a:t>
            </a:r>
          </a:p>
          <a:p>
            <a:pPr algn="just">
              <a:lnSpc>
                <a:spcPts val="3537"/>
              </a:lnSpc>
              <a:spcBef>
                <a:spcPct val="0"/>
              </a:spcBef>
            </a:pPr>
            <a:r>
              <a:rPr lang="en-US" sz="2947">
                <a:solidFill>
                  <a:srgbClr val="000000"/>
                </a:solidFill>
                <a:latin typeface="Arial"/>
                <a:ea typeface="Arial"/>
                <a:cs typeface="Arial"/>
                <a:sym typeface="Arial"/>
              </a:rPr>
              <a:t>W₁(xᵢ;xⱼ) biểu thị P₁ tạo ra phiên bản xⱼ dựa trên phiên bản trước đó xᵢ.</a:t>
            </a:r>
          </a:p>
          <a:p>
            <a:pPr algn="just">
              <a:lnSpc>
                <a:spcPts val="3537"/>
              </a:lnSpc>
              <a:spcBef>
                <a:spcPct val="0"/>
              </a:spcBef>
            </a:pPr>
            <a:r>
              <a:rPr lang="en-US" sz="2947">
                <a:solidFill>
                  <a:srgbClr val="000000"/>
                </a:solidFill>
                <a:latin typeface="Arial"/>
                <a:ea typeface="Arial"/>
                <a:cs typeface="Arial"/>
                <a:sym typeface="Arial"/>
              </a:rPr>
              <a:t>W₁(xᵢ|xⱼ) biểu thị P₁ tạo ra phiên bản xⱼ đồng thời với phiên bản xᵢ.</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582179" y="188595"/>
            <a:ext cx="6445687" cy="542925"/>
          </a:xfrm>
          <a:prstGeom prst="rect">
            <a:avLst/>
          </a:prstGeom>
        </p:spPr>
        <p:txBody>
          <a:bodyPr lIns="0" tIns="0" rIns="0" bIns="0" rtlCol="0" anchor="t">
            <a:spAutoFit/>
          </a:bodyPr>
          <a:lstStyle/>
          <a:p>
            <a:pPr algn="ctr">
              <a:lnSpc>
                <a:spcPts val="3824"/>
              </a:lnSpc>
              <a:spcBef>
                <a:spcPct val="0"/>
              </a:spcBef>
            </a:pPr>
            <a:r>
              <a:rPr lang="en-US" sz="3186" b="1">
                <a:solidFill>
                  <a:srgbClr val="FFFF00"/>
                </a:solidFill>
                <a:latin typeface="Arial Bold"/>
                <a:ea typeface="Arial Bold"/>
                <a:cs typeface="Arial Bold"/>
                <a:sym typeface="Arial Bold"/>
              </a:rPr>
              <a:t>Monotonic Reads (Đọc Đơn Điệu)</a:t>
            </a:r>
          </a:p>
        </p:txBody>
      </p:sp>
      <p:sp>
        <p:nvSpPr>
          <p:cNvPr id="5" name="TextBox 5"/>
          <p:cNvSpPr txBox="1"/>
          <p:nvPr/>
        </p:nvSpPr>
        <p:spPr>
          <a:xfrm>
            <a:off x="378031" y="1517500"/>
            <a:ext cx="8439901" cy="3924300"/>
          </a:xfrm>
          <a:prstGeom prst="rect">
            <a:avLst/>
          </a:prstGeom>
        </p:spPr>
        <p:txBody>
          <a:bodyPr lIns="0" tIns="0" rIns="0" bIns="0" rtlCol="0" anchor="t">
            <a:spAutoFit/>
          </a:bodyPr>
          <a:lstStyle/>
          <a:p>
            <a:pPr algn="l">
              <a:lnSpc>
                <a:spcPts val="2787"/>
              </a:lnSpc>
              <a:spcBef>
                <a:spcPct val="0"/>
              </a:spcBef>
            </a:pPr>
            <a:r>
              <a:rPr lang="en-US" sz="2322" b="1" dirty="0" err="1">
                <a:solidFill>
                  <a:srgbClr val="000000"/>
                </a:solidFill>
                <a:latin typeface="Arial Bold"/>
                <a:ea typeface="Arial Bold"/>
                <a:cs typeface="Arial Bold"/>
                <a:sym typeface="Arial Bold"/>
              </a:rPr>
              <a:t>Ví</a:t>
            </a:r>
            <a:r>
              <a:rPr lang="en-US" sz="2322" b="1" dirty="0">
                <a:solidFill>
                  <a:srgbClr val="000000"/>
                </a:solidFill>
                <a:latin typeface="Arial Bold"/>
                <a:ea typeface="Arial Bold"/>
                <a:cs typeface="Arial Bold"/>
                <a:sym typeface="Arial Bold"/>
              </a:rPr>
              <a:t> </a:t>
            </a:r>
            <a:r>
              <a:rPr lang="en-US" sz="2322" b="1" dirty="0" err="1">
                <a:solidFill>
                  <a:srgbClr val="000000"/>
                </a:solidFill>
                <a:latin typeface="Arial Bold"/>
                <a:ea typeface="Arial Bold"/>
                <a:cs typeface="Arial Bold"/>
                <a:sym typeface="Arial Bold"/>
              </a:rPr>
              <a:t>dụ</a:t>
            </a:r>
            <a:r>
              <a:rPr lang="en-US" sz="2322" b="1" dirty="0">
                <a:solidFill>
                  <a:srgbClr val="000000"/>
                </a:solidFill>
                <a:latin typeface="Arial Bold"/>
                <a:ea typeface="Arial Bold"/>
                <a:cs typeface="Arial Bold"/>
                <a:sym typeface="Arial Bold"/>
              </a:rPr>
              <a:t>:</a:t>
            </a:r>
          </a:p>
          <a:p>
            <a:pPr algn="l">
              <a:lnSpc>
                <a:spcPts val="2787"/>
              </a:lnSpc>
              <a:spcBef>
                <a:spcPct val="0"/>
              </a:spcBef>
            </a:pPr>
            <a:r>
              <a:rPr lang="en-US" sz="2322" dirty="0">
                <a:solidFill>
                  <a:srgbClr val="000000"/>
                </a:solidFill>
                <a:latin typeface="Arial"/>
                <a:ea typeface="Arial"/>
                <a:cs typeface="Arial"/>
                <a:sym typeface="Arial"/>
              </a:rPr>
              <a:t>Mô </a:t>
            </a:r>
            <a:r>
              <a:rPr lang="en-US" sz="2322" dirty="0" err="1">
                <a:solidFill>
                  <a:srgbClr val="000000"/>
                </a:solidFill>
                <a:latin typeface="Arial"/>
                <a:ea typeface="Arial"/>
                <a:cs typeface="Arial"/>
                <a:sym typeface="Arial"/>
              </a:rPr>
              <a:t>hình</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nhất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quán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hướng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máy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khách</a:t>
            </a:r>
            <a:endParaRPr lang="en-US" sz="2322" dirty="0">
              <a:solidFill>
                <a:srgbClr val="000000"/>
              </a:solidFill>
              <a:latin typeface="Arial"/>
              <a:ea typeface="Arial"/>
              <a:cs typeface="Arial"/>
              <a:sym typeface="Arial"/>
            </a:endParaRPr>
          </a:p>
          <a:p>
            <a:pPr algn="l">
              <a:lnSpc>
                <a:spcPts val="2787"/>
              </a:lnSpc>
              <a:spcBef>
                <a:spcPct val="0"/>
              </a:spcBef>
            </a:pPr>
            <a:r>
              <a:rPr lang="en-US" sz="2322" dirty="0" err="1">
                <a:solidFill>
                  <a:srgbClr val="000000"/>
                </a:solidFill>
                <a:latin typeface="Arial"/>
                <a:ea typeface="Arial"/>
                <a:cs typeface="Arial"/>
                <a:sym typeface="Arial"/>
              </a:rPr>
              <a:t>Hệ</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thống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tự</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động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đọc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các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cập</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nhật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lịch</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cá</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nhân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của</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bạn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từ</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nhiều</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máy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chủ</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khác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nhau</a:t>
            </a:r>
            <a:r>
              <a:rPr lang="en-US" sz="2322" dirty="0">
                <a:solidFill>
                  <a:srgbClr val="000000"/>
                </a:solidFill>
                <a:latin typeface="Arial"/>
                <a:ea typeface="Arial"/>
                <a:cs typeface="Arial"/>
                <a:sym typeface="Arial"/>
              </a:rPr>
              <a:t>.</a:t>
            </a:r>
          </a:p>
          <a:p>
            <a:pPr algn="l">
              <a:lnSpc>
                <a:spcPts val="2787"/>
              </a:lnSpc>
              <a:spcBef>
                <a:spcPct val="0"/>
              </a:spcBef>
            </a:pPr>
            <a:r>
              <a:rPr lang="en-US" sz="2322" dirty="0" err="1">
                <a:solidFill>
                  <a:srgbClr val="000000"/>
                </a:solidFill>
                <a:latin typeface="Arial"/>
                <a:ea typeface="Arial"/>
                <a:cs typeface="Arial"/>
                <a:sym typeface="Arial"/>
              </a:rPr>
              <a:t>Đọc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đơn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điệu</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đảm</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bảo</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rằng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người</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dùng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luôn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thấy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mọi</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thay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đổi</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bất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kể</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việc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đọc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tự</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động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diễn</a:t>
            </a:r>
            <a:r>
              <a:rPr lang="en-US" sz="2322" dirty="0">
                <a:solidFill>
                  <a:srgbClr val="000000"/>
                </a:solidFill>
                <a:latin typeface="Arial"/>
                <a:ea typeface="Arial"/>
                <a:cs typeface="Arial"/>
                <a:sym typeface="Arial"/>
              </a:rPr>
              <a:t> ra </a:t>
            </a:r>
            <a:r>
              <a:rPr lang="en-US" sz="2322" dirty="0" err="1">
                <a:solidFill>
                  <a:srgbClr val="000000"/>
                </a:solidFill>
                <a:latin typeface="Arial"/>
                <a:ea typeface="Arial"/>
                <a:cs typeface="Arial"/>
                <a:sym typeface="Arial"/>
              </a:rPr>
              <a:t>từ</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máy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chủ</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nào</a:t>
            </a:r>
            <a:r>
              <a:rPr lang="en-US" sz="2322" dirty="0">
                <a:solidFill>
                  <a:srgbClr val="000000"/>
                </a:solidFill>
                <a:latin typeface="Arial"/>
                <a:ea typeface="Arial"/>
                <a:cs typeface="Arial"/>
                <a:sym typeface="Arial"/>
              </a:rPr>
              <a:t>.</a:t>
            </a:r>
          </a:p>
          <a:p>
            <a:pPr algn="l">
              <a:lnSpc>
                <a:spcPts val="2787"/>
              </a:lnSpc>
              <a:spcBef>
                <a:spcPct val="0"/>
              </a:spcBef>
            </a:pPr>
            <a:endParaRPr lang="en-US" sz="2322" dirty="0">
              <a:solidFill>
                <a:srgbClr val="000000"/>
              </a:solidFill>
              <a:latin typeface="Arial"/>
              <a:ea typeface="Arial"/>
              <a:cs typeface="Arial"/>
              <a:sym typeface="Arial"/>
            </a:endParaRPr>
          </a:p>
          <a:p>
            <a:pPr algn="l">
              <a:lnSpc>
                <a:spcPts val="2787"/>
              </a:lnSpc>
              <a:spcBef>
                <a:spcPct val="0"/>
              </a:spcBef>
            </a:pPr>
            <a:r>
              <a:rPr lang="en-US" sz="2322" b="1" dirty="0" err="1">
                <a:solidFill>
                  <a:srgbClr val="000000"/>
                </a:solidFill>
                <a:latin typeface="Arial Bold"/>
                <a:ea typeface="Arial Bold"/>
                <a:cs typeface="Arial Bold"/>
                <a:sym typeface="Arial Bold"/>
              </a:rPr>
              <a:t>Ví</a:t>
            </a:r>
            <a:r>
              <a:rPr lang="en-US" sz="2322" b="1" dirty="0">
                <a:solidFill>
                  <a:srgbClr val="000000"/>
                </a:solidFill>
                <a:latin typeface="Arial Bold"/>
                <a:ea typeface="Arial Bold"/>
                <a:cs typeface="Arial Bold"/>
                <a:sym typeface="Arial Bold"/>
              </a:rPr>
              <a:t> </a:t>
            </a:r>
            <a:r>
              <a:rPr lang="en-US" sz="2322" b="1" dirty="0" err="1">
                <a:solidFill>
                  <a:srgbClr val="000000"/>
                </a:solidFill>
                <a:latin typeface="Arial Bold"/>
                <a:ea typeface="Arial Bold"/>
                <a:cs typeface="Arial Bold"/>
                <a:sym typeface="Arial Bold"/>
              </a:rPr>
              <a:t>dụ</a:t>
            </a:r>
            <a:r>
              <a:rPr lang="en-US" sz="2322" b="1" dirty="0">
                <a:solidFill>
                  <a:srgbClr val="000000"/>
                </a:solidFill>
                <a:latin typeface="Arial Bold"/>
                <a:ea typeface="Arial Bold"/>
                <a:cs typeface="Arial Bold"/>
                <a:sym typeface="Arial Bold"/>
              </a:rPr>
              <a:t> </a:t>
            </a:r>
            <a:r>
              <a:rPr lang="en-US" sz="2322" b="1" dirty="0" err="1">
                <a:solidFill>
                  <a:srgbClr val="000000"/>
                </a:solidFill>
                <a:latin typeface="Arial Bold"/>
                <a:ea typeface="Arial Bold"/>
                <a:cs typeface="Arial Bold"/>
                <a:sym typeface="Arial Bold"/>
              </a:rPr>
              <a:t>cụ</a:t>
            </a:r>
            <a:r>
              <a:rPr lang="en-US" sz="2322" b="1" dirty="0">
                <a:solidFill>
                  <a:srgbClr val="000000"/>
                </a:solidFill>
                <a:latin typeface="Arial Bold"/>
                <a:ea typeface="Arial Bold"/>
                <a:cs typeface="Arial Bold"/>
                <a:sym typeface="Arial Bold"/>
              </a:rPr>
              <a:t> </a:t>
            </a:r>
            <a:r>
              <a:rPr lang="en-US" sz="2322" b="1" dirty="0" err="1">
                <a:solidFill>
                  <a:srgbClr val="000000"/>
                </a:solidFill>
                <a:latin typeface="Arial Bold"/>
                <a:ea typeface="Arial Bold"/>
                <a:cs typeface="Arial Bold"/>
                <a:sym typeface="Arial Bold"/>
              </a:rPr>
              <a:t>thể</a:t>
            </a:r>
            <a:r>
              <a:rPr lang="en-US" sz="2322" b="1" dirty="0">
                <a:solidFill>
                  <a:srgbClr val="000000"/>
                </a:solidFill>
                <a:latin typeface="Arial Bold"/>
                <a:ea typeface="Arial Bold"/>
                <a:cs typeface="Arial Bold"/>
                <a:sym typeface="Arial Bold"/>
              </a:rPr>
              <a:t>:</a:t>
            </a:r>
          </a:p>
          <a:p>
            <a:pPr algn="l">
              <a:lnSpc>
                <a:spcPts val="2787"/>
              </a:lnSpc>
              <a:spcBef>
                <a:spcPct val="0"/>
              </a:spcBef>
            </a:pPr>
            <a:r>
              <a:rPr lang="en-US" sz="2322" dirty="0">
                <a:solidFill>
                  <a:srgbClr val="000000"/>
                </a:solidFill>
                <a:latin typeface="Arial"/>
                <a:ea typeface="Arial"/>
                <a:cs typeface="Arial"/>
                <a:sym typeface="Arial"/>
              </a:rPr>
              <a:t>Khi </a:t>
            </a:r>
            <a:r>
              <a:rPr lang="en-US" sz="2322" dirty="0" err="1">
                <a:solidFill>
                  <a:srgbClr val="000000"/>
                </a:solidFill>
                <a:latin typeface="Arial"/>
                <a:ea typeface="Arial"/>
                <a:cs typeface="Arial"/>
                <a:sym typeface="Arial"/>
              </a:rPr>
              <a:t>đọc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không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sửa</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đổi</a:t>
            </a:r>
            <a:r>
              <a:rPr lang="en-US" sz="2322" dirty="0">
                <a:solidFill>
                  <a:srgbClr val="000000"/>
                </a:solidFill>
                <a:latin typeface="Arial"/>
                <a:ea typeface="Arial"/>
                <a:cs typeface="Arial"/>
                <a:sym typeface="Arial"/>
              </a:rPr>
              <a:t>) email </a:t>
            </a:r>
            <a:r>
              <a:rPr lang="en-US" sz="2322" dirty="0" err="1">
                <a:solidFill>
                  <a:srgbClr val="000000"/>
                </a:solidFill>
                <a:latin typeface="Arial"/>
                <a:ea typeface="Arial"/>
                <a:cs typeface="Arial"/>
                <a:sym typeface="Arial"/>
              </a:rPr>
              <a:t>mới</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trong</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lúc</a:t>
            </a:r>
            <a:r>
              <a:rPr lang="en-US" sz="2322" dirty="0">
                <a:solidFill>
                  <a:srgbClr val="000000"/>
                </a:solidFill>
                <a:latin typeface="Arial"/>
                <a:ea typeface="Arial"/>
                <a:cs typeface="Arial"/>
                <a:sym typeface="Arial"/>
              </a:rPr>
              <a:t> di </a:t>
            </a:r>
            <a:r>
              <a:rPr lang="en-US" sz="2322" dirty="0" err="1">
                <a:solidFill>
                  <a:srgbClr val="000000"/>
                </a:solidFill>
                <a:latin typeface="Arial"/>
                <a:ea typeface="Arial"/>
                <a:cs typeface="Arial"/>
                <a:sym typeface="Arial"/>
              </a:rPr>
              <a:t>chuyển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mỗi</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lần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bạn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kết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nối</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đến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một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máy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chủ</a:t>
            </a:r>
            <a:r>
              <a:rPr lang="en-US" sz="2322" dirty="0">
                <a:solidFill>
                  <a:srgbClr val="000000"/>
                </a:solidFill>
                <a:latin typeface="Arial"/>
                <a:ea typeface="Arial"/>
                <a:cs typeface="Arial"/>
                <a:sym typeface="Arial"/>
              </a:rPr>
              <a:t> email </a:t>
            </a:r>
            <a:r>
              <a:rPr lang="en-US" sz="2322" dirty="0" err="1">
                <a:solidFill>
                  <a:srgbClr val="000000"/>
                </a:solidFill>
                <a:latin typeface="Arial"/>
                <a:ea typeface="Arial"/>
                <a:cs typeface="Arial"/>
                <a:sym typeface="Arial"/>
              </a:rPr>
              <a:t>khác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máy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chủ</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đó</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sẽ</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tải</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ít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nhất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tất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cả</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các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cập</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nhật</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từ</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máy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chủ</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trước</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đó</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bạn</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đã</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truy</a:t>
            </a:r>
            <a:r>
              <a:rPr lang="en-US" sz="2322" dirty="0">
                <a:solidFill>
                  <a:srgbClr val="000000"/>
                </a:solidFill>
                <a:latin typeface="Arial"/>
                <a:ea typeface="Arial"/>
                <a:cs typeface="Arial"/>
                <a:sym typeface="Arial"/>
              </a:rPr>
              <a:t> </a:t>
            </a:r>
            <a:r>
              <a:rPr lang="en-US" sz="2322" dirty="0" err="1">
                <a:solidFill>
                  <a:srgbClr val="000000"/>
                </a:solidFill>
                <a:latin typeface="Arial"/>
                <a:ea typeface="Arial"/>
                <a:cs typeface="Arial"/>
                <a:sym typeface="Arial"/>
              </a:rPr>
              <a:t>cập</a:t>
            </a:r>
            <a:r>
              <a:rPr lang="en-US" sz="2322" dirty="0">
                <a:solidFill>
                  <a:srgbClr val="000000"/>
                </a:solidFill>
                <a:latin typeface="Arial"/>
                <a:ea typeface="Arial"/>
                <a:cs typeface="Arial"/>
                <a:sym typeface="Arial"/>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0" y="1150716"/>
            <a:ext cx="9753600" cy="6743700"/>
          </a:xfrm>
          <a:prstGeom prst="rect">
            <a:avLst/>
          </a:prstGeom>
        </p:spPr>
        <p:txBody>
          <a:bodyPr lIns="0" tIns="0" rIns="0" bIns="0" rtlCol="0" anchor="t">
            <a:spAutoFit/>
          </a:bodyPr>
          <a:lstStyle/>
          <a:p>
            <a:pPr algn="l">
              <a:lnSpc>
                <a:spcPts val="3224"/>
              </a:lnSpc>
              <a:spcBef>
                <a:spcPct val="0"/>
              </a:spcBef>
            </a:pPr>
            <a:r>
              <a:rPr lang="en-US" sz="2686">
                <a:solidFill>
                  <a:srgbClr val="000000"/>
                </a:solidFill>
                <a:latin typeface="Arial"/>
                <a:ea typeface="Arial"/>
                <a:cs typeface="Arial"/>
                <a:sym typeface="Arial"/>
              </a:rPr>
              <a:t>Định nghĩa</a:t>
            </a:r>
          </a:p>
          <a:p>
            <a:pPr algn="l">
              <a:lnSpc>
                <a:spcPts val="2984"/>
              </a:lnSpc>
              <a:spcBef>
                <a:spcPct val="0"/>
              </a:spcBef>
            </a:pPr>
            <a:r>
              <a:rPr lang="en-US" sz="2486">
                <a:solidFill>
                  <a:srgbClr val="000000"/>
                </a:solidFill>
                <a:latin typeface="Arial"/>
                <a:ea typeface="Arial"/>
                <a:cs typeface="Arial"/>
                <a:sym typeface="Arial"/>
              </a:rPr>
              <a:t>Nếu một tiến trình đọc giá trị của dữ liệu x, mọi thao tác đọc tiếp theo trên x bởi tiến trình đó sẽ luôn trả về cùng giá trị đó hoặc một giá trị mới hơn.</a:t>
            </a:r>
          </a:p>
          <a:p>
            <a:pPr algn="l">
              <a:lnSpc>
                <a:spcPts val="3224"/>
              </a:lnSpc>
              <a:spcBef>
                <a:spcPct val="0"/>
              </a:spcBef>
            </a:pPr>
            <a:endParaRPr lang="en-US" sz="2486">
              <a:solidFill>
                <a:srgbClr val="000000"/>
              </a:solidFill>
              <a:latin typeface="Arial"/>
              <a:ea typeface="Arial"/>
              <a:cs typeface="Arial"/>
              <a:sym typeface="Arial"/>
            </a:endParaRPr>
          </a:p>
          <a:p>
            <a:pPr algn="l">
              <a:lnSpc>
                <a:spcPts val="3224"/>
              </a:lnSpc>
              <a:spcBef>
                <a:spcPct val="0"/>
              </a:spcBef>
            </a:pPr>
            <a:endParaRPr lang="en-US" sz="2486">
              <a:solidFill>
                <a:srgbClr val="000000"/>
              </a:solidFill>
              <a:latin typeface="Arial"/>
              <a:ea typeface="Arial"/>
              <a:cs typeface="Arial"/>
              <a:sym typeface="Arial"/>
            </a:endParaRPr>
          </a:p>
          <a:p>
            <a:pPr algn="l">
              <a:lnSpc>
                <a:spcPts val="3224"/>
              </a:lnSpc>
              <a:spcBef>
                <a:spcPct val="0"/>
              </a:spcBef>
            </a:pPr>
            <a:r>
              <a:rPr lang="en-US" sz="2686">
                <a:solidFill>
                  <a:srgbClr val="000000"/>
                </a:solidFill>
                <a:latin typeface="Arial"/>
                <a:ea typeface="Arial"/>
                <a:cs typeface="Arial"/>
                <a:sym typeface="Arial"/>
              </a:rPr>
              <a:t>`</a:t>
            </a:r>
          </a:p>
          <a:p>
            <a:pPr algn="l">
              <a:lnSpc>
                <a:spcPts val="3224"/>
              </a:lnSpc>
              <a:spcBef>
                <a:spcPct val="0"/>
              </a:spcBef>
            </a:pPr>
            <a:endParaRPr lang="en-US" sz="2686">
              <a:solidFill>
                <a:srgbClr val="000000"/>
              </a:solidFill>
              <a:latin typeface="Arial"/>
              <a:ea typeface="Arial"/>
              <a:cs typeface="Arial"/>
              <a:sym typeface="Arial"/>
            </a:endParaRPr>
          </a:p>
          <a:p>
            <a:pPr algn="ctr">
              <a:lnSpc>
                <a:spcPts val="2984"/>
              </a:lnSpc>
              <a:spcBef>
                <a:spcPct val="0"/>
              </a:spcBef>
            </a:pPr>
            <a:r>
              <a:rPr lang="en-US" sz="2486">
                <a:solidFill>
                  <a:srgbClr val="000000"/>
                </a:solidFill>
                <a:latin typeface="Arial"/>
                <a:ea typeface="Arial"/>
                <a:cs typeface="Arial"/>
                <a:sym typeface="Arial"/>
              </a:rPr>
              <a:t>Kho dữ liệu đảm bảo đọc đơn điệu </a:t>
            </a:r>
          </a:p>
          <a:p>
            <a:pPr algn="l">
              <a:lnSpc>
                <a:spcPts val="3224"/>
              </a:lnSpc>
              <a:spcBef>
                <a:spcPct val="0"/>
              </a:spcBef>
            </a:pPr>
            <a:endParaRPr lang="en-US" sz="2486">
              <a:solidFill>
                <a:srgbClr val="000000"/>
              </a:solidFill>
              <a:latin typeface="Arial"/>
              <a:ea typeface="Arial"/>
              <a:cs typeface="Arial"/>
              <a:sym typeface="Arial"/>
            </a:endParaRPr>
          </a:p>
          <a:p>
            <a:pPr algn="l">
              <a:lnSpc>
                <a:spcPts val="3224"/>
              </a:lnSpc>
              <a:spcBef>
                <a:spcPct val="0"/>
              </a:spcBef>
            </a:pPr>
            <a:endParaRPr lang="en-US" sz="2486">
              <a:solidFill>
                <a:srgbClr val="000000"/>
              </a:solidFill>
              <a:latin typeface="Arial"/>
              <a:ea typeface="Arial"/>
              <a:cs typeface="Arial"/>
              <a:sym typeface="Arial"/>
            </a:endParaRPr>
          </a:p>
          <a:p>
            <a:pPr algn="l">
              <a:lnSpc>
                <a:spcPts val="3224"/>
              </a:lnSpc>
              <a:spcBef>
                <a:spcPct val="0"/>
              </a:spcBef>
            </a:pPr>
            <a:endParaRPr lang="en-US" sz="2486">
              <a:solidFill>
                <a:srgbClr val="000000"/>
              </a:solidFill>
              <a:latin typeface="Arial"/>
              <a:ea typeface="Arial"/>
              <a:cs typeface="Arial"/>
              <a:sym typeface="Arial"/>
            </a:endParaRPr>
          </a:p>
          <a:p>
            <a:pPr algn="l">
              <a:lnSpc>
                <a:spcPts val="3224"/>
              </a:lnSpc>
              <a:spcBef>
                <a:spcPct val="0"/>
              </a:spcBef>
            </a:pPr>
            <a:endParaRPr lang="en-US" sz="2486">
              <a:solidFill>
                <a:srgbClr val="000000"/>
              </a:solidFill>
              <a:latin typeface="Arial"/>
              <a:ea typeface="Arial"/>
              <a:cs typeface="Arial"/>
              <a:sym typeface="Arial"/>
            </a:endParaRPr>
          </a:p>
          <a:p>
            <a:pPr algn="l">
              <a:lnSpc>
                <a:spcPts val="3224"/>
              </a:lnSpc>
              <a:spcBef>
                <a:spcPct val="0"/>
              </a:spcBef>
            </a:pPr>
            <a:endParaRPr lang="en-US" sz="2486">
              <a:solidFill>
                <a:srgbClr val="000000"/>
              </a:solidFill>
              <a:latin typeface="Arial"/>
              <a:ea typeface="Arial"/>
              <a:cs typeface="Arial"/>
              <a:sym typeface="Arial"/>
            </a:endParaRPr>
          </a:p>
          <a:p>
            <a:pPr algn="ctr">
              <a:lnSpc>
                <a:spcPts val="3224"/>
              </a:lnSpc>
              <a:spcBef>
                <a:spcPct val="0"/>
              </a:spcBef>
            </a:pPr>
            <a:r>
              <a:rPr lang="en-US" sz="2686">
                <a:solidFill>
                  <a:srgbClr val="000000"/>
                </a:solidFill>
                <a:latin typeface="Arial"/>
                <a:ea typeface="Arial"/>
                <a:cs typeface="Arial"/>
                <a:sym typeface="Arial"/>
              </a:rPr>
              <a:t>Kho dữ liệu không hỗ trợ đọc đơn điệu </a:t>
            </a:r>
          </a:p>
          <a:p>
            <a:pPr algn="l">
              <a:lnSpc>
                <a:spcPts val="3224"/>
              </a:lnSpc>
              <a:spcBef>
                <a:spcPct val="0"/>
              </a:spcBef>
            </a:pPr>
            <a:endParaRPr lang="en-US" sz="2686">
              <a:solidFill>
                <a:srgbClr val="000000"/>
              </a:solidFill>
              <a:latin typeface="Arial"/>
              <a:ea typeface="Arial"/>
              <a:cs typeface="Arial"/>
              <a:sym typeface="Arial"/>
            </a:endParaRPr>
          </a:p>
          <a:p>
            <a:pPr algn="l">
              <a:lnSpc>
                <a:spcPts val="3224"/>
              </a:lnSpc>
              <a:spcBef>
                <a:spcPct val="0"/>
              </a:spcBef>
            </a:pPr>
            <a:endParaRPr lang="en-US" sz="2686">
              <a:solidFill>
                <a:srgbClr val="000000"/>
              </a:solidFill>
              <a:latin typeface="Arial"/>
              <a:ea typeface="Arial"/>
              <a:cs typeface="Arial"/>
              <a:sym typeface="Arial"/>
            </a:endParaRPr>
          </a:p>
        </p:txBody>
      </p:sp>
      <p:sp>
        <p:nvSpPr>
          <p:cNvPr id="5" name="Freeform 5"/>
          <p:cNvSpPr/>
          <p:nvPr/>
        </p:nvSpPr>
        <p:spPr>
          <a:xfrm>
            <a:off x="1352859" y="2854331"/>
            <a:ext cx="5891548" cy="1455901"/>
          </a:xfrm>
          <a:custGeom>
            <a:avLst/>
            <a:gdLst/>
            <a:ahLst/>
            <a:cxnLst/>
            <a:rect l="l" t="t" r="r" b="b"/>
            <a:pathLst>
              <a:path w="5891548" h="1455901">
                <a:moveTo>
                  <a:pt x="0" y="0"/>
                </a:moveTo>
                <a:lnTo>
                  <a:pt x="5891548" y="0"/>
                </a:lnTo>
                <a:lnTo>
                  <a:pt x="5891548" y="1455901"/>
                </a:lnTo>
                <a:lnTo>
                  <a:pt x="0" y="1455901"/>
                </a:lnTo>
                <a:lnTo>
                  <a:pt x="0" y="0"/>
                </a:lnTo>
                <a:close/>
              </a:path>
            </a:pathLst>
          </a:custGeom>
          <a:blipFill>
            <a:blip r:embed="rId3"/>
            <a:stretch>
              <a:fillRect/>
            </a:stretch>
          </a:blipFill>
        </p:spPr>
      </p:sp>
      <p:sp>
        <p:nvSpPr>
          <p:cNvPr id="6" name="Freeform 6"/>
          <p:cNvSpPr/>
          <p:nvPr/>
        </p:nvSpPr>
        <p:spPr>
          <a:xfrm>
            <a:off x="1773065" y="5085462"/>
            <a:ext cx="5663075" cy="1498218"/>
          </a:xfrm>
          <a:custGeom>
            <a:avLst/>
            <a:gdLst/>
            <a:ahLst/>
            <a:cxnLst/>
            <a:rect l="l" t="t" r="r" b="b"/>
            <a:pathLst>
              <a:path w="5663075" h="1498218">
                <a:moveTo>
                  <a:pt x="0" y="0"/>
                </a:moveTo>
                <a:lnTo>
                  <a:pt x="5663075" y="0"/>
                </a:lnTo>
                <a:lnTo>
                  <a:pt x="5663075" y="1498218"/>
                </a:lnTo>
                <a:lnTo>
                  <a:pt x="0" y="1498218"/>
                </a:lnTo>
                <a:lnTo>
                  <a:pt x="0" y="0"/>
                </a:lnTo>
                <a:close/>
              </a:path>
            </a:pathLst>
          </a:custGeom>
          <a:blipFill>
            <a:blip r:embed="rId4"/>
            <a:stretch>
              <a:fillRect/>
            </a:stretch>
          </a:blipFill>
        </p:spPr>
      </p:sp>
      <p:sp>
        <p:nvSpPr>
          <p:cNvPr id="7" name="TextBox 7"/>
          <p:cNvSpPr txBox="1"/>
          <p:nvPr/>
        </p:nvSpPr>
        <p:spPr>
          <a:xfrm>
            <a:off x="582179" y="188595"/>
            <a:ext cx="6445687" cy="542925"/>
          </a:xfrm>
          <a:prstGeom prst="rect">
            <a:avLst/>
          </a:prstGeom>
        </p:spPr>
        <p:txBody>
          <a:bodyPr lIns="0" tIns="0" rIns="0" bIns="0" rtlCol="0" anchor="t">
            <a:spAutoFit/>
          </a:bodyPr>
          <a:lstStyle/>
          <a:p>
            <a:pPr algn="ctr">
              <a:lnSpc>
                <a:spcPts val="3824"/>
              </a:lnSpc>
              <a:spcBef>
                <a:spcPct val="0"/>
              </a:spcBef>
            </a:pPr>
            <a:r>
              <a:rPr lang="en-US" sz="3186" b="1">
                <a:solidFill>
                  <a:srgbClr val="FFFF00"/>
                </a:solidFill>
                <a:latin typeface="Arial Bold"/>
                <a:ea typeface="Arial Bold"/>
                <a:cs typeface="Arial Bold"/>
                <a:sym typeface="Arial Bold"/>
              </a:rPr>
              <a:t>Monotonic Reads (Đọc Đơn Điệu)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564956" y="324603"/>
            <a:ext cx="6378059" cy="542925"/>
          </a:xfrm>
          <a:prstGeom prst="rect">
            <a:avLst/>
          </a:prstGeom>
        </p:spPr>
        <p:txBody>
          <a:bodyPr lIns="0" tIns="0" rIns="0" bIns="0" rtlCol="0" anchor="t">
            <a:spAutoFit/>
          </a:bodyPr>
          <a:lstStyle/>
          <a:p>
            <a:pPr algn="ctr">
              <a:lnSpc>
                <a:spcPts val="3824"/>
              </a:lnSpc>
              <a:spcBef>
                <a:spcPct val="0"/>
              </a:spcBef>
            </a:pPr>
            <a:r>
              <a:rPr lang="en-US" sz="3186" b="1">
                <a:solidFill>
                  <a:srgbClr val="FFFF00"/>
                </a:solidFill>
                <a:latin typeface="Arial Bold"/>
                <a:ea typeface="Arial Bold"/>
                <a:cs typeface="Arial Bold"/>
                <a:sym typeface="Arial Bold"/>
              </a:rPr>
              <a:t>Monotonic Writes (Ghi Đơn Điệu)</a:t>
            </a:r>
          </a:p>
        </p:txBody>
      </p:sp>
      <p:sp>
        <p:nvSpPr>
          <p:cNvPr id="5" name="TextBox 5"/>
          <p:cNvSpPr txBox="1"/>
          <p:nvPr/>
        </p:nvSpPr>
        <p:spPr>
          <a:xfrm>
            <a:off x="126220" y="1364389"/>
            <a:ext cx="9501159" cy="4278610"/>
          </a:xfrm>
          <a:prstGeom prst="rect">
            <a:avLst/>
          </a:prstGeom>
        </p:spPr>
        <p:txBody>
          <a:bodyPr lIns="0" tIns="0" rIns="0" bIns="0" rtlCol="0" anchor="t">
            <a:spAutoFit/>
          </a:bodyPr>
          <a:lstStyle/>
          <a:p>
            <a:pPr algn="l">
              <a:lnSpc>
                <a:spcPts val="2789"/>
              </a:lnSpc>
              <a:spcBef>
                <a:spcPct val="0"/>
              </a:spcBef>
            </a:pPr>
            <a:r>
              <a:rPr lang="en-US" sz="2324" b="1">
                <a:solidFill>
                  <a:srgbClr val="000000"/>
                </a:solidFill>
                <a:latin typeface="Arial Bold"/>
                <a:ea typeface="Arial Bold"/>
                <a:cs typeface="Arial Bold"/>
                <a:sym typeface="Arial Bold"/>
              </a:rPr>
              <a:t>Ví dụ:</a:t>
            </a:r>
          </a:p>
          <a:p>
            <a:pPr algn="l">
              <a:lnSpc>
                <a:spcPts val="2789"/>
              </a:lnSpc>
              <a:spcBef>
                <a:spcPct val="0"/>
              </a:spcBef>
            </a:pPr>
            <a:r>
              <a:rPr lang="en-US" sz="2324">
                <a:solidFill>
                  <a:srgbClr val="000000"/>
                </a:solidFill>
                <a:latin typeface="Arial"/>
                <a:ea typeface="Arial"/>
                <a:cs typeface="Arial"/>
                <a:sym typeface="Arial"/>
              </a:rPr>
              <a:t>Khi cập nhật một chương trình trên máy chủ S2, hệ thống đảm bảo tất cả các thành phần phụ thuộc (để biên dịch và liên kết) cũng được đặt trên S2.</a:t>
            </a:r>
          </a:p>
          <a:p>
            <a:pPr algn="l">
              <a:lnSpc>
                <a:spcPts val="2789"/>
              </a:lnSpc>
              <a:spcBef>
                <a:spcPct val="0"/>
              </a:spcBef>
            </a:pPr>
            <a:r>
              <a:rPr lang="en-US" sz="2324">
                <a:solidFill>
                  <a:srgbClr val="000000"/>
                </a:solidFill>
                <a:latin typeface="Arial"/>
                <a:ea typeface="Arial"/>
                <a:cs typeface="Arial"/>
                <a:sym typeface="Arial"/>
              </a:rPr>
              <a:t>Ghi đơn điệu đảm bảo rằng các thao tác ghi của cùng một client được áp dụng theo đúng thứ tự trên mọi bản sao.</a:t>
            </a:r>
          </a:p>
          <a:p>
            <a:pPr algn="l">
              <a:lnSpc>
                <a:spcPts val="2789"/>
              </a:lnSpc>
              <a:spcBef>
                <a:spcPct val="0"/>
              </a:spcBef>
            </a:pPr>
            <a:endParaRPr lang="en-US" sz="2324">
              <a:solidFill>
                <a:srgbClr val="000000"/>
              </a:solidFill>
              <a:latin typeface="Arial"/>
              <a:ea typeface="Arial"/>
              <a:cs typeface="Arial"/>
              <a:sym typeface="Arial"/>
            </a:endParaRPr>
          </a:p>
          <a:p>
            <a:pPr algn="l">
              <a:lnSpc>
                <a:spcPts val="2789"/>
              </a:lnSpc>
              <a:spcBef>
                <a:spcPct val="0"/>
              </a:spcBef>
            </a:pPr>
            <a:r>
              <a:rPr lang="en-US" sz="2324" b="1">
                <a:solidFill>
                  <a:srgbClr val="000000"/>
                </a:solidFill>
                <a:latin typeface="Arial Bold"/>
                <a:ea typeface="Arial Bold"/>
                <a:cs typeface="Arial Bold"/>
                <a:sym typeface="Arial Bold"/>
              </a:rPr>
              <a:t>Ví dụ cụ thể:</a:t>
            </a:r>
          </a:p>
          <a:p>
            <a:pPr algn="l">
              <a:lnSpc>
                <a:spcPts val="2789"/>
              </a:lnSpc>
              <a:spcBef>
                <a:spcPct val="0"/>
              </a:spcBef>
            </a:pPr>
            <a:r>
              <a:rPr lang="en-US" sz="2324">
                <a:solidFill>
                  <a:srgbClr val="000000"/>
                </a:solidFill>
                <a:latin typeface="Arial"/>
                <a:ea typeface="Arial"/>
                <a:cs typeface="Arial"/>
                <a:sym typeface="Arial"/>
              </a:rPr>
              <a:t>Duy trì các phiên bản của file được nhân bản theo đúng thứ tự trên mọi máy chủ: Nếu phiên bản mới nhất được cài đặt trên máy chủ S3, hệ thống phải đảm bảo phiên bản trước đó đã được lan truyền (propagate) tới S3 trước khi áp dụng thay đổi.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564956" y="3181350"/>
            <a:ext cx="8548272" cy="3585928"/>
          </a:xfrm>
          <a:custGeom>
            <a:avLst/>
            <a:gdLst/>
            <a:ahLst/>
            <a:cxnLst/>
            <a:rect l="l" t="t" r="r" b="b"/>
            <a:pathLst>
              <a:path w="8548272" h="3585928">
                <a:moveTo>
                  <a:pt x="0" y="0"/>
                </a:moveTo>
                <a:lnTo>
                  <a:pt x="8548272" y="0"/>
                </a:lnTo>
                <a:lnTo>
                  <a:pt x="8548272" y="3585928"/>
                </a:lnTo>
                <a:lnTo>
                  <a:pt x="0" y="3585928"/>
                </a:lnTo>
                <a:lnTo>
                  <a:pt x="0" y="0"/>
                </a:lnTo>
                <a:close/>
              </a:path>
            </a:pathLst>
          </a:custGeom>
          <a:blipFill>
            <a:blip r:embed="rId3"/>
            <a:stretch>
              <a:fillRect/>
            </a:stretch>
          </a:blipFill>
        </p:spPr>
      </p:sp>
      <p:sp>
        <p:nvSpPr>
          <p:cNvPr id="5" name="TextBox 5"/>
          <p:cNvSpPr txBox="1"/>
          <p:nvPr/>
        </p:nvSpPr>
        <p:spPr>
          <a:xfrm>
            <a:off x="0" y="1209675"/>
            <a:ext cx="9753600" cy="1971675"/>
          </a:xfrm>
          <a:prstGeom prst="rect">
            <a:avLst/>
          </a:prstGeom>
        </p:spPr>
        <p:txBody>
          <a:bodyPr lIns="0" tIns="0" rIns="0" bIns="0" rtlCol="0" anchor="t">
            <a:spAutoFit/>
          </a:bodyPr>
          <a:lstStyle/>
          <a:p>
            <a:pPr algn="l">
              <a:lnSpc>
                <a:spcPts val="3824"/>
              </a:lnSpc>
              <a:spcBef>
                <a:spcPct val="0"/>
              </a:spcBef>
            </a:pPr>
            <a:r>
              <a:rPr lang="en-US" sz="3186" b="1">
                <a:solidFill>
                  <a:srgbClr val="000000"/>
                </a:solidFill>
                <a:latin typeface="Arial Bold"/>
                <a:ea typeface="Arial Bold"/>
                <a:cs typeface="Arial Bold"/>
                <a:sym typeface="Arial Bold"/>
              </a:rPr>
              <a:t>Định nghĩa</a:t>
            </a:r>
          </a:p>
          <a:p>
            <a:pPr algn="l">
              <a:lnSpc>
                <a:spcPts val="3824"/>
              </a:lnSpc>
              <a:spcBef>
                <a:spcPct val="0"/>
              </a:spcBef>
            </a:pPr>
            <a:r>
              <a:rPr lang="en-US" sz="3186">
                <a:solidFill>
                  <a:srgbClr val="000000"/>
                </a:solidFill>
                <a:latin typeface="Arial"/>
                <a:ea typeface="Arial"/>
                <a:cs typeface="Arial"/>
                <a:sym typeface="Arial"/>
              </a:rPr>
              <a:t>Một thao tác ghi (write) của một tiến trình lên một mục dữ liệu x được hoàn thành trước bất kỳ thao tác ghi kế tiếp nào lên x bởi cùng tiến trình đó.</a:t>
            </a:r>
          </a:p>
        </p:txBody>
      </p:sp>
      <p:sp>
        <p:nvSpPr>
          <p:cNvPr id="6" name="TextBox 6"/>
          <p:cNvSpPr txBox="1"/>
          <p:nvPr/>
        </p:nvSpPr>
        <p:spPr>
          <a:xfrm>
            <a:off x="564956" y="324603"/>
            <a:ext cx="6378059" cy="542925"/>
          </a:xfrm>
          <a:prstGeom prst="rect">
            <a:avLst/>
          </a:prstGeom>
        </p:spPr>
        <p:txBody>
          <a:bodyPr lIns="0" tIns="0" rIns="0" bIns="0" rtlCol="0" anchor="t">
            <a:spAutoFit/>
          </a:bodyPr>
          <a:lstStyle/>
          <a:p>
            <a:pPr algn="ctr">
              <a:lnSpc>
                <a:spcPts val="3824"/>
              </a:lnSpc>
              <a:spcBef>
                <a:spcPct val="0"/>
              </a:spcBef>
            </a:pPr>
            <a:r>
              <a:rPr lang="en-US" sz="3186" b="1">
                <a:solidFill>
                  <a:srgbClr val="FFFF00"/>
                </a:solidFill>
                <a:latin typeface="Arial Bold"/>
                <a:ea typeface="Arial Bold"/>
                <a:cs typeface="Arial Bold"/>
                <a:sym typeface="Arial Bold"/>
              </a:rPr>
              <a:t>Monotonic Writes (Ghi Đơn Điệu)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1340234" y="3145144"/>
            <a:ext cx="5737591" cy="3609565"/>
          </a:xfrm>
          <a:custGeom>
            <a:avLst/>
            <a:gdLst/>
            <a:ahLst/>
            <a:cxnLst/>
            <a:rect l="l" t="t" r="r" b="b"/>
            <a:pathLst>
              <a:path w="5737591" h="3609565">
                <a:moveTo>
                  <a:pt x="0" y="0"/>
                </a:moveTo>
                <a:lnTo>
                  <a:pt x="5737591" y="0"/>
                </a:lnTo>
                <a:lnTo>
                  <a:pt x="5737591" y="3609565"/>
                </a:lnTo>
                <a:lnTo>
                  <a:pt x="0" y="3609565"/>
                </a:lnTo>
                <a:lnTo>
                  <a:pt x="0" y="0"/>
                </a:lnTo>
                <a:close/>
              </a:path>
            </a:pathLst>
          </a:custGeom>
          <a:blipFill>
            <a:blip r:embed="rId3"/>
            <a:stretch>
              <a:fillRect/>
            </a:stretch>
          </a:blipFill>
        </p:spPr>
      </p:sp>
      <p:sp>
        <p:nvSpPr>
          <p:cNvPr id="5" name="TextBox 5"/>
          <p:cNvSpPr txBox="1"/>
          <p:nvPr/>
        </p:nvSpPr>
        <p:spPr>
          <a:xfrm>
            <a:off x="119086" y="226695"/>
            <a:ext cx="8401676" cy="504825"/>
          </a:xfrm>
          <a:prstGeom prst="rect">
            <a:avLst/>
          </a:prstGeom>
        </p:spPr>
        <p:txBody>
          <a:bodyPr lIns="0" tIns="0" rIns="0" bIns="0" rtlCol="0" anchor="t">
            <a:spAutoFit/>
          </a:bodyPr>
          <a:lstStyle/>
          <a:p>
            <a:pPr algn="l">
              <a:lnSpc>
                <a:spcPts val="3467"/>
              </a:lnSpc>
              <a:spcBef>
                <a:spcPct val="0"/>
              </a:spcBef>
            </a:pPr>
            <a:r>
              <a:rPr lang="en-US" sz="2889" b="1">
                <a:solidFill>
                  <a:srgbClr val="FFFF00"/>
                </a:solidFill>
                <a:latin typeface="Arial Bold"/>
                <a:ea typeface="Arial Bold"/>
                <a:cs typeface="Arial Bold"/>
                <a:sym typeface="Arial Bold"/>
              </a:rPr>
              <a:t>Read Your Writes (Đọc thấy ghi của chính mình)</a:t>
            </a:r>
          </a:p>
        </p:txBody>
      </p:sp>
      <p:sp>
        <p:nvSpPr>
          <p:cNvPr id="6" name="TextBox 6"/>
          <p:cNvSpPr txBox="1"/>
          <p:nvPr/>
        </p:nvSpPr>
        <p:spPr>
          <a:xfrm>
            <a:off x="119086" y="1311319"/>
            <a:ext cx="2102048" cy="542925"/>
          </a:xfrm>
          <a:prstGeom prst="rect">
            <a:avLst/>
          </a:prstGeom>
        </p:spPr>
        <p:txBody>
          <a:bodyPr lIns="0" tIns="0" rIns="0" bIns="0" rtlCol="0" anchor="t">
            <a:spAutoFit/>
          </a:bodyPr>
          <a:lstStyle/>
          <a:p>
            <a:pPr algn="ctr">
              <a:lnSpc>
                <a:spcPts val="3824"/>
              </a:lnSpc>
              <a:spcBef>
                <a:spcPct val="0"/>
              </a:spcBef>
            </a:pPr>
            <a:r>
              <a:rPr lang="en-US" sz="3186" b="1">
                <a:solidFill>
                  <a:srgbClr val="000000"/>
                </a:solidFill>
                <a:latin typeface="Arial Bold"/>
                <a:ea typeface="Arial Bold"/>
                <a:cs typeface="Arial Bold"/>
                <a:sym typeface="Arial Bold"/>
              </a:rPr>
              <a:t>Định nghĩa</a:t>
            </a:r>
          </a:p>
        </p:txBody>
      </p:sp>
      <p:sp>
        <p:nvSpPr>
          <p:cNvPr id="7" name="TextBox 7"/>
          <p:cNvSpPr txBox="1"/>
          <p:nvPr/>
        </p:nvSpPr>
        <p:spPr>
          <a:xfrm>
            <a:off x="119086" y="1916419"/>
            <a:ext cx="9753600" cy="1228725"/>
          </a:xfrm>
          <a:prstGeom prst="rect">
            <a:avLst/>
          </a:prstGeom>
        </p:spPr>
        <p:txBody>
          <a:bodyPr lIns="0" tIns="0" rIns="0" bIns="0" rtlCol="0" anchor="t">
            <a:spAutoFit/>
          </a:bodyPr>
          <a:lstStyle/>
          <a:p>
            <a:pPr algn="l">
              <a:lnSpc>
                <a:spcPts val="3104"/>
              </a:lnSpc>
              <a:spcBef>
                <a:spcPct val="0"/>
              </a:spcBef>
            </a:pPr>
            <a:r>
              <a:rPr lang="en-US" sz="2586">
                <a:solidFill>
                  <a:srgbClr val="000000"/>
                </a:solidFill>
                <a:latin typeface="Arial"/>
                <a:ea typeface="Arial"/>
                <a:cs typeface="Arial"/>
                <a:sym typeface="Arial"/>
              </a:rPr>
              <a:t>Hiệu ứng của một thao tác ghi (write) bởi một tiến trình lên một mục dữ liệu x, sẽ luôn được nhìn thấy bởi một thao tác đọc (read) kế tiếp lên x bởi cùng tiến trình đó.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393309" y="188595"/>
            <a:ext cx="3489008" cy="542925"/>
          </a:xfrm>
          <a:prstGeom prst="rect">
            <a:avLst/>
          </a:prstGeom>
        </p:spPr>
        <p:txBody>
          <a:bodyPr lIns="0" tIns="0" rIns="0" bIns="0" rtlCol="0" anchor="t">
            <a:spAutoFit/>
          </a:bodyPr>
          <a:lstStyle/>
          <a:p>
            <a:pPr algn="ctr">
              <a:lnSpc>
                <a:spcPts val="3824"/>
              </a:lnSpc>
              <a:spcBef>
                <a:spcPct val="0"/>
              </a:spcBef>
            </a:pPr>
            <a:r>
              <a:rPr lang="en-US" sz="3186" b="1">
                <a:solidFill>
                  <a:srgbClr val="FFFF00"/>
                </a:solidFill>
                <a:latin typeface="Arial Bold"/>
                <a:ea typeface="Arial Bold"/>
                <a:cs typeface="Arial Bold"/>
                <a:sym typeface="Arial Bold"/>
              </a:rPr>
              <a:t>Ghi Theo Sau Đọc</a:t>
            </a:r>
          </a:p>
        </p:txBody>
      </p:sp>
      <p:sp>
        <p:nvSpPr>
          <p:cNvPr id="5" name="TextBox 5"/>
          <p:cNvSpPr txBox="1"/>
          <p:nvPr/>
        </p:nvSpPr>
        <p:spPr>
          <a:xfrm>
            <a:off x="182880" y="1311701"/>
            <a:ext cx="9570720" cy="2143125"/>
          </a:xfrm>
          <a:prstGeom prst="rect">
            <a:avLst/>
          </a:prstGeom>
        </p:spPr>
        <p:txBody>
          <a:bodyPr lIns="0" tIns="0" rIns="0" bIns="0" rtlCol="0" anchor="t">
            <a:spAutoFit/>
          </a:bodyPr>
          <a:lstStyle/>
          <a:p>
            <a:pPr algn="l">
              <a:lnSpc>
                <a:spcPts val="3824"/>
              </a:lnSpc>
              <a:spcBef>
                <a:spcPct val="0"/>
              </a:spcBef>
            </a:pPr>
            <a:r>
              <a:rPr lang="en-US" sz="3186" b="1">
                <a:solidFill>
                  <a:srgbClr val="000000"/>
                </a:solidFill>
                <a:latin typeface="Arial Bold"/>
                <a:ea typeface="Arial Bold"/>
                <a:cs typeface="Arial Bold"/>
                <a:sym typeface="Arial Bold"/>
              </a:rPr>
              <a:t>Định nghĩa</a:t>
            </a:r>
          </a:p>
          <a:p>
            <a:pPr marL="580054" lvl="1" indent="-290027" algn="l">
              <a:lnSpc>
                <a:spcPts val="3224"/>
              </a:lnSpc>
              <a:spcBef>
                <a:spcPct val="0"/>
              </a:spcBef>
              <a:buFont typeface="Arial"/>
              <a:buChar char="•"/>
            </a:pPr>
            <a:r>
              <a:rPr lang="en-US" sz="2686">
                <a:solidFill>
                  <a:srgbClr val="000000"/>
                </a:solidFill>
                <a:latin typeface="Arial"/>
                <a:ea typeface="Arial"/>
                <a:cs typeface="Arial"/>
                <a:sym typeface="Arial"/>
              </a:rPr>
              <a:t>Nếu một tiến trình đọc giá trị x (R(x)), mọi thao tác ghi lên x (W(x)) sau đó phải được thực hiện trên:</a:t>
            </a:r>
          </a:p>
          <a:p>
            <a:pPr marL="1160108" lvl="2" indent="-386703" algn="l">
              <a:lnSpc>
                <a:spcPts val="3224"/>
              </a:lnSpc>
              <a:spcBef>
                <a:spcPct val="0"/>
              </a:spcBef>
              <a:buFont typeface="Arial"/>
              <a:buChar char="⚬"/>
            </a:pPr>
            <a:r>
              <a:rPr lang="en-US" sz="2686">
                <a:solidFill>
                  <a:srgbClr val="000000"/>
                </a:solidFill>
                <a:latin typeface="Arial"/>
                <a:ea typeface="Arial"/>
                <a:cs typeface="Arial"/>
                <a:sym typeface="Arial"/>
              </a:rPr>
              <a:t>Chính giá trị vừa đọc (x₁), hoặc</a:t>
            </a:r>
          </a:p>
          <a:p>
            <a:pPr marL="1160108" lvl="2" indent="-386703" algn="l">
              <a:lnSpc>
                <a:spcPts val="3224"/>
              </a:lnSpc>
              <a:spcBef>
                <a:spcPct val="0"/>
              </a:spcBef>
              <a:buFont typeface="Arial"/>
              <a:buChar char="⚬"/>
            </a:pPr>
            <a:r>
              <a:rPr lang="en-US" sz="2686">
                <a:solidFill>
                  <a:srgbClr val="000000"/>
                </a:solidFill>
                <a:latin typeface="Arial"/>
                <a:ea typeface="Arial"/>
                <a:cs typeface="Arial"/>
                <a:sym typeface="Arial"/>
              </a:rPr>
              <a:t>Một phiên bản mới hơn (x₂, x₃,...).</a:t>
            </a:r>
          </a:p>
        </p:txBody>
      </p:sp>
      <p:sp>
        <p:nvSpPr>
          <p:cNvPr id="6" name="TextBox 6"/>
          <p:cNvSpPr txBox="1"/>
          <p:nvPr/>
        </p:nvSpPr>
        <p:spPr>
          <a:xfrm>
            <a:off x="182880" y="3787586"/>
            <a:ext cx="9468224" cy="2490044"/>
          </a:xfrm>
          <a:prstGeom prst="rect">
            <a:avLst/>
          </a:prstGeom>
        </p:spPr>
        <p:txBody>
          <a:bodyPr lIns="0" tIns="0" rIns="0" bIns="0" rtlCol="0" anchor="t">
            <a:spAutoFit/>
          </a:bodyPr>
          <a:lstStyle/>
          <a:p>
            <a:pPr algn="l">
              <a:lnSpc>
                <a:spcPts val="3671"/>
              </a:lnSpc>
            </a:pPr>
            <a:r>
              <a:rPr lang="en-US" sz="3059" b="1">
                <a:solidFill>
                  <a:srgbClr val="000000"/>
                </a:solidFill>
                <a:latin typeface="Arial Bold"/>
                <a:ea typeface="Arial Bold"/>
                <a:cs typeface="Arial Bold"/>
                <a:sym typeface="Arial Bold"/>
              </a:rPr>
              <a:t>Ví dụ</a:t>
            </a:r>
          </a:p>
          <a:p>
            <a:pPr algn="l">
              <a:lnSpc>
                <a:spcPts val="2634"/>
              </a:lnSpc>
            </a:pPr>
            <a:r>
              <a:rPr lang="en-US" sz="2195">
                <a:solidFill>
                  <a:srgbClr val="000000"/>
                </a:solidFill>
                <a:latin typeface="Arial"/>
                <a:ea typeface="Arial"/>
                <a:cs typeface="Arial"/>
                <a:sym typeface="Arial"/>
              </a:rPr>
              <a:t>Ứng dụng mạng xã hội:</a:t>
            </a:r>
          </a:p>
          <a:p>
            <a:pPr algn="l">
              <a:lnSpc>
                <a:spcPts val="2634"/>
              </a:lnSpc>
            </a:pPr>
            <a:r>
              <a:rPr lang="en-US" sz="2195">
                <a:solidFill>
                  <a:srgbClr val="000000"/>
                </a:solidFill>
                <a:latin typeface="Arial"/>
                <a:ea typeface="Arial"/>
                <a:cs typeface="Arial"/>
                <a:sym typeface="Arial"/>
              </a:rPr>
              <a:t>Bạn đọc bài viết gốc (phiên bản x₁).</a:t>
            </a:r>
          </a:p>
          <a:p>
            <a:pPr algn="l">
              <a:lnSpc>
                <a:spcPts val="2634"/>
              </a:lnSpc>
            </a:pPr>
            <a:r>
              <a:rPr lang="en-US" sz="2195">
                <a:solidFill>
                  <a:srgbClr val="000000"/>
                </a:solidFill>
                <a:latin typeface="Arial"/>
                <a:ea typeface="Arial"/>
                <a:cs typeface="Arial"/>
                <a:sym typeface="Arial"/>
              </a:rPr>
              <a:t>Khi ghi bình luận, hệ thống phải đảm bảo bình luận đó dựa trên x₁ hoặc phiên bản mới hơn (x₂).</a:t>
            </a:r>
          </a:p>
          <a:p>
            <a:pPr algn="l">
              <a:lnSpc>
                <a:spcPts val="2634"/>
              </a:lnSpc>
            </a:pPr>
            <a:r>
              <a:rPr lang="en-US" sz="2195">
                <a:solidFill>
                  <a:srgbClr val="000000"/>
                </a:solidFill>
                <a:latin typeface="Arial"/>
                <a:ea typeface="Arial"/>
                <a:cs typeface="Arial"/>
                <a:sym typeface="Arial"/>
              </a:rPr>
              <a:t>Nếu không, bạn có thể bình luận trên một phiên bản cũ đã bị thay đổi → gây mất ngữ cảnh.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2087917" y="1726835"/>
            <a:ext cx="5577767" cy="3861531"/>
          </a:xfrm>
          <a:custGeom>
            <a:avLst/>
            <a:gdLst/>
            <a:ahLst/>
            <a:cxnLst/>
            <a:rect l="l" t="t" r="r" b="b"/>
            <a:pathLst>
              <a:path w="5577767" h="3861531">
                <a:moveTo>
                  <a:pt x="0" y="0"/>
                </a:moveTo>
                <a:lnTo>
                  <a:pt x="5577766" y="0"/>
                </a:lnTo>
                <a:lnTo>
                  <a:pt x="5577766" y="3861530"/>
                </a:lnTo>
                <a:lnTo>
                  <a:pt x="0" y="3861530"/>
                </a:lnTo>
                <a:lnTo>
                  <a:pt x="0" y="0"/>
                </a:lnTo>
                <a:close/>
              </a:path>
            </a:pathLst>
          </a:custGeom>
          <a:blipFill>
            <a:blip r:embed="rId3"/>
            <a:stretch>
              <a:fillRect/>
            </a:stretch>
          </a:blipFill>
        </p:spPr>
      </p:sp>
      <p:sp>
        <p:nvSpPr>
          <p:cNvPr id="5" name="TextBox 5"/>
          <p:cNvSpPr txBox="1"/>
          <p:nvPr/>
        </p:nvSpPr>
        <p:spPr>
          <a:xfrm>
            <a:off x="393308" y="188595"/>
            <a:ext cx="4635891" cy="487313"/>
          </a:xfrm>
          <a:prstGeom prst="rect">
            <a:avLst/>
          </a:prstGeom>
        </p:spPr>
        <p:txBody>
          <a:bodyPr wrap="square" lIns="0" tIns="0" rIns="0" bIns="0" rtlCol="0" anchor="t">
            <a:spAutoFit/>
          </a:bodyPr>
          <a:lstStyle/>
          <a:p>
            <a:pPr algn="ctr">
              <a:lnSpc>
                <a:spcPts val="3824"/>
              </a:lnSpc>
              <a:spcBef>
                <a:spcPct val="0"/>
              </a:spcBef>
            </a:pPr>
            <a:r>
              <a:rPr lang="en-US" sz="3186" b="1" dirty="0" err="1">
                <a:solidFill>
                  <a:srgbClr val="FFFF00"/>
                </a:solidFill>
                <a:latin typeface="Arial Bold"/>
                <a:ea typeface="Arial Bold"/>
                <a:cs typeface="Arial Bold"/>
                <a:sym typeface="Arial Bold"/>
              </a:rPr>
              <a:t>Ghi</a:t>
            </a:r>
            <a:r>
              <a:rPr lang="en-US" sz="3186" b="1" dirty="0">
                <a:solidFill>
                  <a:srgbClr val="FFFF00"/>
                </a:solidFill>
                <a:latin typeface="Arial Bold"/>
                <a:ea typeface="Arial Bold"/>
                <a:cs typeface="Arial Bold"/>
                <a:sym typeface="Arial Bold"/>
              </a:rPr>
              <a:t> Theo Sau </a:t>
            </a:r>
            <a:r>
              <a:rPr lang="en-US" sz="3186" b="1" dirty="0" err="1">
                <a:solidFill>
                  <a:srgbClr val="FFFF00"/>
                </a:solidFill>
                <a:latin typeface="Arial Bold"/>
                <a:ea typeface="Arial Bold"/>
                <a:cs typeface="Arial Bold"/>
                <a:sym typeface="Arial Bold"/>
              </a:rPr>
              <a:t>Đọc</a:t>
            </a:r>
            <a:endParaRPr lang="en-US" sz="3186" b="1" dirty="0">
              <a:solidFill>
                <a:srgbClr val="FFFF00"/>
              </a:solidFill>
              <a:latin typeface="Arial Bold"/>
              <a:ea typeface="Arial Bold"/>
              <a:cs typeface="Arial Bold"/>
              <a:sym typeface="Arial 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453772"/>
            <a:ext cx="9172687" cy="2548890"/>
          </a:xfrm>
          <a:prstGeom prst="rect">
            <a:avLst/>
          </a:prstGeom>
        </p:spPr>
        <p:txBody>
          <a:bodyPr lIns="0" tIns="0" rIns="0" bIns="0" rtlCol="0" anchor="t">
            <a:spAutoFit/>
          </a:bodyPr>
          <a:lstStyle/>
          <a:p>
            <a:pPr algn="l">
              <a:lnSpc>
                <a:spcPts val="3359"/>
              </a:lnSpc>
            </a:pPr>
            <a:r>
              <a:rPr lang="en-US" sz="2399" b="1" dirty="0" err="1">
                <a:solidFill>
                  <a:srgbClr val="000000"/>
                </a:solidFill>
                <a:latin typeface="Arial Bold"/>
                <a:ea typeface="Arial Bold"/>
                <a:cs typeface="Arial Bold"/>
                <a:sym typeface="Arial Bold"/>
              </a:rPr>
              <a:t>Một</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mô</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hình</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nữa</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sao</a:t>
            </a:r>
            <a:r>
              <a:rPr lang="en-US" sz="2399" b="1" dirty="0">
                <a:solidFill>
                  <a:srgbClr val="000000"/>
                </a:solidFill>
                <a:latin typeface="Arial Bold"/>
                <a:ea typeface="Arial Bold"/>
                <a:cs typeface="Arial Bold"/>
                <a:sym typeface="Arial Bold"/>
              </a:rPr>
              <a:t>?</a:t>
            </a:r>
          </a:p>
          <a:p>
            <a:pPr algn="l">
              <a:lnSpc>
                <a:spcPts val="3359"/>
              </a:lnSpc>
            </a:pPr>
            <a:r>
              <a:rPr lang="en-US" sz="2399" dirty="0">
                <a:solidFill>
                  <a:srgbClr val="000000"/>
                </a:solidFill>
                <a:latin typeface="Arial"/>
                <a:ea typeface="Arial"/>
                <a:cs typeface="Arial"/>
                <a:sym typeface="Arial"/>
              </a:rPr>
              <a:t>Mô </a:t>
            </a:r>
            <a:r>
              <a:rPr lang="en-US" sz="2399" dirty="0" err="1">
                <a:solidFill>
                  <a:srgbClr val="000000"/>
                </a:solidFill>
                <a:latin typeface="Arial"/>
                <a:ea typeface="Arial"/>
                <a:cs typeface="Arial"/>
                <a:sym typeface="Arial"/>
              </a:rPr>
              <a:t>hình</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nhất</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quán</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của</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ZooKeeper</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kết</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hợp</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các</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yếu</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tố</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của</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mô</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hình</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nhất</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quán</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tập</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trung</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vào</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dữ</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liệu</a:t>
            </a:r>
            <a:r>
              <a:rPr lang="en-US" sz="2399" dirty="0">
                <a:solidFill>
                  <a:srgbClr val="000000"/>
                </a:solidFill>
                <a:latin typeface="Arial"/>
                <a:ea typeface="Arial"/>
                <a:cs typeface="Arial"/>
                <a:sym typeface="Arial"/>
              </a:rPr>
              <a:t> (data-centric) </a:t>
            </a:r>
            <a:r>
              <a:rPr lang="en-US" sz="2399" dirty="0" err="1">
                <a:solidFill>
                  <a:srgbClr val="000000"/>
                </a:solidFill>
                <a:latin typeface="Arial"/>
                <a:ea typeface="Arial"/>
                <a:cs typeface="Arial"/>
                <a:sym typeface="Arial"/>
              </a:rPr>
              <a:t>và</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nhất</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quán</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tập</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trung</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vào</a:t>
            </a:r>
            <a:r>
              <a:rPr lang="en-US" sz="2399" dirty="0">
                <a:solidFill>
                  <a:srgbClr val="000000"/>
                </a:solidFill>
                <a:latin typeface="Arial"/>
                <a:ea typeface="Arial"/>
                <a:cs typeface="Arial"/>
                <a:sym typeface="Arial"/>
              </a:rPr>
              <a:t> </a:t>
            </a:r>
            <a:r>
              <a:rPr lang="en-US" sz="2399" dirty="0" err="1">
                <a:solidFill>
                  <a:srgbClr val="000000"/>
                </a:solidFill>
                <a:latin typeface="Arial"/>
                <a:ea typeface="Arial"/>
                <a:cs typeface="Arial"/>
                <a:sym typeface="Arial"/>
              </a:rPr>
              <a:t>phía</a:t>
            </a:r>
            <a:r>
              <a:rPr lang="en-US" sz="2399" dirty="0">
                <a:solidFill>
                  <a:srgbClr val="000000"/>
                </a:solidFill>
                <a:latin typeface="Arial"/>
                <a:ea typeface="Arial"/>
                <a:cs typeface="Arial"/>
                <a:sym typeface="Arial"/>
              </a:rPr>
              <a:t> client (client-centric).</a:t>
            </a:r>
          </a:p>
          <a:p>
            <a:pPr algn="l">
              <a:lnSpc>
                <a:spcPts val="3359"/>
              </a:lnSpc>
              <a:spcBef>
                <a:spcPct val="0"/>
              </a:spcBef>
            </a:pPr>
            <a:r>
              <a:rPr lang="en-US" sz="2399" b="1" dirty="0" err="1">
                <a:solidFill>
                  <a:srgbClr val="000000"/>
                </a:solidFill>
                <a:latin typeface="Arial Bold"/>
                <a:ea typeface="Arial Bold"/>
                <a:cs typeface="Arial Bold"/>
                <a:sym typeface="Arial Bold"/>
              </a:rPr>
              <a:t>Lấy</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một</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ví</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dụ</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đơn</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giản</a:t>
            </a:r>
            <a:r>
              <a:rPr lang="en-US" sz="2399" b="1" dirty="0">
                <a:solidFill>
                  <a:srgbClr val="000000"/>
                </a:solidFill>
                <a:latin typeface="Arial Bold"/>
                <a:ea typeface="Arial Bold"/>
                <a:cs typeface="Arial Bold"/>
                <a:sym typeface="Arial Bold"/>
              </a:rPr>
              <a:t>:</a:t>
            </a:r>
          </a:p>
          <a:p>
            <a:pPr algn="l">
              <a:lnSpc>
                <a:spcPts val="3359"/>
              </a:lnSpc>
              <a:spcBef>
                <a:spcPct val="0"/>
              </a:spcBef>
            </a:pPr>
            <a:endParaRPr lang="en-US" sz="2399" b="1" dirty="0">
              <a:solidFill>
                <a:srgbClr val="000000"/>
              </a:solidFill>
              <a:latin typeface="Arial Bold"/>
              <a:ea typeface="Arial Bold"/>
              <a:cs typeface="Arial Bold"/>
              <a:sym typeface="Arial Bold"/>
            </a:endParaRPr>
          </a:p>
        </p:txBody>
      </p:sp>
      <p:sp>
        <p:nvSpPr>
          <p:cNvPr id="5" name="Freeform 5"/>
          <p:cNvSpPr/>
          <p:nvPr/>
        </p:nvSpPr>
        <p:spPr>
          <a:xfrm>
            <a:off x="2226709" y="3676229"/>
            <a:ext cx="5300182" cy="2878876"/>
          </a:xfrm>
          <a:custGeom>
            <a:avLst/>
            <a:gdLst/>
            <a:ahLst/>
            <a:cxnLst/>
            <a:rect l="l" t="t" r="r" b="b"/>
            <a:pathLst>
              <a:path w="5300182" h="2878876">
                <a:moveTo>
                  <a:pt x="0" y="0"/>
                </a:moveTo>
                <a:lnTo>
                  <a:pt x="5300182" y="0"/>
                </a:lnTo>
                <a:lnTo>
                  <a:pt x="5300182" y="2878876"/>
                </a:lnTo>
                <a:lnTo>
                  <a:pt x="0" y="2878876"/>
                </a:lnTo>
                <a:lnTo>
                  <a:pt x="0" y="0"/>
                </a:lnTo>
                <a:close/>
              </a:path>
            </a:pathLst>
          </a:custGeom>
          <a:blipFill>
            <a:blip r:embed="rId3"/>
            <a:stretch>
              <a:fillRect/>
            </a:stretch>
          </a:blipFill>
        </p:spPr>
      </p:sp>
      <p:sp>
        <p:nvSpPr>
          <p:cNvPr id="6" name="TextBox 6"/>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Ví dụ: Tính nhất quán trong ZooKeeper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453772"/>
            <a:ext cx="9172687" cy="1710690"/>
          </a:xfrm>
          <a:prstGeom prst="rect">
            <a:avLst/>
          </a:prstGeom>
        </p:spPr>
        <p:txBody>
          <a:bodyPr lIns="0" tIns="0" rIns="0" bIns="0" rtlCol="0" anchor="t">
            <a:spAutoFit/>
          </a:bodyPr>
          <a:lstStyle/>
          <a:p>
            <a:pPr algn="l">
              <a:lnSpc>
                <a:spcPts val="3359"/>
              </a:lnSpc>
            </a:pPr>
            <a:r>
              <a:rPr lang="en-US" sz="2399" b="1">
                <a:solidFill>
                  <a:srgbClr val="000000"/>
                </a:solidFill>
                <a:latin typeface="Arial Bold"/>
                <a:ea typeface="Arial Bold"/>
                <a:cs typeface="Arial Bold"/>
                <a:sym typeface="Arial Bold"/>
              </a:rPr>
              <a:t>Bản chất vấn đề (Essence):</a:t>
            </a:r>
          </a:p>
          <a:p>
            <a:pPr algn="l">
              <a:lnSpc>
                <a:spcPts val="3359"/>
              </a:lnSpc>
              <a:spcBef>
                <a:spcPct val="0"/>
              </a:spcBef>
            </a:pPr>
            <a:r>
              <a:rPr lang="en-US" sz="2399">
                <a:solidFill>
                  <a:srgbClr val="000000"/>
                </a:solidFill>
                <a:latin typeface="Arial"/>
                <a:ea typeface="Arial"/>
                <a:cs typeface="Arial"/>
                <a:sym typeface="Arial"/>
              </a:rPr>
              <a:t>Tìm ra K vị trí tốt nhất trong tổng số N vị trí khả thi để đặt bản sao dữ liệu.</a:t>
            </a:r>
          </a:p>
          <a:p>
            <a:pPr algn="l">
              <a:lnSpc>
                <a:spcPts val="3359"/>
              </a:lnSpc>
              <a:spcBef>
                <a:spcPct val="0"/>
              </a:spcBef>
            </a:pPr>
            <a:endParaRPr lang="en-US" sz="2399">
              <a:solidFill>
                <a:srgbClr val="000000"/>
              </a:solidFill>
              <a:latin typeface="Arial"/>
              <a:ea typeface="Arial"/>
              <a:cs typeface="Arial"/>
              <a:sym typeface="Arial"/>
            </a:endParaRPr>
          </a:p>
        </p:txBody>
      </p:sp>
      <p:sp>
        <p:nvSpPr>
          <p:cNvPr id="5" name="TextBox 5"/>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Vị trí đặt bản sao (Replica placement)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453772"/>
            <a:ext cx="9172687" cy="4225290"/>
          </a:xfrm>
          <a:prstGeom prst="rect">
            <a:avLst/>
          </a:prstGeom>
        </p:spPr>
        <p:txBody>
          <a:bodyPr lIns="0" tIns="0" rIns="0" bIns="0" rtlCol="0" anchor="t">
            <a:spAutoFit/>
          </a:bodyPr>
          <a:lstStyle/>
          <a:p>
            <a:pPr algn="l">
              <a:lnSpc>
                <a:spcPts val="3359"/>
              </a:lnSpc>
            </a:pPr>
            <a:r>
              <a:rPr lang="en-US" sz="2399" b="1">
                <a:solidFill>
                  <a:srgbClr val="000000"/>
                </a:solidFill>
                <a:latin typeface="Arial Bold"/>
                <a:ea typeface="Arial Bold"/>
                <a:cs typeface="Arial Bold"/>
                <a:sym typeface="Arial Bold"/>
              </a:rPr>
              <a:t>Bản chất vấn đề (Essence):</a:t>
            </a:r>
          </a:p>
          <a:p>
            <a:pPr algn="l">
              <a:lnSpc>
                <a:spcPts val="3359"/>
              </a:lnSpc>
              <a:spcBef>
                <a:spcPct val="0"/>
              </a:spcBef>
            </a:pPr>
            <a:r>
              <a:rPr lang="en-US" sz="2399">
                <a:solidFill>
                  <a:srgbClr val="000000"/>
                </a:solidFill>
                <a:latin typeface="Arial"/>
                <a:ea typeface="Arial"/>
                <a:cs typeface="Arial"/>
                <a:sym typeface="Arial"/>
              </a:rPr>
              <a:t>Tìm ra K vị trí tốt nhất trong tổng số N vị trí khả thi để đặt bản sao dữ liệu.</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Chọn vị trí tốt nhất từ tập N – K vị trí còn lại, sao cho khoảng cách trung bình đến các client là nhỏ nhất.Sau đó chọn tiếp vị trí tốt kế tiếp. (</a:t>
            </a:r>
            <a:r>
              <a:rPr lang="en-US" sz="2399" b="1">
                <a:solidFill>
                  <a:srgbClr val="000000"/>
                </a:solidFill>
                <a:latin typeface="Arial Bold"/>
                <a:ea typeface="Arial Bold"/>
                <a:cs typeface="Arial Bold"/>
                <a:sym typeface="Arial Bold"/>
              </a:rPr>
              <a:t>Lưu ý:</a:t>
            </a:r>
            <a:r>
              <a:rPr lang="en-US" sz="2399">
                <a:solidFill>
                  <a:srgbClr val="000000"/>
                </a:solidFill>
                <a:latin typeface="Arial"/>
                <a:ea typeface="Arial"/>
                <a:cs typeface="Arial"/>
                <a:sym typeface="Arial"/>
              </a:rPr>
              <a:t> Vị trí đầu tiên được chọn là vị trí tối thiểu hóa khoảng cách trung bình đến tất cả các client.) Quá trình này rất tốn kém về mặt tính toán.</a:t>
            </a:r>
          </a:p>
          <a:p>
            <a:pPr algn="l">
              <a:lnSpc>
                <a:spcPts val="3359"/>
              </a:lnSpc>
              <a:spcBef>
                <a:spcPct val="0"/>
              </a:spcBef>
            </a:pPr>
            <a:endParaRPr lang="en-US" sz="2399">
              <a:solidFill>
                <a:srgbClr val="000000"/>
              </a:solidFill>
              <a:latin typeface="Arial"/>
              <a:ea typeface="Arial"/>
              <a:cs typeface="Arial"/>
              <a:sym typeface="Arial"/>
            </a:endParaRPr>
          </a:p>
          <a:p>
            <a:pPr algn="l">
              <a:lnSpc>
                <a:spcPts val="3359"/>
              </a:lnSpc>
              <a:spcBef>
                <a:spcPct val="0"/>
              </a:spcBef>
            </a:pPr>
            <a:endParaRPr lang="en-US" sz="2399">
              <a:solidFill>
                <a:srgbClr val="000000"/>
              </a:solidFill>
              <a:latin typeface="Arial"/>
              <a:ea typeface="Arial"/>
              <a:cs typeface="Arial"/>
              <a:sym typeface="Arial"/>
            </a:endParaRPr>
          </a:p>
        </p:txBody>
      </p:sp>
      <p:sp>
        <p:nvSpPr>
          <p:cNvPr id="5" name="TextBox 5"/>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Vị trí đặt bản sao (Replica placement)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453772"/>
            <a:ext cx="9172687" cy="5482590"/>
          </a:xfrm>
          <a:prstGeom prst="rect">
            <a:avLst/>
          </a:prstGeom>
        </p:spPr>
        <p:txBody>
          <a:bodyPr lIns="0" tIns="0" rIns="0" bIns="0" rtlCol="0" anchor="t">
            <a:spAutoFit/>
          </a:bodyPr>
          <a:lstStyle/>
          <a:p>
            <a:pPr algn="l">
              <a:lnSpc>
                <a:spcPts val="3359"/>
              </a:lnSpc>
            </a:pPr>
            <a:r>
              <a:rPr lang="en-US" sz="2399" b="1">
                <a:solidFill>
                  <a:srgbClr val="000000"/>
                </a:solidFill>
                <a:latin typeface="Arial Bold"/>
                <a:ea typeface="Arial Bold"/>
                <a:cs typeface="Arial Bold"/>
                <a:sym typeface="Arial Bold"/>
              </a:rPr>
              <a:t>Bản chất vấn đề (Essence):</a:t>
            </a:r>
          </a:p>
          <a:p>
            <a:pPr algn="l">
              <a:lnSpc>
                <a:spcPts val="3359"/>
              </a:lnSpc>
              <a:spcBef>
                <a:spcPct val="0"/>
              </a:spcBef>
            </a:pPr>
            <a:r>
              <a:rPr lang="en-US" sz="2399">
                <a:solidFill>
                  <a:srgbClr val="000000"/>
                </a:solidFill>
                <a:latin typeface="Arial"/>
                <a:ea typeface="Arial"/>
                <a:cs typeface="Arial"/>
                <a:sym typeface="Arial"/>
              </a:rPr>
              <a:t>Tìm ra K vị trí tốt nhất trong tổng số N vị trí khả thi để đặt bản sao dữ liệu.</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Chọn vị trí tốt nhất từ tập N – K vị trí còn lại, sao cho khoảng cách trung bình đến các client là nhỏ nhất.Sau đó chọn tiếp vị trí tốt kế tiếp. (</a:t>
            </a:r>
            <a:r>
              <a:rPr lang="en-US" sz="2399" b="1">
                <a:solidFill>
                  <a:srgbClr val="000000"/>
                </a:solidFill>
                <a:latin typeface="Arial Bold"/>
                <a:ea typeface="Arial Bold"/>
                <a:cs typeface="Arial Bold"/>
                <a:sym typeface="Arial Bold"/>
              </a:rPr>
              <a:t>Lưu ý:</a:t>
            </a:r>
            <a:r>
              <a:rPr lang="en-US" sz="2399">
                <a:solidFill>
                  <a:srgbClr val="000000"/>
                </a:solidFill>
                <a:latin typeface="Arial"/>
                <a:ea typeface="Arial"/>
                <a:cs typeface="Arial"/>
                <a:sym typeface="Arial"/>
              </a:rPr>
              <a:t> Vị trí đầu tiên được chọn là vị trí tối thiểu hóa khoảng cách trung bình đến tất cả các client.) Quá trình này rất tốn kém về mặt tính toán.</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Chọn K hệ thống tự trị (autonomous system) lớn nhất, sau đó đặt máy chủ tại host có kết nối tốt nhất trong mỗi hệ thống đó. Tính toán cũng rất tốn kém.</a:t>
            </a:r>
          </a:p>
          <a:p>
            <a:pPr algn="l">
              <a:lnSpc>
                <a:spcPts val="3359"/>
              </a:lnSpc>
              <a:spcBef>
                <a:spcPct val="0"/>
              </a:spcBef>
            </a:pPr>
            <a:endParaRPr lang="en-US" sz="2399">
              <a:solidFill>
                <a:srgbClr val="000000"/>
              </a:solidFill>
              <a:latin typeface="Arial"/>
              <a:ea typeface="Arial"/>
              <a:cs typeface="Arial"/>
              <a:sym typeface="Arial"/>
            </a:endParaRPr>
          </a:p>
          <a:p>
            <a:pPr algn="l">
              <a:lnSpc>
                <a:spcPts val="3359"/>
              </a:lnSpc>
              <a:spcBef>
                <a:spcPct val="0"/>
              </a:spcBef>
            </a:pPr>
            <a:endParaRPr lang="en-US" sz="2399">
              <a:solidFill>
                <a:srgbClr val="000000"/>
              </a:solidFill>
              <a:latin typeface="Arial"/>
              <a:ea typeface="Arial"/>
              <a:cs typeface="Arial"/>
              <a:sym typeface="Arial"/>
            </a:endParaRPr>
          </a:p>
        </p:txBody>
      </p:sp>
      <p:sp>
        <p:nvSpPr>
          <p:cNvPr id="5" name="TextBox 5"/>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Vị trí đặt bản sao (Replica placement)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453772"/>
            <a:ext cx="9172687" cy="5377815"/>
          </a:xfrm>
          <a:prstGeom prst="rect">
            <a:avLst/>
          </a:prstGeom>
        </p:spPr>
        <p:txBody>
          <a:bodyPr lIns="0" tIns="0" rIns="0" bIns="0" rtlCol="0" anchor="t">
            <a:spAutoFit/>
          </a:bodyPr>
          <a:lstStyle/>
          <a:p>
            <a:pPr algn="just">
              <a:lnSpc>
                <a:spcPts val="3359"/>
              </a:lnSpc>
            </a:pPr>
            <a:r>
              <a:rPr lang="en-US" sz="2399" b="1">
                <a:solidFill>
                  <a:srgbClr val="000000"/>
                </a:solidFill>
                <a:latin typeface="Arial Bold"/>
                <a:ea typeface="Arial Bold"/>
                <a:cs typeface="Arial Bold"/>
                <a:sym typeface="Arial Bold"/>
              </a:rPr>
              <a:t>Bản chất vấn đề (Essence):</a:t>
            </a:r>
          </a:p>
          <a:p>
            <a:pPr algn="just">
              <a:lnSpc>
                <a:spcPts val="2940"/>
              </a:lnSpc>
              <a:spcBef>
                <a:spcPct val="0"/>
              </a:spcBef>
            </a:pPr>
            <a:r>
              <a:rPr lang="en-US" sz="2100">
                <a:solidFill>
                  <a:srgbClr val="000000"/>
                </a:solidFill>
                <a:latin typeface="Arial"/>
                <a:ea typeface="Arial"/>
                <a:cs typeface="Arial"/>
                <a:sym typeface="Arial"/>
              </a:rPr>
              <a:t>Tìm ra K vị trí tốt nhất trong tổng số N vị trí khả thi để đặt bản sao dữ liệu.</a:t>
            </a:r>
          </a:p>
          <a:p>
            <a:pPr marL="453390" lvl="1" indent="-226695" algn="just">
              <a:lnSpc>
                <a:spcPts val="2940"/>
              </a:lnSpc>
              <a:spcBef>
                <a:spcPct val="0"/>
              </a:spcBef>
              <a:buFont typeface="Arial"/>
              <a:buChar char="•"/>
            </a:pPr>
            <a:r>
              <a:rPr lang="en-US" sz="2100">
                <a:solidFill>
                  <a:srgbClr val="000000"/>
                </a:solidFill>
                <a:latin typeface="Arial"/>
                <a:ea typeface="Arial"/>
                <a:cs typeface="Arial"/>
                <a:sym typeface="Arial"/>
              </a:rPr>
              <a:t>Chọn vị trí tốt nhất từ tập N – K vị trí còn lại, sao cho khoảng cách trung bình đến các client là nhỏ nhất.Sau đó chọn tiếp vị trí tốt kế tiếp. (</a:t>
            </a:r>
            <a:r>
              <a:rPr lang="en-US" sz="2100" b="1">
                <a:solidFill>
                  <a:srgbClr val="000000"/>
                </a:solidFill>
                <a:latin typeface="Arial Bold"/>
                <a:ea typeface="Arial Bold"/>
                <a:cs typeface="Arial Bold"/>
                <a:sym typeface="Arial Bold"/>
              </a:rPr>
              <a:t>Lưu ý:</a:t>
            </a:r>
            <a:r>
              <a:rPr lang="en-US" sz="2100">
                <a:solidFill>
                  <a:srgbClr val="000000"/>
                </a:solidFill>
                <a:latin typeface="Arial"/>
                <a:ea typeface="Arial"/>
                <a:cs typeface="Arial"/>
                <a:sym typeface="Arial"/>
              </a:rPr>
              <a:t> Vị trí đầu tiên được chọn là vị trí tối thiểu hóa khoảng cách trung bình đến tất cả các client.) Quá trình này rất tốn kém về mặt tính toán.</a:t>
            </a:r>
          </a:p>
          <a:p>
            <a:pPr marL="453390" lvl="1" indent="-226695" algn="just">
              <a:lnSpc>
                <a:spcPts val="2940"/>
              </a:lnSpc>
              <a:spcBef>
                <a:spcPct val="0"/>
              </a:spcBef>
              <a:buFont typeface="Arial"/>
              <a:buChar char="•"/>
            </a:pPr>
            <a:r>
              <a:rPr lang="en-US" sz="2100">
                <a:solidFill>
                  <a:srgbClr val="000000"/>
                </a:solidFill>
                <a:latin typeface="Arial"/>
                <a:ea typeface="Arial"/>
                <a:cs typeface="Arial"/>
                <a:sym typeface="Arial"/>
              </a:rPr>
              <a:t>Chọn K hệ thống tự trị (autonomous system) lớn nhất, sau đó đặt máy chủ tại host có kết nối tốt nhất trong mỗi hệ thống đó. Tính toán cũng rất tốn kém.</a:t>
            </a:r>
          </a:p>
          <a:p>
            <a:pPr marL="453390" lvl="1" indent="-226695" algn="just">
              <a:lnSpc>
                <a:spcPts val="2940"/>
              </a:lnSpc>
              <a:spcBef>
                <a:spcPct val="0"/>
              </a:spcBef>
              <a:buFont typeface="Arial"/>
              <a:buChar char="•"/>
            </a:pPr>
            <a:r>
              <a:rPr lang="en-US" sz="2100">
                <a:solidFill>
                  <a:srgbClr val="000000"/>
                </a:solidFill>
                <a:latin typeface="Arial"/>
                <a:ea typeface="Arial"/>
                <a:cs typeface="Arial"/>
                <a:sym typeface="Arial"/>
              </a:rPr>
              <a:t>Gán các nút vào không gian hình học d chiều, trong đó khoảng cách thể hiện độ trễ (latency).Xác định K vùng có mật độ cao nhất, và đặt một máy chủ trong mỗi vùng đó.Tính toán nhẹ (Computationally cheap)</a:t>
            </a:r>
          </a:p>
          <a:p>
            <a:pPr algn="just">
              <a:lnSpc>
                <a:spcPts val="3359"/>
              </a:lnSpc>
              <a:spcBef>
                <a:spcPct val="0"/>
              </a:spcBef>
            </a:pPr>
            <a:endParaRPr lang="en-US" sz="2100">
              <a:solidFill>
                <a:srgbClr val="000000"/>
              </a:solidFill>
              <a:latin typeface="Arial"/>
              <a:ea typeface="Arial"/>
              <a:cs typeface="Arial"/>
              <a:sym typeface="Arial"/>
            </a:endParaRPr>
          </a:p>
          <a:p>
            <a:pPr algn="just">
              <a:lnSpc>
                <a:spcPts val="3359"/>
              </a:lnSpc>
              <a:spcBef>
                <a:spcPct val="0"/>
              </a:spcBef>
            </a:pPr>
            <a:endParaRPr lang="en-US" sz="2100">
              <a:solidFill>
                <a:srgbClr val="000000"/>
              </a:solidFill>
              <a:latin typeface="Arial"/>
              <a:ea typeface="Arial"/>
              <a:cs typeface="Arial"/>
              <a:sym typeface="Arial"/>
            </a:endParaRPr>
          </a:p>
        </p:txBody>
      </p:sp>
      <p:sp>
        <p:nvSpPr>
          <p:cNvPr id="5" name="TextBox 5"/>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Vị trí đặt bản sao (Replica placement)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453772"/>
            <a:ext cx="9172687" cy="4634865"/>
          </a:xfrm>
          <a:prstGeom prst="rect">
            <a:avLst/>
          </a:prstGeom>
        </p:spPr>
        <p:txBody>
          <a:bodyPr lIns="0" tIns="0" rIns="0" bIns="0" rtlCol="0" anchor="t">
            <a:spAutoFit/>
          </a:bodyPr>
          <a:lstStyle/>
          <a:p>
            <a:pPr algn="just">
              <a:lnSpc>
                <a:spcPts val="3359"/>
              </a:lnSpc>
            </a:pPr>
            <a:r>
              <a:rPr lang="en-US" sz="2399" b="1">
                <a:solidFill>
                  <a:srgbClr val="000000"/>
                </a:solidFill>
                <a:latin typeface="Arial Bold"/>
                <a:ea typeface="Arial Bold"/>
                <a:cs typeface="Arial Bold"/>
                <a:sym typeface="Arial Bold"/>
              </a:rPr>
              <a:t>Phân biệt các loại tiến trình khác nhau (Distinguish different processes)</a:t>
            </a:r>
          </a:p>
          <a:p>
            <a:pPr algn="just">
              <a:lnSpc>
                <a:spcPts val="2940"/>
              </a:lnSpc>
              <a:spcBef>
                <a:spcPct val="0"/>
              </a:spcBef>
            </a:pPr>
            <a:r>
              <a:rPr lang="en-US" sz="2100">
                <a:solidFill>
                  <a:srgbClr val="000000"/>
                </a:solidFill>
                <a:latin typeface="Arial"/>
                <a:ea typeface="Arial"/>
                <a:cs typeface="Arial"/>
                <a:sym typeface="Arial"/>
              </a:rPr>
              <a:t>Một tiến trình có khả năng lưu trữ bản sao của một đối tượng hoặc dữ liệu:</a:t>
            </a:r>
          </a:p>
          <a:p>
            <a:pPr marL="453390" lvl="1" indent="-226695" algn="just">
              <a:lnSpc>
                <a:spcPts val="2940"/>
              </a:lnSpc>
              <a:spcBef>
                <a:spcPct val="0"/>
              </a:spcBef>
              <a:buFont typeface="Arial"/>
              <a:buChar char="•"/>
            </a:pPr>
            <a:r>
              <a:rPr lang="en-US" sz="2100">
                <a:solidFill>
                  <a:srgbClr val="000000"/>
                </a:solidFill>
                <a:latin typeface="Arial"/>
                <a:ea typeface="Arial"/>
                <a:cs typeface="Arial"/>
                <a:sym typeface="Arial"/>
              </a:rPr>
              <a:t>Permanent replicas (Bản sao vĩnh viễn): Tiến trình/máy luôn luôn có một bản sao.</a:t>
            </a:r>
          </a:p>
          <a:p>
            <a:pPr marL="453390" lvl="1" indent="-226695" algn="just">
              <a:lnSpc>
                <a:spcPts val="2940"/>
              </a:lnSpc>
              <a:spcBef>
                <a:spcPct val="0"/>
              </a:spcBef>
              <a:buFont typeface="Arial"/>
              <a:buChar char="•"/>
            </a:pPr>
            <a:r>
              <a:rPr lang="en-US" sz="2100">
                <a:solidFill>
                  <a:srgbClr val="000000"/>
                </a:solidFill>
                <a:latin typeface="Arial"/>
                <a:ea typeface="Arial"/>
                <a:cs typeface="Arial"/>
                <a:sym typeface="Arial"/>
              </a:rPr>
              <a:t>Server-initiated replica (Bản sao do máy chủ khởi tạo): Tiến trình có thể tự động lưu trữ bản sao khi nhận yêu cầu từ một máy chủ khác trong hệ thống lưu trữ.</a:t>
            </a:r>
          </a:p>
          <a:p>
            <a:pPr marL="453390" lvl="1" indent="-226695" algn="just">
              <a:lnSpc>
                <a:spcPts val="2940"/>
              </a:lnSpc>
              <a:spcBef>
                <a:spcPct val="0"/>
              </a:spcBef>
              <a:buFont typeface="Arial"/>
              <a:buChar char="•"/>
            </a:pPr>
            <a:r>
              <a:rPr lang="en-US" sz="2100">
                <a:solidFill>
                  <a:srgbClr val="000000"/>
                </a:solidFill>
                <a:latin typeface="Arial"/>
                <a:ea typeface="Arial"/>
                <a:cs typeface="Arial"/>
                <a:sym typeface="Arial"/>
              </a:rPr>
              <a:t>Client-initiated replica (Bản sao do client khởi tạo): Tiến trình có thể tự động lưu trữ bản sao khi nhận yêu cầu từ một client (ví dụ như bộ nhớ đệm phía client – client cache).</a:t>
            </a:r>
          </a:p>
          <a:p>
            <a:pPr algn="just">
              <a:lnSpc>
                <a:spcPts val="3359"/>
              </a:lnSpc>
              <a:spcBef>
                <a:spcPct val="0"/>
              </a:spcBef>
            </a:pPr>
            <a:endParaRPr lang="en-US" sz="2100">
              <a:solidFill>
                <a:srgbClr val="000000"/>
              </a:solidFill>
              <a:latin typeface="Arial"/>
              <a:ea typeface="Arial"/>
              <a:cs typeface="Arial"/>
              <a:sym typeface="Arial"/>
            </a:endParaRPr>
          </a:p>
        </p:txBody>
      </p:sp>
      <p:sp>
        <p:nvSpPr>
          <p:cNvPr id="5" name="TextBox 5"/>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Sao chép nội dung (Content Replication)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731520" y="2451444"/>
            <a:ext cx="7792335" cy="3046898"/>
          </a:xfrm>
          <a:custGeom>
            <a:avLst/>
            <a:gdLst/>
            <a:ahLst/>
            <a:cxnLst/>
            <a:rect l="l" t="t" r="r" b="b"/>
            <a:pathLst>
              <a:path w="7792335" h="3046898">
                <a:moveTo>
                  <a:pt x="0" y="0"/>
                </a:moveTo>
                <a:lnTo>
                  <a:pt x="7792335" y="0"/>
                </a:lnTo>
                <a:lnTo>
                  <a:pt x="7792335" y="3046897"/>
                </a:lnTo>
                <a:lnTo>
                  <a:pt x="0" y="3046897"/>
                </a:lnTo>
                <a:lnTo>
                  <a:pt x="0" y="0"/>
                </a:lnTo>
                <a:close/>
              </a:path>
            </a:pathLst>
          </a:custGeom>
          <a:blipFill>
            <a:blip r:embed="rId3"/>
            <a:stretch>
              <a:fillRect l="-2885" r="-698"/>
            </a:stretch>
          </a:blipFill>
        </p:spPr>
      </p:sp>
      <p:sp>
        <p:nvSpPr>
          <p:cNvPr id="5" name="TextBox 5"/>
          <p:cNvSpPr txBox="1"/>
          <p:nvPr/>
        </p:nvSpPr>
        <p:spPr>
          <a:xfrm>
            <a:off x="290456" y="1453772"/>
            <a:ext cx="9172687" cy="8724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Cách tổ chức logic các loại bản sao của kho dữ liệu dưới dạng ba vòng tròn đồng tâm</a:t>
            </a:r>
          </a:p>
        </p:txBody>
      </p:sp>
      <p:sp>
        <p:nvSpPr>
          <p:cNvPr id="6" name="TextBox 6"/>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Sao chép nội dung (Content Replication)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2707138" y="1956346"/>
            <a:ext cx="4339323" cy="2305009"/>
          </a:xfrm>
          <a:custGeom>
            <a:avLst/>
            <a:gdLst/>
            <a:ahLst/>
            <a:cxnLst/>
            <a:rect l="l" t="t" r="r" b="b"/>
            <a:pathLst>
              <a:path w="4339323" h="2305009">
                <a:moveTo>
                  <a:pt x="0" y="0"/>
                </a:moveTo>
                <a:lnTo>
                  <a:pt x="4339324" y="0"/>
                </a:lnTo>
                <a:lnTo>
                  <a:pt x="4339324" y="2305009"/>
                </a:lnTo>
                <a:lnTo>
                  <a:pt x="0" y="2305009"/>
                </a:lnTo>
                <a:lnTo>
                  <a:pt x="0" y="0"/>
                </a:lnTo>
                <a:close/>
              </a:path>
            </a:pathLst>
          </a:custGeom>
          <a:blipFill>
            <a:blip r:embed="rId3"/>
            <a:stretch>
              <a:fillRect/>
            </a:stretch>
          </a:blipFill>
        </p:spPr>
      </p:sp>
      <p:sp>
        <p:nvSpPr>
          <p:cNvPr id="5" name="TextBox 5"/>
          <p:cNvSpPr txBox="1"/>
          <p:nvPr/>
        </p:nvSpPr>
        <p:spPr>
          <a:xfrm>
            <a:off x="290456" y="1329947"/>
            <a:ext cx="9172687" cy="8724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Đếm số lượt truy cập từ các client khác nhau </a:t>
            </a:r>
          </a:p>
          <a:p>
            <a:pPr algn="just">
              <a:lnSpc>
                <a:spcPts val="3359"/>
              </a:lnSpc>
              <a:spcBef>
                <a:spcPct val="0"/>
              </a:spcBef>
            </a:pPr>
            <a:endParaRPr lang="en-US" sz="2399" b="1">
              <a:solidFill>
                <a:srgbClr val="000000"/>
              </a:solidFill>
              <a:latin typeface="Arial Bold"/>
              <a:ea typeface="Arial Bold"/>
              <a:cs typeface="Arial Bold"/>
              <a:sym typeface="Arial Bold"/>
            </a:endParaRPr>
          </a:p>
        </p:txBody>
      </p:sp>
      <p:sp>
        <p:nvSpPr>
          <p:cNvPr id="6" name="TextBox 6"/>
          <p:cNvSpPr txBox="1"/>
          <p:nvPr/>
        </p:nvSpPr>
        <p:spPr>
          <a:xfrm>
            <a:off x="290456" y="4385180"/>
            <a:ext cx="9172687" cy="3004185"/>
          </a:xfrm>
          <a:prstGeom prst="rect">
            <a:avLst/>
          </a:prstGeom>
        </p:spPr>
        <p:txBody>
          <a:bodyPr lIns="0" tIns="0" rIns="0" bIns="0" rtlCol="0" anchor="t">
            <a:spAutoFit/>
          </a:bodyPr>
          <a:lstStyle/>
          <a:p>
            <a:pPr marL="453390" lvl="1" indent="-226695" algn="just">
              <a:lnSpc>
                <a:spcPts val="2940"/>
              </a:lnSpc>
              <a:buFont typeface="Arial"/>
              <a:buChar char="•"/>
            </a:pPr>
            <a:r>
              <a:rPr lang="en-US" sz="2100">
                <a:solidFill>
                  <a:srgbClr val="000000"/>
                </a:solidFill>
                <a:latin typeface="Arial"/>
                <a:ea typeface="Arial"/>
                <a:cs typeface="Arial"/>
                <a:sym typeface="Arial"/>
              </a:rPr>
              <a:t>Ghi lại số lần truy cập cho mỗi file, tính gộp theo máy chủ gần client nhất.</a:t>
            </a:r>
          </a:p>
          <a:p>
            <a:pPr marL="453390" lvl="1" indent="-226695" algn="just">
              <a:lnSpc>
                <a:spcPts val="2940"/>
              </a:lnSpc>
              <a:buFont typeface="Arial"/>
              <a:buChar char="•"/>
            </a:pPr>
            <a:r>
              <a:rPr lang="en-US" sz="2100">
                <a:solidFill>
                  <a:srgbClr val="000000"/>
                </a:solidFill>
                <a:latin typeface="Arial"/>
                <a:ea typeface="Arial"/>
                <a:cs typeface="Arial"/>
                <a:sym typeface="Arial"/>
              </a:rPr>
              <a:t>Nếu số lượt truy cập giảm xuống dưới ngưỡng D ⇒ Xoá bản sao file.</a:t>
            </a:r>
          </a:p>
          <a:p>
            <a:pPr marL="453390" lvl="1" indent="-226695" algn="just">
              <a:lnSpc>
                <a:spcPts val="2940"/>
              </a:lnSpc>
              <a:buFont typeface="Arial"/>
              <a:buChar char="•"/>
            </a:pPr>
            <a:r>
              <a:rPr lang="en-US" sz="2100">
                <a:solidFill>
                  <a:srgbClr val="000000"/>
                </a:solidFill>
                <a:latin typeface="Arial"/>
                <a:ea typeface="Arial"/>
                <a:cs typeface="Arial"/>
                <a:sym typeface="Arial"/>
              </a:rPr>
              <a:t>Nếu số lượt truy cập vượt quá ngưỡng R ⇒ Tạo thêm bản sao (replicate).</a:t>
            </a:r>
          </a:p>
          <a:p>
            <a:pPr marL="453390" lvl="1" indent="-226695" algn="just">
              <a:lnSpc>
                <a:spcPts val="2940"/>
              </a:lnSpc>
              <a:buFont typeface="Arial"/>
              <a:buChar char="•"/>
            </a:pPr>
            <a:r>
              <a:rPr lang="en-US" sz="2100">
                <a:solidFill>
                  <a:srgbClr val="000000"/>
                </a:solidFill>
                <a:latin typeface="Arial"/>
                <a:ea typeface="Arial"/>
                <a:cs typeface="Arial"/>
                <a:sym typeface="Arial"/>
              </a:rPr>
              <a:t>Nếu số lượt truy cập nằm giữa D và R ⇒ Di chuyển file sang vị trí khác (migrate file).</a:t>
            </a:r>
          </a:p>
          <a:p>
            <a:pPr algn="just">
              <a:lnSpc>
                <a:spcPts val="2940"/>
              </a:lnSpc>
              <a:spcBef>
                <a:spcPct val="0"/>
              </a:spcBef>
            </a:pPr>
            <a:endParaRPr lang="en-US" sz="2100">
              <a:solidFill>
                <a:srgbClr val="000000"/>
              </a:solidFill>
              <a:latin typeface="Arial"/>
              <a:ea typeface="Arial"/>
              <a:cs typeface="Arial"/>
              <a:sym typeface="Arial"/>
            </a:endParaRPr>
          </a:p>
          <a:p>
            <a:pPr algn="just">
              <a:lnSpc>
                <a:spcPts val="2940"/>
              </a:lnSpc>
              <a:spcBef>
                <a:spcPct val="0"/>
              </a:spcBef>
            </a:pPr>
            <a:endParaRPr lang="en-US" sz="2100">
              <a:solidFill>
                <a:srgbClr val="000000"/>
              </a:solidFill>
              <a:latin typeface="Arial"/>
              <a:ea typeface="Arial"/>
              <a:cs typeface="Arial"/>
              <a:sym typeface="Arial"/>
            </a:endParaRPr>
          </a:p>
        </p:txBody>
      </p:sp>
      <p:sp>
        <p:nvSpPr>
          <p:cNvPr id="7" name="TextBox 7"/>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Bản sao do máy chủ khởi tạo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329947"/>
            <a:ext cx="9172687" cy="453390"/>
          </a:xfrm>
          <a:prstGeom prst="rect">
            <a:avLst/>
          </a:prstGeom>
        </p:spPr>
        <p:txBody>
          <a:bodyPr lIns="0" tIns="0" rIns="0" bIns="0" rtlCol="0" anchor="t">
            <a:spAutoFit/>
          </a:bodyPr>
          <a:lstStyle/>
          <a:p>
            <a:pPr algn="just">
              <a:lnSpc>
                <a:spcPts val="3359"/>
              </a:lnSpc>
              <a:spcBef>
                <a:spcPct val="0"/>
              </a:spcBef>
            </a:pPr>
            <a:r>
              <a:rPr lang="en-US" sz="2399" b="1" dirty="0" err="1">
                <a:solidFill>
                  <a:srgbClr val="000000"/>
                </a:solidFill>
                <a:latin typeface="Arial Bold"/>
                <a:ea typeface="Arial Bold"/>
                <a:cs typeface="Arial Bold"/>
                <a:sym typeface="Arial Bold"/>
              </a:rPr>
              <a:t>Chỉ</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xét</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mô</a:t>
            </a:r>
            <a:r>
              <a:rPr lang="en-US" sz="2399" b="1" dirty="0">
                <a:solidFill>
                  <a:srgbClr val="000000"/>
                </a:solidFill>
                <a:latin typeface="Arial Bold"/>
                <a:ea typeface="Arial Bold"/>
                <a:cs typeface="Arial Bold"/>
                <a:sym typeface="Arial Bold"/>
              </a:rPr>
              <a:t> </a:t>
            </a:r>
            <a:r>
              <a:rPr lang="en-US" sz="2399" b="1" dirty="0" err="1">
                <a:solidFill>
                  <a:srgbClr val="000000"/>
                </a:solidFill>
                <a:latin typeface="Arial Bold"/>
                <a:ea typeface="Arial Bold"/>
                <a:cs typeface="Arial Bold"/>
                <a:sym typeface="Arial Bold"/>
              </a:rPr>
              <a:t>hình</a:t>
            </a:r>
            <a:r>
              <a:rPr lang="en-US" sz="2399" b="1" dirty="0">
                <a:solidFill>
                  <a:srgbClr val="000000"/>
                </a:solidFill>
                <a:latin typeface="Arial Bold"/>
                <a:ea typeface="Arial Bold"/>
                <a:cs typeface="Arial Bold"/>
                <a:sym typeface="Arial Bold"/>
              </a:rPr>
              <a:t> client-server</a:t>
            </a:r>
          </a:p>
        </p:txBody>
      </p:sp>
      <p:sp>
        <p:nvSpPr>
          <p:cNvPr id="5" name="TextBox 5"/>
          <p:cNvSpPr txBox="1"/>
          <p:nvPr/>
        </p:nvSpPr>
        <p:spPr>
          <a:xfrm>
            <a:off x="290456" y="1941110"/>
            <a:ext cx="9172687" cy="2501900"/>
          </a:xfrm>
          <a:prstGeom prst="rect">
            <a:avLst/>
          </a:prstGeom>
        </p:spPr>
        <p:txBody>
          <a:bodyPr lIns="0" tIns="0" rIns="0" bIns="0" rtlCol="0" anchor="t">
            <a:spAutoFit/>
          </a:bodyPr>
          <a:lstStyle/>
          <a:p>
            <a:pPr marL="431801" lvl="1" indent="-215900" algn="just">
              <a:lnSpc>
                <a:spcPts val="2800"/>
              </a:lnSpc>
              <a:buFont typeface="Arial"/>
              <a:buChar char="•"/>
            </a:pPr>
            <a:r>
              <a:rPr lang="en-US" sz="2000">
                <a:solidFill>
                  <a:srgbClr val="000000"/>
                </a:solidFill>
                <a:latin typeface="Arial"/>
                <a:ea typeface="Arial"/>
                <a:cs typeface="Arial"/>
                <a:sym typeface="Arial"/>
              </a:rPr>
              <a:t>Chỉ truyền thông báo/huỷ bỏ (notification/invalidation) về cập nhật (thường được sử dụng cho các bộ nhớ đệm – caches).</a:t>
            </a:r>
          </a:p>
          <a:p>
            <a:pPr marL="431801" lvl="1" indent="-215900" algn="just">
              <a:lnSpc>
                <a:spcPts val="2800"/>
              </a:lnSpc>
              <a:buFont typeface="Arial"/>
              <a:buChar char="•"/>
            </a:pPr>
            <a:r>
              <a:rPr lang="en-US" sz="2000">
                <a:solidFill>
                  <a:srgbClr val="000000"/>
                </a:solidFill>
                <a:latin typeface="Arial"/>
                <a:ea typeface="Arial"/>
                <a:cs typeface="Arial"/>
                <a:sym typeface="Arial"/>
              </a:rPr>
              <a:t>Truyền dữ liệu (data) từ một bản sao sang bản sao khác (như trong cơ sở dữ liệu phân tán): gọi là sao chép thụ động (passive replication).</a:t>
            </a:r>
          </a:p>
          <a:p>
            <a:pPr marL="431801" lvl="1" indent="-215900" algn="just">
              <a:lnSpc>
                <a:spcPts val="2800"/>
              </a:lnSpc>
              <a:buFont typeface="Arial"/>
              <a:buChar char="•"/>
            </a:pPr>
            <a:r>
              <a:rPr lang="en-US" sz="2000">
                <a:solidFill>
                  <a:srgbClr val="000000"/>
                </a:solidFill>
                <a:latin typeface="Arial"/>
                <a:ea typeface="Arial"/>
                <a:cs typeface="Arial"/>
                <a:sym typeface="Arial"/>
              </a:rPr>
              <a:t>Truyền thao tác cập nhật (operation) đến các bản sao khác: gọi là sao chép chủ động (active replication).</a:t>
            </a:r>
          </a:p>
          <a:p>
            <a:pPr algn="just">
              <a:lnSpc>
                <a:spcPts val="2800"/>
              </a:lnSpc>
              <a:spcBef>
                <a:spcPct val="0"/>
              </a:spcBef>
            </a:pPr>
            <a:endParaRPr lang="en-US" sz="2000">
              <a:solidFill>
                <a:srgbClr val="000000"/>
              </a:solidFill>
              <a:latin typeface="Arial"/>
              <a:ea typeface="Arial"/>
              <a:cs typeface="Arial"/>
              <a:sym typeface="Arial"/>
            </a:endParaRPr>
          </a:p>
        </p:txBody>
      </p:sp>
      <p:sp>
        <p:nvSpPr>
          <p:cNvPr id="6" name="TextBox 6"/>
          <p:cNvSpPr txBox="1"/>
          <p:nvPr/>
        </p:nvSpPr>
        <p:spPr>
          <a:xfrm>
            <a:off x="290456" y="4223935"/>
            <a:ext cx="9172687" cy="1480185"/>
          </a:xfrm>
          <a:prstGeom prst="rect">
            <a:avLst/>
          </a:prstGeom>
        </p:spPr>
        <p:txBody>
          <a:bodyPr lIns="0" tIns="0" rIns="0" bIns="0" rtlCol="0" anchor="t">
            <a:spAutoFit/>
          </a:bodyPr>
          <a:lstStyle/>
          <a:p>
            <a:pPr algn="just">
              <a:lnSpc>
                <a:spcPts val="3079"/>
              </a:lnSpc>
            </a:pPr>
            <a:r>
              <a:rPr lang="en-US" sz="2199" b="1">
                <a:solidFill>
                  <a:srgbClr val="000000"/>
                </a:solidFill>
                <a:latin typeface="Arial Bold"/>
                <a:ea typeface="Arial Bold"/>
                <a:cs typeface="Arial Bold"/>
                <a:sym typeface="Arial Bold"/>
              </a:rPr>
              <a:t>Ghi chú:</a:t>
            </a:r>
          </a:p>
          <a:p>
            <a:pPr algn="just">
              <a:lnSpc>
                <a:spcPts val="2800"/>
              </a:lnSpc>
            </a:pPr>
            <a:r>
              <a:rPr lang="en-US" sz="2000">
                <a:solidFill>
                  <a:srgbClr val="000000"/>
                </a:solidFill>
                <a:latin typeface="Arial"/>
                <a:ea typeface="Arial"/>
                <a:cs typeface="Arial"/>
                <a:sym typeface="Arial"/>
              </a:rPr>
              <a:t>Không có một cách tiếp cận nào là tốt nhất trong mọi trường hợp. Việc lựa chọn phụ thuộc nhiều vào: Băng thông hiện có và tỷ lệ đọc/ghi tại các bản sao</a:t>
            </a:r>
          </a:p>
          <a:p>
            <a:pPr algn="just">
              <a:lnSpc>
                <a:spcPts val="2800"/>
              </a:lnSpc>
              <a:spcBef>
                <a:spcPct val="0"/>
              </a:spcBef>
            </a:pPr>
            <a:endParaRPr lang="en-US" sz="2000">
              <a:solidFill>
                <a:srgbClr val="000000"/>
              </a:solidFill>
              <a:latin typeface="Arial"/>
              <a:ea typeface="Arial"/>
              <a:cs typeface="Arial"/>
              <a:sym typeface="Arial"/>
            </a:endParaRPr>
          </a:p>
        </p:txBody>
      </p:sp>
      <p:sp>
        <p:nvSpPr>
          <p:cNvPr id="7" name="TextBox 7"/>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Phân phối nội dung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329947"/>
            <a:ext cx="9172687" cy="1291590"/>
          </a:xfrm>
          <a:prstGeom prst="rect">
            <a:avLst/>
          </a:prstGeom>
        </p:spPr>
        <p:txBody>
          <a:bodyPr lIns="0" tIns="0" rIns="0" bIns="0" rtlCol="0" anchor="t">
            <a:spAutoFit/>
          </a:bodyPr>
          <a:lstStyle/>
          <a:p>
            <a:pPr algn="just">
              <a:lnSpc>
                <a:spcPts val="3359"/>
              </a:lnSpc>
            </a:pPr>
            <a:r>
              <a:rPr lang="en-US" sz="2399" b="1">
                <a:solidFill>
                  <a:srgbClr val="000000"/>
                </a:solidFill>
                <a:latin typeface="Arial Bold"/>
                <a:ea typeface="Arial Bold"/>
                <a:cs typeface="Arial Bold"/>
                <a:sym typeface="Arial Bold"/>
              </a:rPr>
              <a:t>So sánh giữa giao thức đẩy (push-based) và kéo (pull-based)</a:t>
            </a:r>
          </a:p>
          <a:p>
            <a:pPr algn="just">
              <a:lnSpc>
                <a:spcPts val="3359"/>
              </a:lnSpc>
            </a:pPr>
            <a:r>
              <a:rPr lang="en-US" sz="2399">
                <a:solidFill>
                  <a:srgbClr val="000000"/>
                </a:solidFill>
                <a:latin typeface="Arial"/>
                <a:ea typeface="Arial"/>
                <a:cs typeface="Arial"/>
                <a:sym typeface="Arial"/>
              </a:rPr>
              <a:t>(Trong trường hợp hệ thống nhiều client – một server)</a:t>
            </a:r>
          </a:p>
          <a:p>
            <a:pPr algn="just">
              <a:lnSpc>
                <a:spcPts val="3359"/>
              </a:lnSpc>
              <a:spcBef>
                <a:spcPct val="0"/>
              </a:spcBef>
            </a:pPr>
            <a:endParaRPr lang="en-US" sz="2399">
              <a:solidFill>
                <a:srgbClr val="000000"/>
              </a:solidFill>
              <a:latin typeface="Arial"/>
              <a:ea typeface="Arial"/>
              <a:cs typeface="Arial"/>
              <a:sym typeface="Arial"/>
            </a:endParaRPr>
          </a:p>
        </p:txBody>
      </p:sp>
      <p:sp>
        <p:nvSpPr>
          <p:cNvPr id="5" name="TextBox 5"/>
          <p:cNvSpPr txBox="1"/>
          <p:nvPr/>
        </p:nvSpPr>
        <p:spPr>
          <a:xfrm>
            <a:off x="344245" y="2260283"/>
            <a:ext cx="9172687" cy="2632710"/>
          </a:xfrm>
          <a:prstGeom prst="rect">
            <a:avLst/>
          </a:prstGeom>
        </p:spPr>
        <p:txBody>
          <a:bodyPr lIns="0" tIns="0" rIns="0" bIns="0" rtlCol="0" anchor="t">
            <a:spAutoFit/>
          </a:bodyPr>
          <a:lstStyle/>
          <a:p>
            <a:pPr marL="453390" lvl="1" indent="-226695" algn="just">
              <a:lnSpc>
                <a:spcPts val="2940"/>
              </a:lnSpc>
              <a:buFont typeface="Arial"/>
              <a:buChar char="•"/>
            </a:pPr>
            <a:r>
              <a:rPr lang="en-US" sz="2100" b="1">
                <a:solidFill>
                  <a:srgbClr val="000000"/>
                </a:solidFill>
                <a:latin typeface="Arial Bold"/>
                <a:ea typeface="Arial Bold"/>
                <a:cs typeface="Arial Bold"/>
                <a:sym typeface="Arial Bold"/>
              </a:rPr>
              <a:t>Pushing updates (Cập nhật kiểu đẩy):</a:t>
            </a:r>
            <a:r>
              <a:rPr lang="en-US" sz="2100">
                <a:solidFill>
                  <a:srgbClr val="000000"/>
                </a:solidFill>
                <a:latin typeface="Arial"/>
                <a:ea typeface="Arial"/>
                <a:cs typeface="Arial"/>
                <a:sym typeface="Arial"/>
              </a:rPr>
              <a:t> là cách tiếp cận do server chủ động khởi tạo, trong đó bản cập nhật được gửi đi bất kể client có yêu cầu hay không.</a:t>
            </a:r>
          </a:p>
          <a:p>
            <a:pPr marL="453390" lvl="1" indent="-226695" algn="just">
              <a:lnSpc>
                <a:spcPts val="2940"/>
              </a:lnSpc>
              <a:buFont typeface="Arial"/>
              <a:buChar char="•"/>
            </a:pPr>
            <a:r>
              <a:rPr lang="en-US" sz="2100" b="1">
                <a:solidFill>
                  <a:srgbClr val="000000"/>
                </a:solidFill>
                <a:latin typeface="Arial Bold"/>
                <a:ea typeface="Arial Bold"/>
                <a:cs typeface="Arial Bold"/>
                <a:sym typeface="Arial Bold"/>
              </a:rPr>
              <a:t>Pulling updates (Cập nhật kiểu kéo):</a:t>
            </a:r>
            <a:r>
              <a:rPr lang="en-US" sz="2100">
                <a:solidFill>
                  <a:srgbClr val="000000"/>
                </a:solidFill>
                <a:latin typeface="Arial"/>
                <a:ea typeface="Arial"/>
                <a:cs typeface="Arial"/>
                <a:sym typeface="Arial"/>
              </a:rPr>
              <a:t> là cách tiếp cận do client khởi tạo, trong đó client chủ động yêu cầu bản cập nhật.</a:t>
            </a:r>
          </a:p>
          <a:p>
            <a:pPr algn="just">
              <a:lnSpc>
                <a:spcPts val="2940"/>
              </a:lnSpc>
            </a:pPr>
            <a:endParaRPr lang="en-US" sz="2100">
              <a:solidFill>
                <a:srgbClr val="000000"/>
              </a:solidFill>
              <a:latin typeface="Arial"/>
              <a:ea typeface="Arial"/>
              <a:cs typeface="Arial"/>
              <a:sym typeface="Arial"/>
            </a:endParaRPr>
          </a:p>
          <a:p>
            <a:pPr algn="just">
              <a:lnSpc>
                <a:spcPts val="2940"/>
              </a:lnSpc>
              <a:spcBef>
                <a:spcPct val="0"/>
              </a:spcBef>
            </a:pPr>
            <a:endParaRPr lang="en-US" sz="2100">
              <a:solidFill>
                <a:srgbClr val="000000"/>
              </a:solidFill>
              <a:latin typeface="Arial"/>
              <a:ea typeface="Arial"/>
              <a:cs typeface="Arial"/>
              <a:sym typeface="Arial"/>
            </a:endParaRPr>
          </a:p>
        </p:txBody>
      </p:sp>
      <p:graphicFrame>
        <p:nvGraphicFramePr>
          <p:cNvPr id="6" name="Table 6"/>
          <p:cNvGraphicFramePr>
            <a:graphicFrameLocks noGrp="1"/>
          </p:cNvGraphicFramePr>
          <p:nvPr/>
        </p:nvGraphicFramePr>
        <p:xfrm>
          <a:off x="741045" y="4255887"/>
          <a:ext cx="8602532" cy="2221113"/>
        </p:xfrm>
        <a:graphic>
          <a:graphicData uri="http://schemas.openxmlformats.org/drawingml/2006/table">
            <a:tbl>
              <a:tblPr/>
              <a:tblGrid>
                <a:gridCol w="2269479">
                  <a:extLst>
                    <a:ext uri="{9D8B030D-6E8A-4147-A177-3AD203B41FA5}">
                      <a16:colId xmlns:a16="http://schemas.microsoft.com/office/drawing/2014/main" val="20000"/>
                    </a:ext>
                  </a:extLst>
                </a:gridCol>
                <a:gridCol w="3513470">
                  <a:extLst>
                    <a:ext uri="{9D8B030D-6E8A-4147-A177-3AD203B41FA5}">
                      <a16:colId xmlns:a16="http://schemas.microsoft.com/office/drawing/2014/main" val="20001"/>
                    </a:ext>
                  </a:extLst>
                </a:gridCol>
                <a:gridCol w="2819583">
                  <a:extLst>
                    <a:ext uri="{9D8B030D-6E8A-4147-A177-3AD203B41FA5}">
                      <a16:colId xmlns:a16="http://schemas.microsoft.com/office/drawing/2014/main" val="20002"/>
                    </a:ext>
                  </a:extLst>
                </a:gridCol>
              </a:tblGrid>
              <a:tr h="488262">
                <a:tc>
                  <a:txBody>
                    <a:bodyPr/>
                    <a:lstStyle/>
                    <a:p>
                      <a:pPr algn="l">
                        <a:lnSpc>
                          <a:spcPts val="2100"/>
                        </a:lnSpc>
                        <a:defRPr/>
                      </a:pPr>
                      <a:r>
                        <a:rPr lang="en-US" sz="1500">
                          <a:solidFill>
                            <a:srgbClr val="000000"/>
                          </a:solidFill>
                          <a:latin typeface="Arial"/>
                          <a:ea typeface="Arial"/>
                          <a:cs typeface="Arial"/>
                          <a:sym typeface="Arial"/>
                        </a:rPr>
                        <a:t>Vấn đề</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Push-based</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Pull-based</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8262">
                <a:tc>
                  <a:txBody>
                    <a:bodyPr/>
                    <a:lstStyle/>
                    <a:p>
                      <a:pPr algn="l">
                        <a:lnSpc>
                          <a:spcPts val="2100"/>
                        </a:lnSpc>
                        <a:defRPr/>
                      </a:pPr>
                      <a:r>
                        <a:rPr lang="en-US" sz="1500">
                          <a:solidFill>
                            <a:srgbClr val="000000"/>
                          </a:solidFill>
                          <a:latin typeface="Arial"/>
                          <a:ea typeface="Arial"/>
                          <a:cs typeface="Arial"/>
                          <a:sym typeface="Arial"/>
                        </a:rPr>
                        <a:t>1. Trạng thái tại server</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Danh sách các cache của client</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Không có</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8262">
                <a:tc>
                  <a:txBody>
                    <a:bodyPr/>
                    <a:lstStyle/>
                    <a:p>
                      <a:pPr algn="l">
                        <a:lnSpc>
                          <a:spcPts val="2100"/>
                        </a:lnSpc>
                        <a:defRPr/>
                      </a:pPr>
                      <a:r>
                        <a:rPr lang="en-US" sz="1500">
                          <a:solidFill>
                            <a:srgbClr val="000000"/>
                          </a:solidFill>
                          <a:latin typeface="Arial"/>
                          <a:ea typeface="Arial"/>
                          <a:cs typeface="Arial"/>
                          <a:sym typeface="Arial"/>
                        </a:rPr>
                        <a:t>2. Tin nhắn cần trao đổi</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Cập nhật (và có thể cả lấy dữ liệu)</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Thăm dò (poll) và cập nhật</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56327">
                <a:tc>
                  <a:txBody>
                    <a:bodyPr/>
                    <a:lstStyle/>
                    <a:p>
                      <a:pPr algn="l">
                        <a:lnSpc>
                          <a:spcPts val="2100"/>
                        </a:lnSpc>
                        <a:defRPr/>
                      </a:pPr>
                      <a:r>
                        <a:rPr lang="en-US" sz="1500">
                          <a:solidFill>
                            <a:srgbClr val="000000"/>
                          </a:solidFill>
                          <a:latin typeface="Arial"/>
                          <a:ea typeface="Arial"/>
                          <a:cs typeface="Arial"/>
                          <a:sym typeface="Arial"/>
                        </a:rPr>
                        <a:t>3. Thời gian phản hồi tại client</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Ngay lập tức (hoặc tại thời điểm fetch-update)</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Arial"/>
                          <a:ea typeface="Arial"/>
                          <a:cs typeface="Arial"/>
                          <a:sym typeface="Arial"/>
                        </a:rPr>
                        <a:t>Khi thực hiện fetch-update</a:t>
                      </a:r>
                      <a:endParaRPr lang="en-US" sz="1100"/>
                    </a:p>
                  </a:txBody>
                  <a:tcPr marL="96160" marR="96160" marT="96160" marB="96160" anchor="ctr">
                    <a:lnL w="11313" cap="flat" cmpd="sng" algn="ctr">
                      <a:solidFill>
                        <a:srgbClr val="000000"/>
                      </a:solidFill>
                      <a:prstDash val="solid"/>
                      <a:round/>
                      <a:headEnd type="none" w="med" len="med"/>
                      <a:tailEnd type="none" w="med" len="med"/>
                    </a:lnL>
                    <a:lnR w="11313" cap="flat" cmpd="sng" algn="ctr">
                      <a:solidFill>
                        <a:srgbClr val="000000"/>
                      </a:solidFill>
                      <a:prstDash val="solid"/>
                      <a:round/>
                      <a:headEnd type="none" w="med" len="med"/>
                      <a:tailEnd type="none" w="med" len="med"/>
                    </a:lnR>
                    <a:lnT w="11313" cap="flat" cmpd="sng" algn="ctr">
                      <a:solidFill>
                        <a:srgbClr val="000000"/>
                      </a:solidFill>
                      <a:prstDash val="solid"/>
                      <a:round/>
                      <a:headEnd type="none" w="med" len="med"/>
                      <a:tailEnd type="none" w="med" len="med"/>
                    </a:lnT>
                    <a:lnB w="11313"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Box 7"/>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Phân phối nội dung: hệ thống client/serve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329947"/>
            <a:ext cx="9172687" cy="1986915"/>
          </a:xfrm>
          <a:prstGeom prst="rect">
            <a:avLst/>
          </a:prstGeom>
        </p:spPr>
        <p:txBody>
          <a:bodyPr lIns="0" tIns="0" rIns="0" bIns="0" rtlCol="0" anchor="t">
            <a:spAutoFit/>
          </a:bodyPr>
          <a:lstStyle/>
          <a:p>
            <a:pPr algn="just">
              <a:lnSpc>
                <a:spcPts val="3359"/>
              </a:lnSpc>
            </a:pPr>
            <a:r>
              <a:rPr lang="en-US" sz="2399" b="1">
                <a:solidFill>
                  <a:srgbClr val="000000"/>
                </a:solidFill>
                <a:latin typeface="Arial Bold"/>
                <a:ea typeface="Arial Bold"/>
                <a:cs typeface="Arial Bold"/>
                <a:sym typeface="Arial Bold"/>
              </a:rPr>
              <a:t>Quan sát (Observation):</a:t>
            </a:r>
          </a:p>
          <a:p>
            <a:pPr algn="just">
              <a:lnSpc>
                <a:spcPts val="2940"/>
              </a:lnSpc>
            </a:pPr>
            <a:r>
              <a:rPr lang="en-US" sz="2100">
                <a:solidFill>
                  <a:srgbClr val="000000"/>
                </a:solidFill>
                <a:latin typeface="Arial"/>
                <a:ea typeface="Arial"/>
                <a:cs typeface="Arial"/>
                <a:sym typeface="Arial"/>
              </a:rPr>
              <a:t>Chúng ta có thể chuyển đổi linh hoạt giữa chế độ kéo (pull) và đẩy (push) bằng cách sử dụng lease (Là một hợp đồng, trong đó server cam kết sẽ đẩy bản cập nhật đến client cho đến khi lease hết hạn.)</a:t>
            </a:r>
          </a:p>
          <a:p>
            <a:pPr algn="just">
              <a:lnSpc>
                <a:spcPts val="3359"/>
              </a:lnSpc>
              <a:spcBef>
                <a:spcPct val="0"/>
              </a:spcBef>
            </a:pPr>
            <a:endParaRPr lang="en-US" sz="2100">
              <a:solidFill>
                <a:srgbClr val="000000"/>
              </a:solidFill>
              <a:latin typeface="Arial"/>
              <a:ea typeface="Arial"/>
              <a:cs typeface="Arial"/>
              <a:sym typeface="Arial"/>
            </a:endParaRPr>
          </a:p>
        </p:txBody>
      </p:sp>
      <p:sp>
        <p:nvSpPr>
          <p:cNvPr id="5" name="TextBox 5"/>
          <p:cNvSpPr txBox="1"/>
          <p:nvPr/>
        </p:nvSpPr>
        <p:spPr>
          <a:xfrm>
            <a:off x="290456" y="3014662"/>
            <a:ext cx="9172687" cy="828675"/>
          </a:xfrm>
          <a:prstGeom prst="rect">
            <a:avLst/>
          </a:prstGeom>
        </p:spPr>
        <p:txBody>
          <a:bodyPr lIns="0" tIns="0" rIns="0" bIns="0" rtlCol="0" anchor="t">
            <a:spAutoFit/>
          </a:bodyPr>
          <a:lstStyle/>
          <a:p>
            <a:pPr algn="just">
              <a:lnSpc>
                <a:spcPts val="3359"/>
              </a:lnSpc>
            </a:pPr>
            <a:r>
              <a:rPr lang="en-US" sz="2399" b="1">
                <a:solidFill>
                  <a:srgbClr val="000000"/>
                </a:solidFill>
                <a:latin typeface="Arial Bold"/>
                <a:ea typeface="Arial Bold"/>
                <a:cs typeface="Arial Bold"/>
                <a:sym typeface="Arial Bold"/>
              </a:rPr>
              <a:t>Làm cho thời gian hết hạn lease trở nên thích ứng</a:t>
            </a:r>
          </a:p>
          <a:p>
            <a:pPr algn="just">
              <a:lnSpc>
                <a:spcPts val="2940"/>
              </a:lnSpc>
              <a:spcBef>
                <a:spcPct val="0"/>
              </a:spcBef>
            </a:pPr>
            <a:endParaRPr lang="en-US" sz="2399" b="1">
              <a:solidFill>
                <a:srgbClr val="000000"/>
              </a:solidFill>
              <a:latin typeface="Arial Bold"/>
              <a:ea typeface="Arial Bold"/>
              <a:cs typeface="Arial Bold"/>
              <a:sym typeface="Arial Bold"/>
            </a:endParaRPr>
          </a:p>
        </p:txBody>
      </p:sp>
      <p:sp>
        <p:nvSpPr>
          <p:cNvPr id="6" name="TextBox 6"/>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Phân phối nội dung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263272"/>
            <a:ext cx="9172687" cy="1986915"/>
          </a:xfrm>
          <a:prstGeom prst="rect">
            <a:avLst/>
          </a:prstGeom>
        </p:spPr>
        <p:txBody>
          <a:bodyPr lIns="0" tIns="0" rIns="0" bIns="0" rtlCol="0" anchor="t">
            <a:spAutoFit/>
          </a:bodyPr>
          <a:lstStyle/>
          <a:p>
            <a:pPr algn="just">
              <a:lnSpc>
                <a:spcPts val="3359"/>
              </a:lnSpc>
            </a:pPr>
            <a:r>
              <a:rPr lang="en-US" sz="2399" b="1">
                <a:solidFill>
                  <a:srgbClr val="000000"/>
                </a:solidFill>
                <a:latin typeface="Arial Bold"/>
                <a:ea typeface="Arial Bold"/>
                <a:cs typeface="Arial Bold"/>
                <a:sym typeface="Arial Bold"/>
              </a:rPr>
              <a:t>Quan sát :</a:t>
            </a:r>
          </a:p>
          <a:p>
            <a:pPr algn="just">
              <a:lnSpc>
                <a:spcPts val="2940"/>
              </a:lnSpc>
            </a:pPr>
            <a:r>
              <a:rPr lang="en-US" sz="2100">
                <a:solidFill>
                  <a:srgbClr val="000000"/>
                </a:solidFill>
                <a:latin typeface="Arial"/>
                <a:ea typeface="Arial"/>
                <a:cs typeface="Arial"/>
                <a:sym typeface="Arial"/>
              </a:rPr>
              <a:t>Chúng ta có thể chuyển đổi linh hoạt giữa chế độ kéo (pull) và đẩy (push) bằng cách sử dụng lease (Là một hợp đồng, trong đó server cam kết sẽ đẩy bản cập nhật đến client cho đến khi lease hết hạn.)</a:t>
            </a:r>
          </a:p>
          <a:p>
            <a:pPr algn="just">
              <a:lnSpc>
                <a:spcPts val="3359"/>
              </a:lnSpc>
              <a:spcBef>
                <a:spcPct val="0"/>
              </a:spcBef>
            </a:pPr>
            <a:endParaRPr lang="en-US" sz="2100">
              <a:solidFill>
                <a:srgbClr val="000000"/>
              </a:solidFill>
              <a:latin typeface="Arial"/>
              <a:ea typeface="Arial"/>
              <a:cs typeface="Arial"/>
              <a:sym typeface="Arial"/>
            </a:endParaRPr>
          </a:p>
        </p:txBody>
      </p:sp>
      <p:sp>
        <p:nvSpPr>
          <p:cNvPr id="5" name="TextBox 5"/>
          <p:cNvSpPr txBox="1"/>
          <p:nvPr/>
        </p:nvSpPr>
        <p:spPr>
          <a:xfrm>
            <a:off x="290456" y="2843212"/>
            <a:ext cx="9172687" cy="4810125"/>
          </a:xfrm>
          <a:prstGeom prst="rect">
            <a:avLst/>
          </a:prstGeom>
        </p:spPr>
        <p:txBody>
          <a:bodyPr lIns="0" tIns="0" rIns="0" bIns="0" rtlCol="0" anchor="t">
            <a:spAutoFit/>
          </a:bodyPr>
          <a:lstStyle/>
          <a:p>
            <a:pPr algn="just">
              <a:lnSpc>
                <a:spcPts val="3359"/>
              </a:lnSpc>
            </a:pPr>
            <a:r>
              <a:rPr lang="en-US" sz="2399" b="1">
                <a:solidFill>
                  <a:srgbClr val="000000"/>
                </a:solidFill>
                <a:latin typeface="Arial Bold"/>
                <a:ea typeface="Arial Bold"/>
                <a:cs typeface="Arial Bold"/>
                <a:sym typeface="Arial Bold"/>
              </a:rPr>
              <a:t>Làm cho thời gian hết hạn lease trở nên thích ứng</a:t>
            </a:r>
          </a:p>
          <a:p>
            <a:pPr marL="431801" lvl="1" indent="-215900" algn="just">
              <a:lnSpc>
                <a:spcPts val="2800"/>
              </a:lnSpc>
              <a:buFont typeface="Arial"/>
              <a:buChar char="•"/>
            </a:pPr>
            <a:r>
              <a:rPr lang="en-US" sz="2000">
                <a:solidFill>
                  <a:srgbClr val="000000"/>
                </a:solidFill>
                <a:latin typeface="Arial"/>
                <a:ea typeface="Arial"/>
                <a:cs typeface="Arial"/>
                <a:sym typeface="Arial"/>
              </a:rPr>
              <a:t>Lease dựa trên độ tuổi : Nếu một đối tượng đã lâu không thay đổi, thì nhiều khả năng nó sẽ không thay đổi trong thời gian tới, vì vậy có thể cấp một lease dài hạn.</a:t>
            </a:r>
          </a:p>
          <a:p>
            <a:pPr marL="431801" lvl="1" indent="-215900" algn="just">
              <a:lnSpc>
                <a:spcPts val="2800"/>
              </a:lnSpc>
              <a:spcBef>
                <a:spcPct val="0"/>
              </a:spcBef>
              <a:buFont typeface="Arial"/>
              <a:buChar char="•"/>
            </a:pPr>
            <a:r>
              <a:rPr lang="en-US" sz="2000">
                <a:solidFill>
                  <a:srgbClr val="000000"/>
                </a:solidFill>
                <a:latin typeface="Arial"/>
                <a:ea typeface="Arial"/>
                <a:cs typeface="Arial"/>
                <a:sym typeface="Arial"/>
              </a:rPr>
              <a:t>Lease dựa trên tần suất gia hạn: Client càng thường xuyên yêu cầu một đối tượng, thì thời gian lease dành cho client đó (đối với đối tượng đó) càng dài.</a:t>
            </a:r>
          </a:p>
          <a:p>
            <a:pPr marL="431801" lvl="1" indent="-215900" algn="just">
              <a:lnSpc>
                <a:spcPts val="2800"/>
              </a:lnSpc>
              <a:spcBef>
                <a:spcPct val="0"/>
              </a:spcBef>
              <a:buFont typeface="Arial"/>
              <a:buChar char="•"/>
            </a:pPr>
            <a:r>
              <a:rPr lang="en-US" sz="2000">
                <a:solidFill>
                  <a:srgbClr val="000000"/>
                </a:solidFill>
                <a:latin typeface="Arial"/>
                <a:ea typeface="Arial"/>
                <a:cs typeface="Arial"/>
                <a:sym typeface="Arial"/>
              </a:rPr>
              <a:t>Đây là một cơ chế điều chỉnh thông minh giúp giảm tải cho server đang bận, bằng cách không giữ lease quá lâu.</a:t>
            </a:r>
          </a:p>
          <a:p>
            <a:pPr algn="just">
              <a:lnSpc>
                <a:spcPts val="2800"/>
              </a:lnSpc>
              <a:spcBef>
                <a:spcPct val="0"/>
              </a:spcBef>
            </a:pPr>
            <a:endParaRPr lang="en-US" sz="2000">
              <a:solidFill>
                <a:srgbClr val="000000"/>
              </a:solidFill>
              <a:latin typeface="Arial"/>
              <a:ea typeface="Arial"/>
              <a:cs typeface="Arial"/>
              <a:sym typeface="Arial"/>
            </a:endParaRPr>
          </a:p>
          <a:p>
            <a:pPr algn="just">
              <a:lnSpc>
                <a:spcPts val="3079"/>
              </a:lnSpc>
              <a:spcBef>
                <a:spcPct val="0"/>
              </a:spcBef>
            </a:pPr>
            <a:r>
              <a:rPr lang="en-US" sz="2199" b="1">
                <a:solidFill>
                  <a:srgbClr val="000000"/>
                </a:solidFill>
                <a:latin typeface="Arial Bold"/>
                <a:ea typeface="Arial Bold"/>
                <a:cs typeface="Arial Bold"/>
                <a:sym typeface="Arial Bold"/>
              </a:rPr>
              <a:t>Câu hỏi: Tại sao chúng ta lại làm tất cả những điều này?</a:t>
            </a:r>
          </a:p>
          <a:p>
            <a:pPr algn="just">
              <a:lnSpc>
                <a:spcPts val="2940"/>
              </a:lnSpc>
              <a:spcBef>
                <a:spcPct val="0"/>
              </a:spcBef>
            </a:pPr>
            <a:endParaRPr lang="en-US" sz="2199" b="1">
              <a:solidFill>
                <a:srgbClr val="000000"/>
              </a:solidFill>
              <a:latin typeface="Arial Bold"/>
              <a:ea typeface="Arial Bold"/>
              <a:cs typeface="Arial Bold"/>
              <a:sym typeface="Arial Bold"/>
            </a:endParaRPr>
          </a:p>
          <a:p>
            <a:pPr algn="just">
              <a:lnSpc>
                <a:spcPts val="3219"/>
              </a:lnSpc>
              <a:spcBef>
                <a:spcPct val="0"/>
              </a:spcBef>
            </a:pPr>
            <a:endParaRPr lang="en-US" sz="2199" b="1">
              <a:solidFill>
                <a:srgbClr val="000000"/>
              </a:solidFill>
              <a:latin typeface="Arial Bold"/>
              <a:ea typeface="Arial Bold"/>
              <a:cs typeface="Arial Bold"/>
              <a:sym typeface="Arial Bold"/>
            </a:endParaRPr>
          </a:p>
          <a:p>
            <a:pPr algn="just">
              <a:lnSpc>
                <a:spcPts val="2940"/>
              </a:lnSpc>
              <a:spcBef>
                <a:spcPct val="0"/>
              </a:spcBef>
            </a:pPr>
            <a:endParaRPr lang="en-US" sz="2199" b="1">
              <a:solidFill>
                <a:srgbClr val="000000"/>
              </a:solidFill>
              <a:latin typeface="Arial Bold"/>
              <a:ea typeface="Arial Bold"/>
              <a:cs typeface="Arial Bold"/>
              <a:sym typeface="Arial Bold"/>
            </a:endParaRPr>
          </a:p>
        </p:txBody>
      </p:sp>
      <p:sp>
        <p:nvSpPr>
          <p:cNvPr id="6" name="TextBox 6"/>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Phân phối nội dung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387097"/>
            <a:ext cx="9172687" cy="3206750"/>
          </a:xfrm>
          <a:prstGeom prst="rect">
            <a:avLst/>
          </a:prstGeom>
        </p:spPr>
        <p:txBody>
          <a:bodyPr lIns="0" tIns="0" rIns="0" bIns="0" rtlCol="0" anchor="t">
            <a:spAutoFit/>
          </a:bodyPr>
          <a:lstStyle/>
          <a:p>
            <a:pPr marL="431801" lvl="1" indent="-215900" algn="just">
              <a:lnSpc>
                <a:spcPts val="2800"/>
              </a:lnSpc>
              <a:buFont typeface="Arial"/>
              <a:buChar char="•"/>
            </a:pPr>
            <a:r>
              <a:rPr lang="en-US" sz="2000">
                <a:solidFill>
                  <a:srgbClr val="000000"/>
                </a:solidFill>
                <a:latin typeface="Arial"/>
                <a:ea typeface="Arial"/>
                <a:cs typeface="Arial"/>
                <a:sym typeface="Arial"/>
              </a:rPr>
              <a:t>Ngăn chặn việc thực thi đồng thời nhiều lời gọi phương thức trên cùng một đối tượng: Việc truy cập vào dữ liệu nội bộ của một đối tượng phải được tuần tự hóa → Sử dụng cơ chế khóa cục bộ là đủ.</a:t>
            </a:r>
          </a:p>
          <a:p>
            <a:pPr marL="431801" lvl="1" indent="-215900" algn="just">
              <a:lnSpc>
                <a:spcPts val="2800"/>
              </a:lnSpc>
              <a:buFont typeface="Arial"/>
              <a:buChar char="•"/>
            </a:pPr>
            <a:r>
              <a:rPr lang="en-US" sz="2000">
                <a:solidFill>
                  <a:srgbClr val="000000"/>
                </a:solidFill>
                <a:latin typeface="Arial"/>
                <a:ea typeface="Arial"/>
                <a:cs typeface="Arial"/>
                <a:sym typeface="Arial"/>
              </a:rPr>
              <a:t>Đảm bảo rằng mọi thay đổi đối với trạng thái sao chép của đối tượng là giống nhau: Không được phép có hai lời gọi phương thức độc lập xảy ra trên các bản sao khác nhau cùng một lúc → Chúng ta cần có lịch trình luồng quyết định (deterministic thread scheduling).</a:t>
            </a:r>
          </a:p>
          <a:p>
            <a:pPr algn="just">
              <a:lnSpc>
                <a:spcPts val="2800"/>
              </a:lnSpc>
            </a:pPr>
            <a:endParaRPr lang="en-US" sz="2000">
              <a:solidFill>
                <a:srgbClr val="000000"/>
              </a:solidFill>
              <a:latin typeface="Arial"/>
              <a:ea typeface="Arial"/>
              <a:cs typeface="Arial"/>
              <a:sym typeface="Arial"/>
            </a:endParaRPr>
          </a:p>
          <a:p>
            <a:pPr algn="just">
              <a:lnSpc>
                <a:spcPts val="2800"/>
              </a:lnSpc>
              <a:spcBef>
                <a:spcPct val="0"/>
              </a:spcBef>
            </a:pPr>
            <a:endParaRPr lang="en-US" sz="2000">
              <a:solidFill>
                <a:srgbClr val="000000"/>
              </a:solidFill>
              <a:latin typeface="Arial"/>
              <a:ea typeface="Arial"/>
              <a:cs typeface="Arial"/>
              <a:sym typeface="Arial"/>
            </a:endParaRPr>
          </a:p>
        </p:txBody>
      </p:sp>
      <p:sp>
        <p:nvSpPr>
          <p:cNvPr id="5" name="Freeform 5"/>
          <p:cNvSpPr/>
          <p:nvPr/>
        </p:nvSpPr>
        <p:spPr>
          <a:xfrm>
            <a:off x="2115171" y="3866701"/>
            <a:ext cx="5542033" cy="2895757"/>
          </a:xfrm>
          <a:custGeom>
            <a:avLst/>
            <a:gdLst/>
            <a:ahLst/>
            <a:cxnLst/>
            <a:rect l="l" t="t" r="r" b="b"/>
            <a:pathLst>
              <a:path w="5542033" h="2895757">
                <a:moveTo>
                  <a:pt x="0" y="0"/>
                </a:moveTo>
                <a:lnTo>
                  <a:pt x="5542033" y="0"/>
                </a:lnTo>
                <a:lnTo>
                  <a:pt x="5542033" y="2895757"/>
                </a:lnTo>
                <a:lnTo>
                  <a:pt x="0" y="2895757"/>
                </a:lnTo>
                <a:lnTo>
                  <a:pt x="0" y="0"/>
                </a:lnTo>
                <a:close/>
              </a:path>
            </a:pathLst>
          </a:custGeom>
          <a:blipFill>
            <a:blip r:embed="rId3"/>
            <a:stretch>
              <a:fillRect/>
            </a:stretch>
          </a:blipFill>
        </p:spPr>
      </p:sp>
      <p:sp>
        <p:nvSpPr>
          <p:cNvPr id="6" name="TextBox 6"/>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Quản lý các đối tượng được sao chép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1560934" y="2099259"/>
            <a:ext cx="6631732" cy="4088379"/>
          </a:xfrm>
          <a:custGeom>
            <a:avLst/>
            <a:gdLst/>
            <a:ahLst/>
            <a:cxnLst/>
            <a:rect l="l" t="t" r="r" b="b"/>
            <a:pathLst>
              <a:path w="6631732" h="4088379">
                <a:moveTo>
                  <a:pt x="0" y="0"/>
                </a:moveTo>
                <a:lnTo>
                  <a:pt x="6631732" y="0"/>
                </a:lnTo>
                <a:lnTo>
                  <a:pt x="6631732" y="4088379"/>
                </a:lnTo>
                <a:lnTo>
                  <a:pt x="0" y="4088379"/>
                </a:lnTo>
                <a:lnTo>
                  <a:pt x="0" y="0"/>
                </a:lnTo>
                <a:close/>
              </a:path>
            </a:pathLst>
          </a:custGeom>
          <a:blipFill>
            <a:blip r:embed="rId3"/>
            <a:stretch>
              <a:fillRect/>
            </a:stretch>
          </a:blipFill>
        </p:spPr>
      </p:sp>
      <p:sp>
        <p:nvSpPr>
          <p:cNvPr id="5" name="TextBox 5"/>
          <p:cNvSpPr txBox="1"/>
          <p:nvPr/>
        </p:nvSpPr>
        <p:spPr>
          <a:xfrm>
            <a:off x="290456" y="1377572"/>
            <a:ext cx="9172687" cy="4533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Vấn đề khi gọi một đối tượng đã được sao chép</a:t>
            </a:r>
          </a:p>
        </p:txBody>
      </p:sp>
      <p:sp>
        <p:nvSpPr>
          <p:cNvPr id="6" name="TextBox 6"/>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Lời gọi đối tượng được sao chép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739264" y="1629830"/>
            <a:ext cx="8275073" cy="4431575"/>
          </a:xfrm>
          <a:custGeom>
            <a:avLst/>
            <a:gdLst/>
            <a:ahLst/>
            <a:cxnLst/>
            <a:rect l="l" t="t" r="r" b="b"/>
            <a:pathLst>
              <a:path w="8275073" h="4431575">
                <a:moveTo>
                  <a:pt x="0" y="0"/>
                </a:moveTo>
                <a:lnTo>
                  <a:pt x="8275072" y="0"/>
                </a:lnTo>
                <a:lnTo>
                  <a:pt x="8275072" y="4431575"/>
                </a:lnTo>
                <a:lnTo>
                  <a:pt x="0" y="4431575"/>
                </a:lnTo>
                <a:lnTo>
                  <a:pt x="0" y="0"/>
                </a:lnTo>
                <a:close/>
              </a:path>
            </a:pathLst>
          </a:custGeom>
          <a:blipFill>
            <a:blip r:embed="rId3"/>
            <a:stretch>
              <a:fillRect/>
            </a:stretch>
          </a:blipFill>
        </p:spPr>
      </p:sp>
      <p:sp>
        <p:nvSpPr>
          <p:cNvPr id="5" name="TextBox 5"/>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Lời gọi đối tượng được sao chép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272797"/>
            <a:ext cx="9172687" cy="4533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Giao thức máy chính – sao lưu</a:t>
            </a:r>
          </a:p>
        </p:txBody>
      </p:sp>
      <p:sp>
        <p:nvSpPr>
          <p:cNvPr id="5" name="TextBox 5"/>
          <p:cNvSpPr txBox="1"/>
          <p:nvPr/>
        </p:nvSpPr>
        <p:spPr>
          <a:xfrm>
            <a:off x="177613" y="4628005"/>
            <a:ext cx="6143863" cy="1795145"/>
          </a:xfrm>
          <a:prstGeom prst="rect">
            <a:avLst/>
          </a:prstGeom>
        </p:spPr>
        <p:txBody>
          <a:bodyPr lIns="0" tIns="0" rIns="0" bIns="0" rtlCol="0" anchor="t">
            <a:spAutoFit/>
          </a:bodyPr>
          <a:lstStyle/>
          <a:p>
            <a:pPr marL="367032" lvl="1" indent="-183516" algn="just">
              <a:lnSpc>
                <a:spcPts val="2380"/>
              </a:lnSpc>
              <a:buFont typeface="Arial"/>
              <a:buChar char="•"/>
            </a:pPr>
            <a:r>
              <a:rPr lang="en-US" sz="1700">
                <a:solidFill>
                  <a:srgbClr val="000000"/>
                </a:solidFill>
                <a:latin typeface="Arial"/>
                <a:ea typeface="Arial"/>
                <a:cs typeface="Arial"/>
                <a:sym typeface="Arial"/>
              </a:rPr>
              <a:t>W1: Client gửi yêu cầu ghi.</a:t>
            </a:r>
          </a:p>
          <a:p>
            <a:pPr marL="367032" lvl="1" indent="-183516" algn="just">
              <a:lnSpc>
                <a:spcPts val="2380"/>
              </a:lnSpc>
              <a:buFont typeface="Arial"/>
              <a:buChar char="•"/>
            </a:pPr>
            <a:r>
              <a:rPr lang="en-US" sz="1700">
                <a:solidFill>
                  <a:srgbClr val="000000"/>
                </a:solidFill>
                <a:latin typeface="Arial"/>
                <a:ea typeface="Arial"/>
                <a:cs typeface="Arial"/>
                <a:sym typeface="Arial"/>
              </a:rPr>
              <a:t>W2: Yêu cầu được chuyển tiếp đến máy chính cho item x.</a:t>
            </a:r>
          </a:p>
          <a:p>
            <a:pPr marL="367032" lvl="1" indent="-183516" algn="just">
              <a:lnSpc>
                <a:spcPts val="2380"/>
              </a:lnSpc>
              <a:buFont typeface="Arial"/>
              <a:buChar char="•"/>
            </a:pPr>
            <a:r>
              <a:rPr lang="en-US" sz="1700">
                <a:solidFill>
                  <a:srgbClr val="000000"/>
                </a:solidFill>
                <a:latin typeface="Arial"/>
                <a:ea typeface="Arial"/>
                <a:cs typeface="Arial"/>
                <a:sym typeface="Arial"/>
              </a:rPr>
              <a:t>W3: Máy chính yêu cầu các máy sao lưu cập nhật dữ liệu.</a:t>
            </a:r>
          </a:p>
          <a:p>
            <a:pPr marL="367032" lvl="1" indent="-183516" algn="just">
              <a:lnSpc>
                <a:spcPts val="2380"/>
              </a:lnSpc>
              <a:buFont typeface="Arial"/>
              <a:buChar char="•"/>
            </a:pPr>
            <a:r>
              <a:rPr lang="en-US" sz="1700">
                <a:solidFill>
                  <a:srgbClr val="000000"/>
                </a:solidFill>
                <a:latin typeface="Arial"/>
                <a:ea typeface="Arial"/>
                <a:cs typeface="Arial"/>
                <a:sym typeface="Arial"/>
              </a:rPr>
              <a:t>W4: Các máy sao lưu xác nhận đã cập nhật xong.</a:t>
            </a:r>
          </a:p>
          <a:p>
            <a:pPr marL="367032" lvl="1" indent="-183516" algn="just">
              <a:lnSpc>
                <a:spcPts val="2380"/>
              </a:lnSpc>
              <a:buFont typeface="Arial"/>
              <a:buChar char="•"/>
            </a:pPr>
            <a:r>
              <a:rPr lang="en-US" sz="1700">
                <a:solidFill>
                  <a:srgbClr val="000000"/>
                </a:solidFill>
                <a:latin typeface="Arial"/>
                <a:ea typeface="Arial"/>
                <a:cs typeface="Arial"/>
                <a:sym typeface="Arial"/>
              </a:rPr>
              <a:t>W5: Máy chính gửi xác nhận ghi hoàn tất về cho client.</a:t>
            </a:r>
          </a:p>
          <a:p>
            <a:pPr algn="just">
              <a:lnSpc>
                <a:spcPts val="2380"/>
              </a:lnSpc>
              <a:spcBef>
                <a:spcPct val="0"/>
              </a:spcBef>
            </a:pPr>
            <a:endParaRPr lang="en-US" sz="1700">
              <a:solidFill>
                <a:srgbClr val="000000"/>
              </a:solidFill>
              <a:latin typeface="Arial"/>
              <a:ea typeface="Arial"/>
              <a:cs typeface="Arial"/>
              <a:sym typeface="Arial"/>
            </a:endParaRPr>
          </a:p>
        </p:txBody>
      </p:sp>
      <p:sp>
        <p:nvSpPr>
          <p:cNvPr id="6" name="TextBox 6"/>
          <p:cNvSpPr txBox="1"/>
          <p:nvPr/>
        </p:nvSpPr>
        <p:spPr>
          <a:xfrm>
            <a:off x="6166221" y="4732780"/>
            <a:ext cx="3335022" cy="1204595"/>
          </a:xfrm>
          <a:prstGeom prst="rect">
            <a:avLst/>
          </a:prstGeom>
        </p:spPr>
        <p:txBody>
          <a:bodyPr lIns="0" tIns="0" rIns="0" bIns="0" rtlCol="0" anchor="t">
            <a:spAutoFit/>
          </a:bodyPr>
          <a:lstStyle/>
          <a:p>
            <a:pPr marL="367032" lvl="1" indent="-183516" algn="just">
              <a:lnSpc>
                <a:spcPts val="2380"/>
              </a:lnSpc>
              <a:buFont typeface="Arial"/>
              <a:buChar char="•"/>
            </a:pPr>
            <a:r>
              <a:rPr lang="en-US" sz="1700">
                <a:solidFill>
                  <a:srgbClr val="000000"/>
                </a:solidFill>
                <a:latin typeface="Arial"/>
                <a:ea typeface="Arial"/>
                <a:cs typeface="Arial"/>
                <a:sym typeface="Arial"/>
              </a:rPr>
              <a:t>R1: Client gửi yêu cầu đọc.</a:t>
            </a:r>
          </a:p>
          <a:p>
            <a:pPr marL="367032" lvl="1" indent="-183516" algn="just">
              <a:lnSpc>
                <a:spcPts val="2380"/>
              </a:lnSpc>
              <a:buFont typeface="Arial"/>
              <a:buChar char="•"/>
            </a:pPr>
            <a:r>
              <a:rPr lang="en-US" sz="1700">
                <a:solidFill>
                  <a:srgbClr val="000000"/>
                </a:solidFill>
                <a:latin typeface="Arial"/>
                <a:ea typeface="Arial"/>
                <a:cs typeface="Arial"/>
                <a:sym typeface="Arial"/>
              </a:rPr>
              <a:t>R2: Một máy sao lưu trả lời kết quả đọc.</a:t>
            </a:r>
          </a:p>
          <a:p>
            <a:pPr algn="just">
              <a:lnSpc>
                <a:spcPts val="2380"/>
              </a:lnSpc>
              <a:spcBef>
                <a:spcPct val="0"/>
              </a:spcBef>
            </a:pPr>
            <a:endParaRPr lang="en-US" sz="1700">
              <a:solidFill>
                <a:srgbClr val="000000"/>
              </a:solidFill>
              <a:latin typeface="Arial"/>
              <a:ea typeface="Arial"/>
              <a:cs typeface="Arial"/>
              <a:sym typeface="Arial"/>
            </a:endParaRPr>
          </a:p>
        </p:txBody>
      </p:sp>
      <p:sp>
        <p:nvSpPr>
          <p:cNvPr id="7" name="Freeform 7"/>
          <p:cNvSpPr/>
          <p:nvPr/>
        </p:nvSpPr>
        <p:spPr>
          <a:xfrm>
            <a:off x="2066392" y="1782320"/>
            <a:ext cx="5620816" cy="2645660"/>
          </a:xfrm>
          <a:custGeom>
            <a:avLst/>
            <a:gdLst/>
            <a:ahLst/>
            <a:cxnLst/>
            <a:rect l="l" t="t" r="r" b="b"/>
            <a:pathLst>
              <a:path w="5620816" h="2645660">
                <a:moveTo>
                  <a:pt x="0" y="0"/>
                </a:moveTo>
                <a:lnTo>
                  <a:pt x="5620816" y="0"/>
                </a:lnTo>
                <a:lnTo>
                  <a:pt x="5620816" y="2645660"/>
                </a:lnTo>
                <a:lnTo>
                  <a:pt x="0" y="2645660"/>
                </a:lnTo>
                <a:lnTo>
                  <a:pt x="0" y="0"/>
                </a:lnTo>
                <a:close/>
              </a:path>
            </a:pathLst>
          </a:custGeom>
          <a:blipFill>
            <a:blip r:embed="rId3"/>
            <a:stretch>
              <a:fillRect/>
            </a:stretch>
          </a:blipFill>
        </p:spPr>
      </p:sp>
      <p:sp>
        <p:nvSpPr>
          <p:cNvPr id="8" name="TextBox 8"/>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Giao thức dựa trên máy chính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263272"/>
            <a:ext cx="9172687" cy="4533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Giao thức máy chính – sao lưu</a:t>
            </a:r>
          </a:p>
        </p:txBody>
      </p:sp>
      <p:sp>
        <p:nvSpPr>
          <p:cNvPr id="5" name="TextBox 5"/>
          <p:cNvSpPr txBox="1"/>
          <p:nvPr/>
        </p:nvSpPr>
        <p:spPr>
          <a:xfrm>
            <a:off x="554367" y="5497320"/>
            <a:ext cx="8795933" cy="1452245"/>
          </a:xfrm>
          <a:prstGeom prst="rect">
            <a:avLst/>
          </a:prstGeom>
        </p:spPr>
        <p:txBody>
          <a:bodyPr lIns="0" tIns="0" rIns="0" bIns="0" rtlCol="0" anchor="t">
            <a:spAutoFit/>
          </a:bodyPr>
          <a:lstStyle/>
          <a:p>
            <a:pPr algn="just">
              <a:lnSpc>
                <a:spcPts val="2519"/>
              </a:lnSpc>
            </a:pPr>
            <a:r>
              <a:rPr lang="en-US" sz="1799" b="1">
                <a:solidFill>
                  <a:srgbClr val="000000"/>
                </a:solidFill>
                <a:latin typeface="Arial Bold"/>
                <a:ea typeface="Arial Bold"/>
                <a:cs typeface="Arial Bold"/>
                <a:sym typeface="Arial Bold"/>
              </a:rPr>
              <a:t>Ví dụ về giao thức Primary-backup</a:t>
            </a:r>
          </a:p>
          <a:p>
            <a:pPr algn="just">
              <a:lnSpc>
                <a:spcPts val="2239"/>
              </a:lnSpc>
            </a:pPr>
            <a:r>
              <a:rPr lang="en-US" sz="1599">
                <a:solidFill>
                  <a:srgbClr val="000000"/>
                </a:solidFill>
                <a:latin typeface="Arial"/>
                <a:ea typeface="Arial"/>
                <a:cs typeface="Arial"/>
                <a:sym typeface="Arial"/>
              </a:rPr>
              <a:t>Giao thức này truyền thống được áp dụng trong các cơ sở dữ liệu phân tán và hệ thống tệp</a:t>
            </a:r>
          </a:p>
          <a:p>
            <a:pPr algn="just">
              <a:lnSpc>
                <a:spcPts val="2239"/>
              </a:lnSpc>
            </a:pPr>
            <a:r>
              <a:rPr lang="en-US" sz="1599">
                <a:solidFill>
                  <a:srgbClr val="000000"/>
                </a:solidFill>
                <a:latin typeface="Arial"/>
                <a:ea typeface="Arial"/>
                <a:cs typeface="Arial"/>
                <a:sym typeface="Arial"/>
              </a:rPr>
              <a:t> cần mức độ chịu lỗi (fault tolerance) cao. Các bản sao (replica) thường được đặt trong cùng một mạng LAN để đảm bảo hiệu suất cao.</a:t>
            </a:r>
          </a:p>
          <a:p>
            <a:pPr algn="just">
              <a:lnSpc>
                <a:spcPts val="2239"/>
              </a:lnSpc>
              <a:spcBef>
                <a:spcPct val="0"/>
              </a:spcBef>
            </a:pPr>
            <a:endParaRPr lang="en-US" sz="1599">
              <a:solidFill>
                <a:srgbClr val="000000"/>
              </a:solidFill>
              <a:latin typeface="Arial"/>
              <a:ea typeface="Arial"/>
              <a:cs typeface="Arial"/>
              <a:sym typeface="Arial"/>
            </a:endParaRPr>
          </a:p>
        </p:txBody>
      </p:sp>
      <p:sp>
        <p:nvSpPr>
          <p:cNvPr id="6" name="TextBox 6"/>
          <p:cNvSpPr txBox="1"/>
          <p:nvPr/>
        </p:nvSpPr>
        <p:spPr>
          <a:xfrm>
            <a:off x="731520" y="4266055"/>
            <a:ext cx="5354486" cy="1507490"/>
          </a:xfrm>
          <a:prstGeom prst="rect">
            <a:avLst/>
          </a:prstGeom>
        </p:spPr>
        <p:txBody>
          <a:bodyPr lIns="0" tIns="0" rIns="0" bIns="0" rtlCol="0" anchor="t">
            <a:spAutoFit/>
          </a:bodyPr>
          <a:lstStyle/>
          <a:p>
            <a:pPr marL="302264" lvl="1" indent="-151132" algn="just">
              <a:lnSpc>
                <a:spcPts val="1960"/>
              </a:lnSpc>
              <a:buFont typeface="Arial"/>
              <a:buChar char="•"/>
            </a:pPr>
            <a:r>
              <a:rPr lang="en-US" sz="1400">
                <a:solidFill>
                  <a:srgbClr val="000000"/>
                </a:solidFill>
                <a:latin typeface="Arial"/>
                <a:ea typeface="Arial"/>
                <a:cs typeface="Arial"/>
                <a:sym typeface="Arial"/>
              </a:rPr>
              <a:t>W1: Client gửi yêu cầu ghi.</a:t>
            </a:r>
          </a:p>
          <a:p>
            <a:pPr marL="302264" lvl="1" indent="-151132" algn="just">
              <a:lnSpc>
                <a:spcPts val="1960"/>
              </a:lnSpc>
              <a:buFont typeface="Arial"/>
              <a:buChar char="•"/>
            </a:pPr>
            <a:r>
              <a:rPr lang="en-US" sz="1400">
                <a:solidFill>
                  <a:srgbClr val="000000"/>
                </a:solidFill>
                <a:latin typeface="Arial"/>
                <a:ea typeface="Arial"/>
                <a:cs typeface="Arial"/>
                <a:sym typeface="Arial"/>
              </a:rPr>
              <a:t>W2: Yêu cầu được chuyển tiếp đến máy chính cho item x.</a:t>
            </a:r>
          </a:p>
          <a:p>
            <a:pPr marL="302264" lvl="1" indent="-151132" algn="just">
              <a:lnSpc>
                <a:spcPts val="1960"/>
              </a:lnSpc>
              <a:buFont typeface="Arial"/>
              <a:buChar char="•"/>
            </a:pPr>
            <a:r>
              <a:rPr lang="en-US" sz="1400">
                <a:solidFill>
                  <a:srgbClr val="000000"/>
                </a:solidFill>
                <a:latin typeface="Arial"/>
                <a:ea typeface="Arial"/>
                <a:cs typeface="Arial"/>
                <a:sym typeface="Arial"/>
              </a:rPr>
              <a:t>W3: Máy chính yêu cầu các máy sao lưu cập nhật dữ liệu.</a:t>
            </a:r>
          </a:p>
          <a:p>
            <a:pPr marL="302264" lvl="1" indent="-151132" algn="just">
              <a:lnSpc>
                <a:spcPts val="1960"/>
              </a:lnSpc>
              <a:buFont typeface="Arial"/>
              <a:buChar char="•"/>
            </a:pPr>
            <a:r>
              <a:rPr lang="en-US" sz="1400">
                <a:solidFill>
                  <a:srgbClr val="000000"/>
                </a:solidFill>
                <a:latin typeface="Arial"/>
                <a:ea typeface="Arial"/>
                <a:cs typeface="Arial"/>
                <a:sym typeface="Arial"/>
              </a:rPr>
              <a:t>W4: Các máy sao lưu xác nhận đã cập nhật xong.</a:t>
            </a:r>
          </a:p>
          <a:p>
            <a:pPr marL="302264" lvl="1" indent="-151132" algn="just">
              <a:lnSpc>
                <a:spcPts val="1960"/>
              </a:lnSpc>
              <a:buFont typeface="Arial"/>
              <a:buChar char="•"/>
            </a:pPr>
            <a:r>
              <a:rPr lang="en-US" sz="1400">
                <a:solidFill>
                  <a:srgbClr val="000000"/>
                </a:solidFill>
                <a:latin typeface="Arial"/>
                <a:ea typeface="Arial"/>
                <a:cs typeface="Arial"/>
                <a:sym typeface="Arial"/>
              </a:rPr>
              <a:t>W5: Máy chính gửi xác nhận ghi hoàn tất về cho client.</a:t>
            </a:r>
          </a:p>
          <a:p>
            <a:pPr algn="just">
              <a:lnSpc>
                <a:spcPts val="1960"/>
              </a:lnSpc>
              <a:spcBef>
                <a:spcPct val="0"/>
              </a:spcBef>
            </a:pPr>
            <a:endParaRPr lang="en-US" sz="1400">
              <a:solidFill>
                <a:srgbClr val="000000"/>
              </a:solidFill>
              <a:latin typeface="Arial"/>
              <a:ea typeface="Arial"/>
              <a:cs typeface="Arial"/>
              <a:sym typeface="Arial"/>
            </a:endParaRPr>
          </a:p>
        </p:txBody>
      </p:sp>
      <p:sp>
        <p:nvSpPr>
          <p:cNvPr id="7" name="TextBox 7"/>
          <p:cNvSpPr txBox="1"/>
          <p:nvPr/>
        </p:nvSpPr>
        <p:spPr>
          <a:xfrm>
            <a:off x="5915052" y="4408930"/>
            <a:ext cx="3586191" cy="764540"/>
          </a:xfrm>
          <a:prstGeom prst="rect">
            <a:avLst/>
          </a:prstGeom>
        </p:spPr>
        <p:txBody>
          <a:bodyPr lIns="0" tIns="0" rIns="0" bIns="0" rtlCol="0" anchor="t">
            <a:spAutoFit/>
          </a:bodyPr>
          <a:lstStyle/>
          <a:p>
            <a:pPr marL="302264" lvl="1" indent="-151132" algn="just">
              <a:lnSpc>
                <a:spcPts val="1960"/>
              </a:lnSpc>
              <a:buFont typeface="Arial"/>
              <a:buChar char="•"/>
            </a:pPr>
            <a:r>
              <a:rPr lang="en-US" sz="1400">
                <a:solidFill>
                  <a:srgbClr val="000000"/>
                </a:solidFill>
                <a:latin typeface="Arial"/>
                <a:ea typeface="Arial"/>
                <a:cs typeface="Arial"/>
                <a:sym typeface="Arial"/>
              </a:rPr>
              <a:t>R1: Client gửi yêu cầu đọc.</a:t>
            </a:r>
          </a:p>
          <a:p>
            <a:pPr marL="302264" lvl="1" indent="-151132" algn="just">
              <a:lnSpc>
                <a:spcPts val="1960"/>
              </a:lnSpc>
              <a:buFont typeface="Arial"/>
              <a:buChar char="•"/>
            </a:pPr>
            <a:r>
              <a:rPr lang="en-US" sz="1400">
                <a:solidFill>
                  <a:srgbClr val="000000"/>
                </a:solidFill>
                <a:latin typeface="Arial"/>
                <a:ea typeface="Arial"/>
                <a:cs typeface="Arial"/>
                <a:sym typeface="Arial"/>
              </a:rPr>
              <a:t>R2: Một máy sao lưu trả lời kết quả đọc.</a:t>
            </a:r>
          </a:p>
          <a:p>
            <a:pPr algn="just">
              <a:lnSpc>
                <a:spcPts val="1960"/>
              </a:lnSpc>
              <a:spcBef>
                <a:spcPct val="0"/>
              </a:spcBef>
            </a:pPr>
            <a:endParaRPr lang="en-US" sz="1400">
              <a:solidFill>
                <a:srgbClr val="000000"/>
              </a:solidFill>
              <a:latin typeface="Arial"/>
              <a:ea typeface="Arial"/>
              <a:cs typeface="Arial"/>
              <a:sym typeface="Arial"/>
            </a:endParaRPr>
          </a:p>
        </p:txBody>
      </p:sp>
      <p:sp>
        <p:nvSpPr>
          <p:cNvPr id="8" name="Freeform 8"/>
          <p:cNvSpPr/>
          <p:nvPr/>
        </p:nvSpPr>
        <p:spPr>
          <a:xfrm>
            <a:off x="2230441" y="1716663"/>
            <a:ext cx="5292718" cy="2491228"/>
          </a:xfrm>
          <a:custGeom>
            <a:avLst/>
            <a:gdLst/>
            <a:ahLst/>
            <a:cxnLst/>
            <a:rect l="l" t="t" r="r" b="b"/>
            <a:pathLst>
              <a:path w="5292718" h="2491228">
                <a:moveTo>
                  <a:pt x="0" y="0"/>
                </a:moveTo>
                <a:lnTo>
                  <a:pt x="5292718" y="0"/>
                </a:lnTo>
                <a:lnTo>
                  <a:pt x="5292718" y="2491227"/>
                </a:lnTo>
                <a:lnTo>
                  <a:pt x="0" y="2491227"/>
                </a:lnTo>
                <a:lnTo>
                  <a:pt x="0" y="0"/>
                </a:lnTo>
                <a:close/>
              </a:path>
            </a:pathLst>
          </a:custGeom>
          <a:blipFill>
            <a:blip r:embed="rId3"/>
            <a:stretch>
              <a:fillRect/>
            </a:stretch>
          </a:blipFill>
        </p:spPr>
      </p:sp>
      <p:sp>
        <p:nvSpPr>
          <p:cNvPr id="9" name="TextBox 9"/>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Giao thức dựa trên máy chính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2289572" y="1697613"/>
            <a:ext cx="5174455" cy="2457866"/>
          </a:xfrm>
          <a:custGeom>
            <a:avLst/>
            <a:gdLst/>
            <a:ahLst/>
            <a:cxnLst/>
            <a:rect l="l" t="t" r="r" b="b"/>
            <a:pathLst>
              <a:path w="5174455" h="2457866">
                <a:moveTo>
                  <a:pt x="0" y="0"/>
                </a:moveTo>
                <a:lnTo>
                  <a:pt x="5174456" y="0"/>
                </a:lnTo>
                <a:lnTo>
                  <a:pt x="5174456" y="2457866"/>
                </a:lnTo>
                <a:lnTo>
                  <a:pt x="0" y="2457866"/>
                </a:lnTo>
                <a:lnTo>
                  <a:pt x="0" y="0"/>
                </a:lnTo>
                <a:close/>
              </a:path>
            </a:pathLst>
          </a:custGeom>
          <a:blipFill>
            <a:blip r:embed="rId3"/>
            <a:stretch>
              <a:fillRect/>
            </a:stretch>
          </a:blipFill>
        </p:spPr>
      </p:sp>
      <p:sp>
        <p:nvSpPr>
          <p:cNvPr id="5" name="TextBox 5"/>
          <p:cNvSpPr txBox="1"/>
          <p:nvPr/>
        </p:nvSpPr>
        <p:spPr>
          <a:xfrm>
            <a:off x="290456" y="1263272"/>
            <a:ext cx="9172687" cy="4533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Giao thức máy chính – sao lưu với ghi cục bộ</a:t>
            </a:r>
          </a:p>
        </p:txBody>
      </p:sp>
      <p:sp>
        <p:nvSpPr>
          <p:cNvPr id="6" name="TextBox 6"/>
          <p:cNvSpPr txBox="1"/>
          <p:nvPr/>
        </p:nvSpPr>
        <p:spPr>
          <a:xfrm>
            <a:off x="554367" y="4403129"/>
            <a:ext cx="5457628" cy="1507490"/>
          </a:xfrm>
          <a:prstGeom prst="rect">
            <a:avLst/>
          </a:prstGeom>
        </p:spPr>
        <p:txBody>
          <a:bodyPr lIns="0" tIns="0" rIns="0" bIns="0" rtlCol="0" anchor="t">
            <a:spAutoFit/>
          </a:bodyPr>
          <a:lstStyle/>
          <a:p>
            <a:pPr marL="302264" lvl="1" indent="-151132" algn="just">
              <a:lnSpc>
                <a:spcPts val="1960"/>
              </a:lnSpc>
              <a:buFont typeface="Arial"/>
              <a:buChar char="•"/>
            </a:pPr>
            <a:r>
              <a:rPr lang="en-US" sz="1400">
                <a:solidFill>
                  <a:srgbClr val="000000"/>
                </a:solidFill>
                <a:latin typeface="Arial"/>
                <a:ea typeface="Arial"/>
                <a:cs typeface="Arial"/>
                <a:sym typeface="Arial"/>
              </a:rPr>
              <a:t>W1: Client gửi yêu cầu ghi đến máy gần nhất (ghi cục bộ).</a:t>
            </a:r>
          </a:p>
          <a:p>
            <a:pPr marL="302264" lvl="1" indent="-151132" algn="just">
              <a:lnSpc>
                <a:spcPts val="1960"/>
              </a:lnSpc>
              <a:buFont typeface="Arial"/>
              <a:buChar char="•"/>
            </a:pPr>
            <a:r>
              <a:rPr lang="en-US" sz="1400">
                <a:solidFill>
                  <a:srgbClr val="000000"/>
                </a:solidFill>
                <a:latin typeface="Arial"/>
                <a:ea typeface="Arial"/>
                <a:cs typeface="Arial"/>
                <a:sym typeface="Arial"/>
              </a:rPr>
              <a:t>W2: Chuyển mục dữ liệu x sang máy chính mới.</a:t>
            </a:r>
          </a:p>
          <a:p>
            <a:pPr marL="302264" lvl="1" indent="-151132" algn="just">
              <a:lnSpc>
                <a:spcPts val="1960"/>
              </a:lnSpc>
              <a:buFont typeface="Arial"/>
              <a:buChar char="•"/>
            </a:pPr>
            <a:r>
              <a:rPr lang="en-US" sz="1400">
                <a:solidFill>
                  <a:srgbClr val="000000"/>
                </a:solidFill>
                <a:latin typeface="Arial"/>
                <a:ea typeface="Arial"/>
                <a:cs typeface="Arial"/>
                <a:sym typeface="Arial"/>
              </a:rPr>
              <a:t>W3: Phản hồi xác nhận ghi hoàn tất về cho client.</a:t>
            </a:r>
          </a:p>
          <a:p>
            <a:pPr marL="302264" lvl="1" indent="-151132" algn="just">
              <a:lnSpc>
                <a:spcPts val="1960"/>
              </a:lnSpc>
              <a:buFont typeface="Arial"/>
              <a:buChar char="•"/>
            </a:pPr>
            <a:r>
              <a:rPr lang="en-US" sz="1400">
                <a:solidFill>
                  <a:srgbClr val="000000"/>
                </a:solidFill>
                <a:latin typeface="Arial"/>
                <a:ea typeface="Arial"/>
                <a:cs typeface="Arial"/>
                <a:sym typeface="Arial"/>
              </a:rPr>
              <a:t>W4: Máy chính mới thông báo các máy sao lưu cập nhật dữ liệu.</a:t>
            </a:r>
          </a:p>
          <a:p>
            <a:pPr marL="302264" lvl="1" indent="-151132" algn="just">
              <a:lnSpc>
                <a:spcPts val="1960"/>
              </a:lnSpc>
              <a:buFont typeface="Arial"/>
              <a:buChar char="•"/>
            </a:pPr>
            <a:r>
              <a:rPr lang="en-US" sz="1400">
                <a:solidFill>
                  <a:srgbClr val="000000"/>
                </a:solidFill>
                <a:latin typeface="Arial"/>
                <a:ea typeface="Arial"/>
                <a:cs typeface="Arial"/>
                <a:sym typeface="Arial"/>
              </a:rPr>
              <a:t>W5: Các máy sao lưu xác nhận đã cập nhật xong.</a:t>
            </a:r>
          </a:p>
          <a:p>
            <a:pPr algn="just">
              <a:lnSpc>
                <a:spcPts val="1960"/>
              </a:lnSpc>
              <a:spcBef>
                <a:spcPct val="0"/>
              </a:spcBef>
            </a:pPr>
            <a:endParaRPr lang="en-US" sz="1400">
              <a:solidFill>
                <a:srgbClr val="000000"/>
              </a:solidFill>
              <a:latin typeface="Arial"/>
              <a:ea typeface="Arial"/>
              <a:cs typeface="Arial"/>
              <a:sym typeface="Arial"/>
            </a:endParaRPr>
          </a:p>
        </p:txBody>
      </p:sp>
      <p:sp>
        <p:nvSpPr>
          <p:cNvPr id="7" name="TextBox 7"/>
          <p:cNvSpPr txBox="1"/>
          <p:nvPr/>
        </p:nvSpPr>
        <p:spPr>
          <a:xfrm>
            <a:off x="5915052" y="4589905"/>
            <a:ext cx="3586191" cy="764540"/>
          </a:xfrm>
          <a:prstGeom prst="rect">
            <a:avLst/>
          </a:prstGeom>
        </p:spPr>
        <p:txBody>
          <a:bodyPr lIns="0" tIns="0" rIns="0" bIns="0" rtlCol="0" anchor="t">
            <a:spAutoFit/>
          </a:bodyPr>
          <a:lstStyle/>
          <a:p>
            <a:pPr marL="302264" lvl="1" indent="-151132" algn="just">
              <a:lnSpc>
                <a:spcPts val="1960"/>
              </a:lnSpc>
              <a:buFont typeface="Arial"/>
              <a:buChar char="•"/>
            </a:pPr>
            <a:r>
              <a:rPr lang="en-US" sz="1400">
                <a:solidFill>
                  <a:srgbClr val="000000"/>
                </a:solidFill>
                <a:latin typeface="Arial"/>
                <a:ea typeface="Arial"/>
                <a:cs typeface="Arial"/>
                <a:sym typeface="Arial"/>
              </a:rPr>
              <a:t>R1: Client gửi yêu cầu đọc.</a:t>
            </a:r>
          </a:p>
          <a:p>
            <a:pPr marL="302264" lvl="1" indent="-151132" algn="just">
              <a:lnSpc>
                <a:spcPts val="1960"/>
              </a:lnSpc>
              <a:buFont typeface="Arial"/>
              <a:buChar char="•"/>
            </a:pPr>
            <a:r>
              <a:rPr lang="en-US" sz="1400">
                <a:solidFill>
                  <a:srgbClr val="000000"/>
                </a:solidFill>
                <a:latin typeface="Arial"/>
                <a:ea typeface="Arial"/>
                <a:cs typeface="Arial"/>
                <a:sym typeface="Arial"/>
              </a:rPr>
              <a:t>R2: Một máy sao lưu trả lời kết quả đọc.</a:t>
            </a:r>
          </a:p>
          <a:p>
            <a:pPr algn="just">
              <a:lnSpc>
                <a:spcPts val="1960"/>
              </a:lnSpc>
              <a:spcBef>
                <a:spcPct val="0"/>
              </a:spcBef>
            </a:pPr>
            <a:endParaRPr lang="en-US" sz="1400">
              <a:solidFill>
                <a:srgbClr val="000000"/>
              </a:solidFill>
              <a:latin typeface="Arial"/>
              <a:ea typeface="Arial"/>
              <a:cs typeface="Arial"/>
              <a:sym typeface="Arial"/>
            </a:endParaRPr>
          </a:p>
        </p:txBody>
      </p:sp>
      <p:sp>
        <p:nvSpPr>
          <p:cNvPr id="8" name="TextBox 8"/>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Giao thức dựa trên máy chính</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0456" y="1263272"/>
            <a:ext cx="9172687" cy="4533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Giao thức máy chính – sao lưu với ghi cục bộ</a:t>
            </a:r>
          </a:p>
        </p:txBody>
      </p:sp>
      <p:sp>
        <p:nvSpPr>
          <p:cNvPr id="5" name="TextBox 5"/>
          <p:cNvSpPr txBox="1"/>
          <p:nvPr/>
        </p:nvSpPr>
        <p:spPr>
          <a:xfrm>
            <a:off x="554367" y="5535420"/>
            <a:ext cx="8795933" cy="1728470"/>
          </a:xfrm>
          <a:prstGeom prst="rect">
            <a:avLst/>
          </a:prstGeom>
        </p:spPr>
        <p:txBody>
          <a:bodyPr lIns="0" tIns="0" rIns="0" bIns="0" rtlCol="0" anchor="t">
            <a:spAutoFit/>
          </a:bodyPr>
          <a:lstStyle/>
          <a:p>
            <a:pPr algn="just">
              <a:lnSpc>
                <a:spcPts val="2519"/>
              </a:lnSpc>
            </a:pPr>
            <a:r>
              <a:rPr lang="en-US" sz="1799" b="1">
                <a:solidFill>
                  <a:srgbClr val="000000"/>
                </a:solidFill>
                <a:latin typeface="Arial Bold"/>
                <a:ea typeface="Arial Bold"/>
                <a:cs typeface="Arial Bold"/>
                <a:sym typeface="Arial Bold"/>
              </a:rPr>
              <a:t>Ví dụ về giao thức Primary-backup với ghi cục bộ (local writes)</a:t>
            </a:r>
          </a:p>
          <a:p>
            <a:pPr algn="just">
              <a:lnSpc>
                <a:spcPts val="2239"/>
              </a:lnSpc>
            </a:pPr>
            <a:r>
              <a:rPr lang="en-US" sz="1599">
                <a:solidFill>
                  <a:srgbClr val="000000"/>
                </a:solidFill>
                <a:latin typeface="Arial"/>
                <a:ea typeface="Arial"/>
                <a:cs typeface="Arial"/>
                <a:sym typeface="Arial"/>
              </a:rPr>
              <a:t>Điện toán di động trong chế độ ngắt kết nối (disconnected mode):</a:t>
            </a:r>
          </a:p>
          <a:p>
            <a:pPr algn="just">
              <a:lnSpc>
                <a:spcPts val="2239"/>
              </a:lnSpc>
            </a:pPr>
            <a:r>
              <a:rPr lang="en-US" sz="1599">
                <a:solidFill>
                  <a:srgbClr val="000000"/>
                </a:solidFill>
                <a:latin typeface="Arial"/>
                <a:ea typeface="Arial"/>
                <a:cs typeface="Arial"/>
                <a:sym typeface="Arial"/>
              </a:rPr>
              <a:t> Gửi trước tất cả các tệp liên quan đến người dùng trước khi ngắt kết nối,</a:t>
            </a:r>
          </a:p>
          <a:p>
            <a:pPr algn="just">
              <a:lnSpc>
                <a:spcPts val="2239"/>
              </a:lnSpc>
            </a:pPr>
            <a:r>
              <a:rPr lang="en-US" sz="1599">
                <a:solidFill>
                  <a:srgbClr val="000000"/>
                </a:solidFill>
                <a:latin typeface="Arial"/>
                <a:ea typeface="Arial"/>
                <a:cs typeface="Arial"/>
                <a:sym typeface="Arial"/>
              </a:rPr>
              <a:t> và thực hiện cập nhật sau đó khi kết nối lại.</a:t>
            </a:r>
          </a:p>
          <a:p>
            <a:pPr algn="just">
              <a:lnSpc>
                <a:spcPts val="2239"/>
              </a:lnSpc>
            </a:pPr>
            <a:endParaRPr lang="en-US" sz="1599">
              <a:solidFill>
                <a:srgbClr val="000000"/>
              </a:solidFill>
              <a:latin typeface="Arial"/>
              <a:ea typeface="Arial"/>
              <a:cs typeface="Arial"/>
              <a:sym typeface="Arial"/>
            </a:endParaRPr>
          </a:p>
          <a:p>
            <a:pPr algn="just">
              <a:lnSpc>
                <a:spcPts val="2239"/>
              </a:lnSpc>
              <a:spcBef>
                <a:spcPct val="0"/>
              </a:spcBef>
            </a:pPr>
            <a:endParaRPr lang="en-US" sz="1599">
              <a:solidFill>
                <a:srgbClr val="000000"/>
              </a:solidFill>
              <a:latin typeface="Arial"/>
              <a:ea typeface="Arial"/>
              <a:cs typeface="Arial"/>
              <a:sym typeface="Arial"/>
            </a:endParaRPr>
          </a:p>
        </p:txBody>
      </p:sp>
      <p:sp>
        <p:nvSpPr>
          <p:cNvPr id="6" name="TextBox 6"/>
          <p:cNvSpPr txBox="1"/>
          <p:nvPr/>
        </p:nvSpPr>
        <p:spPr>
          <a:xfrm>
            <a:off x="731520" y="4266055"/>
            <a:ext cx="5354486" cy="1507490"/>
          </a:xfrm>
          <a:prstGeom prst="rect">
            <a:avLst/>
          </a:prstGeom>
        </p:spPr>
        <p:txBody>
          <a:bodyPr lIns="0" tIns="0" rIns="0" bIns="0" rtlCol="0" anchor="t">
            <a:spAutoFit/>
          </a:bodyPr>
          <a:lstStyle/>
          <a:p>
            <a:pPr marL="302264" lvl="1" indent="-151132" algn="just">
              <a:lnSpc>
                <a:spcPts val="1960"/>
              </a:lnSpc>
              <a:buFont typeface="Arial"/>
              <a:buChar char="•"/>
            </a:pPr>
            <a:r>
              <a:rPr lang="en-US" sz="1400">
                <a:solidFill>
                  <a:srgbClr val="000000"/>
                </a:solidFill>
                <a:latin typeface="Arial"/>
                <a:ea typeface="Arial"/>
                <a:cs typeface="Arial"/>
                <a:sym typeface="Arial"/>
              </a:rPr>
              <a:t>W1: Client gửi yêu cầu ghi.</a:t>
            </a:r>
          </a:p>
          <a:p>
            <a:pPr marL="302264" lvl="1" indent="-151132" algn="just">
              <a:lnSpc>
                <a:spcPts val="1960"/>
              </a:lnSpc>
              <a:buFont typeface="Arial"/>
              <a:buChar char="•"/>
            </a:pPr>
            <a:r>
              <a:rPr lang="en-US" sz="1400">
                <a:solidFill>
                  <a:srgbClr val="000000"/>
                </a:solidFill>
                <a:latin typeface="Arial"/>
                <a:ea typeface="Arial"/>
                <a:cs typeface="Arial"/>
                <a:sym typeface="Arial"/>
              </a:rPr>
              <a:t>W2: Yêu cầu được chuyển tiếp đến máy chính cho item x.</a:t>
            </a:r>
          </a:p>
          <a:p>
            <a:pPr marL="302264" lvl="1" indent="-151132" algn="just">
              <a:lnSpc>
                <a:spcPts val="1960"/>
              </a:lnSpc>
              <a:buFont typeface="Arial"/>
              <a:buChar char="•"/>
            </a:pPr>
            <a:r>
              <a:rPr lang="en-US" sz="1400">
                <a:solidFill>
                  <a:srgbClr val="000000"/>
                </a:solidFill>
                <a:latin typeface="Arial"/>
                <a:ea typeface="Arial"/>
                <a:cs typeface="Arial"/>
                <a:sym typeface="Arial"/>
              </a:rPr>
              <a:t>W3: Máy chính yêu cầu các máy sao lưu cập nhật dữ liệu.</a:t>
            </a:r>
          </a:p>
          <a:p>
            <a:pPr marL="302264" lvl="1" indent="-151132" algn="just">
              <a:lnSpc>
                <a:spcPts val="1960"/>
              </a:lnSpc>
              <a:buFont typeface="Arial"/>
              <a:buChar char="•"/>
            </a:pPr>
            <a:r>
              <a:rPr lang="en-US" sz="1400">
                <a:solidFill>
                  <a:srgbClr val="000000"/>
                </a:solidFill>
                <a:latin typeface="Arial"/>
                <a:ea typeface="Arial"/>
                <a:cs typeface="Arial"/>
                <a:sym typeface="Arial"/>
              </a:rPr>
              <a:t>W4: Các máy sao lưu xác nhận đã cập nhật xong.</a:t>
            </a:r>
          </a:p>
          <a:p>
            <a:pPr marL="302264" lvl="1" indent="-151132" algn="just">
              <a:lnSpc>
                <a:spcPts val="1960"/>
              </a:lnSpc>
              <a:buFont typeface="Arial"/>
              <a:buChar char="•"/>
            </a:pPr>
            <a:r>
              <a:rPr lang="en-US" sz="1400">
                <a:solidFill>
                  <a:srgbClr val="000000"/>
                </a:solidFill>
                <a:latin typeface="Arial"/>
                <a:ea typeface="Arial"/>
                <a:cs typeface="Arial"/>
                <a:sym typeface="Arial"/>
              </a:rPr>
              <a:t>W5: Máy chính gửi xác nhận ghi hoàn tất về cho client.</a:t>
            </a:r>
          </a:p>
          <a:p>
            <a:pPr algn="just">
              <a:lnSpc>
                <a:spcPts val="1960"/>
              </a:lnSpc>
              <a:spcBef>
                <a:spcPct val="0"/>
              </a:spcBef>
            </a:pPr>
            <a:endParaRPr lang="en-US" sz="1400">
              <a:solidFill>
                <a:srgbClr val="000000"/>
              </a:solidFill>
              <a:latin typeface="Arial"/>
              <a:ea typeface="Arial"/>
              <a:cs typeface="Arial"/>
              <a:sym typeface="Arial"/>
            </a:endParaRPr>
          </a:p>
        </p:txBody>
      </p:sp>
      <p:sp>
        <p:nvSpPr>
          <p:cNvPr id="7" name="TextBox 7"/>
          <p:cNvSpPr txBox="1"/>
          <p:nvPr/>
        </p:nvSpPr>
        <p:spPr>
          <a:xfrm>
            <a:off x="5915052" y="4408930"/>
            <a:ext cx="3586191" cy="764540"/>
          </a:xfrm>
          <a:prstGeom prst="rect">
            <a:avLst/>
          </a:prstGeom>
        </p:spPr>
        <p:txBody>
          <a:bodyPr lIns="0" tIns="0" rIns="0" bIns="0" rtlCol="0" anchor="t">
            <a:spAutoFit/>
          </a:bodyPr>
          <a:lstStyle/>
          <a:p>
            <a:pPr marL="302264" lvl="1" indent="-151132" algn="just">
              <a:lnSpc>
                <a:spcPts val="1960"/>
              </a:lnSpc>
              <a:buFont typeface="Arial"/>
              <a:buChar char="•"/>
            </a:pPr>
            <a:r>
              <a:rPr lang="en-US" sz="1400">
                <a:solidFill>
                  <a:srgbClr val="000000"/>
                </a:solidFill>
                <a:latin typeface="Arial"/>
                <a:ea typeface="Arial"/>
                <a:cs typeface="Arial"/>
                <a:sym typeface="Arial"/>
              </a:rPr>
              <a:t>R1: Client gửi yêu cầu đọc.</a:t>
            </a:r>
          </a:p>
          <a:p>
            <a:pPr marL="302264" lvl="1" indent="-151132" algn="just">
              <a:lnSpc>
                <a:spcPts val="1960"/>
              </a:lnSpc>
              <a:buFont typeface="Arial"/>
              <a:buChar char="•"/>
            </a:pPr>
            <a:r>
              <a:rPr lang="en-US" sz="1400">
                <a:solidFill>
                  <a:srgbClr val="000000"/>
                </a:solidFill>
                <a:latin typeface="Arial"/>
                <a:ea typeface="Arial"/>
                <a:cs typeface="Arial"/>
                <a:sym typeface="Arial"/>
              </a:rPr>
              <a:t>R2: Một máy sao lưu trả lời kết quả đọc.</a:t>
            </a:r>
          </a:p>
          <a:p>
            <a:pPr algn="just">
              <a:lnSpc>
                <a:spcPts val="1960"/>
              </a:lnSpc>
              <a:spcBef>
                <a:spcPct val="0"/>
              </a:spcBef>
            </a:pPr>
            <a:endParaRPr lang="en-US" sz="1400">
              <a:solidFill>
                <a:srgbClr val="000000"/>
              </a:solidFill>
              <a:latin typeface="Arial"/>
              <a:ea typeface="Arial"/>
              <a:cs typeface="Arial"/>
              <a:sym typeface="Arial"/>
            </a:endParaRPr>
          </a:p>
        </p:txBody>
      </p:sp>
      <p:sp>
        <p:nvSpPr>
          <p:cNvPr id="8" name="Freeform 8"/>
          <p:cNvSpPr/>
          <p:nvPr/>
        </p:nvSpPr>
        <p:spPr>
          <a:xfrm>
            <a:off x="2230441" y="1716663"/>
            <a:ext cx="5292718" cy="2491228"/>
          </a:xfrm>
          <a:custGeom>
            <a:avLst/>
            <a:gdLst/>
            <a:ahLst/>
            <a:cxnLst/>
            <a:rect l="l" t="t" r="r" b="b"/>
            <a:pathLst>
              <a:path w="5292718" h="2491228">
                <a:moveTo>
                  <a:pt x="0" y="0"/>
                </a:moveTo>
                <a:lnTo>
                  <a:pt x="5292718" y="0"/>
                </a:lnTo>
                <a:lnTo>
                  <a:pt x="5292718" y="2491227"/>
                </a:lnTo>
                <a:lnTo>
                  <a:pt x="0" y="2491227"/>
                </a:lnTo>
                <a:lnTo>
                  <a:pt x="0" y="0"/>
                </a:lnTo>
                <a:close/>
              </a:path>
            </a:pathLst>
          </a:custGeom>
          <a:blipFill>
            <a:blip r:embed="rId3"/>
            <a:stretch>
              <a:fillRect/>
            </a:stretch>
          </a:blipFill>
        </p:spPr>
      </p:sp>
      <p:sp>
        <p:nvSpPr>
          <p:cNvPr id="9" name="TextBox 9"/>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Giao thức dựa trên máy chính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1336822" y="4323108"/>
            <a:ext cx="6876378" cy="2174008"/>
          </a:xfrm>
          <a:custGeom>
            <a:avLst/>
            <a:gdLst/>
            <a:ahLst/>
            <a:cxnLst/>
            <a:rect l="l" t="t" r="r" b="b"/>
            <a:pathLst>
              <a:path w="6876378" h="2174008">
                <a:moveTo>
                  <a:pt x="0" y="0"/>
                </a:moveTo>
                <a:lnTo>
                  <a:pt x="6876378" y="0"/>
                </a:lnTo>
                <a:lnTo>
                  <a:pt x="6876378" y="2174008"/>
                </a:lnTo>
                <a:lnTo>
                  <a:pt x="0" y="2174008"/>
                </a:lnTo>
                <a:lnTo>
                  <a:pt x="0" y="0"/>
                </a:lnTo>
                <a:close/>
              </a:path>
            </a:pathLst>
          </a:custGeom>
          <a:blipFill>
            <a:blip r:embed="rId3"/>
            <a:stretch>
              <a:fillRect/>
            </a:stretch>
          </a:blipFill>
        </p:spPr>
      </p:sp>
      <p:sp>
        <p:nvSpPr>
          <p:cNvPr id="5" name="TextBox 5"/>
          <p:cNvSpPr txBox="1"/>
          <p:nvPr/>
        </p:nvSpPr>
        <p:spPr>
          <a:xfrm>
            <a:off x="290456" y="1263272"/>
            <a:ext cx="9172687" cy="453390"/>
          </a:xfrm>
          <a:prstGeom prst="rect">
            <a:avLst/>
          </a:prstGeom>
        </p:spPr>
        <p:txBody>
          <a:bodyPr lIns="0" tIns="0" rIns="0" bIns="0" rtlCol="0" anchor="t">
            <a:spAutoFit/>
          </a:bodyPr>
          <a:lstStyle/>
          <a:p>
            <a:pPr algn="just">
              <a:lnSpc>
                <a:spcPts val="3359"/>
              </a:lnSpc>
              <a:spcBef>
                <a:spcPct val="0"/>
              </a:spcBef>
            </a:pPr>
            <a:r>
              <a:rPr lang="en-US" sz="2399" b="1">
                <a:solidFill>
                  <a:srgbClr val="000000"/>
                </a:solidFill>
                <a:latin typeface="Arial Bold"/>
                <a:ea typeface="Arial Bold"/>
                <a:cs typeface="Arial Bold"/>
                <a:sym typeface="Arial Bold"/>
              </a:rPr>
              <a:t>Giao thức dựa trên tập hợp biểu quyết</a:t>
            </a:r>
          </a:p>
        </p:txBody>
      </p:sp>
      <p:sp>
        <p:nvSpPr>
          <p:cNvPr id="6" name="TextBox 6"/>
          <p:cNvSpPr txBox="1"/>
          <p:nvPr/>
        </p:nvSpPr>
        <p:spPr>
          <a:xfrm>
            <a:off x="290456" y="1806532"/>
            <a:ext cx="9172687" cy="3095625"/>
          </a:xfrm>
          <a:prstGeom prst="rect">
            <a:avLst/>
          </a:prstGeom>
        </p:spPr>
        <p:txBody>
          <a:bodyPr lIns="0" tIns="0" rIns="0" bIns="0" rtlCol="0" anchor="t">
            <a:spAutoFit/>
          </a:bodyPr>
          <a:lstStyle/>
          <a:p>
            <a:pPr algn="just">
              <a:lnSpc>
                <a:spcPts val="2940"/>
              </a:lnSpc>
            </a:pPr>
            <a:r>
              <a:rPr lang="en-US" sz="2100">
                <a:solidFill>
                  <a:srgbClr val="000000"/>
                </a:solidFill>
                <a:latin typeface="Arial"/>
                <a:ea typeface="Arial"/>
                <a:cs typeface="Arial"/>
                <a:sym typeface="Arial"/>
              </a:rPr>
              <a:t>Giả sử có N bản sao (replicas). Đảm bảo rằng mỗi thao tác được thực hiện theo cách thiết lập quy tắc đa số. Phân biệt giữa: N(R) –Tập bản sao cần truy vấn khi đọc và N(W) – Tập bản sao cần ghi khi cập nhật.</a:t>
            </a:r>
          </a:p>
          <a:p>
            <a:pPr algn="just">
              <a:lnSpc>
                <a:spcPts val="2940"/>
              </a:lnSpc>
            </a:pPr>
            <a:r>
              <a:rPr lang="en-US" sz="2100" b="1">
                <a:solidFill>
                  <a:srgbClr val="000000"/>
                </a:solidFill>
                <a:latin typeface="Arial Bold"/>
                <a:ea typeface="Arial Bold"/>
                <a:cs typeface="Arial Bold"/>
                <a:sym typeface="Arial Bold"/>
              </a:rPr>
              <a:t>Điều kiện cần đảm bảo</a:t>
            </a:r>
            <a:r>
              <a:rPr lang="en-US" sz="2100">
                <a:solidFill>
                  <a:srgbClr val="000000"/>
                </a:solidFill>
                <a:latin typeface="Arial"/>
                <a:ea typeface="Arial"/>
                <a:cs typeface="Arial"/>
                <a:sym typeface="Arial"/>
              </a:rPr>
              <a:t>:</a:t>
            </a:r>
          </a:p>
          <a:p>
            <a:pPr marL="453390" lvl="1" indent="-226695" algn="just">
              <a:lnSpc>
                <a:spcPts val="2940"/>
              </a:lnSpc>
              <a:buAutoNum type="arabicPeriod"/>
            </a:pPr>
            <a:r>
              <a:rPr lang="en-US" sz="2100">
                <a:solidFill>
                  <a:srgbClr val="000000"/>
                </a:solidFill>
                <a:latin typeface="Arial"/>
                <a:ea typeface="Arial"/>
                <a:cs typeface="Arial"/>
                <a:sym typeface="Arial"/>
              </a:rPr>
              <a:t>N(R) + N(W) &gt; N → Tránh xung đột đọc - ghi</a:t>
            </a:r>
          </a:p>
          <a:p>
            <a:pPr marL="453390" lvl="1" indent="-226695" algn="just">
              <a:lnSpc>
                <a:spcPts val="2940"/>
              </a:lnSpc>
              <a:buAutoNum type="arabicPeriod"/>
            </a:pPr>
            <a:r>
              <a:rPr lang="en-US" sz="2100">
                <a:solidFill>
                  <a:srgbClr val="000000"/>
                </a:solidFill>
                <a:latin typeface="Arial"/>
                <a:ea typeface="Arial"/>
                <a:cs typeface="Arial"/>
                <a:sym typeface="Arial"/>
              </a:rPr>
              <a:t>N(W) &gt; N / 2 → Tránh xung đột ghi - ghi</a:t>
            </a:r>
          </a:p>
          <a:p>
            <a:pPr algn="just">
              <a:lnSpc>
                <a:spcPts val="3359"/>
              </a:lnSpc>
              <a:spcBef>
                <a:spcPct val="0"/>
              </a:spcBef>
            </a:pPr>
            <a:endParaRPr lang="en-US" sz="2100">
              <a:solidFill>
                <a:srgbClr val="000000"/>
              </a:solidFill>
              <a:latin typeface="Arial"/>
              <a:ea typeface="Arial"/>
              <a:cs typeface="Arial"/>
              <a:sym typeface="Arial"/>
            </a:endParaRPr>
          </a:p>
          <a:p>
            <a:pPr algn="just">
              <a:lnSpc>
                <a:spcPts val="3359"/>
              </a:lnSpc>
              <a:spcBef>
                <a:spcPct val="0"/>
              </a:spcBef>
            </a:pPr>
            <a:endParaRPr lang="en-US" sz="2100">
              <a:solidFill>
                <a:srgbClr val="000000"/>
              </a:solidFill>
              <a:latin typeface="Arial"/>
              <a:ea typeface="Arial"/>
              <a:cs typeface="Arial"/>
              <a:sym typeface="Arial"/>
            </a:endParaRPr>
          </a:p>
        </p:txBody>
      </p:sp>
      <p:sp>
        <p:nvSpPr>
          <p:cNvPr id="7" name="TextBox 7"/>
          <p:cNvSpPr txBox="1"/>
          <p:nvPr/>
        </p:nvSpPr>
        <p:spPr>
          <a:xfrm>
            <a:off x="357131" y="254614"/>
            <a:ext cx="7700624" cy="561976"/>
          </a:xfrm>
          <a:prstGeom prst="rect">
            <a:avLst/>
          </a:prstGeom>
        </p:spPr>
        <p:txBody>
          <a:bodyPr lIns="0" tIns="0" rIns="0" bIns="0" rtlCol="0" anchor="t">
            <a:spAutoFit/>
          </a:bodyPr>
          <a:lstStyle/>
          <a:p>
            <a:pPr algn="l">
              <a:lnSpc>
                <a:spcPts val="4199"/>
              </a:lnSpc>
              <a:spcBef>
                <a:spcPct val="0"/>
              </a:spcBef>
            </a:pPr>
            <a:r>
              <a:rPr lang="en-US" sz="2999" b="1">
                <a:solidFill>
                  <a:srgbClr val="FFFF00"/>
                </a:solidFill>
                <a:latin typeface="Arial Bold"/>
                <a:ea typeface="Arial Bold"/>
                <a:cs typeface="Arial Bold"/>
                <a:sym typeface="Arial Bold"/>
              </a:rPr>
              <a:t>Giao thức ghi dữ liệu trên bản sao</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88"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Tính nhất quán liên tục: Sai số số học</a:t>
            </a:r>
          </a:p>
        </p:txBody>
      </p:sp>
      <p:sp>
        <p:nvSpPr>
          <p:cNvPr id="5" name="TextBox 5"/>
          <p:cNvSpPr txBox="1"/>
          <p:nvPr/>
        </p:nvSpPr>
        <p:spPr>
          <a:xfrm>
            <a:off x="290456" y="1520447"/>
            <a:ext cx="9172687" cy="506349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Arial Bold"/>
                <a:ea typeface="Arial Bold"/>
                <a:cs typeface="Arial Bold"/>
                <a:sym typeface="Arial Bold"/>
              </a:rPr>
              <a:t>Hoạt động chính</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Mỗi máy chủ Si có một nhật ký (log) được ký hiệu là Li​.</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Xét một mục dữ liệu x và để val(W) biểu thị sự thay đổi số học của nó sau một thao tác ghi W. Giả sử rằng:</a:t>
            </a:r>
          </a:p>
          <a:p>
            <a:pPr algn="l">
              <a:lnSpc>
                <a:spcPts val="3359"/>
              </a:lnSpc>
              <a:spcBef>
                <a:spcPct val="0"/>
              </a:spcBef>
            </a:pPr>
            <a:r>
              <a:rPr lang="en-US" sz="2399">
                <a:solidFill>
                  <a:srgbClr val="000000"/>
                </a:solidFill>
                <a:latin typeface="Arial"/>
                <a:ea typeface="Arial"/>
                <a:cs typeface="Arial"/>
                <a:sym typeface="Arial"/>
              </a:rPr>
              <a:t>                                      ∀W: val(W)&gt;0</a:t>
            </a:r>
          </a:p>
          <a:p>
            <a:pPr algn="l">
              <a:lnSpc>
                <a:spcPts val="3359"/>
              </a:lnSpc>
              <a:spcBef>
                <a:spcPct val="0"/>
              </a:spcBef>
            </a:pPr>
            <a:r>
              <a:rPr lang="en-US" sz="2399">
                <a:solidFill>
                  <a:srgbClr val="000000"/>
                </a:solidFill>
                <a:latin typeface="Arial"/>
                <a:ea typeface="Arial"/>
                <a:cs typeface="Arial"/>
                <a:sym typeface="Arial"/>
              </a:rPr>
              <a:t> (tức là mọi thao tác ghi đều làm tăng giá trị của x).</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Mỗi thao tác ghi W ban đầu sẽ được gửi tới một trong số N bản sao, được gọi là origin(W) (máy chủ nguồn phát sinh thao tác ghi đó).</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TW[i,j] là tổng các thao tác ghi được thực thi bởi máy chủ Si mà có nguồn gốc từ máy chủ Sj:</a:t>
            </a:r>
          </a:p>
          <a:p>
            <a:pPr algn="l">
              <a:lnSpc>
                <a:spcPts val="3359"/>
              </a:lnSpc>
              <a:spcBef>
                <a:spcPct val="0"/>
              </a:spcBef>
            </a:pPr>
            <a:r>
              <a:rPr lang="en-US" sz="2399">
                <a:solidFill>
                  <a:srgbClr val="000000"/>
                </a:solidFill>
                <a:latin typeface="Arial"/>
                <a:ea typeface="Arial"/>
                <a:cs typeface="Arial"/>
                <a:sym typeface="Arial"/>
              </a:rPr>
              <a:t>                             TW[i,j]=∑{val(W)∣origin(W)=Sj&amp;W∈Li}</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1408168" y="1246290"/>
            <a:ext cx="6937264" cy="3816460"/>
          </a:xfrm>
          <a:custGeom>
            <a:avLst/>
            <a:gdLst/>
            <a:ahLst/>
            <a:cxnLst/>
            <a:rect l="l" t="t" r="r" b="b"/>
            <a:pathLst>
              <a:path w="6937264" h="3816460">
                <a:moveTo>
                  <a:pt x="0" y="0"/>
                </a:moveTo>
                <a:lnTo>
                  <a:pt x="6937264" y="0"/>
                </a:lnTo>
                <a:lnTo>
                  <a:pt x="6937264" y="3816460"/>
                </a:lnTo>
                <a:lnTo>
                  <a:pt x="0" y="3816460"/>
                </a:lnTo>
                <a:lnTo>
                  <a:pt x="0" y="0"/>
                </a:lnTo>
                <a:close/>
              </a:path>
            </a:pathLst>
          </a:custGeom>
          <a:blipFill>
            <a:blip r:embed="rId3"/>
            <a:stretch>
              <a:fillRect l="-1146" r="-376" b="-7033"/>
            </a:stretch>
          </a:blipFill>
        </p:spPr>
      </p:sp>
      <p:sp>
        <p:nvSpPr>
          <p:cNvPr id="5" name="TextBox 5"/>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Tính nhất quán liên tục: Sai số số học</a:t>
            </a:r>
          </a:p>
        </p:txBody>
      </p:sp>
      <p:sp>
        <p:nvSpPr>
          <p:cNvPr id="6" name="TextBox 6"/>
          <p:cNvSpPr txBox="1"/>
          <p:nvPr/>
        </p:nvSpPr>
        <p:spPr>
          <a:xfrm>
            <a:off x="245824" y="5141749"/>
            <a:ext cx="9261952" cy="1982577"/>
          </a:xfrm>
          <a:prstGeom prst="rect">
            <a:avLst/>
          </a:prstGeom>
        </p:spPr>
        <p:txBody>
          <a:bodyPr lIns="0" tIns="0" rIns="0" bIns="0" rtlCol="0" anchor="t">
            <a:spAutoFit/>
          </a:bodyPr>
          <a:lstStyle/>
          <a:p>
            <a:pPr marL="474979" lvl="1" indent="-237490" algn="l">
              <a:lnSpc>
                <a:spcPts val="3079"/>
              </a:lnSpc>
              <a:spcBef>
                <a:spcPct val="0"/>
              </a:spcBef>
              <a:buFont typeface="Arial"/>
              <a:buChar char="•"/>
            </a:pPr>
            <a:r>
              <a:rPr lang="en-US" sz="2199">
                <a:solidFill>
                  <a:srgbClr val="000000"/>
                </a:solidFill>
                <a:latin typeface="Arial"/>
                <a:ea typeface="Arial"/>
                <a:cs typeface="Arial"/>
                <a:sym typeface="Arial"/>
              </a:rPr>
              <a:t>Giá trị thực tế v(t) của dữ liệu x tại thời điểm t: Bằng giá trị khởi tạo ban đầu Vinit​ cộng với tổng tất cả các giá trị cập nhật (ghi) được thực hiện bởi tất cả các máy chủ.</a:t>
            </a:r>
          </a:p>
          <a:p>
            <a:pPr marL="474979" lvl="1" indent="-237490" algn="l">
              <a:lnSpc>
                <a:spcPts val="3079"/>
              </a:lnSpc>
              <a:spcBef>
                <a:spcPct val="0"/>
              </a:spcBef>
              <a:buFont typeface="Arial"/>
              <a:buChar char="•"/>
            </a:pPr>
            <a:r>
              <a:rPr lang="en-US" sz="2199">
                <a:solidFill>
                  <a:srgbClr val="000000"/>
                </a:solidFill>
                <a:latin typeface="Arial"/>
                <a:ea typeface="Arial"/>
                <a:cs typeface="Arial"/>
                <a:sym typeface="Arial"/>
              </a:rPr>
              <a:t>Giá trị vi của dữ liệu x tại máy chủ Si: Bằng giá trị khởi tạo ban đầu cộng với tổng các thao tác ghi mà máy chủ Si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Tính nhất quán liên tục: Sai số số học</a:t>
            </a:r>
          </a:p>
        </p:txBody>
      </p:sp>
      <p:sp>
        <p:nvSpPr>
          <p:cNvPr id="5" name="TextBox 5"/>
          <p:cNvSpPr txBox="1"/>
          <p:nvPr/>
        </p:nvSpPr>
        <p:spPr>
          <a:xfrm>
            <a:off x="218510" y="1652110"/>
            <a:ext cx="9316580" cy="4716402"/>
          </a:xfrm>
          <a:prstGeom prst="rect">
            <a:avLst/>
          </a:prstGeom>
        </p:spPr>
        <p:txBody>
          <a:bodyPr lIns="0" tIns="0" rIns="0" bIns="0" rtlCol="0" anchor="t">
            <a:spAutoFit/>
          </a:bodyPr>
          <a:lstStyle/>
          <a:p>
            <a:pPr algn="l">
              <a:lnSpc>
                <a:spcPts val="3079"/>
              </a:lnSpc>
              <a:spcBef>
                <a:spcPct val="0"/>
              </a:spcBef>
            </a:pPr>
            <a:r>
              <a:rPr lang="en-US" sz="2199" b="1">
                <a:solidFill>
                  <a:srgbClr val="000000"/>
                </a:solidFill>
                <a:latin typeface="Arial Bold"/>
                <a:ea typeface="Arial Bold"/>
                <a:cs typeface="Arial Bold"/>
                <a:sym typeface="Arial Bold"/>
              </a:rPr>
              <a:t>Vấn đề (Problem)</a:t>
            </a:r>
          </a:p>
          <a:p>
            <a:pPr marL="474979" lvl="1" indent="-237490" algn="l">
              <a:lnSpc>
                <a:spcPts val="3079"/>
              </a:lnSpc>
              <a:spcBef>
                <a:spcPct val="0"/>
              </a:spcBef>
              <a:buFont typeface="Arial"/>
              <a:buChar char="•"/>
            </a:pPr>
            <a:r>
              <a:rPr lang="en-US" sz="2199">
                <a:solidFill>
                  <a:srgbClr val="000000"/>
                </a:solidFill>
                <a:latin typeface="Arial"/>
                <a:ea typeface="Arial"/>
                <a:cs typeface="Arial"/>
                <a:sym typeface="Arial"/>
              </a:rPr>
              <a:t>Chúng ta cần đảm bảo rằng:</a:t>
            </a:r>
          </a:p>
          <a:p>
            <a:pPr algn="l">
              <a:lnSpc>
                <a:spcPts val="3079"/>
              </a:lnSpc>
              <a:spcBef>
                <a:spcPct val="0"/>
              </a:spcBef>
            </a:pPr>
            <a:r>
              <a:rPr lang="en-US" sz="2199">
                <a:solidFill>
                  <a:srgbClr val="000000"/>
                </a:solidFill>
                <a:latin typeface="Arial"/>
                <a:ea typeface="Arial"/>
                <a:cs typeface="Arial"/>
                <a:sym typeface="Arial"/>
              </a:rPr>
              <a:t>                                          v(t)−vi&lt;δi </a:t>
            </a:r>
          </a:p>
          <a:p>
            <a:pPr algn="l">
              <a:lnSpc>
                <a:spcPts val="3079"/>
              </a:lnSpc>
              <a:spcBef>
                <a:spcPct val="0"/>
              </a:spcBef>
            </a:pPr>
            <a:r>
              <a:rPr lang="en-US" sz="2199">
                <a:solidFill>
                  <a:srgbClr val="000000"/>
                </a:solidFill>
                <a:latin typeface="Arial"/>
                <a:ea typeface="Arial"/>
                <a:cs typeface="Arial"/>
                <a:sym typeface="Arial"/>
              </a:rPr>
              <a:t>          đối với mọi máy chủ Si.</a:t>
            </a:r>
          </a:p>
          <a:p>
            <a:pPr algn="l">
              <a:lnSpc>
                <a:spcPts val="3079"/>
              </a:lnSpc>
              <a:spcBef>
                <a:spcPct val="0"/>
              </a:spcBef>
            </a:pPr>
            <a:r>
              <a:rPr lang="en-US" sz="2199">
                <a:solidFill>
                  <a:srgbClr val="000000"/>
                </a:solidFill>
                <a:latin typeface="Arial"/>
                <a:ea typeface="Arial"/>
                <a:cs typeface="Arial"/>
                <a:sym typeface="Arial"/>
              </a:rPr>
              <a:t> (Tức là giá trị thực tế v(t) và giá trị cục bộ vi​ tại mỗi máy chủ không được lệch quá ngưỡng sai số cho phép δi).</a:t>
            </a:r>
          </a:p>
          <a:p>
            <a:pPr algn="l">
              <a:lnSpc>
                <a:spcPts val="3079"/>
              </a:lnSpc>
              <a:spcBef>
                <a:spcPct val="0"/>
              </a:spcBef>
            </a:pPr>
            <a:endParaRPr lang="en-US" sz="2199">
              <a:solidFill>
                <a:srgbClr val="000000"/>
              </a:solidFill>
              <a:latin typeface="Arial"/>
              <a:ea typeface="Arial"/>
              <a:cs typeface="Arial"/>
              <a:sym typeface="Arial"/>
            </a:endParaRPr>
          </a:p>
          <a:p>
            <a:pPr algn="l">
              <a:lnSpc>
                <a:spcPts val="3079"/>
              </a:lnSpc>
              <a:spcBef>
                <a:spcPct val="0"/>
              </a:spcBef>
            </a:pPr>
            <a:r>
              <a:rPr lang="en-US" sz="2199" b="1">
                <a:solidFill>
                  <a:srgbClr val="000000"/>
                </a:solidFill>
                <a:latin typeface="Arial Bold"/>
                <a:ea typeface="Arial Bold"/>
                <a:cs typeface="Arial Bold"/>
                <a:sym typeface="Arial Bold"/>
              </a:rPr>
              <a:t>Cách tiếp cận (Approach)</a:t>
            </a:r>
          </a:p>
          <a:p>
            <a:pPr marL="474979" lvl="1" indent="-237490" algn="l">
              <a:lnSpc>
                <a:spcPts val="3079"/>
              </a:lnSpc>
              <a:spcBef>
                <a:spcPct val="0"/>
              </a:spcBef>
              <a:buFont typeface="Arial"/>
              <a:buChar char="•"/>
            </a:pPr>
            <a:r>
              <a:rPr lang="en-US" sz="2199">
                <a:solidFill>
                  <a:srgbClr val="000000"/>
                </a:solidFill>
                <a:latin typeface="Arial"/>
                <a:ea typeface="Arial"/>
                <a:cs typeface="Arial"/>
                <a:sym typeface="Arial"/>
              </a:rPr>
              <a:t>Cho mỗi máy chủ Sk​ duy trì một cái nhìn (view) TWk[i,j] — tức là giá trị mà Sk tin rằng là giá trị hiện tại của TW[i,j].</a:t>
            </a:r>
          </a:p>
          <a:p>
            <a:pPr marL="474979" lvl="1" indent="-237490" algn="l">
              <a:lnSpc>
                <a:spcPts val="3079"/>
              </a:lnSpc>
              <a:spcBef>
                <a:spcPct val="0"/>
              </a:spcBef>
              <a:buFont typeface="Arial"/>
              <a:buChar char="•"/>
            </a:pPr>
            <a:r>
              <a:rPr lang="en-US" sz="2199">
                <a:solidFill>
                  <a:srgbClr val="000000"/>
                </a:solidFill>
                <a:latin typeface="Arial"/>
                <a:ea typeface="Arial"/>
                <a:cs typeface="Arial"/>
                <a:sym typeface="Arial"/>
              </a:rPr>
              <a:t>Thông tin này có thể được truyền theo kiểu gossip (đồn đại) khi một bản cập nhật được lan truyền giữa các máy chủ.</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Tính nhất quán liên tục: Sai số số học</a:t>
            </a:r>
          </a:p>
        </p:txBody>
      </p:sp>
      <p:sp>
        <p:nvSpPr>
          <p:cNvPr id="5" name="TextBox 5"/>
          <p:cNvSpPr txBox="1"/>
          <p:nvPr/>
        </p:nvSpPr>
        <p:spPr>
          <a:xfrm>
            <a:off x="345974" y="1706976"/>
            <a:ext cx="9280161" cy="3805997"/>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Arial Bold"/>
                <a:ea typeface="Arial Bold"/>
                <a:cs typeface="Arial Bold"/>
                <a:sym typeface="Arial Bold"/>
              </a:rPr>
              <a:t>Ghi chú (Note)</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Giá trị này luôn nằm trong phạm vi:</a:t>
            </a:r>
          </a:p>
          <a:p>
            <a:pPr algn="l">
              <a:lnSpc>
                <a:spcPts val="3359"/>
              </a:lnSpc>
              <a:spcBef>
                <a:spcPct val="0"/>
              </a:spcBef>
            </a:pPr>
            <a:r>
              <a:rPr lang="en-US" sz="2399">
                <a:solidFill>
                  <a:srgbClr val="000000"/>
                </a:solidFill>
                <a:latin typeface="Arial"/>
                <a:ea typeface="Arial"/>
                <a:cs typeface="Arial"/>
                <a:sym typeface="Arial"/>
              </a:rPr>
              <a:t>                              0≤TWk[i,j]≤TW[i,j]≤TW[j,j] </a:t>
            </a:r>
          </a:p>
          <a:p>
            <a:pPr marL="518158" lvl="1" indent="-259079" algn="l">
              <a:lnSpc>
                <a:spcPts val="3359"/>
              </a:lnSpc>
              <a:spcBef>
                <a:spcPct val="0"/>
              </a:spcBef>
              <a:buFont typeface="Arial"/>
              <a:buChar char="•"/>
            </a:pPr>
            <a:r>
              <a:rPr lang="en-US" sz="2399">
                <a:solidFill>
                  <a:srgbClr val="000000"/>
                </a:solidFill>
                <a:latin typeface="Arial"/>
                <a:ea typeface="Arial"/>
                <a:cs typeface="Arial"/>
                <a:sym typeface="Arial"/>
              </a:rPr>
              <a:t>Ý nghĩa:</a:t>
            </a:r>
          </a:p>
          <a:p>
            <a:pPr algn="l">
              <a:lnSpc>
                <a:spcPts val="3359"/>
              </a:lnSpc>
              <a:spcBef>
                <a:spcPct val="0"/>
              </a:spcBef>
            </a:pPr>
            <a:r>
              <a:rPr lang="en-US" sz="2399">
                <a:solidFill>
                  <a:srgbClr val="000000"/>
                </a:solidFill>
                <a:latin typeface="Arial"/>
                <a:ea typeface="Arial"/>
                <a:cs typeface="Arial"/>
                <a:sym typeface="Arial"/>
              </a:rPr>
              <a:t>        + TWk[i,j]: cái mà Sk​ tin là Si​ đã thực hiện bao nhiêu ghi từ Sj​.</a:t>
            </a:r>
          </a:p>
          <a:p>
            <a:pPr algn="l">
              <a:lnSpc>
                <a:spcPts val="3359"/>
              </a:lnSpc>
              <a:spcBef>
                <a:spcPct val="0"/>
              </a:spcBef>
            </a:pPr>
            <a:r>
              <a:rPr lang="en-US" sz="2399">
                <a:solidFill>
                  <a:srgbClr val="000000"/>
                </a:solidFill>
                <a:latin typeface="Arial"/>
                <a:ea typeface="Arial"/>
                <a:cs typeface="Arial"/>
                <a:sym typeface="Arial"/>
              </a:rPr>
              <a:t>        + TW[i,j]: giá trị thực tế tại Si​ của các ghi từ Sj​.</a:t>
            </a:r>
          </a:p>
          <a:p>
            <a:pPr algn="l">
              <a:lnSpc>
                <a:spcPts val="3359"/>
              </a:lnSpc>
              <a:spcBef>
                <a:spcPct val="0"/>
              </a:spcBef>
            </a:pPr>
            <a:r>
              <a:rPr lang="en-US" sz="2399">
                <a:solidFill>
                  <a:srgbClr val="000000"/>
                </a:solidFill>
                <a:latin typeface="Arial"/>
                <a:ea typeface="Arial"/>
                <a:cs typeface="Arial"/>
                <a:sym typeface="Arial"/>
              </a:rPr>
              <a:t>        + TW[j,j]: tổng số ghi mà Sj​ đã phát sinh.</a:t>
            </a:r>
          </a:p>
          <a:p>
            <a:pPr algn="l">
              <a:lnSpc>
                <a:spcPts val="3359"/>
              </a:lnSpc>
              <a:spcBef>
                <a:spcPct val="0"/>
              </a:spcBef>
            </a:pPr>
            <a:r>
              <a:rPr lang="en-US" sz="2399">
                <a:solidFill>
                  <a:srgbClr val="000000"/>
                </a:solidFill>
                <a:latin typeface="Arial"/>
                <a:ea typeface="Arial"/>
                <a:cs typeface="Arial"/>
                <a:sym typeface="Arial"/>
              </a:rPr>
              <a:t>=&gt; Điều này giúp theo dõi độ lệch và quyết định khi nào cần đồng bộ dữ liệu để giữ sai số nhỏ hơn δi.</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0" y="1733181"/>
            <a:ext cx="9753600" cy="2279904"/>
          </a:xfrm>
          <a:custGeom>
            <a:avLst/>
            <a:gdLst/>
            <a:ahLst/>
            <a:cxnLst/>
            <a:rect l="l" t="t" r="r" b="b"/>
            <a:pathLst>
              <a:path w="9753600" h="2279904">
                <a:moveTo>
                  <a:pt x="0" y="0"/>
                </a:moveTo>
                <a:lnTo>
                  <a:pt x="9753600" y="0"/>
                </a:lnTo>
                <a:lnTo>
                  <a:pt x="9753600" y="2279904"/>
                </a:lnTo>
                <a:lnTo>
                  <a:pt x="0" y="2279904"/>
                </a:lnTo>
                <a:lnTo>
                  <a:pt x="0" y="0"/>
                </a:lnTo>
                <a:close/>
              </a:path>
            </a:pathLst>
          </a:custGeom>
          <a:blipFill>
            <a:blip r:embed="rId3"/>
            <a:stretch>
              <a:fillRect/>
            </a:stretch>
          </a:blipFill>
        </p:spPr>
      </p:sp>
      <p:sp>
        <p:nvSpPr>
          <p:cNvPr id="5" name="TextBox 5"/>
          <p:cNvSpPr txBox="1"/>
          <p:nvPr/>
        </p:nvSpPr>
        <p:spPr>
          <a:xfrm>
            <a:off x="196892" y="4143907"/>
            <a:ext cx="9411035" cy="1237109"/>
          </a:xfrm>
          <a:prstGeom prst="rect">
            <a:avLst/>
          </a:prstGeom>
        </p:spPr>
        <p:txBody>
          <a:bodyPr lIns="0" tIns="0" rIns="0" bIns="0" rtlCol="0" anchor="t">
            <a:spAutoFit/>
          </a:bodyPr>
          <a:lstStyle/>
          <a:p>
            <a:pPr algn="l">
              <a:lnSpc>
                <a:spcPts val="3219"/>
              </a:lnSpc>
              <a:spcBef>
                <a:spcPct val="0"/>
              </a:spcBef>
            </a:pPr>
            <a:r>
              <a:rPr lang="en-US" sz="2299" b="1">
                <a:solidFill>
                  <a:srgbClr val="000000"/>
                </a:solidFill>
                <a:latin typeface="Arial Bold"/>
                <a:ea typeface="Arial Bold"/>
                <a:cs typeface="Arial Bold"/>
                <a:sym typeface="Arial Bold"/>
              </a:rPr>
              <a:t>Câu hỏi (Question)</a:t>
            </a:r>
          </a:p>
          <a:p>
            <a:pPr algn="l">
              <a:lnSpc>
                <a:spcPts val="3219"/>
              </a:lnSpc>
              <a:spcBef>
                <a:spcPct val="0"/>
              </a:spcBef>
            </a:pPr>
            <a:r>
              <a:rPr lang="en-US" sz="2299">
                <a:solidFill>
                  <a:srgbClr val="000000"/>
                </a:solidFill>
                <a:latin typeface="Arial"/>
                <a:ea typeface="Arial"/>
                <a:cs typeface="Arial"/>
                <a:sym typeface="Arial"/>
              </a:rPr>
              <a:t> Chúng ta đang bi quan đến mức nào ở đây? Nguồn gốc của biểu thức δi\N−1 ​​ là gì?</a:t>
            </a:r>
          </a:p>
        </p:txBody>
      </p:sp>
      <p:sp>
        <p:nvSpPr>
          <p:cNvPr id="6" name="TextBox 6"/>
          <p:cNvSpPr txBox="1"/>
          <p:nvPr/>
        </p:nvSpPr>
        <p:spPr>
          <a:xfrm>
            <a:off x="0" y="254614"/>
            <a:ext cx="7700624"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Tính nhất quán liên tục: Sai số số học</a:t>
            </a:r>
          </a:p>
        </p:txBody>
      </p:sp>
      <p:sp>
        <p:nvSpPr>
          <p:cNvPr id="7" name="TextBox 7"/>
          <p:cNvSpPr txBox="1"/>
          <p:nvPr/>
        </p:nvSpPr>
        <p:spPr>
          <a:xfrm>
            <a:off x="171283" y="5523891"/>
            <a:ext cx="9411035" cy="1201484"/>
          </a:xfrm>
          <a:prstGeom prst="rect">
            <a:avLst/>
          </a:prstGeom>
        </p:spPr>
        <p:txBody>
          <a:bodyPr lIns="0" tIns="0" rIns="0" bIns="0" rtlCol="0" anchor="t">
            <a:spAutoFit/>
          </a:bodyPr>
          <a:lstStyle/>
          <a:p>
            <a:pPr algn="l">
              <a:lnSpc>
                <a:spcPts val="3079"/>
              </a:lnSpc>
              <a:spcBef>
                <a:spcPct val="0"/>
              </a:spcBef>
            </a:pPr>
            <a:r>
              <a:rPr lang="en-US" sz="2199" b="1" dirty="0" err="1">
                <a:solidFill>
                  <a:srgbClr val="000000"/>
                </a:solidFill>
                <a:latin typeface="Arial Bold"/>
                <a:ea typeface="Arial Bold"/>
                <a:cs typeface="Arial Bold"/>
                <a:sym typeface="Arial Bold"/>
              </a:rPr>
              <a:t>Ghi</a:t>
            </a:r>
            <a:r>
              <a:rPr lang="en-US" sz="2199" b="1" dirty="0">
                <a:solidFill>
                  <a:srgbClr val="000000"/>
                </a:solidFill>
                <a:latin typeface="Arial Bold"/>
                <a:ea typeface="Arial Bold"/>
                <a:cs typeface="Arial Bold"/>
                <a:sym typeface="Arial Bold"/>
              </a:rPr>
              <a:t> </a:t>
            </a:r>
            <a:r>
              <a:rPr lang="en-US" sz="2199" b="1" dirty="0" err="1">
                <a:solidFill>
                  <a:srgbClr val="000000"/>
                </a:solidFill>
                <a:latin typeface="Arial Bold"/>
                <a:ea typeface="Arial Bold"/>
                <a:cs typeface="Arial Bold"/>
                <a:sym typeface="Arial Bold"/>
              </a:rPr>
              <a:t>chú</a:t>
            </a:r>
            <a:r>
              <a:rPr lang="en-US" sz="2199" b="1" dirty="0">
                <a:solidFill>
                  <a:srgbClr val="000000"/>
                </a:solidFill>
                <a:latin typeface="Arial Bold"/>
                <a:ea typeface="Arial Bold"/>
                <a:cs typeface="Arial Bold"/>
                <a:sym typeface="Arial Bold"/>
              </a:rPr>
              <a:t> (Note)</a:t>
            </a:r>
          </a:p>
          <a:p>
            <a:pPr algn="l">
              <a:lnSpc>
                <a:spcPts val="3079"/>
              </a:lnSpc>
              <a:spcBef>
                <a:spcPct val="0"/>
              </a:spcBef>
            </a:pP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Việc</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kiểm</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soát</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độ</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cũ</a:t>
            </a:r>
            <a:r>
              <a:rPr lang="en-US" sz="2199" dirty="0">
                <a:solidFill>
                  <a:srgbClr val="000000"/>
                </a:solidFill>
                <a:latin typeface="Arial"/>
                <a:ea typeface="Arial"/>
                <a:cs typeface="Arial"/>
                <a:sym typeface="Arial"/>
              </a:rPr>
              <a:t> (staleness) </a:t>
            </a:r>
            <a:r>
              <a:rPr lang="en-US" sz="2199" dirty="0" err="1">
                <a:solidFill>
                  <a:srgbClr val="000000"/>
                </a:solidFill>
                <a:latin typeface="Arial"/>
                <a:ea typeface="Arial"/>
                <a:cs typeface="Arial"/>
                <a:sym typeface="Arial"/>
              </a:rPr>
              <a:t>có</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thể</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được</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thực</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hiện</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tương</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tự</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bằng</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cách</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theo</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dõi</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lần</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cuối</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cùng</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đã</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thấy</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gì</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từ</a:t>
            </a:r>
            <a:r>
              <a:rPr lang="en-US" sz="2199" dirty="0">
                <a:solidFill>
                  <a:srgbClr val="000000"/>
                </a:solidFill>
                <a:latin typeface="Arial"/>
                <a:ea typeface="Arial"/>
                <a:cs typeface="Arial"/>
                <a:sym typeface="Arial"/>
              </a:rPr>
              <a:t> Si, </a:t>
            </a:r>
            <a:r>
              <a:rPr lang="en-US" sz="2199" dirty="0" err="1">
                <a:solidFill>
                  <a:srgbClr val="000000"/>
                </a:solidFill>
                <a:latin typeface="Arial"/>
                <a:ea typeface="Arial"/>
                <a:cs typeface="Arial"/>
                <a:sym typeface="Arial"/>
              </a:rPr>
              <a:t>như</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được</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mô</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tả</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trong</a:t>
            </a:r>
            <a:r>
              <a:rPr lang="en-US" sz="2199" dirty="0">
                <a:solidFill>
                  <a:srgbClr val="000000"/>
                </a:solidFill>
                <a:latin typeface="Arial"/>
                <a:ea typeface="Arial"/>
                <a:cs typeface="Arial"/>
                <a:sym typeface="Arial"/>
              </a:rPr>
              <a:t> </a:t>
            </a:r>
            <a:r>
              <a:rPr lang="en-US" sz="2199" dirty="0" err="1">
                <a:solidFill>
                  <a:srgbClr val="000000"/>
                </a:solidFill>
                <a:latin typeface="Arial"/>
                <a:ea typeface="Arial"/>
                <a:cs typeface="Arial"/>
                <a:sym typeface="Arial"/>
              </a:rPr>
              <a:t>sách</a:t>
            </a:r>
            <a:r>
              <a:rPr lang="en-US" sz="2199" dirty="0">
                <a:solidFill>
                  <a:srgbClr val="000000"/>
                </a:solidFill>
                <a:latin typeface="Arial"/>
                <a:ea typeface="Arial"/>
                <a:cs typeface="Arial"/>
                <a:sym typeface="Arial"/>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49761" y="169544"/>
            <a:ext cx="8052272"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Triển khai tính nhất quán hướng máy khách </a:t>
            </a:r>
          </a:p>
        </p:txBody>
      </p:sp>
      <p:sp>
        <p:nvSpPr>
          <p:cNvPr id="5" name="TextBox 5"/>
          <p:cNvSpPr txBox="1"/>
          <p:nvPr/>
        </p:nvSpPr>
        <p:spPr>
          <a:xfrm>
            <a:off x="249761" y="1636605"/>
            <a:ext cx="9189115" cy="3237573"/>
          </a:xfrm>
          <a:prstGeom prst="rect">
            <a:avLst/>
          </a:prstGeom>
        </p:spPr>
        <p:txBody>
          <a:bodyPr lIns="0" tIns="0" rIns="0" bIns="0" rtlCol="0" anchor="t">
            <a:spAutoFit/>
          </a:bodyPr>
          <a:lstStyle/>
          <a:p>
            <a:pPr algn="l">
              <a:lnSpc>
                <a:spcPts val="3219"/>
              </a:lnSpc>
              <a:spcBef>
                <a:spcPct val="0"/>
              </a:spcBef>
            </a:pPr>
            <a:r>
              <a:rPr lang="en-US" sz="2299" b="1">
                <a:solidFill>
                  <a:srgbClr val="000000"/>
                </a:solidFill>
                <a:latin typeface="Arial Bold"/>
                <a:ea typeface="Arial Bold"/>
                <a:cs typeface="Arial Bold"/>
                <a:sym typeface="Arial Bold"/>
              </a:rPr>
              <a:t>Cách tiếp cận đơn giản</a:t>
            </a:r>
          </a:p>
          <a:p>
            <a:pPr algn="l">
              <a:lnSpc>
                <a:spcPts val="3219"/>
              </a:lnSpc>
              <a:spcBef>
                <a:spcPct val="0"/>
              </a:spcBef>
            </a:pPr>
            <a:r>
              <a:rPr lang="en-US" sz="2299">
                <a:solidFill>
                  <a:srgbClr val="000000"/>
                </a:solidFill>
                <a:latin typeface="Arial"/>
                <a:ea typeface="Arial"/>
                <a:cs typeface="Arial"/>
                <a:sym typeface="Arial"/>
              </a:rPr>
              <a:t>Mỗi thao tác ghi (W) được gán một định danh duy nhất toàn cục bởi máy chủ nguồn (nơi khởi tạo W). Với mỗi máy khách, chúng ta theo dõi hai tập hợp thao tác ghi:</a:t>
            </a:r>
          </a:p>
          <a:p>
            <a:pPr marL="496569" lvl="1" indent="-248284" algn="l">
              <a:lnSpc>
                <a:spcPts val="3219"/>
              </a:lnSpc>
              <a:spcBef>
                <a:spcPct val="0"/>
              </a:spcBef>
              <a:buFont typeface="Arial"/>
              <a:buChar char="•"/>
            </a:pPr>
            <a:r>
              <a:rPr lang="en-US" sz="2299">
                <a:solidFill>
                  <a:srgbClr val="000000"/>
                </a:solidFill>
                <a:latin typeface="Arial"/>
                <a:ea typeface="Arial"/>
                <a:cs typeface="Arial"/>
                <a:sym typeface="Arial"/>
              </a:rPr>
              <a:t>Tập đọc (Read set): Chứa các định danh của thao tác ghi liên quan đến các thao tác đọc mà máy khách đã thực hiện.</a:t>
            </a:r>
          </a:p>
          <a:p>
            <a:pPr marL="496569" lvl="1" indent="-248284" algn="l">
              <a:lnSpc>
                <a:spcPts val="3219"/>
              </a:lnSpc>
              <a:spcBef>
                <a:spcPct val="0"/>
              </a:spcBef>
              <a:buFont typeface="Arial"/>
              <a:buChar char="•"/>
            </a:pPr>
            <a:r>
              <a:rPr lang="en-US" sz="2299">
                <a:solidFill>
                  <a:srgbClr val="000000"/>
                </a:solidFill>
                <a:latin typeface="Arial"/>
                <a:ea typeface="Arial"/>
                <a:cs typeface="Arial"/>
                <a:sym typeface="Arial"/>
              </a:rPr>
              <a:t>Tập ghi (Write set): Chứa các định danh của thao tác ghi do chính máy khách thực hiện.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49761" y="169544"/>
            <a:ext cx="8052272"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Triển khai tính nhất quán hướng máy khách </a:t>
            </a:r>
          </a:p>
        </p:txBody>
      </p:sp>
      <p:sp>
        <p:nvSpPr>
          <p:cNvPr id="5" name="TextBox 5"/>
          <p:cNvSpPr txBox="1"/>
          <p:nvPr/>
        </p:nvSpPr>
        <p:spPr>
          <a:xfrm>
            <a:off x="249761" y="1791142"/>
            <a:ext cx="9225534" cy="4437852"/>
          </a:xfrm>
          <a:prstGeom prst="rect">
            <a:avLst/>
          </a:prstGeom>
        </p:spPr>
        <p:txBody>
          <a:bodyPr lIns="0" tIns="0" rIns="0" bIns="0" rtlCol="0" anchor="t">
            <a:spAutoFit/>
          </a:bodyPr>
          <a:lstStyle/>
          <a:p>
            <a:pPr marL="496569" lvl="1" indent="-248284" algn="l">
              <a:lnSpc>
                <a:spcPts val="3219"/>
              </a:lnSpc>
              <a:spcBef>
                <a:spcPct val="0"/>
              </a:spcBef>
              <a:buFont typeface="Arial"/>
              <a:buChar char="•"/>
            </a:pPr>
            <a:r>
              <a:rPr lang="en-US" sz="2299">
                <a:solidFill>
                  <a:srgbClr val="000000"/>
                </a:solidFill>
                <a:latin typeface="Arial"/>
                <a:ea typeface="Arial"/>
                <a:cs typeface="Arial"/>
                <a:sym typeface="Arial"/>
              </a:rPr>
              <a:t>Nhất quán đọc đơn điệu (Monotonic-read consistency)</a:t>
            </a:r>
          </a:p>
          <a:p>
            <a:pPr algn="l">
              <a:lnSpc>
                <a:spcPts val="3219"/>
              </a:lnSpc>
              <a:spcBef>
                <a:spcPct val="0"/>
              </a:spcBef>
            </a:pPr>
            <a:r>
              <a:rPr lang="en-US" sz="2299">
                <a:solidFill>
                  <a:srgbClr val="000000"/>
                </a:solidFill>
                <a:latin typeface="Arial"/>
                <a:ea typeface="Arial"/>
                <a:cs typeface="Arial"/>
                <a:sym typeface="Arial"/>
              </a:rPr>
              <a:t> Khi máy khách C muốn đọc từ máy chủ S, C chuyển tập đọc của mình cho S. S có thể kéo các cập nhật cần thiết trước khi thực hiện thao tác đọc, sau đó cập nhật lại tập đọc của C với các thao tác ghi mới từ S.</a:t>
            </a:r>
          </a:p>
          <a:p>
            <a:pPr algn="l">
              <a:lnSpc>
                <a:spcPts val="3219"/>
              </a:lnSpc>
              <a:spcBef>
                <a:spcPct val="0"/>
              </a:spcBef>
            </a:pPr>
            <a:endParaRPr lang="en-US" sz="2299">
              <a:solidFill>
                <a:srgbClr val="000000"/>
              </a:solidFill>
              <a:latin typeface="Arial"/>
              <a:ea typeface="Arial"/>
              <a:cs typeface="Arial"/>
              <a:sym typeface="Arial"/>
            </a:endParaRPr>
          </a:p>
          <a:p>
            <a:pPr marL="496569" lvl="1" indent="-248284" algn="l">
              <a:lnSpc>
                <a:spcPts val="3219"/>
              </a:lnSpc>
              <a:spcBef>
                <a:spcPct val="0"/>
              </a:spcBef>
              <a:buFont typeface="Arial"/>
              <a:buChar char="•"/>
            </a:pPr>
            <a:r>
              <a:rPr lang="en-US" sz="2299">
                <a:solidFill>
                  <a:srgbClr val="000000"/>
                </a:solidFill>
                <a:latin typeface="Arial"/>
                <a:ea typeface="Arial"/>
                <a:cs typeface="Arial"/>
                <a:sym typeface="Arial"/>
              </a:rPr>
              <a:t>Nhất quán ghi đơn điệu (Monotonic-write consistency)</a:t>
            </a:r>
          </a:p>
          <a:p>
            <a:pPr algn="l">
              <a:lnSpc>
                <a:spcPts val="3219"/>
              </a:lnSpc>
              <a:spcBef>
                <a:spcPct val="0"/>
              </a:spcBef>
            </a:pPr>
            <a:r>
              <a:rPr lang="en-US" sz="2299">
                <a:solidFill>
                  <a:srgbClr val="000000"/>
                </a:solidFill>
                <a:latin typeface="Arial"/>
                <a:ea typeface="Arial"/>
                <a:cs typeface="Arial"/>
                <a:sym typeface="Arial"/>
              </a:rPr>
              <a:t> Khi máy khách C muốn ghi vào máy chủ S, C chuyển tập ghi của mình cho S. S sẽ thực hiện các thao tác ghi trong tập này theo đúng thứ tự, sau đó mới xử lý thao tác ghi mới của C. Tập ghi của C được cập nhật thêm định danh thao tác ghi mới.</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49761" y="169544"/>
            <a:ext cx="8052272"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Triển khai tính nhất quán hướng máy khách </a:t>
            </a:r>
          </a:p>
        </p:txBody>
      </p:sp>
      <p:sp>
        <p:nvSpPr>
          <p:cNvPr id="5" name="TextBox 5"/>
          <p:cNvSpPr txBox="1"/>
          <p:nvPr/>
        </p:nvSpPr>
        <p:spPr>
          <a:xfrm>
            <a:off x="254929" y="1791142"/>
            <a:ext cx="9243743" cy="4437852"/>
          </a:xfrm>
          <a:prstGeom prst="rect">
            <a:avLst/>
          </a:prstGeom>
        </p:spPr>
        <p:txBody>
          <a:bodyPr lIns="0" tIns="0" rIns="0" bIns="0" rtlCol="0" anchor="t">
            <a:spAutoFit/>
          </a:bodyPr>
          <a:lstStyle/>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Nhất quán đọc-ghi của bạn (Read-your-writes consistency)</a:t>
            </a:r>
          </a:p>
          <a:p>
            <a:pPr algn="l">
              <a:lnSpc>
                <a:spcPts val="3220"/>
              </a:lnSpc>
              <a:spcBef>
                <a:spcPct val="0"/>
              </a:spcBef>
            </a:pPr>
            <a:r>
              <a:rPr lang="en-US" sz="2300">
                <a:solidFill>
                  <a:srgbClr val="000000"/>
                </a:solidFill>
                <a:latin typeface="Arial"/>
                <a:ea typeface="Arial"/>
                <a:cs typeface="Arial"/>
                <a:sym typeface="Arial"/>
              </a:rPr>
              <a:t> Khi máy khách C muốn đọc từ máy chủ S, C chuyển tập ghi của mình cho S. S phải đảm bảo đã xử lý tất cả thao tác ghi trong tập này trước khi thực hiện đọc. Tập đọc của C được cập nhật sau khi hoàn tất.</a:t>
            </a:r>
          </a:p>
          <a:p>
            <a:pPr algn="l">
              <a:lnSpc>
                <a:spcPts val="3220"/>
              </a:lnSpc>
              <a:spcBef>
                <a:spcPct val="0"/>
              </a:spcBef>
            </a:pPr>
            <a:endParaRPr lang="en-US" sz="2300">
              <a:solidFill>
                <a:srgbClr val="000000"/>
              </a:solidFill>
              <a:latin typeface="Arial"/>
              <a:ea typeface="Arial"/>
              <a:cs typeface="Arial"/>
              <a:sym typeface="Arial"/>
            </a:endParaRP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Nhất quán ghi-theo-đọc (Writes-follows-reads consistency)</a:t>
            </a:r>
          </a:p>
          <a:p>
            <a:pPr algn="l">
              <a:lnSpc>
                <a:spcPts val="3220"/>
              </a:lnSpc>
              <a:spcBef>
                <a:spcPct val="0"/>
              </a:spcBef>
            </a:pPr>
            <a:r>
              <a:rPr lang="en-US" sz="2300">
                <a:solidFill>
                  <a:srgbClr val="000000"/>
                </a:solidFill>
                <a:latin typeface="Arial"/>
                <a:ea typeface="Arial"/>
                <a:cs typeface="Arial"/>
                <a:sym typeface="Arial"/>
              </a:rPr>
              <a:t> Khi máy khách C muốn ghi vào máy chủ S, C chuyển tập đọc của mình cho S. S phải đồng bộ các thao tác ghi liên quan đến tập đọc trước, thực hiện chúng theo thứ tự, rồi mới xử lý thao tác ghi mới. Tập ghi của C được cập nhật thêm định danh thao tác ghi mới cùng các định danh từ tập đọc.</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620492" y="169544"/>
            <a:ext cx="4907198"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Ví dụ: Nhân bản trong Web</a:t>
            </a:r>
          </a:p>
        </p:txBody>
      </p:sp>
      <p:sp>
        <p:nvSpPr>
          <p:cNvPr id="5" name="TextBox 5"/>
          <p:cNvSpPr txBox="1"/>
          <p:nvPr/>
        </p:nvSpPr>
        <p:spPr>
          <a:xfrm>
            <a:off x="195749" y="1290631"/>
            <a:ext cx="9362103" cy="3237573"/>
          </a:xfrm>
          <a:prstGeom prst="rect">
            <a:avLst/>
          </a:prstGeom>
        </p:spPr>
        <p:txBody>
          <a:bodyPr lIns="0" tIns="0" rIns="0" bIns="0" rtlCol="0" anchor="t">
            <a:spAutoFit/>
          </a:bodyPr>
          <a:lstStyle/>
          <a:p>
            <a:pPr algn="l">
              <a:lnSpc>
                <a:spcPts val="3220"/>
              </a:lnSpc>
              <a:spcBef>
                <a:spcPct val="0"/>
              </a:spcBef>
            </a:pPr>
            <a:r>
              <a:rPr lang="en-US" sz="2300" b="1">
                <a:solidFill>
                  <a:srgbClr val="000000"/>
                </a:solidFill>
                <a:latin typeface="Arial Bold"/>
                <a:ea typeface="Arial Bold"/>
                <a:cs typeface="Arial Bold"/>
                <a:sym typeface="Arial Bold"/>
              </a:rPr>
              <a:t>Bộ nhớ đệm phía máy khách</a:t>
            </a: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Trình duyệt: Các trình duyệt Web (như Chrome, Firefox) tự động lưu bản sao tạm thời (cache) của các trang Web đã truy cập để tăng tốc độ tải lại.</a:t>
            </a: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Tại máy chủ proxy của khách hàng: Các tổ chức/doanh nghiệp thường triển khai proxy Web (ví dụ: Squid) để lưu trữ nội dung Web thường dùng, giảm băng thông và cải thiện tốc độ truy cập cho nhiều người dùng nội bộ.</a:t>
            </a:r>
          </a:p>
        </p:txBody>
      </p:sp>
      <p:sp>
        <p:nvSpPr>
          <p:cNvPr id="6" name="TextBox 6"/>
          <p:cNvSpPr txBox="1"/>
          <p:nvPr/>
        </p:nvSpPr>
        <p:spPr>
          <a:xfrm>
            <a:off x="145673" y="4641602"/>
            <a:ext cx="9525985" cy="2437387"/>
          </a:xfrm>
          <a:prstGeom prst="rect">
            <a:avLst/>
          </a:prstGeom>
        </p:spPr>
        <p:txBody>
          <a:bodyPr lIns="0" tIns="0" rIns="0" bIns="0" rtlCol="0" anchor="t">
            <a:spAutoFit/>
          </a:bodyPr>
          <a:lstStyle/>
          <a:p>
            <a:pPr algn="l">
              <a:lnSpc>
                <a:spcPts val="3220"/>
              </a:lnSpc>
              <a:spcBef>
                <a:spcPct val="0"/>
              </a:spcBef>
            </a:pPr>
            <a:r>
              <a:rPr lang="en-US" sz="2300" b="1">
                <a:solidFill>
                  <a:srgbClr val="000000"/>
                </a:solidFill>
                <a:latin typeface="Arial Bold"/>
                <a:ea typeface="Arial Bold"/>
                <a:cs typeface="Arial Bold"/>
                <a:sym typeface="Arial Bold"/>
              </a:rPr>
              <a:t>Bộ nhớ đệm tại ISP</a:t>
            </a:r>
          </a:p>
          <a:p>
            <a:pPr algn="l">
              <a:lnSpc>
                <a:spcPts val="3220"/>
              </a:lnSpc>
              <a:spcBef>
                <a:spcPct val="0"/>
              </a:spcBef>
            </a:pPr>
            <a:r>
              <a:rPr lang="en-US" sz="2300">
                <a:solidFill>
                  <a:srgbClr val="000000"/>
                </a:solidFill>
                <a:latin typeface="Arial"/>
                <a:ea typeface="Arial"/>
                <a:cs typeface="Arial"/>
                <a:sym typeface="Arial"/>
              </a:rPr>
              <a:t> Các Nhà cung cấp dịch vụ Internet (ISP) cũng triển khai bộ nhớ đệm để:</a:t>
            </a: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1. Giảm lưu lượng truy cập xuyên ISP: Tránh phải tải nhiều lần cùng nội dung từ máy chủ gốc xa, tiết kiệm chi phí băng thông.</a:t>
            </a: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2. Nâng cao hiệu suất phía máy khách: Người dùng nhận nội dung nhanh hơn do lấy từ cache gần hơn.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400444" y="1716034"/>
            <a:ext cx="8665650" cy="4636123"/>
          </a:xfrm>
          <a:custGeom>
            <a:avLst/>
            <a:gdLst/>
            <a:ahLst/>
            <a:cxnLst/>
            <a:rect l="l" t="t" r="r" b="b"/>
            <a:pathLst>
              <a:path w="8665650" h="4636123">
                <a:moveTo>
                  <a:pt x="0" y="0"/>
                </a:moveTo>
                <a:lnTo>
                  <a:pt x="8665650" y="0"/>
                </a:lnTo>
                <a:lnTo>
                  <a:pt x="8665650" y="4636123"/>
                </a:lnTo>
                <a:lnTo>
                  <a:pt x="0" y="4636123"/>
                </a:lnTo>
                <a:lnTo>
                  <a:pt x="0" y="0"/>
                </a:lnTo>
                <a:close/>
              </a:path>
            </a:pathLst>
          </a:custGeom>
          <a:blipFill>
            <a:blip r:embed="rId3"/>
            <a:stretch>
              <a:fillRect/>
            </a:stretch>
          </a:blipFill>
        </p:spPr>
      </p:sp>
      <p:sp>
        <p:nvSpPr>
          <p:cNvPr id="5" name="TextBox 5"/>
          <p:cNvSpPr txBox="1"/>
          <p:nvPr/>
        </p:nvSpPr>
        <p:spPr>
          <a:xfrm>
            <a:off x="620492" y="169544"/>
            <a:ext cx="4907198"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Ví dụ: Nhân bản trong Web</a:t>
            </a:r>
          </a:p>
        </p:txBody>
      </p:sp>
      <p:sp>
        <p:nvSpPr>
          <p:cNvPr id="6" name="TextBox 6"/>
          <p:cNvSpPr txBox="1"/>
          <p:nvPr/>
        </p:nvSpPr>
        <p:spPr>
          <a:xfrm>
            <a:off x="400444" y="1262666"/>
            <a:ext cx="6257753" cy="453369"/>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Arial Bold"/>
                <a:ea typeface="Arial Bold"/>
                <a:cs typeface="Arial Bold"/>
                <a:sym typeface="Arial Bold"/>
              </a:rPr>
              <a:t>Bộ nhớ đệm hợp tác (Cooperative caching)</a:t>
            </a:r>
          </a:p>
        </p:txBody>
      </p:sp>
      <p:sp>
        <p:nvSpPr>
          <p:cNvPr id="7" name="TextBox 7"/>
          <p:cNvSpPr txBox="1"/>
          <p:nvPr/>
        </p:nvSpPr>
        <p:spPr>
          <a:xfrm>
            <a:off x="400444" y="6440805"/>
            <a:ext cx="8988814" cy="810938"/>
          </a:xfrm>
          <a:prstGeom prst="rect">
            <a:avLst/>
          </a:prstGeom>
        </p:spPr>
        <p:txBody>
          <a:bodyPr lIns="0" tIns="0" rIns="0" bIns="0" rtlCol="0" anchor="t">
            <a:spAutoFit/>
          </a:bodyPr>
          <a:lstStyle/>
          <a:p>
            <a:pPr algn="l">
              <a:lnSpc>
                <a:spcPts val="3079"/>
              </a:lnSpc>
              <a:spcBef>
                <a:spcPct val="0"/>
              </a:spcBef>
            </a:pPr>
            <a:r>
              <a:rPr lang="en-US" sz="2199">
                <a:solidFill>
                  <a:srgbClr val="000000"/>
                </a:solidFill>
                <a:latin typeface="Arial"/>
                <a:ea typeface="Arial"/>
                <a:cs typeface="Arial"/>
                <a:sym typeface="Arial"/>
              </a:rPr>
              <a:t>Hình ảnh minh họa quy trình xử lý một yêu cầu HTTP Get từ phía client trong hệ thống Web có sử dụng proxy và cache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471231" y="169544"/>
            <a:ext cx="6735291" cy="561976"/>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Tính nhất quán của bộ nhớ đệm Web</a:t>
            </a:r>
          </a:p>
        </p:txBody>
      </p:sp>
      <p:sp>
        <p:nvSpPr>
          <p:cNvPr id="5" name="TextBox 5"/>
          <p:cNvSpPr txBox="1"/>
          <p:nvPr/>
        </p:nvSpPr>
        <p:spPr>
          <a:xfrm>
            <a:off x="273138" y="1382846"/>
            <a:ext cx="9261952" cy="4455568"/>
          </a:xfrm>
          <a:prstGeom prst="rect">
            <a:avLst/>
          </a:prstGeom>
        </p:spPr>
        <p:txBody>
          <a:bodyPr lIns="0" tIns="0" rIns="0" bIns="0" rtlCol="0" anchor="t">
            <a:spAutoFit/>
          </a:bodyPr>
          <a:lstStyle/>
          <a:p>
            <a:pPr algn="l">
              <a:lnSpc>
                <a:spcPts val="3359"/>
              </a:lnSpc>
            </a:pPr>
            <a:r>
              <a:rPr lang="en-US" sz="2399" b="1">
                <a:solidFill>
                  <a:srgbClr val="000000"/>
                </a:solidFill>
                <a:latin typeface="Arial Bold"/>
                <a:ea typeface="Arial Bold"/>
                <a:cs typeface="Arial Bold"/>
                <a:sym typeface="Arial Bold"/>
              </a:rPr>
              <a:t>Làm thế nào để đảm bảo tính mới?</a:t>
            </a:r>
          </a:p>
          <a:p>
            <a:pPr algn="l">
              <a:lnSpc>
                <a:spcPts val="3220"/>
              </a:lnSpc>
              <a:spcBef>
                <a:spcPct val="0"/>
              </a:spcBef>
            </a:pPr>
            <a:r>
              <a:rPr lang="en-US" sz="2300">
                <a:solidFill>
                  <a:srgbClr val="000000"/>
                </a:solidFill>
                <a:latin typeface="Arial"/>
                <a:ea typeface="Arial"/>
                <a:cs typeface="Arial"/>
                <a:sym typeface="Arial"/>
              </a:rPr>
              <a:t>Để ngăn thông tin cũ được trả về cho máy khách:</a:t>
            </a:r>
          </a:p>
          <a:p>
            <a:pPr marL="496571" lvl="1" indent="-248285" algn="l">
              <a:lnSpc>
                <a:spcPts val="3220"/>
              </a:lnSpc>
              <a:spcBef>
                <a:spcPct val="0"/>
              </a:spcBef>
              <a:buFont typeface="Arial"/>
              <a:buChar char="•"/>
            </a:pPr>
            <a:r>
              <a:rPr lang="en-US" sz="2300" b="1">
                <a:solidFill>
                  <a:srgbClr val="000000"/>
                </a:solidFill>
                <a:latin typeface="Arial Bold"/>
                <a:ea typeface="Arial Bold"/>
                <a:cs typeface="Arial Bold"/>
                <a:sym typeface="Arial Bold"/>
              </a:rPr>
              <a:t>Tùy chọn 1:</a:t>
            </a:r>
            <a:r>
              <a:rPr lang="en-US" sz="2300">
                <a:solidFill>
                  <a:srgbClr val="000000"/>
                </a:solidFill>
                <a:latin typeface="Arial"/>
                <a:ea typeface="Arial"/>
                <a:cs typeface="Arial"/>
                <a:sym typeface="Arial"/>
              </a:rPr>
              <a:t> Để bộ nhớ đệm liên hệ với máy chủ gốc để kiểm tra xem nội dung còn cập nhật không.</a:t>
            </a:r>
          </a:p>
          <a:p>
            <a:pPr marL="496571" lvl="1" indent="-248285" algn="l">
              <a:lnSpc>
                <a:spcPts val="3220"/>
              </a:lnSpc>
              <a:spcBef>
                <a:spcPct val="0"/>
              </a:spcBef>
              <a:buFont typeface="Arial"/>
              <a:buChar char="•"/>
            </a:pPr>
            <a:r>
              <a:rPr lang="en-US" sz="2300" b="1">
                <a:solidFill>
                  <a:srgbClr val="000000"/>
                </a:solidFill>
                <a:latin typeface="Arial Bold"/>
                <a:ea typeface="Arial Bold"/>
                <a:cs typeface="Arial Bold"/>
                <a:sym typeface="Arial Bold"/>
              </a:rPr>
              <a:t>Tùy chọn 2:</a:t>
            </a:r>
            <a:r>
              <a:rPr lang="en-US" sz="2300">
                <a:solidFill>
                  <a:srgbClr val="000000"/>
                </a:solidFill>
                <a:latin typeface="Arial"/>
                <a:ea typeface="Arial"/>
                <a:cs typeface="Arial"/>
                <a:sym typeface="Arial"/>
              </a:rPr>
              <a:t> Gán thời gian hết hạn T_expire phụ thuộc vào thời gian đã trôi qua kể từ lần cuối tài liệu được sửa đổi khi nó được lưu vào bộ nhớ đệm. Nếu T_last_modified là thời điểm sửa đổi cuối cùng của tài liệu (được ghi lại bởi chủ sở hữu), và T_cached là thời điểm tài liệu được lưu vào bộ nhớ đệm, thì:</a:t>
            </a:r>
          </a:p>
          <a:p>
            <a:pPr algn="l">
              <a:lnSpc>
                <a:spcPts val="3220"/>
              </a:lnSpc>
              <a:spcBef>
                <a:spcPct val="0"/>
              </a:spcBef>
            </a:pPr>
            <a:r>
              <a:rPr lang="en-US" sz="2300">
                <a:solidFill>
                  <a:srgbClr val="000000"/>
                </a:solidFill>
                <a:latin typeface="Arial"/>
                <a:ea typeface="Arial"/>
                <a:cs typeface="Arial"/>
                <a:sym typeface="Arial"/>
              </a:rPr>
              <a:t>                     T_expire = α(T_cached - T_last_modified) + T_cached</a:t>
            </a:r>
          </a:p>
          <a:p>
            <a:pPr algn="l">
              <a:lnSpc>
                <a:spcPts val="3220"/>
              </a:lnSpc>
              <a:spcBef>
                <a:spcPct val="0"/>
              </a:spcBef>
            </a:pPr>
            <a:r>
              <a:rPr lang="en-US" sz="2300">
                <a:solidFill>
                  <a:srgbClr val="000000"/>
                </a:solidFill>
                <a:latin typeface="Arial"/>
                <a:ea typeface="Arial"/>
                <a:cs typeface="Arial"/>
                <a:sym typeface="Arial"/>
              </a:rPr>
              <a:t>   với α = 0.2. Cho đến thời điểm T_expire, tài liệu được coi là hợp lệ.</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TextBox 4"/>
          <p:cNvSpPr txBox="1"/>
          <p:nvPr/>
        </p:nvSpPr>
        <p:spPr>
          <a:xfrm>
            <a:off x="291347" y="131445"/>
            <a:ext cx="7270846" cy="1085851"/>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Các lựa chọn thay thế cho bộ nhớ đệm và nhân bản </a:t>
            </a:r>
          </a:p>
        </p:txBody>
      </p:sp>
      <p:sp>
        <p:nvSpPr>
          <p:cNvPr id="5" name="TextBox 5"/>
          <p:cNvSpPr txBox="1"/>
          <p:nvPr/>
        </p:nvSpPr>
        <p:spPr>
          <a:xfrm>
            <a:off x="291347" y="1601357"/>
            <a:ext cx="9334789" cy="4073298"/>
          </a:xfrm>
          <a:prstGeom prst="rect">
            <a:avLst/>
          </a:prstGeom>
        </p:spPr>
        <p:txBody>
          <a:bodyPr lIns="0" tIns="0" rIns="0" bIns="0" rtlCol="0" anchor="t">
            <a:spAutoFit/>
          </a:bodyPr>
          <a:lstStyle/>
          <a:p>
            <a:pPr algn="l">
              <a:lnSpc>
                <a:spcPts val="3499"/>
              </a:lnSpc>
              <a:spcBef>
                <a:spcPct val="0"/>
              </a:spcBef>
            </a:pPr>
            <a:r>
              <a:rPr lang="en-US" sz="2499" b="1">
                <a:solidFill>
                  <a:srgbClr val="000000"/>
                </a:solidFill>
                <a:latin typeface="Arial Bold"/>
                <a:ea typeface="Arial Bold"/>
                <a:cs typeface="Arial Bold"/>
                <a:sym typeface="Arial Bold"/>
              </a:rPr>
              <a:t>Các giải pháp thay thế cho caching và nhân bản</a:t>
            </a: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Bản sao cơ sở dữ liệu (Database copy): edge server có bản sao giống hệt với máy chủ gốc</a:t>
            </a: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Bộ nhớ đệm nhận biết nội dung (Content-aware cache): kiểm tra xem một truy vấn (thông thường) có thể được trả lời bằng dữ liệu đã cache hay không. Yêu cầu máy chủ biết về dữ liệu nào đang được lưu cache tại edge.</a:t>
            </a:r>
          </a:p>
          <a:p>
            <a:pPr marL="496571" lvl="1" indent="-248285" algn="l">
              <a:lnSpc>
                <a:spcPts val="3220"/>
              </a:lnSpc>
              <a:spcBef>
                <a:spcPct val="0"/>
              </a:spcBef>
              <a:buFont typeface="Arial"/>
              <a:buChar char="•"/>
            </a:pPr>
            <a:r>
              <a:rPr lang="en-US" sz="2300">
                <a:solidFill>
                  <a:srgbClr val="000000"/>
                </a:solidFill>
                <a:latin typeface="Arial"/>
                <a:ea typeface="Arial"/>
                <a:cs typeface="Arial"/>
                <a:sym typeface="Arial"/>
              </a:rPr>
              <a:t>Bộ nhớ đệm không nhận biết nội dung (Content-blind cache): lưu trữ truy vấn và kết quả của nó. Khi cùng một truy vấn chính xác được thực hiện lại, trả về kết quả từ bộ nhớ đệm.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
        <p:nvSpPr>
          <p:cNvPr id="4" name="Freeform 4"/>
          <p:cNvSpPr/>
          <p:nvPr/>
        </p:nvSpPr>
        <p:spPr>
          <a:xfrm>
            <a:off x="291347" y="1515377"/>
            <a:ext cx="9140152" cy="4284446"/>
          </a:xfrm>
          <a:custGeom>
            <a:avLst/>
            <a:gdLst/>
            <a:ahLst/>
            <a:cxnLst/>
            <a:rect l="l" t="t" r="r" b="b"/>
            <a:pathLst>
              <a:path w="9140152" h="4284446">
                <a:moveTo>
                  <a:pt x="0" y="0"/>
                </a:moveTo>
                <a:lnTo>
                  <a:pt x="9140152" y="0"/>
                </a:lnTo>
                <a:lnTo>
                  <a:pt x="9140152" y="4284446"/>
                </a:lnTo>
                <a:lnTo>
                  <a:pt x="0" y="4284446"/>
                </a:lnTo>
                <a:lnTo>
                  <a:pt x="0" y="0"/>
                </a:lnTo>
                <a:close/>
              </a:path>
            </a:pathLst>
          </a:custGeom>
          <a:blipFill>
            <a:blip r:embed="rId3"/>
            <a:stretch>
              <a:fillRect/>
            </a:stretch>
          </a:blipFill>
        </p:spPr>
      </p:sp>
      <p:sp>
        <p:nvSpPr>
          <p:cNvPr id="5" name="TextBox 5"/>
          <p:cNvSpPr txBox="1"/>
          <p:nvPr/>
        </p:nvSpPr>
        <p:spPr>
          <a:xfrm>
            <a:off x="291347" y="131445"/>
            <a:ext cx="7270846" cy="1085851"/>
          </a:xfrm>
          <a:prstGeom prst="rect">
            <a:avLst/>
          </a:prstGeom>
        </p:spPr>
        <p:txBody>
          <a:bodyPr lIns="0" tIns="0" rIns="0" bIns="0" rtlCol="0" anchor="t">
            <a:spAutoFit/>
          </a:bodyPr>
          <a:lstStyle/>
          <a:p>
            <a:pPr algn="ctr">
              <a:lnSpc>
                <a:spcPts val="4199"/>
              </a:lnSpc>
              <a:spcBef>
                <a:spcPct val="0"/>
              </a:spcBef>
            </a:pPr>
            <a:r>
              <a:rPr lang="en-US" sz="2999" b="1">
                <a:solidFill>
                  <a:srgbClr val="FFFF00"/>
                </a:solidFill>
                <a:latin typeface="Arial Bold"/>
                <a:ea typeface="Arial Bold"/>
                <a:cs typeface="Arial Bold"/>
                <a:sym typeface="Arial Bold"/>
              </a:rPr>
              <a:t>Các lựa chọn thay thế cho bộ nhớ đệm và nhân bản </a:t>
            </a:r>
          </a:p>
        </p:txBody>
      </p:sp>
      <p:sp>
        <p:nvSpPr>
          <p:cNvPr id="6" name="TextBox 6"/>
          <p:cNvSpPr txBox="1"/>
          <p:nvPr/>
        </p:nvSpPr>
        <p:spPr>
          <a:xfrm>
            <a:off x="291347" y="6117547"/>
            <a:ext cx="9280161" cy="837016"/>
          </a:xfrm>
          <a:prstGeom prst="rect">
            <a:avLst/>
          </a:prstGeom>
        </p:spPr>
        <p:txBody>
          <a:bodyPr lIns="0" tIns="0" rIns="0" bIns="0" rtlCol="0" anchor="t">
            <a:spAutoFit/>
          </a:bodyPr>
          <a:lstStyle/>
          <a:p>
            <a:pPr algn="l">
              <a:lnSpc>
                <a:spcPts val="3220"/>
              </a:lnSpc>
              <a:spcBef>
                <a:spcPct val="0"/>
              </a:spcBef>
            </a:pPr>
            <a:r>
              <a:rPr lang="en-US" sz="2300">
                <a:solidFill>
                  <a:srgbClr val="000000"/>
                </a:solidFill>
                <a:latin typeface="Arial"/>
                <a:ea typeface="Arial"/>
                <a:cs typeface="Arial"/>
                <a:sym typeface="Arial"/>
              </a:rPr>
              <a:t>Các lựa chọn thay thế cho bộ nhớ đệm và sao chép với các ứng dụng Web.</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lnTo>
                    <a:pt x="0" y="0"/>
                  </a:lnTo>
                  <a:close/>
                </a:path>
              </a:pathLst>
            </a:custGeom>
            <a:blipFill>
              <a:blip r:embed="rId2"/>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5895</Words>
  <Application>Microsoft Office PowerPoint</Application>
  <PresentationFormat>Custom</PresentationFormat>
  <Paragraphs>367</Paragraphs>
  <Slides>58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Arial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HTPT_chuong7.pptx</dc:title>
  <dc:creator>Admin</dc:creator>
  <cp:lastModifiedBy>DƯƠNG XUÂN BÁCH</cp:lastModifiedBy>
  <cp:revision>2</cp:revision>
  <dcterms:created xsi:type="dcterms:W3CDTF">2006-08-16T00:00:00Z</dcterms:created>
  <dcterms:modified xsi:type="dcterms:W3CDTF">2025-04-19T14:47:19Z</dcterms:modified>
  <dc:identifier>DAGkmNOlJ8I</dc:identifier>
</cp:coreProperties>
</file>